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E3E4B"/>
                </a:solidFill>
                <a:latin typeface="Arial"/>
              </a:defRPr>
            </a:pPr>
            <a:r>
              <a:rPr sz="1200" b="0" i="0" u="none" strike="noStrike">
                <a:solidFill>
                  <a:srgbClr val="3E3E4B"/>
                </a:solidFill>
                <a:latin typeface="Arial"/>
              </a:rPr>
              <a:t>Aggregate demand versus gateway capacity</a:t>
            </a:r>
          </a:p>
        </c:rich>
      </c:tx>
      <c:layout/>
      <c:overlay val="0"/>
    </c:title>
    <c:autoTitleDeleted val="0"/>
    <c:plotArea>
      <c:layout/>
      <c:barChart>
        <c:barDir val="bar"/>
        <c:grouping val="clustered"/>
        <c:varyColors val="0"/>
        <c:ser>
          <c:idx val="0"/>
          <c:order val="0"/>
          <c:tx>
            <c:strRef>
              <c:f>Sheet1!$B$1</c:f>
              <c:strCache>
                <c:ptCount val="1"/>
                <c:pt idx="0">
                  <c:v>Mbps</c:v>
                </c:pt>
              </c:strCache>
            </c:strRef>
          </c:tx>
          <c:spPr>
            <a:solidFill>
              <a:srgbClr val="F15D23"/>
            </a:solidFill>
            <a:effectLst/>
          </c:spPr>
          <c:invertIfNegative val="0"/>
          <c:dLbls>
            <c:numFmt formatCode="#,##0" sourceLinked="0"/>
            <c:txPr>
              <a:bodyPr/>
              <a:lstStyle/>
              <a:p>
                <a:pPr>
                  <a:defRPr b="0" i="0" strike="noStrike" sz="1100" u="none">
                    <a:solidFill>
                      <a:srgbClr val="3E3E4B"/>
                    </a:solidFill>
                    <a:latin typeface="Calibri"/>
                  </a:defRPr>
                </a:pPr>
              </a:p>
            </c:txPr>
            <c:showLegendKey val="0"/>
            <c:showVal val="1"/>
            <c:showCatName val="0"/>
            <c:showSerName val="0"/>
            <c:showPercent val="0"/>
            <c:showBubbleSize val="0"/>
            <c:showLeaderLines val="0"/>
          </c:dLbls>
          <c:dPt>
            <c:idx val="0"/>
            <c:invertIfNegative val="0"/>
            <c:bubble3D val="0"/>
            <c:spPr>
              <a:solidFill>
                <a:srgbClr val="F15D23"/>
              </a:solidFill>
              <a:effectLst/>
            </c:spPr>
          </c:dPt>
          <c:dPt>
            <c:idx val="1"/>
            <c:invertIfNegative val="0"/>
            <c:bubble3D val="0"/>
            <c:spPr>
              <a:solidFill>
                <a:srgbClr val="8DB9D9"/>
              </a:solidFill>
              <a:effectLst/>
            </c:spPr>
          </c:dPt>
          <c:dPt>
            <c:idx val="2"/>
            <c:invertIfNegative val="0"/>
            <c:bubble3D val="0"/>
            <c:spPr>
              <a:solidFill>
                <a:srgbClr val="00B3E2"/>
              </a:solidFill>
              <a:effectLst/>
            </c:spPr>
          </c:dPt>
          <c:cat>
            <c:multiLvlStrRef>
              <c:f>Sheet1!$A$2:$A$4</c:f>
              <c:multiLvlStrCache>
                <c:ptCount val="3"/>
                <c:lvl>
                  <c:pt idx="0">
                    <c:v>Planned demand</c:v>
                  </c:pt>
                  <c:pt idx="1">
                    <c:v>1 scale unit</c:v>
                  </c:pt>
                  <c:pt idx="2">
                    <c:v>2 scale units</c:v>
                  </c:pt>
                </c:lvl>
              </c:multiLvlStrCache>
            </c:multiLvlStrRef>
          </c:cat>
          <c:val>
            <c:numRef>
              <c:f>Sheet1!$B$2:$B$4</c:f>
              <c:numCache>
                <c:formatCode>General</c:formatCode>
                <c:ptCount val="3"/>
                <c:pt idx="0">
                  <c:v>700</c:v>
                </c:pt>
                <c:pt idx="1">
                  <c:v>500</c:v>
                </c:pt>
                <c:pt idx="2">
                  <c:v>1000</c:v>
                </c:pt>
              </c:numCache>
            </c:numRef>
          </c:val>
        </c:ser>
        <c:dLbls>
          <c:numFmt formatCode="#,##0" sourceLinked="0"/>
          <c:txPr>
            <a:bodyPr/>
            <a:lstStyle/>
            <a:p>
              <a:pPr>
                <a:defRPr b="0" i="0" strike="noStrike" sz="1100" u="none">
                  <a:solidFill>
                    <a:srgbClr val="3E3E4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E3E4B"/>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8778240" y="-2011680"/>
            <a:ext cx="6035040" cy="6035040"/>
          </a:xfrm>
          <a:prstGeom prst="ellipse">
            <a:avLst/>
          </a:prstGeom>
          <a:solidFill>
            <a:srgbClr val="474756"/>
          </a:solidFill>
          <a:ln w="12700">
            <a:solidFill>
              <a:srgbClr val="333333"/>
            </a:solidFill>
            <a:prstDash val="solid"/>
          </a:ln>
        </p:spPr>
      </p:sp>
      <p:sp>
        <p:nvSpPr>
          <p:cNvPr id="3" name="Shape 1"/>
          <p:cNvSpPr/>
          <p:nvPr/>
        </p:nvSpPr>
        <p:spPr>
          <a:xfrm>
            <a:off x="10424160" y="3840480"/>
            <a:ext cx="3108960" cy="3108960"/>
          </a:xfrm>
          <a:prstGeom prst="ellipse">
            <a:avLst/>
          </a:prstGeom>
          <a:solidFill>
            <a:srgbClr val="474756"/>
          </a:solidFill>
          <a:ln w="12700">
            <a:solidFill>
              <a:srgbClr val="333333"/>
            </a:solidFill>
            <a:prstDash val="solid"/>
          </a:ln>
        </p:spPr>
      </p:sp>
      <p:sp>
        <p:nvSpPr>
          <p:cNvPr id="4" name="Shape 2"/>
          <p:cNvSpPr/>
          <p:nvPr/>
        </p:nvSpPr>
        <p:spPr>
          <a:xfrm>
            <a:off x="10104120" y="1417320"/>
            <a:ext cx="658368" cy="658368"/>
          </a:xfrm>
          <a:prstGeom prst="ellipse">
            <a:avLst/>
          </a:prstGeom>
          <a:solidFill>
            <a:srgbClr val="00B3E2"/>
          </a:solidFill>
          <a:ln w="12700">
            <a:solidFill>
              <a:srgbClr val="333333"/>
            </a:solidFill>
            <a:prstDash val="solid"/>
          </a:ln>
        </p:spPr>
      </p:sp>
      <p:sp>
        <p:nvSpPr>
          <p:cNvPr id="5" name="Text 3"/>
          <p:cNvSpPr/>
          <p:nvPr/>
        </p:nvSpPr>
        <p:spPr>
          <a:xfrm>
            <a:off x="822960" y="1417320"/>
            <a:ext cx="8229600" cy="274320"/>
          </a:xfrm>
          <a:prstGeom prst="rect">
            <a:avLst/>
          </a:prstGeom>
          <a:noFill/>
          <a:ln/>
        </p:spPr>
        <p:txBody>
          <a:bodyPr wrap="square" lIns="0" tIns="0" rIns="0" bIns="0" rtlCol="0" anchor="ctr"/>
          <a:lstStyle/>
          <a:p>
            <a:pPr indent="0" marL="0">
              <a:buNone/>
            </a:pPr>
            <a:r>
              <a:rPr lang="en-US" sz="1150" b="1" spc="200" kern="0" dirty="0">
                <a:solidFill>
                  <a:srgbClr val="00B3E2"/>
                </a:solidFill>
                <a:latin typeface="Arial" pitchFamily="34" charset="0"/>
                <a:ea typeface="Arial" pitchFamily="34" charset="-122"/>
                <a:cs typeface="Arial" pitchFamily="34" charset="-120"/>
              </a:rPr>
              <a:t>AZURE VMWARE SOLUTION  |  NETWORK ARCHITECTURE</a:t>
            </a:r>
            <a:endParaRPr lang="en-US" sz="1150" dirty="0"/>
          </a:p>
        </p:txBody>
      </p:sp>
      <p:sp>
        <p:nvSpPr>
          <p:cNvPr id="6" name="Text 4"/>
          <p:cNvSpPr/>
          <p:nvPr/>
        </p:nvSpPr>
        <p:spPr>
          <a:xfrm>
            <a:off x="822960" y="1874520"/>
            <a:ext cx="8778240" cy="182880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Arial" pitchFamily="34" charset="0"/>
                <a:ea typeface="Arial" pitchFamily="34" charset="-122"/>
                <a:cs typeface="Arial" pitchFamily="34" charset="-120"/>
              </a:rPr>
              <a:t>Enterprise AVS over</a:t>
            </a:r>
            <a:endParaRPr lang="en-US" sz="4600" dirty="0"/>
          </a:p>
          <a:p>
            <a:pPr indent="0" marL="0">
              <a:lnSpc>
                <a:spcPct val="102000"/>
              </a:lnSpc>
              <a:buNone/>
            </a:pPr>
            <a:r>
              <a:rPr lang="en-US" sz="4600" b="1" dirty="0">
                <a:solidFill>
                  <a:srgbClr val="FFFFFF"/>
                </a:solidFill>
                <a:latin typeface="Arial" pitchFamily="34" charset="0"/>
                <a:ea typeface="Arial" pitchFamily="34" charset="-122"/>
                <a:cs typeface="Arial" pitchFamily="34" charset="-120"/>
              </a:rPr>
              <a:t>Site-to-Site VPN</a:t>
            </a:r>
            <a:endParaRPr lang="en-US" sz="4600" dirty="0"/>
          </a:p>
        </p:txBody>
      </p:sp>
      <p:sp>
        <p:nvSpPr>
          <p:cNvPr id="7" name="Text 5"/>
          <p:cNvSpPr/>
          <p:nvPr/>
        </p:nvSpPr>
        <p:spPr>
          <a:xfrm>
            <a:off x="868680" y="3794760"/>
            <a:ext cx="7863840" cy="822960"/>
          </a:xfrm>
          <a:prstGeom prst="rect">
            <a:avLst/>
          </a:prstGeom>
          <a:noFill/>
          <a:ln/>
        </p:spPr>
        <p:txBody>
          <a:bodyPr wrap="square" lIns="0" tIns="0" rIns="0" bIns="0" rtlCol="0" anchor="t"/>
          <a:lstStyle/>
          <a:p>
            <a:pPr indent="0" marL="0">
              <a:buNone/>
            </a:pPr>
            <a:r>
              <a:rPr lang="en-US" sz="1500" dirty="0">
                <a:solidFill>
                  <a:srgbClr val="B2E8F6"/>
                </a:solidFill>
                <a:latin typeface="Calibri" pitchFamily="34" charset="0"/>
                <a:ea typeface="Calibri" pitchFamily="34" charset="-122"/>
                <a:cs typeface="Calibri" pitchFamily="34" charset="-120"/>
              </a:rPr>
              <a:t>Designing, sizing, routing, and securing an AVS migration path when no dedicated ExpressRoute circuit is available</a:t>
            </a:r>
            <a:endParaRPr lang="en-US" sz="1500" dirty="0"/>
          </a:p>
        </p:txBody>
      </p:sp>
      <p:sp>
        <p:nvSpPr>
          <p:cNvPr id="8" name="Text 6"/>
          <p:cNvSpPr/>
          <p:nvPr/>
        </p:nvSpPr>
        <p:spPr>
          <a:xfrm>
            <a:off x="868680" y="5257800"/>
            <a:ext cx="8229600" cy="320040"/>
          </a:xfrm>
          <a:prstGeom prst="rect">
            <a:avLst/>
          </a:prstGeom>
          <a:noFill/>
          <a:ln/>
        </p:spPr>
        <p:txBody>
          <a:bodyPr wrap="square" lIns="0" tIns="0" rIns="0" bIns="0" rtlCol="0" anchor="ctr"/>
          <a:lstStyle/>
          <a:p>
            <a:pPr indent="0" marL="0">
              <a:buNone/>
            </a:pPr>
            <a:r>
              <a:rPr lang="en-US" sz="1200" dirty="0">
                <a:solidFill>
                  <a:srgbClr val="A9A9B8"/>
                </a:solidFill>
                <a:latin typeface="Calibri" pitchFamily="34" charset="0"/>
                <a:ea typeface="Calibri" pitchFamily="34" charset="-122"/>
                <a:cs typeface="Calibri" pitchFamily="34" charset="-120"/>
              </a:rPr>
              <a:t>Aligned to Microsoft Learn guidance  |  Quisitive Secure Infrastructure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ROADMAP</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What this deck covers</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48640" y="1572768"/>
            <a:ext cx="5285232" cy="987552"/>
          </a:xfrm>
          <a:prstGeom prst="roundRect">
            <a:avLst>
              <a:gd name="adj" fmla="val 8333"/>
            </a:avLst>
          </a:prstGeom>
          <a:solidFill>
            <a:srgbClr val="E5F7FC"/>
          </a:solidFill>
          <a:ln w="12700">
            <a:solidFill>
              <a:srgbClr val="E5F7FC"/>
            </a:solidFill>
            <a:prstDash val="solid"/>
          </a:ln>
        </p:spPr>
      </p:sp>
      <p:sp>
        <p:nvSpPr>
          <p:cNvPr id="6" name="Text 4"/>
          <p:cNvSpPr/>
          <p:nvPr/>
        </p:nvSpPr>
        <p:spPr>
          <a:xfrm>
            <a:off x="768096" y="1719072"/>
            <a:ext cx="640080" cy="365760"/>
          </a:xfrm>
          <a:prstGeom prst="rect">
            <a:avLst/>
          </a:prstGeom>
          <a:noFill/>
          <a:ln/>
        </p:spPr>
        <p:txBody>
          <a:bodyPr wrap="square" lIns="0" tIns="0" rIns="0" bIns="0" rtlCol="0" anchor="ctr"/>
          <a:lstStyle/>
          <a:p>
            <a:pPr indent="0" marL="0">
              <a:buNone/>
            </a:pPr>
            <a:r>
              <a:rPr lang="en-US" sz="1900" b="1" dirty="0">
                <a:solidFill>
                  <a:srgbClr val="00B3E2"/>
                </a:solidFill>
                <a:latin typeface="Arial" pitchFamily="34" charset="0"/>
                <a:ea typeface="Arial" pitchFamily="34" charset="-122"/>
                <a:cs typeface="Arial" pitchFamily="34" charset="-120"/>
              </a:rPr>
              <a:t>01</a:t>
            </a:r>
            <a:endParaRPr lang="en-US" sz="1900" dirty="0"/>
          </a:p>
        </p:txBody>
      </p:sp>
      <p:sp>
        <p:nvSpPr>
          <p:cNvPr id="7" name="Text 5"/>
          <p:cNvSpPr/>
          <p:nvPr/>
        </p:nvSpPr>
        <p:spPr>
          <a:xfrm>
            <a:off x="1463040" y="1719072"/>
            <a:ext cx="420624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Scenario and objective</a:t>
            </a:r>
            <a:endParaRPr lang="en-US" sz="1350" dirty="0"/>
          </a:p>
        </p:txBody>
      </p:sp>
      <p:sp>
        <p:nvSpPr>
          <p:cNvPr id="8" name="Text 6"/>
          <p:cNvSpPr/>
          <p:nvPr/>
        </p:nvSpPr>
        <p:spPr>
          <a:xfrm>
            <a:off x="1463040" y="2039112"/>
            <a:ext cx="4206240" cy="411480"/>
          </a:xfrm>
          <a:prstGeom prst="rect">
            <a:avLst/>
          </a:prstGeom>
          <a:noFill/>
          <a:ln/>
        </p:spPr>
        <p:txBody>
          <a:bodyPr wrap="square" lIns="0" tIns="0" rIns="0" bIns="0" rtlCol="0" anchor="t"/>
          <a:lstStyle/>
          <a:p>
            <a:pPr indent="0" marL="0">
              <a:buNone/>
            </a:pPr>
            <a:r>
              <a:rPr lang="en-US" sz="1150" dirty="0">
                <a:solidFill>
                  <a:srgbClr val="6E6E7E"/>
                </a:solidFill>
                <a:latin typeface="Calibri" pitchFamily="34" charset="0"/>
                <a:ea typeface="Calibri" pitchFamily="34" charset="-122"/>
                <a:cs typeface="Calibri" pitchFamily="34" charset="-120"/>
              </a:rPr>
              <a:t>Migration mandate, lost ExpressRoute option, design goals</a:t>
            </a:r>
            <a:endParaRPr lang="en-US" sz="1150" dirty="0"/>
          </a:p>
        </p:txBody>
      </p:sp>
      <p:sp>
        <p:nvSpPr>
          <p:cNvPr id="9" name="Shape 7"/>
          <p:cNvSpPr/>
          <p:nvPr/>
        </p:nvSpPr>
        <p:spPr>
          <a:xfrm>
            <a:off x="6355080" y="1572768"/>
            <a:ext cx="5285232" cy="987552"/>
          </a:xfrm>
          <a:prstGeom prst="roundRect">
            <a:avLst>
              <a:gd name="adj" fmla="val 8333"/>
            </a:avLst>
          </a:prstGeom>
          <a:solidFill>
            <a:srgbClr val="EBEDED"/>
          </a:solidFill>
          <a:ln w="12700">
            <a:solidFill>
              <a:srgbClr val="EBEDED"/>
            </a:solidFill>
            <a:prstDash val="solid"/>
          </a:ln>
        </p:spPr>
      </p:sp>
      <p:sp>
        <p:nvSpPr>
          <p:cNvPr id="10" name="Text 8"/>
          <p:cNvSpPr/>
          <p:nvPr/>
        </p:nvSpPr>
        <p:spPr>
          <a:xfrm>
            <a:off x="6574536" y="1719072"/>
            <a:ext cx="640080" cy="365760"/>
          </a:xfrm>
          <a:prstGeom prst="rect">
            <a:avLst/>
          </a:prstGeom>
          <a:noFill/>
          <a:ln/>
        </p:spPr>
        <p:txBody>
          <a:bodyPr wrap="square" lIns="0" tIns="0" rIns="0" bIns="0" rtlCol="0" anchor="ctr"/>
          <a:lstStyle/>
          <a:p>
            <a:pPr indent="0" marL="0">
              <a:buNone/>
            </a:pPr>
            <a:r>
              <a:rPr lang="en-US" sz="1900" b="1" dirty="0">
                <a:solidFill>
                  <a:srgbClr val="00B3E2"/>
                </a:solidFill>
                <a:latin typeface="Arial" pitchFamily="34" charset="0"/>
                <a:ea typeface="Arial" pitchFamily="34" charset="-122"/>
                <a:cs typeface="Arial" pitchFamily="34" charset="-120"/>
              </a:rPr>
              <a:t>02</a:t>
            </a:r>
            <a:endParaRPr lang="en-US" sz="1900" dirty="0"/>
          </a:p>
        </p:txBody>
      </p:sp>
      <p:sp>
        <p:nvSpPr>
          <p:cNvPr id="11" name="Text 9"/>
          <p:cNvSpPr/>
          <p:nvPr/>
        </p:nvSpPr>
        <p:spPr>
          <a:xfrm>
            <a:off x="7269480" y="1719072"/>
            <a:ext cx="420624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ExpressRoute vs site-to-site VPN</a:t>
            </a:r>
            <a:endParaRPr lang="en-US" sz="1350" dirty="0"/>
          </a:p>
        </p:txBody>
      </p:sp>
      <p:sp>
        <p:nvSpPr>
          <p:cNvPr id="12" name="Text 10"/>
          <p:cNvSpPr/>
          <p:nvPr/>
        </p:nvSpPr>
        <p:spPr>
          <a:xfrm>
            <a:off x="7269480" y="2039112"/>
            <a:ext cx="4206240" cy="411480"/>
          </a:xfrm>
          <a:prstGeom prst="rect">
            <a:avLst/>
          </a:prstGeom>
          <a:noFill/>
          <a:ln/>
        </p:spPr>
        <p:txBody>
          <a:bodyPr wrap="square" lIns="0" tIns="0" rIns="0" bIns="0" rtlCol="0" anchor="t"/>
          <a:lstStyle/>
          <a:p>
            <a:pPr indent="0" marL="0">
              <a:buNone/>
            </a:pPr>
            <a:r>
              <a:rPr lang="en-US" sz="1150" dirty="0">
                <a:solidFill>
                  <a:srgbClr val="6E6E7E"/>
                </a:solidFill>
                <a:latin typeface="Calibri" pitchFamily="34" charset="0"/>
                <a:ea typeface="Calibri" pitchFamily="34" charset="-122"/>
                <a:cs typeface="Calibri" pitchFamily="34" charset="-120"/>
              </a:rPr>
              <a:t>Characteristics, supportability, and where each fits</a:t>
            </a:r>
            <a:endParaRPr lang="en-US" sz="1150" dirty="0"/>
          </a:p>
        </p:txBody>
      </p:sp>
      <p:sp>
        <p:nvSpPr>
          <p:cNvPr id="13" name="Shape 11"/>
          <p:cNvSpPr/>
          <p:nvPr/>
        </p:nvSpPr>
        <p:spPr>
          <a:xfrm>
            <a:off x="548640" y="2743200"/>
            <a:ext cx="5285232" cy="987552"/>
          </a:xfrm>
          <a:prstGeom prst="roundRect">
            <a:avLst>
              <a:gd name="adj" fmla="val 8333"/>
            </a:avLst>
          </a:prstGeom>
          <a:solidFill>
            <a:srgbClr val="E5F7FC"/>
          </a:solidFill>
          <a:ln w="12700">
            <a:solidFill>
              <a:srgbClr val="E5F7FC"/>
            </a:solidFill>
            <a:prstDash val="solid"/>
          </a:ln>
        </p:spPr>
      </p:sp>
      <p:sp>
        <p:nvSpPr>
          <p:cNvPr id="14" name="Text 12"/>
          <p:cNvSpPr/>
          <p:nvPr/>
        </p:nvSpPr>
        <p:spPr>
          <a:xfrm>
            <a:off x="768096" y="2889504"/>
            <a:ext cx="640080" cy="365760"/>
          </a:xfrm>
          <a:prstGeom prst="rect">
            <a:avLst/>
          </a:prstGeom>
          <a:noFill/>
          <a:ln/>
        </p:spPr>
        <p:txBody>
          <a:bodyPr wrap="square" lIns="0" tIns="0" rIns="0" bIns="0" rtlCol="0" anchor="ctr"/>
          <a:lstStyle/>
          <a:p>
            <a:pPr indent="0" marL="0">
              <a:buNone/>
            </a:pPr>
            <a:r>
              <a:rPr lang="en-US" sz="1900" b="1" dirty="0">
                <a:solidFill>
                  <a:srgbClr val="00B3E2"/>
                </a:solidFill>
                <a:latin typeface="Arial" pitchFamily="34" charset="0"/>
                <a:ea typeface="Arial" pitchFamily="34" charset="-122"/>
                <a:cs typeface="Arial" pitchFamily="34" charset="-120"/>
              </a:rPr>
              <a:t>03</a:t>
            </a:r>
            <a:endParaRPr lang="en-US" sz="1900" dirty="0"/>
          </a:p>
        </p:txBody>
      </p:sp>
      <p:sp>
        <p:nvSpPr>
          <p:cNvPr id="15" name="Text 13"/>
          <p:cNvSpPr/>
          <p:nvPr/>
        </p:nvSpPr>
        <p:spPr>
          <a:xfrm>
            <a:off x="1463040" y="2889504"/>
            <a:ext cx="420624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HCX and migration planning</a:t>
            </a:r>
            <a:endParaRPr lang="en-US" sz="1350" dirty="0"/>
          </a:p>
        </p:txBody>
      </p:sp>
      <p:sp>
        <p:nvSpPr>
          <p:cNvPr id="16" name="Text 14"/>
          <p:cNvSpPr/>
          <p:nvPr/>
        </p:nvSpPr>
        <p:spPr>
          <a:xfrm>
            <a:off x="1463040" y="3209544"/>
            <a:ext cx="4206240" cy="411480"/>
          </a:xfrm>
          <a:prstGeom prst="rect">
            <a:avLst/>
          </a:prstGeom>
          <a:noFill/>
          <a:ln/>
        </p:spPr>
        <p:txBody>
          <a:bodyPr wrap="square" lIns="0" tIns="0" rIns="0" bIns="0" rtlCol="0" anchor="t"/>
          <a:lstStyle/>
          <a:p>
            <a:pPr indent="0" marL="0">
              <a:buNone/>
            </a:pPr>
            <a:r>
              <a:rPr lang="en-US" sz="1150" dirty="0">
                <a:solidFill>
                  <a:srgbClr val="6E6E7E"/>
                </a:solidFill>
                <a:latin typeface="Calibri" pitchFamily="34" charset="0"/>
                <a:ea typeface="Calibri" pitchFamily="34" charset="-122"/>
                <a:cs typeface="Calibri" pitchFamily="34" charset="-120"/>
              </a:rPr>
              <a:t>Migration profiles, vMotion behavior, SQL FCI constraints</a:t>
            </a:r>
            <a:endParaRPr lang="en-US" sz="1150" dirty="0"/>
          </a:p>
        </p:txBody>
      </p:sp>
      <p:sp>
        <p:nvSpPr>
          <p:cNvPr id="17" name="Shape 15"/>
          <p:cNvSpPr/>
          <p:nvPr/>
        </p:nvSpPr>
        <p:spPr>
          <a:xfrm>
            <a:off x="6355080" y="2743200"/>
            <a:ext cx="5285232" cy="987552"/>
          </a:xfrm>
          <a:prstGeom prst="roundRect">
            <a:avLst>
              <a:gd name="adj" fmla="val 8333"/>
            </a:avLst>
          </a:prstGeom>
          <a:solidFill>
            <a:srgbClr val="EBEDED"/>
          </a:solidFill>
          <a:ln w="12700">
            <a:solidFill>
              <a:srgbClr val="EBEDED"/>
            </a:solidFill>
            <a:prstDash val="solid"/>
          </a:ln>
        </p:spPr>
      </p:sp>
      <p:sp>
        <p:nvSpPr>
          <p:cNvPr id="18" name="Text 16"/>
          <p:cNvSpPr/>
          <p:nvPr/>
        </p:nvSpPr>
        <p:spPr>
          <a:xfrm>
            <a:off x="6574536" y="2889504"/>
            <a:ext cx="640080" cy="365760"/>
          </a:xfrm>
          <a:prstGeom prst="rect">
            <a:avLst/>
          </a:prstGeom>
          <a:noFill/>
          <a:ln/>
        </p:spPr>
        <p:txBody>
          <a:bodyPr wrap="square" lIns="0" tIns="0" rIns="0" bIns="0" rtlCol="0" anchor="ctr"/>
          <a:lstStyle/>
          <a:p>
            <a:pPr indent="0" marL="0">
              <a:buNone/>
            </a:pPr>
            <a:r>
              <a:rPr lang="en-US" sz="1900" b="1" dirty="0">
                <a:solidFill>
                  <a:srgbClr val="00B3E2"/>
                </a:solidFill>
                <a:latin typeface="Arial" pitchFamily="34" charset="0"/>
                <a:ea typeface="Arial" pitchFamily="34" charset="-122"/>
                <a:cs typeface="Arial" pitchFamily="34" charset="-120"/>
              </a:rPr>
              <a:t>04</a:t>
            </a:r>
            <a:endParaRPr lang="en-US" sz="1900" dirty="0"/>
          </a:p>
        </p:txBody>
      </p:sp>
      <p:sp>
        <p:nvSpPr>
          <p:cNvPr id="19" name="Text 17"/>
          <p:cNvSpPr/>
          <p:nvPr/>
        </p:nvSpPr>
        <p:spPr>
          <a:xfrm>
            <a:off x="7269480" y="2889504"/>
            <a:ext cx="420624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Virtual WAN foundation</a:t>
            </a:r>
            <a:endParaRPr lang="en-US" sz="1350" dirty="0"/>
          </a:p>
        </p:txBody>
      </p:sp>
      <p:sp>
        <p:nvSpPr>
          <p:cNvPr id="20" name="Text 18"/>
          <p:cNvSpPr/>
          <p:nvPr/>
        </p:nvSpPr>
        <p:spPr>
          <a:xfrm>
            <a:off x="7269480" y="3209544"/>
            <a:ext cx="4206240" cy="411480"/>
          </a:xfrm>
          <a:prstGeom prst="rect">
            <a:avLst/>
          </a:prstGeom>
          <a:noFill/>
          <a:ln/>
        </p:spPr>
        <p:txBody>
          <a:bodyPr wrap="square" lIns="0" tIns="0" rIns="0" bIns="0" rtlCol="0" anchor="t"/>
          <a:lstStyle/>
          <a:p>
            <a:pPr indent="0" marL="0">
              <a:buNone/>
            </a:pPr>
            <a:r>
              <a:rPr lang="en-US" sz="1150" dirty="0">
                <a:solidFill>
                  <a:srgbClr val="6E6E7E"/>
                </a:solidFill>
                <a:latin typeface="Calibri" pitchFamily="34" charset="0"/>
                <a:ea typeface="Calibri" pitchFamily="34" charset="-122"/>
                <a:cs typeface="Calibri" pitchFamily="34" charset="-120"/>
              </a:rPr>
              <a:t>Hub structure, SKU choice, gateway sizing, routing preference</a:t>
            </a:r>
            <a:endParaRPr lang="en-US" sz="1150" dirty="0"/>
          </a:p>
        </p:txBody>
      </p:sp>
      <p:sp>
        <p:nvSpPr>
          <p:cNvPr id="21" name="Shape 19"/>
          <p:cNvSpPr/>
          <p:nvPr/>
        </p:nvSpPr>
        <p:spPr>
          <a:xfrm>
            <a:off x="548640" y="3913632"/>
            <a:ext cx="5285232" cy="987552"/>
          </a:xfrm>
          <a:prstGeom prst="roundRect">
            <a:avLst>
              <a:gd name="adj" fmla="val 8333"/>
            </a:avLst>
          </a:prstGeom>
          <a:solidFill>
            <a:srgbClr val="E5F7FC"/>
          </a:solidFill>
          <a:ln w="12700">
            <a:solidFill>
              <a:srgbClr val="E5F7FC"/>
            </a:solidFill>
            <a:prstDash val="solid"/>
          </a:ln>
        </p:spPr>
      </p:sp>
      <p:sp>
        <p:nvSpPr>
          <p:cNvPr id="22" name="Text 20"/>
          <p:cNvSpPr/>
          <p:nvPr/>
        </p:nvSpPr>
        <p:spPr>
          <a:xfrm>
            <a:off x="768096" y="4059936"/>
            <a:ext cx="640080" cy="365760"/>
          </a:xfrm>
          <a:prstGeom prst="rect">
            <a:avLst/>
          </a:prstGeom>
          <a:noFill/>
          <a:ln/>
        </p:spPr>
        <p:txBody>
          <a:bodyPr wrap="square" lIns="0" tIns="0" rIns="0" bIns="0" rtlCol="0" anchor="ctr"/>
          <a:lstStyle/>
          <a:p>
            <a:pPr indent="0" marL="0">
              <a:buNone/>
            </a:pPr>
            <a:r>
              <a:rPr lang="en-US" sz="1900" b="1" dirty="0">
                <a:solidFill>
                  <a:srgbClr val="00B3E2"/>
                </a:solidFill>
                <a:latin typeface="Arial" pitchFamily="34" charset="0"/>
                <a:ea typeface="Arial" pitchFamily="34" charset="-122"/>
                <a:cs typeface="Arial" pitchFamily="34" charset="-120"/>
              </a:rPr>
              <a:t>05</a:t>
            </a:r>
            <a:endParaRPr lang="en-US" sz="1900" dirty="0"/>
          </a:p>
        </p:txBody>
      </p:sp>
      <p:sp>
        <p:nvSpPr>
          <p:cNvPr id="23" name="Text 21"/>
          <p:cNvSpPr/>
          <p:nvPr/>
        </p:nvSpPr>
        <p:spPr>
          <a:xfrm>
            <a:off x="1463040" y="4059936"/>
            <a:ext cx="420624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Routing and tunnel configuration</a:t>
            </a:r>
            <a:endParaRPr lang="en-US" sz="1350" dirty="0"/>
          </a:p>
        </p:txBody>
      </p:sp>
      <p:sp>
        <p:nvSpPr>
          <p:cNvPr id="24" name="Text 22"/>
          <p:cNvSpPr/>
          <p:nvPr/>
        </p:nvSpPr>
        <p:spPr>
          <a:xfrm>
            <a:off x="1463040" y="4379976"/>
            <a:ext cx="4206240" cy="411480"/>
          </a:xfrm>
          <a:prstGeom prst="rect">
            <a:avLst/>
          </a:prstGeom>
          <a:noFill/>
          <a:ln/>
        </p:spPr>
        <p:txBody>
          <a:bodyPr wrap="square" lIns="0" tIns="0" rIns="0" bIns="0" rtlCol="0" anchor="t"/>
          <a:lstStyle/>
          <a:p>
            <a:pPr indent="0" marL="0">
              <a:buNone/>
            </a:pPr>
            <a:r>
              <a:rPr lang="en-US" sz="1150" dirty="0">
                <a:solidFill>
                  <a:srgbClr val="6E6E7E"/>
                </a:solidFill>
                <a:latin typeface="Calibri" pitchFamily="34" charset="0"/>
                <a:ea typeface="Calibri" pitchFamily="34" charset="-122"/>
                <a:cs typeface="Calibri" pitchFamily="34" charset="-120"/>
              </a:rPr>
              <a:t>BGP, APIPA, route-based vs policy-based, IKE/IPsec</a:t>
            </a:r>
            <a:endParaRPr lang="en-US" sz="1150" dirty="0"/>
          </a:p>
        </p:txBody>
      </p:sp>
      <p:sp>
        <p:nvSpPr>
          <p:cNvPr id="25" name="Shape 23"/>
          <p:cNvSpPr/>
          <p:nvPr/>
        </p:nvSpPr>
        <p:spPr>
          <a:xfrm>
            <a:off x="6355080" y="3913632"/>
            <a:ext cx="5285232" cy="987552"/>
          </a:xfrm>
          <a:prstGeom prst="roundRect">
            <a:avLst>
              <a:gd name="adj" fmla="val 8333"/>
            </a:avLst>
          </a:prstGeom>
          <a:solidFill>
            <a:srgbClr val="EBEDED"/>
          </a:solidFill>
          <a:ln w="12700">
            <a:solidFill>
              <a:srgbClr val="EBEDED"/>
            </a:solidFill>
            <a:prstDash val="solid"/>
          </a:ln>
        </p:spPr>
      </p:sp>
      <p:sp>
        <p:nvSpPr>
          <p:cNvPr id="26" name="Text 24"/>
          <p:cNvSpPr/>
          <p:nvPr/>
        </p:nvSpPr>
        <p:spPr>
          <a:xfrm>
            <a:off x="6574536" y="4059936"/>
            <a:ext cx="640080" cy="365760"/>
          </a:xfrm>
          <a:prstGeom prst="rect">
            <a:avLst/>
          </a:prstGeom>
          <a:noFill/>
          <a:ln/>
        </p:spPr>
        <p:txBody>
          <a:bodyPr wrap="square" lIns="0" tIns="0" rIns="0" bIns="0" rtlCol="0" anchor="ctr"/>
          <a:lstStyle/>
          <a:p>
            <a:pPr indent="0" marL="0">
              <a:buNone/>
            </a:pPr>
            <a:r>
              <a:rPr lang="en-US" sz="1900" b="1" dirty="0">
                <a:solidFill>
                  <a:srgbClr val="00B3E2"/>
                </a:solidFill>
                <a:latin typeface="Arial" pitchFamily="34" charset="0"/>
                <a:ea typeface="Arial" pitchFamily="34" charset="-122"/>
                <a:cs typeface="Arial" pitchFamily="34" charset="-120"/>
              </a:rPr>
              <a:t>06</a:t>
            </a:r>
            <a:endParaRPr lang="en-US" sz="1900" dirty="0"/>
          </a:p>
        </p:txBody>
      </p:sp>
      <p:sp>
        <p:nvSpPr>
          <p:cNvPr id="27" name="Text 25"/>
          <p:cNvSpPr/>
          <p:nvPr/>
        </p:nvSpPr>
        <p:spPr>
          <a:xfrm>
            <a:off x="7269480" y="4059936"/>
            <a:ext cx="420624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Connecting the hub to AVS</a:t>
            </a:r>
            <a:endParaRPr lang="en-US" sz="1350" dirty="0"/>
          </a:p>
        </p:txBody>
      </p:sp>
      <p:sp>
        <p:nvSpPr>
          <p:cNvPr id="28" name="Text 26"/>
          <p:cNvSpPr/>
          <p:nvPr/>
        </p:nvSpPr>
        <p:spPr>
          <a:xfrm>
            <a:off x="7269480" y="4379976"/>
            <a:ext cx="4206240" cy="411480"/>
          </a:xfrm>
          <a:prstGeom prst="rect">
            <a:avLst/>
          </a:prstGeom>
          <a:noFill/>
          <a:ln/>
        </p:spPr>
        <p:txBody>
          <a:bodyPr wrap="square" lIns="0" tIns="0" rIns="0" bIns="0" rtlCol="0" anchor="t"/>
          <a:lstStyle/>
          <a:p>
            <a:pPr indent="0" marL="0">
              <a:buNone/>
            </a:pPr>
            <a:r>
              <a:rPr lang="en-US" sz="1150" dirty="0">
                <a:solidFill>
                  <a:srgbClr val="6E6E7E"/>
                </a:solidFill>
                <a:latin typeface="Calibri" pitchFamily="34" charset="0"/>
                <a:ea typeface="Calibri" pitchFamily="34" charset="-122"/>
                <a:cs typeface="Calibri" pitchFamily="34" charset="-120"/>
              </a:rPr>
              <a:t>Authorization key, dual-gateway design, convergence</a:t>
            </a:r>
            <a:endParaRPr lang="en-US" sz="1150" dirty="0"/>
          </a:p>
        </p:txBody>
      </p:sp>
      <p:sp>
        <p:nvSpPr>
          <p:cNvPr id="29" name="Shape 27"/>
          <p:cNvSpPr/>
          <p:nvPr/>
        </p:nvSpPr>
        <p:spPr>
          <a:xfrm>
            <a:off x="548640" y="5084064"/>
            <a:ext cx="5285232" cy="987552"/>
          </a:xfrm>
          <a:prstGeom prst="roundRect">
            <a:avLst>
              <a:gd name="adj" fmla="val 8333"/>
            </a:avLst>
          </a:prstGeom>
          <a:solidFill>
            <a:srgbClr val="E5F7FC"/>
          </a:solidFill>
          <a:ln w="12700">
            <a:solidFill>
              <a:srgbClr val="E5F7FC"/>
            </a:solidFill>
            <a:prstDash val="solid"/>
          </a:ln>
        </p:spPr>
      </p:sp>
      <p:sp>
        <p:nvSpPr>
          <p:cNvPr id="30" name="Text 28"/>
          <p:cNvSpPr/>
          <p:nvPr/>
        </p:nvSpPr>
        <p:spPr>
          <a:xfrm>
            <a:off x="768096" y="5230368"/>
            <a:ext cx="640080" cy="365760"/>
          </a:xfrm>
          <a:prstGeom prst="rect">
            <a:avLst/>
          </a:prstGeom>
          <a:noFill/>
          <a:ln/>
        </p:spPr>
        <p:txBody>
          <a:bodyPr wrap="square" lIns="0" tIns="0" rIns="0" bIns="0" rtlCol="0" anchor="ctr"/>
          <a:lstStyle/>
          <a:p>
            <a:pPr indent="0" marL="0">
              <a:buNone/>
            </a:pPr>
            <a:r>
              <a:rPr lang="en-US" sz="1900" b="1" dirty="0">
                <a:solidFill>
                  <a:srgbClr val="00B3E2"/>
                </a:solidFill>
                <a:latin typeface="Arial" pitchFamily="34" charset="0"/>
                <a:ea typeface="Arial" pitchFamily="34" charset="-122"/>
                <a:cs typeface="Arial" pitchFamily="34" charset="-120"/>
              </a:rPr>
              <a:t>07</a:t>
            </a:r>
            <a:endParaRPr lang="en-US" sz="1900" dirty="0"/>
          </a:p>
        </p:txBody>
      </p:sp>
      <p:sp>
        <p:nvSpPr>
          <p:cNvPr id="31" name="Text 29"/>
          <p:cNvSpPr/>
          <p:nvPr/>
        </p:nvSpPr>
        <p:spPr>
          <a:xfrm>
            <a:off x="1463040" y="5230368"/>
            <a:ext cx="420624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Security and access</a:t>
            </a:r>
            <a:endParaRPr lang="en-US" sz="1350" dirty="0"/>
          </a:p>
        </p:txBody>
      </p:sp>
      <p:sp>
        <p:nvSpPr>
          <p:cNvPr id="32" name="Text 30"/>
          <p:cNvSpPr/>
          <p:nvPr/>
        </p:nvSpPr>
        <p:spPr>
          <a:xfrm>
            <a:off x="1463040" y="5550408"/>
            <a:ext cx="4206240" cy="411480"/>
          </a:xfrm>
          <a:prstGeom prst="rect">
            <a:avLst/>
          </a:prstGeom>
          <a:noFill/>
          <a:ln/>
        </p:spPr>
        <p:txBody>
          <a:bodyPr wrap="square" lIns="0" tIns="0" rIns="0" bIns="0" rtlCol="0" anchor="t"/>
          <a:lstStyle/>
          <a:p>
            <a:pPr indent="0" marL="0">
              <a:buNone/>
            </a:pPr>
            <a:r>
              <a:rPr lang="en-US" sz="1150" dirty="0">
                <a:solidFill>
                  <a:srgbClr val="6E6E7E"/>
                </a:solidFill>
                <a:latin typeface="Calibri" pitchFamily="34" charset="0"/>
                <a:ea typeface="Calibri" pitchFamily="34" charset="-122"/>
                <a:cs typeface="Calibri" pitchFamily="34" charset="-120"/>
              </a:rPr>
              <a:t>Segmentation, firewalling, Application Gateway, Bastion</a:t>
            </a:r>
            <a:endParaRPr lang="en-US" sz="1150" dirty="0"/>
          </a:p>
        </p:txBody>
      </p:sp>
      <p:sp>
        <p:nvSpPr>
          <p:cNvPr id="33" name="Shape 31"/>
          <p:cNvSpPr/>
          <p:nvPr/>
        </p:nvSpPr>
        <p:spPr>
          <a:xfrm>
            <a:off x="6355080" y="5084064"/>
            <a:ext cx="5285232" cy="987552"/>
          </a:xfrm>
          <a:prstGeom prst="roundRect">
            <a:avLst>
              <a:gd name="adj" fmla="val 8333"/>
            </a:avLst>
          </a:prstGeom>
          <a:solidFill>
            <a:srgbClr val="EBEDED"/>
          </a:solidFill>
          <a:ln w="12700">
            <a:solidFill>
              <a:srgbClr val="EBEDED"/>
            </a:solidFill>
            <a:prstDash val="solid"/>
          </a:ln>
        </p:spPr>
      </p:sp>
      <p:sp>
        <p:nvSpPr>
          <p:cNvPr id="34" name="Text 32"/>
          <p:cNvSpPr/>
          <p:nvPr/>
        </p:nvSpPr>
        <p:spPr>
          <a:xfrm>
            <a:off x="6574536" y="5230368"/>
            <a:ext cx="640080" cy="365760"/>
          </a:xfrm>
          <a:prstGeom prst="rect">
            <a:avLst/>
          </a:prstGeom>
          <a:noFill/>
          <a:ln/>
        </p:spPr>
        <p:txBody>
          <a:bodyPr wrap="square" lIns="0" tIns="0" rIns="0" bIns="0" rtlCol="0" anchor="ctr"/>
          <a:lstStyle/>
          <a:p>
            <a:pPr indent="0" marL="0">
              <a:buNone/>
            </a:pPr>
            <a:r>
              <a:rPr lang="en-US" sz="1900" b="1" dirty="0">
                <a:solidFill>
                  <a:srgbClr val="00B3E2"/>
                </a:solidFill>
                <a:latin typeface="Arial" pitchFamily="34" charset="0"/>
                <a:ea typeface="Arial" pitchFamily="34" charset="-122"/>
                <a:cs typeface="Arial" pitchFamily="34" charset="-120"/>
              </a:rPr>
              <a:t>08</a:t>
            </a:r>
            <a:endParaRPr lang="en-US" sz="1900" dirty="0"/>
          </a:p>
        </p:txBody>
      </p:sp>
      <p:sp>
        <p:nvSpPr>
          <p:cNvPr id="35" name="Text 33"/>
          <p:cNvSpPr/>
          <p:nvPr/>
        </p:nvSpPr>
        <p:spPr>
          <a:xfrm>
            <a:off x="7269480" y="5230368"/>
            <a:ext cx="420624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Identity and DNS resilience</a:t>
            </a:r>
            <a:endParaRPr lang="en-US" sz="1350" dirty="0"/>
          </a:p>
        </p:txBody>
      </p:sp>
      <p:sp>
        <p:nvSpPr>
          <p:cNvPr id="36" name="Text 34"/>
          <p:cNvSpPr/>
          <p:nvPr/>
        </p:nvSpPr>
        <p:spPr>
          <a:xfrm>
            <a:off x="7269480" y="5550408"/>
            <a:ext cx="4206240" cy="411480"/>
          </a:xfrm>
          <a:prstGeom prst="rect">
            <a:avLst/>
          </a:prstGeom>
          <a:noFill/>
          <a:ln/>
        </p:spPr>
        <p:txBody>
          <a:bodyPr wrap="square" lIns="0" tIns="0" rIns="0" bIns="0" rtlCol="0" anchor="t"/>
          <a:lstStyle/>
          <a:p>
            <a:pPr indent="0" marL="0">
              <a:buNone/>
            </a:pPr>
            <a:r>
              <a:rPr lang="en-US" sz="1150" dirty="0">
                <a:solidFill>
                  <a:srgbClr val="6E6E7E"/>
                </a:solidFill>
                <a:latin typeface="Calibri" pitchFamily="34" charset="0"/>
                <a:ea typeface="Calibri" pitchFamily="34" charset="-122"/>
                <a:cs typeface="Calibri" pitchFamily="34" charset="-120"/>
              </a:rPr>
              <a:t>Domain controllers, private DNS, conditional forwarding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READ THIS FIRST</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Two distinct patterns, one architecture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a:t>
            </a:r>
            <a:endParaRPr lang="en-US" sz="900" dirty="0"/>
          </a:p>
        </p:txBody>
      </p:sp>
      <p:sp>
        <p:nvSpPr>
          <p:cNvPr id="5" name="Text 3"/>
          <p:cNvSpPr/>
          <p:nvPr/>
        </p:nvSpPr>
        <p:spPr>
          <a:xfrm>
            <a:off x="548640" y="1463040"/>
            <a:ext cx="11064240" cy="457200"/>
          </a:xfrm>
          <a:prstGeom prst="rect">
            <a:avLst/>
          </a:prstGeom>
          <a:noFill/>
          <a:ln/>
        </p:spPr>
        <p:txBody>
          <a:bodyPr wrap="square" lIns="0" tIns="0" rIns="0" bIns="0" rtlCol="0" anchor="t"/>
          <a:lstStyle/>
          <a:p>
            <a:pPr indent="0" marL="0">
              <a:buNone/>
            </a:pPr>
            <a:r>
              <a:rPr lang="en-US" sz="1400" dirty="0">
                <a:solidFill>
                  <a:srgbClr val="3E3E4B"/>
                </a:solidFill>
                <a:latin typeface="Calibri" pitchFamily="34" charset="0"/>
                <a:ea typeface="Calibri" pitchFamily="34" charset="-122"/>
                <a:cs typeface="Calibri" pitchFamily="34" charset="-120"/>
              </a:rPr>
              <a:t>The source material blends a Standard Virtual WAN hub design with a self-managed hub VNet design. Both are valid, but they are not interchangeable.</a:t>
            </a:r>
            <a:endParaRPr lang="en-US" sz="1400" dirty="0"/>
          </a:p>
        </p:txBody>
      </p:sp>
      <p:sp>
        <p:nvSpPr>
          <p:cNvPr id="6" name="Shape 4"/>
          <p:cNvSpPr/>
          <p:nvPr/>
        </p:nvSpPr>
        <p:spPr>
          <a:xfrm>
            <a:off x="548640" y="2103120"/>
            <a:ext cx="5394960" cy="1874520"/>
          </a:xfrm>
          <a:prstGeom prst="roundRect">
            <a:avLst>
              <a:gd name="adj" fmla="val 4390"/>
            </a:avLst>
          </a:prstGeom>
          <a:solidFill>
            <a:srgbClr val="E5F7FC"/>
          </a:solidFill>
          <a:ln w="12700">
            <a:solidFill>
              <a:srgbClr val="E5F7FC"/>
            </a:solidFill>
            <a:prstDash val="solid"/>
          </a:ln>
        </p:spPr>
      </p:sp>
      <p:sp>
        <p:nvSpPr>
          <p:cNvPr id="7" name="Text 5"/>
          <p:cNvSpPr/>
          <p:nvPr/>
        </p:nvSpPr>
        <p:spPr>
          <a:xfrm>
            <a:off x="804672" y="2304288"/>
            <a:ext cx="4882896" cy="292608"/>
          </a:xfrm>
          <a:prstGeom prst="rect">
            <a:avLst/>
          </a:prstGeom>
          <a:noFill/>
          <a:ln/>
        </p:spPr>
        <p:txBody>
          <a:bodyPr wrap="square" lIns="0" tIns="0" rIns="0" bIns="0" rtlCol="0" anchor="ctr"/>
          <a:lstStyle/>
          <a:p>
            <a:pPr indent="0" marL="0">
              <a:buNone/>
            </a:pPr>
            <a:r>
              <a:rPr lang="en-US" sz="1300" b="1" dirty="0">
                <a:solidFill>
                  <a:srgbClr val="00B3E2"/>
                </a:solidFill>
                <a:latin typeface="Arial" pitchFamily="34" charset="0"/>
                <a:ea typeface="Arial" pitchFamily="34" charset="-122"/>
                <a:cs typeface="Arial" pitchFamily="34" charset="-120"/>
              </a:rPr>
              <a:t>Virtual WAN hub (Microsoft-managed)</a:t>
            </a:r>
            <a:endParaRPr lang="en-US" sz="1300" dirty="0"/>
          </a:p>
        </p:txBody>
      </p:sp>
      <p:sp>
        <p:nvSpPr>
          <p:cNvPr id="8" name="Text 6"/>
          <p:cNvSpPr/>
          <p:nvPr/>
        </p:nvSpPr>
        <p:spPr>
          <a:xfrm>
            <a:off x="804672" y="2651760"/>
            <a:ext cx="4882896" cy="1124712"/>
          </a:xfrm>
          <a:prstGeom prst="rect">
            <a:avLst/>
          </a:prstGeom>
          <a:noFill/>
          <a:ln/>
        </p:spPr>
        <p:txBody>
          <a:bodyPr wrap="square" lIns="0" tIns="0" rIns="0" bIns="0" rtlCol="0" anchor="t"/>
          <a:lstStyle/>
          <a:p>
            <a:pPr indent="0" marL="0">
              <a:lnSpc>
                <a:spcPct val="105000"/>
              </a:lnSpc>
              <a:buNone/>
            </a:pPr>
            <a:r>
              <a:rPr lang="en-US" sz="1200" dirty="0">
                <a:solidFill>
                  <a:srgbClr val="3E3E4B"/>
                </a:solidFill>
                <a:latin typeface="Calibri" pitchFamily="34" charset="0"/>
                <a:ea typeface="Calibri" pitchFamily="34" charset="-122"/>
                <a:cs typeface="Calibri" pitchFamily="34" charset="-120"/>
              </a:rPr>
              <a:t>The hub hosts the site-to-site VPN gateway and the ExpressRoute gateway. It does not expose customer subnets, so jump boxes, Application Gateway, Bastion, and identity or DNS VMs belong in connected shared-services spokes. Azure Firewall integrates by converting the hub to a secured virtual hub.</a:t>
            </a:r>
            <a:endParaRPr lang="en-US" sz="1200" dirty="0"/>
          </a:p>
        </p:txBody>
      </p:sp>
      <p:sp>
        <p:nvSpPr>
          <p:cNvPr id="9" name="Shape 7"/>
          <p:cNvSpPr/>
          <p:nvPr/>
        </p:nvSpPr>
        <p:spPr>
          <a:xfrm>
            <a:off x="6245352" y="2103120"/>
            <a:ext cx="5394960" cy="1874520"/>
          </a:xfrm>
          <a:prstGeom prst="roundRect">
            <a:avLst>
              <a:gd name="adj" fmla="val 4390"/>
            </a:avLst>
          </a:prstGeom>
          <a:solidFill>
            <a:srgbClr val="EBEDED"/>
          </a:solidFill>
          <a:ln w="12700">
            <a:solidFill>
              <a:srgbClr val="EBEDED"/>
            </a:solidFill>
            <a:prstDash val="solid"/>
          </a:ln>
        </p:spPr>
      </p:sp>
      <p:sp>
        <p:nvSpPr>
          <p:cNvPr id="10" name="Text 8"/>
          <p:cNvSpPr/>
          <p:nvPr/>
        </p:nvSpPr>
        <p:spPr>
          <a:xfrm>
            <a:off x="6501384" y="2304288"/>
            <a:ext cx="4882896" cy="292608"/>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Self-managed hub VNet (customer-managed)</a:t>
            </a:r>
            <a:endParaRPr lang="en-US" sz="1300" dirty="0"/>
          </a:p>
        </p:txBody>
      </p:sp>
      <p:sp>
        <p:nvSpPr>
          <p:cNvPr id="11" name="Text 9"/>
          <p:cNvSpPr/>
          <p:nvPr/>
        </p:nvSpPr>
        <p:spPr>
          <a:xfrm>
            <a:off x="6501384" y="2651760"/>
            <a:ext cx="4882896" cy="1124712"/>
          </a:xfrm>
          <a:prstGeom prst="rect">
            <a:avLst/>
          </a:prstGeom>
          <a:noFill/>
          <a:ln/>
        </p:spPr>
        <p:txBody>
          <a:bodyPr wrap="square" lIns="0" tIns="0" rIns="0" bIns="0" rtlCol="0" anchor="t"/>
          <a:lstStyle/>
          <a:p>
            <a:pPr indent="0" marL="0">
              <a:lnSpc>
                <a:spcPct val="105000"/>
              </a:lnSpc>
              <a:buNone/>
            </a:pPr>
            <a:r>
              <a:rPr lang="en-US" sz="1200" dirty="0">
                <a:solidFill>
                  <a:srgbClr val="3E3E4B"/>
                </a:solidFill>
                <a:latin typeface="Calibri" pitchFamily="34" charset="0"/>
                <a:ea typeface="Calibri" pitchFamily="34" charset="-122"/>
                <a:cs typeface="Calibri" pitchFamily="34" charset="-120"/>
              </a:rPr>
              <a:t>A customer VNet holds Azure Firewall, Application Gateway, Bastion, jump boxes, and identity or DNS VMs directly. Transit and inspection are enforced with user-defined routes rather than routing intent.</a:t>
            </a:r>
            <a:endParaRPr lang="en-US" sz="1200" dirty="0"/>
          </a:p>
        </p:txBody>
      </p:sp>
      <p:sp>
        <p:nvSpPr>
          <p:cNvPr id="12" name="Shape 10"/>
          <p:cNvSpPr/>
          <p:nvPr/>
        </p:nvSpPr>
        <p:spPr>
          <a:xfrm>
            <a:off x="548640" y="4224528"/>
            <a:ext cx="11091672" cy="960120"/>
          </a:xfrm>
          <a:prstGeom prst="roundRect">
            <a:avLst>
              <a:gd name="adj" fmla="val 8571"/>
            </a:avLst>
          </a:prstGeom>
          <a:solidFill>
            <a:srgbClr val="E2F2E8"/>
          </a:solidFill>
          <a:ln w="12700">
            <a:solidFill>
              <a:srgbClr val="E2F2E8"/>
            </a:solidFill>
            <a:prstDash val="solid"/>
          </a:ln>
        </p:spPr>
      </p:sp>
      <p:sp>
        <p:nvSpPr>
          <p:cNvPr id="13" name="Shape 11"/>
          <p:cNvSpPr/>
          <p:nvPr/>
        </p:nvSpPr>
        <p:spPr>
          <a:xfrm>
            <a:off x="822960" y="4453128"/>
            <a:ext cx="475488" cy="475488"/>
          </a:xfrm>
          <a:prstGeom prst="ellipse">
            <a:avLst/>
          </a:prstGeom>
          <a:solidFill>
            <a:srgbClr val="00AD93"/>
          </a:solidFill>
          <a:ln w="12700">
            <a:solidFill>
              <a:srgbClr val="00AD93"/>
            </a:solidFill>
            <a:prstDash val="solid"/>
          </a:ln>
        </p:spPr>
      </p:sp>
      <p:sp>
        <p:nvSpPr>
          <p:cNvPr id="14" name="Text 12"/>
          <p:cNvSpPr/>
          <p:nvPr/>
        </p:nvSpPr>
        <p:spPr>
          <a:xfrm>
            <a:off x="822960" y="4453128"/>
            <a:ext cx="47548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5" name="Text 13"/>
          <p:cNvSpPr/>
          <p:nvPr/>
        </p:nvSpPr>
        <p:spPr>
          <a:xfrm>
            <a:off x="1481328" y="4443984"/>
            <a:ext cx="9921240" cy="54864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Decide which model you are building before you place a single resource. Mixing them produces designs that cannot be deployed as documented.</a:t>
            </a:r>
            <a:endParaRPr lang="en-US" sz="1300" dirty="0"/>
          </a:p>
        </p:txBody>
      </p:sp>
      <p:sp>
        <p:nvSpPr>
          <p:cNvPr id="16" name="Text 14"/>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Points labelled Transcript-derived throughout this deck reflect operational interpretation rather than explicit Microsoft Learn statements.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01</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Scenario and</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architectural objective</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The mandate, the missing circuit, and the goals the design has to meet</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I.A  MIGRATION MANDATE</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A mission-critical workload has to move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5</a:t>
            </a:r>
            <a:endParaRPr lang="en-US" sz="900" dirty="0"/>
          </a:p>
        </p:txBody>
      </p:sp>
      <p:sp>
        <p:nvSpPr>
          <p:cNvPr id="5" name="Text 3"/>
          <p:cNvSpPr/>
          <p:nvPr/>
        </p:nvSpPr>
        <p:spPr>
          <a:xfrm>
            <a:off x="548640" y="1600200"/>
            <a:ext cx="3200400" cy="868680"/>
          </a:xfrm>
          <a:prstGeom prst="rect">
            <a:avLst/>
          </a:prstGeom>
          <a:noFill/>
          <a:ln/>
        </p:spPr>
        <p:txBody>
          <a:bodyPr wrap="square" lIns="0" tIns="0" rIns="0" bIns="0" rtlCol="0" anchor="ctr"/>
          <a:lstStyle/>
          <a:p>
            <a:pPr algn="ctr" indent="0" marL="0">
              <a:buNone/>
            </a:pPr>
            <a:r>
              <a:rPr lang="en-US" sz="4200" b="1" dirty="0">
                <a:solidFill>
                  <a:srgbClr val="00B3E2"/>
                </a:solidFill>
                <a:latin typeface="Arial" pitchFamily="34" charset="0"/>
                <a:ea typeface="Arial" pitchFamily="34" charset="-122"/>
                <a:cs typeface="Arial" pitchFamily="34" charset="-120"/>
              </a:rPr>
              <a:t>5 TB</a:t>
            </a:r>
            <a:endParaRPr lang="en-US" sz="4200" dirty="0"/>
          </a:p>
        </p:txBody>
      </p:sp>
      <p:sp>
        <p:nvSpPr>
          <p:cNvPr id="6" name="Text 4"/>
          <p:cNvSpPr/>
          <p:nvPr/>
        </p:nvSpPr>
        <p:spPr>
          <a:xfrm>
            <a:off x="548640" y="2468880"/>
            <a:ext cx="320040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SQL Server database in scope</a:t>
            </a:r>
            <a:endParaRPr lang="en-US" sz="1200" dirty="0"/>
          </a:p>
        </p:txBody>
      </p:sp>
      <p:sp>
        <p:nvSpPr>
          <p:cNvPr id="7" name="Text 5"/>
          <p:cNvSpPr/>
          <p:nvPr/>
        </p:nvSpPr>
        <p:spPr>
          <a:xfrm>
            <a:off x="3977640" y="1600200"/>
            <a:ext cx="3200400" cy="868680"/>
          </a:xfrm>
          <a:prstGeom prst="rect">
            <a:avLst/>
          </a:prstGeom>
          <a:noFill/>
          <a:ln/>
        </p:spPr>
        <p:txBody>
          <a:bodyPr wrap="square" lIns="0" tIns="0" rIns="0" bIns="0" rtlCol="0" anchor="ctr"/>
          <a:lstStyle/>
          <a:p>
            <a:pPr algn="ctr" indent="0" marL="0">
              <a:buNone/>
            </a:pPr>
            <a:r>
              <a:rPr lang="en-US" sz="4200" b="1" dirty="0">
                <a:solidFill>
                  <a:srgbClr val="2DCCD3"/>
                </a:solidFill>
                <a:latin typeface="Arial" pitchFamily="34" charset="0"/>
                <a:ea typeface="Arial" pitchFamily="34" charset="-122"/>
                <a:cs typeface="Arial" pitchFamily="34" charset="-120"/>
              </a:rPr>
              <a:t>1</a:t>
            </a:r>
            <a:endParaRPr lang="en-US" sz="4200" dirty="0"/>
          </a:p>
        </p:txBody>
      </p:sp>
      <p:sp>
        <p:nvSpPr>
          <p:cNvPr id="8" name="Text 6"/>
          <p:cNvSpPr/>
          <p:nvPr/>
        </p:nvSpPr>
        <p:spPr>
          <a:xfrm>
            <a:off x="3977640" y="2468880"/>
            <a:ext cx="320040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weekend migration window</a:t>
            </a:r>
            <a:endParaRPr lang="en-US" sz="1200" dirty="0"/>
          </a:p>
        </p:txBody>
      </p:sp>
      <p:sp>
        <p:nvSpPr>
          <p:cNvPr id="9" name="Text 7"/>
          <p:cNvSpPr/>
          <p:nvPr/>
        </p:nvSpPr>
        <p:spPr>
          <a:xfrm>
            <a:off x="7406640" y="1600200"/>
            <a:ext cx="4206240" cy="868680"/>
          </a:xfrm>
          <a:prstGeom prst="rect">
            <a:avLst/>
          </a:prstGeom>
          <a:noFill/>
          <a:ln/>
        </p:spPr>
        <p:txBody>
          <a:bodyPr wrap="square" lIns="0" tIns="0" rIns="0" bIns="0" rtlCol="0" anchor="ctr"/>
          <a:lstStyle/>
          <a:p>
            <a:pPr algn="ctr" indent="0" marL="0">
              <a:buNone/>
            </a:pPr>
            <a:r>
              <a:rPr lang="en-US" sz="4200" b="1" dirty="0">
                <a:solidFill>
                  <a:srgbClr val="3E3E4B"/>
                </a:solidFill>
                <a:latin typeface="Arial" pitchFamily="34" charset="0"/>
                <a:ea typeface="Arial" pitchFamily="34" charset="-122"/>
                <a:cs typeface="Arial" pitchFamily="34" charset="-120"/>
              </a:rPr>
              <a:t>Bare metal</a:t>
            </a:r>
            <a:endParaRPr lang="en-US" sz="4200" dirty="0"/>
          </a:p>
        </p:txBody>
      </p:sp>
      <p:sp>
        <p:nvSpPr>
          <p:cNvPr id="10" name="Text 8"/>
          <p:cNvSpPr/>
          <p:nvPr/>
        </p:nvSpPr>
        <p:spPr>
          <a:xfrm>
            <a:off x="7406640" y="2468880"/>
            <a:ext cx="420624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dedicated AVS infrastructure</a:t>
            </a:r>
            <a:endParaRPr lang="en-US" sz="1200" dirty="0"/>
          </a:p>
        </p:txBody>
      </p:sp>
      <p:sp>
        <p:nvSpPr>
          <p:cNvPr id="11" name="Shape 9"/>
          <p:cNvSpPr/>
          <p:nvPr/>
        </p:nvSpPr>
        <p:spPr>
          <a:xfrm>
            <a:off x="548640" y="3291840"/>
            <a:ext cx="11091672" cy="2606040"/>
          </a:xfrm>
          <a:prstGeom prst="roundRect">
            <a:avLst>
              <a:gd name="adj" fmla="val 3158"/>
            </a:avLst>
          </a:prstGeom>
          <a:solidFill>
            <a:srgbClr val="E5F7FC"/>
          </a:solidFill>
          <a:ln w="12700">
            <a:solidFill>
              <a:srgbClr val="E5F7FC"/>
            </a:solidFill>
            <a:prstDash val="solid"/>
          </a:ln>
        </p:spPr>
      </p:sp>
      <p:sp>
        <p:nvSpPr>
          <p:cNvPr id="12" name="Shape 10"/>
          <p:cNvSpPr/>
          <p:nvPr/>
        </p:nvSpPr>
        <p:spPr>
          <a:xfrm>
            <a:off x="868680" y="3584448"/>
            <a:ext cx="384048" cy="384048"/>
          </a:xfrm>
          <a:prstGeom prst="ellipse">
            <a:avLst/>
          </a:prstGeom>
          <a:solidFill>
            <a:srgbClr val="00B3E2"/>
          </a:solidFill>
          <a:ln w="12700">
            <a:solidFill>
              <a:srgbClr val="00B3E2"/>
            </a:solidFill>
            <a:prstDash val="solid"/>
          </a:ln>
        </p:spPr>
      </p:sp>
      <p:sp>
        <p:nvSpPr>
          <p:cNvPr id="13" name="Text 11"/>
          <p:cNvSpPr/>
          <p:nvPr/>
        </p:nvSpPr>
        <p:spPr>
          <a:xfrm>
            <a:off x="868680" y="35844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4" name="Text 12"/>
          <p:cNvSpPr/>
          <p:nvPr/>
        </p:nvSpPr>
        <p:spPr>
          <a:xfrm>
            <a:off x="1435608" y="3547872"/>
            <a:ext cx="994867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AVS supplies dedicated Azure bare-metal infrastructure</a:t>
            </a:r>
            <a:endParaRPr lang="en-US" sz="1300" dirty="0"/>
          </a:p>
        </p:txBody>
      </p:sp>
      <p:sp>
        <p:nvSpPr>
          <p:cNvPr id="15" name="Text 13"/>
          <p:cNvSpPr/>
          <p:nvPr/>
        </p:nvSpPr>
        <p:spPr>
          <a:xfrm>
            <a:off x="1435608" y="3822192"/>
            <a:ext cx="9948672" cy="548640"/>
          </a:xfrm>
          <a:prstGeom prst="rect">
            <a:avLst/>
          </a:prstGeom>
          <a:noFill/>
          <a:ln/>
        </p:spPr>
        <p:txBody>
          <a:bodyPr wrap="square" lIns="0" tIns="0" rIns="0" bIns="0" rtlCol="0" anchor="t"/>
          <a:lstStyle/>
          <a:p>
            <a:pPr indent="0" marL="0">
              <a:lnSpc>
                <a:spcPct val="102000"/>
              </a:lnSpc>
              <a:buNone/>
            </a:pPr>
            <a:r>
              <a:rPr lang="en-US" sz="1200" dirty="0">
                <a:solidFill>
                  <a:srgbClr val="6E6E7E"/>
                </a:solidFill>
                <a:latin typeface="Calibri" pitchFamily="34" charset="0"/>
                <a:ea typeface="Calibri" pitchFamily="34" charset="-122"/>
                <a:cs typeface="Calibri" pitchFamily="34" charset="-120"/>
              </a:rPr>
              <a:t>vSphere, vSAN, vCenter Server, and NSX run on Microsoft-managed hosts, so the existing VMware operating model is preserved.</a:t>
            </a:r>
            <a:endParaRPr lang="en-US" sz="1200" dirty="0"/>
          </a:p>
        </p:txBody>
      </p:sp>
      <p:sp>
        <p:nvSpPr>
          <p:cNvPr id="16" name="Shape 14"/>
          <p:cNvSpPr/>
          <p:nvPr/>
        </p:nvSpPr>
        <p:spPr>
          <a:xfrm>
            <a:off x="868680" y="4462272"/>
            <a:ext cx="384048" cy="384048"/>
          </a:xfrm>
          <a:prstGeom prst="ellipse">
            <a:avLst/>
          </a:prstGeom>
          <a:solidFill>
            <a:srgbClr val="00B3E2"/>
          </a:solidFill>
          <a:ln w="12700">
            <a:solidFill>
              <a:srgbClr val="00B3E2"/>
            </a:solidFill>
            <a:prstDash val="solid"/>
          </a:ln>
        </p:spPr>
      </p:sp>
      <p:sp>
        <p:nvSpPr>
          <p:cNvPr id="17" name="Text 15"/>
          <p:cNvSpPr/>
          <p:nvPr/>
        </p:nvSpPr>
        <p:spPr>
          <a:xfrm>
            <a:off x="868680"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6"/>
          <p:cNvSpPr/>
          <p:nvPr/>
        </p:nvSpPr>
        <p:spPr>
          <a:xfrm>
            <a:off x="1435608" y="4425696"/>
            <a:ext cx="994867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VMware HCX is the migration platform</a:t>
            </a:r>
            <a:endParaRPr lang="en-US" sz="1300" dirty="0"/>
          </a:p>
        </p:txBody>
      </p:sp>
      <p:sp>
        <p:nvSpPr>
          <p:cNvPr id="19" name="Text 17"/>
          <p:cNvSpPr/>
          <p:nvPr/>
        </p:nvSpPr>
        <p:spPr>
          <a:xfrm>
            <a:off x="1435608" y="4700016"/>
            <a:ext cx="9948672" cy="548640"/>
          </a:xfrm>
          <a:prstGeom prst="rect">
            <a:avLst/>
          </a:prstGeom>
          <a:noFill/>
          <a:ln/>
        </p:spPr>
        <p:txBody>
          <a:bodyPr wrap="square" lIns="0" tIns="0" rIns="0" bIns="0" rtlCol="0" anchor="t"/>
          <a:lstStyle/>
          <a:p>
            <a:pPr indent="0" marL="0">
              <a:lnSpc>
                <a:spcPct val="102000"/>
              </a:lnSpc>
              <a:buNone/>
            </a:pPr>
            <a:r>
              <a:rPr lang="en-US" sz="1200" dirty="0">
                <a:solidFill>
                  <a:srgbClr val="6E6E7E"/>
                </a:solidFill>
                <a:latin typeface="Calibri" pitchFamily="34" charset="0"/>
                <a:ea typeface="Calibri" pitchFamily="34" charset="-122"/>
                <a:cs typeface="Calibri" pitchFamily="34" charset="-120"/>
              </a:rPr>
              <a:t>HCX Cloud Manager in AVS pairs with HCX Connector on-premises to move vSphere workloads into the private cloud.</a:t>
            </a:r>
            <a:endParaRPr lang="en-US" sz="1200" dirty="0"/>
          </a:p>
        </p:txBody>
      </p:sp>
      <p:sp>
        <p:nvSpPr>
          <p:cNvPr id="20" name="Shape 18"/>
          <p:cNvSpPr/>
          <p:nvPr/>
        </p:nvSpPr>
        <p:spPr>
          <a:xfrm>
            <a:off x="868680" y="5248656"/>
            <a:ext cx="384048" cy="384048"/>
          </a:xfrm>
          <a:prstGeom prst="ellipse">
            <a:avLst/>
          </a:prstGeom>
          <a:solidFill>
            <a:srgbClr val="00B3E2"/>
          </a:solidFill>
          <a:ln w="12700">
            <a:solidFill>
              <a:srgbClr val="00B3E2"/>
            </a:solidFill>
            <a:prstDash val="solid"/>
          </a:ln>
        </p:spPr>
      </p:sp>
      <p:sp>
        <p:nvSpPr>
          <p:cNvPr id="21" name="Text 19"/>
          <p:cNvSpPr/>
          <p:nvPr/>
        </p:nvSpPr>
        <p:spPr>
          <a:xfrm>
            <a:off x="868680" y="524865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2" name="Text 20"/>
          <p:cNvSpPr/>
          <p:nvPr/>
        </p:nvSpPr>
        <p:spPr>
          <a:xfrm>
            <a:off x="1435608" y="5212080"/>
            <a:ext cx="994867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Planning is driven by size, criticality, network speed, and approved downtime</a:t>
            </a:r>
            <a:endParaRPr lang="en-US" sz="1300" dirty="0"/>
          </a:p>
        </p:txBody>
      </p:sp>
      <p:sp>
        <p:nvSpPr>
          <p:cNvPr id="23" name="Text 21"/>
          <p:cNvSpPr/>
          <p:nvPr/>
        </p:nvSpPr>
        <p:spPr>
          <a:xfrm>
            <a:off x="1435608" y="5486400"/>
            <a:ext cx="9948672" cy="548640"/>
          </a:xfrm>
          <a:prstGeom prst="rect">
            <a:avLst/>
          </a:prstGeom>
          <a:noFill/>
          <a:ln/>
        </p:spPr>
        <p:txBody>
          <a:bodyPr wrap="square" lIns="0" tIns="0" rIns="0" bIns="0" rtlCol="0" anchor="t"/>
          <a:lstStyle/>
          <a:p>
            <a:pPr indent="0" marL="0">
              <a:lnSpc>
                <a:spcPct val="102000"/>
              </a:lnSpc>
              <a:buNone/>
            </a:pPr>
            <a:r>
              <a:rPr lang="en-US" sz="1200" dirty="0">
                <a:solidFill>
                  <a:srgbClr val="6E6E7E"/>
                </a:solidFill>
                <a:latin typeface="Calibri" pitchFamily="34" charset="0"/>
                <a:ea typeface="Calibri" pitchFamily="34" charset="-122"/>
                <a:cs typeface="Calibri" pitchFamily="34" charset="-120"/>
              </a:rPr>
              <a:t>Microsoft's SQL-to-AVS guidance makes these four inputs the basis of the migration plan.</a:t>
            </a:r>
            <a:endParaRPr lang="en-US" sz="1200" dirty="0"/>
          </a:p>
        </p:txBody>
      </p:sp>
      <p:sp>
        <p:nvSpPr>
          <p:cNvPr id="24" name="Text 22"/>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Transcript-derived scenario. See What is Azure VMware Solution, Install VMware HCX in AVS, and the SQL Server migration guidance on Microsoft Learn.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I.B  LOST CONNECTIVITY OPTION</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No dedicated ExpressRoute circuit</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548640" y="1554480"/>
            <a:ext cx="3520440" cy="1965960"/>
          </a:xfrm>
          <a:prstGeom prst="roundRect">
            <a:avLst>
              <a:gd name="adj" fmla="val 4186"/>
            </a:avLst>
          </a:prstGeom>
          <a:solidFill>
            <a:srgbClr val="EBEDED"/>
          </a:solidFill>
          <a:ln w="12700">
            <a:solidFill>
              <a:srgbClr val="EBEDED"/>
            </a:solidFill>
            <a:prstDash val="solid"/>
          </a:ln>
        </p:spPr>
      </p:sp>
      <p:sp>
        <p:nvSpPr>
          <p:cNvPr id="6" name="Text 4"/>
          <p:cNvSpPr/>
          <p:nvPr/>
        </p:nvSpPr>
        <p:spPr>
          <a:xfrm>
            <a:off x="804672" y="1755648"/>
            <a:ext cx="3008376" cy="292608"/>
          </a:xfrm>
          <a:prstGeom prst="rect">
            <a:avLst/>
          </a:prstGeom>
          <a:noFill/>
          <a:ln/>
        </p:spPr>
        <p:txBody>
          <a:bodyPr wrap="square" lIns="0" tIns="0" rIns="0" bIns="0" rtlCol="0" anchor="ctr"/>
          <a:lstStyle/>
          <a:p>
            <a:pPr indent="0" marL="0">
              <a:buNone/>
            </a:pPr>
            <a:r>
              <a:rPr lang="en-US" sz="1300" b="1" dirty="0">
                <a:solidFill>
                  <a:srgbClr val="F15D23"/>
                </a:solidFill>
                <a:latin typeface="Arial" pitchFamily="34" charset="0"/>
                <a:ea typeface="Arial" pitchFamily="34" charset="-122"/>
                <a:cs typeface="Arial" pitchFamily="34" charset="-120"/>
              </a:rPr>
              <a:t>The constraint</a:t>
            </a:r>
            <a:endParaRPr lang="en-US" sz="1300" dirty="0"/>
          </a:p>
        </p:txBody>
      </p:sp>
      <p:sp>
        <p:nvSpPr>
          <p:cNvPr id="7" name="Text 5"/>
          <p:cNvSpPr/>
          <p:nvPr/>
        </p:nvSpPr>
        <p:spPr>
          <a:xfrm>
            <a:off x="804672" y="2103120"/>
            <a:ext cx="3008376" cy="1216152"/>
          </a:xfrm>
          <a:prstGeom prst="rect">
            <a:avLst/>
          </a:prstGeom>
          <a:noFill/>
          <a:ln/>
        </p:spPr>
        <p:txBody>
          <a:bodyPr wrap="square" lIns="0" tIns="0" rIns="0" bIns="0" rtlCol="0" anchor="t"/>
          <a:lstStyle/>
          <a:p>
            <a:pPr indent="0" marL="0">
              <a:lnSpc>
                <a:spcPct val="105000"/>
              </a:lnSpc>
              <a:buNone/>
            </a:pPr>
            <a:r>
              <a:rPr lang="en-US" sz="1200" dirty="0">
                <a:solidFill>
                  <a:srgbClr val="3E3E4B"/>
                </a:solidFill>
                <a:latin typeface="Calibri" pitchFamily="34" charset="0"/>
                <a:ea typeface="Calibri" pitchFamily="34" charset="-122"/>
                <a:cs typeface="Calibri" pitchFamily="34" charset="-120"/>
              </a:rPr>
              <a:t>A customer ExpressRoute circuit is unavailable because of cost, lead time, or provider coverage. That is a business constraint, not a supportability limit.</a:t>
            </a:r>
            <a:endParaRPr lang="en-US" sz="1200" dirty="0"/>
          </a:p>
        </p:txBody>
      </p:sp>
      <p:sp>
        <p:nvSpPr>
          <p:cNvPr id="8" name="Shape 6"/>
          <p:cNvSpPr/>
          <p:nvPr/>
        </p:nvSpPr>
        <p:spPr>
          <a:xfrm>
            <a:off x="4315968" y="1554480"/>
            <a:ext cx="3520440" cy="1965960"/>
          </a:xfrm>
          <a:prstGeom prst="roundRect">
            <a:avLst>
              <a:gd name="adj" fmla="val 4186"/>
            </a:avLst>
          </a:prstGeom>
          <a:solidFill>
            <a:srgbClr val="E5F7FC"/>
          </a:solidFill>
          <a:ln w="12700">
            <a:solidFill>
              <a:srgbClr val="E5F7FC"/>
            </a:solidFill>
            <a:prstDash val="solid"/>
          </a:ln>
        </p:spPr>
      </p:sp>
      <p:sp>
        <p:nvSpPr>
          <p:cNvPr id="9" name="Text 7"/>
          <p:cNvSpPr/>
          <p:nvPr/>
        </p:nvSpPr>
        <p:spPr>
          <a:xfrm>
            <a:off x="4572000" y="1755648"/>
            <a:ext cx="3008376" cy="292608"/>
          </a:xfrm>
          <a:prstGeom prst="rect">
            <a:avLst/>
          </a:prstGeom>
          <a:noFill/>
          <a:ln/>
        </p:spPr>
        <p:txBody>
          <a:bodyPr wrap="square" lIns="0" tIns="0" rIns="0" bIns="0" rtlCol="0" anchor="ctr"/>
          <a:lstStyle/>
          <a:p>
            <a:pPr indent="0" marL="0">
              <a:buNone/>
            </a:pPr>
            <a:r>
              <a:rPr lang="en-US" sz="1300" b="1" dirty="0">
                <a:solidFill>
                  <a:srgbClr val="00B3E2"/>
                </a:solidFill>
                <a:latin typeface="Arial" pitchFamily="34" charset="0"/>
                <a:ea typeface="Arial" pitchFamily="34" charset="-122"/>
                <a:cs typeface="Arial" pitchFamily="34" charset="-120"/>
              </a:rPr>
              <a:t>The substitute path</a:t>
            </a:r>
            <a:endParaRPr lang="en-US" sz="1300" dirty="0"/>
          </a:p>
        </p:txBody>
      </p:sp>
      <p:sp>
        <p:nvSpPr>
          <p:cNvPr id="10" name="Text 8"/>
          <p:cNvSpPr/>
          <p:nvPr/>
        </p:nvSpPr>
        <p:spPr>
          <a:xfrm>
            <a:off x="4572000" y="2103120"/>
            <a:ext cx="3008376" cy="1216152"/>
          </a:xfrm>
          <a:prstGeom prst="rect">
            <a:avLst/>
          </a:prstGeom>
          <a:noFill/>
          <a:ln/>
        </p:spPr>
        <p:txBody>
          <a:bodyPr wrap="square" lIns="0" tIns="0" rIns="0" bIns="0" rtlCol="0" anchor="t"/>
          <a:lstStyle/>
          <a:p>
            <a:pPr indent="0" marL="0">
              <a:lnSpc>
                <a:spcPct val="105000"/>
              </a:lnSpc>
              <a:buNone/>
            </a:pPr>
            <a:r>
              <a:rPr lang="en-US" sz="1200" dirty="0">
                <a:solidFill>
                  <a:srgbClr val="3E3E4B"/>
                </a:solidFill>
                <a:latin typeface="Calibri" pitchFamily="34" charset="0"/>
                <a:ea typeface="Calibri" pitchFamily="34" charset="-122"/>
                <a:cs typeface="Calibri" pitchFamily="34" charset="-120"/>
              </a:rPr>
              <a:t>The on-premises edge terminates an IPsec/IKE site-to-site VPN into an Azure Virtual WAN hub instead.</a:t>
            </a:r>
            <a:endParaRPr lang="en-US" sz="1200" dirty="0"/>
          </a:p>
        </p:txBody>
      </p:sp>
      <p:sp>
        <p:nvSpPr>
          <p:cNvPr id="11" name="Shape 9"/>
          <p:cNvSpPr/>
          <p:nvPr/>
        </p:nvSpPr>
        <p:spPr>
          <a:xfrm>
            <a:off x="8092440" y="1554480"/>
            <a:ext cx="3547872" cy="1965960"/>
          </a:xfrm>
          <a:prstGeom prst="roundRect">
            <a:avLst>
              <a:gd name="adj" fmla="val 4186"/>
            </a:avLst>
          </a:prstGeom>
          <a:solidFill>
            <a:srgbClr val="D3EDF1"/>
          </a:solidFill>
          <a:ln w="12700">
            <a:solidFill>
              <a:srgbClr val="D3EDF1"/>
            </a:solidFill>
            <a:prstDash val="solid"/>
          </a:ln>
        </p:spPr>
      </p:sp>
      <p:sp>
        <p:nvSpPr>
          <p:cNvPr id="12" name="Text 10"/>
          <p:cNvSpPr/>
          <p:nvPr/>
        </p:nvSpPr>
        <p:spPr>
          <a:xfrm>
            <a:off x="8348472" y="1755648"/>
            <a:ext cx="3035808" cy="292608"/>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The twist</a:t>
            </a:r>
            <a:endParaRPr lang="en-US" sz="1300" dirty="0"/>
          </a:p>
        </p:txBody>
      </p:sp>
      <p:sp>
        <p:nvSpPr>
          <p:cNvPr id="13" name="Text 11"/>
          <p:cNvSpPr/>
          <p:nvPr/>
        </p:nvSpPr>
        <p:spPr>
          <a:xfrm>
            <a:off x="8348472" y="2103120"/>
            <a:ext cx="3035808" cy="1216152"/>
          </a:xfrm>
          <a:prstGeom prst="rect">
            <a:avLst/>
          </a:prstGeom>
          <a:noFill/>
          <a:ln/>
        </p:spPr>
        <p:txBody>
          <a:bodyPr wrap="square" lIns="0" tIns="0" rIns="0" bIns="0" rtlCol="0" anchor="t"/>
          <a:lstStyle/>
          <a:p>
            <a:pPr indent="0" marL="0">
              <a:lnSpc>
                <a:spcPct val="105000"/>
              </a:lnSpc>
              <a:buNone/>
            </a:pPr>
            <a:r>
              <a:rPr lang="en-US" sz="1200" dirty="0">
                <a:solidFill>
                  <a:srgbClr val="3E3E4B"/>
                </a:solidFill>
                <a:latin typeface="Calibri" pitchFamily="34" charset="0"/>
                <a:ea typeface="Calibri" pitchFamily="34" charset="-122"/>
                <a:cs typeface="Calibri" pitchFamily="34" charset="-120"/>
              </a:rPr>
              <a:t>The hub still needs an ExpressRoute gateway. AVS is always reached over its own ExpressRoute circuit, even when the external path is a VPN.</a:t>
            </a:r>
            <a:endParaRPr lang="en-US" sz="1200" dirty="0"/>
          </a:p>
        </p:txBody>
      </p:sp>
      <p:sp>
        <p:nvSpPr>
          <p:cNvPr id="14" name="Text 12"/>
          <p:cNvSpPr/>
          <p:nvPr/>
        </p:nvSpPr>
        <p:spPr>
          <a:xfrm>
            <a:off x="548640" y="3794760"/>
            <a:ext cx="5486400" cy="274320"/>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Resulting topology</a:t>
            </a:r>
            <a:endParaRPr lang="en-US" sz="1400" dirty="0"/>
          </a:p>
        </p:txBody>
      </p:sp>
      <p:sp>
        <p:nvSpPr>
          <p:cNvPr id="15" name="Shape 13"/>
          <p:cNvSpPr/>
          <p:nvPr/>
        </p:nvSpPr>
        <p:spPr>
          <a:xfrm>
            <a:off x="548640" y="4206240"/>
            <a:ext cx="2011680" cy="960120"/>
          </a:xfrm>
          <a:prstGeom prst="roundRect">
            <a:avLst>
              <a:gd name="adj" fmla="val 8571"/>
            </a:avLst>
          </a:prstGeom>
          <a:solidFill>
            <a:srgbClr val="E5F7FC"/>
          </a:solidFill>
          <a:ln w="12700">
            <a:solidFill>
              <a:srgbClr val="DDE2E2"/>
            </a:solidFill>
            <a:prstDash val="solid"/>
          </a:ln>
        </p:spPr>
      </p:sp>
      <p:sp>
        <p:nvSpPr>
          <p:cNvPr id="16" name="Text 14"/>
          <p:cNvSpPr/>
          <p:nvPr/>
        </p:nvSpPr>
        <p:spPr>
          <a:xfrm>
            <a:off x="640080" y="4206240"/>
            <a:ext cx="1828800" cy="960120"/>
          </a:xfrm>
          <a:prstGeom prst="rect">
            <a:avLst/>
          </a:prstGeom>
          <a:noFill/>
          <a:ln/>
        </p:spPr>
        <p:txBody>
          <a:bodyPr wrap="square" lIns="0" tIns="0" rIns="0" bIns="0" rtlCol="0" anchor="ctr"/>
          <a:lstStyle/>
          <a:p>
            <a:pPr algn="ctr" indent="0" marL="0">
              <a:buNone/>
            </a:pPr>
            <a:r>
              <a:rPr lang="en-US" sz="1150" b="1" dirty="0">
                <a:solidFill>
                  <a:srgbClr val="3E3E4B"/>
                </a:solidFill>
                <a:latin typeface="Calibri" pitchFamily="34" charset="0"/>
                <a:ea typeface="Calibri" pitchFamily="34" charset="-122"/>
                <a:cs typeface="Calibri" pitchFamily="34" charset="-120"/>
              </a:rPr>
              <a:t>On-premises</a:t>
            </a:r>
            <a:endParaRPr lang="en-US" sz="1150" dirty="0"/>
          </a:p>
          <a:p>
            <a:pPr algn="ctr" indent="0" marL="0">
              <a:buNone/>
            </a:pPr>
            <a:r>
              <a:rPr lang="en-US" sz="1150" b="1" dirty="0">
                <a:solidFill>
                  <a:srgbClr val="3E3E4B"/>
                </a:solidFill>
                <a:latin typeface="Calibri" pitchFamily="34" charset="0"/>
                <a:ea typeface="Calibri" pitchFamily="34" charset="-122"/>
                <a:cs typeface="Calibri" pitchFamily="34" charset="-120"/>
              </a:rPr>
              <a:t>VPN device</a:t>
            </a:r>
            <a:endParaRPr lang="en-US" sz="1150" dirty="0"/>
          </a:p>
        </p:txBody>
      </p:sp>
      <p:sp>
        <p:nvSpPr>
          <p:cNvPr id="17" name="Shape 15"/>
          <p:cNvSpPr/>
          <p:nvPr/>
        </p:nvSpPr>
        <p:spPr>
          <a:xfrm>
            <a:off x="2633472" y="4572000"/>
            <a:ext cx="182880" cy="219456"/>
          </a:xfrm>
          <a:prstGeom prst="rightArrow">
            <a:avLst/>
          </a:prstGeom>
          <a:solidFill>
            <a:srgbClr val="00B3E2"/>
          </a:solidFill>
          <a:ln w="12700">
            <a:solidFill>
              <a:srgbClr val="333333"/>
            </a:solidFill>
            <a:prstDash val="solid"/>
          </a:ln>
        </p:spPr>
      </p:sp>
      <p:sp>
        <p:nvSpPr>
          <p:cNvPr id="18" name="Shape 16"/>
          <p:cNvSpPr/>
          <p:nvPr/>
        </p:nvSpPr>
        <p:spPr>
          <a:xfrm>
            <a:off x="2843784" y="4206240"/>
            <a:ext cx="2011680" cy="960120"/>
          </a:xfrm>
          <a:prstGeom prst="roundRect">
            <a:avLst>
              <a:gd name="adj" fmla="val 8571"/>
            </a:avLst>
          </a:prstGeom>
          <a:solidFill>
            <a:srgbClr val="E5F7FC"/>
          </a:solidFill>
          <a:ln w="12700">
            <a:solidFill>
              <a:srgbClr val="DDE2E2"/>
            </a:solidFill>
            <a:prstDash val="solid"/>
          </a:ln>
        </p:spPr>
      </p:sp>
      <p:sp>
        <p:nvSpPr>
          <p:cNvPr id="19" name="Text 17"/>
          <p:cNvSpPr/>
          <p:nvPr/>
        </p:nvSpPr>
        <p:spPr>
          <a:xfrm>
            <a:off x="2935224" y="4206240"/>
            <a:ext cx="1828800" cy="960120"/>
          </a:xfrm>
          <a:prstGeom prst="rect">
            <a:avLst/>
          </a:prstGeom>
          <a:noFill/>
          <a:ln/>
        </p:spPr>
        <p:txBody>
          <a:bodyPr wrap="square" lIns="0" tIns="0" rIns="0" bIns="0" rtlCol="0" anchor="ctr"/>
          <a:lstStyle/>
          <a:p>
            <a:pPr algn="ctr" indent="0" marL="0">
              <a:buNone/>
            </a:pPr>
            <a:r>
              <a:rPr lang="en-US" sz="1150" b="1" dirty="0">
                <a:solidFill>
                  <a:srgbClr val="3E3E4B"/>
                </a:solidFill>
                <a:latin typeface="Calibri" pitchFamily="34" charset="0"/>
                <a:ea typeface="Calibri" pitchFamily="34" charset="-122"/>
                <a:cs typeface="Calibri" pitchFamily="34" charset="-120"/>
              </a:rPr>
              <a:t>Virtual WAN</a:t>
            </a:r>
            <a:endParaRPr lang="en-US" sz="1150" dirty="0"/>
          </a:p>
          <a:p>
            <a:pPr algn="ctr" indent="0" marL="0">
              <a:buNone/>
            </a:pPr>
            <a:r>
              <a:rPr lang="en-US" sz="1150" b="1" dirty="0">
                <a:solidFill>
                  <a:srgbClr val="3E3E4B"/>
                </a:solidFill>
                <a:latin typeface="Calibri" pitchFamily="34" charset="0"/>
                <a:ea typeface="Calibri" pitchFamily="34" charset="-122"/>
                <a:cs typeface="Calibri" pitchFamily="34" charset="-120"/>
              </a:rPr>
              <a:t>VPN gateway</a:t>
            </a:r>
            <a:endParaRPr lang="en-US" sz="1150" dirty="0"/>
          </a:p>
        </p:txBody>
      </p:sp>
      <p:sp>
        <p:nvSpPr>
          <p:cNvPr id="20" name="Shape 18"/>
          <p:cNvSpPr/>
          <p:nvPr/>
        </p:nvSpPr>
        <p:spPr>
          <a:xfrm>
            <a:off x="4928616" y="4572000"/>
            <a:ext cx="182880" cy="219456"/>
          </a:xfrm>
          <a:prstGeom prst="rightArrow">
            <a:avLst/>
          </a:prstGeom>
          <a:solidFill>
            <a:srgbClr val="00B3E2"/>
          </a:solidFill>
          <a:ln w="12700">
            <a:solidFill>
              <a:srgbClr val="333333"/>
            </a:solidFill>
            <a:prstDash val="solid"/>
          </a:ln>
        </p:spPr>
      </p:sp>
      <p:sp>
        <p:nvSpPr>
          <p:cNvPr id="21" name="Shape 19"/>
          <p:cNvSpPr/>
          <p:nvPr/>
        </p:nvSpPr>
        <p:spPr>
          <a:xfrm>
            <a:off x="5138928" y="4206240"/>
            <a:ext cx="2011680" cy="960120"/>
          </a:xfrm>
          <a:prstGeom prst="roundRect">
            <a:avLst>
              <a:gd name="adj" fmla="val 8571"/>
            </a:avLst>
          </a:prstGeom>
          <a:solidFill>
            <a:srgbClr val="E5F7FC"/>
          </a:solidFill>
          <a:ln w="12700">
            <a:solidFill>
              <a:srgbClr val="DDE2E2"/>
            </a:solidFill>
            <a:prstDash val="solid"/>
          </a:ln>
        </p:spPr>
      </p:sp>
      <p:sp>
        <p:nvSpPr>
          <p:cNvPr id="22" name="Text 20"/>
          <p:cNvSpPr/>
          <p:nvPr/>
        </p:nvSpPr>
        <p:spPr>
          <a:xfrm>
            <a:off x="5230368" y="4206240"/>
            <a:ext cx="1828800" cy="960120"/>
          </a:xfrm>
          <a:prstGeom prst="rect">
            <a:avLst/>
          </a:prstGeom>
          <a:noFill/>
          <a:ln/>
        </p:spPr>
        <p:txBody>
          <a:bodyPr wrap="square" lIns="0" tIns="0" rIns="0" bIns="0" rtlCol="0" anchor="ctr"/>
          <a:lstStyle/>
          <a:p>
            <a:pPr algn="ctr" indent="0" marL="0">
              <a:buNone/>
            </a:pPr>
            <a:r>
              <a:rPr lang="en-US" sz="1150" b="1" dirty="0">
                <a:solidFill>
                  <a:srgbClr val="3E3E4B"/>
                </a:solidFill>
                <a:latin typeface="Calibri" pitchFamily="34" charset="0"/>
                <a:ea typeface="Calibri" pitchFamily="34" charset="-122"/>
                <a:cs typeface="Calibri" pitchFamily="34" charset="-120"/>
              </a:rPr>
              <a:t>Virtual hub</a:t>
            </a:r>
            <a:endParaRPr lang="en-US" sz="1150" dirty="0"/>
          </a:p>
          <a:p>
            <a:pPr algn="ctr" indent="0" marL="0">
              <a:buNone/>
            </a:pPr>
            <a:r>
              <a:rPr lang="en-US" sz="1150" b="1" dirty="0">
                <a:solidFill>
                  <a:srgbClr val="3E3E4B"/>
                </a:solidFill>
                <a:latin typeface="Calibri" pitchFamily="34" charset="0"/>
                <a:ea typeface="Calibri" pitchFamily="34" charset="-122"/>
                <a:cs typeface="Calibri" pitchFamily="34" charset="-120"/>
              </a:rPr>
              <a:t>router</a:t>
            </a:r>
            <a:endParaRPr lang="en-US" sz="1150" dirty="0"/>
          </a:p>
        </p:txBody>
      </p:sp>
      <p:sp>
        <p:nvSpPr>
          <p:cNvPr id="23" name="Shape 21"/>
          <p:cNvSpPr/>
          <p:nvPr/>
        </p:nvSpPr>
        <p:spPr>
          <a:xfrm>
            <a:off x="7223760" y="4572000"/>
            <a:ext cx="182880" cy="219456"/>
          </a:xfrm>
          <a:prstGeom prst="rightArrow">
            <a:avLst/>
          </a:prstGeom>
          <a:solidFill>
            <a:srgbClr val="00B3E2"/>
          </a:solidFill>
          <a:ln w="12700">
            <a:solidFill>
              <a:srgbClr val="333333"/>
            </a:solidFill>
            <a:prstDash val="solid"/>
          </a:ln>
        </p:spPr>
      </p:sp>
      <p:sp>
        <p:nvSpPr>
          <p:cNvPr id="24" name="Shape 22"/>
          <p:cNvSpPr/>
          <p:nvPr/>
        </p:nvSpPr>
        <p:spPr>
          <a:xfrm>
            <a:off x="7434072" y="4206240"/>
            <a:ext cx="2011680" cy="960120"/>
          </a:xfrm>
          <a:prstGeom prst="roundRect">
            <a:avLst>
              <a:gd name="adj" fmla="val 8571"/>
            </a:avLst>
          </a:prstGeom>
          <a:solidFill>
            <a:srgbClr val="E5F7FC"/>
          </a:solidFill>
          <a:ln w="12700">
            <a:solidFill>
              <a:srgbClr val="DDE2E2"/>
            </a:solidFill>
            <a:prstDash val="solid"/>
          </a:ln>
        </p:spPr>
      </p:sp>
      <p:sp>
        <p:nvSpPr>
          <p:cNvPr id="25" name="Text 23"/>
          <p:cNvSpPr/>
          <p:nvPr/>
        </p:nvSpPr>
        <p:spPr>
          <a:xfrm>
            <a:off x="7525512" y="4206240"/>
            <a:ext cx="1828800" cy="960120"/>
          </a:xfrm>
          <a:prstGeom prst="rect">
            <a:avLst/>
          </a:prstGeom>
          <a:noFill/>
          <a:ln/>
        </p:spPr>
        <p:txBody>
          <a:bodyPr wrap="square" lIns="0" tIns="0" rIns="0" bIns="0" rtlCol="0" anchor="ctr"/>
          <a:lstStyle/>
          <a:p>
            <a:pPr algn="ctr" indent="0" marL="0">
              <a:buNone/>
            </a:pPr>
            <a:r>
              <a:rPr lang="en-US" sz="1150" b="1" dirty="0">
                <a:solidFill>
                  <a:srgbClr val="3E3E4B"/>
                </a:solidFill>
                <a:latin typeface="Calibri" pitchFamily="34" charset="0"/>
                <a:ea typeface="Calibri" pitchFamily="34" charset="-122"/>
                <a:cs typeface="Calibri" pitchFamily="34" charset="-120"/>
              </a:rPr>
              <a:t>Virtual WAN</a:t>
            </a:r>
            <a:endParaRPr lang="en-US" sz="1150" dirty="0"/>
          </a:p>
          <a:p>
            <a:pPr algn="ctr" indent="0" marL="0">
              <a:buNone/>
            </a:pPr>
            <a:r>
              <a:rPr lang="en-US" sz="1150" b="1" dirty="0">
                <a:solidFill>
                  <a:srgbClr val="3E3E4B"/>
                </a:solidFill>
                <a:latin typeface="Calibri" pitchFamily="34" charset="0"/>
                <a:ea typeface="Calibri" pitchFamily="34" charset="-122"/>
                <a:cs typeface="Calibri" pitchFamily="34" charset="-120"/>
              </a:rPr>
              <a:t>ER gateway</a:t>
            </a:r>
            <a:endParaRPr lang="en-US" sz="1150" dirty="0"/>
          </a:p>
        </p:txBody>
      </p:sp>
      <p:sp>
        <p:nvSpPr>
          <p:cNvPr id="26" name="Shape 24"/>
          <p:cNvSpPr/>
          <p:nvPr/>
        </p:nvSpPr>
        <p:spPr>
          <a:xfrm>
            <a:off x="9518904" y="4572000"/>
            <a:ext cx="182880" cy="219456"/>
          </a:xfrm>
          <a:prstGeom prst="rightArrow">
            <a:avLst/>
          </a:prstGeom>
          <a:solidFill>
            <a:srgbClr val="00B3E2"/>
          </a:solidFill>
          <a:ln w="12700">
            <a:solidFill>
              <a:srgbClr val="333333"/>
            </a:solidFill>
            <a:prstDash val="solid"/>
          </a:ln>
        </p:spPr>
      </p:sp>
      <p:sp>
        <p:nvSpPr>
          <p:cNvPr id="27" name="Shape 25"/>
          <p:cNvSpPr/>
          <p:nvPr/>
        </p:nvSpPr>
        <p:spPr>
          <a:xfrm>
            <a:off x="9729216" y="4206240"/>
            <a:ext cx="2011680" cy="960120"/>
          </a:xfrm>
          <a:prstGeom prst="roundRect">
            <a:avLst>
              <a:gd name="adj" fmla="val 8571"/>
            </a:avLst>
          </a:prstGeom>
          <a:solidFill>
            <a:srgbClr val="00B3E2"/>
          </a:solidFill>
          <a:ln w="12700">
            <a:solidFill>
              <a:srgbClr val="DDE2E2"/>
            </a:solidFill>
            <a:prstDash val="solid"/>
          </a:ln>
        </p:spPr>
      </p:sp>
      <p:sp>
        <p:nvSpPr>
          <p:cNvPr id="28" name="Text 26"/>
          <p:cNvSpPr/>
          <p:nvPr/>
        </p:nvSpPr>
        <p:spPr>
          <a:xfrm>
            <a:off x="9820656" y="4206240"/>
            <a:ext cx="1828800" cy="9601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AVS private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p>
        </p:txBody>
      </p:sp>
      <p:sp>
        <p:nvSpPr>
          <p:cNvPr id="29" name="Text 27"/>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Source: Configure a site-to-site VPN in Virtual WAN for Azure VMware Solution.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I.C  DESIGN GOALS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Six goals the architecture has to satisfy</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548640" y="1572768"/>
            <a:ext cx="3502152" cy="2011680"/>
          </a:xfrm>
          <a:prstGeom prst="roundRect">
            <a:avLst>
              <a:gd name="adj" fmla="val 4091"/>
            </a:avLst>
          </a:prstGeom>
          <a:solidFill>
            <a:srgbClr val="E5F7FC"/>
          </a:solidFill>
          <a:ln w="12700">
            <a:solidFill>
              <a:srgbClr val="E5F7FC"/>
            </a:solidFill>
            <a:prstDash val="solid"/>
          </a:ln>
        </p:spPr>
      </p:sp>
      <p:sp>
        <p:nvSpPr>
          <p:cNvPr id="6" name="Shape 4"/>
          <p:cNvSpPr/>
          <p:nvPr/>
        </p:nvSpPr>
        <p:spPr>
          <a:xfrm>
            <a:off x="804672" y="1828800"/>
            <a:ext cx="420624" cy="420624"/>
          </a:xfrm>
          <a:prstGeom prst="ellipse">
            <a:avLst/>
          </a:prstGeom>
          <a:solidFill>
            <a:srgbClr val="00B3E2"/>
          </a:solidFill>
          <a:ln w="12700">
            <a:solidFill>
              <a:srgbClr val="00B3E2"/>
            </a:solidFill>
            <a:prstDash val="solid"/>
          </a:ln>
        </p:spPr>
      </p:sp>
      <p:sp>
        <p:nvSpPr>
          <p:cNvPr id="7" name="Text 5"/>
          <p:cNvSpPr/>
          <p:nvPr/>
        </p:nvSpPr>
        <p:spPr>
          <a:xfrm>
            <a:off x="804672" y="18288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804672" y="2377440"/>
            <a:ext cx="3017520" cy="457200"/>
          </a:xfrm>
          <a:prstGeom prst="rect">
            <a:avLst/>
          </a:prstGeom>
          <a:noFill/>
          <a:ln/>
        </p:spPr>
        <p:txBody>
          <a:bodyPr wrap="square" lIns="0" tIns="0" rIns="0" bIns="0" rtlCol="0" anchor="t"/>
          <a:lstStyle/>
          <a:p>
            <a:pPr indent="0" marL="0">
              <a:buNone/>
            </a:pPr>
            <a:r>
              <a:rPr lang="en-US" sz="1350" b="1" dirty="0">
                <a:solidFill>
                  <a:srgbClr val="3E3E4B"/>
                </a:solidFill>
                <a:latin typeface="Arial" pitchFamily="34" charset="0"/>
                <a:ea typeface="Arial" pitchFamily="34" charset="-122"/>
                <a:cs typeface="Arial" pitchFamily="34" charset="-120"/>
              </a:rPr>
              <a:t>Supported topology</a:t>
            </a:r>
            <a:endParaRPr lang="en-US" sz="1350" dirty="0"/>
          </a:p>
        </p:txBody>
      </p:sp>
      <p:sp>
        <p:nvSpPr>
          <p:cNvPr id="9" name="Text 7"/>
          <p:cNvSpPr/>
          <p:nvPr/>
        </p:nvSpPr>
        <p:spPr>
          <a:xfrm>
            <a:off x="804672" y="2834640"/>
            <a:ext cx="3017520" cy="658368"/>
          </a:xfrm>
          <a:prstGeom prst="rect">
            <a:avLst/>
          </a:prstGeom>
          <a:noFill/>
          <a:ln/>
        </p:spPr>
        <p:txBody>
          <a:bodyPr wrap="square" lIns="0" tIns="0" rIns="0" bIns="0" rtlCol="0" anchor="t"/>
          <a:lstStyle/>
          <a:p>
            <a:pPr indent="0" marL="0">
              <a:lnSpc>
                <a:spcPct val="103000"/>
              </a:lnSpc>
              <a:buNone/>
            </a:pPr>
            <a:r>
              <a:rPr lang="en-US" sz="1150" dirty="0">
                <a:solidFill>
                  <a:srgbClr val="6E6E7E"/>
                </a:solidFill>
                <a:latin typeface="Calibri" pitchFamily="34" charset="0"/>
                <a:ea typeface="Calibri" pitchFamily="34" charset="-122"/>
                <a:cs typeface="Calibri" pitchFamily="34" charset="-120"/>
              </a:rPr>
              <a:t>Use a documented AVS-over-VPN pattern that meets HCX minimum network requirements.</a:t>
            </a:r>
            <a:endParaRPr lang="en-US" sz="1150" dirty="0"/>
          </a:p>
        </p:txBody>
      </p:sp>
      <p:sp>
        <p:nvSpPr>
          <p:cNvPr id="10" name="Shape 8"/>
          <p:cNvSpPr/>
          <p:nvPr/>
        </p:nvSpPr>
        <p:spPr>
          <a:xfrm>
            <a:off x="4270248" y="1572768"/>
            <a:ext cx="3502152" cy="2011680"/>
          </a:xfrm>
          <a:prstGeom prst="roundRect">
            <a:avLst>
              <a:gd name="adj" fmla="val 4091"/>
            </a:avLst>
          </a:prstGeom>
          <a:solidFill>
            <a:srgbClr val="EBEDED"/>
          </a:solidFill>
          <a:ln w="12700">
            <a:solidFill>
              <a:srgbClr val="EBEDED"/>
            </a:solidFill>
            <a:prstDash val="solid"/>
          </a:ln>
        </p:spPr>
      </p:sp>
      <p:sp>
        <p:nvSpPr>
          <p:cNvPr id="11" name="Shape 9"/>
          <p:cNvSpPr/>
          <p:nvPr/>
        </p:nvSpPr>
        <p:spPr>
          <a:xfrm>
            <a:off x="4526280" y="1828800"/>
            <a:ext cx="420624" cy="420624"/>
          </a:xfrm>
          <a:prstGeom prst="ellipse">
            <a:avLst/>
          </a:prstGeom>
          <a:solidFill>
            <a:srgbClr val="2DCCD3"/>
          </a:solidFill>
          <a:ln w="12700">
            <a:solidFill>
              <a:srgbClr val="2DCCD3"/>
            </a:solidFill>
            <a:prstDash val="solid"/>
          </a:ln>
        </p:spPr>
      </p:sp>
      <p:sp>
        <p:nvSpPr>
          <p:cNvPr id="12" name="Text 10"/>
          <p:cNvSpPr/>
          <p:nvPr/>
        </p:nvSpPr>
        <p:spPr>
          <a:xfrm>
            <a:off x="4526280" y="18288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4526280" y="2377440"/>
            <a:ext cx="3017520" cy="457200"/>
          </a:xfrm>
          <a:prstGeom prst="rect">
            <a:avLst/>
          </a:prstGeom>
          <a:noFill/>
          <a:ln/>
        </p:spPr>
        <p:txBody>
          <a:bodyPr wrap="square" lIns="0" tIns="0" rIns="0" bIns="0" rtlCol="0" anchor="t"/>
          <a:lstStyle/>
          <a:p>
            <a:pPr indent="0" marL="0">
              <a:buNone/>
            </a:pPr>
            <a:r>
              <a:rPr lang="en-US" sz="1350" b="1" dirty="0">
                <a:solidFill>
                  <a:srgbClr val="3E3E4B"/>
                </a:solidFill>
                <a:latin typeface="Arial" pitchFamily="34" charset="0"/>
                <a:ea typeface="Arial" pitchFamily="34" charset="-122"/>
                <a:cs typeface="Arial" pitchFamily="34" charset="-120"/>
              </a:rPr>
              <a:t>Honest sizing</a:t>
            </a:r>
            <a:endParaRPr lang="en-US" sz="1350" dirty="0"/>
          </a:p>
        </p:txBody>
      </p:sp>
      <p:sp>
        <p:nvSpPr>
          <p:cNvPr id="14" name="Text 12"/>
          <p:cNvSpPr/>
          <p:nvPr/>
        </p:nvSpPr>
        <p:spPr>
          <a:xfrm>
            <a:off x="4526280" y="2834640"/>
            <a:ext cx="3017520" cy="658368"/>
          </a:xfrm>
          <a:prstGeom prst="rect">
            <a:avLst/>
          </a:prstGeom>
          <a:noFill/>
          <a:ln/>
        </p:spPr>
        <p:txBody>
          <a:bodyPr wrap="square" lIns="0" tIns="0" rIns="0" bIns="0" rtlCol="0" anchor="t"/>
          <a:lstStyle/>
          <a:p>
            <a:pPr indent="0" marL="0">
              <a:lnSpc>
                <a:spcPct val="103000"/>
              </a:lnSpc>
              <a:buNone/>
            </a:pPr>
            <a:r>
              <a:rPr lang="en-US" sz="1150" dirty="0">
                <a:solidFill>
                  <a:srgbClr val="6E6E7E"/>
                </a:solidFill>
                <a:latin typeface="Calibri" pitchFamily="34" charset="0"/>
                <a:ea typeface="Calibri" pitchFamily="34" charset="-122"/>
                <a:cs typeface="Calibri" pitchFamily="34" charset="-120"/>
              </a:rPr>
              <a:t>Size the gateway for aggregate branch plus migration throughput, not the nominal circuit speed.</a:t>
            </a:r>
            <a:endParaRPr lang="en-US" sz="1150" dirty="0"/>
          </a:p>
        </p:txBody>
      </p:sp>
      <p:sp>
        <p:nvSpPr>
          <p:cNvPr id="15" name="Shape 13"/>
          <p:cNvSpPr/>
          <p:nvPr/>
        </p:nvSpPr>
        <p:spPr>
          <a:xfrm>
            <a:off x="7991856" y="1572768"/>
            <a:ext cx="3502152" cy="2011680"/>
          </a:xfrm>
          <a:prstGeom prst="roundRect">
            <a:avLst>
              <a:gd name="adj" fmla="val 4091"/>
            </a:avLst>
          </a:prstGeom>
          <a:solidFill>
            <a:srgbClr val="E5F7FC"/>
          </a:solidFill>
          <a:ln w="12700">
            <a:solidFill>
              <a:srgbClr val="E5F7FC"/>
            </a:solidFill>
            <a:prstDash val="solid"/>
          </a:ln>
        </p:spPr>
      </p:sp>
      <p:sp>
        <p:nvSpPr>
          <p:cNvPr id="16" name="Shape 14"/>
          <p:cNvSpPr/>
          <p:nvPr/>
        </p:nvSpPr>
        <p:spPr>
          <a:xfrm>
            <a:off x="8247888" y="1828800"/>
            <a:ext cx="420624" cy="420624"/>
          </a:xfrm>
          <a:prstGeom prst="ellipse">
            <a:avLst/>
          </a:prstGeom>
          <a:solidFill>
            <a:srgbClr val="00AD93"/>
          </a:solidFill>
          <a:ln w="12700">
            <a:solidFill>
              <a:srgbClr val="00AD93"/>
            </a:solidFill>
            <a:prstDash val="solid"/>
          </a:ln>
        </p:spPr>
      </p:sp>
      <p:sp>
        <p:nvSpPr>
          <p:cNvPr id="17" name="Text 15"/>
          <p:cNvSpPr/>
          <p:nvPr/>
        </p:nvSpPr>
        <p:spPr>
          <a:xfrm>
            <a:off x="8247888" y="18288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6"/>
          <p:cNvSpPr/>
          <p:nvPr/>
        </p:nvSpPr>
        <p:spPr>
          <a:xfrm>
            <a:off x="8247888" y="2377440"/>
            <a:ext cx="3017520" cy="457200"/>
          </a:xfrm>
          <a:prstGeom prst="rect">
            <a:avLst/>
          </a:prstGeom>
          <a:noFill/>
          <a:ln/>
        </p:spPr>
        <p:txBody>
          <a:bodyPr wrap="square" lIns="0" tIns="0" rIns="0" bIns="0" rtlCol="0" anchor="t"/>
          <a:lstStyle/>
          <a:p>
            <a:pPr indent="0" marL="0">
              <a:buNone/>
            </a:pPr>
            <a:r>
              <a:rPr lang="en-US" sz="1350" b="1" dirty="0">
                <a:solidFill>
                  <a:srgbClr val="3E3E4B"/>
                </a:solidFill>
                <a:latin typeface="Arial" pitchFamily="34" charset="0"/>
                <a:ea typeface="Arial" pitchFamily="34" charset="-122"/>
                <a:cs typeface="Arial" pitchFamily="34" charset="-120"/>
              </a:rPr>
              <a:t>Dynamic routing</a:t>
            </a:r>
            <a:endParaRPr lang="en-US" sz="1350" dirty="0"/>
          </a:p>
        </p:txBody>
      </p:sp>
      <p:sp>
        <p:nvSpPr>
          <p:cNvPr id="19" name="Text 17"/>
          <p:cNvSpPr/>
          <p:nvPr/>
        </p:nvSpPr>
        <p:spPr>
          <a:xfrm>
            <a:off x="8247888" y="2834640"/>
            <a:ext cx="3017520" cy="658368"/>
          </a:xfrm>
          <a:prstGeom prst="rect">
            <a:avLst/>
          </a:prstGeom>
          <a:noFill/>
          <a:ln/>
        </p:spPr>
        <p:txBody>
          <a:bodyPr wrap="square" lIns="0" tIns="0" rIns="0" bIns="0" rtlCol="0" anchor="t"/>
          <a:lstStyle/>
          <a:p>
            <a:pPr indent="0" marL="0">
              <a:lnSpc>
                <a:spcPct val="103000"/>
              </a:lnSpc>
              <a:buNone/>
            </a:pPr>
            <a:r>
              <a:rPr lang="en-US" sz="1150" dirty="0">
                <a:solidFill>
                  <a:srgbClr val="6E6E7E"/>
                </a:solidFill>
                <a:latin typeface="Calibri" pitchFamily="34" charset="0"/>
                <a:ea typeface="Calibri" pitchFamily="34" charset="-122"/>
                <a:cs typeface="Calibri" pitchFamily="34" charset="-120"/>
              </a:rPr>
              <a:t>Run BGP so HCX prefixes are exchanged automatically instead of maintained by hand.</a:t>
            </a:r>
            <a:endParaRPr lang="en-US" sz="1150" dirty="0"/>
          </a:p>
        </p:txBody>
      </p:sp>
      <p:sp>
        <p:nvSpPr>
          <p:cNvPr id="20" name="Shape 18"/>
          <p:cNvSpPr/>
          <p:nvPr/>
        </p:nvSpPr>
        <p:spPr>
          <a:xfrm>
            <a:off x="548640" y="3785616"/>
            <a:ext cx="3502152" cy="2011680"/>
          </a:xfrm>
          <a:prstGeom prst="roundRect">
            <a:avLst>
              <a:gd name="adj" fmla="val 4091"/>
            </a:avLst>
          </a:prstGeom>
          <a:solidFill>
            <a:srgbClr val="EBEDED"/>
          </a:solidFill>
          <a:ln w="12700">
            <a:solidFill>
              <a:srgbClr val="EBEDED"/>
            </a:solidFill>
            <a:prstDash val="solid"/>
          </a:ln>
        </p:spPr>
      </p:sp>
      <p:sp>
        <p:nvSpPr>
          <p:cNvPr id="21" name="Shape 19"/>
          <p:cNvSpPr/>
          <p:nvPr/>
        </p:nvSpPr>
        <p:spPr>
          <a:xfrm>
            <a:off x="804672" y="4041648"/>
            <a:ext cx="420624" cy="420624"/>
          </a:xfrm>
          <a:prstGeom prst="ellipse">
            <a:avLst/>
          </a:prstGeom>
          <a:solidFill>
            <a:srgbClr val="8DB9D9"/>
          </a:solidFill>
          <a:ln w="12700">
            <a:solidFill>
              <a:srgbClr val="8DB9D9"/>
            </a:solidFill>
            <a:prstDash val="solid"/>
          </a:ln>
        </p:spPr>
      </p:sp>
      <p:sp>
        <p:nvSpPr>
          <p:cNvPr id="22" name="Text 20"/>
          <p:cNvSpPr/>
          <p:nvPr/>
        </p:nvSpPr>
        <p:spPr>
          <a:xfrm>
            <a:off x="804672" y="404164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3" name="Text 21"/>
          <p:cNvSpPr/>
          <p:nvPr/>
        </p:nvSpPr>
        <p:spPr>
          <a:xfrm>
            <a:off x="804672" y="4590288"/>
            <a:ext cx="3017520" cy="457200"/>
          </a:xfrm>
          <a:prstGeom prst="rect">
            <a:avLst/>
          </a:prstGeom>
          <a:noFill/>
          <a:ln/>
        </p:spPr>
        <p:txBody>
          <a:bodyPr wrap="square" lIns="0" tIns="0" rIns="0" bIns="0" rtlCol="0" anchor="t"/>
          <a:lstStyle/>
          <a:p>
            <a:pPr indent="0" marL="0">
              <a:buNone/>
            </a:pPr>
            <a:r>
              <a:rPr lang="en-US" sz="1350" b="1" dirty="0">
                <a:solidFill>
                  <a:srgbClr val="3E3E4B"/>
                </a:solidFill>
                <a:latin typeface="Arial" pitchFamily="34" charset="0"/>
                <a:ea typeface="Arial" pitchFamily="34" charset="-122"/>
                <a:cs typeface="Arial" pitchFamily="34" charset="-120"/>
              </a:rPr>
              <a:t>Segmentation</a:t>
            </a:r>
            <a:endParaRPr lang="en-US" sz="1350" dirty="0"/>
          </a:p>
        </p:txBody>
      </p:sp>
      <p:sp>
        <p:nvSpPr>
          <p:cNvPr id="24" name="Text 22"/>
          <p:cNvSpPr/>
          <p:nvPr/>
        </p:nvSpPr>
        <p:spPr>
          <a:xfrm>
            <a:off x="804672" y="5047488"/>
            <a:ext cx="3017520" cy="658368"/>
          </a:xfrm>
          <a:prstGeom prst="rect">
            <a:avLst/>
          </a:prstGeom>
          <a:noFill/>
          <a:ln/>
        </p:spPr>
        <p:txBody>
          <a:bodyPr wrap="square" lIns="0" tIns="0" rIns="0" bIns="0" rtlCol="0" anchor="t"/>
          <a:lstStyle/>
          <a:p>
            <a:pPr indent="0" marL="0">
              <a:lnSpc>
                <a:spcPct val="103000"/>
              </a:lnSpc>
              <a:buNone/>
            </a:pPr>
            <a:r>
              <a:rPr lang="en-US" sz="1150" dirty="0">
                <a:solidFill>
                  <a:srgbClr val="6E6E7E"/>
                </a:solidFill>
                <a:latin typeface="Calibri" pitchFamily="34" charset="0"/>
                <a:ea typeface="Calibri" pitchFamily="34" charset="-122"/>
                <a:cs typeface="Calibri" pitchFamily="34" charset="-120"/>
              </a:rPr>
              <a:t>Separate on-premises, Azure spokes, AVS management, and AVS workload traffic.</a:t>
            </a:r>
            <a:endParaRPr lang="en-US" sz="1150" dirty="0"/>
          </a:p>
        </p:txBody>
      </p:sp>
      <p:sp>
        <p:nvSpPr>
          <p:cNvPr id="25" name="Shape 23"/>
          <p:cNvSpPr/>
          <p:nvPr/>
        </p:nvSpPr>
        <p:spPr>
          <a:xfrm>
            <a:off x="4270248" y="3785616"/>
            <a:ext cx="3502152" cy="2011680"/>
          </a:xfrm>
          <a:prstGeom prst="roundRect">
            <a:avLst>
              <a:gd name="adj" fmla="val 4091"/>
            </a:avLst>
          </a:prstGeom>
          <a:solidFill>
            <a:srgbClr val="E5F7FC"/>
          </a:solidFill>
          <a:ln w="12700">
            <a:solidFill>
              <a:srgbClr val="E5F7FC"/>
            </a:solidFill>
            <a:prstDash val="solid"/>
          </a:ln>
        </p:spPr>
      </p:sp>
      <p:sp>
        <p:nvSpPr>
          <p:cNvPr id="26" name="Shape 24"/>
          <p:cNvSpPr/>
          <p:nvPr/>
        </p:nvSpPr>
        <p:spPr>
          <a:xfrm>
            <a:off x="4526280" y="4041648"/>
            <a:ext cx="420624" cy="420624"/>
          </a:xfrm>
          <a:prstGeom prst="ellipse">
            <a:avLst/>
          </a:prstGeom>
          <a:solidFill>
            <a:srgbClr val="AD1AAC"/>
          </a:solidFill>
          <a:ln w="12700">
            <a:solidFill>
              <a:srgbClr val="AD1AAC"/>
            </a:solidFill>
            <a:prstDash val="solid"/>
          </a:ln>
        </p:spPr>
      </p:sp>
      <p:sp>
        <p:nvSpPr>
          <p:cNvPr id="27" name="Text 25"/>
          <p:cNvSpPr/>
          <p:nvPr/>
        </p:nvSpPr>
        <p:spPr>
          <a:xfrm>
            <a:off x="4526280" y="404164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8" name="Text 26"/>
          <p:cNvSpPr/>
          <p:nvPr/>
        </p:nvSpPr>
        <p:spPr>
          <a:xfrm>
            <a:off x="4526280" y="4590288"/>
            <a:ext cx="3017520" cy="457200"/>
          </a:xfrm>
          <a:prstGeom prst="rect">
            <a:avLst/>
          </a:prstGeom>
          <a:noFill/>
          <a:ln/>
        </p:spPr>
        <p:txBody>
          <a:bodyPr wrap="square" lIns="0" tIns="0" rIns="0" bIns="0" rtlCol="0" anchor="t"/>
          <a:lstStyle/>
          <a:p>
            <a:pPr indent="0" marL="0">
              <a:buNone/>
            </a:pPr>
            <a:r>
              <a:rPr lang="en-US" sz="1350" b="1" dirty="0">
                <a:solidFill>
                  <a:srgbClr val="3E3E4B"/>
                </a:solidFill>
                <a:latin typeface="Arial" pitchFamily="34" charset="0"/>
                <a:ea typeface="Arial" pitchFamily="34" charset="-122"/>
                <a:cs typeface="Arial" pitchFamily="34" charset="-120"/>
              </a:rPr>
              <a:t>Private publishing and access</a:t>
            </a:r>
            <a:endParaRPr lang="en-US" sz="1350" dirty="0"/>
          </a:p>
        </p:txBody>
      </p:sp>
      <p:sp>
        <p:nvSpPr>
          <p:cNvPr id="29" name="Text 27"/>
          <p:cNvSpPr/>
          <p:nvPr/>
        </p:nvSpPr>
        <p:spPr>
          <a:xfrm>
            <a:off x="4526280" y="5047488"/>
            <a:ext cx="3017520" cy="658368"/>
          </a:xfrm>
          <a:prstGeom prst="rect">
            <a:avLst/>
          </a:prstGeom>
          <a:noFill/>
          <a:ln/>
        </p:spPr>
        <p:txBody>
          <a:bodyPr wrap="square" lIns="0" tIns="0" rIns="0" bIns="0" rtlCol="0" anchor="t"/>
          <a:lstStyle/>
          <a:p>
            <a:pPr indent="0" marL="0">
              <a:lnSpc>
                <a:spcPct val="103000"/>
              </a:lnSpc>
              <a:buNone/>
            </a:pPr>
            <a:r>
              <a:rPr lang="en-US" sz="1150" dirty="0">
                <a:solidFill>
                  <a:srgbClr val="6E6E7E"/>
                </a:solidFill>
                <a:latin typeface="Calibri" pitchFamily="34" charset="0"/>
                <a:ea typeface="Calibri" pitchFamily="34" charset="-122"/>
                <a:cs typeface="Calibri" pitchFamily="34" charset="-120"/>
              </a:rPr>
              <a:t>Expose web workloads and administer the platform without internet-facing AVS endpoints.</a:t>
            </a:r>
            <a:endParaRPr lang="en-US" sz="1150" dirty="0"/>
          </a:p>
        </p:txBody>
      </p:sp>
      <p:sp>
        <p:nvSpPr>
          <p:cNvPr id="30" name="Shape 28"/>
          <p:cNvSpPr/>
          <p:nvPr/>
        </p:nvSpPr>
        <p:spPr>
          <a:xfrm>
            <a:off x="7991856" y="3785616"/>
            <a:ext cx="3502152" cy="2011680"/>
          </a:xfrm>
          <a:prstGeom prst="roundRect">
            <a:avLst>
              <a:gd name="adj" fmla="val 4091"/>
            </a:avLst>
          </a:prstGeom>
          <a:solidFill>
            <a:srgbClr val="EBEDED"/>
          </a:solidFill>
          <a:ln w="12700">
            <a:solidFill>
              <a:srgbClr val="EBEDED"/>
            </a:solidFill>
            <a:prstDash val="solid"/>
          </a:ln>
        </p:spPr>
      </p:sp>
      <p:sp>
        <p:nvSpPr>
          <p:cNvPr id="31" name="Shape 29"/>
          <p:cNvSpPr/>
          <p:nvPr/>
        </p:nvSpPr>
        <p:spPr>
          <a:xfrm>
            <a:off x="8247888" y="4041648"/>
            <a:ext cx="420624" cy="420624"/>
          </a:xfrm>
          <a:prstGeom prst="ellipse">
            <a:avLst/>
          </a:prstGeom>
          <a:solidFill>
            <a:srgbClr val="F15D23"/>
          </a:solidFill>
          <a:ln w="12700">
            <a:solidFill>
              <a:srgbClr val="F15D23"/>
            </a:solidFill>
            <a:prstDash val="solid"/>
          </a:ln>
        </p:spPr>
      </p:sp>
      <p:sp>
        <p:nvSpPr>
          <p:cNvPr id="32" name="Text 30"/>
          <p:cNvSpPr/>
          <p:nvPr/>
        </p:nvSpPr>
        <p:spPr>
          <a:xfrm>
            <a:off x="8247888" y="404164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3" name="Text 31"/>
          <p:cNvSpPr/>
          <p:nvPr/>
        </p:nvSpPr>
        <p:spPr>
          <a:xfrm>
            <a:off x="8247888" y="4590288"/>
            <a:ext cx="3017520" cy="457200"/>
          </a:xfrm>
          <a:prstGeom prst="rect">
            <a:avLst/>
          </a:prstGeom>
          <a:noFill/>
          <a:ln/>
        </p:spPr>
        <p:txBody>
          <a:bodyPr wrap="square" lIns="0" tIns="0" rIns="0" bIns="0" rtlCol="0" anchor="t"/>
          <a:lstStyle/>
          <a:p>
            <a:pPr indent="0" marL="0">
              <a:buNone/>
            </a:pPr>
            <a:r>
              <a:rPr lang="en-US" sz="1350" b="1" dirty="0">
                <a:solidFill>
                  <a:srgbClr val="3E3E4B"/>
                </a:solidFill>
                <a:latin typeface="Arial" pitchFamily="34" charset="0"/>
                <a:ea typeface="Arial" pitchFamily="34" charset="-122"/>
                <a:cs typeface="Arial" pitchFamily="34" charset="-120"/>
              </a:rPr>
              <a:t>Local identity and DNS</a:t>
            </a:r>
            <a:endParaRPr lang="en-US" sz="1350" dirty="0"/>
          </a:p>
        </p:txBody>
      </p:sp>
      <p:sp>
        <p:nvSpPr>
          <p:cNvPr id="34" name="Text 32"/>
          <p:cNvSpPr/>
          <p:nvPr/>
        </p:nvSpPr>
        <p:spPr>
          <a:xfrm>
            <a:off x="8247888" y="5047488"/>
            <a:ext cx="3017520" cy="658368"/>
          </a:xfrm>
          <a:prstGeom prst="rect">
            <a:avLst/>
          </a:prstGeom>
          <a:noFill/>
          <a:ln/>
        </p:spPr>
        <p:txBody>
          <a:bodyPr wrap="square" lIns="0" tIns="0" rIns="0" bIns="0" rtlCol="0" anchor="t"/>
          <a:lstStyle/>
          <a:p>
            <a:pPr indent="0" marL="0">
              <a:lnSpc>
                <a:spcPct val="103000"/>
              </a:lnSpc>
              <a:buNone/>
            </a:pPr>
            <a:r>
              <a:rPr lang="en-US" sz="1150" dirty="0">
                <a:solidFill>
                  <a:srgbClr val="6E6E7E"/>
                </a:solidFill>
                <a:latin typeface="Calibri" pitchFamily="34" charset="0"/>
                <a:ea typeface="Calibri" pitchFamily="34" charset="-122"/>
                <a:cs typeface="Calibri" pitchFamily="34" charset="-120"/>
              </a:rPr>
              <a:t>Keep Azure and AVS resolving names when the VPN is down.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02</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ExpressRoute versus</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site-to-site VPN</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What changes when private connectivity is replaced by encrypted internet transport</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II.A - II.C  COMPARISON</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Private circuit or public road</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548640" y="1508760"/>
            <a:ext cx="5440680" cy="4160520"/>
          </a:xfrm>
          <a:prstGeom prst="roundRect">
            <a:avLst>
              <a:gd name="adj" fmla="val 1978"/>
            </a:avLst>
          </a:prstGeom>
          <a:solidFill>
            <a:srgbClr val="E5F7FC"/>
          </a:solidFill>
          <a:ln w="12700">
            <a:solidFill>
              <a:srgbClr val="E5F7FC"/>
            </a:solidFill>
            <a:prstDash val="solid"/>
          </a:ln>
        </p:spPr>
      </p:sp>
      <p:sp>
        <p:nvSpPr>
          <p:cNvPr id="6" name="Shape 4"/>
          <p:cNvSpPr/>
          <p:nvPr/>
        </p:nvSpPr>
        <p:spPr>
          <a:xfrm>
            <a:off x="6199632" y="1508760"/>
            <a:ext cx="5440680" cy="4160520"/>
          </a:xfrm>
          <a:prstGeom prst="roundRect">
            <a:avLst>
              <a:gd name="adj" fmla="val 1978"/>
            </a:avLst>
          </a:prstGeom>
          <a:solidFill>
            <a:srgbClr val="EBEDED"/>
          </a:solidFill>
          <a:ln w="12700">
            <a:solidFill>
              <a:srgbClr val="EBEDED"/>
            </a:solidFill>
            <a:prstDash val="solid"/>
          </a:ln>
        </p:spPr>
      </p:sp>
      <p:sp>
        <p:nvSpPr>
          <p:cNvPr id="7" name="Text 5"/>
          <p:cNvSpPr/>
          <p:nvPr/>
        </p:nvSpPr>
        <p:spPr>
          <a:xfrm>
            <a:off x="868680" y="1737360"/>
            <a:ext cx="4754880" cy="365760"/>
          </a:xfrm>
          <a:prstGeom prst="rect">
            <a:avLst/>
          </a:prstGeom>
          <a:noFill/>
          <a:ln/>
        </p:spPr>
        <p:txBody>
          <a:bodyPr wrap="square" lIns="0" tIns="0" rIns="0" bIns="0" rtlCol="0" anchor="ctr"/>
          <a:lstStyle/>
          <a:p>
            <a:pPr indent="0" marL="0">
              <a:buNone/>
            </a:pPr>
            <a:r>
              <a:rPr lang="en-US" sz="2000" b="1" dirty="0">
                <a:solidFill>
                  <a:srgbClr val="00B3E2"/>
                </a:solidFill>
                <a:latin typeface="Arial" pitchFamily="34" charset="0"/>
                <a:ea typeface="Arial" pitchFamily="34" charset="-122"/>
                <a:cs typeface="Arial" pitchFamily="34" charset="-120"/>
              </a:rPr>
              <a:t>ExpressRoute</a:t>
            </a:r>
            <a:endParaRPr lang="en-US" sz="2000" dirty="0"/>
          </a:p>
        </p:txBody>
      </p:sp>
      <p:sp>
        <p:nvSpPr>
          <p:cNvPr id="8" name="Text 6"/>
          <p:cNvSpPr/>
          <p:nvPr/>
        </p:nvSpPr>
        <p:spPr>
          <a:xfrm>
            <a:off x="868680" y="2121408"/>
            <a:ext cx="4754880" cy="274320"/>
          </a:xfrm>
          <a:prstGeom prst="rect">
            <a:avLst/>
          </a:prstGeom>
          <a:noFill/>
          <a:ln/>
        </p:spPr>
        <p:txBody>
          <a:bodyPr wrap="square" lIns="0" tIns="0" rIns="0" bIns="0" rtlCol="0" anchor="ctr"/>
          <a:lstStyle/>
          <a:p>
            <a:pPr indent="0" marL="0">
              <a:buNone/>
            </a:pPr>
            <a:r>
              <a:rPr lang="en-US" sz="1200" i="1" dirty="0">
                <a:solidFill>
                  <a:srgbClr val="6E6E7E"/>
                </a:solidFill>
                <a:latin typeface="Calibri" pitchFamily="34" charset="0"/>
                <a:ea typeface="Calibri" pitchFamily="34" charset="-122"/>
                <a:cs typeface="Calibri" pitchFamily="34" charset="-120"/>
              </a:rPr>
              <a:t>A private multilane highway</a:t>
            </a:r>
            <a:endParaRPr lang="en-US" sz="1200" dirty="0"/>
          </a:p>
        </p:txBody>
      </p:sp>
      <p:sp>
        <p:nvSpPr>
          <p:cNvPr id="9" name="Text 7"/>
          <p:cNvSpPr/>
          <p:nvPr/>
        </p:nvSpPr>
        <p:spPr>
          <a:xfrm>
            <a:off x="868680" y="2560320"/>
            <a:ext cx="4800600" cy="283464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Extends on-premises networks into Microsoft cloud services through a connectivity provider</a:t>
            </a:r>
            <a:endParaRPr lang="en-US" sz="1350" dirty="0"/>
          </a:p>
          <a:p>
            <a:pPr marL="177800" indent="-1778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Traffic never traverses the public internet</a:t>
            </a:r>
            <a:endParaRPr lang="en-US" sz="1350" dirty="0"/>
          </a:p>
          <a:p>
            <a:pPr marL="177800" indent="-1778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Chosen when hybrid connectivity must be private and predictable</a:t>
            </a:r>
            <a:endParaRPr lang="en-US" sz="1350" dirty="0"/>
          </a:p>
          <a:p>
            <a:pPr marL="177800" indent="-1778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Still used internally by AVS even when the external path is a VPN</a:t>
            </a:r>
            <a:endParaRPr lang="en-US" sz="1350" dirty="0"/>
          </a:p>
        </p:txBody>
      </p:sp>
      <p:sp>
        <p:nvSpPr>
          <p:cNvPr id="10" name="Text 8"/>
          <p:cNvSpPr/>
          <p:nvPr/>
        </p:nvSpPr>
        <p:spPr>
          <a:xfrm>
            <a:off x="6519672" y="1737360"/>
            <a:ext cx="4754880" cy="365760"/>
          </a:xfrm>
          <a:prstGeom prst="rect">
            <a:avLst/>
          </a:prstGeom>
          <a:noFill/>
          <a:ln/>
        </p:spPr>
        <p:txBody>
          <a:bodyPr wrap="square" lIns="0" tIns="0" rIns="0" bIns="0" rtlCol="0" anchor="ctr"/>
          <a:lstStyle/>
          <a:p>
            <a:pPr indent="0" marL="0">
              <a:buNone/>
            </a:pPr>
            <a:r>
              <a:rPr lang="en-US" sz="2000" b="1" dirty="0">
                <a:solidFill>
                  <a:srgbClr val="3E3E4B"/>
                </a:solidFill>
                <a:latin typeface="Arial" pitchFamily="34" charset="0"/>
                <a:ea typeface="Arial" pitchFamily="34" charset="-122"/>
                <a:cs typeface="Arial" pitchFamily="34" charset="-120"/>
              </a:rPr>
              <a:t>Site-to-site VPN</a:t>
            </a:r>
            <a:endParaRPr lang="en-US" sz="2000" dirty="0"/>
          </a:p>
        </p:txBody>
      </p:sp>
      <p:sp>
        <p:nvSpPr>
          <p:cNvPr id="11" name="Text 9"/>
          <p:cNvSpPr/>
          <p:nvPr/>
        </p:nvSpPr>
        <p:spPr>
          <a:xfrm>
            <a:off x="6519672" y="2121408"/>
            <a:ext cx="4754880" cy="274320"/>
          </a:xfrm>
          <a:prstGeom prst="rect">
            <a:avLst/>
          </a:prstGeom>
          <a:noFill/>
          <a:ln/>
        </p:spPr>
        <p:txBody>
          <a:bodyPr wrap="square" lIns="0" tIns="0" rIns="0" bIns="0" rtlCol="0" anchor="ctr"/>
          <a:lstStyle/>
          <a:p>
            <a:pPr indent="0" marL="0">
              <a:buNone/>
            </a:pPr>
            <a:r>
              <a:rPr lang="en-US" sz="1200" i="1" dirty="0">
                <a:solidFill>
                  <a:srgbClr val="6E6E7E"/>
                </a:solidFill>
                <a:latin typeface="Calibri" pitchFamily="34" charset="0"/>
                <a:ea typeface="Calibri" pitchFamily="34" charset="-122"/>
                <a:cs typeface="Calibri" pitchFamily="34" charset="-120"/>
              </a:rPr>
              <a:t>A more constrained public road</a:t>
            </a:r>
            <a:endParaRPr lang="en-US" sz="1200" dirty="0"/>
          </a:p>
        </p:txBody>
      </p:sp>
      <p:sp>
        <p:nvSpPr>
          <p:cNvPr id="12" name="Text 10"/>
          <p:cNvSpPr/>
          <p:nvPr/>
        </p:nvSpPr>
        <p:spPr>
          <a:xfrm>
            <a:off x="6519672" y="2560320"/>
            <a:ext cx="4800600" cy="283464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IPsec/IKE tunnel between an on-premises VPN device and Azure</a:t>
            </a:r>
            <a:endParaRPr lang="en-US" sz="1350" dirty="0"/>
          </a:p>
          <a:p>
            <a:pPr marL="177800" indent="-1778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The on-premises device needs a public-facing IP address</a:t>
            </a:r>
            <a:endParaRPr lang="en-US" sz="1350" dirty="0"/>
          </a:p>
          <a:p>
            <a:pPr marL="177800" indent="-1778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Throughput depends on the internet circuit, device capacity, IPsec settings, gateway scale, path quality, and competing traffic</a:t>
            </a:r>
            <a:endParaRPr lang="en-US" sz="1350" dirty="0"/>
          </a:p>
          <a:p>
            <a:pPr marL="177800" indent="-177800">
              <a:spcAft>
                <a:spcPts val="800"/>
              </a:spcAft>
              <a:buSzPct val="100000"/>
              <a:buChar char="•"/>
            </a:pPr>
            <a:r>
              <a:rPr lang="en-US" sz="1350" dirty="0">
                <a:solidFill>
                  <a:srgbClr val="3E3E4B"/>
                </a:solidFill>
                <a:latin typeface="Calibri" pitchFamily="34" charset="0"/>
                <a:ea typeface="Calibri" pitchFamily="34" charset="-122"/>
                <a:cs typeface="Calibri" pitchFamily="34" charset="-120"/>
              </a:rPr>
              <a:t>Latency, jitter, packet loss, and congestion are real planning risks</a:t>
            </a:r>
            <a:endParaRPr lang="en-US" sz="1350" dirty="0"/>
          </a:p>
        </p:txBody>
      </p:sp>
      <p:sp>
        <p:nvSpPr>
          <p:cNvPr id="13" name="Text 11"/>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The highway analogy is transcript-derived. Effective throughput characteristics come from VPN Gateway design guidance.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II.D  SUPPORTABILITY</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Where a VPN is supported, and where it is not recommended</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548640" y="1554480"/>
            <a:ext cx="5486400" cy="1965960"/>
          </a:xfrm>
          <a:prstGeom prst="roundRect">
            <a:avLst>
              <a:gd name="adj" fmla="val 4186"/>
            </a:avLst>
          </a:prstGeom>
          <a:solidFill>
            <a:srgbClr val="E2F2E8"/>
          </a:solidFill>
          <a:ln w="12700">
            <a:solidFill>
              <a:srgbClr val="E2F2E8"/>
            </a:solidFill>
            <a:prstDash val="solid"/>
          </a:ln>
        </p:spPr>
      </p:sp>
      <p:sp>
        <p:nvSpPr>
          <p:cNvPr id="6" name="Shape 4"/>
          <p:cNvSpPr/>
          <p:nvPr/>
        </p:nvSpPr>
        <p:spPr>
          <a:xfrm>
            <a:off x="841248" y="1810512"/>
            <a:ext cx="457200" cy="457200"/>
          </a:xfrm>
          <a:prstGeom prst="ellipse">
            <a:avLst/>
          </a:prstGeom>
          <a:solidFill>
            <a:srgbClr val="00AD93"/>
          </a:solidFill>
          <a:ln w="12700">
            <a:solidFill>
              <a:srgbClr val="00AD93"/>
            </a:solidFill>
            <a:prstDash val="solid"/>
          </a:ln>
        </p:spPr>
      </p:sp>
      <p:sp>
        <p:nvSpPr>
          <p:cNvPr id="7" name="Text 5"/>
          <p:cNvSpPr/>
          <p:nvPr/>
        </p:nvSpPr>
        <p:spPr>
          <a:xfrm>
            <a:off x="841248" y="18105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Y</a:t>
            </a:r>
            <a:endParaRPr lang="en-US" sz="1300" dirty="0"/>
          </a:p>
        </p:txBody>
      </p:sp>
      <p:sp>
        <p:nvSpPr>
          <p:cNvPr id="8" name="Text 6"/>
          <p:cNvSpPr/>
          <p:nvPr/>
        </p:nvSpPr>
        <p:spPr>
          <a:xfrm>
            <a:off x="1463040" y="1819656"/>
            <a:ext cx="4206240" cy="365760"/>
          </a:xfrm>
          <a:prstGeom prst="rect">
            <a:avLst/>
          </a:prstGeom>
          <a:noFill/>
          <a:ln/>
        </p:spPr>
        <p:txBody>
          <a:bodyPr wrap="square" lIns="0" tIns="0" rIns="0" bIns="0" rtlCol="0" anchor="ctr"/>
          <a:lstStyle/>
          <a:p>
            <a:pPr indent="0" marL="0">
              <a:buNone/>
            </a:pPr>
            <a:r>
              <a:rPr lang="en-US" sz="1700" b="1" dirty="0">
                <a:solidFill>
                  <a:srgbClr val="00AD93"/>
                </a:solidFill>
                <a:latin typeface="Arial" pitchFamily="34" charset="0"/>
                <a:ea typeface="Arial" pitchFamily="34" charset="-122"/>
                <a:cs typeface="Arial" pitchFamily="34" charset="-120"/>
              </a:rPr>
              <a:t>Supported</a:t>
            </a:r>
            <a:endParaRPr lang="en-US" sz="1700" dirty="0"/>
          </a:p>
        </p:txBody>
      </p:sp>
      <p:sp>
        <p:nvSpPr>
          <p:cNvPr id="9" name="Text 7"/>
          <p:cNvSpPr/>
          <p:nvPr/>
        </p:nvSpPr>
        <p:spPr>
          <a:xfrm>
            <a:off x="868680" y="2331720"/>
            <a:ext cx="4846320" cy="105156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Connectivity to AVS over an Azure site-to-site VPN is supported when the connection satisfies HCX minimum network requirements. Microsoft documents both VPN and ExpressRoute as valid network configurations for SQL Server FCI migration to AVS.</a:t>
            </a:r>
            <a:endParaRPr lang="en-US" sz="1250" dirty="0"/>
          </a:p>
        </p:txBody>
      </p:sp>
      <p:sp>
        <p:nvSpPr>
          <p:cNvPr id="10" name="Shape 8"/>
          <p:cNvSpPr/>
          <p:nvPr/>
        </p:nvSpPr>
        <p:spPr>
          <a:xfrm>
            <a:off x="6245352" y="1554480"/>
            <a:ext cx="5394960" cy="1965960"/>
          </a:xfrm>
          <a:prstGeom prst="roundRect">
            <a:avLst>
              <a:gd name="adj" fmla="val 4186"/>
            </a:avLst>
          </a:prstGeom>
          <a:solidFill>
            <a:srgbClr val="EBEDED"/>
          </a:solidFill>
          <a:ln w="12700">
            <a:solidFill>
              <a:srgbClr val="EBEDED"/>
            </a:solidFill>
            <a:prstDash val="solid"/>
          </a:ln>
        </p:spPr>
      </p:sp>
      <p:sp>
        <p:nvSpPr>
          <p:cNvPr id="11" name="Shape 9"/>
          <p:cNvSpPr/>
          <p:nvPr/>
        </p:nvSpPr>
        <p:spPr>
          <a:xfrm>
            <a:off x="6537960" y="1810512"/>
            <a:ext cx="457200" cy="457200"/>
          </a:xfrm>
          <a:prstGeom prst="ellipse">
            <a:avLst/>
          </a:prstGeom>
          <a:solidFill>
            <a:srgbClr val="F15D23"/>
          </a:solidFill>
          <a:ln w="12700">
            <a:solidFill>
              <a:srgbClr val="F15D23"/>
            </a:solidFill>
            <a:prstDash val="solid"/>
          </a:ln>
        </p:spPr>
      </p:sp>
      <p:sp>
        <p:nvSpPr>
          <p:cNvPr id="12" name="Text 10"/>
          <p:cNvSpPr/>
          <p:nvPr/>
        </p:nvSpPr>
        <p:spPr>
          <a:xfrm>
            <a:off x="6537960" y="18105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3" name="Text 11"/>
          <p:cNvSpPr/>
          <p:nvPr/>
        </p:nvSpPr>
        <p:spPr>
          <a:xfrm>
            <a:off x="7159752" y="1819656"/>
            <a:ext cx="4206240" cy="365760"/>
          </a:xfrm>
          <a:prstGeom prst="rect">
            <a:avLst/>
          </a:prstGeom>
          <a:noFill/>
          <a:ln/>
        </p:spPr>
        <p:txBody>
          <a:bodyPr wrap="square" lIns="0" tIns="0" rIns="0" bIns="0" rtlCol="0" anchor="ctr"/>
          <a:lstStyle/>
          <a:p>
            <a:pPr indent="0" marL="0">
              <a:buNone/>
            </a:pPr>
            <a:r>
              <a:rPr lang="en-US" sz="1700" b="1" dirty="0">
                <a:solidFill>
                  <a:srgbClr val="F15D23"/>
                </a:solidFill>
                <a:latin typeface="Arial" pitchFamily="34" charset="0"/>
                <a:ea typeface="Arial" pitchFamily="34" charset="-122"/>
                <a:cs typeface="Arial" pitchFamily="34" charset="-120"/>
              </a:rPr>
              <a:t>Not recommended</a:t>
            </a:r>
            <a:endParaRPr lang="en-US" sz="1700" dirty="0"/>
          </a:p>
        </p:txBody>
      </p:sp>
      <p:sp>
        <p:nvSpPr>
          <p:cNvPr id="14" name="Text 12"/>
          <p:cNvSpPr/>
          <p:nvPr/>
        </p:nvSpPr>
        <p:spPr>
          <a:xfrm>
            <a:off x="6565392" y="2331720"/>
            <a:ext cx="4754880" cy="105156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Because of limited bandwidth, HCX over VPN typically suits workloads that can absorb longer downtime, such as nonproduction estates. Microsoft recommends ExpressRoute for production environments, large databases, and migrations that must minimise downtime.</a:t>
            </a:r>
            <a:endParaRPr lang="en-US" sz="1250" dirty="0"/>
          </a:p>
        </p:txBody>
      </p:sp>
      <p:sp>
        <p:nvSpPr>
          <p:cNvPr id="15" name="Shape 13"/>
          <p:cNvSpPr/>
          <p:nvPr/>
        </p:nvSpPr>
        <p:spPr>
          <a:xfrm>
            <a:off x="548640" y="3794760"/>
            <a:ext cx="11091672" cy="1828800"/>
          </a:xfrm>
          <a:prstGeom prst="roundRect">
            <a:avLst>
              <a:gd name="adj" fmla="val 4500"/>
            </a:avLst>
          </a:prstGeom>
          <a:solidFill>
            <a:srgbClr val="E5F7FC"/>
          </a:solidFill>
          <a:ln w="12700">
            <a:solidFill>
              <a:srgbClr val="E5F7FC"/>
            </a:solidFill>
            <a:prstDash val="solid"/>
          </a:ln>
        </p:spPr>
      </p:sp>
      <p:sp>
        <p:nvSpPr>
          <p:cNvPr id="16" name="Text 14"/>
          <p:cNvSpPr/>
          <p:nvPr/>
        </p:nvSpPr>
        <p:spPr>
          <a:xfrm>
            <a:off x="868680" y="4005072"/>
            <a:ext cx="10424160" cy="320040"/>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What this means for the engagement</a:t>
            </a:r>
            <a:endParaRPr lang="en-US" sz="1450" dirty="0"/>
          </a:p>
        </p:txBody>
      </p:sp>
      <p:sp>
        <p:nvSpPr>
          <p:cNvPr id="17" name="Text 15"/>
          <p:cNvSpPr/>
          <p:nvPr/>
        </p:nvSpPr>
        <p:spPr>
          <a:xfrm>
            <a:off x="868680" y="4389120"/>
            <a:ext cx="10424160" cy="11430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The VPN design is deployable and documented, so the constraint does not block the project</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The 5 TB production database is exactly the profile Microsoft steers toward ExpressRoute, so the migration method and window need extra scrutiny</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Record the decision, the measured throughput, and the accepted downtime as design assumptions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03</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HCX and</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migration planning</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Migration profiles, live-migration behaviour, and the SQL cluster constraint</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III.A  ROLE OF VMWARE HCX</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The application mobility layer</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548640" y="1554480"/>
            <a:ext cx="11091672" cy="1371600"/>
          </a:xfrm>
          <a:prstGeom prst="roundRect">
            <a:avLst>
              <a:gd name="adj" fmla="val 6000"/>
            </a:avLst>
          </a:prstGeom>
          <a:solidFill>
            <a:srgbClr val="E5F7FC"/>
          </a:solidFill>
          <a:ln w="12700">
            <a:solidFill>
              <a:srgbClr val="E5F7FC"/>
            </a:solidFill>
            <a:prstDash val="solid"/>
          </a:ln>
        </p:spPr>
      </p:sp>
      <p:sp>
        <p:nvSpPr>
          <p:cNvPr id="6" name="Text 4"/>
          <p:cNvSpPr/>
          <p:nvPr/>
        </p:nvSpPr>
        <p:spPr>
          <a:xfrm>
            <a:off x="914400" y="1874520"/>
            <a:ext cx="2377440" cy="320040"/>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HCX Connector</a:t>
            </a:r>
            <a:endParaRPr lang="en-US" sz="1400" dirty="0"/>
          </a:p>
        </p:txBody>
      </p:sp>
      <p:sp>
        <p:nvSpPr>
          <p:cNvPr id="7" name="Text 5"/>
          <p:cNvSpPr/>
          <p:nvPr/>
        </p:nvSpPr>
        <p:spPr>
          <a:xfrm>
            <a:off x="914400" y="2212848"/>
            <a:ext cx="2377440" cy="274320"/>
          </a:xfrm>
          <a:prstGeom prst="rect">
            <a:avLst/>
          </a:prstGeom>
          <a:noFill/>
          <a:ln/>
        </p:spPr>
        <p:txBody>
          <a:bodyPr wrap="square" lIns="0" tIns="0" rIns="0" bIns="0" rtlCol="0" anchor="ctr"/>
          <a:lstStyle/>
          <a:p>
            <a:pPr algn="ctr" indent="0" marL="0">
              <a:buNone/>
            </a:pPr>
            <a:r>
              <a:rPr lang="en-US" sz="1100" dirty="0">
                <a:solidFill>
                  <a:srgbClr val="6E6E7E"/>
                </a:solidFill>
                <a:latin typeface="Calibri" pitchFamily="34" charset="0"/>
                <a:ea typeface="Calibri" pitchFamily="34" charset="-122"/>
                <a:cs typeface="Calibri" pitchFamily="34" charset="-120"/>
              </a:rPr>
              <a:t>Source vSphere environment</a:t>
            </a:r>
            <a:endParaRPr lang="en-US" sz="1100" dirty="0"/>
          </a:p>
        </p:txBody>
      </p:sp>
      <p:sp>
        <p:nvSpPr>
          <p:cNvPr id="8" name="Shape 6"/>
          <p:cNvSpPr/>
          <p:nvPr/>
        </p:nvSpPr>
        <p:spPr>
          <a:xfrm>
            <a:off x="4206240" y="1847088"/>
            <a:ext cx="3749040" cy="713232"/>
          </a:xfrm>
          <a:prstGeom prst="roundRect">
            <a:avLst>
              <a:gd name="adj" fmla="val 11538"/>
            </a:avLst>
          </a:prstGeom>
          <a:solidFill>
            <a:srgbClr val="00B3E2"/>
          </a:solidFill>
          <a:ln w="12700">
            <a:solidFill>
              <a:srgbClr val="00B3E2"/>
            </a:solidFill>
            <a:prstDash val="solid"/>
          </a:ln>
        </p:spPr>
      </p:sp>
      <p:sp>
        <p:nvSpPr>
          <p:cNvPr id="9" name="Text 7"/>
          <p:cNvSpPr/>
          <p:nvPr/>
        </p:nvSpPr>
        <p:spPr>
          <a:xfrm>
            <a:off x="4206240" y="1847088"/>
            <a:ext cx="3749040"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HCX Service Mesh</a:t>
            </a:r>
            <a:endParaRPr lang="en-US" sz="1400" dirty="0"/>
          </a:p>
        </p:txBody>
      </p:sp>
      <p:sp>
        <p:nvSpPr>
          <p:cNvPr id="10" name="Text 8"/>
          <p:cNvSpPr/>
          <p:nvPr/>
        </p:nvSpPr>
        <p:spPr>
          <a:xfrm>
            <a:off x="8869680" y="1874520"/>
            <a:ext cx="2377440" cy="320040"/>
          </a:xfrm>
          <a:prstGeom prst="rect">
            <a:avLst/>
          </a:prstGeom>
          <a:noFill/>
          <a:ln/>
        </p:spPr>
        <p:txBody>
          <a:bodyPr wrap="square" lIns="0" tIns="0" rIns="0" bIns="0" rtlCol="0" anchor="ctr"/>
          <a:lstStyle/>
          <a:p>
            <a:pPr algn="ctr" indent="0" marL="0">
              <a:buNone/>
            </a:pPr>
            <a:r>
              <a:rPr lang="en-US" sz="1400" b="1" dirty="0">
                <a:solidFill>
                  <a:srgbClr val="3E3E4B"/>
                </a:solidFill>
                <a:latin typeface="Arial" pitchFamily="34" charset="0"/>
                <a:ea typeface="Arial" pitchFamily="34" charset="-122"/>
                <a:cs typeface="Arial" pitchFamily="34" charset="-120"/>
              </a:rPr>
              <a:t>HCX Cloud Manager</a:t>
            </a:r>
            <a:endParaRPr lang="en-US" sz="1400" dirty="0"/>
          </a:p>
        </p:txBody>
      </p:sp>
      <p:sp>
        <p:nvSpPr>
          <p:cNvPr id="11" name="Text 9"/>
          <p:cNvSpPr/>
          <p:nvPr/>
        </p:nvSpPr>
        <p:spPr>
          <a:xfrm>
            <a:off x="8869680" y="2212848"/>
            <a:ext cx="2377440" cy="274320"/>
          </a:xfrm>
          <a:prstGeom prst="rect">
            <a:avLst/>
          </a:prstGeom>
          <a:noFill/>
          <a:ln/>
        </p:spPr>
        <p:txBody>
          <a:bodyPr wrap="square" lIns="0" tIns="0" rIns="0" bIns="0" rtlCol="0" anchor="ctr"/>
          <a:lstStyle/>
          <a:p>
            <a:pPr algn="ctr" indent="0" marL="0">
              <a:buNone/>
            </a:pPr>
            <a:r>
              <a:rPr lang="en-US" sz="1100" dirty="0">
                <a:solidFill>
                  <a:srgbClr val="6E6E7E"/>
                </a:solidFill>
                <a:latin typeface="Calibri" pitchFamily="34" charset="0"/>
                <a:ea typeface="Calibri" pitchFamily="34" charset="-122"/>
                <a:cs typeface="Calibri" pitchFamily="34" charset="-120"/>
              </a:rPr>
              <a:t>AVS private cloud</a:t>
            </a:r>
            <a:endParaRPr lang="en-US" sz="1100" dirty="0"/>
          </a:p>
        </p:txBody>
      </p:sp>
      <p:sp>
        <p:nvSpPr>
          <p:cNvPr id="12" name="Shape 10"/>
          <p:cNvSpPr/>
          <p:nvPr/>
        </p:nvSpPr>
        <p:spPr>
          <a:xfrm>
            <a:off x="548640" y="3200400"/>
            <a:ext cx="3502152" cy="1417320"/>
          </a:xfrm>
          <a:prstGeom prst="roundRect">
            <a:avLst>
              <a:gd name="adj" fmla="val 5806"/>
            </a:avLst>
          </a:prstGeom>
          <a:solidFill>
            <a:srgbClr val="EBEDED"/>
          </a:solidFill>
          <a:ln w="12700">
            <a:solidFill>
              <a:srgbClr val="EBEDED"/>
            </a:solidFill>
            <a:prstDash val="solid"/>
          </a:ln>
        </p:spPr>
      </p:sp>
      <p:sp>
        <p:nvSpPr>
          <p:cNvPr id="13" name="Shape 11"/>
          <p:cNvSpPr/>
          <p:nvPr/>
        </p:nvSpPr>
        <p:spPr>
          <a:xfrm>
            <a:off x="804672" y="3429000"/>
            <a:ext cx="384048" cy="384048"/>
          </a:xfrm>
          <a:prstGeom prst="ellipse">
            <a:avLst/>
          </a:prstGeom>
          <a:solidFill>
            <a:srgbClr val="00B3E2"/>
          </a:solidFill>
          <a:ln w="12700">
            <a:solidFill>
              <a:srgbClr val="00B3E2"/>
            </a:solidFill>
            <a:prstDash val="solid"/>
          </a:ln>
        </p:spPr>
      </p:sp>
      <p:sp>
        <p:nvSpPr>
          <p:cNvPr id="14" name="Text 12"/>
          <p:cNvSpPr/>
          <p:nvPr/>
        </p:nvSpPr>
        <p:spPr>
          <a:xfrm>
            <a:off x="804672" y="34290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3"/>
          <p:cNvSpPr/>
          <p:nvPr/>
        </p:nvSpPr>
        <p:spPr>
          <a:xfrm>
            <a:off x="804672" y="3913632"/>
            <a:ext cx="3017520" cy="621792"/>
          </a:xfrm>
          <a:prstGeom prst="rect">
            <a:avLst/>
          </a:prstGeom>
          <a:noFill/>
          <a:ln/>
        </p:spPr>
        <p:txBody>
          <a:bodyPr wrap="square" lIns="0" tIns="0" rIns="0" bIns="0" rtlCol="0" anchor="t"/>
          <a:lstStyle/>
          <a:p>
            <a:pPr indent="0" marL="0">
              <a:lnSpc>
                <a:spcPct val="103000"/>
              </a:lnSpc>
              <a:buNone/>
            </a:pPr>
            <a:r>
              <a:rPr lang="en-US" sz="1200" dirty="0">
                <a:solidFill>
                  <a:srgbClr val="3E3E4B"/>
                </a:solidFill>
                <a:latin typeface="Calibri" pitchFamily="34" charset="0"/>
                <a:ea typeface="Calibri" pitchFamily="34" charset="-122"/>
                <a:cs typeface="Calibri" pitchFamily="34" charset="-120"/>
              </a:rPr>
              <a:t>Simplifies migration and workload movement between vSphere environments and AVS</a:t>
            </a:r>
            <a:endParaRPr lang="en-US" sz="1200" dirty="0"/>
          </a:p>
        </p:txBody>
      </p:sp>
      <p:sp>
        <p:nvSpPr>
          <p:cNvPr id="16" name="Shape 14"/>
          <p:cNvSpPr/>
          <p:nvPr/>
        </p:nvSpPr>
        <p:spPr>
          <a:xfrm>
            <a:off x="4270248" y="3200400"/>
            <a:ext cx="3502152" cy="1417320"/>
          </a:xfrm>
          <a:prstGeom prst="roundRect">
            <a:avLst>
              <a:gd name="adj" fmla="val 5806"/>
            </a:avLst>
          </a:prstGeom>
          <a:solidFill>
            <a:srgbClr val="EBEDED"/>
          </a:solidFill>
          <a:ln w="12700">
            <a:solidFill>
              <a:srgbClr val="EBEDED"/>
            </a:solidFill>
            <a:prstDash val="solid"/>
          </a:ln>
        </p:spPr>
      </p:sp>
      <p:sp>
        <p:nvSpPr>
          <p:cNvPr id="17" name="Shape 15"/>
          <p:cNvSpPr/>
          <p:nvPr/>
        </p:nvSpPr>
        <p:spPr>
          <a:xfrm>
            <a:off x="4526280" y="3429000"/>
            <a:ext cx="384048" cy="384048"/>
          </a:xfrm>
          <a:prstGeom prst="ellipse">
            <a:avLst/>
          </a:prstGeom>
          <a:solidFill>
            <a:srgbClr val="2DCCD3"/>
          </a:solidFill>
          <a:ln w="12700">
            <a:solidFill>
              <a:srgbClr val="2DCCD3"/>
            </a:solidFill>
            <a:prstDash val="solid"/>
          </a:ln>
        </p:spPr>
      </p:sp>
      <p:sp>
        <p:nvSpPr>
          <p:cNvPr id="18" name="Text 16"/>
          <p:cNvSpPr/>
          <p:nvPr/>
        </p:nvSpPr>
        <p:spPr>
          <a:xfrm>
            <a:off x="4526280" y="34290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7"/>
          <p:cNvSpPr/>
          <p:nvPr/>
        </p:nvSpPr>
        <p:spPr>
          <a:xfrm>
            <a:off x="4526280" y="3913632"/>
            <a:ext cx="3017520" cy="621792"/>
          </a:xfrm>
          <a:prstGeom prst="rect">
            <a:avLst/>
          </a:prstGeom>
          <a:noFill/>
          <a:ln/>
        </p:spPr>
        <p:txBody>
          <a:bodyPr wrap="square" lIns="0" tIns="0" rIns="0" bIns="0" rtlCol="0" anchor="t"/>
          <a:lstStyle/>
          <a:p>
            <a:pPr indent="0" marL="0">
              <a:lnSpc>
                <a:spcPct val="103000"/>
              </a:lnSpc>
              <a:buNone/>
            </a:pPr>
            <a:r>
              <a:rPr lang="en-US" sz="1200" dirty="0">
                <a:solidFill>
                  <a:srgbClr val="3E3E4B"/>
                </a:solidFill>
                <a:latin typeface="Calibri" pitchFamily="34" charset="0"/>
                <a:ea typeface="Calibri" pitchFamily="34" charset="-122"/>
                <a:cs typeface="Calibri" pitchFamily="34" charset="-120"/>
              </a:rPr>
              <a:t>The service mesh connects both sites and can provide Layer 2 network extension</a:t>
            </a:r>
            <a:endParaRPr lang="en-US" sz="1200" dirty="0"/>
          </a:p>
        </p:txBody>
      </p:sp>
      <p:sp>
        <p:nvSpPr>
          <p:cNvPr id="20" name="Shape 18"/>
          <p:cNvSpPr/>
          <p:nvPr/>
        </p:nvSpPr>
        <p:spPr>
          <a:xfrm>
            <a:off x="7991856" y="3200400"/>
            <a:ext cx="3502152" cy="1417320"/>
          </a:xfrm>
          <a:prstGeom prst="roundRect">
            <a:avLst>
              <a:gd name="adj" fmla="val 5806"/>
            </a:avLst>
          </a:prstGeom>
          <a:solidFill>
            <a:srgbClr val="EBEDED"/>
          </a:solidFill>
          <a:ln w="12700">
            <a:solidFill>
              <a:srgbClr val="EBEDED"/>
            </a:solidFill>
            <a:prstDash val="solid"/>
          </a:ln>
        </p:spPr>
      </p:sp>
      <p:sp>
        <p:nvSpPr>
          <p:cNvPr id="21" name="Shape 19"/>
          <p:cNvSpPr/>
          <p:nvPr/>
        </p:nvSpPr>
        <p:spPr>
          <a:xfrm>
            <a:off x="8247888" y="3429000"/>
            <a:ext cx="384048" cy="384048"/>
          </a:xfrm>
          <a:prstGeom prst="ellipse">
            <a:avLst/>
          </a:prstGeom>
          <a:solidFill>
            <a:srgbClr val="00AD93"/>
          </a:solidFill>
          <a:ln w="12700">
            <a:solidFill>
              <a:srgbClr val="00AD93"/>
            </a:solidFill>
            <a:prstDash val="solid"/>
          </a:ln>
        </p:spPr>
      </p:sp>
      <p:sp>
        <p:nvSpPr>
          <p:cNvPr id="22" name="Text 20"/>
          <p:cNvSpPr/>
          <p:nvPr/>
        </p:nvSpPr>
        <p:spPr>
          <a:xfrm>
            <a:off x="8247888" y="34290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1"/>
          <p:cNvSpPr/>
          <p:nvPr/>
        </p:nvSpPr>
        <p:spPr>
          <a:xfrm>
            <a:off x="8247888" y="3913632"/>
            <a:ext cx="3017520" cy="621792"/>
          </a:xfrm>
          <a:prstGeom prst="rect">
            <a:avLst/>
          </a:prstGeom>
          <a:noFill/>
          <a:ln/>
        </p:spPr>
        <p:txBody>
          <a:bodyPr wrap="square" lIns="0" tIns="0" rIns="0" bIns="0" rtlCol="0" anchor="t"/>
          <a:lstStyle/>
          <a:p>
            <a:pPr indent="0" marL="0">
              <a:lnSpc>
                <a:spcPct val="103000"/>
              </a:lnSpc>
              <a:buNone/>
            </a:pPr>
            <a:r>
              <a:rPr lang="en-US" sz="1200" dirty="0">
                <a:solidFill>
                  <a:srgbClr val="3E3E4B"/>
                </a:solidFill>
                <a:latin typeface="Calibri" pitchFamily="34" charset="0"/>
                <a:ea typeface="Calibri" pitchFamily="34" charset="-122"/>
                <a:cs typeface="Calibri" pitchFamily="34" charset="-120"/>
              </a:rPr>
              <a:t>Layer 2 extension can preserve workload IP addressing during migration where requirements justify it</a:t>
            </a:r>
            <a:endParaRPr lang="en-US" sz="1200" dirty="0"/>
          </a:p>
        </p:txBody>
      </p:sp>
      <p:sp>
        <p:nvSpPr>
          <p:cNvPr id="24" name="Shape 22"/>
          <p:cNvSpPr/>
          <p:nvPr/>
        </p:nvSpPr>
        <p:spPr>
          <a:xfrm>
            <a:off x="548640" y="4864608"/>
            <a:ext cx="11091672" cy="1051560"/>
          </a:xfrm>
          <a:prstGeom prst="roundRect">
            <a:avLst>
              <a:gd name="adj" fmla="val 7826"/>
            </a:avLst>
          </a:prstGeom>
          <a:solidFill>
            <a:srgbClr val="E2F2E8"/>
          </a:solidFill>
          <a:ln w="12700">
            <a:solidFill>
              <a:srgbClr val="E2F2E8"/>
            </a:solidFill>
            <a:prstDash val="solid"/>
          </a:ln>
        </p:spPr>
      </p:sp>
      <p:sp>
        <p:nvSpPr>
          <p:cNvPr id="25" name="Text 23"/>
          <p:cNvSpPr/>
          <p:nvPr/>
        </p:nvSpPr>
        <p:spPr>
          <a:xfrm>
            <a:off x="914400" y="4864608"/>
            <a:ext cx="10424160" cy="105156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HCX does not remove bandwidth, latency, or reachability constraints. The service mesh forms only when every required segment and route is available end to end.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III.B  MIGRATION PROFILES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Five HCX Enterprise migration methods</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13</a:t>
            </a:r>
            <a:endParaRPr lang="en-US" sz="900" dirty="0"/>
          </a:p>
        </p:txBody>
      </p:sp>
      <p:sp>
        <p:nvSpPr>
          <p:cNvPr id="5" name="Text 3"/>
          <p:cNvSpPr/>
          <p:nvPr/>
        </p:nvSpPr>
        <p:spPr>
          <a:xfrm>
            <a:off x="749808" y="1481328"/>
            <a:ext cx="2834640" cy="274320"/>
          </a:xfrm>
          <a:prstGeom prst="rect">
            <a:avLst/>
          </a:prstGeom>
          <a:noFill/>
          <a:ln/>
        </p:spPr>
        <p:txBody>
          <a:bodyPr wrap="square" lIns="0" tIns="0" rIns="0" bIns="0" rtlCol="0" anchor="ctr"/>
          <a:lstStyle/>
          <a:p>
            <a:pPr indent="0" marL="0">
              <a:buNone/>
            </a:pPr>
            <a:r>
              <a:rPr lang="en-US" sz="1000" b="1" spc="120" kern="0" dirty="0">
                <a:solidFill>
                  <a:srgbClr val="00B3E2"/>
                </a:solidFill>
                <a:latin typeface="Arial" pitchFamily="34" charset="0"/>
                <a:ea typeface="Arial" pitchFamily="34" charset="-122"/>
                <a:cs typeface="Arial" pitchFamily="34" charset="-120"/>
              </a:rPr>
              <a:t>METHOD</a:t>
            </a:r>
            <a:endParaRPr lang="en-US" sz="1000" dirty="0"/>
          </a:p>
        </p:txBody>
      </p:sp>
      <p:sp>
        <p:nvSpPr>
          <p:cNvPr id="6" name="Text 4"/>
          <p:cNvSpPr/>
          <p:nvPr/>
        </p:nvSpPr>
        <p:spPr>
          <a:xfrm>
            <a:off x="3995928" y="1481328"/>
            <a:ext cx="2697480" cy="274320"/>
          </a:xfrm>
          <a:prstGeom prst="rect">
            <a:avLst/>
          </a:prstGeom>
          <a:noFill/>
          <a:ln/>
        </p:spPr>
        <p:txBody>
          <a:bodyPr wrap="square" lIns="0" tIns="0" rIns="0" bIns="0" rtlCol="0" anchor="ctr"/>
          <a:lstStyle/>
          <a:p>
            <a:pPr indent="0" marL="0">
              <a:buNone/>
            </a:pPr>
            <a:r>
              <a:rPr lang="en-US" sz="1000" b="1" spc="120" kern="0" dirty="0">
                <a:solidFill>
                  <a:srgbClr val="00B3E2"/>
                </a:solidFill>
                <a:latin typeface="Arial" pitchFamily="34" charset="0"/>
                <a:ea typeface="Arial" pitchFamily="34" charset="-122"/>
                <a:cs typeface="Arial" pitchFamily="34" charset="-120"/>
              </a:rPr>
              <a:t>HOW IT WORKS</a:t>
            </a:r>
            <a:endParaRPr lang="en-US" sz="1000" dirty="0"/>
          </a:p>
        </p:txBody>
      </p:sp>
      <p:sp>
        <p:nvSpPr>
          <p:cNvPr id="7" name="Text 5"/>
          <p:cNvSpPr/>
          <p:nvPr/>
        </p:nvSpPr>
        <p:spPr>
          <a:xfrm>
            <a:off x="7104888" y="1481328"/>
            <a:ext cx="2194560" cy="274320"/>
          </a:xfrm>
          <a:prstGeom prst="rect">
            <a:avLst/>
          </a:prstGeom>
          <a:noFill/>
          <a:ln/>
        </p:spPr>
        <p:txBody>
          <a:bodyPr wrap="square" lIns="0" tIns="0" rIns="0" bIns="0" rtlCol="0" anchor="ctr"/>
          <a:lstStyle/>
          <a:p>
            <a:pPr indent="0" marL="0">
              <a:buNone/>
            </a:pPr>
            <a:r>
              <a:rPr lang="en-US" sz="1000" b="1" spc="120" kern="0" dirty="0">
                <a:solidFill>
                  <a:srgbClr val="00B3E2"/>
                </a:solidFill>
                <a:latin typeface="Arial" pitchFamily="34" charset="0"/>
                <a:ea typeface="Arial" pitchFamily="34" charset="-122"/>
                <a:cs typeface="Arial" pitchFamily="34" charset="-120"/>
              </a:rPr>
              <a:t>DOWNTIME</a:t>
            </a:r>
            <a:endParaRPr lang="en-US" sz="1000" dirty="0"/>
          </a:p>
        </p:txBody>
      </p:sp>
      <p:sp>
        <p:nvSpPr>
          <p:cNvPr id="8" name="Text 6"/>
          <p:cNvSpPr/>
          <p:nvPr/>
        </p:nvSpPr>
        <p:spPr>
          <a:xfrm>
            <a:off x="9710928" y="1481328"/>
            <a:ext cx="1856232" cy="274320"/>
          </a:xfrm>
          <a:prstGeom prst="rect">
            <a:avLst/>
          </a:prstGeom>
          <a:noFill/>
          <a:ln/>
        </p:spPr>
        <p:txBody>
          <a:bodyPr wrap="square" lIns="0" tIns="0" rIns="0" bIns="0" rtlCol="0" anchor="ctr"/>
          <a:lstStyle/>
          <a:p>
            <a:pPr indent="0" marL="0">
              <a:buNone/>
            </a:pPr>
            <a:r>
              <a:rPr lang="en-US" sz="1000" b="1" spc="120" kern="0" dirty="0">
                <a:solidFill>
                  <a:srgbClr val="00B3E2"/>
                </a:solidFill>
                <a:latin typeface="Arial" pitchFamily="34" charset="0"/>
                <a:ea typeface="Arial" pitchFamily="34" charset="-122"/>
                <a:cs typeface="Arial" pitchFamily="34" charset="-120"/>
              </a:rPr>
              <a:t>SCALE</a:t>
            </a:r>
            <a:endParaRPr lang="en-US" sz="1000" dirty="0"/>
          </a:p>
        </p:txBody>
      </p:sp>
      <p:sp>
        <p:nvSpPr>
          <p:cNvPr id="9" name="Shape 7"/>
          <p:cNvSpPr/>
          <p:nvPr/>
        </p:nvSpPr>
        <p:spPr>
          <a:xfrm>
            <a:off x="548640" y="1810512"/>
            <a:ext cx="11091672" cy="713232"/>
          </a:xfrm>
          <a:prstGeom prst="roundRect">
            <a:avLst>
              <a:gd name="adj" fmla="val 11538"/>
            </a:avLst>
          </a:prstGeom>
          <a:solidFill>
            <a:srgbClr val="E5F7FC"/>
          </a:solidFill>
          <a:ln w="12700">
            <a:solidFill>
              <a:srgbClr val="E5F7FC"/>
            </a:solidFill>
            <a:prstDash val="solid"/>
          </a:ln>
        </p:spPr>
      </p:sp>
      <p:sp>
        <p:nvSpPr>
          <p:cNvPr id="10" name="Shape 8"/>
          <p:cNvSpPr/>
          <p:nvPr/>
        </p:nvSpPr>
        <p:spPr>
          <a:xfrm>
            <a:off x="749808" y="2084832"/>
            <a:ext cx="164592" cy="164592"/>
          </a:xfrm>
          <a:prstGeom prst="ellipse">
            <a:avLst/>
          </a:prstGeom>
          <a:solidFill>
            <a:srgbClr val="F15D23"/>
          </a:solidFill>
          <a:ln w="12700">
            <a:solidFill>
              <a:srgbClr val="333333"/>
            </a:solidFill>
            <a:prstDash val="solid"/>
          </a:ln>
        </p:spPr>
      </p:sp>
      <p:sp>
        <p:nvSpPr>
          <p:cNvPr id="11" name="Text 9"/>
          <p:cNvSpPr/>
          <p:nvPr/>
        </p:nvSpPr>
        <p:spPr>
          <a:xfrm>
            <a:off x="1005840" y="1810512"/>
            <a:ext cx="269748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Cold Migration</a:t>
            </a:r>
            <a:endParaRPr lang="en-US" sz="1250" dirty="0"/>
          </a:p>
        </p:txBody>
      </p:sp>
      <p:sp>
        <p:nvSpPr>
          <p:cNvPr id="12" name="Text 10"/>
          <p:cNvSpPr/>
          <p:nvPr/>
        </p:nvSpPr>
        <p:spPr>
          <a:xfrm>
            <a:off x="3995928" y="1810512"/>
            <a:ext cx="278892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Powered-off VM copy</a:t>
            </a:r>
            <a:endParaRPr lang="en-US" sz="1200" dirty="0"/>
          </a:p>
        </p:txBody>
      </p:sp>
      <p:sp>
        <p:nvSpPr>
          <p:cNvPr id="13" name="Text 11"/>
          <p:cNvSpPr/>
          <p:nvPr/>
        </p:nvSpPr>
        <p:spPr>
          <a:xfrm>
            <a:off x="7104888" y="1810512"/>
            <a:ext cx="228600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Long downtime</a:t>
            </a:r>
            <a:endParaRPr lang="en-US" sz="1200" dirty="0"/>
          </a:p>
        </p:txBody>
      </p:sp>
      <p:sp>
        <p:nvSpPr>
          <p:cNvPr id="14" name="Text 12"/>
          <p:cNvSpPr/>
          <p:nvPr/>
        </p:nvSpPr>
        <p:spPr>
          <a:xfrm>
            <a:off x="9710928" y="1810512"/>
            <a:ext cx="1828800" cy="713232"/>
          </a:xfrm>
          <a:prstGeom prst="rect">
            <a:avLst/>
          </a:prstGeom>
          <a:noFill/>
          <a:ln/>
        </p:spPr>
        <p:txBody>
          <a:bodyPr wrap="square" lIns="0" tIns="0" rIns="0" bIns="0" rtlCol="0" anchor="ctr"/>
          <a:lstStyle/>
          <a:p>
            <a:pPr indent="0" marL="0">
              <a:buNone/>
            </a:pPr>
            <a:r>
              <a:rPr lang="en-US" sz="1200" dirty="0">
                <a:solidFill>
                  <a:srgbClr val="6E6E7E"/>
                </a:solidFill>
                <a:latin typeface="Calibri" pitchFamily="34" charset="0"/>
                <a:ea typeface="Calibri" pitchFamily="34" charset="-122"/>
                <a:cs typeface="Calibri" pitchFamily="34" charset="-120"/>
              </a:rPr>
              <a:t>Smaller scale</a:t>
            </a:r>
            <a:endParaRPr lang="en-US" sz="1200" dirty="0"/>
          </a:p>
        </p:txBody>
      </p:sp>
      <p:sp>
        <p:nvSpPr>
          <p:cNvPr id="15" name="Shape 13"/>
          <p:cNvSpPr/>
          <p:nvPr/>
        </p:nvSpPr>
        <p:spPr>
          <a:xfrm>
            <a:off x="548640" y="2615184"/>
            <a:ext cx="11091672" cy="713232"/>
          </a:xfrm>
          <a:prstGeom prst="roundRect">
            <a:avLst>
              <a:gd name="adj" fmla="val 11538"/>
            </a:avLst>
          </a:prstGeom>
          <a:solidFill>
            <a:srgbClr val="EBEDED"/>
          </a:solidFill>
          <a:ln w="12700">
            <a:solidFill>
              <a:srgbClr val="EBEDED"/>
            </a:solidFill>
            <a:prstDash val="solid"/>
          </a:ln>
        </p:spPr>
      </p:sp>
      <p:sp>
        <p:nvSpPr>
          <p:cNvPr id="16" name="Shape 14"/>
          <p:cNvSpPr/>
          <p:nvPr/>
        </p:nvSpPr>
        <p:spPr>
          <a:xfrm>
            <a:off x="749808" y="2889504"/>
            <a:ext cx="164592" cy="164592"/>
          </a:xfrm>
          <a:prstGeom prst="ellipse">
            <a:avLst/>
          </a:prstGeom>
          <a:solidFill>
            <a:srgbClr val="00AD93"/>
          </a:solidFill>
          <a:ln w="12700">
            <a:solidFill>
              <a:srgbClr val="333333"/>
            </a:solidFill>
            <a:prstDash val="solid"/>
          </a:ln>
        </p:spPr>
      </p:sp>
      <p:sp>
        <p:nvSpPr>
          <p:cNvPr id="17" name="Text 15"/>
          <p:cNvSpPr/>
          <p:nvPr/>
        </p:nvSpPr>
        <p:spPr>
          <a:xfrm>
            <a:off x="1005840" y="2615184"/>
            <a:ext cx="269748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HCX vMotion</a:t>
            </a:r>
            <a:endParaRPr lang="en-US" sz="1250" dirty="0"/>
          </a:p>
        </p:txBody>
      </p:sp>
      <p:sp>
        <p:nvSpPr>
          <p:cNvPr id="18" name="Text 16"/>
          <p:cNvSpPr/>
          <p:nvPr/>
        </p:nvSpPr>
        <p:spPr>
          <a:xfrm>
            <a:off x="3995928" y="2615184"/>
            <a:ext cx="278892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Live memory and state move</a:t>
            </a:r>
            <a:endParaRPr lang="en-US" sz="1200" dirty="0"/>
          </a:p>
        </p:txBody>
      </p:sp>
      <p:sp>
        <p:nvSpPr>
          <p:cNvPr id="19" name="Text 17"/>
          <p:cNvSpPr/>
          <p:nvPr/>
        </p:nvSpPr>
        <p:spPr>
          <a:xfrm>
            <a:off x="7104888" y="2615184"/>
            <a:ext cx="228600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No planned downtime</a:t>
            </a:r>
            <a:endParaRPr lang="en-US" sz="1200" dirty="0"/>
          </a:p>
        </p:txBody>
      </p:sp>
      <p:sp>
        <p:nvSpPr>
          <p:cNvPr id="20" name="Text 18"/>
          <p:cNvSpPr/>
          <p:nvPr/>
        </p:nvSpPr>
        <p:spPr>
          <a:xfrm>
            <a:off x="9710928" y="2615184"/>
            <a:ext cx="1828800" cy="713232"/>
          </a:xfrm>
          <a:prstGeom prst="rect">
            <a:avLst/>
          </a:prstGeom>
          <a:noFill/>
          <a:ln/>
        </p:spPr>
        <p:txBody>
          <a:bodyPr wrap="square" lIns="0" tIns="0" rIns="0" bIns="0" rtlCol="0" anchor="ctr"/>
          <a:lstStyle/>
          <a:p>
            <a:pPr indent="0" marL="0">
              <a:buNone/>
            </a:pPr>
            <a:r>
              <a:rPr lang="en-US" sz="1200" dirty="0">
                <a:solidFill>
                  <a:srgbClr val="6E6E7E"/>
                </a:solidFill>
                <a:latin typeface="Calibri" pitchFamily="34" charset="0"/>
                <a:ea typeface="Calibri" pitchFamily="34" charset="-122"/>
                <a:cs typeface="Calibri" pitchFamily="34" charset="-120"/>
              </a:rPr>
              <a:t>Serial, smaller scale</a:t>
            </a:r>
            <a:endParaRPr lang="en-US" sz="1200" dirty="0"/>
          </a:p>
        </p:txBody>
      </p:sp>
      <p:sp>
        <p:nvSpPr>
          <p:cNvPr id="21" name="Shape 19"/>
          <p:cNvSpPr/>
          <p:nvPr/>
        </p:nvSpPr>
        <p:spPr>
          <a:xfrm>
            <a:off x="548640" y="3419856"/>
            <a:ext cx="11091672" cy="713232"/>
          </a:xfrm>
          <a:prstGeom prst="roundRect">
            <a:avLst>
              <a:gd name="adj" fmla="val 11538"/>
            </a:avLst>
          </a:prstGeom>
          <a:solidFill>
            <a:srgbClr val="E5F7FC"/>
          </a:solidFill>
          <a:ln w="12700">
            <a:solidFill>
              <a:srgbClr val="E5F7FC"/>
            </a:solidFill>
            <a:prstDash val="solid"/>
          </a:ln>
        </p:spPr>
      </p:sp>
      <p:sp>
        <p:nvSpPr>
          <p:cNvPr id="22" name="Shape 20"/>
          <p:cNvSpPr/>
          <p:nvPr/>
        </p:nvSpPr>
        <p:spPr>
          <a:xfrm>
            <a:off x="749808" y="3694176"/>
            <a:ext cx="164592" cy="164592"/>
          </a:xfrm>
          <a:prstGeom prst="ellipse">
            <a:avLst/>
          </a:prstGeom>
          <a:solidFill>
            <a:srgbClr val="00B3E2"/>
          </a:solidFill>
          <a:ln w="12700">
            <a:solidFill>
              <a:srgbClr val="333333"/>
            </a:solidFill>
            <a:prstDash val="solid"/>
          </a:ln>
        </p:spPr>
      </p:sp>
      <p:sp>
        <p:nvSpPr>
          <p:cNvPr id="23" name="Text 21"/>
          <p:cNvSpPr/>
          <p:nvPr/>
        </p:nvSpPr>
        <p:spPr>
          <a:xfrm>
            <a:off x="1005840" y="3419856"/>
            <a:ext cx="269748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Bulk Migration</a:t>
            </a:r>
            <a:endParaRPr lang="en-US" sz="1250" dirty="0"/>
          </a:p>
        </p:txBody>
      </p:sp>
      <p:sp>
        <p:nvSpPr>
          <p:cNvPr id="24" name="Text 22"/>
          <p:cNvSpPr/>
          <p:nvPr/>
        </p:nvSpPr>
        <p:spPr>
          <a:xfrm>
            <a:off x="3995928" y="3419856"/>
            <a:ext cx="278892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Parallel replication with a switchover</a:t>
            </a:r>
            <a:endParaRPr lang="en-US" sz="1200" dirty="0"/>
          </a:p>
        </p:txBody>
      </p:sp>
      <p:sp>
        <p:nvSpPr>
          <p:cNvPr id="25" name="Text 23"/>
          <p:cNvSpPr/>
          <p:nvPr/>
        </p:nvSpPr>
        <p:spPr>
          <a:xfrm>
            <a:off x="7104888" y="3419856"/>
            <a:ext cx="228600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Short shutdown and startup</a:t>
            </a:r>
            <a:endParaRPr lang="en-US" sz="1200" dirty="0"/>
          </a:p>
        </p:txBody>
      </p:sp>
      <p:sp>
        <p:nvSpPr>
          <p:cNvPr id="26" name="Text 24"/>
          <p:cNvSpPr/>
          <p:nvPr/>
        </p:nvSpPr>
        <p:spPr>
          <a:xfrm>
            <a:off x="9710928" y="3419856"/>
            <a:ext cx="1828800" cy="713232"/>
          </a:xfrm>
          <a:prstGeom prst="rect">
            <a:avLst/>
          </a:prstGeom>
          <a:noFill/>
          <a:ln/>
        </p:spPr>
        <p:txBody>
          <a:bodyPr wrap="square" lIns="0" tIns="0" rIns="0" bIns="0" rtlCol="0" anchor="ctr"/>
          <a:lstStyle/>
          <a:p>
            <a:pPr indent="0" marL="0">
              <a:buNone/>
            </a:pPr>
            <a:r>
              <a:rPr lang="en-US" sz="1200" dirty="0">
                <a:solidFill>
                  <a:srgbClr val="6E6E7E"/>
                </a:solidFill>
                <a:latin typeface="Calibri" pitchFamily="34" charset="0"/>
                <a:ea typeface="Calibri" pitchFamily="34" charset="-122"/>
                <a:cs typeface="Calibri" pitchFamily="34" charset="-120"/>
              </a:rPr>
              <a:t>Largest scale</a:t>
            </a:r>
            <a:endParaRPr lang="en-US" sz="1200" dirty="0"/>
          </a:p>
        </p:txBody>
      </p:sp>
      <p:sp>
        <p:nvSpPr>
          <p:cNvPr id="27" name="Shape 25"/>
          <p:cNvSpPr/>
          <p:nvPr/>
        </p:nvSpPr>
        <p:spPr>
          <a:xfrm>
            <a:off x="548640" y="4224528"/>
            <a:ext cx="11091672" cy="713232"/>
          </a:xfrm>
          <a:prstGeom prst="roundRect">
            <a:avLst>
              <a:gd name="adj" fmla="val 11538"/>
            </a:avLst>
          </a:prstGeom>
          <a:solidFill>
            <a:srgbClr val="EBEDED"/>
          </a:solidFill>
          <a:ln w="12700">
            <a:solidFill>
              <a:srgbClr val="EBEDED"/>
            </a:solidFill>
            <a:prstDash val="solid"/>
          </a:ln>
        </p:spPr>
      </p:sp>
      <p:sp>
        <p:nvSpPr>
          <p:cNvPr id="28" name="Shape 26"/>
          <p:cNvSpPr/>
          <p:nvPr/>
        </p:nvSpPr>
        <p:spPr>
          <a:xfrm>
            <a:off x="749808" y="4498848"/>
            <a:ext cx="164592" cy="164592"/>
          </a:xfrm>
          <a:prstGeom prst="ellipse">
            <a:avLst/>
          </a:prstGeom>
          <a:solidFill>
            <a:srgbClr val="2DCCD3"/>
          </a:solidFill>
          <a:ln w="12700">
            <a:solidFill>
              <a:srgbClr val="333333"/>
            </a:solidFill>
            <a:prstDash val="solid"/>
          </a:ln>
        </p:spPr>
      </p:sp>
      <p:sp>
        <p:nvSpPr>
          <p:cNvPr id="29" name="Text 27"/>
          <p:cNvSpPr/>
          <p:nvPr/>
        </p:nvSpPr>
        <p:spPr>
          <a:xfrm>
            <a:off x="1005840" y="4224528"/>
            <a:ext cx="269748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Replication Assisted vMotion</a:t>
            </a:r>
            <a:endParaRPr lang="en-US" sz="1250" dirty="0"/>
          </a:p>
        </p:txBody>
      </p:sp>
      <p:sp>
        <p:nvSpPr>
          <p:cNvPr id="30" name="Text 28"/>
          <p:cNvSpPr/>
          <p:nvPr/>
        </p:nvSpPr>
        <p:spPr>
          <a:xfrm>
            <a:off x="3995928" y="4224528"/>
            <a:ext cx="278892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Replication plus live switchover</a:t>
            </a:r>
            <a:endParaRPr lang="en-US" sz="1200" dirty="0"/>
          </a:p>
        </p:txBody>
      </p:sp>
      <p:sp>
        <p:nvSpPr>
          <p:cNvPr id="31" name="Text 29"/>
          <p:cNvSpPr/>
          <p:nvPr/>
        </p:nvSpPr>
        <p:spPr>
          <a:xfrm>
            <a:off x="7104888" y="4224528"/>
            <a:ext cx="228600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No planned downtime</a:t>
            </a:r>
            <a:endParaRPr lang="en-US" sz="1200" dirty="0"/>
          </a:p>
        </p:txBody>
      </p:sp>
      <p:sp>
        <p:nvSpPr>
          <p:cNvPr id="32" name="Text 30"/>
          <p:cNvSpPr/>
          <p:nvPr/>
        </p:nvSpPr>
        <p:spPr>
          <a:xfrm>
            <a:off x="9710928" y="4224528"/>
            <a:ext cx="1828800" cy="713232"/>
          </a:xfrm>
          <a:prstGeom prst="rect">
            <a:avLst/>
          </a:prstGeom>
          <a:noFill/>
          <a:ln/>
        </p:spPr>
        <p:txBody>
          <a:bodyPr wrap="square" lIns="0" tIns="0" rIns="0" bIns="0" rtlCol="0" anchor="ctr"/>
          <a:lstStyle/>
          <a:p>
            <a:pPr indent="0" marL="0">
              <a:buNone/>
            </a:pPr>
            <a:r>
              <a:rPr lang="en-US" sz="1200" dirty="0">
                <a:solidFill>
                  <a:srgbClr val="6E6E7E"/>
                </a:solidFill>
                <a:latin typeface="Calibri" pitchFamily="34" charset="0"/>
                <a:ea typeface="Calibri" pitchFamily="34" charset="-122"/>
                <a:cs typeface="Calibri" pitchFamily="34" charset="-120"/>
              </a:rPr>
              <a:t>Parallel, larger scale</a:t>
            </a:r>
            <a:endParaRPr lang="en-US" sz="1200" dirty="0"/>
          </a:p>
        </p:txBody>
      </p:sp>
      <p:sp>
        <p:nvSpPr>
          <p:cNvPr id="33" name="Shape 31"/>
          <p:cNvSpPr/>
          <p:nvPr/>
        </p:nvSpPr>
        <p:spPr>
          <a:xfrm>
            <a:off x="548640" y="5029200"/>
            <a:ext cx="11091672" cy="713232"/>
          </a:xfrm>
          <a:prstGeom prst="roundRect">
            <a:avLst>
              <a:gd name="adj" fmla="val 11538"/>
            </a:avLst>
          </a:prstGeom>
          <a:solidFill>
            <a:srgbClr val="E5F7FC"/>
          </a:solidFill>
          <a:ln w="12700">
            <a:solidFill>
              <a:srgbClr val="E5F7FC"/>
            </a:solidFill>
            <a:prstDash val="solid"/>
          </a:ln>
        </p:spPr>
      </p:sp>
      <p:sp>
        <p:nvSpPr>
          <p:cNvPr id="34" name="Shape 32"/>
          <p:cNvSpPr/>
          <p:nvPr/>
        </p:nvSpPr>
        <p:spPr>
          <a:xfrm>
            <a:off x="749808" y="5303520"/>
            <a:ext cx="164592" cy="164592"/>
          </a:xfrm>
          <a:prstGeom prst="ellipse">
            <a:avLst/>
          </a:prstGeom>
          <a:solidFill>
            <a:srgbClr val="8DB9D9"/>
          </a:solidFill>
          <a:ln w="12700">
            <a:solidFill>
              <a:srgbClr val="333333"/>
            </a:solidFill>
            <a:prstDash val="solid"/>
          </a:ln>
        </p:spPr>
      </p:sp>
      <p:sp>
        <p:nvSpPr>
          <p:cNvPr id="35" name="Text 33"/>
          <p:cNvSpPr/>
          <p:nvPr/>
        </p:nvSpPr>
        <p:spPr>
          <a:xfrm>
            <a:off x="1005840" y="5029200"/>
            <a:ext cx="269748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OS Assisted Migration</a:t>
            </a:r>
            <a:endParaRPr lang="en-US" sz="1250" dirty="0"/>
          </a:p>
        </p:txBody>
      </p:sp>
      <p:sp>
        <p:nvSpPr>
          <p:cNvPr id="36" name="Text 34"/>
          <p:cNvSpPr/>
          <p:nvPr/>
        </p:nvSpPr>
        <p:spPr>
          <a:xfrm>
            <a:off x="3995928" y="5029200"/>
            <a:ext cx="278892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Guest-level migration for non-vSphere sources</a:t>
            </a:r>
            <a:endParaRPr lang="en-US" sz="1200" dirty="0"/>
          </a:p>
        </p:txBody>
      </p:sp>
      <p:sp>
        <p:nvSpPr>
          <p:cNvPr id="37" name="Text 35"/>
          <p:cNvSpPr/>
          <p:nvPr/>
        </p:nvSpPr>
        <p:spPr>
          <a:xfrm>
            <a:off x="7104888" y="5029200"/>
            <a:ext cx="228600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Varies by workload</a:t>
            </a:r>
            <a:endParaRPr lang="en-US" sz="1200" dirty="0"/>
          </a:p>
        </p:txBody>
      </p:sp>
      <p:sp>
        <p:nvSpPr>
          <p:cNvPr id="38" name="Text 36"/>
          <p:cNvSpPr/>
          <p:nvPr/>
        </p:nvSpPr>
        <p:spPr>
          <a:xfrm>
            <a:off x="9710928" y="5029200"/>
            <a:ext cx="1828800" cy="713232"/>
          </a:xfrm>
          <a:prstGeom prst="rect">
            <a:avLst/>
          </a:prstGeom>
          <a:noFill/>
          <a:ln/>
        </p:spPr>
        <p:txBody>
          <a:bodyPr wrap="square" lIns="0" tIns="0" rIns="0" bIns="0" rtlCol="0" anchor="ctr"/>
          <a:lstStyle/>
          <a:p>
            <a:pPr indent="0" marL="0">
              <a:buNone/>
            </a:pPr>
            <a:r>
              <a:rPr lang="en-US" sz="1200" dirty="0">
                <a:solidFill>
                  <a:srgbClr val="6E6E7E"/>
                </a:solidFill>
                <a:latin typeface="Calibri" pitchFamily="34" charset="0"/>
                <a:ea typeface="Calibri" pitchFamily="34" charset="-122"/>
                <a:cs typeface="Calibri" pitchFamily="34" charset="-120"/>
              </a:rPr>
              <a:t>Non-vSphere estates</a:t>
            </a:r>
            <a:endParaRPr lang="en-US" sz="1200" dirty="0"/>
          </a:p>
        </p:txBody>
      </p:sp>
      <p:sp>
        <p:nvSpPr>
          <p:cNvPr id="39" name="Text 37"/>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Source: VMware HCX migration considerations. Method selection over a VPN should follow measured throughput, not nominal gateway capacity.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IV  HCX VMOTION OVER A VPN</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Live migration is a race against memory change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548640" y="1554480"/>
            <a:ext cx="5806440" cy="2286000"/>
          </a:xfrm>
          <a:prstGeom prst="roundRect">
            <a:avLst>
              <a:gd name="adj" fmla="val 3600"/>
            </a:avLst>
          </a:prstGeom>
          <a:solidFill>
            <a:srgbClr val="E5F7FC"/>
          </a:solidFill>
          <a:ln w="12700">
            <a:solidFill>
              <a:srgbClr val="E5F7FC"/>
            </a:solidFill>
            <a:prstDash val="solid"/>
          </a:ln>
        </p:spPr>
      </p:sp>
      <p:sp>
        <p:nvSpPr>
          <p:cNvPr id="6" name="Text 4"/>
          <p:cNvSpPr/>
          <p:nvPr/>
        </p:nvSpPr>
        <p:spPr>
          <a:xfrm>
            <a:off x="868680" y="1783080"/>
            <a:ext cx="5120640" cy="320040"/>
          </a:xfrm>
          <a:prstGeom prst="rect">
            <a:avLst/>
          </a:prstGeom>
          <a:noFill/>
          <a:ln/>
        </p:spPr>
        <p:txBody>
          <a:bodyPr wrap="square" lIns="0" tIns="0" rIns="0" bIns="0" rtlCol="0" anchor="ctr"/>
          <a:lstStyle/>
          <a:p>
            <a:pPr indent="0" marL="0">
              <a:buNone/>
            </a:pPr>
            <a:r>
              <a:rPr lang="en-US" sz="1500" b="1" dirty="0">
                <a:solidFill>
                  <a:srgbClr val="00B3E2"/>
                </a:solidFill>
                <a:latin typeface="Arial" pitchFamily="34" charset="0"/>
                <a:ea typeface="Arial" pitchFamily="34" charset="-122"/>
                <a:cs typeface="Arial" pitchFamily="34" charset="-120"/>
              </a:rPr>
              <a:t>Documented behaviour</a:t>
            </a:r>
            <a:endParaRPr lang="en-US" sz="1500" dirty="0"/>
          </a:p>
        </p:txBody>
      </p:sp>
      <p:sp>
        <p:nvSpPr>
          <p:cNvPr id="7" name="Text 5"/>
          <p:cNvSpPr/>
          <p:nvPr/>
        </p:nvSpPr>
        <p:spPr>
          <a:xfrm>
            <a:off x="868680" y="2194560"/>
            <a:ext cx="5166360" cy="15544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vMotion is documented as having no planned migration downtime and is validated for standalone SQL Server migration to AVS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The database stays available during the move, but Microsoft advises against critical data commits while it runs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Perform the migration off-peak inside a preapproved change window</a:t>
            </a:r>
            <a:endParaRPr lang="en-US" sz="1200" dirty="0"/>
          </a:p>
        </p:txBody>
      </p:sp>
      <p:sp>
        <p:nvSpPr>
          <p:cNvPr id="8" name="Shape 6"/>
          <p:cNvSpPr/>
          <p:nvPr/>
        </p:nvSpPr>
        <p:spPr>
          <a:xfrm>
            <a:off x="6565392" y="1554480"/>
            <a:ext cx="5074920" cy="2286000"/>
          </a:xfrm>
          <a:prstGeom prst="roundRect">
            <a:avLst>
              <a:gd name="adj" fmla="val 3600"/>
            </a:avLst>
          </a:prstGeom>
          <a:solidFill>
            <a:srgbClr val="EBEDED"/>
          </a:solidFill>
          <a:ln w="12700">
            <a:solidFill>
              <a:srgbClr val="EBEDED"/>
            </a:solidFill>
            <a:prstDash val="solid"/>
          </a:ln>
        </p:spPr>
      </p:sp>
      <p:sp>
        <p:nvSpPr>
          <p:cNvPr id="9" name="Text 7"/>
          <p:cNvSpPr/>
          <p:nvPr/>
        </p:nvSpPr>
        <p:spPr>
          <a:xfrm>
            <a:off x="6858000" y="1783080"/>
            <a:ext cx="448056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Why throughput decides the outcome</a:t>
            </a:r>
            <a:endParaRPr lang="en-US" sz="1500" dirty="0"/>
          </a:p>
        </p:txBody>
      </p:sp>
      <p:sp>
        <p:nvSpPr>
          <p:cNvPr id="10" name="Text 8"/>
          <p:cNvSpPr/>
          <p:nvPr/>
        </p:nvSpPr>
        <p:spPr>
          <a:xfrm>
            <a:off x="6858000" y="2194560"/>
            <a:ext cx="4480560" cy="1463040"/>
          </a:xfrm>
          <a:prstGeom prst="rect">
            <a:avLst/>
          </a:prstGeom>
          <a:noFill/>
          <a:ln/>
        </p:spPr>
        <p:txBody>
          <a:bodyPr wrap="square" lIns="0" tIns="0" rIns="0" bIns="0" rtlCol="0" anchor="t"/>
          <a:lstStyle/>
          <a:p>
            <a:pPr indent="0" marL="0">
              <a:buNone/>
            </a:pPr>
            <a:r>
              <a:rPr lang="en-US" sz="1200" dirty="0">
                <a:solidFill>
                  <a:srgbClr val="3E3E4B"/>
                </a:solidFill>
                <a:latin typeface="Calibri" pitchFamily="34" charset="0"/>
                <a:ea typeface="Calibri" pitchFamily="34" charset="-122"/>
                <a:cs typeface="Calibri" pitchFamily="34" charset="-120"/>
              </a:rPr>
              <a:t>vMotion copies memory iteratively. Pages that change while the copy is in flight must be retransmitted, so success depends on whether available throughput outpaces the workload's memory change rate.</a:t>
            </a:r>
            <a:endParaRPr lang="en-US" sz="1200" dirty="0"/>
          </a:p>
        </p:txBody>
      </p:sp>
      <p:sp>
        <p:nvSpPr>
          <p:cNvPr id="11" name="Text 9"/>
          <p:cNvSpPr/>
          <p:nvPr/>
        </p:nvSpPr>
        <p:spPr>
          <a:xfrm>
            <a:off x="6858000" y="3493008"/>
            <a:ext cx="4480560" cy="274320"/>
          </a:xfrm>
          <a:prstGeom prst="rect">
            <a:avLst/>
          </a:prstGeom>
          <a:noFill/>
          <a:ln/>
        </p:spPr>
        <p:txBody>
          <a:bodyPr wrap="square" lIns="0" tIns="0" rIns="0" bIns="0" rtlCol="0" anchor="ctr"/>
          <a:lstStyle/>
          <a:p>
            <a:pPr indent="0" marL="0">
              <a:buNone/>
            </a:pPr>
            <a:r>
              <a:rPr lang="en-US" sz="1050" i="1" dirty="0">
                <a:solidFill>
                  <a:srgbClr val="6E6E7E"/>
                </a:solidFill>
                <a:latin typeface="Calibri" pitchFamily="34" charset="0"/>
                <a:ea typeface="Calibri" pitchFamily="34" charset="-122"/>
                <a:cs typeface="Calibri" pitchFamily="34" charset="-120"/>
              </a:rPr>
              <a:t>Transcript-derived explanation. Validate workload suitability by testing.</a:t>
            </a:r>
            <a:endParaRPr lang="en-US" sz="1050" dirty="0"/>
          </a:p>
        </p:txBody>
      </p:sp>
      <p:sp>
        <p:nvSpPr>
          <p:cNvPr id="12" name="Text 10"/>
          <p:cNvSpPr/>
          <p:nvPr/>
        </p:nvSpPr>
        <p:spPr>
          <a:xfrm>
            <a:off x="548640" y="4114800"/>
            <a:ext cx="548640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Operational controls</a:t>
            </a:r>
            <a:endParaRPr lang="en-US" sz="1500" dirty="0"/>
          </a:p>
        </p:txBody>
      </p:sp>
      <p:sp>
        <p:nvSpPr>
          <p:cNvPr id="13" name="Shape 11"/>
          <p:cNvSpPr/>
          <p:nvPr/>
        </p:nvSpPr>
        <p:spPr>
          <a:xfrm>
            <a:off x="548640" y="4526280"/>
            <a:ext cx="3502152" cy="1234440"/>
          </a:xfrm>
          <a:prstGeom prst="roundRect">
            <a:avLst>
              <a:gd name="adj" fmla="val 6667"/>
            </a:avLst>
          </a:prstGeom>
          <a:solidFill>
            <a:srgbClr val="E5F7FC"/>
          </a:solidFill>
          <a:ln w="12700">
            <a:solidFill>
              <a:srgbClr val="E5F7FC"/>
            </a:solidFill>
            <a:prstDash val="solid"/>
          </a:ln>
        </p:spPr>
      </p:sp>
      <p:sp>
        <p:nvSpPr>
          <p:cNvPr id="14" name="Text 12"/>
          <p:cNvSpPr/>
          <p:nvPr/>
        </p:nvSpPr>
        <p:spPr>
          <a:xfrm>
            <a:off x="804672" y="4709160"/>
            <a:ext cx="3017520" cy="274320"/>
          </a:xfrm>
          <a:prstGeom prst="rect">
            <a:avLst/>
          </a:prstGeom>
          <a:noFill/>
          <a:ln/>
        </p:spPr>
        <p:txBody>
          <a:bodyPr wrap="square" lIns="0" tIns="0" rIns="0" bIns="0" rtlCol="0" anchor="ctr"/>
          <a:lstStyle/>
          <a:p>
            <a:pPr indent="0" marL="0">
              <a:buNone/>
            </a:pPr>
            <a:r>
              <a:rPr lang="en-US" sz="1250" b="1" dirty="0">
                <a:solidFill>
                  <a:srgbClr val="00B3E2"/>
                </a:solidFill>
                <a:latin typeface="Arial" pitchFamily="34" charset="0"/>
                <a:ea typeface="Arial" pitchFamily="34" charset="-122"/>
                <a:cs typeface="Arial" pitchFamily="34" charset="-120"/>
              </a:rPr>
              <a:t>Schedule for quiet hours</a:t>
            </a:r>
            <a:endParaRPr lang="en-US" sz="1250" dirty="0"/>
          </a:p>
        </p:txBody>
      </p:sp>
      <p:sp>
        <p:nvSpPr>
          <p:cNvPr id="15" name="Text 13"/>
          <p:cNvSpPr/>
          <p:nvPr/>
        </p:nvSpPr>
        <p:spPr>
          <a:xfrm>
            <a:off x="804672" y="5029200"/>
            <a:ext cx="3017520" cy="621792"/>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Run vMotion during low-activity periods.</a:t>
            </a:r>
            <a:endParaRPr lang="en-US" sz="1150" dirty="0"/>
          </a:p>
        </p:txBody>
      </p:sp>
      <p:sp>
        <p:nvSpPr>
          <p:cNvPr id="16" name="Shape 14"/>
          <p:cNvSpPr/>
          <p:nvPr/>
        </p:nvSpPr>
        <p:spPr>
          <a:xfrm>
            <a:off x="4270248" y="4526280"/>
            <a:ext cx="3502152" cy="1234440"/>
          </a:xfrm>
          <a:prstGeom prst="roundRect">
            <a:avLst>
              <a:gd name="adj" fmla="val 6667"/>
            </a:avLst>
          </a:prstGeom>
          <a:solidFill>
            <a:srgbClr val="E5F7FC"/>
          </a:solidFill>
          <a:ln w="12700">
            <a:solidFill>
              <a:srgbClr val="E5F7FC"/>
            </a:solidFill>
            <a:prstDash val="solid"/>
          </a:ln>
        </p:spPr>
      </p:sp>
      <p:sp>
        <p:nvSpPr>
          <p:cNvPr id="17" name="Text 15"/>
          <p:cNvSpPr/>
          <p:nvPr/>
        </p:nvSpPr>
        <p:spPr>
          <a:xfrm>
            <a:off x="4526280" y="4709160"/>
            <a:ext cx="3017520" cy="274320"/>
          </a:xfrm>
          <a:prstGeom prst="rect">
            <a:avLst/>
          </a:prstGeom>
          <a:noFill/>
          <a:ln/>
        </p:spPr>
        <p:txBody>
          <a:bodyPr wrap="square" lIns="0" tIns="0" rIns="0" bIns="0" rtlCol="0" anchor="ctr"/>
          <a:lstStyle/>
          <a:p>
            <a:pPr indent="0" marL="0">
              <a:buNone/>
            </a:pPr>
            <a:r>
              <a:rPr lang="en-US" sz="1250" b="1" dirty="0">
                <a:solidFill>
                  <a:srgbClr val="00B3E2"/>
                </a:solidFill>
                <a:latin typeface="Arial" pitchFamily="34" charset="0"/>
                <a:ea typeface="Arial" pitchFamily="34" charset="-122"/>
                <a:cs typeface="Arial" pitchFamily="34" charset="-120"/>
              </a:rPr>
              <a:t>Suppress high-change work</a:t>
            </a:r>
            <a:endParaRPr lang="en-US" sz="1250" dirty="0"/>
          </a:p>
        </p:txBody>
      </p:sp>
      <p:sp>
        <p:nvSpPr>
          <p:cNvPr id="18" name="Text 16"/>
          <p:cNvSpPr/>
          <p:nvPr/>
        </p:nvSpPr>
        <p:spPr>
          <a:xfrm>
            <a:off x="4526280" y="5029200"/>
            <a:ext cx="3017520" cy="621792"/>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Hold reports, batch jobs, index maintenance, and bulk imports.</a:t>
            </a:r>
            <a:endParaRPr lang="en-US" sz="1150" dirty="0"/>
          </a:p>
        </p:txBody>
      </p:sp>
      <p:sp>
        <p:nvSpPr>
          <p:cNvPr id="19" name="Shape 17"/>
          <p:cNvSpPr/>
          <p:nvPr/>
        </p:nvSpPr>
        <p:spPr>
          <a:xfrm>
            <a:off x="7991856" y="4526280"/>
            <a:ext cx="3502152" cy="1234440"/>
          </a:xfrm>
          <a:prstGeom prst="roundRect">
            <a:avLst>
              <a:gd name="adj" fmla="val 6667"/>
            </a:avLst>
          </a:prstGeom>
          <a:solidFill>
            <a:srgbClr val="E5F7FC"/>
          </a:solidFill>
          <a:ln w="12700">
            <a:solidFill>
              <a:srgbClr val="E5F7FC"/>
            </a:solidFill>
            <a:prstDash val="solid"/>
          </a:ln>
        </p:spPr>
      </p:sp>
      <p:sp>
        <p:nvSpPr>
          <p:cNvPr id="20" name="Text 18"/>
          <p:cNvSpPr/>
          <p:nvPr/>
        </p:nvSpPr>
        <p:spPr>
          <a:xfrm>
            <a:off x="8247888" y="4709160"/>
            <a:ext cx="3017520" cy="274320"/>
          </a:xfrm>
          <a:prstGeom prst="rect">
            <a:avLst/>
          </a:prstGeom>
          <a:noFill/>
          <a:ln/>
        </p:spPr>
        <p:txBody>
          <a:bodyPr wrap="square" lIns="0" tIns="0" rIns="0" bIns="0" rtlCol="0" anchor="ctr"/>
          <a:lstStyle/>
          <a:p>
            <a:pPr indent="0" marL="0">
              <a:buNone/>
            </a:pPr>
            <a:r>
              <a:rPr lang="en-US" sz="1250" b="1" dirty="0">
                <a:solidFill>
                  <a:srgbClr val="00B3E2"/>
                </a:solidFill>
                <a:latin typeface="Arial" pitchFamily="34" charset="0"/>
                <a:ea typeface="Arial" pitchFamily="34" charset="-122"/>
                <a:cs typeface="Arial" pitchFamily="34" charset="-120"/>
              </a:rPr>
              <a:t>Test with real activity</a:t>
            </a:r>
            <a:endParaRPr lang="en-US" sz="1250" dirty="0"/>
          </a:p>
        </p:txBody>
      </p:sp>
      <p:sp>
        <p:nvSpPr>
          <p:cNvPr id="21" name="Text 19"/>
          <p:cNvSpPr/>
          <p:nvPr/>
        </p:nvSpPr>
        <p:spPr>
          <a:xfrm>
            <a:off x="8247888" y="5029200"/>
            <a:ext cx="3017520" cy="621792"/>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Rehearse the method against representative load and measured tunnel performance.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V  SQL SERVER FAILOVER CLUSTER INSTANCE</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Shared disks break the easy path</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548640" y="1536192"/>
            <a:ext cx="5120640" cy="2148840"/>
          </a:xfrm>
          <a:prstGeom prst="roundRect">
            <a:avLst>
              <a:gd name="adj" fmla="val 3830"/>
            </a:avLst>
          </a:prstGeom>
          <a:solidFill>
            <a:srgbClr val="EBEDED"/>
          </a:solidFill>
          <a:ln w="12700">
            <a:solidFill>
              <a:srgbClr val="EBEDED"/>
            </a:solidFill>
            <a:prstDash val="solid"/>
          </a:ln>
        </p:spPr>
      </p:sp>
      <p:sp>
        <p:nvSpPr>
          <p:cNvPr id="6" name="Text 4"/>
          <p:cNvSpPr/>
          <p:nvPr/>
        </p:nvSpPr>
        <p:spPr>
          <a:xfrm>
            <a:off x="868680" y="1737360"/>
            <a:ext cx="4480560" cy="320040"/>
          </a:xfrm>
          <a:prstGeom prst="rect">
            <a:avLst/>
          </a:prstGeom>
          <a:noFill/>
          <a:ln/>
        </p:spPr>
        <p:txBody>
          <a:bodyPr wrap="square" lIns="0" tIns="0" rIns="0" bIns="0" rtlCol="0" anchor="ctr"/>
          <a:lstStyle/>
          <a:p>
            <a:pPr indent="0" marL="0">
              <a:buNone/>
            </a:pPr>
            <a:r>
              <a:rPr lang="en-US" sz="1500" b="1" dirty="0">
                <a:solidFill>
                  <a:srgbClr val="F15D23"/>
                </a:solidFill>
                <a:latin typeface="Arial" pitchFamily="34" charset="0"/>
                <a:ea typeface="Arial" pitchFamily="34" charset="-122"/>
                <a:cs typeface="Arial" pitchFamily="34" charset="-120"/>
              </a:rPr>
              <a:t>The constraint</a:t>
            </a:r>
            <a:endParaRPr lang="en-US" sz="1500" dirty="0"/>
          </a:p>
        </p:txBody>
      </p:sp>
      <p:sp>
        <p:nvSpPr>
          <p:cNvPr id="7" name="Text 5"/>
          <p:cNvSpPr/>
          <p:nvPr/>
        </p:nvSpPr>
        <p:spPr>
          <a:xfrm>
            <a:off x="868680" y="2148840"/>
            <a:ext cx="4480560" cy="14173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An FCI is clustered nodes plus shared storage coordinated by Windows Server Failover Clustering</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HCX does not support migrating VMs whose SCSI controllers use physical sharing mode</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That rules out a straight lift of a traditional shared-disk FCI</a:t>
            </a:r>
            <a:endParaRPr lang="en-US" sz="1200" dirty="0"/>
          </a:p>
        </p:txBody>
      </p:sp>
      <p:sp>
        <p:nvSpPr>
          <p:cNvPr id="8" name="Text 6"/>
          <p:cNvSpPr/>
          <p:nvPr/>
        </p:nvSpPr>
        <p:spPr>
          <a:xfrm>
            <a:off x="5943600" y="1536192"/>
            <a:ext cx="566928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Microsoft's documented procedure</a:t>
            </a:r>
            <a:endParaRPr lang="en-US" sz="1500" dirty="0"/>
          </a:p>
        </p:txBody>
      </p:sp>
      <p:sp>
        <p:nvSpPr>
          <p:cNvPr id="9" name="Shape 7"/>
          <p:cNvSpPr/>
          <p:nvPr/>
        </p:nvSpPr>
        <p:spPr>
          <a:xfrm>
            <a:off x="5943600" y="2029968"/>
            <a:ext cx="384048" cy="384048"/>
          </a:xfrm>
          <a:prstGeom prst="ellipse">
            <a:avLst/>
          </a:prstGeom>
          <a:solidFill>
            <a:srgbClr val="00B3E2"/>
          </a:solidFill>
          <a:ln w="12700">
            <a:solidFill>
              <a:srgbClr val="00B3E2"/>
            </a:solidFill>
            <a:prstDash val="solid"/>
          </a:ln>
        </p:spPr>
      </p:sp>
      <p:sp>
        <p:nvSpPr>
          <p:cNvPr id="10" name="Text 8"/>
          <p:cNvSpPr/>
          <p:nvPr/>
        </p:nvSpPr>
        <p:spPr>
          <a:xfrm>
            <a:off x="5943600" y="2029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9"/>
          <p:cNvSpPr/>
          <p:nvPr/>
        </p:nvSpPr>
        <p:spPr>
          <a:xfrm>
            <a:off x="6510528" y="1975104"/>
            <a:ext cx="510235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Plan a full shutdown of the cluster</a:t>
            </a:r>
            <a:endParaRPr lang="en-US" sz="1200" dirty="0"/>
          </a:p>
        </p:txBody>
      </p:sp>
      <p:sp>
        <p:nvSpPr>
          <p:cNvPr id="12" name="Shape 10"/>
          <p:cNvSpPr/>
          <p:nvPr/>
        </p:nvSpPr>
        <p:spPr>
          <a:xfrm>
            <a:off x="5943600" y="2688336"/>
            <a:ext cx="384048" cy="384048"/>
          </a:xfrm>
          <a:prstGeom prst="ellipse">
            <a:avLst/>
          </a:prstGeom>
          <a:solidFill>
            <a:srgbClr val="00B3E2"/>
          </a:solidFill>
          <a:ln w="12700">
            <a:solidFill>
              <a:srgbClr val="00B3E2"/>
            </a:solidFill>
            <a:prstDash val="solid"/>
          </a:ln>
        </p:spPr>
      </p:sp>
      <p:sp>
        <p:nvSpPr>
          <p:cNvPr id="13" name="Text 11"/>
          <p:cNvSpPr/>
          <p:nvPr/>
        </p:nvSpPr>
        <p:spPr>
          <a:xfrm>
            <a:off x="5943600" y="268833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6510528" y="2633472"/>
            <a:ext cx="510235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Back up databases and cluster VMs, and document storage, network, and WSFC configuration</a:t>
            </a:r>
            <a:endParaRPr lang="en-US" sz="1200" dirty="0"/>
          </a:p>
        </p:txBody>
      </p:sp>
      <p:sp>
        <p:nvSpPr>
          <p:cNvPr id="15" name="Shape 13"/>
          <p:cNvSpPr/>
          <p:nvPr/>
        </p:nvSpPr>
        <p:spPr>
          <a:xfrm>
            <a:off x="5943600" y="3346704"/>
            <a:ext cx="384048" cy="384048"/>
          </a:xfrm>
          <a:prstGeom prst="ellipse">
            <a:avLst/>
          </a:prstGeom>
          <a:solidFill>
            <a:srgbClr val="00B3E2"/>
          </a:solidFill>
          <a:ln w="12700">
            <a:solidFill>
              <a:srgbClr val="00B3E2"/>
            </a:solidFill>
            <a:prstDash val="solid"/>
          </a:ln>
        </p:spPr>
      </p:sp>
      <p:sp>
        <p:nvSpPr>
          <p:cNvPr id="16" name="Text 14"/>
          <p:cNvSpPr/>
          <p:nvPr/>
        </p:nvSpPr>
        <p:spPr>
          <a:xfrm>
            <a:off x="5943600" y="334670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6510528" y="3291840"/>
            <a:ext cx="510235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Extend all SQL Server and dependent workload segments to AVS</a:t>
            </a:r>
            <a:endParaRPr lang="en-US" sz="1200" dirty="0"/>
          </a:p>
        </p:txBody>
      </p:sp>
      <p:sp>
        <p:nvSpPr>
          <p:cNvPr id="18" name="Shape 16"/>
          <p:cNvSpPr/>
          <p:nvPr/>
        </p:nvSpPr>
        <p:spPr>
          <a:xfrm>
            <a:off x="5943600" y="4005072"/>
            <a:ext cx="384048" cy="384048"/>
          </a:xfrm>
          <a:prstGeom prst="ellipse">
            <a:avLst/>
          </a:prstGeom>
          <a:solidFill>
            <a:srgbClr val="00B3E2"/>
          </a:solidFill>
          <a:ln w="12700">
            <a:solidFill>
              <a:srgbClr val="00B3E2"/>
            </a:solidFill>
            <a:prstDash val="solid"/>
          </a:ln>
        </p:spPr>
      </p:sp>
      <p:sp>
        <p:nvSpPr>
          <p:cNvPr id="19" name="Text 17"/>
          <p:cNvSpPr/>
          <p:nvPr/>
        </p:nvSpPr>
        <p:spPr>
          <a:xfrm>
            <a:off x="5943600" y="40050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6510528" y="3950208"/>
            <a:ext cx="510235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Migrate every cluster node using HCX Cold Migration</a:t>
            </a:r>
            <a:endParaRPr lang="en-US" sz="1200" dirty="0"/>
          </a:p>
        </p:txBody>
      </p:sp>
      <p:sp>
        <p:nvSpPr>
          <p:cNvPr id="21" name="Shape 19"/>
          <p:cNvSpPr/>
          <p:nvPr/>
        </p:nvSpPr>
        <p:spPr>
          <a:xfrm>
            <a:off x="5943600" y="4663440"/>
            <a:ext cx="384048" cy="384048"/>
          </a:xfrm>
          <a:prstGeom prst="ellipse">
            <a:avLst/>
          </a:prstGeom>
          <a:solidFill>
            <a:srgbClr val="00B3E2"/>
          </a:solidFill>
          <a:ln w="12700">
            <a:solidFill>
              <a:srgbClr val="00B3E2"/>
            </a:solidFill>
            <a:prstDash val="solid"/>
          </a:ln>
        </p:spPr>
      </p:sp>
      <p:sp>
        <p:nvSpPr>
          <p:cNvPr id="22" name="Text 20"/>
          <p:cNvSpPr/>
          <p:nvPr/>
        </p:nvSpPr>
        <p:spPr>
          <a:xfrm>
            <a:off x="5943600" y="46634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3" name="Text 21"/>
          <p:cNvSpPr/>
          <p:nvPr/>
        </p:nvSpPr>
        <p:spPr>
          <a:xfrm>
            <a:off x="6510528" y="4608576"/>
            <a:ext cx="510235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Validate shared storage, quorum, node communication, SQL services, and client connectivity</a:t>
            </a:r>
            <a:endParaRPr lang="en-US" sz="1200" dirty="0"/>
          </a:p>
        </p:txBody>
      </p:sp>
      <p:sp>
        <p:nvSpPr>
          <p:cNvPr id="24" name="Shape 22"/>
          <p:cNvSpPr/>
          <p:nvPr/>
        </p:nvSpPr>
        <p:spPr>
          <a:xfrm>
            <a:off x="548640" y="3931920"/>
            <a:ext cx="5120640" cy="1874520"/>
          </a:xfrm>
          <a:prstGeom prst="roundRect">
            <a:avLst>
              <a:gd name="adj" fmla="val 4390"/>
            </a:avLst>
          </a:prstGeom>
          <a:solidFill>
            <a:srgbClr val="E2F2E8"/>
          </a:solidFill>
          <a:ln w="12700">
            <a:solidFill>
              <a:srgbClr val="E2F2E8"/>
            </a:solidFill>
            <a:prstDash val="solid"/>
          </a:ln>
        </p:spPr>
      </p:sp>
      <p:sp>
        <p:nvSpPr>
          <p:cNvPr id="25" name="Text 23"/>
          <p:cNvSpPr/>
          <p:nvPr/>
        </p:nvSpPr>
        <p:spPr>
          <a:xfrm>
            <a:off x="868680" y="4114800"/>
            <a:ext cx="4480560" cy="320040"/>
          </a:xfrm>
          <a:prstGeom prst="rect">
            <a:avLst/>
          </a:prstGeom>
          <a:noFill/>
          <a:ln/>
        </p:spPr>
        <p:txBody>
          <a:bodyPr wrap="square" lIns="0" tIns="0" rIns="0" bIns="0" rtlCol="0" anchor="ctr"/>
          <a:lstStyle/>
          <a:p>
            <a:pPr indent="0" marL="0">
              <a:buNone/>
            </a:pPr>
            <a:r>
              <a:rPr lang="en-US" sz="1400" b="1" dirty="0">
                <a:solidFill>
                  <a:srgbClr val="00AD93"/>
                </a:solidFill>
                <a:latin typeface="Arial" pitchFamily="34" charset="0"/>
                <a:ea typeface="Arial" pitchFamily="34" charset="-122"/>
                <a:cs typeface="Arial" pitchFamily="34" charset="-120"/>
              </a:rPr>
              <a:t>Downtime is categorised as high</a:t>
            </a:r>
            <a:endParaRPr lang="en-US" sz="1400" dirty="0"/>
          </a:p>
        </p:txBody>
      </p:sp>
      <p:sp>
        <p:nvSpPr>
          <p:cNvPr id="26" name="Text 24"/>
          <p:cNvSpPr/>
          <p:nvPr/>
        </p:nvSpPr>
        <p:spPr>
          <a:xfrm>
            <a:off x="868680" y="4480560"/>
            <a:ext cx="4480560" cy="118872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All nodes are shut down and cold-migrated</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Duration follows database size and effective network speed to Azure</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Review quorum and witness placement for the chosen scenario</a:t>
            </a:r>
            <a:endParaRPr lang="en-US" sz="1150" dirty="0"/>
          </a:p>
        </p:txBody>
      </p:sp>
      <p:sp>
        <p:nvSpPr>
          <p:cNvPr id="27" name="Text 25"/>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Source: Migrate a SQL Server Always On Failover Cluster Instance to Azure VMware Solution.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VI  MIGRATION-WINDOW CAPACITY</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Do the arithmetic before you commit to a weekend</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16</a:t>
            </a:r>
            <a:endParaRPr lang="en-US" sz="900" dirty="0"/>
          </a:p>
        </p:txBody>
      </p:sp>
      <p:sp>
        <p:nvSpPr>
          <p:cNvPr id="5" name="Shape 3"/>
          <p:cNvSpPr/>
          <p:nvPr/>
        </p:nvSpPr>
        <p:spPr>
          <a:xfrm>
            <a:off x="548640" y="1536192"/>
            <a:ext cx="11091672" cy="1783080"/>
          </a:xfrm>
          <a:prstGeom prst="roundRect">
            <a:avLst>
              <a:gd name="adj" fmla="val 4615"/>
            </a:avLst>
          </a:prstGeom>
          <a:solidFill>
            <a:srgbClr val="3E3E4B"/>
          </a:solidFill>
          <a:ln w="12700">
            <a:solidFill>
              <a:srgbClr val="3E3E4B"/>
            </a:solidFill>
            <a:prstDash val="solid"/>
          </a:ln>
        </p:spPr>
      </p:sp>
      <p:sp>
        <p:nvSpPr>
          <p:cNvPr id="6" name="Text 4"/>
          <p:cNvSpPr/>
          <p:nvPr/>
        </p:nvSpPr>
        <p:spPr>
          <a:xfrm>
            <a:off x="822960" y="1783080"/>
            <a:ext cx="2651760" cy="868680"/>
          </a:xfrm>
          <a:prstGeom prst="rect">
            <a:avLst/>
          </a:prstGeom>
          <a:noFill/>
          <a:ln/>
        </p:spPr>
        <p:txBody>
          <a:bodyPr wrap="square" lIns="0" tIns="0" rIns="0" bIns="0" rtlCol="0" anchor="ctr"/>
          <a:lstStyle/>
          <a:p>
            <a:pPr algn="ctr" indent="0" marL="0">
              <a:buNone/>
            </a:pPr>
            <a:r>
              <a:rPr lang="en-US" sz="4200" b="1" dirty="0">
                <a:solidFill>
                  <a:srgbClr val="00B3E2"/>
                </a:solidFill>
                <a:latin typeface="Arial" pitchFamily="34" charset="0"/>
                <a:ea typeface="Arial" pitchFamily="34" charset="-122"/>
                <a:cs typeface="Arial" pitchFamily="34" charset="-120"/>
              </a:rPr>
              <a:t>5 TB</a:t>
            </a:r>
            <a:endParaRPr lang="en-US" sz="4200" dirty="0"/>
          </a:p>
        </p:txBody>
      </p:sp>
      <p:sp>
        <p:nvSpPr>
          <p:cNvPr id="7" name="Text 5"/>
          <p:cNvSpPr/>
          <p:nvPr/>
        </p:nvSpPr>
        <p:spPr>
          <a:xfrm>
            <a:off x="822960" y="2651760"/>
            <a:ext cx="265176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workload to transfer</a:t>
            </a:r>
            <a:endParaRPr lang="en-US" sz="1200" dirty="0"/>
          </a:p>
        </p:txBody>
      </p:sp>
      <p:sp>
        <p:nvSpPr>
          <p:cNvPr id="8" name="Shape 6"/>
          <p:cNvSpPr/>
          <p:nvPr/>
        </p:nvSpPr>
        <p:spPr>
          <a:xfrm>
            <a:off x="3657600" y="2286000"/>
            <a:ext cx="411480" cy="274320"/>
          </a:xfrm>
          <a:prstGeom prst="rightArrow">
            <a:avLst/>
          </a:prstGeom>
          <a:solidFill>
            <a:srgbClr val="00B3E2"/>
          </a:solidFill>
          <a:ln w="12700">
            <a:solidFill>
              <a:srgbClr val="333333"/>
            </a:solidFill>
            <a:prstDash val="solid"/>
          </a:ln>
        </p:spPr>
      </p:sp>
      <p:sp>
        <p:nvSpPr>
          <p:cNvPr id="9" name="Text 7"/>
          <p:cNvSpPr/>
          <p:nvPr/>
        </p:nvSpPr>
        <p:spPr>
          <a:xfrm>
            <a:off x="4206240" y="1783080"/>
            <a:ext cx="2743200" cy="868680"/>
          </a:xfrm>
          <a:prstGeom prst="rect">
            <a:avLst/>
          </a:prstGeom>
          <a:noFill/>
          <a:ln/>
        </p:spPr>
        <p:txBody>
          <a:bodyPr wrap="square" lIns="0" tIns="0" rIns="0" bIns="0" rtlCol="0" anchor="ctr"/>
          <a:lstStyle/>
          <a:p>
            <a:pPr algn="ctr" indent="0" marL="0">
              <a:buNone/>
            </a:pPr>
            <a:r>
              <a:rPr lang="en-US" sz="4200" b="1" dirty="0">
                <a:solidFill>
                  <a:srgbClr val="B2E8F6"/>
                </a:solidFill>
                <a:latin typeface="Arial" pitchFamily="34" charset="0"/>
                <a:ea typeface="Arial" pitchFamily="34" charset="-122"/>
                <a:cs typeface="Arial" pitchFamily="34" charset="-120"/>
              </a:rPr>
              <a:t>500 Mbps</a:t>
            </a:r>
            <a:endParaRPr lang="en-US" sz="4200" dirty="0"/>
          </a:p>
        </p:txBody>
      </p:sp>
      <p:sp>
        <p:nvSpPr>
          <p:cNvPr id="10" name="Text 8"/>
          <p:cNvSpPr/>
          <p:nvPr/>
        </p:nvSpPr>
        <p:spPr>
          <a:xfrm>
            <a:off x="4206240" y="2651760"/>
            <a:ext cx="274320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idealised sustained tunnel</a:t>
            </a:r>
            <a:endParaRPr lang="en-US" sz="1200" dirty="0"/>
          </a:p>
        </p:txBody>
      </p:sp>
      <p:sp>
        <p:nvSpPr>
          <p:cNvPr id="11" name="Shape 9"/>
          <p:cNvSpPr/>
          <p:nvPr/>
        </p:nvSpPr>
        <p:spPr>
          <a:xfrm>
            <a:off x="7086600" y="2286000"/>
            <a:ext cx="411480" cy="274320"/>
          </a:xfrm>
          <a:prstGeom prst="rightArrow">
            <a:avLst/>
          </a:prstGeom>
          <a:solidFill>
            <a:srgbClr val="00B3E2"/>
          </a:solidFill>
          <a:ln w="12700">
            <a:solidFill>
              <a:srgbClr val="333333"/>
            </a:solidFill>
            <a:prstDash val="solid"/>
          </a:ln>
        </p:spPr>
      </p:sp>
      <p:sp>
        <p:nvSpPr>
          <p:cNvPr id="12" name="Text 10"/>
          <p:cNvSpPr/>
          <p:nvPr/>
        </p:nvSpPr>
        <p:spPr>
          <a:xfrm>
            <a:off x="7680960" y="1783080"/>
            <a:ext cx="3657600" cy="868680"/>
          </a:xfrm>
          <a:prstGeom prst="rect">
            <a:avLst/>
          </a:prstGeom>
          <a:noFill/>
          <a:ln/>
        </p:spPr>
        <p:txBody>
          <a:bodyPr wrap="square" lIns="0" tIns="0" rIns="0" bIns="0"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22-24 hrs</a:t>
            </a:r>
            <a:endParaRPr lang="en-US" sz="4200" dirty="0"/>
          </a:p>
        </p:txBody>
      </p:sp>
      <p:sp>
        <p:nvSpPr>
          <p:cNvPr id="13" name="Text 11"/>
          <p:cNvSpPr/>
          <p:nvPr/>
        </p:nvSpPr>
        <p:spPr>
          <a:xfrm>
            <a:off x="7680960" y="2651760"/>
            <a:ext cx="365760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minimum theoretical transfer</a:t>
            </a:r>
            <a:endParaRPr lang="en-US" sz="1200" dirty="0"/>
          </a:p>
        </p:txBody>
      </p:sp>
      <p:sp>
        <p:nvSpPr>
          <p:cNvPr id="14" name="Text 12"/>
          <p:cNvSpPr/>
          <p:nvPr/>
        </p:nvSpPr>
        <p:spPr>
          <a:xfrm>
            <a:off x="822960" y="2880360"/>
            <a:ext cx="10515600" cy="320040"/>
          </a:xfrm>
          <a:prstGeom prst="rect">
            <a:avLst/>
          </a:prstGeom>
          <a:noFill/>
          <a:ln/>
        </p:spPr>
        <p:txBody>
          <a:bodyPr wrap="square" lIns="0" tIns="0" rIns="0" bIns="0" rtlCol="0" anchor="ctr"/>
          <a:lstStyle/>
          <a:p>
            <a:pPr algn="ctr" indent="0" marL="0">
              <a:buNone/>
            </a:pPr>
            <a:r>
              <a:rPr lang="en-US" sz="1150" i="1" dirty="0">
                <a:solidFill>
                  <a:srgbClr val="A9A9B8"/>
                </a:solidFill>
                <a:latin typeface="Calibri" pitchFamily="34" charset="0"/>
                <a:ea typeface="Calibri" pitchFamily="34" charset="-122"/>
                <a:cs typeface="Calibri" pitchFamily="34" charset="-120"/>
              </a:rPr>
              <a:t>Decimal versus binary units account for the range. Protocol overhead, retransmission, and interruption all extend it.</a:t>
            </a:r>
            <a:endParaRPr lang="en-US" sz="1150" dirty="0"/>
          </a:p>
        </p:txBody>
      </p:sp>
      <p:sp>
        <p:nvSpPr>
          <p:cNvPr id="15" name="Text 13"/>
          <p:cNvSpPr/>
          <p:nvPr/>
        </p:nvSpPr>
        <p:spPr>
          <a:xfrm>
            <a:off x="548640" y="3566160"/>
            <a:ext cx="731520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Planning inputs that keep the estimate honest</a:t>
            </a:r>
            <a:endParaRPr lang="en-US" sz="1500" dirty="0"/>
          </a:p>
        </p:txBody>
      </p:sp>
      <p:sp>
        <p:nvSpPr>
          <p:cNvPr id="16" name="Shape 14"/>
          <p:cNvSpPr/>
          <p:nvPr/>
        </p:nvSpPr>
        <p:spPr>
          <a:xfrm>
            <a:off x="548640" y="4023360"/>
            <a:ext cx="2606040" cy="1783080"/>
          </a:xfrm>
          <a:prstGeom prst="roundRect">
            <a:avLst>
              <a:gd name="adj" fmla="val 4615"/>
            </a:avLst>
          </a:prstGeom>
          <a:solidFill>
            <a:srgbClr val="E5F7FC"/>
          </a:solidFill>
          <a:ln w="12700">
            <a:solidFill>
              <a:srgbClr val="E5F7FC"/>
            </a:solidFill>
            <a:prstDash val="solid"/>
          </a:ln>
        </p:spPr>
      </p:sp>
      <p:sp>
        <p:nvSpPr>
          <p:cNvPr id="17" name="Text 15"/>
          <p:cNvSpPr/>
          <p:nvPr/>
        </p:nvSpPr>
        <p:spPr>
          <a:xfrm>
            <a:off x="768096" y="4224528"/>
            <a:ext cx="2194560" cy="502920"/>
          </a:xfrm>
          <a:prstGeom prst="rect">
            <a:avLst/>
          </a:prstGeom>
          <a:noFill/>
          <a:ln/>
        </p:spPr>
        <p:txBody>
          <a:bodyPr wrap="square" lIns="0" tIns="0" rIns="0" bIns="0" rtlCol="0" anchor="t"/>
          <a:lstStyle/>
          <a:p>
            <a:pPr indent="0" marL="0">
              <a:buNone/>
            </a:pPr>
            <a:r>
              <a:rPr lang="en-US" sz="1250" b="1" dirty="0">
                <a:solidFill>
                  <a:srgbClr val="00B3E2"/>
                </a:solidFill>
                <a:latin typeface="Arial" pitchFamily="34" charset="0"/>
                <a:ea typeface="Arial" pitchFamily="34" charset="-122"/>
                <a:cs typeface="Arial" pitchFamily="34" charset="-120"/>
              </a:rPr>
              <a:t>Total VM storage</a:t>
            </a:r>
            <a:endParaRPr lang="en-US" sz="1250" dirty="0"/>
          </a:p>
        </p:txBody>
      </p:sp>
      <p:sp>
        <p:nvSpPr>
          <p:cNvPr id="18" name="Text 16"/>
          <p:cNvSpPr/>
          <p:nvPr/>
        </p:nvSpPr>
        <p:spPr>
          <a:xfrm>
            <a:off x="768096" y="4754880"/>
            <a:ext cx="2194560" cy="91440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Size the transfer on full VM storage, not the logical database size.</a:t>
            </a:r>
            <a:endParaRPr lang="en-US" sz="1150" dirty="0"/>
          </a:p>
        </p:txBody>
      </p:sp>
      <p:sp>
        <p:nvSpPr>
          <p:cNvPr id="19" name="Shape 17"/>
          <p:cNvSpPr/>
          <p:nvPr/>
        </p:nvSpPr>
        <p:spPr>
          <a:xfrm>
            <a:off x="3355848" y="4023360"/>
            <a:ext cx="2606040" cy="1783080"/>
          </a:xfrm>
          <a:prstGeom prst="roundRect">
            <a:avLst>
              <a:gd name="adj" fmla="val 4615"/>
            </a:avLst>
          </a:prstGeom>
          <a:solidFill>
            <a:srgbClr val="EBEDED"/>
          </a:solidFill>
          <a:ln w="12700">
            <a:solidFill>
              <a:srgbClr val="EBEDED"/>
            </a:solidFill>
            <a:prstDash val="solid"/>
          </a:ln>
        </p:spPr>
      </p:sp>
      <p:sp>
        <p:nvSpPr>
          <p:cNvPr id="20" name="Text 18"/>
          <p:cNvSpPr/>
          <p:nvPr/>
        </p:nvSpPr>
        <p:spPr>
          <a:xfrm>
            <a:off x="3575304" y="4224528"/>
            <a:ext cx="2194560" cy="502920"/>
          </a:xfrm>
          <a:prstGeom prst="rect">
            <a:avLst/>
          </a:prstGeom>
          <a:noFill/>
          <a:ln/>
        </p:spPr>
        <p:txBody>
          <a:bodyPr wrap="square" lIns="0" tIns="0" rIns="0" bIns="0" rtlCol="0" anchor="t"/>
          <a:lstStyle/>
          <a:p>
            <a:pPr indent="0" marL="0">
              <a:buNone/>
            </a:pPr>
            <a:r>
              <a:rPr lang="en-US" sz="1250" b="1" dirty="0">
                <a:solidFill>
                  <a:srgbClr val="00B3E2"/>
                </a:solidFill>
                <a:latin typeface="Arial" pitchFamily="34" charset="0"/>
                <a:ea typeface="Arial" pitchFamily="34" charset="-122"/>
                <a:cs typeface="Arial" pitchFamily="34" charset="-120"/>
              </a:rPr>
              <a:t>Measured throughput</a:t>
            </a:r>
            <a:endParaRPr lang="en-US" sz="1250" dirty="0"/>
          </a:p>
        </p:txBody>
      </p:sp>
      <p:sp>
        <p:nvSpPr>
          <p:cNvPr id="21" name="Text 19"/>
          <p:cNvSpPr/>
          <p:nvPr/>
        </p:nvSpPr>
        <p:spPr>
          <a:xfrm>
            <a:off x="3575304" y="4754880"/>
            <a:ext cx="2194560" cy="91440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Test sustained encrypted throughput inside the proposed window.</a:t>
            </a:r>
            <a:endParaRPr lang="en-US" sz="1150" dirty="0"/>
          </a:p>
        </p:txBody>
      </p:sp>
      <p:sp>
        <p:nvSpPr>
          <p:cNvPr id="22" name="Shape 20"/>
          <p:cNvSpPr/>
          <p:nvPr/>
        </p:nvSpPr>
        <p:spPr>
          <a:xfrm>
            <a:off x="6163056" y="4023360"/>
            <a:ext cx="2606040" cy="1783080"/>
          </a:xfrm>
          <a:prstGeom prst="roundRect">
            <a:avLst>
              <a:gd name="adj" fmla="val 4615"/>
            </a:avLst>
          </a:prstGeom>
          <a:solidFill>
            <a:srgbClr val="E5F7FC"/>
          </a:solidFill>
          <a:ln w="12700">
            <a:solidFill>
              <a:srgbClr val="E5F7FC"/>
            </a:solidFill>
            <a:prstDash val="solid"/>
          </a:ln>
        </p:spPr>
      </p:sp>
      <p:sp>
        <p:nvSpPr>
          <p:cNvPr id="23" name="Text 21"/>
          <p:cNvSpPr/>
          <p:nvPr/>
        </p:nvSpPr>
        <p:spPr>
          <a:xfrm>
            <a:off x="6382512" y="4224528"/>
            <a:ext cx="2194560" cy="502920"/>
          </a:xfrm>
          <a:prstGeom prst="rect">
            <a:avLst/>
          </a:prstGeom>
          <a:noFill/>
          <a:ln/>
        </p:spPr>
        <p:txBody>
          <a:bodyPr wrap="square" lIns="0" tIns="0" rIns="0" bIns="0" rtlCol="0" anchor="t"/>
          <a:lstStyle/>
          <a:p>
            <a:pPr indent="0" marL="0">
              <a:buNone/>
            </a:pPr>
            <a:r>
              <a:rPr lang="en-US" sz="1250" b="1" dirty="0">
                <a:solidFill>
                  <a:srgbClr val="00B3E2"/>
                </a:solidFill>
                <a:latin typeface="Arial" pitchFamily="34" charset="0"/>
                <a:ea typeface="Arial" pitchFamily="34" charset="-122"/>
                <a:cs typeface="Arial" pitchFamily="34" charset="-120"/>
              </a:rPr>
              <a:t>Safety margin</a:t>
            </a:r>
            <a:endParaRPr lang="en-US" sz="1250" dirty="0"/>
          </a:p>
        </p:txBody>
      </p:sp>
      <p:sp>
        <p:nvSpPr>
          <p:cNvPr id="24" name="Text 22"/>
          <p:cNvSpPr/>
          <p:nvPr/>
        </p:nvSpPr>
        <p:spPr>
          <a:xfrm>
            <a:off x="6382512" y="4754880"/>
            <a:ext cx="2194560" cy="91440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Allow for retransmission, packet loss, congestion, IPsec overhead, and business traffic.</a:t>
            </a:r>
            <a:endParaRPr lang="en-US" sz="1150" dirty="0"/>
          </a:p>
        </p:txBody>
      </p:sp>
      <p:sp>
        <p:nvSpPr>
          <p:cNvPr id="25" name="Shape 23"/>
          <p:cNvSpPr/>
          <p:nvPr/>
        </p:nvSpPr>
        <p:spPr>
          <a:xfrm>
            <a:off x="8970264" y="4023360"/>
            <a:ext cx="2606040" cy="1783080"/>
          </a:xfrm>
          <a:prstGeom prst="roundRect">
            <a:avLst>
              <a:gd name="adj" fmla="val 4615"/>
            </a:avLst>
          </a:prstGeom>
          <a:solidFill>
            <a:srgbClr val="EBEDED"/>
          </a:solidFill>
          <a:ln w="12700">
            <a:solidFill>
              <a:srgbClr val="EBEDED"/>
            </a:solidFill>
            <a:prstDash val="solid"/>
          </a:ln>
        </p:spPr>
      </p:sp>
      <p:sp>
        <p:nvSpPr>
          <p:cNvPr id="26" name="Text 24"/>
          <p:cNvSpPr/>
          <p:nvPr/>
        </p:nvSpPr>
        <p:spPr>
          <a:xfrm>
            <a:off x="9189720" y="4224528"/>
            <a:ext cx="2194560" cy="502920"/>
          </a:xfrm>
          <a:prstGeom prst="rect">
            <a:avLst/>
          </a:prstGeom>
          <a:noFill/>
          <a:ln/>
        </p:spPr>
        <p:txBody>
          <a:bodyPr wrap="square" lIns="0" tIns="0" rIns="0" bIns="0" rtlCol="0" anchor="t"/>
          <a:lstStyle/>
          <a:p>
            <a:pPr indent="0" marL="0">
              <a:buNone/>
            </a:pPr>
            <a:r>
              <a:rPr lang="en-US" sz="1250" b="1" dirty="0">
                <a:solidFill>
                  <a:srgbClr val="00B3E2"/>
                </a:solidFill>
                <a:latin typeface="Arial" pitchFamily="34" charset="0"/>
                <a:ea typeface="Arial" pitchFamily="34" charset="-122"/>
                <a:cs typeface="Arial" pitchFamily="34" charset="-120"/>
              </a:rPr>
              <a:t>Post-migration time</a:t>
            </a:r>
            <a:endParaRPr lang="en-US" sz="1250" dirty="0"/>
          </a:p>
        </p:txBody>
      </p:sp>
      <p:sp>
        <p:nvSpPr>
          <p:cNvPr id="27" name="Text 25"/>
          <p:cNvSpPr/>
          <p:nvPr/>
        </p:nvSpPr>
        <p:spPr>
          <a:xfrm>
            <a:off x="9189720" y="4754880"/>
            <a:ext cx="2194560" cy="91440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Reserve time for validation, cluster checks, DNS convergence, testing, and rollback.</a:t>
            </a:r>
            <a:endParaRPr lang="en-US" sz="1150" dirty="0"/>
          </a:p>
        </p:txBody>
      </p:sp>
      <p:sp>
        <p:nvSpPr>
          <p:cNvPr id="28" name="Text 26"/>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Calculated example, not a Microsoft-published AVS estimate. Microsoft states that SQL migration downtime depends on database size and network speed.</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04</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Virtual WAN as the</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connectivity foundation</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Hub structure, SKU choice, gateway sizing, and routing preference</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VII  WHY VIRTUAL WAN</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From self-managed transit to managed routing</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18</a:t>
            </a:r>
            <a:endParaRPr lang="en-US" sz="900" dirty="0"/>
          </a:p>
        </p:txBody>
      </p:sp>
      <p:sp>
        <p:nvSpPr>
          <p:cNvPr id="5" name="Shape 3"/>
          <p:cNvSpPr/>
          <p:nvPr/>
        </p:nvSpPr>
        <p:spPr>
          <a:xfrm>
            <a:off x="548640" y="1554480"/>
            <a:ext cx="5440680" cy="4114800"/>
          </a:xfrm>
          <a:prstGeom prst="roundRect">
            <a:avLst>
              <a:gd name="adj" fmla="val 2000"/>
            </a:avLst>
          </a:prstGeom>
          <a:solidFill>
            <a:srgbClr val="EBEDED"/>
          </a:solidFill>
          <a:ln w="12700">
            <a:solidFill>
              <a:srgbClr val="EBEDED"/>
            </a:solidFill>
            <a:prstDash val="solid"/>
          </a:ln>
        </p:spPr>
      </p:sp>
      <p:sp>
        <p:nvSpPr>
          <p:cNvPr id="6" name="Text 4"/>
          <p:cNvSpPr/>
          <p:nvPr/>
        </p:nvSpPr>
        <p:spPr>
          <a:xfrm>
            <a:off x="868680" y="1783080"/>
            <a:ext cx="4754880" cy="365760"/>
          </a:xfrm>
          <a:prstGeom prst="rect">
            <a:avLst/>
          </a:prstGeom>
          <a:noFill/>
          <a:ln/>
        </p:spPr>
        <p:txBody>
          <a:bodyPr wrap="square" lIns="0" tIns="0" rIns="0" bIns="0" rtlCol="0" anchor="ctr"/>
          <a:lstStyle/>
          <a:p>
            <a:pPr indent="0" marL="0">
              <a:buNone/>
            </a:pPr>
            <a:r>
              <a:rPr lang="en-US" sz="1700" b="1" dirty="0">
                <a:solidFill>
                  <a:srgbClr val="3E3E4B"/>
                </a:solidFill>
                <a:latin typeface="Arial" pitchFamily="34" charset="0"/>
                <a:ea typeface="Arial" pitchFamily="34" charset="-122"/>
                <a:cs typeface="Arial" pitchFamily="34" charset="-120"/>
              </a:rPr>
              <a:t>Self-managed hub and spoke</a:t>
            </a:r>
            <a:endParaRPr lang="en-US" sz="1700" dirty="0"/>
          </a:p>
        </p:txBody>
      </p:sp>
      <p:sp>
        <p:nvSpPr>
          <p:cNvPr id="7" name="Text 5"/>
          <p:cNvSpPr/>
          <p:nvPr/>
        </p:nvSpPr>
        <p:spPr>
          <a:xfrm>
            <a:off x="868680" y="2286000"/>
            <a:ext cx="4800600" cy="31089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VNet peering is nontransitive, so a spoke cannot reach another spoke through the hub without explicit routing or direct peering</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The customer manages peerings, route tables, appliances, and transit behaviour</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Operational burden grows with every new spoke</a:t>
            </a:r>
            <a:endParaRPr lang="en-US" sz="1250" dirty="0"/>
          </a:p>
        </p:txBody>
      </p:sp>
      <p:sp>
        <p:nvSpPr>
          <p:cNvPr id="8" name="Shape 6"/>
          <p:cNvSpPr/>
          <p:nvPr/>
        </p:nvSpPr>
        <p:spPr>
          <a:xfrm>
            <a:off x="6199632" y="1554480"/>
            <a:ext cx="5440680" cy="4114800"/>
          </a:xfrm>
          <a:prstGeom prst="roundRect">
            <a:avLst>
              <a:gd name="adj" fmla="val 2000"/>
            </a:avLst>
          </a:prstGeom>
          <a:solidFill>
            <a:srgbClr val="E5F7FC"/>
          </a:solidFill>
          <a:ln w="12700">
            <a:solidFill>
              <a:srgbClr val="E5F7FC"/>
            </a:solidFill>
            <a:prstDash val="solid"/>
          </a:ln>
        </p:spPr>
      </p:sp>
      <p:sp>
        <p:nvSpPr>
          <p:cNvPr id="9" name="Text 7"/>
          <p:cNvSpPr/>
          <p:nvPr/>
        </p:nvSpPr>
        <p:spPr>
          <a:xfrm>
            <a:off x="6519672" y="1783080"/>
            <a:ext cx="4754880" cy="365760"/>
          </a:xfrm>
          <a:prstGeom prst="rect">
            <a:avLst/>
          </a:prstGeom>
          <a:noFill/>
          <a:ln/>
        </p:spPr>
        <p:txBody>
          <a:bodyPr wrap="square" lIns="0" tIns="0" rIns="0" bIns="0" rtlCol="0" anchor="ctr"/>
          <a:lstStyle/>
          <a:p>
            <a:pPr indent="0" marL="0">
              <a:buNone/>
            </a:pPr>
            <a:r>
              <a:rPr lang="en-US" sz="1700" b="1" dirty="0">
                <a:solidFill>
                  <a:srgbClr val="00B3E2"/>
                </a:solidFill>
                <a:latin typeface="Arial" pitchFamily="34" charset="0"/>
                <a:ea typeface="Arial" pitchFamily="34" charset="-122"/>
                <a:cs typeface="Arial" pitchFamily="34" charset="-120"/>
              </a:rPr>
              <a:t>Azure Virtual WAN</a:t>
            </a:r>
            <a:endParaRPr lang="en-US" sz="1700" dirty="0"/>
          </a:p>
        </p:txBody>
      </p:sp>
      <p:sp>
        <p:nvSpPr>
          <p:cNvPr id="10" name="Text 8"/>
          <p:cNvSpPr/>
          <p:nvPr/>
        </p:nvSpPr>
        <p:spPr>
          <a:xfrm>
            <a:off x="6519672" y="2286000"/>
            <a:ext cx="4800600" cy="31089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Microsoft-managed alternative with centralised routing and built-in transit between connected endpoints</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Aggregates site-to-site VPN, point-to-site VPN, ExpressRoute, VNet, and SD-WAN connectivity</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 Standard Virtual WAN meshes its hubs and supports any-to-any connectivity across supported spoke types</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The virtual hub is the regional routing core; connected VNets still host workloads and shared services</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VIII  VIRTUAL WAN AND HUB STRUCTURE</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Address space is a one-way door</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19</a:t>
            </a:r>
            <a:endParaRPr lang="en-US" sz="900" dirty="0"/>
          </a:p>
        </p:txBody>
      </p:sp>
      <p:sp>
        <p:nvSpPr>
          <p:cNvPr id="5" name="Shape 3"/>
          <p:cNvSpPr/>
          <p:nvPr/>
        </p:nvSpPr>
        <p:spPr>
          <a:xfrm>
            <a:off x="548640" y="1536192"/>
            <a:ext cx="3291840" cy="1828800"/>
          </a:xfrm>
          <a:prstGeom prst="roundRect">
            <a:avLst>
              <a:gd name="adj" fmla="val 4500"/>
            </a:avLst>
          </a:prstGeom>
          <a:solidFill>
            <a:srgbClr val="E5F7FC"/>
          </a:solidFill>
          <a:ln w="12700">
            <a:solidFill>
              <a:srgbClr val="E5F7FC"/>
            </a:solidFill>
            <a:prstDash val="solid"/>
          </a:ln>
        </p:spPr>
      </p:sp>
      <p:sp>
        <p:nvSpPr>
          <p:cNvPr id="6" name="Text 4"/>
          <p:cNvSpPr/>
          <p:nvPr/>
        </p:nvSpPr>
        <p:spPr>
          <a:xfrm>
            <a:off x="822960" y="1737360"/>
            <a:ext cx="2743200" cy="274320"/>
          </a:xfrm>
          <a:prstGeom prst="rect">
            <a:avLst/>
          </a:prstGeom>
          <a:noFill/>
          <a:ln/>
        </p:spPr>
        <p:txBody>
          <a:bodyPr wrap="square" lIns="0" tIns="0" rIns="0" bIns="0" rtlCol="0" anchor="ctr"/>
          <a:lstStyle/>
          <a:p>
            <a:pPr indent="0" marL="0">
              <a:buNone/>
            </a:pPr>
            <a:r>
              <a:rPr lang="en-US" sz="1350" b="1" dirty="0">
                <a:solidFill>
                  <a:srgbClr val="00B3E2"/>
                </a:solidFill>
                <a:latin typeface="Arial" pitchFamily="34" charset="0"/>
                <a:ea typeface="Arial" pitchFamily="34" charset="-122"/>
                <a:cs typeface="Arial" pitchFamily="34" charset="-120"/>
              </a:rPr>
              <a:t>Virtual WAN object</a:t>
            </a:r>
            <a:endParaRPr lang="en-US" sz="1350" dirty="0"/>
          </a:p>
        </p:txBody>
      </p:sp>
      <p:sp>
        <p:nvSpPr>
          <p:cNvPr id="7" name="Text 5"/>
          <p:cNvSpPr/>
          <p:nvPr/>
        </p:nvSpPr>
        <p:spPr>
          <a:xfrm>
            <a:off x="822960" y="2084832"/>
            <a:ext cx="2788920" cy="1143000"/>
          </a:xfrm>
          <a:prstGeom prst="rect">
            <a:avLst/>
          </a:prstGeom>
          <a:noFill/>
          <a:ln/>
        </p:spPr>
        <p:txBody>
          <a:bodyPr wrap="square" lIns="0" tIns="0" rIns="0" bIns="0" rtlCol="0" anchor="t"/>
          <a:lstStyle/>
          <a:p>
            <a:pPr indent="0" marL="0">
              <a:buNone/>
            </a:pPr>
            <a:r>
              <a:rPr lang="en-US" sz="1200" dirty="0">
                <a:solidFill>
                  <a:srgbClr val="3E3E4B"/>
                </a:solidFill>
                <a:latin typeface="Calibri" pitchFamily="34" charset="0"/>
                <a:ea typeface="Calibri" pitchFamily="34" charset="-122"/>
                <a:cs typeface="Calibri" pitchFamily="34" charset="-120"/>
              </a:rPr>
              <a:t>A global resource with a location selected for management and metadata. It is the container for one or more regional virtual hubs.</a:t>
            </a:r>
            <a:endParaRPr lang="en-US" sz="1200" dirty="0"/>
          </a:p>
        </p:txBody>
      </p:sp>
      <p:sp>
        <p:nvSpPr>
          <p:cNvPr id="8" name="Shape 6"/>
          <p:cNvSpPr/>
          <p:nvPr/>
        </p:nvSpPr>
        <p:spPr>
          <a:xfrm>
            <a:off x="4050792" y="1536192"/>
            <a:ext cx="7589520" cy="1828800"/>
          </a:xfrm>
          <a:prstGeom prst="roundRect">
            <a:avLst>
              <a:gd name="adj" fmla="val 4500"/>
            </a:avLst>
          </a:prstGeom>
          <a:solidFill>
            <a:srgbClr val="EBEDED"/>
          </a:solidFill>
          <a:ln w="12700">
            <a:solidFill>
              <a:srgbClr val="EBEDED"/>
            </a:solidFill>
            <a:prstDash val="solid"/>
          </a:ln>
        </p:spPr>
      </p:sp>
      <p:sp>
        <p:nvSpPr>
          <p:cNvPr id="9" name="Text 7"/>
          <p:cNvSpPr/>
          <p:nvPr/>
        </p:nvSpPr>
        <p:spPr>
          <a:xfrm>
            <a:off x="4325112" y="1737360"/>
            <a:ext cx="3657600" cy="274320"/>
          </a:xfrm>
          <a:prstGeom prst="rect">
            <a:avLst/>
          </a:prstGeom>
          <a:noFill/>
          <a:ln/>
        </p:spPr>
        <p:txBody>
          <a:bodyPr wrap="square" lIns="0" tIns="0" rIns="0" bIns="0" rtlCol="0" anchor="ctr"/>
          <a:lstStyle/>
          <a:p>
            <a:pPr indent="0" marL="0">
              <a:buNone/>
            </a:pPr>
            <a:r>
              <a:rPr lang="en-US" sz="1350" b="1" dirty="0">
                <a:solidFill>
                  <a:srgbClr val="3E3E4B"/>
                </a:solidFill>
                <a:latin typeface="Arial" pitchFamily="34" charset="0"/>
                <a:ea typeface="Arial" pitchFamily="34" charset="-122"/>
                <a:cs typeface="Arial" pitchFamily="34" charset="-120"/>
              </a:rPr>
              <a:t>Virtual hub</a:t>
            </a:r>
            <a:endParaRPr lang="en-US" sz="1350" dirty="0"/>
          </a:p>
        </p:txBody>
      </p:sp>
      <p:sp>
        <p:nvSpPr>
          <p:cNvPr id="10" name="Text 8"/>
          <p:cNvSpPr/>
          <p:nvPr/>
        </p:nvSpPr>
        <p:spPr>
          <a:xfrm>
            <a:off x="4325112" y="2084832"/>
            <a:ext cx="7040880" cy="1143000"/>
          </a:xfrm>
          <a:prstGeom prst="rect">
            <a:avLst/>
          </a:prstGeom>
          <a:noFill/>
          <a:ln/>
        </p:spPr>
        <p:txBody>
          <a:bodyPr wrap="square" lIns="0" tIns="0" rIns="0" bIns="0" rtlCol="0" anchor="t"/>
          <a:lstStyle/>
          <a:p>
            <a:pPr indent="0" marL="0">
              <a:buNone/>
            </a:pPr>
            <a:r>
              <a:rPr lang="en-US" sz="1200" dirty="0">
                <a:solidFill>
                  <a:srgbClr val="3E3E4B"/>
                </a:solidFill>
                <a:latin typeface="Calibri" pitchFamily="34" charset="0"/>
                <a:ea typeface="Calibri" pitchFamily="34" charset="-122"/>
                <a:cs typeface="Calibri" pitchFamily="34" charset="-120"/>
              </a:rPr>
              <a:t>A Microsoft-managed virtual network that can contain site-to-site VPN, point-to-site VPN, and ExpressRoute gateways. Sizing decisions made here cannot be undone.</a:t>
            </a:r>
            <a:endParaRPr lang="en-US" sz="1200" dirty="0"/>
          </a:p>
        </p:txBody>
      </p:sp>
      <p:sp>
        <p:nvSpPr>
          <p:cNvPr id="11" name="Text 9"/>
          <p:cNvSpPr/>
          <p:nvPr/>
        </p:nvSpPr>
        <p:spPr>
          <a:xfrm>
            <a:off x="548640" y="3611880"/>
            <a:ext cx="548640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Hub address space rules</a:t>
            </a:r>
            <a:endParaRPr lang="en-US" sz="1500" dirty="0"/>
          </a:p>
        </p:txBody>
      </p:sp>
      <p:sp>
        <p:nvSpPr>
          <p:cNvPr id="12" name="Shape 10"/>
          <p:cNvSpPr/>
          <p:nvPr/>
        </p:nvSpPr>
        <p:spPr>
          <a:xfrm>
            <a:off x="548640" y="4023360"/>
            <a:ext cx="3502152" cy="1234440"/>
          </a:xfrm>
          <a:prstGeom prst="roundRect">
            <a:avLst>
              <a:gd name="adj" fmla="val 6667"/>
            </a:avLst>
          </a:prstGeom>
          <a:solidFill>
            <a:srgbClr val="E5F7FC"/>
          </a:solidFill>
          <a:ln w="12700">
            <a:solidFill>
              <a:srgbClr val="E5F7FC"/>
            </a:solidFill>
            <a:prstDash val="solid"/>
          </a:ln>
        </p:spPr>
      </p:sp>
      <p:sp>
        <p:nvSpPr>
          <p:cNvPr id="13" name="Text 11"/>
          <p:cNvSpPr/>
          <p:nvPr/>
        </p:nvSpPr>
        <p:spPr>
          <a:xfrm>
            <a:off x="804672" y="4187952"/>
            <a:ext cx="1097280" cy="457200"/>
          </a:xfrm>
          <a:prstGeom prst="rect">
            <a:avLst/>
          </a:prstGeom>
          <a:noFill/>
          <a:ln/>
        </p:spPr>
        <p:txBody>
          <a:bodyPr wrap="square" lIns="0" tIns="0" rIns="0" bIns="0" rtlCol="0" anchor="ctr"/>
          <a:lstStyle/>
          <a:p>
            <a:pPr indent="0" marL="0">
              <a:buNone/>
            </a:pPr>
            <a:r>
              <a:rPr lang="en-US" sz="2400" b="1" dirty="0">
                <a:solidFill>
                  <a:srgbClr val="F15D23"/>
                </a:solidFill>
                <a:latin typeface="Arial" pitchFamily="34" charset="0"/>
                <a:ea typeface="Arial" pitchFamily="34" charset="-122"/>
                <a:cs typeface="Arial" pitchFamily="34" charset="-120"/>
              </a:rPr>
              <a:t>/24</a:t>
            </a:r>
            <a:endParaRPr lang="en-US" sz="2400" dirty="0"/>
          </a:p>
        </p:txBody>
      </p:sp>
      <p:sp>
        <p:nvSpPr>
          <p:cNvPr id="14" name="Text 12"/>
          <p:cNvSpPr/>
          <p:nvPr/>
        </p:nvSpPr>
        <p:spPr>
          <a:xfrm>
            <a:off x="1920240" y="4224528"/>
            <a:ext cx="1965960" cy="91440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Absolute minimum hub address space</a:t>
            </a:r>
            <a:endParaRPr lang="en-US" sz="1150" dirty="0"/>
          </a:p>
        </p:txBody>
      </p:sp>
      <p:sp>
        <p:nvSpPr>
          <p:cNvPr id="15" name="Shape 13"/>
          <p:cNvSpPr/>
          <p:nvPr/>
        </p:nvSpPr>
        <p:spPr>
          <a:xfrm>
            <a:off x="4270248" y="4023360"/>
            <a:ext cx="3502152" cy="1234440"/>
          </a:xfrm>
          <a:prstGeom prst="roundRect">
            <a:avLst>
              <a:gd name="adj" fmla="val 6667"/>
            </a:avLst>
          </a:prstGeom>
          <a:solidFill>
            <a:srgbClr val="E5F7FC"/>
          </a:solidFill>
          <a:ln w="12700">
            <a:solidFill>
              <a:srgbClr val="E5F7FC"/>
            </a:solidFill>
            <a:prstDash val="solid"/>
          </a:ln>
        </p:spPr>
      </p:sp>
      <p:sp>
        <p:nvSpPr>
          <p:cNvPr id="16" name="Text 14"/>
          <p:cNvSpPr/>
          <p:nvPr/>
        </p:nvSpPr>
        <p:spPr>
          <a:xfrm>
            <a:off x="4526280" y="4187952"/>
            <a:ext cx="1097280" cy="457200"/>
          </a:xfrm>
          <a:prstGeom prst="rect">
            <a:avLst/>
          </a:prstGeom>
          <a:noFill/>
          <a:ln/>
        </p:spPr>
        <p:txBody>
          <a:bodyPr wrap="square" lIns="0" tIns="0" rIns="0" bIns="0" rtlCol="0" anchor="ctr"/>
          <a:lstStyle/>
          <a:p>
            <a:pPr indent="0" marL="0">
              <a:buNone/>
            </a:pPr>
            <a:r>
              <a:rPr lang="en-US" sz="2400" b="1" dirty="0">
                <a:solidFill>
                  <a:srgbClr val="00B3E2"/>
                </a:solidFill>
                <a:latin typeface="Arial" pitchFamily="34" charset="0"/>
                <a:ea typeface="Arial" pitchFamily="34" charset="-122"/>
                <a:cs typeface="Arial" pitchFamily="34" charset="-120"/>
              </a:rPr>
              <a:t>/23</a:t>
            </a:r>
            <a:endParaRPr lang="en-US" sz="2400" dirty="0"/>
          </a:p>
        </p:txBody>
      </p:sp>
      <p:sp>
        <p:nvSpPr>
          <p:cNvPr id="17" name="Text 15"/>
          <p:cNvSpPr/>
          <p:nvPr/>
        </p:nvSpPr>
        <p:spPr>
          <a:xfrm>
            <a:off x="5641848" y="4224528"/>
            <a:ext cx="1965960" cy="91440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Recommended for future scalability</a:t>
            </a:r>
            <a:endParaRPr lang="en-US" sz="1150" dirty="0"/>
          </a:p>
        </p:txBody>
      </p:sp>
      <p:sp>
        <p:nvSpPr>
          <p:cNvPr id="18" name="Shape 16"/>
          <p:cNvSpPr/>
          <p:nvPr/>
        </p:nvSpPr>
        <p:spPr>
          <a:xfrm>
            <a:off x="7991856" y="4023360"/>
            <a:ext cx="3502152" cy="1234440"/>
          </a:xfrm>
          <a:prstGeom prst="roundRect">
            <a:avLst>
              <a:gd name="adj" fmla="val 6667"/>
            </a:avLst>
          </a:prstGeom>
          <a:solidFill>
            <a:srgbClr val="E5F7FC"/>
          </a:solidFill>
          <a:ln w="12700">
            <a:solidFill>
              <a:srgbClr val="E5F7FC"/>
            </a:solidFill>
            <a:prstDash val="solid"/>
          </a:ln>
        </p:spPr>
      </p:sp>
      <p:sp>
        <p:nvSpPr>
          <p:cNvPr id="19" name="Text 17"/>
          <p:cNvSpPr/>
          <p:nvPr/>
        </p:nvSpPr>
        <p:spPr>
          <a:xfrm>
            <a:off x="8247888" y="4187952"/>
            <a:ext cx="1097280" cy="457200"/>
          </a:xfrm>
          <a:prstGeom prst="rect">
            <a:avLst/>
          </a:prstGeom>
          <a:noFill/>
          <a:ln/>
        </p:spPr>
        <p:txBody>
          <a:bodyPr wrap="square" lIns="0" tIns="0" rIns="0" bIns="0" rtlCol="0" anchor="ctr"/>
          <a:lstStyle/>
          <a:p>
            <a:pPr indent="0" marL="0">
              <a:buNone/>
            </a:pPr>
            <a:r>
              <a:rPr lang="en-US" sz="2400" b="1" dirty="0">
                <a:solidFill>
                  <a:srgbClr val="00AD93"/>
                </a:solidFill>
                <a:latin typeface="Arial" pitchFamily="34" charset="0"/>
                <a:ea typeface="Arial" pitchFamily="34" charset="-122"/>
                <a:cs typeface="Arial" pitchFamily="34" charset="-120"/>
              </a:rPr>
              <a:t>/22</a:t>
            </a:r>
            <a:endParaRPr lang="en-US" sz="2400" dirty="0"/>
          </a:p>
        </p:txBody>
      </p:sp>
      <p:sp>
        <p:nvSpPr>
          <p:cNvPr id="20" name="Text 18"/>
          <p:cNvSpPr/>
          <p:nvPr/>
        </p:nvSpPr>
        <p:spPr>
          <a:xfrm>
            <a:off x="9363456" y="4224528"/>
            <a:ext cx="1965960" cy="91440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Recommended when Azure Firewall must scale to maximum throughput</a:t>
            </a:r>
            <a:endParaRPr lang="en-US" sz="1150" dirty="0"/>
          </a:p>
        </p:txBody>
      </p:sp>
      <p:sp>
        <p:nvSpPr>
          <p:cNvPr id="21" name="Shape 19"/>
          <p:cNvSpPr/>
          <p:nvPr/>
        </p:nvSpPr>
        <p:spPr>
          <a:xfrm>
            <a:off x="548640" y="5440680"/>
            <a:ext cx="11091672" cy="658368"/>
          </a:xfrm>
          <a:prstGeom prst="roundRect">
            <a:avLst>
              <a:gd name="adj" fmla="val 12500"/>
            </a:avLst>
          </a:prstGeom>
          <a:solidFill>
            <a:srgbClr val="E2F2E8"/>
          </a:solidFill>
          <a:ln w="12700">
            <a:solidFill>
              <a:srgbClr val="E2F2E8"/>
            </a:solidFill>
            <a:prstDash val="solid"/>
          </a:ln>
        </p:spPr>
      </p:sp>
      <p:sp>
        <p:nvSpPr>
          <p:cNvPr id="22" name="Text 20"/>
          <p:cNvSpPr/>
          <p:nvPr/>
        </p:nvSpPr>
        <p:spPr>
          <a:xfrm>
            <a:off x="914400" y="5440680"/>
            <a:ext cx="10424160" cy="658368"/>
          </a:xfrm>
          <a:prstGeom prst="rect">
            <a:avLst/>
          </a:prstGeom>
          <a:noFill/>
          <a:ln/>
        </p:spPr>
        <p:txBody>
          <a:bodyPr wrap="square" lIns="0" tIns="0" rIns="0" bIns="0" rtlCol="0" anchor="ctr"/>
          <a:lstStyle/>
          <a:p>
            <a:pPr indent="0" marL="0">
              <a:buNone/>
            </a:pPr>
            <a:r>
              <a:rPr lang="en-US" sz="1250" b="1" dirty="0">
                <a:solidFill>
                  <a:srgbClr val="3E3E4B"/>
                </a:solidFill>
                <a:latin typeface="Calibri" pitchFamily="34" charset="0"/>
                <a:ea typeface="Calibri" pitchFamily="34" charset="-122"/>
                <a:cs typeface="Calibri" pitchFamily="34" charset="-120"/>
              </a:rPr>
              <a:t>The hub range must not overlap connected VNets, on-premises networks, or other hubs in the same Virtual WAN, and it cannot be changed after creation.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VIII.C  RESOURCE PLACEMENT</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What goes in the hub, and what does not</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20</a:t>
            </a:r>
            <a:endParaRPr lang="en-US" sz="900" dirty="0"/>
          </a:p>
        </p:txBody>
      </p:sp>
      <p:sp>
        <p:nvSpPr>
          <p:cNvPr id="5" name="Shape 3"/>
          <p:cNvSpPr/>
          <p:nvPr/>
        </p:nvSpPr>
        <p:spPr>
          <a:xfrm>
            <a:off x="548640" y="1554480"/>
            <a:ext cx="5486400" cy="3977640"/>
          </a:xfrm>
          <a:prstGeom prst="roundRect">
            <a:avLst>
              <a:gd name="adj" fmla="val 2069"/>
            </a:avLst>
          </a:prstGeom>
          <a:solidFill>
            <a:srgbClr val="3E3E4B"/>
          </a:solidFill>
          <a:ln w="12700">
            <a:solidFill>
              <a:srgbClr val="3E3E4B"/>
            </a:solidFill>
            <a:prstDash val="solid"/>
          </a:ln>
        </p:spPr>
      </p:sp>
      <p:sp>
        <p:nvSpPr>
          <p:cNvPr id="6" name="Text 4"/>
          <p:cNvSpPr/>
          <p:nvPr/>
        </p:nvSpPr>
        <p:spPr>
          <a:xfrm>
            <a:off x="868680" y="1783080"/>
            <a:ext cx="4846320" cy="320040"/>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Inside the managed hub</a:t>
            </a:r>
            <a:endParaRPr lang="en-US" sz="1600" dirty="0"/>
          </a:p>
        </p:txBody>
      </p:sp>
      <p:sp>
        <p:nvSpPr>
          <p:cNvPr id="7" name="Shape 5"/>
          <p:cNvSpPr/>
          <p:nvPr/>
        </p:nvSpPr>
        <p:spPr>
          <a:xfrm>
            <a:off x="896112" y="2359152"/>
            <a:ext cx="146304" cy="146304"/>
          </a:xfrm>
          <a:prstGeom prst="ellipse">
            <a:avLst/>
          </a:prstGeom>
          <a:solidFill>
            <a:srgbClr val="00B3E2"/>
          </a:solidFill>
          <a:ln w="12700">
            <a:solidFill>
              <a:srgbClr val="333333"/>
            </a:solidFill>
            <a:prstDash val="solid"/>
          </a:ln>
        </p:spPr>
      </p:sp>
      <p:sp>
        <p:nvSpPr>
          <p:cNvPr id="8" name="Text 6"/>
          <p:cNvSpPr/>
          <p:nvPr/>
        </p:nvSpPr>
        <p:spPr>
          <a:xfrm>
            <a:off x="1170432" y="2231136"/>
            <a:ext cx="457200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Site-to-site VPN gateway</a:t>
            </a:r>
            <a:endParaRPr lang="en-US" sz="1250" dirty="0"/>
          </a:p>
        </p:txBody>
      </p:sp>
      <p:sp>
        <p:nvSpPr>
          <p:cNvPr id="9" name="Shape 7"/>
          <p:cNvSpPr/>
          <p:nvPr/>
        </p:nvSpPr>
        <p:spPr>
          <a:xfrm>
            <a:off x="896112" y="3017520"/>
            <a:ext cx="146304" cy="146304"/>
          </a:xfrm>
          <a:prstGeom prst="ellipse">
            <a:avLst/>
          </a:prstGeom>
          <a:solidFill>
            <a:srgbClr val="00B3E2"/>
          </a:solidFill>
          <a:ln w="12700">
            <a:solidFill>
              <a:srgbClr val="333333"/>
            </a:solidFill>
            <a:prstDash val="solid"/>
          </a:ln>
        </p:spPr>
      </p:sp>
      <p:sp>
        <p:nvSpPr>
          <p:cNvPr id="10" name="Text 8"/>
          <p:cNvSpPr/>
          <p:nvPr/>
        </p:nvSpPr>
        <p:spPr>
          <a:xfrm>
            <a:off x="1170432" y="2889504"/>
            <a:ext cx="457200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Point-to-site VPN gateway</a:t>
            </a:r>
            <a:endParaRPr lang="en-US" sz="1250" dirty="0"/>
          </a:p>
        </p:txBody>
      </p:sp>
      <p:sp>
        <p:nvSpPr>
          <p:cNvPr id="11" name="Shape 9"/>
          <p:cNvSpPr/>
          <p:nvPr/>
        </p:nvSpPr>
        <p:spPr>
          <a:xfrm>
            <a:off x="896112" y="3675888"/>
            <a:ext cx="146304" cy="146304"/>
          </a:xfrm>
          <a:prstGeom prst="ellipse">
            <a:avLst/>
          </a:prstGeom>
          <a:solidFill>
            <a:srgbClr val="00B3E2"/>
          </a:solidFill>
          <a:ln w="12700">
            <a:solidFill>
              <a:srgbClr val="333333"/>
            </a:solidFill>
            <a:prstDash val="solid"/>
          </a:ln>
        </p:spPr>
      </p:sp>
      <p:sp>
        <p:nvSpPr>
          <p:cNvPr id="12" name="Text 10"/>
          <p:cNvSpPr/>
          <p:nvPr/>
        </p:nvSpPr>
        <p:spPr>
          <a:xfrm>
            <a:off x="1170432" y="3547872"/>
            <a:ext cx="457200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ExpressRoute gateway</a:t>
            </a:r>
            <a:endParaRPr lang="en-US" sz="1250" dirty="0"/>
          </a:p>
        </p:txBody>
      </p:sp>
      <p:sp>
        <p:nvSpPr>
          <p:cNvPr id="13" name="Shape 11"/>
          <p:cNvSpPr/>
          <p:nvPr/>
        </p:nvSpPr>
        <p:spPr>
          <a:xfrm>
            <a:off x="896112" y="4334256"/>
            <a:ext cx="146304" cy="146304"/>
          </a:xfrm>
          <a:prstGeom prst="ellipse">
            <a:avLst/>
          </a:prstGeom>
          <a:solidFill>
            <a:srgbClr val="00B3E2"/>
          </a:solidFill>
          <a:ln w="12700">
            <a:solidFill>
              <a:srgbClr val="333333"/>
            </a:solidFill>
            <a:prstDash val="solid"/>
          </a:ln>
        </p:spPr>
      </p:sp>
      <p:sp>
        <p:nvSpPr>
          <p:cNvPr id="14" name="Text 12"/>
          <p:cNvSpPr/>
          <p:nvPr/>
        </p:nvSpPr>
        <p:spPr>
          <a:xfrm>
            <a:off x="1170432" y="4206240"/>
            <a:ext cx="4572000" cy="56692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Azure Firewall, by converting the hub to a secured virtual hub</a:t>
            </a:r>
            <a:endParaRPr lang="en-US" sz="1250" dirty="0"/>
          </a:p>
        </p:txBody>
      </p:sp>
      <p:sp>
        <p:nvSpPr>
          <p:cNvPr id="15" name="Shape 13"/>
          <p:cNvSpPr/>
          <p:nvPr/>
        </p:nvSpPr>
        <p:spPr>
          <a:xfrm>
            <a:off x="6245352" y="1554480"/>
            <a:ext cx="5394960" cy="3977640"/>
          </a:xfrm>
          <a:prstGeom prst="roundRect">
            <a:avLst>
              <a:gd name="adj" fmla="val 2069"/>
            </a:avLst>
          </a:prstGeom>
          <a:solidFill>
            <a:srgbClr val="E5F7FC"/>
          </a:solidFill>
          <a:ln w="12700">
            <a:solidFill>
              <a:srgbClr val="E5F7FC"/>
            </a:solidFill>
            <a:prstDash val="solid"/>
          </a:ln>
        </p:spPr>
      </p:sp>
      <p:sp>
        <p:nvSpPr>
          <p:cNvPr id="16" name="Text 14"/>
          <p:cNvSpPr/>
          <p:nvPr/>
        </p:nvSpPr>
        <p:spPr>
          <a:xfrm>
            <a:off x="6537960" y="1783080"/>
            <a:ext cx="4846320" cy="320040"/>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In connected shared-services VNets</a:t>
            </a:r>
            <a:endParaRPr lang="en-US" sz="1600" dirty="0"/>
          </a:p>
        </p:txBody>
      </p:sp>
      <p:sp>
        <p:nvSpPr>
          <p:cNvPr id="17" name="Shape 15"/>
          <p:cNvSpPr/>
          <p:nvPr/>
        </p:nvSpPr>
        <p:spPr>
          <a:xfrm>
            <a:off x="6565392" y="2331720"/>
            <a:ext cx="146304" cy="146304"/>
          </a:xfrm>
          <a:prstGeom prst="ellipse">
            <a:avLst/>
          </a:prstGeom>
          <a:solidFill>
            <a:srgbClr val="00AD93"/>
          </a:solidFill>
          <a:ln w="12700">
            <a:solidFill>
              <a:srgbClr val="333333"/>
            </a:solidFill>
            <a:prstDash val="solid"/>
          </a:ln>
        </p:spPr>
      </p:sp>
      <p:sp>
        <p:nvSpPr>
          <p:cNvPr id="18" name="Text 16"/>
          <p:cNvSpPr/>
          <p:nvPr/>
        </p:nvSpPr>
        <p:spPr>
          <a:xfrm>
            <a:off x="6839712" y="2212848"/>
            <a:ext cx="4480560" cy="530352"/>
          </a:xfrm>
          <a:prstGeom prst="rect">
            <a:avLst/>
          </a:prstGeom>
          <a:noFill/>
          <a:ln/>
        </p:spPr>
        <p:txBody>
          <a:bodyPr wrap="square" lIns="0" tIns="0" rIns="0" bIns="0" rtlCol="0" anchor="ctr"/>
          <a:lstStyle/>
          <a:p>
            <a:pPr indent="0" marL="0">
              <a:buNone/>
            </a:pPr>
            <a:r>
              <a:rPr lang="en-US" sz="1250" dirty="0">
                <a:solidFill>
                  <a:srgbClr val="3E3E4B"/>
                </a:solidFill>
                <a:latin typeface="Calibri" pitchFamily="34" charset="0"/>
                <a:ea typeface="Calibri" pitchFamily="34" charset="-122"/>
                <a:cs typeface="Calibri" pitchFamily="34" charset="-120"/>
              </a:rPr>
              <a:t>Jump boxes</a:t>
            </a:r>
            <a:endParaRPr lang="en-US" sz="1250" dirty="0"/>
          </a:p>
        </p:txBody>
      </p:sp>
      <p:sp>
        <p:nvSpPr>
          <p:cNvPr id="19" name="Shape 17"/>
          <p:cNvSpPr/>
          <p:nvPr/>
        </p:nvSpPr>
        <p:spPr>
          <a:xfrm>
            <a:off x="6565392" y="2935224"/>
            <a:ext cx="146304" cy="146304"/>
          </a:xfrm>
          <a:prstGeom prst="ellipse">
            <a:avLst/>
          </a:prstGeom>
          <a:solidFill>
            <a:srgbClr val="00AD93"/>
          </a:solidFill>
          <a:ln w="12700">
            <a:solidFill>
              <a:srgbClr val="333333"/>
            </a:solidFill>
            <a:prstDash val="solid"/>
          </a:ln>
        </p:spPr>
      </p:sp>
      <p:sp>
        <p:nvSpPr>
          <p:cNvPr id="20" name="Text 18"/>
          <p:cNvSpPr/>
          <p:nvPr/>
        </p:nvSpPr>
        <p:spPr>
          <a:xfrm>
            <a:off x="6839712" y="2816352"/>
            <a:ext cx="4480560" cy="530352"/>
          </a:xfrm>
          <a:prstGeom prst="rect">
            <a:avLst/>
          </a:prstGeom>
          <a:noFill/>
          <a:ln/>
        </p:spPr>
        <p:txBody>
          <a:bodyPr wrap="square" lIns="0" tIns="0" rIns="0" bIns="0" rtlCol="0" anchor="ctr"/>
          <a:lstStyle/>
          <a:p>
            <a:pPr indent="0" marL="0">
              <a:buNone/>
            </a:pPr>
            <a:r>
              <a:rPr lang="en-US" sz="1250" dirty="0">
                <a:solidFill>
                  <a:srgbClr val="3E3E4B"/>
                </a:solidFill>
                <a:latin typeface="Calibri" pitchFamily="34" charset="0"/>
                <a:ea typeface="Calibri" pitchFamily="34" charset="-122"/>
                <a:cs typeface="Calibri" pitchFamily="34" charset="-120"/>
              </a:rPr>
              <a:t>Azure Bastion</a:t>
            </a:r>
            <a:endParaRPr lang="en-US" sz="1250" dirty="0"/>
          </a:p>
        </p:txBody>
      </p:sp>
      <p:sp>
        <p:nvSpPr>
          <p:cNvPr id="21" name="Shape 19"/>
          <p:cNvSpPr/>
          <p:nvPr/>
        </p:nvSpPr>
        <p:spPr>
          <a:xfrm>
            <a:off x="6565392" y="3538728"/>
            <a:ext cx="146304" cy="146304"/>
          </a:xfrm>
          <a:prstGeom prst="ellipse">
            <a:avLst/>
          </a:prstGeom>
          <a:solidFill>
            <a:srgbClr val="00AD93"/>
          </a:solidFill>
          <a:ln w="12700">
            <a:solidFill>
              <a:srgbClr val="333333"/>
            </a:solidFill>
            <a:prstDash val="solid"/>
          </a:ln>
        </p:spPr>
      </p:sp>
      <p:sp>
        <p:nvSpPr>
          <p:cNvPr id="22" name="Text 20"/>
          <p:cNvSpPr/>
          <p:nvPr/>
        </p:nvSpPr>
        <p:spPr>
          <a:xfrm>
            <a:off x="6839712" y="3419856"/>
            <a:ext cx="4480560" cy="530352"/>
          </a:xfrm>
          <a:prstGeom prst="rect">
            <a:avLst/>
          </a:prstGeom>
          <a:noFill/>
          <a:ln/>
        </p:spPr>
        <p:txBody>
          <a:bodyPr wrap="square" lIns="0" tIns="0" rIns="0" bIns="0" rtlCol="0" anchor="ctr"/>
          <a:lstStyle/>
          <a:p>
            <a:pPr indent="0" marL="0">
              <a:buNone/>
            </a:pPr>
            <a:r>
              <a:rPr lang="en-US" sz="1250" dirty="0">
                <a:solidFill>
                  <a:srgbClr val="3E3E4B"/>
                </a:solidFill>
                <a:latin typeface="Calibri" pitchFamily="34" charset="0"/>
                <a:ea typeface="Calibri" pitchFamily="34" charset="-122"/>
                <a:cs typeface="Calibri" pitchFamily="34" charset="-120"/>
              </a:rPr>
              <a:t>Application Gateway</a:t>
            </a:r>
            <a:endParaRPr lang="en-US" sz="1250" dirty="0"/>
          </a:p>
        </p:txBody>
      </p:sp>
      <p:sp>
        <p:nvSpPr>
          <p:cNvPr id="23" name="Shape 21"/>
          <p:cNvSpPr/>
          <p:nvPr/>
        </p:nvSpPr>
        <p:spPr>
          <a:xfrm>
            <a:off x="6565392" y="4142232"/>
            <a:ext cx="146304" cy="146304"/>
          </a:xfrm>
          <a:prstGeom prst="ellipse">
            <a:avLst/>
          </a:prstGeom>
          <a:solidFill>
            <a:srgbClr val="00AD93"/>
          </a:solidFill>
          <a:ln w="12700">
            <a:solidFill>
              <a:srgbClr val="333333"/>
            </a:solidFill>
            <a:prstDash val="solid"/>
          </a:ln>
        </p:spPr>
      </p:sp>
      <p:sp>
        <p:nvSpPr>
          <p:cNvPr id="24" name="Text 22"/>
          <p:cNvSpPr/>
          <p:nvPr/>
        </p:nvSpPr>
        <p:spPr>
          <a:xfrm>
            <a:off x="6839712" y="4023360"/>
            <a:ext cx="4480560" cy="530352"/>
          </a:xfrm>
          <a:prstGeom prst="rect">
            <a:avLst/>
          </a:prstGeom>
          <a:noFill/>
          <a:ln/>
        </p:spPr>
        <p:txBody>
          <a:bodyPr wrap="square" lIns="0" tIns="0" rIns="0" bIns="0" rtlCol="0" anchor="ctr"/>
          <a:lstStyle/>
          <a:p>
            <a:pPr indent="0" marL="0">
              <a:buNone/>
            </a:pPr>
            <a:r>
              <a:rPr lang="en-US" sz="1250" dirty="0">
                <a:solidFill>
                  <a:srgbClr val="3E3E4B"/>
                </a:solidFill>
                <a:latin typeface="Calibri" pitchFamily="34" charset="0"/>
                <a:ea typeface="Calibri" pitchFamily="34" charset="-122"/>
                <a:cs typeface="Calibri" pitchFamily="34" charset="-120"/>
              </a:rPr>
              <a:t>DNS Private Resolver</a:t>
            </a:r>
            <a:endParaRPr lang="en-US" sz="1250" dirty="0"/>
          </a:p>
        </p:txBody>
      </p:sp>
      <p:sp>
        <p:nvSpPr>
          <p:cNvPr id="25" name="Shape 23"/>
          <p:cNvSpPr/>
          <p:nvPr/>
        </p:nvSpPr>
        <p:spPr>
          <a:xfrm>
            <a:off x="6565392" y="4745736"/>
            <a:ext cx="146304" cy="146304"/>
          </a:xfrm>
          <a:prstGeom prst="ellipse">
            <a:avLst/>
          </a:prstGeom>
          <a:solidFill>
            <a:srgbClr val="00AD93"/>
          </a:solidFill>
          <a:ln w="12700">
            <a:solidFill>
              <a:srgbClr val="333333"/>
            </a:solidFill>
            <a:prstDash val="solid"/>
          </a:ln>
        </p:spPr>
      </p:sp>
      <p:sp>
        <p:nvSpPr>
          <p:cNvPr id="26" name="Text 24"/>
          <p:cNvSpPr/>
          <p:nvPr/>
        </p:nvSpPr>
        <p:spPr>
          <a:xfrm>
            <a:off x="6839712" y="4626864"/>
            <a:ext cx="4480560" cy="530352"/>
          </a:xfrm>
          <a:prstGeom prst="rect">
            <a:avLst/>
          </a:prstGeom>
          <a:noFill/>
          <a:ln/>
        </p:spPr>
        <p:txBody>
          <a:bodyPr wrap="square" lIns="0" tIns="0" rIns="0" bIns="0" rtlCol="0" anchor="ctr"/>
          <a:lstStyle/>
          <a:p>
            <a:pPr indent="0" marL="0">
              <a:buNone/>
            </a:pPr>
            <a:r>
              <a:rPr lang="en-US" sz="1250" dirty="0">
                <a:solidFill>
                  <a:srgbClr val="3E3E4B"/>
                </a:solidFill>
                <a:latin typeface="Calibri" pitchFamily="34" charset="0"/>
                <a:ea typeface="Calibri" pitchFamily="34" charset="-122"/>
                <a:cs typeface="Calibri" pitchFamily="34" charset="-120"/>
              </a:rPr>
              <a:t>Domain controllers and other customer VMs</a:t>
            </a:r>
            <a:endParaRPr lang="en-US" sz="1250" dirty="0"/>
          </a:p>
        </p:txBody>
      </p:sp>
      <p:sp>
        <p:nvSpPr>
          <p:cNvPr id="27" name="Text 25"/>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Native Azure workloads remain in connected spoke VNets. The managed hub does not provide customer subnets for arbitrary VMs or Application Gateway.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IX  STANDARD VERSUS BASIC</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Only one SKU can build this architecture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21</a:t>
            </a:r>
            <a:endParaRPr lang="en-US" sz="900" dirty="0"/>
          </a:p>
        </p:txBody>
      </p:sp>
      <p:sp>
        <p:nvSpPr>
          <p:cNvPr id="5" name="Shape 3"/>
          <p:cNvSpPr/>
          <p:nvPr/>
        </p:nvSpPr>
        <p:spPr>
          <a:xfrm>
            <a:off x="548640" y="1600200"/>
            <a:ext cx="5440680" cy="3566160"/>
          </a:xfrm>
          <a:prstGeom prst="roundRect">
            <a:avLst>
              <a:gd name="adj" fmla="val 2308"/>
            </a:avLst>
          </a:prstGeom>
          <a:solidFill>
            <a:srgbClr val="EBEDED"/>
          </a:solidFill>
          <a:ln w="12700">
            <a:solidFill>
              <a:srgbClr val="EBEDED"/>
            </a:solidFill>
            <a:prstDash val="solid"/>
          </a:ln>
        </p:spPr>
      </p:sp>
      <p:sp>
        <p:nvSpPr>
          <p:cNvPr id="6" name="Shape 4"/>
          <p:cNvSpPr/>
          <p:nvPr/>
        </p:nvSpPr>
        <p:spPr>
          <a:xfrm>
            <a:off x="868680" y="1874520"/>
            <a:ext cx="457200" cy="457200"/>
          </a:xfrm>
          <a:prstGeom prst="ellipse">
            <a:avLst/>
          </a:prstGeom>
          <a:solidFill>
            <a:srgbClr val="F15D23"/>
          </a:solidFill>
          <a:ln w="12700">
            <a:solidFill>
              <a:srgbClr val="F15D23"/>
            </a:solidFill>
            <a:prstDash val="solid"/>
          </a:ln>
        </p:spPr>
      </p:sp>
      <p:sp>
        <p:nvSpPr>
          <p:cNvPr id="7" name="Text 5"/>
          <p:cNvSpPr/>
          <p:nvPr/>
        </p:nvSpPr>
        <p:spPr>
          <a:xfrm>
            <a:off x="868680" y="18745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8" name="Text 6"/>
          <p:cNvSpPr/>
          <p:nvPr/>
        </p:nvSpPr>
        <p:spPr>
          <a:xfrm>
            <a:off x="1508760" y="1883664"/>
            <a:ext cx="4206240" cy="365760"/>
          </a:xfrm>
          <a:prstGeom prst="rect">
            <a:avLst/>
          </a:prstGeom>
          <a:noFill/>
          <a:ln/>
        </p:spPr>
        <p:txBody>
          <a:bodyPr wrap="square" lIns="0" tIns="0" rIns="0" bIns="0" rtlCol="0" anchor="ctr"/>
          <a:lstStyle/>
          <a:p>
            <a:pPr indent="0" marL="0">
              <a:buNone/>
            </a:pPr>
            <a:r>
              <a:rPr lang="en-US" sz="1800" b="1" dirty="0">
                <a:solidFill>
                  <a:srgbClr val="3E3E4B"/>
                </a:solidFill>
                <a:latin typeface="Arial" pitchFamily="34" charset="0"/>
                <a:ea typeface="Arial" pitchFamily="34" charset="-122"/>
                <a:cs typeface="Arial" pitchFamily="34" charset="-120"/>
              </a:rPr>
              <a:t>Basic Virtual WAN</a:t>
            </a:r>
            <a:endParaRPr lang="en-US" sz="1800" dirty="0"/>
          </a:p>
        </p:txBody>
      </p:sp>
      <p:sp>
        <p:nvSpPr>
          <p:cNvPr id="9" name="Text 7"/>
          <p:cNvSpPr/>
          <p:nvPr/>
        </p:nvSpPr>
        <p:spPr>
          <a:xfrm>
            <a:off x="868680" y="2514600"/>
            <a:ext cx="4800600" cy="23774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Site-to-site VPN and limited branch connectivity within a single hub</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Basic hubs can only be used for site-to-site connections</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No ExpressRoute gateway capability, so the AVS private cloud cannot be patched into the hub</a:t>
            </a:r>
            <a:endParaRPr lang="en-US" sz="1250" dirty="0"/>
          </a:p>
        </p:txBody>
      </p:sp>
      <p:sp>
        <p:nvSpPr>
          <p:cNvPr id="10" name="Shape 8"/>
          <p:cNvSpPr/>
          <p:nvPr/>
        </p:nvSpPr>
        <p:spPr>
          <a:xfrm>
            <a:off x="6199632" y="1600200"/>
            <a:ext cx="5440680" cy="3566160"/>
          </a:xfrm>
          <a:prstGeom prst="roundRect">
            <a:avLst>
              <a:gd name="adj" fmla="val 2308"/>
            </a:avLst>
          </a:prstGeom>
          <a:solidFill>
            <a:srgbClr val="E5F7FC"/>
          </a:solidFill>
          <a:ln w="12700">
            <a:solidFill>
              <a:srgbClr val="E5F7FC"/>
            </a:solidFill>
            <a:prstDash val="solid"/>
          </a:ln>
        </p:spPr>
      </p:sp>
      <p:sp>
        <p:nvSpPr>
          <p:cNvPr id="11" name="Shape 9"/>
          <p:cNvSpPr/>
          <p:nvPr/>
        </p:nvSpPr>
        <p:spPr>
          <a:xfrm>
            <a:off x="6519672" y="1874520"/>
            <a:ext cx="457200" cy="457200"/>
          </a:xfrm>
          <a:prstGeom prst="ellipse">
            <a:avLst/>
          </a:prstGeom>
          <a:solidFill>
            <a:srgbClr val="00B3E2"/>
          </a:solidFill>
          <a:ln w="12700">
            <a:solidFill>
              <a:srgbClr val="00B3E2"/>
            </a:solidFill>
            <a:prstDash val="solid"/>
          </a:ln>
        </p:spPr>
      </p:sp>
      <p:sp>
        <p:nvSpPr>
          <p:cNvPr id="12" name="Text 10"/>
          <p:cNvSpPr/>
          <p:nvPr/>
        </p:nvSpPr>
        <p:spPr>
          <a:xfrm>
            <a:off x="6519672" y="18745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a:t>
            </a:r>
            <a:endParaRPr lang="en-US" sz="1300" dirty="0"/>
          </a:p>
        </p:txBody>
      </p:sp>
      <p:sp>
        <p:nvSpPr>
          <p:cNvPr id="13" name="Text 11"/>
          <p:cNvSpPr/>
          <p:nvPr/>
        </p:nvSpPr>
        <p:spPr>
          <a:xfrm>
            <a:off x="7159752" y="1883664"/>
            <a:ext cx="4206240" cy="365760"/>
          </a:xfrm>
          <a:prstGeom prst="rect">
            <a:avLst/>
          </a:prstGeom>
          <a:noFill/>
          <a:ln/>
        </p:spPr>
        <p:txBody>
          <a:bodyPr wrap="square" lIns="0" tIns="0" rIns="0" bIns="0" rtlCol="0" anchor="ctr"/>
          <a:lstStyle/>
          <a:p>
            <a:pPr indent="0" marL="0">
              <a:buNone/>
            </a:pPr>
            <a:r>
              <a:rPr lang="en-US" sz="1800" b="1" dirty="0">
                <a:solidFill>
                  <a:srgbClr val="00B3E2"/>
                </a:solidFill>
                <a:latin typeface="Arial" pitchFamily="34" charset="0"/>
                <a:ea typeface="Arial" pitchFamily="34" charset="-122"/>
                <a:cs typeface="Arial" pitchFamily="34" charset="-120"/>
              </a:rPr>
              <a:t>Standard Virtual WAN</a:t>
            </a:r>
            <a:endParaRPr lang="en-US" sz="1800" dirty="0"/>
          </a:p>
        </p:txBody>
      </p:sp>
      <p:sp>
        <p:nvSpPr>
          <p:cNvPr id="14" name="Text 12"/>
          <p:cNvSpPr/>
          <p:nvPr/>
        </p:nvSpPr>
        <p:spPr>
          <a:xfrm>
            <a:off x="6519672" y="2514600"/>
            <a:ext cx="4800600" cy="23774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Microsoft explicitly instructs customers to select Standard for the documented AVS-over-VPN configuration</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Supports site-to-site VPN, point-to-site VPN, ExpressRoute, VNet connectivity, centralised routing, and full-mesh hubs</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Provides the ExpressRoute gateway the design needs even with no customer ExpressRoute circuit</a:t>
            </a:r>
            <a:endParaRPr lang="en-US" sz="1250" dirty="0"/>
          </a:p>
        </p:txBody>
      </p:sp>
      <p:sp>
        <p:nvSpPr>
          <p:cNvPr id="15" name="Shape 13"/>
          <p:cNvSpPr/>
          <p:nvPr/>
        </p:nvSpPr>
        <p:spPr>
          <a:xfrm>
            <a:off x="548640" y="5349240"/>
            <a:ext cx="11091672" cy="685800"/>
          </a:xfrm>
          <a:prstGeom prst="roundRect">
            <a:avLst>
              <a:gd name="adj" fmla="val 12000"/>
            </a:avLst>
          </a:prstGeom>
          <a:solidFill>
            <a:srgbClr val="E2F2E8"/>
          </a:solidFill>
          <a:ln w="12700">
            <a:solidFill>
              <a:srgbClr val="E2F2E8"/>
            </a:solidFill>
            <a:prstDash val="solid"/>
          </a:ln>
        </p:spPr>
      </p:sp>
      <p:sp>
        <p:nvSpPr>
          <p:cNvPr id="16" name="Text 14"/>
          <p:cNvSpPr/>
          <p:nvPr/>
        </p:nvSpPr>
        <p:spPr>
          <a:xfrm>
            <a:off x="914400" y="5349240"/>
            <a:ext cx="10424160" cy="685800"/>
          </a:xfrm>
          <a:prstGeom prst="rect">
            <a:avLst/>
          </a:prstGeom>
          <a:noFill/>
          <a:ln/>
        </p:spPr>
        <p:txBody>
          <a:bodyPr wrap="square" lIns="0" tIns="0" rIns="0" bIns="0" rtlCol="0" anchor="ctr"/>
          <a:lstStyle/>
          <a:p>
            <a:pPr indent="0" marL="0">
              <a:buNone/>
            </a:pPr>
            <a:r>
              <a:rPr lang="en-US" sz="1300" b="1" dirty="0">
                <a:solidFill>
                  <a:srgbClr val="3E3E4B"/>
                </a:solidFill>
                <a:latin typeface="Calibri" pitchFamily="34" charset="0"/>
                <a:ea typeface="Calibri" pitchFamily="34" charset="-122"/>
                <a:cs typeface="Calibri" pitchFamily="34" charset="-120"/>
              </a:rPr>
              <a:t>The AVS design needs two gateway types in one hub. That single requirement forces the Standard SKU.</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  SITE-TO-SITE VPN GATEWAY</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Deployment and scale units</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22</a:t>
            </a:r>
            <a:endParaRPr lang="en-US" sz="900" dirty="0"/>
          </a:p>
        </p:txBody>
      </p:sp>
      <p:sp>
        <p:nvSpPr>
          <p:cNvPr id="5" name="Shape 3"/>
          <p:cNvSpPr/>
          <p:nvPr/>
        </p:nvSpPr>
        <p:spPr>
          <a:xfrm>
            <a:off x="548640" y="1554480"/>
            <a:ext cx="5440680" cy="1965960"/>
          </a:xfrm>
          <a:prstGeom prst="roundRect">
            <a:avLst>
              <a:gd name="adj" fmla="val 4186"/>
            </a:avLst>
          </a:prstGeom>
          <a:solidFill>
            <a:srgbClr val="E5F7FC"/>
          </a:solidFill>
          <a:ln w="12700">
            <a:solidFill>
              <a:srgbClr val="E5F7FC"/>
            </a:solidFill>
            <a:prstDash val="solid"/>
          </a:ln>
        </p:spPr>
      </p:sp>
      <p:sp>
        <p:nvSpPr>
          <p:cNvPr id="6" name="Text 4"/>
          <p:cNvSpPr/>
          <p:nvPr/>
        </p:nvSpPr>
        <p:spPr>
          <a:xfrm>
            <a:off x="868680" y="1755648"/>
            <a:ext cx="475488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Deployment</a:t>
            </a:r>
            <a:endParaRPr lang="en-US" sz="1450" dirty="0"/>
          </a:p>
        </p:txBody>
      </p:sp>
      <p:sp>
        <p:nvSpPr>
          <p:cNvPr id="7" name="Text 5"/>
          <p:cNvSpPr/>
          <p:nvPr/>
        </p:nvSpPr>
        <p:spPr>
          <a:xfrm>
            <a:off x="868680" y="2121408"/>
            <a:ext cx="4800600" cy="12801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Enable the gateway while creating or updating the virtual hub</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Azure deploys redundant instances and manages their public IP addresses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Hub and gateway provisioning takes roughly 30 minutes</a:t>
            </a:r>
            <a:endParaRPr lang="en-US" sz="1200" dirty="0"/>
          </a:p>
        </p:txBody>
      </p:sp>
      <p:sp>
        <p:nvSpPr>
          <p:cNvPr id="8" name="Shape 6"/>
          <p:cNvSpPr/>
          <p:nvPr/>
        </p:nvSpPr>
        <p:spPr>
          <a:xfrm>
            <a:off x="6199632" y="1554480"/>
            <a:ext cx="5440680" cy="1965960"/>
          </a:xfrm>
          <a:prstGeom prst="roundRect">
            <a:avLst>
              <a:gd name="adj" fmla="val 4186"/>
            </a:avLst>
          </a:prstGeom>
          <a:solidFill>
            <a:srgbClr val="EBEDED"/>
          </a:solidFill>
          <a:ln w="12700">
            <a:solidFill>
              <a:srgbClr val="EBEDED"/>
            </a:solidFill>
            <a:prstDash val="solid"/>
          </a:ln>
        </p:spPr>
      </p:sp>
      <p:sp>
        <p:nvSpPr>
          <p:cNvPr id="9" name="Text 7"/>
          <p:cNvSpPr/>
          <p:nvPr/>
        </p:nvSpPr>
        <p:spPr>
          <a:xfrm>
            <a:off x="6519672" y="1755648"/>
            <a:ext cx="475488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Scale units</a:t>
            </a:r>
            <a:endParaRPr lang="en-US" sz="1450" dirty="0"/>
          </a:p>
        </p:txBody>
      </p:sp>
      <p:sp>
        <p:nvSpPr>
          <p:cNvPr id="10" name="Text 8"/>
          <p:cNvSpPr/>
          <p:nvPr/>
        </p:nvSpPr>
        <p:spPr>
          <a:xfrm>
            <a:off x="6519672" y="2121408"/>
            <a:ext cx="4800600" cy="128016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Scale units set the aggregate throughput of the Virtual WAN VPN gateway</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One scale unit is 500 Mbps and deploys two redundant instances, each capped at 500 Mbps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The pair provides redundancy; documentation does not promise a single flow gets 1 Gbps</a:t>
            </a:r>
            <a:endParaRPr lang="en-US" sz="1200" dirty="0"/>
          </a:p>
        </p:txBody>
      </p:sp>
      <p:sp>
        <p:nvSpPr>
          <p:cNvPr id="11" name="Text 9"/>
          <p:cNvSpPr/>
          <p:nvPr/>
        </p:nvSpPr>
        <p:spPr>
          <a:xfrm>
            <a:off x="548640" y="3749040"/>
            <a:ext cx="548640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Aggregate demand example</a:t>
            </a:r>
            <a:endParaRPr lang="en-US" sz="1500" dirty="0"/>
          </a:p>
        </p:txBody>
      </p:sp>
      <p:sp>
        <p:nvSpPr>
          <p:cNvPr id="12" name="Shape 10"/>
          <p:cNvSpPr/>
          <p:nvPr/>
        </p:nvSpPr>
        <p:spPr>
          <a:xfrm>
            <a:off x="548640" y="4160520"/>
            <a:ext cx="5440680" cy="1783080"/>
          </a:xfrm>
          <a:prstGeom prst="roundRect">
            <a:avLst>
              <a:gd name="adj" fmla="val 4615"/>
            </a:avLst>
          </a:prstGeom>
          <a:solidFill>
            <a:srgbClr val="3E3E4B"/>
          </a:solidFill>
          <a:ln w="12700">
            <a:solidFill>
              <a:srgbClr val="3E3E4B"/>
            </a:solidFill>
            <a:prstDash val="solid"/>
          </a:ln>
        </p:spPr>
      </p:sp>
      <p:sp>
        <p:nvSpPr>
          <p:cNvPr id="13" name="Text 11"/>
          <p:cNvSpPr/>
          <p:nvPr/>
        </p:nvSpPr>
        <p:spPr>
          <a:xfrm>
            <a:off x="868680" y="4315968"/>
            <a:ext cx="4846320" cy="1463040"/>
          </a:xfrm>
          <a:prstGeom prst="rect">
            <a:avLst/>
          </a:prstGeom>
          <a:noFill/>
          <a:ln/>
        </p:spPr>
        <p:txBody>
          <a:bodyPr wrap="square" lIns="0" tIns="0" rIns="0" bIns="0" rtlCol="0" anchor="t"/>
          <a:lstStyle/>
          <a:p>
            <a:pPr indent="0" marL="0">
              <a:spcAft>
                <a:spcPts val="400"/>
              </a:spcAft>
              <a:buNone/>
            </a:pPr>
            <a:r>
              <a:rPr lang="en-US" sz="2000" b="1" dirty="0">
                <a:solidFill>
                  <a:srgbClr val="00B3E2"/>
                </a:solidFill>
                <a:latin typeface="Arial" pitchFamily="34" charset="0"/>
                <a:ea typeface="Arial" pitchFamily="34" charset="-122"/>
                <a:cs typeface="Arial" pitchFamily="34" charset="-120"/>
              </a:rPr>
              <a:t>200 Mbps</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  headquarters</a:t>
            </a:r>
            <a:endParaRPr lang="en-US" sz="2000" dirty="0"/>
          </a:p>
          <a:p>
            <a:pPr indent="0" marL="0">
              <a:spcAft>
                <a:spcPts val="400"/>
              </a:spcAft>
              <a:buNone/>
            </a:pPr>
            <a:r>
              <a:rPr lang="en-US" sz="2000" b="1" dirty="0">
                <a:solidFill>
                  <a:srgbClr val="B2E8F6"/>
                </a:solidFill>
                <a:latin typeface="Arial" pitchFamily="34" charset="0"/>
                <a:ea typeface="Arial" pitchFamily="34" charset="-122"/>
                <a:cs typeface="Arial" pitchFamily="34" charset="-120"/>
              </a:rPr>
              <a:t>+ 50 x 10 Mbps</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  branches</a:t>
            </a:r>
            <a:endParaRPr lang="en-US" sz="2000" dirty="0"/>
          </a:p>
          <a:p>
            <a:pPr indent="0" marL="0">
              <a:spcAft>
                <a:spcPts val="400"/>
              </a:spcAft>
              <a:buNone/>
            </a:pPr>
            <a:r>
              <a:rPr lang="en-US" sz="2200" b="1" dirty="0">
                <a:solidFill>
                  <a:srgbClr val="FFFFFF"/>
                </a:solidFill>
                <a:latin typeface="Arial" pitchFamily="34" charset="0"/>
                <a:ea typeface="Arial" pitchFamily="34" charset="-122"/>
                <a:cs typeface="Arial" pitchFamily="34" charset="-120"/>
              </a:rPr>
              <a:t>= 700 Mbps</a:t>
            </a:r>
            <a:pPr indent="0" marL="0">
              <a:spcAft>
                <a:spcPts val="400"/>
              </a:spcAft>
              <a:buNone/>
            </a:pPr>
            <a:r>
              <a:rPr lang="en-US" sz="1300" dirty="0">
                <a:solidFill>
                  <a:srgbClr val="A9A9B8"/>
                </a:solidFill>
                <a:latin typeface="Calibri" pitchFamily="34" charset="0"/>
                <a:ea typeface="Calibri" pitchFamily="34" charset="-122"/>
                <a:cs typeface="Calibri" pitchFamily="34" charset="-120"/>
              </a:rPr>
              <a:t>  potential aggregate demand</a:t>
            </a:r>
            <a:endParaRPr lang="en-US" sz="2000" dirty="0"/>
          </a:p>
        </p:txBody>
      </p:sp>
      <p:graphicFrame>
        <p:nvGraphicFramePr>
          <p:cNvPr id="14" name="Chart 0" descr=""/>
          <p:cNvGraphicFramePr/>
          <p:nvPr/>
        </p:nvGraphicFramePr>
        <p:xfrm>
          <a:off x="6199632" y="3977640"/>
          <a:ext cx="5440680" cy="201168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Transcript-derived arithmetic. Select enough scale units for peak load and leave headroom for encryption, bursts, failover, and migration traffic.</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XI  INTERNET ROUTING PREFERENCE</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Two settings that are easy to confuse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23</a:t>
            </a:r>
            <a:endParaRPr lang="en-US" sz="900" dirty="0"/>
          </a:p>
        </p:txBody>
      </p:sp>
      <p:sp>
        <p:nvSpPr>
          <p:cNvPr id="5" name="Shape 3"/>
          <p:cNvSpPr/>
          <p:nvPr/>
        </p:nvSpPr>
        <p:spPr>
          <a:xfrm>
            <a:off x="548640" y="1536192"/>
            <a:ext cx="5440680" cy="2194560"/>
          </a:xfrm>
          <a:prstGeom prst="roundRect">
            <a:avLst>
              <a:gd name="adj" fmla="val 3750"/>
            </a:avLst>
          </a:prstGeom>
          <a:solidFill>
            <a:srgbClr val="E5F7FC"/>
          </a:solidFill>
          <a:ln w="12700">
            <a:solidFill>
              <a:srgbClr val="E5F7FC"/>
            </a:solidFill>
            <a:prstDash val="solid"/>
          </a:ln>
        </p:spPr>
      </p:sp>
      <p:sp>
        <p:nvSpPr>
          <p:cNvPr id="6" name="Text 4"/>
          <p:cNvSpPr/>
          <p:nvPr/>
        </p:nvSpPr>
        <p:spPr>
          <a:xfrm>
            <a:off x="868680" y="1737360"/>
            <a:ext cx="475488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Microsoft network routing</a:t>
            </a:r>
            <a:endParaRPr lang="en-US" sz="1450" dirty="0"/>
          </a:p>
        </p:txBody>
      </p:sp>
      <p:sp>
        <p:nvSpPr>
          <p:cNvPr id="7" name="Text 5"/>
          <p:cNvSpPr/>
          <p:nvPr/>
        </p:nvSpPr>
        <p:spPr>
          <a:xfrm>
            <a:off x="868680" y="2103120"/>
            <a:ext cx="4800600" cy="1463040"/>
          </a:xfrm>
          <a:prstGeom prst="rect">
            <a:avLst/>
          </a:prstGeom>
          <a:noFill/>
          <a:ln/>
        </p:spPr>
        <p:txBody>
          <a:bodyPr wrap="square" lIns="0" tIns="0" rIns="0" bIns="0" rtlCol="0" anchor="t"/>
          <a:lstStyle/>
          <a:p>
            <a:pPr indent="0" marL="0">
              <a:buNone/>
            </a:pPr>
            <a:r>
              <a:rPr lang="en-US" sz="1200" dirty="0">
                <a:solidFill>
                  <a:srgbClr val="3E3E4B"/>
                </a:solidFill>
                <a:latin typeface="Calibri" pitchFamily="34" charset="0"/>
                <a:ea typeface="Calibri" pitchFamily="34" charset="-122"/>
                <a:cs typeface="Calibri" pitchFamily="34" charset="-120"/>
              </a:rPr>
              <a:t>Also called cold-potato routing. Traffic stays on the Microsoft global backbone for more of the path, which favours consistency over egress cost. The transcript recommends it for HCX migrations to limit exposure to variable ISP paths.</a:t>
            </a:r>
            <a:endParaRPr lang="en-US" sz="1200" dirty="0"/>
          </a:p>
        </p:txBody>
      </p:sp>
      <p:sp>
        <p:nvSpPr>
          <p:cNvPr id="8" name="Shape 6"/>
          <p:cNvSpPr/>
          <p:nvPr/>
        </p:nvSpPr>
        <p:spPr>
          <a:xfrm>
            <a:off x="6199632" y="1536192"/>
            <a:ext cx="5440680" cy="2194560"/>
          </a:xfrm>
          <a:prstGeom prst="roundRect">
            <a:avLst>
              <a:gd name="adj" fmla="val 3750"/>
            </a:avLst>
          </a:prstGeom>
          <a:solidFill>
            <a:srgbClr val="EBEDED"/>
          </a:solidFill>
          <a:ln w="12700">
            <a:solidFill>
              <a:srgbClr val="EBEDED"/>
            </a:solidFill>
            <a:prstDash val="solid"/>
          </a:ln>
        </p:spPr>
      </p:sp>
      <p:sp>
        <p:nvSpPr>
          <p:cNvPr id="9" name="Text 7"/>
          <p:cNvSpPr/>
          <p:nvPr/>
        </p:nvSpPr>
        <p:spPr>
          <a:xfrm>
            <a:off x="6519672" y="1737360"/>
            <a:ext cx="475488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ISP network routing</a:t>
            </a:r>
            <a:endParaRPr lang="en-US" sz="1450" dirty="0"/>
          </a:p>
        </p:txBody>
      </p:sp>
      <p:sp>
        <p:nvSpPr>
          <p:cNvPr id="10" name="Text 8"/>
          <p:cNvSpPr/>
          <p:nvPr/>
        </p:nvSpPr>
        <p:spPr>
          <a:xfrm>
            <a:off x="6519672" y="2103120"/>
            <a:ext cx="4800600" cy="1463040"/>
          </a:xfrm>
          <a:prstGeom prst="rect">
            <a:avLst/>
          </a:prstGeom>
          <a:noFill/>
          <a:ln/>
        </p:spPr>
        <p:txBody>
          <a:bodyPr wrap="square" lIns="0" tIns="0" rIns="0" bIns="0" rtlCol="0" anchor="t"/>
          <a:lstStyle/>
          <a:p>
            <a:pPr indent="0" marL="0">
              <a:buNone/>
            </a:pPr>
            <a:r>
              <a:rPr lang="en-US" sz="1200" dirty="0">
                <a:solidFill>
                  <a:srgbClr val="3E3E4B"/>
                </a:solidFill>
                <a:latin typeface="Calibri" pitchFamily="34" charset="0"/>
                <a:ea typeface="Calibri" pitchFamily="34" charset="-122"/>
                <a:cs typeface="Calibri" pitchFamily="34" charset="-120"/>
              </a:rPr>
              <a:t>Also called hot-potato routing. Traffic leaves the Microsoft network earlier, which can reduce cost but accepts more variability in the path. Azure assigns the Virtual WAN public IP based on the option selected.</a:t>
            </a:r>
            <a:endParaRPr lang="en-US" sz="1200" dirty="0"/>
          </a:p>
        </p:txBody>
      </p:sp>
      <p:sp>
        <p:nvSpPr>
          <p:cNvPr id="11" name="Shape 9"/>
          <p:cNvSpPr/>
          <p:nvPr/>
        </p:nvSpPr>
        <p:spPr>
          <a:xfrm>
            <a:off x="548640" y="3977640"/>
            <a:ext cx="11091672" cy="1828800"/>
          </a:xfrm>
          <a:prstGeom prst="roundRect">
            <a:avLst>
              <a:gd name="adj" fmla="val 4500"/>
            </a:avLst>
          </a:prstGeom>
          <a:solidFill>
            <a:srgbClr val="D3EDF1"/>
          </a:solidFill>
          <a:ln w="12700">
            <a:solidFill>
              <a:srgbClr val="D3EDF1"/>
            </a:solidFill>
            <a:prstDash val="solid"/>
          </a:ln>
        </p:spPr>
      </p:sp>
      <p:sp>
        <p:nvSpPr>
          <p:cNvPr id="12" name="Text 10"/>
          <p:cNvSpPr/>
          <p:nvPr/>
        </p:nvSpPr>
        <p:spPr>
          <a:xfrm>
            <a:off x="868680" y="4160520"/>
            <a:ext cx="1042416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Do not confuse these two settings</a:t>
            </a:r>
            <a:endParaRPr lang="en-US" sz="1450" dirty="0"/>
          </a:p>
        </p:txBody>
      </p:sp>
      <p:sp>
        <p:nvSpPr>
          <p:cNvPr id="13" name="Shape 11"/>
          <p:cNvSpPr/>
          <p:nvPr/>
        </p:nvSpPr>
        <p:spPr>
          <a:xfrm>
            <a:off x="868680" y="4608576"/>
            <a:ext cx="384048" cy="384048"/>
          </a:xfrm>
          <a:prstGeom prst="ellipse">
            <a:avLst/>
          </a:prstGeom>
          <a:solidFill>
            <a:srgbClr val="00B3E2"/>
          </a:solidFill>
          <a:ln w="12700">
            <a:solidFill>
              <a:srgbClr val="00B3E2"/>
            </a:solidFill>
            <a:prstDash val="solid"/>
          </a:ln>
        </p:spPr>
      </p:sp>
      <p:sp>
        <p:nvSpPr>
          <p:cNvPr id="14" name="Text 12"/>
          <p:cNvSpPr/>
          <p:nvPr/>
        </p:nvSpPr>
        <p:spPr>
          <a:xfrm>
            <a:off x="868680" y="460857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3"/>
          <p:cNvSpPr/>
          <p:nvPr/>
        </p:nvSpPr>
        <p:spPr>
          <a:xfrm>
            <a:off x="1435608" y="4572000"/>
            <a:ext cx="446227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VPN gateway routing preference</a:t>
            </a:r>
            <a:endParaRPr lang="en-US" sz="1300" dirty="0"/>
          </a:p>
        </p:txBody>
      </p:sp>
      <p:sp>
        <p:nvSpPr>
          <p:cNvPr id="16" name="Text 14"/>
          <p:cNvSpPr/>
          <p:nvPr/>
        </p:nvSpPr>
        <p:spPr>
          <a:xfrm>
            <a:off x="1435608" y="4846320"/>
            <a:ext cx="4462272" cy="548640"/>
          </a:xfrm>
          <a:prstGeom prst="rect">
            <a:avLst/>
          </a:prstGeom>
          <a:noFill/>
          <a:ln/>
        </p:spPr>
        <p:txBody>
          <a:bodyPr wrap="square" lIns="0" tIns="0" rIns="0" bIns="0" rtlCol="0" anchor="t"/>
          <a:lstStyle/>
          <a:p>
            <a:pPr indent="0" marL="0">
              <a:lnSpc>
                <a:spcPct val="102000"/>
              </a:lnSpc>
              <a:buNone/>
            </a:pPr>
            <a:r>
              <a:rPr lang="en-US" sz="1200" dirty="0">
                <a:solidFill>
                  <a:srgbClr val="6E6E7E"/>
                </a:solidFill>
                <a:latin typeface="Calibri" pitchFamily="34" charset="0"/>
                <a:ea typeface="Calibri" pitchFamily="34" charset="-122"/>
                <a:cs typeface="Calibri" pitchFamily="34" charset="-120"/>
              </a:rPr>
              <a:t>Chooses Microsoft-network or ISP-network handling of the gateway public IP.</a:t>
            </a:r>
            <a:endParaRPr lang="en-US" sz="1200" dirty="0"/>
          </a:p>
        </p:txBody>
      </p:sp>
      <p:sp>
        <p:nvSpPr>
          <p:cNvPr id="17" name="Shape 15"/>
          <p:cNvSpPr/>
          <p:nvPr/>
        </p:nvSpPr>
        <p:spPr>
          <a:xfrm>
            <a:off x="6355080" y="4608576"/>
            <a:ext cx="384048" cy="384048"/>
          </a:xfrm>
          <a:prstGeom prst="ellipse">
            <a:avLst/>
          </a:prstGeom>
          <a:solidFill>
            <a:srgbClr val="00B3E2"/>
          </a:solidFill>
          <a:ln w="12700">
            <a:solidFill>
              <a:srgbClr val="00B3E2"/>
            </a:solidFill>
            <a:prstDash val="solid"/>
          </a:ln>
        </p:spPr>
      </p:sp>
      <p:sp>
        <p:nvSpPr>
          <p:cNvPr id="18" name="Text 16"/>
          <p:cNvSpPr/>
          <p:nvPr/>
        </p:nvSpPr>
        <p:spPr>
          <a:xfrm>
            <a:off x="6355080" y="460857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7"/>
          <p:cNvSpPr/>
          <p:nvPr/>
        </p:nvSpPr>
        <p:spPr>
          <a:xfrm>
            <a:off x="6922008" y="4572000"/>
            <a:ext cx="437083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Virtual hub routing preference</a:t>
            </a:r>
            <a:endParaRPr lang="en-US" sz="1300" dirty="0"/>
          </a:p>
        </p:txBody>
      </p:sp>
      <p:sp>
        <p:nvSpPr>
          <p:cNvPr id="20" name="Text 18"/>
          <p:cNvSpPr/>
          <p:nvPr/>
        </p:nvSpPr>
        <p:spPr>
          <a:xfrm>
            <a:off x="6922008" y="4846320"/>
            <a:ext cx="4370832" cy="548640"/>
          </a:xfrm>
          <a:prstGeom prst="rect">
            <a:avLst/>
          </a:prstGeom>
          <a:noFill/>
          <a:ln/>
        </p:spPr>
        <p:txBody>
          <a:bodyPr wrap="square" lIns="0" tIns="0" rIns="0" bIns="0" rtlCol="0" anchor="t"/>
          <a:lstStyle/>
          <a:p>
            <a:pPr indent="0" marL="0">
              <a:lnSpc>
                <a:spcPct val="102000"/>
              </a:lnSpc>
              <a:buNone/>
            </a:pPr>
            <a:r>
              <a:rPr lang="en-US" sz="1200" dirty="0">
                <a:solidFill>
                  <a:srgbClr val="6E6E7E"/>
                </a:solidFill>
                <a:latin typeface="Calibri" pitchFamily="34" charset="0"/>
                <a:ea typeface="Calibri" pitchFamily="34" charset="-122"/>
                <a:cs typeface="Calibri" pitchFamily="34" charset="-120"/>
              </a:rPr>
              <a:t>Chooses how the hub selects among routes learned from ExpressRoute, VPN, and other sources. Leave it at the default ExpressRoute unless a specific requirement dictates otherwise.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05</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Routing and tunnel</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configuration</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VPN sites, BGP, address edge cases, and IPsec negotiation</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XII  VPN SITE AND DEVICE CONFIGURATION</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Describing the on-premises edge to Azure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25</a:t>
            </a:r>
            <a:endParaRPr lang="en-US" sz="900" dirty="0"/>
          </a:p>
        </p:txBody>
      </p:sp>
      <p:sp>
        <p:nvSpPr>
          <p:cNvPr id="5" name="Shape 3"/>
          <p:cNvSpPr/>
          <p:nvPr/>
        </p:nvSpPr>
        <p:spPr>
          <a:xfrm>
            <a:off x="548640" y="1554480"/>
            <a:ext cx="5486400" cy="2377440"/>
          </a:xfrm>
          <a:prstGeom prst="roundRect">
            <a:avLst>
              <a:gd name="adj" fmla="val 3462"/>
            </a:avLst>
          </a:prstGeom>
          <a:solidFill>
            <a:srgbClr val="E5F7FC"/>
          </a:solidFill>
          <a:ln w="12700">
            <a:solidFill>
              <a:srgbClr val="E5F7FC"/>
            </a:solidFill>
            <a:prstDash val="solid"/>
          </a:ln>
        </p:spPr>
      </p:sp>
      <p:sp>
        <p:nvSpPr>
          <p:cNvPr id="6" name="Text 4"/>
          <p:cNvSpPr/>
          <p:nvPr/>
        </p:nvSpPr>
        <p:spPr>
          <a:xfrm>
            <a:off x="868680" y="1783080"/>
            <a:ext cx="484632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VPN site object</a:t>
            </a:r>
            <a:endParaRPr lang="en-US" sz="1450" dirty="0"/>
          </a:p>
        </p:txBody>
      </p:sp>
      <p:sp>
        <p:nvSpPr>
          <p:cNvPr id="7" name="Text 5"/>
          <p:cNvSpPr/>
          <p:nvPr/>
        </p:nvSpPr>
        <p:spPr>
          <a:xfrm>
            <a:off x="868680" y="2148840"/>
            <a:ext cx="4846320" cy="16459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Represents an on-premises location and its physical links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Carries the site name, region, private address space when BGP is not used, and one or more link definitions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A single site can define multiple links for separate ISPs or edge paths</a:t>
            </a:r>
            <a:endParaRPr lang="en-US" sz="1200" dirty="0"/>
          </a:p>
        </p:txBody>
      </p:sp>
      <p:sp>
        <p:nvSpPr>
          <p:cNvPr id="8" name="Shape 6"/>
          <p:cNvSpPr/>
          <p:nvPr/>
        </p:nvSpPr>
        <p:spPr>
          <a:xfrm>
            <a:off x="6245352" y="1554480"/>
            <a:ext cx="5394960" cy="2377440"/>
          </a:xfrm>
          <a:prstGeom prst="roundRect">
            <a:avLst>
              <a:gd name="adj" fmla="val 3462"/>
            </a:avLst>
          </a:prstGeom>
          <a:solidFill>
            <a:srgbClr val="EBEDED"/>
          </a:solidFill>
          <a:ln w="12700">
            <a:solidFill>
              <a:srgbClr val="EBEDED"/>
            </a:solidFill>
            <a:prstDash val="solid"/>
          </a:ln>
        </p:spPr>
      </p:sp>
      <p:sp>
        <p:nvSpPr>
          <p:cNvPr id="9" name="Text 7"/>
          <p:cNvSpPr/>
          <p:nvPr/>
        </p:nvSpPr>
        <p:spPr>
          <a:xfrm>
            <a:off x="6537960" y="1783080"/>
            <a:ext cx="475488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Device vendor field</a:t>
            </a:r>
            <a:endParaRPr lang="en-US" sz="1450" dirty="0"/>
          </a:p>
        </p:txBody>
      </p:sp>
      <p:sp>
        <p:nvSpPr>
          <p:cNvPr id="10" name="Text 8"/>
          <p:cNvSpPr/>
          <p:nvPr/>
        </p:nvSpPr>
        <p:spPr>
          <a:xfrm>
            <a:off x="6537960" y="2148840"/>
            <a:ext cx="4754880" cy="164592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The portal asks for the VPN device vendor, such as Cisco, Citrix, or Barracuda</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Microsoft states the value helps the Azure team understand the environment for optimisation and troubleshooting</a:t>
            </a:r>
            <a:endParaRPr lang="en-US" sz="1200" dirty="0"/>
          </a:p>
        </p:txBody>
      </p:sp>
      <p:sp>
        <p:nvSpPr>
          <p:cNvPr id="11" name="Shape 9"/>
          <p:cNvSpPr/>
          <p:nvPr/>
        </p:nvSpPr>
        <p:spPr>
          <a:xfrm>
            <a:off x="548640" y="4206240"/>
            <a:ext cx="11091672" cy="1417320"/>
          </a:xfrm>
          <a:prstGeom prst="roundRect">
            <a:avLst>
              <a:gd name="adj" fmla="val 5806"/>
            </a:avLst>
          </a:prstGeom>
          <a:solidFill>
            <a:srgbClr val="E2F2E8"/>
          </a:solidFill>
          <a:ln w="12700">
            <a:solidFill>
              <a:srgbClr val="E2F2E8"/>
            </a:solidFill>
            <a:prstDash val="solid"/>
          </a:ln>
        </p:spPr>
      </p:sp>
      <p:sp>
        <p:nvSpPr>
          <p:cNvPr id="12" name="Shape 10"/>
          <p:cNvSpPr/>
          <p:nvPr/>
        </p:nvSpPr>
        <p:spPr>
          <a:xfrm>
            <a:off x="868680" y="4617720"/>
            <a:ext cx="502920" cy="502920"/>
          </a:xfrm>
          <a:prstGeom prst="ellipse">
            <a:avLst/>
          </a:prstGeom>
          <a:solidFill>
            <a:srgbClr val="F15D23"/>
          </a:solidFill>
          <a:ln w="12700">
            <a:solidFill>
              <a:srgbClr val="F15D23"/>
            </a:solidFill>
            <a:prstDash val="solid"/>
          </a:ln>
        </p:spPr>
      </p:sp>
      <p:sp>
        <p:nvSpPr>
          <p:cNvPr id="13" name="Text 11"/>
          <p:cNvSpPr/>
          <p:nvPr/>
        </p:nvSpPr>
        <p:spPr>
          <a:xfrm>
            <a:off x="868680" y="46177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1572768" y="4480560"/>
            <a:ext cx="978408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Documentation correction</a:t>
            </a:r>
            <a:endParaRPr lang="en-US" sz="1400" dirty="0"/>
          </a:p>
        </p:txBody>
      </p:sp>
      <p:sp>
        <p:nvSpPr>
          <p:cNvPr id="15" name="Text 13"/>
          <p:cNvSpPr/>
          <p:nvPr/>
        </p:nvSpPr>
        <p:spPr>
          <a:xfrm>
            <a:off x="1572768" y="4828032"/>
            <a:ext cx="9784080" cy="68580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Microsoft Learn does not state that selecting a vendor automatically changes Azure's IKE timers, algorithms, or negotiation behaviour. Treat the field as metadata and configure crypto parameters explicitly.</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XIII  BGP</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The routing component that keeps HCX alive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26</a:t>
            </a:r>
            <a:endParaRPr lang="en-US" sz="900" dirty="0"/>
          </a:p>
        </p:txBody>
      </p:sp>
      <p:sp>
        <p:nvSpPr>
          <p:cNvPr id="5" name="Shape 3"/>
          <p:cNvSpPr/>
          <p:nvPr/>
        </p:nvSpPr>
        <p:spPr>
          <a:xfrm>
            <a:off x="548640" y="1554480"/>
            <a:ext cx="5440680" cy="2103120"/>
          </a:xfrm>
          <a:prstGeom prst="roundRect">
            <a:avLst>
              <a:gd name="adj" fmla="val 3913"/>
            </a:avLst>
          </a:prstGeom>
          <a:solidFill>
            <a:srgbClr val="E5F7FC"/>
          </a:solidFill>
          <a:ln w="12700">
            <a:solidFill>
              <a:srgbClr val="E5F7FC"/>
            </a:solidFill>
            <a:prstDash val="solid"/>
          </a:ln>
        </p:spPr>
      </p:sp>
      <p:sp>
        <p:nvSpPr>
          <p:cNvPr id="6" name="Text 4"/>
          <p:cNvSpPr/>
          <p:nvPr/>
        </p:nvSpPr>
        <p:spPr>
          <a:xfrm>
            <a:off x="868680" y="1755648"/>
            <a:ext cx="475488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How it works</a:t>
            </a:r>
            <a:endParaRPr lang="en-US" sz="1450" dirty="0"/>
          </a:p>
        </p:txBody>
      </p:sp>
      <p:sp>
        <p:nvSpPr>
          <p:cNvPr id="7" name="Text 5"/>
          <p:cNvSpPr/>
          <p:nvPr/>
        </p:nvSpPr>
        <p:spPr>
          <a:xfrm>
            <a:off x="868680" y="2103120"/>
            <a:ext cx="4800600" cy="14630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BGP dynamically exchanges route prefixes between Azure and the on-premises VPN device</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Each side uses an autonomous system number and a BGP peer address</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The Azure Virtual WAN gateway ASN is platform-managed and shown in the hub configuration</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The on-premises ASN and peer configuration must be unique and compatible</a:t>
            </a:r>
            <a:endParaRPr lang="en-US" sz="1150" dirty="0"/>
          </a:p>
        </p:txBody>
      </p:sp>
      <p:sp>
        <p:nvSpPr>
          <p:cNvPr id="8" name="Shape 6"/>
          <p:cNvSpPr/>
          <p:nvPr/>
        </p:nvSpPr>
        <p:spPr>
          <a:xfrm>
            <a:off x="6199632" y="1554480"/>
            <a:ext cx="5440680" cy="2103120"/>
          </a:xfrm>
          <a:prstGeom prst="roundRect">
            <a:avLst>
              <a:gd name="adj" fmla="val 3913"/>
            </a:avLst>
          </a:prstGeom>
          <a:solidFill>
            <a:srgbClr val="EBEDED"/>
          </a:solidFill>
          <a:ln w="12700">
            <a:solidFill>
              <a:srgbClr val="EBEDED"/>
            </a:solidFill>
            <a:prstDash val="solid"/>
          </a:ln>
        </p:spPr>
      </p:sp>
      <p:sp>
        <p:nvSpPr>
          <p:cNvPr id="9" name="Text 7"/>
          <p:cNvSpPr/>
          <p:nvPr/>
        </p:nvSpPr>
        <p:spPr>
          <a:xfrm>
            <a:off x="6519672" y="1755648"/>
            <a:ext cx="475488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Why it matters for HCX</a:t>
            </a:r>
            <a:endParaRPr lang="en-US" sz="1450" dirty="0"/>
          </a:p>
        </p:txBody>
      </p:sp>
      <p:sp>
        <p:nvSpPr>
          <p:cNvPr id="10" name="Text 8"/>
          <p:cNvSpPr/>
          <p:nvPr/>
        </p:nvSpPr>
        <p:spPr>
          <a:xfrm>
            <a:off x="6519672" y="2103120"/>
            <a:ext cx="4800600" cy="14630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Microsoft states BGP ensures AVS and on-premises servers advertise routes across the tunnel</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Disable BGP and every required subnet has to be maintained by hand</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Omit one required subnet and the HCX service mesh can fail to form</a:t>
            </a:r>
            <a:endParaRPr lang="en-US" sz="1150" dirty="0"/>
          </a:p>
        </p:txBody>
      </p:sp>
      <p:sp>
        <p:nvSpPr>
          <p:cNvPr id="11" name="Shape 9"/>
          <p:cNvSpPr/>
          <p:nvPr/>
        </p:nvSpPr>
        <p:spPr>
          <a:xfrm>
            <a:off x="548640" y="3931920"/>
            <a:ext cx="11091672" cy="868680"/>
          </a:xfrm>
          <a:prstGeom prst="roundRect">
            <a:avLst>
              <a:gd name="adj" fmla="val 9474"/>
            </a:avLst>
          </a:prstGeom>
          <a:solidFill>
            <a:srgbClr val="D3EDF1"/>
          </a:solidFill>
          <a:ln w="12700">
            <a:solidFill>
              <a:srgbClr val="D3EDF1"/>
            </a:solidFill>
            <a:prstDash val="solid"/>
          </a:ln>
        </p:spPr>
      </p:sp>
      <p:sp>
        <p:nvSpPr>
          <p:cNvPr id="12" name="Text 10"/>
          <p:cNvSpPr/>
          <p:nvPr/>
        </p:nvSpPr>
        <p:spPr>
          <a:xfrm>
            <a:off x="914400" y="3931920"/>
            <a:ext cx="10424160" cy="868680"/>
          </a:xfrm>
          <a:prstGeom prst="rect">
            <a:avLst/>
          </a:prstGeom>
          <a:noFill/>
          <a:ln/>
        </p:spPr>
        <p:txBody>
          <a:bodyPr wrap="square" lIns="0" tIns="0" rIns="0" bIns="0" rtlCol="0" anchor="ctr"/>
          <a:lstStyle/>
          <a:p>
            <a:pPr indent="0" marL="0">
              <a:buNone/>
            </a:pPr>
            <a:r>
              <a:rPr lang="en-US" sz="1250" i="1" dirty="0">
                <a:solidFill>
                  <a:srgbClr val="3E3E4B"/>
                </a:solidFill>
                <a:latin typeface="Calibri" pitchFamily="34" charset="0"/>
                <a:ea typeface="Calibri" pitchFamily="34" charset="-122"/>
                <a:cs typeface="Calibri" pitchFamily="34" charset="-120"/>
              </a:rPr>
              <a:t>Documentation nuance: the page does not call BGP technically mandatory. It documents a static-routing alternative and warns about the operational risk.</a:t>
            </a:r>
            <a:endParaRPr lang="en-US" sz="1250" dirty="0"/>
          </a:p>
        </p:txBody>
      </p:sp>
      <p:sp>
        <p:nvSpPr>
          <p:cNvPr id="13" name="Text 11"/>
          <p:cNvSpPr/>
          <p:nvPr/>
        </p:nvSpPr>
        <p:spPr>
          <a:xfrm>
            <a:off x="548640" y="4983480"/>
            <a:ext cx="731520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XIV  APIPA BGP peering edge case</a:t>
            </a:r>
            <a:endParaRPr lang="en-US" sz="1450" dirty="0"/>
          </a:p>
        </p:txBody>
      </p:sp>
      <p:sp>
        <p:nvSpPr>
          <p:cNvPr id="14" name="Shape 12"/>
          <p:cNvSpPr/>
          <p:nvPr/>
        </p:nvSpPr>
        <p:spPr>
          <a:xfrm>
            <a:off x="548640" y="5349240"/>
            <a:ext cx="2606040" cy="914400"/>
          </a:xfrm>
          <a:prstGeom prst="roundRect">
            <a:avLst>
              <a:gd name="adj" fmla="val 9000"/>
            </a:avLst>
          </a:prstGeom>
          <a:solidFill>
            <a:srgbClr val="E5F7FC"/>
          </a:solidFill>
          <a:ln w="12700">
            <a:solidFill>
              <a:srgbClr val="E5F7FC"/>
            </a:solidFill>
            <a:prstDash val="solid"/>
          </a:ln>
        </p:spPr>
      </p:sp>
      <p:sp>
        <p:nvSpPr>
          <p:cNvPr id="15" name="Text 13"/>
          <p:cNvSpPr/>
          <p:nvPr/>
        </p:nvSpPr>
        <p:spPr>
          <a:xfrm>
            <a:off x="731520" y="5440680"/>
            <a:ext cx="2286000" cy="256032"/>
          </a:xfrm>
          <a:prstGeom prst="rect">
            <a:avLst/>
          </a:prstGeom>
          <a:noFill/>
          <a:ln/>
        </p:spPr>
        <p:txBody>
          <a:bodyPr wrap="square" lIns="0" tIns="0" rIns="0" bIns="0" rtlCol="0" anchor="ctr"/>
          <a:lstStyle/>
          <a:p>
            <a:pPr indent="0" marL="0">
              <a:buNone/>
            </a:pPr>
            <a:r>
              <a:rPr lang="en-US" sz="1150" b="1" dirty="0">
                <a:solidFill>
                  <a:srgbClr val="3E3E4B"/>
                </a:solidFill>
                <a:latin typeface="Arial" pitchFamily="34" charset="0"/>
                <a:ea typeface="Arial" pitchFamily="34" charset="-122"/>
                <a:cs typeface="Arial" pitchFamily="34" charset="-120"/>
              </a:rPr>
              <a:t>Default</a:t>
            </a:r>
            <a:endParaRPr lang="en-US" sz="1150" dirty="0"/>
          </a:p>
        </p:txBody>
      </p:sp>
      <p:sp>
        <p:nvSpPr>
          <p:cNvPr id="16" name="Text 14"/>
          <p:cNvSpPr/>
          <p:nvPr/>
        </p:nvSpPr>
        <p:spPr>
          <a:xfrm>
            <a:off x="731520" y="5687568"/>
            <a:ext cx="2286000" cy="530352"/>
          </a:xfrm>
          <a:prstGeom prst="rect">
            <a:avLst/>
          </a:prstGeom>
          <a:noFill/>
          <a:ln/>
        </p:spPr>
        <p:txBody>
          <a:bodyPr wrap="square" lIns="0" tIns="0" rIns="0" bIns="0" rtlCol="0" anchor="t"/>
          <a:lstStyle/>
          <a:p>
            <a:pPr indent="0" marL="0">
              <a:buNone/>
            </a:pPr>
            <a:r>
              <a:rPr lang="en-US" sz="1050" dirty="0">
                <a:solidFill>
                  <a:srgbClr val="6E6E7E"/>
                </a:solidFill>
                <a:latin typeface="Calibri" pitchFamily="34" charset="0"/>
                <a:ea typeface="Calibri" pitchFamily="34" charset="-122"/>
                <a:cs typeface="Calibri" pitchFamily="34" charset="-120"/>
              </a:rPr>
              <a:t>Azure assigns the gateway BGP address from its private gateway address space.</a:t>
            </a:r>
            <a:endParaRPr lang="en-US" sz="1050" dirty="0"/>
          </a:p>
        </p:txBody>
      </p:sp>
      <p:sp>
        <p:nvSpPr>
          <p:cNvPr id="17" name="Shape 15"/>
          <p:cNvSpPr/>
          <p:nvPr/>
        </p:nvSpPr>
        <p:spPr>
          <a:xfrm>
            <a:off x="3355848" y="5349240"/>
            <a:ext cx="2606040" cy="914400"/>
          </a:xfrm>
          <a:prstGeom prst="roundRect">
            <a:avLst>
              <a:gd name="adj" fmla="val 9000"/>
            </a:avLst>
          </a:prstGeom>
          <a:solidFill>
            <a:srgbClr val="EBEDED"/>
          </a:solidFill>
          <a:ln w="12700">
            <a:solidFill>
              <a:srgbClr val="EBEDED"/>
            </a:solidFill>
            <a:prstDash val="solid"/>
          </a:ln>
        </p:spPr>
      </p:sp>
      <p:sp>
        <p:nvSpPr>
          <p:cNvPr id="18" name="Text 16"/>
          <p:cNvSpPr/>
          <p:nvPr/>
        </p:nvSpPr>
        <p:spPr>
          <a:xfrm>
            <a:off x="3538728" y="5440680"/>
            <a:ext cx="2286000" cy="256032"/>
          </a:xfrm>
          <a:prstGeom prst="rect">
            <a:avLst/>
          </a:prstGeom>
          <a:noFill/>
          <a:ln/>
        </p:spPr>
        <p:txBody>
          <a:bodyPr wrap="square" lIns="0" tIns="0" rIns="0" bIns="0" rtlCol="0" anchor="ctr"/>
          <a:lstStyle/>
          <a:p>
            <a:pPr indent="0" marL="0">
              <a:buNone/>
            </a:pPr>
            <a:r>
              <a:rPr lang="en-US" sz="1150" b="1" dirty="0">
                <a:solidFill>
                  <a:srgbClr val="3E3E4B"/>
                </a:solidFill>
                <a:latin typeface="Arial" pitchFamily="34" charset="0"/>
                <a:ea typeface="Arial" pitchFamily="34" charset="-122"/>
                <a:cs typeface="Arial" pitchFamily="34" charset="-120"/>
              </a:rPr>
              <a:t>Constraint</a:t>
            </a:r>
            <a:endParaRPr lang="en-US" sz="1150" dirty="0"/>
          </a:p>
        </p:txBody>
      </p:sp>
      <p:sp>
        <p:nvSpPr>
          <p:cNvPr id="19" name="Text 17"/>
          <p:cNvSpPr/>
          <p:nvPr/>
        </p:nvSpPr>
        <p:spPr>
          <a:xfrm>
            <a:off x="3538728" y="5687568"/>
            <a:ext cx="2286000" cy="530352"/>
          </a:xfrm>
          <a:prstGeom prst="rect">
            <a:avLst/>
          </a:prstGeom>
          <a:noFill/>
          <a:ln/>
        </p:spPr>
        <p:txBody>
          <a:bodyPr wrap="square" lIns="0" tIns="0" rIns="0" bIns="0" rtlCol="0" anchor="t"/>
          <a:lstStyle/>
          <a:p>
            <a:pPr indent="0" marL="0">
              <a:buNone/>
            </a:pPr>
            <a:r>
              <a:rPr lang="en-US" sz="1050" dirty="0">
                <a:solidFill>
                  <a:srgbClr val="6E6E7E"/>
                </a:solidFill>
                <a:latin typeface="Calibri" pitchFamily="34" charset="0"/>
                <a:ea typeface="Calibri" pitchFamily="34" charset="-122"/>
                <a:cs typeface="Calibri" pitchFamily="34" charset="-120"/>
              </a:rPr>
              <a:t>The on-premises peer address must differ from the device public address and the advertised space.</a:t>
            </a:r>
            <a:endParaRPr lang="en-US" sz="1050" dirty="0"/>
          </a:p>
        </p:txBody>
      </p:sp>
      <p:sp>
        <p:nvSpPr>
          <p:cNvPr id="20" name="Shape 18"/>
          <p:cNvSpPr/>
          <p:nvPr/>
        </p:nvSpPr>
        <p:spPr>
          <a:xfrm>
            <a:off x="6163056" y="5349240"/>
            <a:ext cx="2606040" cy="914400"/>
          </a:xfrm>
          <a:prstGeom prst="roundRect">
            <a:avLst>
              <a:gd name="adj" fmla="val 9000"/>
            </a:avLst>
          </a:prstGeom>
          <a:solidFill>
            <a:srgbClr val="E5F7FC"/>
          </a:solidFill>
          <a:ln w="12700">
            <a:solidFill>
              <a:srgbClr val="E5F7FC"/>
            </a:solidFill>
            <a:prstDash val="solid"/>
          </a:ln>
        </p:spPr>
      </p:sp>
      <p:sp>
        <p:nvSpPr>
          <p:cNvPr id="21" name="Text 19"/>
          <p:cNvSpPr/>
          <p:nvPr/>
        </p:nvSpPr>
        <p:spPr>
          <a:xfrm>
            <a:off x="6345936" y="5440680"/>
            <a:ext cx="2286000" cy="256032"/>
          </a:xfrm>
          <a:prstGeom prst="rect">
            <a:avLst/>
          </a:prstGeom>
          <a:noFill/>
          <a:ln/>
        </p:spPr>
        <p:txBody>
          <a:bodyPr wrap="square" lIns="0" tIns="0" rIns="0" bIns="0" rtlCol="0" anchor="ctr"/>
          <a:lstStyle/>
          <a:p>
            <a:pPr indent="0" marL="0">
              <a:buNone/>
            </a:pPr>
            <a:r>
              <a:rPr lang="en-US" sz="1150" b="1" dirty="0">
                <a:solidFill>
                  <a:srgbClr val="3E3E4B"/>
                </a:solidFill>
                <a:latin typeface="Arial" pitchFamily="34" charset="0"/>
                <a:ea typeface="Arial" pitchFamily="34" charset="-122"/>
                <a:cs typeface="Arial" pitchFamily="34" charset="-120"/>
              </a:rPr>
              <a:t>APIPA case</a:t>
            </a:r>
            <a:endParaRPr lang="en-US" sz="1150" dirty="0"/>
          </a:p>
        </p:txBody>
      </p:sp>
      <p:sp>
        <p:nvSpPr>
          <p:cNvPr id="22" name="Text 20"/>
          <p:cNvSpPr/>
          <p:nvPr/>
        </p:nvSpPr>
        <p:spPr>
          <a:xfrm>
            <a:off x="6345936" y="5687568"/>
            <a:ext cx="2286000" cy="530352"/>
          </a:xfrm>
          <a:prstGeom prst="rect">
            <a:avLst/>
          </a:prstGeom>
          <a:noFill/>
          <a:ln/>
        </p:spPr>
        <p:txBody>
          <a:bodyPr wrap="square" lIns="0" tIns="0" rIns="0" bIns="0" rtlCol="0" anchor="t"/>
          <a:lstStyle/>
          <a:p>
            <a:pPr indent="0" marL="0">
              <a:buNone/>
            </a:pPr>
            <a:r>
              <a:rPr lang="en-US" sz="1050" dirty="0">
                <a:solidFill>
                  <a:srgbClr val="6E6E7E"/>
                </a:solidFill>
                <a:latin typeface="Calibri" pitchFamily="34" charset="0"/>
                <a:ea typeface="Calibri" pitchFamily="34" charset="-122"/>
                <a:cs typeface="Calibri" pitchFamily="34" charset="-120"/>
              </a:rPr>
              <a:t>Configure a custom Azure APIPA address only when the on-premises peer uses 169.254.0.0/16.</a:t>
            </a:r>
            <a:endParaRPr lang="en-US" sz="1050" dirty="0"/>
          </a:p>
        </p:txBody>
      </p:sp>
      <p:sp>
        <p:nvSpPr>
          <p:cNvPr id="23" name="Shape 21"/>
          <p:cNvSpPr/>
          <p:nvPr/>
        </p:nvSpPr>
        <p:spPr>
          <a:xfrm>
            <a:off x="8970264" y="5349240"/>
            <a:ext cx="2606040" cy="914400"/>
          </a:xfrm>
          <a:prstGeom prst="roundRect">
            <a:avLst>
              <a:gd name="adj" fmla="val 9000"/>
            </a:avLst>
          </a:prstGeom>
          <a:solidFill>
            <a:srgbClr val="EBEDED"/>
          </a:solidFill>
          <a:ln w="12700">
            <a:solidFill>
              <a:srgbClr val="EBEDED"/>
            </a:solidFill>
            <a:prstDash val="solid"/>
          </a:ln>
        </p:spPr>
      </p:sp>
      <p:sp>
        <p:nvSpPr>
          <p:cNvPr id="24" name="Text 22"/>
          <p:cNvSpPr/>
          <p:nvPr/>
        </p:nvSpPr>
        <p:spPr>
          <a:xfrm>
            <a:off x="9153144" y="5440680"/>
            <a:ext cx="2286000" cy="256032"/>
          </a:xfrm>
          <a:prstGeom prst="rect">
            <a:avLst/>
          </a:prstGeom>
          <a:noFill/>
          <a:ln/>
        </p:spPr>
        <p:txBody>
          <a:bodyPr wrap="square" lIns="0" tIns="0" rIns="0" bIns="0" rtlCol="0" anchor="ctr"/>
          <a:lstStyle/>
          <a:p>
            <a:pPr indent="0" marL="0">
              <a:buNone/>
            </a:pPr>
            <a:r>
              <a:rPr lang="en-US" sz="1150" b="1" dirty="0">
                <a:solidFill>
                  <a:srgbClr val="3E3E4B"/>
                </a:solidFill>
                <a:latin typeface="Arial" pitchFamily="34" charset="0"/>
                <a:ea typeface="Arial" pitchFamily="34" charset="-122"/>
                <a:cs typeface="Arial" pitchFamily="34" charset="-120"/>
              </a:rPr>
              <a:t>Fallback</a:t>
            </a:r>
            <a:endParaRPr lang="en-US" sz="1150" dirty="0"/>
          </a:p>
        </p:txBody>
      </p:sp>
      <p:sp>
        <p:nvSpPr>
          <p:cNvPr id="25" name="Text 23"/>
          <p:cNvSpPr/>
          <p:nvPr/>
        </p:nvSpPr>
        <p:spPr>
          <a:xfrm>
            <a:off x="9153144" y="5687568"/>
            <a:ext cx="2286000" cy="530352"/>
          </a:xfrm>
          <a:prstGeom prst="rect">
            <a:avLst/>
          </a:prstGeom>
          <a:noFill/>
          <a:ln/>
        </p:spPr>
        <p:txBody>
          <a:bodyPr wrap="square" lIns="0" tIns="0" rIns="0" bIns="0" rtlCol="0" anchor="t"/>
          <a:lstStyle/>
          <a:p>
            <a:pPr indent="0" marL="0">
              <a:buNone/>
            </a:pPr>
            <a:r>
              <a:rPr lang="en-US" sz="1050" dirty="0">
                <a:solidFill>
                  <a:srgbClr val="6E6E7E"/>
                </a:solidFill>
                <a:latin typeface="Calibri" pitchFamily="34" charset="0"/>
                <a:ea typeface="Calibri" pitchFamily="34" charset="-122"/>
                <a:cs typeface="Calibri" pitchFamily="34" charset="-120"/>
              </a:rPr>
              <a:t>If the peer uses a normal private address, Azure reverts to its standard private BGP address.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XV - XVI  TUNNEL CONFIGURATION</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Route-based, policy-based, and crypto agreement</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27</a:t>
            </a:r>
            <a:endParaRPr lang="en-US" sz="900" dirty="0"/>
          </a:p>
        </p:txBody>
      </p:sp>
      <p:sp>
        <p:nvSpPr>
          <p:cNvPr id="5" name="Shape 3"/>
          <p:cNvSpPr/>
          <p:nvPr/>
        </p:nvSpPr>
        <p:spPr>
          <a:xfrm>
            <a:off x="548640" y="1554480"/>
            <a:ext cx="5440680" cy="2286000"/>
          </a:xfrm>
          <a:prstGeom prst="roundRect">
            <a:avLst>
              <a:gd name="adj" fmla="val 3600"/>
            </a:avLst>
          </a:prstGeom>
          <a:solidFill>
            <a:srgbClr val="E5F7FC"/>
          </a:solidFill>
          <a:ln w="12700">
            <a:solidFill>
              <a:srgbClr val="E5F7FC"/>
            </a:solidFill>
            <a:prstDash val="solid"/>
          </a:ln>
        </p:spPr>
      </p:sp>
      <p:sp>
        <p:nvSpPr>
          <p:cNvPr id="6" name="Text 4"/>
          <p:cNvSpPr/>
          <p:nvPr/>
        </p:nvSpPr>
        <p:spPr>
          <a:xfrm>
            <a:off x="868680" y="1755648"/>
            <a:ext cx="475488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Route-based VPN</a:t>
            </a:r>
            <a:endParaRPr lang="en-US" sz="1450" dirty="0"/>
          </a:p>
        </p:txBody>
      </p:sp>
      <p:sp>
        <p:nvSpPr>
          <p:cNvPr id="7" name="Text 5"/>
          <p:cNvSpPr/>
          <p:nvPr/>
        </p:nvSpPr>
        <p:spPr>
          <a:xfrm>
            <a:off x="868680" y="2121408"/>
            <a:ext cx="4800600" cy="16002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Azure generally recommends route-based gateways for broader, more flexible routing</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Routing decides which prefixes traverse the tunnel, with no fixed encryption domain per pair</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The preferable model for dynamic BGP-driven AVS connectivity where the device supports it</a:t>
            </a:r>
            <a:endParaRPr lang="en-US" sz="1200" dirty="0"/>
          </a:p>
        </p:txBody>
      </p:sp>
      <p:sp>
        <p:nvSpPr>
          <p:cNvPr id="8" name="Shape 6"/>
          <p:cNvSpPr/>
          <p:nvPr/>
        </p:nvSpPr>
        <p:spPr>
          <a:xfrm>
            <a:off x="6199632" y="1554480"/>
            <a:ext cx="5440680" cy="2286000"/>
          </a:xfrm>
          <a:prstGeom prst="roundRect">
            <a:avLst>
              <a:gd name="adj" fmla="val 3600"/>
            </a:avLst>
          </a:prstGeom>
          <a:solidFill>
            <a:srgbClr val="EBEDED"/>
          </a:solidFill>
          <a:ln w="12700">
            <a:solidFill>
              <a:srgbClr val="EBEDED"/>
            </a:solidFill>
            <a:prstDash val="solid"/>
          </a:ln>
        </p:spPr>
      </p:sp>
      <p:sp>
        <p:nvSpPr>
          <p:cNvPr id="9" name="Text 7"/>
          <p:cNvSpPr/>
          <p:nvPr/>
        </p:nvSpPr>
        <p:spPr>
          <a:xfrm>
            <a:off x="6519672" y="1755648"/>
            <a:ext cx="475488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Policy-based VPN</a:t>
            </a:r>
            <a:endParaRPr lang="en-US" sz="1450" dirty="0"/>
          </a:p>
        </p:txBody>
      </p:sp>
      <p:sp>
        <p:nvSpPr>
          <p:cNvPr id="10" name="Text 8"/>
          <p:cNvSpPr/>
          <p:nvPr/>
        </p:nvSpPr>
        <p:spPr>
          <a:xfrm>
            <a:off x="6519672" y="2121408"/>
            <a:ext cx="4800600" cy="16002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The AVS Virtual WAN procedure includes an optional policy-based configuration</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Traffic selectors must list the hub range, the AVS private-cloud range, and any connected VNet ranges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Miss a required prefix and that traffic will not match the tunnel policy</a:t>
            </a:r>
            <a:endParaRPr lang="en-US" sz="1200" dirty="0"/>
          </a:p>
        </p:txBody>
      </p:sp>
      <p:sp>
        <p:nvSpPr>
          <p:cNvPr id="11" name="Text 9"/>
          <p:cNvSpPr/>
          <p:nvPr/>
        </p:nvSpPr>
        <p:spPr>
          <a:xfrm>
            <a:off x="548640" y="4114800"/>
            <a:ext cx="731520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IKE and IPsec negotiation</a:t>
            </a:r>
            <a:endParaRPr lang="en-US" sz="1500" dirty="0"/>
          </a:p>
        </p:txBody>
      </p:sp>
      <p:sp>
        <p:nvSpPr>
          <p:cNvPr id="12" name="Shape 10"/>
          <p:cNvSpPr/>
          <p:nvPr/>
        </p:nvSpPr>
        <p:spPr>
          <a:xfrm>
            <a:off x="548640" y="4526280"/>
            <a:ext cx="5394960" cy="777240"/>
          </a:xfrm>
          <a:prstGeom prst="roundRect">
            <a:avLst>
              <a:gd name="adj" fmla="val 10588"/>
            </a:avLst>
          </a:prstGeom>
          <a:solidFill>
            <a:srgbClr val="E5F7FC"/>
          </a:solidFill>
          <a:ln w="12700">
            <a:solidFill>
              <a:srgbClr val="E5F7FC"/>
            </a:solidFill>
            <a:prstDash val="solid"/>
          </a:ln>
        </p:spPr>
      </p:sp>
      <p:sp>
        <p:nvSpPr>
          <p:cNvPr id="13" name="Text 11"/>
          <p:cNvSpPr/>
          <p:nvPr/>
        </p:nvSpPr>
        <p:spPr>
          <a:xfrm>
            <a:off x="768096" y="4599432"/>
            <a:ext cx="4937760" cy="256032"/>
          </a:xfrm>
          <a:prstGeom prst="rect">
            <a:avLst/>
          </a:prstGeom>
          <a:noFill/>
          <a:ln/>
        </p:spPr>
        <p:txBody>
          <a:bodyPr wrap="square" lIns="0" tIns="0" rIns="0" bIns="0" rtlCol="0" anchor="ctr"/>
          <a:lstStyle/>
          <a:p>
            <a:pPr indent="0" marL="0">
              <a:buNone/>
            </a:pPr>
            <a:r>
              <a:rPr lang="en-US" sz="1200" b="1" dirty="0">
                <a:solidFill>
                  <a:srgbClr val="00B3E2"/>
                </a:solidFill>
                <a:latin typeface="Arial" pitchFamily="34" charset="0"/>
                <a:ea typeface="Arial" pitchFamily="34" charset="-122"/>
                <a:cs typeface="Arial" pitchFamily="34" charset="-120"/>
              </a:rPr>
              <a:t>Supported protocols</a:t>
            </a:r>
            <a:endParaRPr lang="en-US" sz="1200" dirty="0"/>
          </a:p>
        </p:txBody>
      </p:sp>
      <p:sp>
        <p:nvSpPr>
          <p:cNvPr id="14" name="Text 12"/>
          <p:cNvSpPr/>
          <p:nvPr/>
        </p:nvSpPr>
        <p:spPr>
          <a:xfrm>
            <a:off x="768096" y="4855464"/>
            <a:ext cx="4937760" cy="411480"/>
          </a:xfrm>
          <a:prstGeom prst="rect">
            <a:avLst/>
          </a:prstGeom>
          <a:noFill/>
          <a:ln/>
        </p:spPr>
        <p:txBody>
          <a:bodyPr wrap="square" lIns="0" tIns="0" rIns="0" bIns="0" rtlCol="0" anchor="t"/>
          <a:lstStyle/>
          <a:p>
            <a:pPr indent="0" marL="0">
              <a:buNone/>
            </a:pPr>
            <a:r>
              <a:rPr lang="en-US" sz="1050" dirty="0">
                <a:solidFill>
                  <a:srgbClr val="3E3E4B"/>
                </a:solidFill>
                <a:latin typeface="Calibri" pitchFamily="34" charset="0"/>
                <a:ea typeface="Calibri" pitchFamily="34" charset="-122"/>
                <a:cs typeface="Calibri" pitchFamily="34" charset="-120"/>
              </a:rPr>
              <a:t>IPsec site-to-site tunnels using IKEv1 or IKEv2, with custom IPsec policies allowed on Virtual WAN connections.</a:t>
            </a:r>
            <a:endParaRPr lang="en-US" sz="1050" dirty="0"/>
          </a:p>
        </p:txBody>
      </p:sp>
      <p:sp>
        <p:nvSpPr>
          <p:cNvPr id="15" name="Shape 13"/>
          <p:cNvSpPr/>
          <p:nvPr/>
        </p:nvSpPr>
        <p:spPr>
          <a:xfrm>
            <a:off x="6245352" y="4526280"/>
            <a:ext cx="5394960" cy="777240"/>
          </a:xfrm>
          <a:prstGeom prst="roundRect">
            <a:avLst>
              <a:gd name="adj" fmla="val 10588"/>
            </a:avLst>
          </a:prstGeom>
          <a:solidFill>
            <a:srgbClr val="E5F7FC"/>
          </a:solidFill>
          <a:ln w="12700">
            <a:solidFill>
              <a:srgbClr val="E5F7FC"/>
            </a:solidFill>
            <a:prstDash val="solid"/>
          </a:ln>
        </p:spPr>
      </p:sp>
      <p:sp>
        <p:nvSpPr>
          <p:cNvPr id="16" name="Text 14"/>
          <p:cNvSpPr/>
          <p:nvPr/>
        </p:nvSpPr>
        <p:spPr>
          <a:xfrm>
            <a:off x="6464808" y="4599432"/>
            <a:ext cx="4937760" cy="256032"/>
          </a:xfrm>
          <a:prstGeom prst="rect">
            <a:avLst/>
          </a:prstGeom>
          <a:noFill/>
          <a:ln/>
        </p:spPr>
        <p:txBody>
          <a:bodyPr wrap="square" lIns="0" tIns="0" rIns="0" bIns="0" rtlCol="0" anchor="ctr"/>
          <a:lstStyle/>
          <a:p>
            <a:pPr indent="0" marL="0">
              <a:buNone/>
            </a:pPr>
            <a:r>
              <a:rPr lang="en-US" sz="1200" b="1" dirty="0">
                <a:solidFill>
                  <a:srgbClr val="2DCCD3"/>
                </a:solidFill>
                <a:latin typeface="Arial" pitchFamily="34" charset="0"/>
                <a:ea typeface="Arial" pitchFamily="34" charset="-122"/>
                <a:cs typeface="Arial" pitchFamily="34" charset="-120"/>
              </a:rPr>
              <a:t>Phase 1</a:t>
            </a:r>
            <a:endParaRPr lang="en-US" sz="1200" dirty="0"/>
          </a:p>
        </p:txBody>
      </p:sp>
      <p:sp>
        <p:nvSpPr>
          <p:cNvPr id="17" name="Text 15"/>
          <p:cNvSpPr/>
          <p:nvPr/>
        </p:nvSpPr>
        <p:spPr>
          <a:xfrm>
            <a:off x="6464808" y="4855464"/>
            <a:ext cx="4937760" cy="411480"/>
          </a:xfrm>
          <a:prstGeom prst="rect">
            <a:avLst/>
          </a:prstGeom>
          <a:noFill/>
          <a:ln/>
        </p:spPr>
        <p:txBody>
          <a:bodyPr wrap="square" lIns="0" tIns="0" rIns="0" bIns="0" rtlCol="0" anchor="t"/>
          <a:lstStyle/>
          <a:p>
            <a:pPr indent="0" marL="0">
              <a:buNone/>
            </a:pPr>
            <a:r>
              <a:rPr lang="en-US" sz="1050" dirty="0">
                <a:solidFill>
                  <a:srgbClr val="3E3E4B"/>
                </a:solidFill>
                <a:latin typeface="Calibri" pitchFamily="34" charset="0"/>
                <a:ea typeface="Calibri" pitchFamily="34" charset="-122"/>
                <a:cs typeface="Calibri" pitchFamily="34" charset="-120"/>
              </a:rPr>
              <a:t>Establishes the IKE security association and authenticates the peers.</a:t>
            </a:r>
            <a:endParaRPr lang="en-US" sz="1050" dirty="0"/>
          </a:p>
        </p:txBody>
      </p:sp>
      <p:sp>
        <p:nvSpPr>
          <p:cNvPr id="18" name="Shape 16"/>
          <p:cNvSpPr/>
          <p:nvPr/>
        </p:nvSpPr>
        <p:spPr>
          <a:xfrm>
            <a:off x="548640" y="5422392"/>
            <a:ext cx="5394960" cy="777240"/>
          </a:xfrm>
          <a:prstGeom prst="roundRect">
            <a:avLst>
              <a:gd name="adj" fmla="val 10588"/>
            </a:avLst>
          </a:prstGeom>
          <a:solidFill>
            <a:srgbClr val="EBEDED"/>
          </a:solidFill>
          <a:ln w="12700">
            <a:solidFill>
              <a:srgbClr val="EBEDED"/>
            </a:solidFill>
            <a:prstDash val="solid"/>
          </a:ln>
        </p:spPr>
      </p:sp>
      <p:sp>
        <p:nvSpPr>
          <p:cNvPr id="19" name="Text 17"/>
          <p:cNvSpPr/>
          <p:nvPr/>
        </p:nvSpPr>
        <p:spPr>
          <a:xfrm>
            <a:off x="768096" y="5495544"/>
            <a:ext cx="4937760" cy="256032"/>
          </a:xfrm>
          <a:prstGeom prst="rect">
            <a:avLst/>
          </a:prstGeom>
          <a:noFill/>
          <a:ln/>
        </p:spPr>
        <p:txBody>
          <a:bodyPr wrap="square" lIns="0" tIns="0" rIns="0" bIns="0" rtlCol="0" anchor="ctr"/>
          <a:lstStyle/>
          <a:p>
            <a:pPr indent="0" marL="0">
              <a:buNone/>
            </a:pPr>
            <a:r>
              <a:rPr lang="en-US" sz="1200" b="1" dirty="0">
                <a:solidFill>
                  <a:srgbClr val="00AD93"/>
                </a:solidFill>
                <a:latin typeface="Arial" pitchFamily="34" charset="0"/>
                <a:ea typeface="Arial" pitchFamily="34" charset="-122"/>
                <a:cs typeface="Arial" pitchFamily="34" charset="-120"/>
              </a:rPr>
              <a:t>Phase 2</a:t>
            </a:r>
            <a:endParaRPr lang="en-US" sz="1200" dirty="0"/>
          </a:p>
        </p:txBody>
      </p:sp>
      <p:sp>
        <p:nvSpPr>
          <p:cNvPr id="20" name="Text 18"/>
          <p:cNvSpPr/>
          <p:nvPr/>
        </p:nvSpPr>
        <p:spPr>
          <a:xfrm>
            <a:off x="768096" y="5751576"/>
            <a:ext cx="4937760" cy="411480"/>
          </a:xfrm>
          <a:prstGeom prst="rect">
            <a:avLst/>
          </a:prstGeom>
          <a:noFill/>
          <a:ln/>
        </p:spPr>
        <p:txBody>
          <a:bodyPr wrap="square" lIns="0" tIns="0" rIns="0" bIns="0" rtlCol="0" anchor="t"/>
          <a:lstStyle/>
          <a:p>
            <a:pPr indent="0" marL="0">
              <a:buNone/>
            </a:pPr>
            <a:r>
              <a:rPr lang="en-US" sz="1050" dirty="0">
                <a:solidFill>
                  <a:srgbClr val="3E3E4B"/>
                </a:solidFill>
                <a:latin typeface="Calibri" pitchFamily="34" charset="0"/>
                <a:ea typeface="Calibri" pitchFamily="34" charset="-122"/>
                <a:cs typeface="Calibri" pitchFamily="34" charset="-120"/>
              </a:rPr>
              <a:t>Negotiates the IPsec security associations that protect data traffic.</a:t>
            </a:r>
            <a:endParaRPr lang="en-US" sz="1050" dirty="0"/>
          </a:p>
        </p:txBody>
      </p:sp>
      <p:sp>
        <p:nvSpPr>
          <p:cNvPr id="21" name="Shape 19"/>
          <p:cNvSpPr/>
          <p:nvPr/>
        </p:nvSpPr>
        <p:spPr>
          <a:xfrm>
            <a:off x="6245352" y="5422392"/>
            <a:ext cx="5394960" cy="777240"/>
          </a:xfrm>
          <a:prstGeom prst="roundRect">
            <a:avLst>
              <a:gd name="adj" fmla="val 10588"/>
            </a:avLst>
          </a:prstGeom>
          <a:solidFill>
            <a:srgbClr val="EBEDED"/>
          </a:solidFill>
          <a:ln w="12700">
            <a:solidFill>
              <a:srgbClr val="EBEDED"/>
            </a:solidFill>
            <a:prstDash val="solid"/>
          </a:ln>
        </p:spPr>
      </p:sp>
      <p:sp>
        <p:nvSpPr>
          <p:cNvPr id="22" name="Text 20"/>
          <p:cNvSpPr/>
          <p:nvPr/>
        </p:nvSpPr>
        <p:spPr>
          <a:xfrm>
            <a:off x="6464808" y="5495544"/>
            <a:ext cx="4937760" cy="256032"/>
          </a:xfrm>
          <a:prstGeom prst="rect">
            <a:avLst/>
          </a:prstGeom>
          <a:noFill/>
          <a:ln/>
        </p:spPr>
        <p:txBody>
          <a:bodyPr wrap="square" lIns="0" tIns="0" rIns="0" bIns="0" rtlCol="0" anchor="ctr"/>
          <a:lstStyle/>
          <a:p>
            <a:pPr indent="0" marL="0">
              <a:buNone/>
            </a:pPr>
            <a:r>
              <a:rPr lang="en-US" sz="1200" b="1" dirty="0">
                <a:solidFill>
                  <a:srgbClr val="8DB9D9"/>
                </a:solidFill>
                <a:latin typeface="Arial" pitchFamily="34" charset="0"/>
                <a:ea typeface="Arial" pitchFamily="34" charset="-122"/>
                <a:cs typeface="Arial" pitchFamily="34" charset="-120"/>
              </a:rPr>
              <a:t>Both ends must match</a:t>
            </a:r>
            <a:endParaRPr lang="en-US" sz="1200" dirty="0"/>
          </a:p>
        </p:txBody>
      </p:sp>
      <p:sp>
        <p:nvSpPr>
          <p:cNvPr id="23" name="Text 21"/>
          <p:cNvSpPr/>
          <p:nvPr/>
        </p:nvSpPr>
        <p:spPr>
          <a:xfrm>
            <a:off x="6464808" y="5751576"/>
            <a:ext cx="4937760" cy="411480"/>
          </a:xfrm>
          <a:prstGeom prst="rect">
            <a:avLst/>
          </a:prstGeom>
          <a:noFill/>
          <a:ln/>
        </p:spPr>
        <p:txBody>
          <a:bodyPr wrap="square" lIns="0" tIns="0" rIns="0" bIns="0" rtlCol="0" anchor="t"/>
          <a:lstStyle/>
          <a:p>
            <a:pPr indent="0" marL="0">
              <a:buNone/>
            </a:pPr>
            <a:r>
              <a:rPr lang="en-US" sz="1050" dirty="0">
                <a:solidFill>
                  <a:srgbClr val="3E3E4B"/>
                </a:solidFill>
                <a:latin typeface="Calibri" pitchFamily="34" charset="0"/>
                <a:ea typeface="Calibri" pitchFamily="34" charset="-122"/>
                <a:cs typeface="Calibri" pitchFamily="34" charset="-120"/>
              </a:rPr>
              <a:t>Encryption, integrity, Diffie-Hellman or PFS group, and SA lifetimes must be supported and identically configured. AES-256 and SHA-256 are examples, not defaults.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06</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Connecting the</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hub to AVS</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Why ExpressRoute is still involved, and how the circuit is patched in</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XVII - XVIII  THE INTERNAL CIRCUIT</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Why AVS still requires ExpressRoute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29</a:t>
            </a:r>
            <a:endParaRPr lang="en-US" sz="900" dirty="0"/>
          </a:p>
        </p:txBody>
      </p:sp>
      <p:sp>
        <p:nvSpPr>
          <p:cNvPr id="5" name="Shape 3"/>
          <p:cNvSpPr/>
          <p:nvPr/>
        </p:nvSpPr>
        <p:spPr>
          <a:xfrm>
            <a:off x="548640" y="1536192"/>
            <a:ext cx="5440680" cy="2148840"/>
          </a:xfrm>
          <a:prstGeom prst="roundRect">
            <a:avLst>
              <a:gd name="adj" fmla="val 3830"/>
            </a:avLst>
          </a:prstGeom>
          <a:solidFill>
            <a:srgbClr val="E5F7FC"/>
          </a:solidFill>
          <a:ln w="12700">
            <a:solidFill>
              <a:srgbClr val="E5F7FC"/>
            </a:solidFill>
            <a:prstDash val="solid"/>
          </a:ln>
        </p:spPr>
      </p:sp>
      <p:sp>
        <p:nvSpPr>
          <p:cNvPr id="6" name="Text 4"/>
          <p:cNvSpPr/>
          <p:nvPr/>
        </p:nvSpPr>
        <p:spPr>
          <a:xfrm>
            <a:off x="868680" y="1737360"/>
            <a:ext cx="475488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The nature of AVS</a:t>
            </a:r>
            <a:endParaRPr lang="en-US" sz="1450" dirty="0"/>
          </a:p>
        </p:txBody>
      </p:sp>
      <p:sp>
        <p:nvSpPr>
          <p:cNvPr id="7" name="Text 5"/>
          <p:cNvSpPr/>
          <p:nvPr/>
        </p:nvSpPr>
        <p:spPr>
          <a:xfrm>
            <a:off x="868680" y="2103120"/>
            <a:ext cx="4800600" cy="14630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AVS is dedicated bare-metal hosts running vSphere, vSAN, vCenter Server, and NSX</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AVS VMs are not native Azure IaaS VM objects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Connectivity from Azure networking into the private cloud uses the AVS ExpressRoute circuit</a:t>
            </a:r>
            <a:endParaRPr lang="en-US" sz="1200" dirty="0"/>
          </a:p>
        </p:txBody>
      </p:sp>
      <p:sp>
        <p:nvSpPr>
          <p:cNvPr id="8" name="Shape 6"/>
          <p:cNvSpPr/>
          <p:nvPr/>
        </p:nvSpPr>
        <p:spPr>
          <a:xfrm>
            <a:off x="6199632" y="1536192"/>
            <a:ext cx="5440680" cy="2148840"/>
          </a:xfrm>
          <a:prstGeom prst="roundRect">
            <a:avLst>
              <a:gd name="adj" fmla="val 3830"/>
            </a:avLst>
          </a:prstGeom>
          <a:solidFill>
            <a:srgbClr val="EBEDED"/>
          </a:solidFill>
          <a:ln w="12700">
            <a:solidFill>
              <a:srgbClr val="EBEDED"/>
            </a:solidFill>
            <a:prstDash val="solid"/>
          </a:ln>
        </p:spPr>
      </p:sp>
      <p:sp>
        <p:nvSpPr>
          <p:cNvPr id="9" name="Text 7"/>
          <p:cNvSpPr/>
          <p:nvPr/>
        </p:nvSpPr>
        <p:spPr>
          <a:xfrm>
            <a:off x="6519672" y="1737360"/>
            <a:ext cx="475488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The dual-gateway design</a:t>
            </a:r>
            <a:endParaRPr lang="en-US" sz="1450" dirty="0"/>
          </a:p>
        </p:txBody>
      </p:sp>
      <p:sp>
        <p:nvSpPr>
          <p:cNvPr id="10" name="Text 8"/>
          <p:cNvSpPr/>
          <p:nvPr/>
        </p:nvSpPr>
        <p:spPr>
          <a:xfrm>
            <a:off x="6519672" y="2103120"/>
            <a:ext cx="4800600" cy="146304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The hub VPN gateway terminates the external on-premises tunnel</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The hub ExpressRoute gateway connects to the AVS private-cloud circuit</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Needing both gateway types in one hub is precisely why Standard Virtual WAN is required</a:t>
            </a:r>
            <a:endParaRPr lang="en-US" sz="1200" dirty="0"/>
          </a:p>
        </p:txBody>
      </p:sp>
      <p:sp>
        <p:nvSpPr>
          <p:cNvPr id="11" name="Text 9"/>
          <p:cNvSpPr/>
          <p:nvPr/>
        </p:nvSpPr>
        <p:spPr>
          <a:xfrm>
            <a:off x="548640" y="3977640"/>
            <a:ext cx="731520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Path before AVS is patched in</a:t>
            </a:r>
            <a:endParaRPr lang="en-US" sz="1500" dirty="0"/>
          </a:p>
        </p:txBody>
      </p:sp>
      <p:sp>
        <p:nvSpPr>
          <p:cNvPr id="12" name="Shape 10"/>
          <p:cNvSpPr/>
          <p:nvPr/>
        </p:nvSpPr>
        <p:spPr>
          <a:xfrm>
            <a:off x="548640" y="4389120"/>
            <a:ext cx="2606040" cy="1417320"/>
          </a:xfrm>
          <a:prstGeom prst="roundRect">
            <a:avLst>
              <a:gd name="adj" fmla="val 5806"/>
            </a:avLst>
          </a:prstGeom>
          <a:solidFill>
            <a:srgbClr val="E5F7FC"/>
          </a:solidFill>
          <a:ln w="12700">
            <a:solidFill>
              <a:srgbClr val="E5F7FC"/>
            </a:solidFill>
            <a:prstDash val="solid"/>
          </a:ln>
        </p:spPr>
      </p:sp>
      <p:sp>
        <p:nvSpPr>
          <p:cNvPr id="13" name="Shape 11"/>
          <p:cNvSpPr/>
          <p:nvPr/>
        </p:nvSpPr>
        <p:spPr>
          <a:xfrm>
            <a:off x="749808" y="4553712"/>
            <a:ext cx="365760" cy="365760"/>
          </a:xfrm>
          <a:prstGeom prst="ellipse">
            <a:avLst/>
          </a:prstGeom>
          <a:solidFill>
            <a:srgbClr val="00B3E2"/>
          </a:solidFill>
          <a:ln w="12700">
            <a:solidFill>
              <a:srgbClr val="00B3E2"/>
            </a:solidFill>
            <a:prstDash val="solid"/>
          </a:ln>
        </p:spPr>
      </p:sp>
      <p:sp>
        <p:nvSpPr>
          <p:cNvPr id="14" name="Text 12"/>
          <p:cNvSpPr/>
          <p:nvPr/>
        </p:nvSpPr>
        <p:spPr>
          <a:xfrm>
            <a:off x="749808" y="4553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3"/>
          <p:cNvSpPr/>
          <p:nvPr/>
        </p:nvSpPr>
        <p:spPr>
          <a:xfrm>
            <a:off x="749808" y="5029200"/>
            <a:ext cx="2240280" cy="713232"/>
          </a:xfrm>
          <a:prstGeom prst="rect">
            <a:avLst/>
          </a:prstGeom>
          <a:noFill/>
          <a:ln/>
        </p:spPr>
        <p:txBody>
          <a:bodyPr wrap="square" lIns="0" tIns="0" rIns="0" bIns="0" rtlCol="0" anchor="t"/>
          <a:lstStyle/>
          <a:p>
            <a:pPr indent="0" marL="0">
              <a:buNone/>
            </a:pPr>
            <a:r>
              <a:rPr lang="en-US" sz="1100" dirty="0">
                <a:solidFill>
                  <a:srgbClr val="3E3E4B"/>
                </a:solidFill>
                <a:latin typeface="Calibri" pitchFamily="34" charset="0"/>
                <a:ea typeface="Calibri" pitchFamily="34" charset="-122"/>
                <a:cs typeface="Calibri" pitchFamily="34" charset="-120"/>
              </a:rPr>
              <a:t>The on-premises device establishes the IPsec/IKE tunnel with the hub VPN gateway</a:t>
            </a:r>
            <a:endParaRPr lang="en-US" sz="1100" dirty="0"/>
          </a:p>
        </p:txBody>
      </p:sp>
      <p:sp>
        <p:nvSpPr>
          <p:cNvPr id="16" name="Shape 14"/>
          <p:cNvSpPr/>
          <p:nvPr/>
        </p:nvSpPr>
        <p:spPr>
          <a:xfrm>
            <a:off x="3355848" y="4389120"/>
            <a:ext cx="2606040" cy="1417320"/>
          </a:xfrm>
          <a:prstGeom prst="roundRect">
            <a:avLst>
              <a:gd name="adj" fmla="val 5806"/>
            </a:avLst>
          </a:prstGeom>
          <a:solidFill>
            <a:srgbClr val="E5F7FC"/>
          </a:solidFill>
          <a:ln w="12700">
            <a:solidFill>
              <a:srgbClr val="E5F7FC"/>
            </a:solidFill>
            <a:prstDash val="solid"/>
          </a:ln>
        </p:spPr>
      </p:sp>
      <p:sp>
        <p:nvSpPr>
          <p:cNvPr id="17" name="Shape 15"/>
          <p:cNvSpPr/>
          <p:nvPr/>
        </p:nvSpPr>
        <p:spPr>
          <a:xfrm>
            <a:off x="3557016" y="4553712"/>
            <a:ext cx="365760" cy="365760"/>
          </a:xfrm>
          <a:prstGeom prst="ellipse">
            <a:avLst/>
          </a:prstGeom>
          <a:solidFill>
            <a:srgbClr val="00B3E2"/>
          </a:solidFill>
          <a:ln w="12700">
            <a:solidFill>
              <a:srgbClr val="00B3E2"/>
            </a:solidFill>
            <a:prstDash val="solid"/>
          </a:ln>
        </p:spPr>
      </p:sp>
      <p:sp>
        <p:nvSpPr>
          <p:cNvPr id="18" name="Text 16"/>
          <p:cNvSpPr/>
          <p:nvPr/>
        </p:nvSpPr>
        <p:spPr>
          <a:xfrm>
            <a:off x="3557016" y="4553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7"/>
          <p:cNvSpPr/>
          <p:nvPr/>
        </p:nvSpPr>
        <p:spPr>
          <a:xfrm>
            <a:off x="3557016" y="5029200"/>
            <a:ext cx="2240280" cy="713232"/>
          </a:xfrm>
          <a:prstGeom prst="rect">
            <a:avLst/>
          </a:prstGeom>
          <a:noFill/>
          <a:ln/>
        </p:spPr>
        <p:txBody>
          <a:bodyPr wrap="square" lIns="0" tIns="0" rIns="0" bIns="0" rtlCol="0" anchor="t"/>
          <a:lstStyle/>
          <a:p>
            <a:pPr indent="0" marL="0">
              <a:buNone/>
            </a:pPr>
            <a:r>
              <a:rPr lang="en-US" sz="1100" dirty="0">
                <a:solidFill>
                  <a:srgbClr val="3E3E4B"/>
                </a:solidFill>
                <a:latin typeface="Calibri" pitchFamily="34" charset="0"/>
                <a:ea typeface="Calibri" pitchFamily="34" charset="-122"/>
                <a:cs typeface="Calibri" pitchFamily="34" charset="-120"/>
              </a:rPr>
              <a:t>The VPN site connects to the selected virtual hub</a:t>
            </a:r>
            <a:endParaRPr lang="en-US" sz="1100" dirty="0"/>
          </a:p>
        </p:txBody>
      </p:sp>
      <p:sp>
        <p:nvSpPr>
          <p:cNvPr id="20" name="Shape 18"/>
          <p:cNvSpPr/>
          <p:nvPr/>
        </p:nvSpPr>
        <p:spPr>
          <a:xfrm>
            <a:off x="6163056" y="4389120"/>
            <a:ext cx="2606040" cy="1417320"/>
          </a:xfrm>
          <a:prstGeom prst="roundRect">
            <a:avLst>
              <a:gd name="adj" fmla="val 5806"/>
            </a:avLst>
          </a:prstGeom>
          <a:solidFill>
            <a:srgbClr val="E5F7FC"/>
          </a:solidFill>
          <a:ln w="12700">
            <a:solidFill>
              <a:srgbClr val="E5F7FC"/>
            </a:solidFill>
            <a:prstDash val="solid"/>
          </a:ln>
        </p:spPr>
      </p:sp>
      <p:sp>
        <p:nvSpPr>
          <p:cNvPr id="21" name="Shape 19"/>
          <p:cNvSpPr/>
          <p:nvPr/>
        </p:nvSpPr>
        <p:spPr>
          <a:xfrm>
            <a:off x="6364224" y="4553712"/>
            <a:ext cx="365760" cy="365760"/>
          </a:xfrm>
          <a:prstGeom prst="ellipse">
            <a:avLst/>
          </a:prstGeom>
          <a:solidFill>
            <a:srgbClr val="00B3E2"/>
          </a:solidFill>
          <a:ln w="12700">
            <a:solidFill>
              <a:srgbClr val="00B3E2"/>
            </a:solidFill>
            <a:prstDash val="solid"/>
          </a:ln>
        </p:spPr>
      </p:sp>
      <p:sp>
        <p:nvSpPr>
          <p:cNvPr id="22" name="Text 20"/>
          <p:cNvSpPr/>
          <p:nvPr/>
        </p:nvSpPr>
        <p:spPr>
          <a:xfrm>
            <a:off x="6364224" y="4553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1"/>
          <p:cNvSpPr/>
          <p:nvPr/>
        </p:nvSpPr>
        <p:spPr>
          <a:xfrm>
            <a:off x="6364224" y="5029200"/>
            <a:ext cx="2240280" cy="713232"/>
          </a:xfrm>
          <a:prstGeom prst="rect">
            <a:avLst/>
          </a:prstGeom>
          <a:noFill/>
          <a:ln/>
        </p:spPr>
        <p:txBody>
          <a:bodyPr wrap="square" lIns="0" tIns="0" rIns="0" bIns="0" rtlCol="0" anchor="t"/>
          <a:lstStyle/>
          <a:p>
            <a:pPr indent="0" marL="0">
              <a:buNone/>
            </a:pPr>
            <a:r>
              <a:rPr lang="en-US" sz="1100" dirty="0">
                <a:solidFill>
                  <a:srgbClr val="3E3E4B"/>
                </a:solidFill>
                <a:latin typeface="Calibri" pitchFamily="34" charset="0"/>
                <a:ea typeface="Calibri" pitchFamily="34" charset="-122"/>
                <a:cs typeface="Calibri" pitchFamily="34" charset="-120"/>
              </a:rPr>
              <a:t>BGP or static prefixes provide reachability between site and hub</a:t>
            </a:r>
            <a:endParaRPr lang="en-US" sz="1100" dirty="0"/>
          </a:p>
        </p:txBody>
      </p:sp>
      <p:sp>
        <p:nvSpPr>
          <p:cNvPr id="24" name="Shape 22"/>
          <p:cNvSpPr/>
          <p:nvPr/>
        </p:nvSpPr>
        <p:spPr>
          <a:xfrm>
            <a:off x="8970264" y="4389120"/>
            <a:ext cx="2606040" cy="1417320"/>
          </a:xfrm>
          <a:prstGeom prst="roundRect">
            <a:avLst>
              <a:gd name="adj" fmla="val 5806"/>
            </a:avLst>
          </a:prstGeom>
          <a:solidFill>
            <a:srgbClr val="E2F2E8"/>
          </a:solidFill>
          <a:ln w="12700">
            <a:solidFill>
              <a:srgbClr val="E2F2E8"/>
            </a:solidFill>
            <a:prstDash val="solid"/>
          </a:ln>
        </p:spPr>
      </p:sp>
      <p:sp>
        <p:nvSpPr>
          <p:cNvPr id="25" name="Shape 23"/>
          <p:cNvSpPr/>
          <p:nvPr/>
        </p:nvSpPr>
        <p:spPr>
          <a:xfrm>
            <a:off x="9171432" y="4553712"/>
            <a:ext cx="365760" cy="365760"/>
          </a:xfrm>
          <a:prstGeom prst="ellipse">
            <a:avLst/>
          </a:prstGeom>
          <a:solidFill>
            <a:srgbClr val="F15D23"/>
          </a:solidFill>
          <a:ln w="12700">
            <a:solidFill>
              <a:srgbClr val="F15D23"/>
            </a:solidFill>
            <a:prstDash val="solid"/>
          </a:ln>
        </p:spPr>
      </p:sp>
      <p:sp>
        <p:nvSpPr>
          <p:cNvPr id="26" name="Text 24"/>
          <p:cNvSpPr/>
          <p:nvPr/>
        </p:nvSpPr>
        <p:spPr>
          <a:xfrm>
            <a:off x="9171432" y="4553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7" name="Text 25"/>
          <p:cNvSpPr/>
          <p:nvPr/>
        </p:nvSpPr>
        <p:spPr>
          <a:xfrm>
            <a:off x="9171432" y="5029200"/>
            <a:ext cx="2240280" cy="713232"/>
          </a:xfrm>
          <a:prstGeom prst="rect">
            <a:avLst/>
          </a:prstGeom>
          <a:noFill/>
          <a:ln/>
        </p:spPr>
        <p:txBody>
          <a:bodyPr wrap="square" lIns="0" tIns="0" rIns="0" bIns="0" rtlCol="0" anchor="t"/>
          <a:lstStyle/>
          <a:p>
            <a:pPr indent="0" marL="0">
              <a:buNone/>
            </a:pPr>
            <a:r>
              <a:rPr lang="en-US" sz="1100" dirty="0">
                <a:solidFill>
                  <a:srgbClr val="3E3E4B"/>
                </a:solidFill>
                <a:latin typeface="Calibri" pitchFamily="34" charset="0"/>
                <a:ea typeface="Calibri" pitchFamily="34" charset="-122"/>
                <a:cs typeface="Calibri" pitchFamily="34" charset="-120"/>
              </a:rPr>
              <a:t>The site reaches the hub, but AVS is still unreachable until the circuit is authorised</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XIX  CONNECTING THE VIRTUAL HUB TO AVS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Authorization key workflow</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30</a:t>
            </a:r>
            <a:endParaRPr lang="en-US" sz="900" dirty="0"/>
          </a:p>
        </p:txBody>
      </p:sp>
      <p:sp>
        <p:nvSpPr>
          <p:cNvPr id="5" name="Text 3"/>
          <p:cNvSpPr/>
          <p:nvPr/>
        </p:nvSpPr>
        <p:spPr>
          <a:xfrm>
            <a:off x="548640" y="1481328"/>
            <a:ext cx="539496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In the AVS private cloud</a:t>
            </a:r>
            <a:endParaRPr lang="en-US" sz="1450" dirty="0"/>
          </a:p>
        </p:txBody>
      </p:sp>
      <p:sp>
        <p:nvSpPr>
          <p:cNvPr id="6" name="Shape 4"/>
          <p:cNvSpPr/>
          <p:nvPr/>
        </p:nvSpPr>
        <p:spPr>
          <a:xfrm>
            <a:off x="548640" y="1847088"/>
            <a:ext cx="5440680" cy="2743200"/>
          </a:xfrm>
          <a:prstGeom prst="roundRect">
            <a:avLst>
              <a:gd name="adj" fmla="val 3000"/>
            </a:avLst>
          </a:prstGeom>
          <a:solidFill>
            <a:srgbClr val="E5F7FC"/>
          </a:solidFill>
          <a:ln w="12700">
            <a:solidFill>
              <a:srgbClr val="E5F7FC"/>
            </a:solidFill>
            <a:prstDash val="solid"/>
          </a:ln>
        </p:spPr>
      </p:sp>
      <p:sp>
        <p:nvSpPr>
          <p:cNvPr id="7" name="Shape 5"/>
          <p:cNvSpPr/>
          <p:nvPr/>
        </p:nvSpPr>
        <p:spPr>
          <a:xfrm>
            <a:off x="868680" y="2121408"/>
            <a:ext cx="384048" cy="384048"/>
          </a:xfrm>
          <a:prstGeom prst="ellipse">
            <a:avLst/>
          </a:prstGeom>
          <a:solidFill>
            <a:srgbClr val="00B3E2"/>
          </a:solidFill>
          <a:ln w="12700">
            <a:solidFill>
              <a:srgbClr val="00B3E2"/>
            </a:solidFill>
            <a:prstDash val="solid"/>
          </a:ln>
        </p:spPr>
      </p:sp>
      <p:sp>
        <p:nvSpPr>
          <p:cNvPr id="8" name="Text 6"/>
          <p:cNvSpPr/>
          <p:nvPr/>
        </p:nvSpPr>
        <p:spPr>
          <a:xfrm>
            <a:off x="868680" y="21214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1435608" y="2084832"/>
            <a:ext cx="427939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Manage &gt; Connectivity &gt; ExpressRoute</a:t>
            </a:r>
            <a:endParaRPr lang="en-US" sz="1300" dirty="0"/>
          </a:p>
        </p:txBody>
      </p:sp>
      <p:sp>
        <p:nvSpPr>
          <p:cNvPr id="10" name="Shape 8"/>
          <p:cNvSpPr/>
          <p:nvPr/>
        </p:nvSpPr>
        <p:spPr>
          <a:xfrm>
            <a:off x="868680" y="2715768"/>
            <a:ext cx="384048" cy="384048"/>
          </a:xfrm>
          <a:prstGeom prst="ellipse">
            <a:avLst/>
          </a:prstGeom>
          <a:solidFill>
            <a:srgbClr val="00B3E2"/>
          </a:solidFill>
          <a:ln w="12700">
            <a:solidFill>
              <a:srgbClr val="00B3E2"/>
            </a:solidFill>
            <a:prstDash val="solid"/>
          </a:ln>
        </p:spPr>
      </p:sp>
      <p:sp>
        <p:nvSpPr>
          <p:cNvPr id="11" name="Text 9"/>
          <p:cNvSpPr/>
          <p:nvPr/>
        </p:nvSpPr>
        <p:spPr>
          <a:xfrm>
            <a:off x="868680" y="27157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435608" y="2679192"/>
            <a:ext cx="427939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Request an authorization key and name it</a:t>
            </a:r>
            <a:endParaRPr lang="en-US" sz="1300" dirty="0"/>
          </a:p>
        </p:txBody>
      </p:sp>
      <p:sp>
        <p:nvSpPr>
          <p:cNvPr id="13" name="Shape 11"/>
          <p:cNvSpPr/>
          <p:nvPr/>
        </p:nvSpPr>
        <p:spPr>
          <a:xfrm>
            <a:off x="868680" y="3310128"/>
            <a:ext cx="384048" cy="384048"/>
          </a:xfrm>
          <a:prstGeom prst="ellipse">
            <a:avLst/>
          </a:prstGeom>
          <a:solidFill>
            <a:srgbClr val="00B3E2"/>
          </a:solidFill>
          <a:ln w="12700">
            <a:solidFill>
              <a:srgbClr val="00B3E2"/>
            </a:solidFill>
            <a:prstDash val="solid"/>
          </a:ln>
        </p:spPr>
      </p:sp>
      <p:sp>
        <p:nvSpPr>
          <p:cNvPr id="14" name="Text 12"/>
          <p:cNvSpPr/>
          <p:nvPr/>
        </p:nvSpPr>
        <p:spPr>
          <a:xfrm>
            <a:off x="868680" y="33101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5" name="Text 13"/>
          <p:cNvSpPr/>
          <p:nvPr/>
        </p:nvSpPr>
        <p:spPr>
          <a:xfrm>
            <a:off x="1435608" y="3273552"/>
            <a:ext cx="427939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Copy the key and the ExpressRoute ID or peer-circuit URI</a:t>
            </a:r>
            <a:endParaRPr lang="en-US" sz="1300" dirty="0"/>
          </a:p>
        </p:txBody>
      </p:sp>
      <p:sp>
        <p:nvSpPr>
          <p:cNvPr id="16" name="Shape 14"/>
          <p:cNvSpPr/>
          <p:nvPr/>
        </p:nvSpPr>
        <p:spPr>
          <a:xfrm>
            <a:off x="868680" y="3950208"/>
            <a:ext cx="384048" cy="384048"/>
          </a:xfrm>
          <a:prstGeom prst="ellipse">
            <a:avLst/>
          </a:prstGeom>
          <a:solidFill>
            <a:srgbClr val="F15D23"/>
          </a:solidFill>
          <a:ln w="12700">
            <a:solidFill>
              <a:srgbClr val="F15D23"/>
            </a:solidFill>
            <a:prstDash val="solid"/>
          </a:ln>
        </p:spPr>
      </p:sp>
      <p:sp>
        <p:nvSpPr>
          <p:cNvPr id="17" name="Text 15"/>
          <p:cNvSpPr/>
          <p:nvPr/>
        </p:nvSpPr>
        <p:spPr>
          <a:xfrm>
            <a:off x="868680" y="39502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8" name="Text 16"/>
          <p:cNvSpPr/>
          <p:nvPr/>
        </p:nvSpPr>
        <p:spPr>
          <a:xfrm>
            <a:off x="1435608" y="3913632"/>
            <a:ext cx="427939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Copy promptly: the key disappears after a period</a:t>
            </a:r>
            <a:endParaRPr lang="en-US" sz="1300" dirty="0"/>
          </a:p>
        </p:txBody>
      </p:sp>
      <p:sp>
        <p:nvSpPr>
          <p:cNvPr id="19" name="Text 17"/>
          <p:cNvSpPr/>
          <p:nvPr/>
        </p:nvSpPr>
        <p:spPr>
          <a:xfrm>
            <a:off x="6199632" y="1481328"/>
            <a:ext cx="539496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In the Virtual WAN hub</a:t>
            </a:r>
            <a:endParaRPr lang="en-US" sz="1450" dirty="0"/>
          </a:p>
        </p:txBody>
      </p:sp>
      <p:sp>
        <p:nvSpPr>
          <p:cNvPr id="20" name="Shape 18"/>
          <p:cNvSpPr/>
          <p:nvPr/>
        </p:nvSpPr>
        <p:spPr>
          <a:xfrm>
            <a:off x="6199632" y="1847088"/>
            <a:ext cx="5440680" cy="2743200"/>
          </a:xfrm>
          <a:prstGeom prst="roundRect">
            <a:avLst>
              <a:gd name="adj" fmla="val 3000"/>
            </a:avLst>
          </a:prstGeom>
          <a:solidFill>
            <a:srgbClr val="EBEDED"/>
          </a:solidFill>
          <a:ln w="12700">
            <a:solidFill>
              <a:srgbClr val="EBEDED"/>
            </a:solidFill>
            <a:prstDash val="solid"/>
          </a:ln>
        </p:spPr>
      </p:sp>
      <p:sp>
        <p:nvSpPr>
          <p:cNvPr id="21" name="Shape 19"/>
          <p:cNvSpPr/>
          <p:nvPr/>
        </p:nvSpPr>
        <p:spPr>
          <a:xfrm>
            <a:off x="6519672" y="2121408"/>
            <a:ext cx="384048" cy="384048"/>
          </a:xfrm>
          <a:prstGeom prst="ellipse">
            <a:avLst/>
          </a:prstGeom>
          <a:solidFill>
            <a:srgbClr val="00B3E2"/>
          </a:solidFill>
          <a:ln w="12700">
            <a:solidFill>
              <a:srgbClr val="00B3E2"/>
            </a:solidFill>
            <a:prstDash val="solid"/>
          </a:ln>
        </p:spPr>
      </p:sp>
      <p:sp>
        <p:nvSpPr>
          <p:cNvPr id="22" name="Text 20"/>
          <p:cNvSpPr/>
          <p:nvPr/>
        </p:nvSpPr>
        <p:spPr>
          <a:xfrm>
            <a:off x="6519672" y="21214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3" name="Text 21"/>
          <p:cNvSpPr/>
          <p:nvPr/>
        </p:nvSpPr>
        <p:spPr>
          <a:xfrm>
            <a:off x="7086600" y="2084832"/>
            <a:ext cx="427939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Open the ExpressRoute gateway and select Redeem authorization key</a:t>
            </a:r>
            <a:endParaRPr lang="en-US" sz="1300" dirty="0"/>
          </a:p>
        </p:txBody>
      </p:sp>
      <p:sp>
        <p:nvSpPr>
          <p:cNvPr id="24" name="Shape 22"/>
          <p:cNvSpPr/>
          <p:nvPr/>
        </p:nvSpPr>
        <p:spPr>
          <a:xfrm>
            <a:off x="6519672" y="2852928"/>
            <a:ext cx="384048" cy="384048"/>
          </a:xfrm>
          <a:prstGeom prst="ellipse">
            <a:avLst/>
          </a:prstGeom>
          <a:solidFill>
            <a:srgbClr val="00B3E2"/>
          </a:solidFill>
          <a:ln w="12700">
            <a:solidFill>
              <a:srgbClr val="00B3E2"/>
            </a:solidFill>
            <a:prstDash val="solid"/>
          </a:ln>
        </p:spPr>
      </p:sp>
      <p:sp>
        <p:nvSpPr>
          <p:cNvPr id="25" name="Text 23"/>
          <p:cNvSpPr/>
          <p:nvPr/>
        </p:nvSpPr>
        <p:spPr>
          <a:xfrm>
            <a:off x="6519672" y="2852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6" name="Text 24"/>
          <p:cNvSpPr/>
          <p:nvPr/>
        </p:nvSpPr>
        <p:spPr>
          <a:xfrm>
            <a:off x="7086600" y="2816352"/>
            <a:ext cx="427939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Paste the authorization key and peer-circuit URI</a:t>
            </a:r>
            <a:endParaRPr lang="en-US" sz="1300" dirty="0"/>
          </a:p>
        </p:txBody>
      </p:sp>
      <p:sp>
        <p:nvSpPr>
          <p:cNvPr id="27" name="Shape 25"/>
          <p:cNvSpPr/>
          <p:nvPr/>
        </p:nvSpPr>
        <p:spPr>
          <a:xfrm>
            <a:off x="6519672" y="3493008"/>
            <a:ext cx="384048" cy="384048"/>
          </a:xfrm>
          <a:prstGeom prst="ellipse">
            <a:avLst/>
          </a:prstGeom>
          <a:solidFill>
            <a:srgbClr val="00B3E2"/>
          </a:solidFill>
          <a:ln w="12700">
            <a:solidFill>
              <a:srgbClr val="00B3E2"/>
            </a:solidFill>
            <a:prstDash val="solid"/>
          </a:ln>
        </p:spPr>
      </p:sp>
      <p:sp>
        <p:nvSpPr>
          <p:cNvPr id="28" name="Text 26"/>
          <p:cNvSpPr/>
          <p:nvPr/>
        </p:nvSpPr>
        <p:spPr>
          <a:xfrm>
            <a:off x="6519672" y="3493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29" name="Text 27"/>
          <p:cNvSpPr/>
          <p:nvPr/>
        </p:nvSpPr>
        <p:spPr>
          <a:xfrm>
            <a:off x="7086600" y="3456432"/>
            <a:ext cx="4279392"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Select automatic hub association where appropriate and add the connection</a:t>
            </a:r>
            <a:endParaRPr lang="en-US" sz="1300" dirty="0"/>
          </a:p>
        </p:txBody>
      </p:sp>
      <p:sp>
        <p:nvSpPr>
          <p:cNvPr id="30" name="Shape 28"/>
          <p:cNvSpPr/>
          <p:nvPr/>
        </p:nvSpPr>
        <p:spPr>
          <a:xfrm>
            <a:off x="548640" y="4846320"/>
            <a:ext cx="11091672" cy="960120"/>
          </a:xfrm>
          <a:prstGeom prst="roundRect">
            <a:avLst>
              <a:gd name="adj" fmla="val 8571"/>
            </a:avLst>
          </a:prstGeom>
          <a:solidFill>
            <a:srgbClr val="3E3E4B"/>
          </a:solidFill>
          <a:ln w="12700">
            <a:solidFill>
              <a:srgbClr val="3E3E4B"/>
            </a:solidFill>
            <a:prstDash val="solid"/>
          </a:ln>
        </p:spPr>
      </p:sp>
      <p:sp>
        <p:nvSpPr>
          <p:cNvPr id="31" name="Text 29"/>
          <p:cNvSpPr/>
          <p:nvPr/>
        </p:nvSpPr>
        <p:spPr>
          <a:xfrm>
            <a:off x="777240" y="4846320"/>
            <a:ext cx="1627632"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On-prem VPN device</a:t>
            </a:r>
            <a:endParaRPr lang="en-US" sz="1100" dirty="0"/>
          </a:p>
        </p:txBody>
      </p:sp>
      <p:sp>
        <p:nvSpPr>
          <p:cNvPr id="32" name="Shape 30"/>
          <p:cNvSpPr/>
          <p:nvPr/>
        </p:nvSpPr>
        <p:spPr>
          <a:xfrm>
            <a:off x="2441448" y="5221224"/>
            <a:ext cx="146304" cy="201168"/>
          </a:xfrm>
          <a:prstGeom prst="rightArrow">
            <a:avLst/>
          </a:prstGeom>
          <a:solidFill>
            <a:srgbClr val="00B3E2"/>
          </a:solidFill>
          <a:ln w="12700">
            <a:solidFill>
              <a:srgbClr val="333333"/>
            </a:solidFill>
            <a:prstDash val="solid"/>
          </a:ln>
        </p:spPr>
      </p:sp>
      <p:sp>
        <p:nvSpPr>
          <p:cNvPr id="33" name="Text 31"/>
          <p:cNvSpPr/>
          <p:nvPr/>
        </p:nvSpPr>
        <p:spPr>
          <a:xfrm>
            <a:off x="2624328" y="4846320"/>
            <a:ext cx="1627632"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VPN gateway</a:t>
            </a:r>
            <a:endParaRPr lang="en-US" sz="1100" dirty="0"/>
          </a:p>
        </p:txBody>
      </p:sp>
      <p:sp>
        <p:nvSpPr>
          <p:cNvPr id="34" name="Shape 32"/>
          <p:cNvSpPr/>
          <p:nvPr/>
        </p:nvSpPr>
        <p:spPr>
          <a:xfrm>
            <a:off x="4288536" y="5221224"/>
            <a:ext cx="146304" cy="201168"/>
          </a:xfrm>
          <a:prstGeom prst="rightArrow">
            <a:avLst/>
          </a:prstGeom>
          <a:solidFill>
            <a:srgbClr val="00B3E2"/>
          </a:solidFill>
          <a:ln w="12700">
            <a:solidFill>
              <a:srgbClr val="333333"/>
            </a:solidFill>
            <a:prstDash val="solid"/>
          </a:ln>
        </p:spPr>
      </p:sp>
      <p:sp>
        <p:nvSpPr>
          <p:cNvPr id="35" name="Text 33"/>
          <p:cNvSpPr/>
          <p:nvPr/>
        </p:nvSpPr>
        <p:spPr>
          <a:xfrm>
            <a:off x="4471416" y="4846320"/>
            <a:ext cx="1627632"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Hub router</a:t>
            </a:r>
            <a:endParaRPr lang="en-US" sz="1100" dirty="0"/>
          </a:p>
        </p:txBody>
      </p:sp>
      <p:sp>
        <p:nvSpPr>
          <p:cNvPr id="36" name="Shape 34"/>
          <p:cNvSpPr/>
          <p:nvPr/>
        </p:nvSpPr>
        <p:spPr>
          <a:xfrm>
            <a:off x="6135624" y="5221224"/>
            <a:ext cx="146304" cy="201168"/>
          </a:xfrm>
          <a:prstGeom prst="rightArrow">
            <a:avLst/>
          </a:prstGeom>
          <a:solidFill>
            <a:srgbClr val="00B3E2"/>
          </a:solidFill>
          <a:ln w="12700">
            <a:solidFill>
              <a:srgbClr val="333333"/>
            </a:solidFill>
            <a:prstDash val="solid"/>
          </a:ln>
        </p:spPr>
      </p:sp>
      <p:sp>
        <p:nvSpPr>
          <p:cNvPr id="37" name="Text 35"/>
          <p:cNvSpPr/>
          <p:nvPr/>
        </p:nvSpPr>
        <p:spPr>
          <a:xfrm>
            <a:off x="6318504" y="4846320"/>
            <a:ext cx="1627632"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ER gateway</a:t>
            </a:r>
            <a:endParaRPr lang="en-US" sz="1100" dirty="0"/>
          </a:p>
        </p:txBody>
      </p:sp>
      <p:sp>
        <p:nvSpPr>
          <p:cNvPr id="38" name="Shape 36"/>
          <p:cNvSpPr/>
          <p:nvPr/>
        </p:nvSpPr>
        <p:spPr>
          <a:xfrm>
            <a:off x="7982712" y="5221224"/>
            <a:ext cx="146304" cy="201168"/>
          </a:xfrm>
          <a:prstGeom prst="rightArrow">
            <a:avLst/>
          </a:prstGeom>
          <a:solidFill>
            <a:srgbClr val="00B3E2"/>
          </a:solidFill>
          <a:ln w="12700">
            <a:solidFill>
              <a:srgbClr val="333333"/>
            </a:solidFill>
            <a:prstDash val="solid"/>
          </a:ln>
        </p:spPr>
      </p:sp>
      <p:sp>
        <p:nvSpPr>
          <p:cNvPr id="39" name="Text 37"/>
          <p:cNvSpPr/>
          <p:nvPr/>
        </p:nvSpPr>
        <p:spPr>
          <a:xfrm>
            <a:off x="8165592" y="4846320"/>
            <a:ext cx="1627632"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AVS circuit</a:t>
            </a:r>
            <a:endParaRPr lang="en-US" sz="1100" dirty="0"/>
          </a:p>
        </p:txBody>
      </p:sp>
      <p:sp>
        <p:nvSpPr>
          <p:cNvPr id="40" name="Shape 38"/>
          <p:cNvSpPr/>
          <p:nvPr/>
        </p:nvSpPr>
        <p:spPr>
          <a:xfrm>
            <a:off x="9829800" y="5221224"/>
            <a:ext cx="146304" cy="201168"/>
          </a:xfrm>
          <a:prstGeom prst="rightArrow">
            <a:avLst/>
          </a:prstGeom>
          <a:solidFill>
            <a:srgbClr val="00B3E2"/>
          </a:solidFill>
          <a:ln w="12700">
            <a:solidFill>
              <a:srgbClr val="333333"/>
            </a:solidFill>
            <a:prstDash val="solid"/>
          </a:ln>
        </p:spPr>
      </p:sp>
      <p:sp>
        <p:nvSpPr>
          <p:cNvPr id="41" name="Text 39"/>
          <p:cNvSpPr/>
          <p:nvPr/>
        </p:nvSpPr>
        <p:spPr>
          <a:xfrm>
            <a:off x="10012680" y="4846320"/>
            <a:ext cx="1627632" cy="960120"/>
          </a:xfrm>
          <a:prstGeom prst="rect">
            <a:avLst/>
          </a:prstGeom>
          <a:noFill/>
          <a:ln/>
        </p:spPr>
        <p:txBody>
          <a:bodyPr wrap="square" lIns="0" tIns="0" rIns="0" bIns="0" rtlCol="0" anchor="ctr"/>
          <a:lstStyle/>
          <a:p>
            <a:pPr algn="ctr" indent="0" marL="0">
              <a:buNone/>
            </a:pPr>
            <a:r>
              <a:rPr lang="en-US" sz="1100" b="1" dirty="0">
                <a:solidFill>
                  <a:srgbClr val="00B3E2"/>
                </a:solidFill>
                <a:latin typeface="Calibri" pitchFamily="34" charset="0"/>
                <a:ea typeface="Calibri" pitchFamily="34" charset="-122"/>
                <a:cs typeface="Calibri" pitchFamily="34" charset="-120"/>
              </a:rPr>
              <a:t>AVS networks</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  BGP CONVERGENCE</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Wait before you conclude it is broken</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31</a:t>
            </a:r>
            <a:endParaRPr lang="en-US" sz="900" dirty="0"/>
          </a:p>
        </p:txBody>
      </p:sp>
      <p:sp>
        <p:nvSpPr>
          <p:cNvPr id="5" name="Shape 3"/>
          <p:cNvSpPr/>
          <p:nvPr/>
        </p:nvSpPr>
        <p:spPr>
          <a:xfrm>
            <a:off x="548640" y="1600200"/>
            <a:ext cx="5029200" cy="2377440"/>
          </a:xfrm>
          <a:prstGeom prst="roundRect">
            <a:avLst>
              <a:gd name="adj" fmla="val 3462"/>
            </a:avLst>
          </a:prstGeom>
          <a:solidFill>
            <a:srgbClr val="3E3E4B"/>
          </a:solidFill>
          <a:ln w="12700">
            <a:solidFill>
              <a:srgbClr val="3E3E4B"/>
            </a:solidFill>
            <a:prstDash val="solid"/>
          </a:ln>
        </p:spPr>
      </p:sp>
      <p:sp>
        <p:nvSpPr>
          <p:cNvPr id="6" name="Text 4"/>
          <p:cNvSpPr/>
          <p:nvPr/>
        </p:nvSpPr>
        <p:spPr>
          <a:xfrm>
            <a:off x="731520" y="2057400"/>
            <a:ext cx="4663440" cy="868680"/>
          </a:xfrm>
          <a:prstGeom prst="rect">
            <a:avLst/>
          </a:prstGeom>
          <a:noFill/>
          <a:ln/>
        </p:spPr>
        <p:txBody>
          <a:bodyPr wrap="square" lIns="0" tIns="0" rIns="0" bIns="0" rtlCol="0" anchor="ctr"/>
          <a:lstStyle/>
          <a:p>
            <a:pPr algn="ctr" indent="0" marL="0">
              <a:buNone/>
            </a:pPr>
            <a:r>
              <a:rPr lang="en-US" sz="4200" b="1" dirty="0">
                <a:solidFill>
                  <a:srgbClr val="00B3E2"/>
                </a:solidFill>
                <a:latin typeface="Arial" pitchFamily="34" charset="0"/>
                <a:ea typeface="Arial" pitchFamily="34" charset="-122"/>
                <a:cs typeface="Arial" pitchFamily="34" charset="-120"/>
              </a:rPr>
              <a:t>~5 min</a:t>
            </a:r>
            <a:endParaRPr lang="en-US" sz="4200" dirty="0"/>
          </a:p>
        </p:txBody>
      </p:sp>
      <p:sp>
        <p:nvSpPr>
          <p:cNvPr id="7" name="Text 5"/>
          <p:cNvSpPr/>
          <p:nvPr/>
        </p:nvSpPr>
        <p:spPr>
          <a:xfrm>
            <a:off x="731520" y="2926080"/>
            <a:ext cx="466344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recommended wait before testing connectivity</a:t>
            </a:r>
            <a:endParaRPr lang="en-US" sz="1200" dirty="0"/>
          </a:p>
        </p:txBody>
      </p:sp>
      <p:sp>
        <p:nvSpPr>
          <p:cNvPr id="8" name="Shape 6"/>
          <p:cNvSpPr/>
          <p:nvPr/>
        </p:nvSpPr>
        <p:spPr>
          <a:xfrm>
            <a:off x="5788152" y="1600200"/>
            <a:ext cx="5852160" cy="2377440"/>
          </a:xfrm>
          <a:prstGeom prst="roundRect">
            <a:avLst>
              <a:gd name="adj" fmla="val 3462"/>
            </a:avLst>
          </a:prstGeom>
          <a:solidFill>
            <a:srgbClr val="E5F7FC"/>
          </a:solidFill>
          <a:ln w="12700">
            <a:solidFill>
              <a:srgbClr val="E5F7FC"/>
            </a:solidFill>
            <a:prstDash val="solid"/>
          </a:ln>
        </p:spPr>
      </p:sp>
      <p:sp>
        <p:nvSpPr>
          <p:cNvPr id="9" name="Text 7"/>
          <p:cNvSpPr/>
          <p:nvPr/>
        </p:nvSpPr>
        <p:spPr>
          <a:xfrm>
            <a:off x="6080760" y="1810512"/>
            <a:ext cx="521208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What is happening in that interval</a:t>
            </a:r>
            <a:endParaRPr lang="en-US" sz="1450" dirty="0"/>
          </a:p>
        </p:txBody>
      </p:sp>
      <p:sp>
        <p:nvSpPr>
          <p:cNvPr id="10" name="Text 8"/>
          <p:cNvSpPr/>
          <p:nvPr/>
        </p:nvSpPr>
        <p:spPr>
          <a:xfrm>
            <a:off x="6080760" y="2194560"/>
            <a:ext cx="5257800" cy="160020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Routes propagate and BGP converges across AVS, the ExpressRoute circuit, the hub router, the VPN gateway, and the on-premises edge. The five-minute wait is documented; the detailed convergence narrative is transcript-derived.</a:t>
            </a:r>
            <a:endParaRPr lang="en-US" sz="1250" dirty="0"/>
          </a:p>
        </p:txBody>
      </p:sp>
      <p:sp>
        <p:nvSpPr>
          <p:cNvPr id="11" name="Text 9"/>
          <p:cNvSpPr/>
          <p:nvPr/>
        </p:nvSpPr>
        <p:spPr>
          <a:xfrm>
            <a:off x="548640" y="4251960"/>
            <a:ext cx="7315200" cy="292608"/>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Validation</a:t>
            </a:r>
            <a:endParaRPr lang="en-US" sz="1500" dirty="0"/>
          </a:p>
        </p:txBody>
      </p:sp>
      <p:sp>
        <p:nvSpPr>
          <p:cNvPr id="12" name="Shape 10"/>
          <p:cNvSpPr/>
          <p:nvPr/>
        </p:nvSpPr>
        <p:spPr>
          <a:xfrm>
            <a:off x="548640" y="4617720"/>
            <a:ext cx="5440680" cy="1188720"/>
          </a:xfrm>
          <a:prstGeom prst="roundRect">
            <a:avLst>
              <a:gd name="adj" fmla="val 6923"/>
            </a:avLst>
          </a:prstGeom>
          <a:solidFill>
            <a:srgbClr val="E2F2E8"/>
          </a:solidFill>
          <a:ln w="12700">
            <a:solidFill>
              <a:srgbClr val="E2F2E8"/>
            </a:solidFill>
            <a:prstDash val="solid"/>
          </a:ln>
        </p:spPr>
      </p:sp>
      <p:sp>
        <p:nvSpPr>
          <p:cNvPr id="13" name="Shape 11"/>
          <p:cNvSpPr/>
          <p:nvPr/>
        </p:nvSpPr>
        <p:spPr>
          <a:xfrm>
            <a:off x="868680" y="4983480"/>
            <a:ext cx="457200" cy="457200"/>
          </a:xfrm>
          <a:prstGeom prst="ellipse">
            <a:avLst/>
          </a:prstGeom>
          <a:solidFill>
            <a:srgbClr val="00AD93"/>
          </a:solidFill>
          <a:ln w="12700">
            <a:solidFill>
              <a:srgbClr val="00AD93"/>
            </a:solidFill>
            <a:prstDash val="solid"/>
          </a:ln>
        </p:spPr>
      </p:sp>
      <p:sp>
        <p:nvSpPr>
          <p:cNvPr id="14" name="Text 12"/>
          <p:cNvSpPr/>
          <p:nvPr/>
        </p:nvSpPr>
        <p:spPr>
          <a:xfrm>
            <a:off x="868680" y="4983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Y</a:t>
            </a:r>
            <a:endParaRPr lang="en-US" sz="1300" dirty="0"/>
          </a:p>
        </p:txBody>
      </p:sp>
      <p:sp>
        <p:nvSpPr>
          <p:cNvPr id="15" name="Text 13"/>
          <p:cNvSpPr/>
          <p:nvPr/>
        </p:nvSpPr>
        <p:spPr>
          <a:xfrm>
            <a:off x="1508760" y="4754880"/>
            <a:ext cx="4251960" cy="914400"/>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Create an NSX segment and a test VM, then validate reachability between on-premises and AVS endpoints.</a:t>
            </a:r>
            <a:endParaRPr lang="en-US" sz="1200" dirty="0"/>
          </a:p>
        </p:txBody>
      </p:sp>
      <p:sp>
        <p:nvSpPr>
          <p:cNvPr id="16" name="Shape 14"/>
          <p:cNvSpPr/>
          <p:nvPr/>
        </p:nvSpPr>
        <p:spPr>
          <a:xfrm>
            <a:off x="6199632" y="4617720"/>
            <a:ext cx="5440680" cy="1188720"/>
          </a:xfrm>
          <a:prstGeom prst="roundRect">
            <a:avLst>
              <a:gd name="adj" fmla="val 6923"/>
            </a:avLst>
          </a:prstGeom>
          <a:solidFill>
            <a:srgbClr val="EBEDED"/>
          </a:solidFill>
          <a:ln w="12700">
            <a:solidFill>
              <a:srgbClr val="EBEDED"/>
            </a:solidFill>
            <a:prstDash val="solid"/>
          </a:ln>
        </p:spPr>
      </p:sp>
      <p:sp>
        <p:nvSpPr>
          <p:cNvPr id="17" name="Shape 15"/>
          <p:cNvSpPr/>
          <p:nvPr/>
        </p:nvSpPr>
        <p:spPr>
          <a:xfrm>
            <a:off x="6519672" y="4983480"/>
            <a:ext cx="457200" cy="457200"/>
          </a:xfrm>
          <a:prstGeom prst="ellipse">
            <a:avLst/>
          </a:prstGeom>
          <a:solidFill>
            <a:srgbClr val="F15D23"/>
          </a:solidFill>
          <a:ln w="12700">
            <a:solidFill>
              <a:srgbClr val="F15D23"/>
            </a:solidFill>
            <a:prstDash val="solid"/>
          </a:ln>
        </p:spPr>
      </p:sp>
      <p:sp>
        <p:nvSpPr>
          <p:cNvPr id="18" name="Text 16"/>
          <p:cNvSpPr/>
          <p:nvPr/>
        </p:nvSpPr>
        <p:spPr>
          <a:xfrm>
            <a:off x="6519672" y="4983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X</a:t>
            </a:r>
            <a:endParaRPr lang="en-US" sz="1300" dirty="0"/>
          </a:p>
        </p:txBody>
      </p:sp>
      <p:sp>
        <p:nvSpPr>
          <p:cNvPr id="19" name="Text 17"/>
          <p:cNvSpPr/>
          <p:nvPr/>
        </p:nvSpPr>
        <p:spPr>
          <a:xfrm>
            <a:off x="7159752" y="4754880"/>
            <a:ext cx="4206240" cy="914400"/>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Do not dismantle the connection because the first test ran before the documented convergence interval elapsed.</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07</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Security</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and access</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Segmentation, inspection, safe publishing, and private administration</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XXI.A  ZERO TRUST</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Reachability is not permission</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33</a:t>
            </a:r>
            <a:endParaRPr lang="en-US" sz="900" dirty="0"/>
          </a:p>
        </p:txBody>
      </p:sp>
      <p:sp>
        <p:nvSpPr>
          <p:cNvPr id="5" name="Text 3"/>
          <p:cNvSpPr/>
          <p:nvPr/>
        </p:nvSpPr>
        <p:spPr>
          <a:xfrm>
            <a:off x="548640" y="1444752"/>
            <a:ext cx="11064240" cy="457200"/>
          </a:xfrm>
          <a:prstGeom prst="rect">
            <a:avLst/>
          </a:prstGeom>
          <a:noFill/>
          <a:ln/>
        </p:spPr>
        <p:txBody>
          <a:bodyPr wrap="square" lIns="0" tIns="0" rIns="0" bIns="0" rtlCol="0" anchor="t"/>
          <a:lstStyle/>
          <a:p>
            <a:pPr indent="0" marL="0">
              <a:buNone/>
            </a:pPr>
            <a:r>
              <a:rPr lang="en-US" sz="1400" dirty="0">
                <a:solidFill>
                  <a:srgbClr val="3E3E4B"/>
                </a:solidFill>
                <a:latin typeface="Calibri" pitchFamily="34" charset="0"/>
                <a:ea typeface="Calibri" pitchFamily="34" charset="-122"/>
                <a:cs typeface="Calibri" pitchFamily="34" charset="-120"/>
              </a:rPr>
              <a:t>Hybrid reachability should not imply unrestricted communication between on-premises systems, Azure spokes, AVS workloads, and the AVS management plane.</a:t>
            </a:r>
            <a:endParaRPr lang="en-US" sz="1400" dirty="0"/>
          </a:p>
        </p:txBody>
      </p:sp>
      <p:sp>
        <p:nvSpPr>
          <p:cNvPr id="6" name="Shape 4"/>
          <p:cNvSpPr/>
          <p:nvPr/>
        </p:nvSpPr>
        <p:spPr>
          <a:xfrm>
            <a:off x="548640" y="2057400"/>
            <a:ext cx="2606040" cy="2011680"/>
          </a:xfrm>
          <a:prstGeom prst="roundRect">
            <a:avLst>
              <a:gd name="adj" fmla="val 4091"/>
            </a:avLst>
          </a:prstGeom>
          <a:solidFill>
            <a:srgbClr val="E5F7FC"/>
          </a:solidFill>
          <a:ln w="12700">
            <a:solidFill>
              <a:srgbClr val="E5F7FC"/>
            </a:solidFill>
            <a:prstDash val="solid"/>
          </a:ln>
        </p:spPr>
      </p:sp>
      <p:sp>
        <p:nvSpPr>
          <p:cNvPr id="7" name="Shape 5"/>
          <p:cNvSpPr/>
          <p:nvPr/>
        </p:nvSpPr>
        <p:spPr>
          <a:xfrm>
            <a:off x="768096" y="2286000"/>
            <a:ext cx="420624" cy="420624"/>
          </a:xfrm>
          <a:prstGeom prst="ellipse">
            <a:avLst/>
          </a:prstGeom>
          <a:solidFill>
            <a:srgbClr val="00B3E2"/>
          </a:solidFill>
          <a:ln w="12700">
            <a:solidFill>
              <a:srgbClr val="00B3E2"/>
            </a:solidFill>
            <a:prstDash val="solid"/>
          </a:ln>
        </p:spPr>
      </p:sp>
      <p:sp>
        <p:nvSpPr>
          <p:cNvPr id="8" name="Text 6"/>
          <p:cNvSpPr/>
          <p:nvPr/>
        </p:nvSpPr>
        <p:spPr>
          <a:xfrm>
            <a:off x="768096" y="22860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768096" y="2834640"/>
            <a:ext cx="2240280" cy="548640"/>
          </a:xfrm>
          <a:prstGeom prst="rect">
            <a:avLst/>
          </a:prstGeom>
          <a:noFill/>
          <a:ln/>
        </p:spPr>
        <p:txBody>
          <a:bodyPr wrap="square" lIns="0" tIns="0" rIns="0" bIns="0" rtlCol="0" anchor="t"/>
          <a:lstStyle/>
          <a:p>
            <a:pPr indent="0" marL="0">
              <a:buNone/>
            </a:pPr>
            <a:r>
              <a:rPr lang="en-US" sz="1250" b="1" dirty="0">
                <a:solidFill>
                  <a:srgbClr val="3E3E4B"/>
                </a:solidFill>
                <a:latin typeface="Arial" pitchFamily="34" charset="0"/>
                <a:ea typeface="Arial" pitchFamily="34" charset="-122"/>
                <a:cs typeface="Arial" pitchFamily="34" charset="-120"/>
              </a:rPr>
              <a:t>Azure Firewall or NVA</a:t>
            </a:r>
            <a:endParaRPr lang="en-US" sz="1250" dirty="0"/>
          </a:p>
        </p:txBody>
      </p:sp>
      <p:sp>
        <p:nvSpPr>
          <p:cNvPr id="10" name="Text 8"/>
          <p:cNvSpPr/>
          <p:nvPr/>
        </p:nvSpPr>
        <p:spPr>
          <a:xfrm>
            <a:off x="768096" y="3383280"/>
            <a:ext cx="2240280" cy="594360"/>
          </a:xfrm>
          <a:prstGeom prst="rect">
            <a:avLst/>
          </a:prstGeom>
          <a:noFill/>
          <a:ln/>
        </p:spPr>
        <p:txBody>
          <a:bodyPr wrap="square" lIns="0" tIns="0" rIns="0" bIns="0" rtlCol="0" anchor="t"/>
          <a:lstStyle/>
          <a:p>
            <a:pPr indent="0" marL="0">
              <a:buNone/>
            </a:pPr>
            <a:r>
              <a:rPr lang="en-US" sz="1100" dirty="0">
                <a:solidFill>
                  <a:srgbClr val="6E6E7E"/>
                </a:solidFill>
                <a:latin typeface="Calibri" pitchFamily="34" charset="0"/>
                <a:ea typeface="Calibri" pitchFamily="34" charset="-122"/>
                <a:cs typeface="Calibri" pitchFamily="34" charset="-120"/>
              </a:rPr>
              <a:t>Enforces traffic rules between Azure spokes and AVS networks.</a:t>
            </a:r>
            <a:endParaRPr lang="en-US" sz="1100" dirty="0"/>
          </a:p>
        </p:txBody>
      </p:sp>
      <p:sp>
        <p:nvSpPr>
          <p:cNvPr id="11" name="Shape 9"/>
          <p:cNvSpPr/>
          <p:nvPr/>
        </p:nvSpPr>
        <p:spPr>
          <a:xfrm>
            <a:off x="3355848" y="2057400"/>
            <a:ext cx="2606040" cy="2011680"/>
          </a:xfrm>
          <a:prstGeom prst="roundRect">
            <a:avLst>
              <a:gd name="adj" fmla="val 4091"/>
            </a:avLst>
          </a:prstGeom>
          <a:solidFill>
            <a:srgbClr val="EBEDED"/>
          </a:solidFill>
          <a:ln w="12700">
            <a:solidFill>
              <a:srgbClr val="EBEDED"/>
            </a:solidFill>
            <a:prstDash val="solid"/>
          </a:ln>
        </p:spPr>
      </p:sp>
      <p:sp>
        <p:nvSpPr>
          <p:cNvPr id="12" name="Shape 10"/>
          <p:cNvSpPr/>
          <p:nvPr/>
        </p:nvSpPr>
        <p:spPr>
          <a:xfrm>
            <a:off x="3575304" y="2286000"/>
            <a:ext cx="420624" cy="420624"/>
          </a:xfrm>
          <a:prstGeom prst="ellipse">
            <a:avLst/>
          </a:prstGeom>
          <a:solidFill>
            <a:srgbClr val="2DCCD3"/>
          </a:solidFill>
          <a:ln w="12700">
            <a:solidFill>
              <a:srgbClr val="2DCCD3"/>
            </a:solidFill>
            <a:prstDash val="solid"/>
          </a:ln>
        </p:spPr>
      </p:sp>
      <p:sp>
        <p:nvSpPr>
          <p:cNvPr id="13" name="Text 11"/>
          <p:cNvSpPr/>
          <p:nvPr/>
        </p:nvSpPr>
        <p:spPr>
          <a:xfrm>
            <a:off x="3575304" y="22860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3575304" y="2834640"/>
            <a:ext cx="2240280" cy="548640"/>
          </a:xfrm>
          <a:prstGeom prst="rect">
            <a:avLst/>
          </a:prstGeom>
          <a:noFill/>
          <a:ln/>
        </p:spPr>
        <p:txBody>
          <a:bodyPr wrap="square" lIns="0" tIns="0" rIns="0" bIns="0" rtlCol="0" anchor="t"/>
          <a:lstStyle/>
          <a:p>
            <a:pPr indent="0" marL="0">
              <a:buNone/>
            </a:pPr>
            <a:r>
              <a:rPr lang="en-US" sz="1250" b="1" dirty="0">
                <a:solidFill>
                  <a:srgbClr val="3E3E4B"/>
                </a:solidFill>
                <a:latin typeface="Arial" pitchFamily="34" charset="0"/>
                <a:ea typeface="Arial" pitchFamily="34" charset="-122"/>
                <a:cs typeface="Arial" pitchFamily="34" charset="-120"/>
              </a:rPr>
              <a:t>Network security groups</a:t>
            </a:r>
            <a:endParaRPr lang="en-US" sz="1250" dirty="0"/>
          </a:p>
        </p:txBody>
      </p:sp>
      <p:sp>
        <p:nvSpPr>
          <p:cNvPr id="15" name="Text 13"/>
          <p:cNvSpPr/>
          <p:nvPr/>
        </p:nvSpPr>
        <p:spPr>
          <a:xfrm>
            <a:off x="3575304" y="3383280"/>
            <a:ext cx="2240280" cy="594360"/>
          </a:xfrm>
          <a:prstGeom prst="rect">
            <a:avLst/>
          </a:prstGeom>
          <a:noFill/>
          <a:ln/>
        </p:spPr>
        <p:txBody>
          <a:bodyPr wrap="square" lIns="0" tIns="0" rIns="0" bIns="0" rtlCol="0" anchor="t"/>
          <a:lstStyle/>
          <a:p>
            <a:pPr indent="0" marL="0">
              <a:buNone/>
            </a:pPr>
            <a:r>
              <a:rPr lang="en-US" sz="1100" dirty="0">
                <a:solidFill>
                  <a:srgbClr val="6E6E7E"/>
                </a:solidFill>
                <a:latin typeface="Calibri" pitchFamily="34" charset="0"/>
                <a:ea typeface="Calibri" pitchFamily="34" charset="-122"/>
                <a:cs typeface="Calibri" pitchFamily="34" charset="-120"/>
              </a:rPr>
              <a:t>A second layer of segmentation inside native Azure VNets.</a:t>
            </a:r>
            <a:endParaRPr lang="en-US" sz="1100" dirty="0"/>
          </a:p>
        </p:txBody>
      </p:sp>
      <p:sp>
        <p:nvSpPr>
          <p:cNvPr id="16" name="Shape 14"/>
          <p:cNvSpPr/>
          <p:nvPr/>
        </p:nvSpPr>
        <p:spPr>
          <a:xfrm>
            <a:off x="6163056" y="2057400"/>
            <a:ext cx="2606040" cy="2011680"/>
          </a:xfrm>
          <a:prstGeom prst="roundRect">
            <a:avLst>
              <a:gd name="adj" fmla="val 4091"/>
            </a:avLst>
          </a:prstGeom>
          <a:solidFill>
            <a:srgbClr val="E5F7FC"/>
          </a:solidFill>
          <a:ln w="12700">
            <a:solidFill>
              <a:srgbClr val="E5F7FC"/>
            </a:solidFill>
            <a:prstDash val="solid"/>
          </a:ln>
        </p:spPr>
      </p:sp>
      <p:sp>
        <p:nvSpPr>
          <p:cNvPr id="17" name="Shape 15"/>
          <p:cNvSpPr/>
          <p:nvPr/>
        </p:nvSpPr>
        <p:spPr>
          <a:xfrm>
            <a:off x="6382512" y="2286000"/>
            <a:ext cx="420624" cy="420624"/>
          </a:xfrm>
          <a:prstGeom prst="ellipse">
            <a:avLst/>
          </a:prstGeom>
          <a:solidFill>
            <a:srgbClr val="00AD93"/>
          </a:solidFill>
          <a:ln w="12700">
            <a:solidFill>
              <a:srgbClr val="00AD93"/>
            </a:solidFill>
            <a:prstDash val="solid"/>
          </a:ln>
        </p:spPr>
      </p:sp>
      <p:sp>
        <p:nvSpPr>
          <p:cNvPr id="18" name="Text 16"/>
          <p:cNvSpPr/>
          <p:nvPr/>
        </p:nvSpPr>
        <p:spPr>
          <a:xfrm>
            <a:off x="6382512" y="22860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6382512" y="2834640"/>
            <a:ext cx="2240280" cy="548640"/>
          </a:xfrm>
          <a:prstGeom prst="rect">
            <a:avLst/>
          </a:prstGeom>
          <a:noFill/>
          <a:ln/>
        </p:spPr>
        <p:txBody>
          <a:bodyPr wrap="square" lIns="0" tIns="0" rIns="0" bIns="0" rtlCol="0" anchor="t"/>
          <a:lstStyle/>
          <a:p>
            <a:pPr indent="0" marL="0">
              <a:buNone/>
            </a:pPr>
            <a:r>
              <a:rPr lang="en-US" sz="1250" b="1" dirty="0">
                <a:solidFill>
                  <a:srgbClr val="3E3E4B"/>
                </a:solidFill>
                <a:latin typeface="Arial" pitchFamily="34" charset="0"/>
                <a:ea typeface="Arial" pitchFamily="34" charset="-122"/>
                <a:cs typeface="Arial" pitchFamily="34" charset="-120"/>
              </a:rPr>
              <a:t>NSX distributed firewall</a:t>
            </a:r>
            <a:endParaRPr lang="en-US" sz="1250" dirty="0"/>
          </a:p>
        </p:txBody>
      </p:sp>
      <p:sp>
        <p:nvSpPr>
          <p:cNvPr id="20" name="Text 18"/>
          <p:cNvSpPr/>
          <p:nvPr/>
        </p:nvSpPr>
        <p:spPr>
          <a:xfrm>
            <a:off x="6382512" y="3383280"/>
            <a:ext cx="2240280" cy="594360"/>
          </a:xfrm>
          <a:prstGeom prst="rect">
            <a:avLst/>
          </a:prstGeom>
          <a:noFill/>
          <a:ln/>
        </p:spPr>
        <p:txBody>
          <a:bodyPr wrap="square" lIns="0" tIns="0" rIns="0" bIns="0" rtlCol="0" anchor="t"/>
          <a:lstStyle/>
          <a:p>
            <a:pPr indent="0" marL="0">
              <a:buNone/>
            </a:pPr>
            <a:r>
              <a:rPr lang="en-US" sz="1100" dirty="0">
                <a:solidFill>
                  <a:srgbClr val="6E6E7E"/>
                </a:solidFill>
                <a:latin typeface="Calibri" pitchFamily="34" charset="0"/>
                <a:ea typeface="Calibri" pitchFamily="34" charset="-122"/>
                <a:cs typeface="Calibri" pitchFamily="34" charset="-120"/>
              </a:rPr>
              <a:t>East-west segmentation between workloads inside the private cloud.</a:t>
            </a:r>
            <a:endParaRPr lang="en-US" sz="1100" dirty="0"/>
          </a:p>
        </p:txBody>
      </p:sp>
      <p:sp>
        <p:nvSpPr>
          <p:cNvPr id="21" name="Shape 19"/>
          <p:cNvSpPr/>
          <p:nvPr/>
        </p:nvSpPr>
        <p:spPr>
          <a:xfrm>
            <a:off x="8970264" y="2057400"/>
            <a:ext cx="2606040" cy="2011680"/>
          </a:xfrm>
          <a:prstGeom prst="roundRect">
            <a:avLst>
              <a:gd name="adj" fmla="val 4091"/>
            </a:avLst>
          </a:prstGeom>
          <a:solidFill>
            <a:srgbClr val="EBEDED"/>
          </a:solidFill>
          <a:ln w="12700">
            <a:solidFill>
              <a:srgbClr val="EBEDED"/>
            </a:solidFill>
            <a:prstDash val="solid"/>
          </a:ln>
        </p:spPr>
      </p:sp>
      <p:sp>
        <p:nvSpPr>
          <p:cNvPr id="22" name="Shape 20"/>
          <p:cNvSpPr/>
          <p:nvPr/>
        </p:nvSpPr>
        <p:spPr>
          <a:xfrm>
            <a:off x="9189720" y="2286000"/>
            <a:ext cx="420624" cy="420624"/>
          </a:xfrm>
          <a:prstGeom prst="ellipse">
            <a:avLst/>
          </a:prstGeom>
          <a:solidFill>
            <a:srgbClr val="8DB9D9"/>
          </a:solidFill>
          <a:ln w="12700">
            <a:solidFill>
              <a:srgbClr val="8DB9D9"/>
            </a:solidFill>
            <a:prstDash val="solid"/>
          </a:ln>
        </p:spPr>
      </p:sp>
      <p:sp>
        <p:nvSpPr>
          <p:cNvPr id="23" name="Text 21"/>
          <p:cNvSpPr/>
          <p:nvPr/>
        </p:nvSpPr>
        <p:spPr>
          <a:xfrm>
            <a:off x="9189720" y="22860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22"/>
          <p:cNvSpPr/>
          <p:nvPr/>
        </p:nvSpPr>
        <p:spPr>
          <a:xfrm>
            <a:off x="9189720" y="2834640"/>
            <a:ext cx="2240280" cy="548640"/>
          </a:xfrm>
          <a:prstGeom prst="rect">
            <a:avLst/>
          </a:prstGeom>
          <a:noFill/>
          <a:ln/>
        </p:spPr>
        <p:txBody>
          <a:bodyPr wrap="square" lIns="0" tIns="0" rIns="0" bIns="0" rtlCol="0" anchor="t"/>
          <a:lstStyle/>
          <a:p>
            <a:pPr indent="0" marL="0">
              <a:buNone/>
            </a:pPr>
            <a:r>
              <a:rPr lang="en-US" sz="1250" b="1" dirty="0">
                <a:solidFill>
                  <a:srgbClr val="3E3E4B"/>
                </a:solidFill>
                <a:latin typeface="Arial" pitchFamily="34" charset="0"/>
                <a:ea typeface="Arial" pitchFamily="34" charset="-122"/>
                <a:cs typeface="Arial" pitchFamily="34" charset="-120"/>
              </a:rPr>
              <a:t>NSX gateway firewall</a:t>
            </a:r>
            <a:endParaRPr lang="en-US" sz="1250" dirty="0"/>
          </a:p>
        </p:txBody>
      </p:sp>
      <p:sp>
        <p:nvSpPr>
          <p:cNvPr id="25" name="Text 23"/>
          <p:cNvSpPr/>
          <p:nvPr/>
        </p:nvSpPr>
        <p:spPr>
          <a:xfrm>
            <a:off x="9189720" y="3383280"/>
            <a:ext cx="2240280" cy="594360"/>
          </a:xfrm>
          <a:prstGeom prst="rect">
            <a:avLst/>
          </a:prstGeom>
          <a:noFill/>
          <a:ln/>
        </p:spPr>
        <p:txBody>
          <a:bodyPr wrap="square" lIns="0" tIns="0" rIns="0" bIns="0" rtlCol="0" anchor="t"/>
          <a:lstStyle/>
          <a:p>
            <a:pPr indent="0" marL="0">
              <a:buNone/>
            </a:pPr>
            <a:r>
              <a:rPr lang="en-US" sz="1100" dirty="0">
                <a:solidFill>
                  <a:srgbClr val="6E6E7E"/>
                </a:solidFill>
                <a:latin typeface="Calibri" pitchFamily="34" charset="0"/>
                <a:ea typeface="Calibri" pitchFamily="34" charset="-122"/>
                <a:cs typeface="Calibri" pitchFamily="34" charset="-120"/>
              </a:rPr>
              <a:t>Policy at the private cloud boundary for north-south traffic.</a:t>
            </a:r>
            <a:endParaRPr lang="en-US" sz="1100" dirty="0"/>
          </a:p>
        </p:txBody>
      </p:sp>
      <p:sp>
        <p:nvSpPr>
          <p:cNvPr id="26" name="Shape 24"/>
          <p:cNvSpPr/>
          <p:nvPr/>
        </p:nvSpPr>
        <p:spPr>
          <a:xfrm>
            <a:off x="548640" y="4343400"/>
            <a:ext cx="11091672" cy="1463040"/>
          </a:xfrm>
          <a:prstGeom prst="roundRect">
            <a:avLst>
              <a:gd name="adj" fmla="val 5625"/>
            </a:avLst>
          </a:prstGeom>
          <a:solidFill>
            <a:srgbClr val="D3EDF1"/>
          </a:solidFill>
          <a:ln w="12700">
            <a:solidFill>
              <a:srgbClr val="D3EDF1"/>
            </a:solidFill>
            <a:prstDash val="solid"/>
          </a:ln>
        </p:spPr>
      </p:sp>
      <p:sp>
        <p:nvSpPr>
          <p:cNvPr id="27" name="Text 25"/>
          <p:cNvSpPr/>
          <p:nvPr/>
        </p:nvSpPr>
        <p:spPr>
          <a:xfrm>
            <a:off x="914400" y="4526280"/>
            <a:ext cx="1042416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Lateral movement is the risk being managed</a:t>
            </a:r>
            <a:endParaRPr lang="en-US" sz="1400" dirty="0"/>
          </a:p>
        </p:txBody>
      </p:sp>
      <p:sp>
        <p:nvSpPr>
          <p:cNvPr id="28" name="Text 26"/>
          <p:cNvSpPr/>
          <p:nvPr/>
        </p:nvSpPr>
        <p:spPr>
          <a:xfrm>
            <a:off x="914400" y="4892040"/>
            <a:ext cx="10424160" cy="77724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Once the tunnel is up, the on-premises estate, Azure spokes, AVS management endpoints, and AVS workloads are mutually routable. Every one of the four layers above exists to make that routability conditional rather than automatic.</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XXI.B - XXII  TWO SECURITY MODELS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Secured virtual hub or self-managed hub VNet</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34</a:t>
            </a:r>
            <a:endParaRPr lang="en-US" sz="900" dirty="0"/>
          </a:p>
        </p:txBody>
      </p:sp>
      <p:sp>
        <p:nvSpPr>
          <p:cNvPr id="5" name="Shape 3"/>
          <p:cNvSpPr/>
          <p:nvPr/>
        </p:nvSpPr>
        <p:spPr>
          <a:xfrm>
            <a:off x="548640" y="1554480"/>
            <a:ext cx="5440680" cy="3703320"/>
          </a:xfrm>
          <a:prstGeom prst="roundRect">
            <a:avLst>
              <a:gd name="adj" fmla="val 2222"/>
            </a:avLst>
          </a:prstGeom>
          <a:solidFill>
            <a:srgbClr val="E5F7FC"/>
          </a:solidFill>
          <a:ln w="12700">
            <a:solidFill>
              <a:srgbClr val="E5F7FC"/>
            </a:solidFill>
            <a:prstDash val="solid"/>
          </a:ln>
        </p:spPr>
      </p:sp>
      <p:sp>
        <p:nvSpPr>
          <p:cNvPr id="6" name="Text 4"/>
          <p:cNvSpPr/>
          <p:nvPr/>
        </p:nvSpPr>
        <p:spPr>
          <a:xfrm>
            <a:off x="868680" y="1783080"/>
            <a:ext cx="4754880" cy="320040"/>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Secured virtual hub</a:t>
            </a:r>
            <a:endParaRPr lang="en-US" sz="1600" dirty="0"/>
          </a:p>
        </p:txBody>
      </p:sp>
      <p:sp>
        <p:nvSpPr>
          <p:cNvPr id="7" name="Text 5"/>
          <p:cNvSpPr/>
          <p:nvPr/>
        </p:nvSpPr>
        <p:spPr>
          <a:xfrm>
            <a:off x="868680" y="2240280"/>
            <a:ext cx="4800600" cy="28803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 Virtual WAN hub with Azure Firewall and associated policies becomes a secured virtual hub</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Routing intent directs private and internet traffic to the chosen security solution</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Spoke UDRs are generally not needed purely to steer traffic through the firewall</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Configure routing intent when branch-to-branch or inter-hub traffic must be inspected</a:t>
            </a:r>
            <a:endParaRPr lang="en-US" sz="1250" dirty="0"/>
          </a:p>
        </p:txBody>
      </p:sp>
      <p:sp>
        <p:nvSpPr>
          <p:cNvPr id="8" name="Shape 6"/>
          <p:cNvSpPr/>
          <p:nvPr/>
        </p:nvSpPr>
        <p:spPr>
          <a:xfrm>
            <a:off x="6199632" y="1554480"/>
            <a:ext cx="5440680" cy="3703320"/>
          </a:xfrm>
          <a:prstGeom prst="roundRect">
            <a:avLst>
              <a:gd name="adj" fmla="val 2222"/>
            </a:avLst>
          </a:prstGeom>
          <a:solidFill>
            <a:srgbClr val="EBEDED"/>
          </a:solidFill>
          <a:ln w="12700">
            <a:solidFill>
              <a:srgbClr val="EBEDED"/>
            </a:solidFill>
            <a:prstDash val="solid"/>
          </a:ln>
        </p:spPr>
      </p:sp>
      <p:sp>
        <p:nvSpPr>
          <p:cNvPr id="9" name="Text 7"/>
          <p:cNvSpPr/>
          <p:nvPr/>
        </p:nvSpPr>
        <p:spPr>
          <a:xfrm>
            <a:off x="6519672" y="1783080"/>
            <a:ext cx="4754880" cy="320040"/>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Self-managed hub VNet with UDRs</a:t>
            </a:r>
            <a:endParaRPr lang="en-US" sz="1600" dirty="0"/>
          </a:p>
        </p:txBody>
      </p:sp>
      <p:sp>
        <p:nvSpPr>
          <p:cNvPr id="10" name="Text 8"/>
          <p:cNvSpPr/>
          <p:nvPr/>
        </p:nvSpPr>
        <p:spPr>
          <a:xfrm>
            <a:off x="6519672" y="2240280"/>
            <a:ext cx="4800600" cy="28803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UDRs override or supplement Azure system routes for selected destination prefixes</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Spoke routes send AVS-bound traffic to the Azure Firewall private IP as a virtual-appliance next hop</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Use specific AVS management and workload prefixes rather than blanket overrides</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Design return routing symmetrically so the stateful firewall sees both directions</a:t>
            </a:r>
            <a:endParaRPr lang="en-US" sz="1250" dirty="0"/>
          </a:p>
        </p:txBody>
      </p:sp>
      <p:sp>
        <p:nvSpPr>
          <p:cNvPr id="11" name="Text 9"/>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Do not transplant the self-managed UDR pattern into a secured-hub design. Use routing intent and hub route policies there instead.</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XXIII  CRITICAL WARNING</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Never apply 0.0.0.0/0 to the gateway subnet</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35</a:t>
            </a:r>
            <a:endParaRPr lang="en-US" sz="900" dirty="0"/>
          </a:p>
        </p:txBody>
      </p:sp>
      <p:sp>
        <p:nvSpPr>
          <p:cNvPr id="5" name="Shape 3"/>
          <p:cNvSpPr/>
          <p:nvPr/>
        </p:nvSpPr>
        <p:spPr>
          <a:xfrm>
            <a:off x="548640" y="1554480"/>
            <a:ext cx="11091672" cy="1234440"/>
          </a:xfrm>
          <a:prstGeom prst="roundRect">
            <a:avLst>
              <a:gd name="adj" fmla="val 6667"/>
            </a:avLst>
          </a:prstGeom>
          <a:solidFill>
            <a:srgbClr val="F15D23"/>
          </a:solidFill>
          <a:ln w="12700">
            <a:solidFill>
              <a:srgbClr val="F15D23"/>
            </a:solidFill>
            <a:prstDash val="solid"/>
          </a:ln>
        </p:spPr>
      </p:sp>
      <p:sp>
        <p:nvSpPr>
          <p:cNvPr id="6" name="Text 4"/>
          <p:cNvSpPr/>
          <p:nvPr/>
        </p:nvSpPr>
        <p:spPr>
          <a:xfrm>
            <a:off x="914400" y="1554480"/>
            <a:ext cx="10424160" cy="12344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0.0.0.0/0 on GatewaySubnet is not supported</a:t>
            </a:r>
            <a:endParaRPr lang="en-US" sz="2400" dirty="0"/>
          </a:p>
        </p:txBody>
      </p:sp>
      <p:sp>
        <p:nvSpPr>
          <p:cNvPr id="7" name="Shape 5"/>
          <p:cNvSpPr/>
          <p:nvPr/>
        </p:nvSpPr>
        <p:spPr>
          <a:xfrm>
            <a:off x="548640" y="3017520"/>
            <a:ext cx="5394960" cy="1371600"/>
          </a:xfrm>
          <a:prstGeom prst="roundRect">
            <a:avLst>
              <a:gd name="adj" fmla="val 6000"/>
            </a:avLst>
          </a:prstGeom>
          <a:solidFill>
            <a:srgbClr val="EBEDED"/>
          </a:solidFill>
          <a:ln w="12700">
            <a:solidFill>
              <a:srgbClr val="EBEDED"/>
            </a:solidFill>
            <a:prstDash val="solid"/>
          </a:ln>
        </p:spPr>
      </p:sp>
      <p:sp>
        <p:nvSpPr>
          <p:cNvPr id="8" name="Text 6"/>
          <p:cNvSpPr/>
          <p:nvPr/>
        </p:nvSpPr>
        <p:spPr>
          <a:xfrm>
            <a:off x="786384" y="3182112"/>
            <a:ext cx="493776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What the route does</a:t>
            </a:r>
            <a:endParaRPr lang="en-US" sz="1300" dirty="0"/>
          </a:p>
        </p:txBody>
      </p:sp>
      <p:sp>
        <p:nvSpPr>
          <p:cNvPr id="9" name="Text 7"/>
          <p:cNvSpPr/>
          <p:nvPr/>
        </p:nvSpPr>
        <p:spPr>
          <a:xfrm>
            <a:off x="786384" y="3493008"/>
            <a:ext cx="4937760" cy="77724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0.0.0.0/0 is the default route: it matches every destination not covered by something more specific.</a:t>
            </a:r>
            <a:endParaRPr lang="en-US" sz="1150" dirty="0"/>
          </a:p>
        </p:txBody>
      </p:sp>
      <p:sp>
        <p:nvSpPr>
          <p:cNvPr id="10" name="Shape 8"/>
          <p:cNvSpPr/>
          <p:nvPr/>
        </p:nvSpPr>
        <p:spPr>
          <a:xfrm>
            <a:off x="6245352" y="3017520"/>
            <a:ext cx="5394960" cy="1371600"/>
          </a:xfrm>
          <a:prstGeom prst="roundRect">
            <a:avLst>
              <a:gd name="adj" fmla="val 6000"/>
            </a:avLst>
          </a:prstGeom>
          <a:solidFill>
            <a:srgbClr val="EBEDED"/>
          </a:solidFill>
          <a:ln w="12700">
            <a:solidFill>
              <a:srgbClr val="EBEDED"/>
            </a:solidFill>
            <a:prstDash val="solid"/>
          </a:ln>
        </p:spPr>
      </p:sp>
      <p:sp>
        <p:nvSpPr>
          <p:cNvPr id="11" name="Text 9"/>
          <p:cNvSpPr/>
          <p:nvPr/>
        </p:nvSpPr>
        <p:spPr>
          <a:xfrm>
            <a:off x="6483096" y="3182112"/>
            <a:ext cx="493776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What Microsoft states</a:t>
            </a:r>
            <a:endParaRPr lang="en-US" sz="1300" dirty="0"/>
          </a:p>
        </p:txBody>
      </p:sp>
      <p:sp>
        <p:nvSpPr>
          <p:cNvPr id="12" name="Text 10"/>
          <p:cNvSpPr/>
          <p:nvPr/>
        </p:nvSpPr>
        <p:spPr>
          <a:xfrm>
            <a:off x="6483096" y="3493008"/>
            <a:ext cx="4937760" cy="77724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A route with prefix 0.0.0.0/0 on GatewaySubnet is explicitly unsupported, and route tables containing it must not be associated with the gateway subnet of a VNet connected to Azure VPN Gateway.</a:t>
            </a:r>
            <a:endParaRPr lang="en-US" sz="1150" dirty="0"/>
          </a:p>
        </p:txBody>
      </p:sp>
      <p:sp>
        <p:nvSpPr>
          <p:cNvPr id="13" name="Shape 11"/>
          <p:cNvSpPr/>
          <p:nvPr/>
        </p:nvSpPr>
        <p:spPr>
          <a:xfrm>
            <a:off x="548640" y="4572000"/>
            <a:ext cx="5394960" cy="1371600"/>
          </a:xfrm>
          <a:prstGeom prst="roundRect">
            <a:avLst>
              <a:gd name="adj" fmla="val 6000"/>
            </a:avLst>
          </a:prstGeom>
          <a:solidFill>
            <a:srgbClr val="EBEDED"/>
          </a:solidFill>
          <a:ln w="12700">
            <a:solidFill>
              <a:srgbClr val="EBEDED"/>
            </a:solidFill>
            <a:prstDash val="solid"/>
          </a:ln>
        </p:spPr>
      </p:sp>
      <p:sp>
        <p:nvSpPr>
          <p:cNvPr id="14" name="Text 12"/>
          <p:cNvSpPr/>
          <p:nvPr/>
        </p:nvSpPr>
        <p:spPr>
          <a:xfrm>
            <a:off x="786384" y="4736592"/>
            <a:ext cx="4937760" cy="274320"/>
          </a:xfrm>
          <a:prstGeom prst="rect">
            <a:avLst/>
          </a:prstGeom>
          <a:noFill/>
          <a:ln/>
        </p:spPr>
        <p:txBody>
          <a:bodyPr wrap="square" lIns="0" tIns="0" rIns="0" bIns="0" rtlCol="0" anchor="ctr"/>
          <a:lstStyle/>
          <a:p>
            <a:pPr indent="0" marL="0">
              <a:buNone/>
            </a:pPr>
            <a:r>
              <a:rPr lang="en-US" sz="1300" b="1" dirty="0">
                <a:solidFill>
                  <a:srgbClr val="3E3E4B"/>
                </a:solidFill>
                <a:latin typeface="Arial" pitchFamily="34" charset="0"/>
                <a:ea typeface="Arial" pitchFamily="34" charset="-122"/>
                <a:cs typeface="Arial" pitchFamily="34" charset="-120"/>
              </a:rPr>
              <a:t>Why it breaks things</a:t>
            </a:r>
            <a:endParaRPr lang="en-US" sz="1300" dirty="0"/>
          </a:p>
        </p:txBody>
      </p:sp>
      <p:sp>
        <p:nvSpPr>
          <p:cNvPr id="15" name="Text 13"/>
          <p:cNvSpPr/>
          <p:nvPr/>
        </p:nvSpPr>
        <p:spPr>
          <a:xfrm>
            <a:off x="786384" y="5047488"/>
            <a:ext cx="4937760" cy="77724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Gateways need direct access to Azure management controllers. Unsupported routes can affect the control path, data path, diagnostics, and gateway health.</a:t>
            </a:r>
            <a:endParaRPr lang="en-US" sz="1150" dirty="0"/>
          </a:p>
        </p:txBody>
      </p:sp>
      <p:sp>
        <p:nvSpPr>
          <p:cNvPr id="16" name="Shape 14"/>
          <p:cNvSpPr/>
          <p:nvPr/>
        </p:nvSpPr>
        <p:spPr>
          <a:xfrm>
            <a:off x="6245352" y="4572000"/>
            <a:ext cx="5394960" cy="1371600"/>
          </a:xfrm>
          <a:prstGeom prst="roundRect">
            <a:avLst>
              <a:gd name="adj" fmla="val 6000"/>
            </a:avLst>
          </a:prstGeom>
          <a:solidFill>
            <a:srgbClr val="E2F2E8"/>
          </a:solidFill>
          <a:ln w="12700">
            <a:solidFill>
              <a:srgbClr val="E2F2E8"/>
            </a:solidFill>
            <a:prstDash val="solid"/>
          </a:ln>
        </p:spPr>
      </p:sp>
      <p:sp>
        <p:nvSpPr>
          <p:cNvPr id="17" name="Text 15"/>
          <p:cNvSpPr/>
          <p:nvPr/>
        </p:nvSpPr>
        <p:spPr>
          <a:xfrm>
            <a:off x="6483096" y="4736592"/>
            <a:ext cx="4937760" cy="274320"/>
          </a:xfrm>
          <a:prstGeom prst="rect">
            <a:avLst/>
          </a:prstGeom>
          <a:noFill/>
          <a:ln/>
        </p:spPr>
        <p:txBody>
          <a:bodyPr wrap="square" lIns="0" tIns="0" rIns="0" bIns="0" rtlCol="0" anchor="ctr"/>
          <a:lstStyle/>
          <a:p>
            <a:pPr indent="0" marL="0">
              <a:buNone/>
            </a:pPr>
            <a:r>
              <a:rPr lang="en-US" sz="1300" b="1" dirty="0">
                <a:solidFill>
                  <a:srgbClr val="00AD93"/>
                </a:solidFill>
                <a:latin typeface="Arial" pitchFamily="34" charset="0"/>
                <a:ea typeface="Arial" pitchFamily="34" charset="-122"/>
                <a:cs typeface="Arial" pitchFamily="34" charset="-120"/>
              </a:rPr>
              <a:t>What to do instead</a:t>
            </a:r>
            <a:endParaRPr lang="en-US" sz="1300" dirty="0"/>
          </a:p>
        </p:txBody>
      </p:sp>
      <p:sp>
        <p:nvSpPr>
          <p:cNvPr id="18" name="Text 16"/>
          <p:cNvSpPr/>
          <p:nvPr/>
        </p:nvSpPr>
        <p:spPr>
          <a:xfrm>
            <a:off x="6483096" y="5047488"/>
            <a:ext cx="4937760" cy="77724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Route specific AVS management and workload prefixes through the firewall, or use routing intent in a secured virtual hub.</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XXIV  PUBLISHING AVS WEB APPLICATIONS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Application Gateway is the documented path</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36</a:t>
            </a:r>
            <a:endParaRPr lang="en-US" sz="900" dirty="0"/>
          </a:p>
        </p:txBody>
      </p:sp>
      <p:sp>
        <p:nvSpPr>
          <p:cNvPr id="5" name="Shape 3"/>
          <p:cNvSpPr/>
          <p:nvPr/>
        </p:nvSpPr>
        <p:spPr>
          <a:xfrm>
            <a:off x="548640" y="1536192"/>
            <a:ext cx="3520440" cy="2148840"/>
          </a:xfrm>
          <a:prstGeom prst="roundRect">
            <a:avLst>
              <a:gd name="adj" fmla="val 3830"/>
            </a:avLst>
          </a:prstGeom>
          <a:solidFill>
            <a:srgbClr val="EBEDED"/>
          </a:solidFill>
          <a:ln w="12700">
            <a:solidFill>
              <a:srgbClr val="EBEDED"/>
            </a:solidFill>
            <a:prstDash val="solid"/>
          </a:ln>
        </p:spPr>
      </p:sp>
      <p:sp>
        <p:nvSpPr>
          <p:cNvPr id="6" name="Text 4"/>
          <p:cNvSpPr/>
          <p:nvPr/>
        </p:nvSpPr>
        <p:spPr>
          <a:xfrm>
            <a:off x="804672" y="1737360"/>
            <a:ext cx="3017520" cy="292608"/>
          </a:xfrm>
          <a:prstGeom prst="rect">
            <a:avLst/>
          </a:prstGeom>
          <a:noFill/>
          <a:ln/>
        </p:spPr>
        <p:txBody>
          <a:bodyPr wrap="square" lIns="0" tIns="0" rIns="0" bIns="0" rtlCol="0" anchor="ctr"/>
          <a:lstStyle/>
          <a:p>
            <a:pPr indent="0" marL="0">
              <a:buNone/>
            </a:pPr>
            <a:r>
              <a:rPr lang="en-US" sz="1400" b="1" dirty="0">
                <a:solidFill>
                  <a:srgbClr val="F15D23"/>
                </a:solidFill>
                <a:latin typeface="Arial" pitchFamily="34" charset="0"/>
                <a:ea typeface="Arial" pitchFamily="34" charset="-122"/>
                <a:cs typeface="Arial" pitchFamily="34" charset="-120"/>
              </a:rPr>
              <a:t>The limitation</a:t>
            </a:r>
            <a:endParaRPr lang="en-US" sz="1400" dirty="0"/>
          </a:p>
        </p:txBody>
      </p:sp>
      <p:sp>
        <p:nvSpPr>
          <p:cNvPr id="7" name="Text 5"/>
          <p:cNvSpPr/>
          <p:nvPr/>
        </p:nvSpPr>
        <p:spPr>
          <a:xfrm>
            <a:off x="804672" y="2103120"/>
            <a:ext cx="3017520" cy="1463040"/>
          </a:xfrm>
          <a:prstGeom prst="rect">
            <a:avLst/>
          </a:prstGeom>
          <a:noFill/>
          <a:ln/>
        </p:spPr>
        <p:txBody>
          <a:bodyPr wrap="square" lIns="0" tIns="0" rIns="0" bIns="0" rtlCol="0" anchor="t"/>
          <a:lstStyle/>
          <a:p>
            <a:pPr indent="0" marL="0">
              <a:buNone/>
            </a:pPr>
            <a:r>
              <a:rPr lang="en-US" sz="1200" dirty="0">
                <a:solidFill>
                  <a:srgbClr val="3E3E4B"/>
                </a:solidFill>
                <a:latin typeface="Calibri" pitchFamily="34" charset="0"/>
                <a:ea typeface="Calibri" pitchFamily="34" charset="-122"/>
                <a:cs typeface="Calibri" pitchFamily="34" charset="-120"/>
              </a:rPr>
              <a:t>AVS VMs are not native Azure IaaS objects, so Azure services that require Azure VM resource objects cannot target them the same way.</a:t>
            </a:r>
            <a:endParaRPr lang="en-US" sz="1200" dirty="0"/>
          </a:p>
        </p:txBody>
      </p:sp>
      <p:sp>
        <p:nvSpPr>
          <p:cNvPr id="8" name="Shape 6"/>
          <p:cNvSpPr/>
          <p:nvPr/>
        </p:nvSpPr>
        <p:spPr>
          <a:xfrm>
            <a:off x="4315968" y="1536192"/>
            <a:ext cx="3520440" cy="2148840"/>
          </a:xfrm>
          <a:prstGeom prst="roundRect">
            <a:avLst>
              <a:gd name="adj" fmla="val 3830"/>
            </a:avLst>
          </a:prstGeom>
          <a:solidFill>
            <a:srgbClr val="E5F7FC"/>
          </a:solidFill>
          <a:ln w="12700">
            <a:solidFill>
              <a:srgbClr val="E5F7FC"/>
            </a:solidFill>
            <a:prstDash val="solid"/>
          </a:ln>
        </p:spPr>
      </p:sp>
      <p:sp>
        <p:nvSpPr>
          <p:cNvPr id="9" name="Text 7"/>
          <p:cNvSpPr/>
          <p:nvPr/>
        </p:nvSpPr>
        <p:spPr>
          <a:xfrm>
            <a:off x="4572000" y="1737360"/>
            <a:ext cx="3017520" cy="292608"/>
          </a:xfrm>
          <a:prstGeom prst="rect">
            <a:avLst/>
          </a:prstGeom>
          <a:noFill/>
          <a:ln/>
        </p:spPr>
        <p:txBody>
          <a:bodyPr wrap="square" lIns="0" tIns="0" rIns="0" bIns="0" rtlCol="0" anchor="ctr"/>
          <a:lstStyle/>
          <a:p>
            <a:pPr indent="0" marL="0">
              <a:buNone/>
            </a:pPr>
            <a:r>
              <a:rPr lang="en-US" sz="1400" b="1" dirty="0">
                <a:solidFill>
                  <a:srgbClr val="00B3E2"/>
                </a:solidFill>
                <a:latin typeface="Arial" pitchFamily="34" charset="0"/>
                <a:ea typeface="Arial" pitchFamily="34" charset="-122"/>
                <a:cs typeface="Arial" pitchFamily="34" charset="-120"/>
              </a:rPr>
              <a:t>The supported method</a:t>
            </a:r>
            <a:endParaRPr lang="en-US" sz="1400" dirty="0"/>
          </a:p>
        </p:txBody>
      </p:sp>
      <p:sp>
        <p:nvSpPr>
          <p:cNvPr id="10" name="Text 8"/>
          <p:cNvSpPr/>
          <p:nvPr/>
        </p:nvSpPr>
        <p:spPr>
          <a:xfrm>
            <a:off x="4572000" y="2103120"/>
            <a:ext cx="3017520" cy="1463040"/>
          </a:xfrm>
          <a:prstGeom prst="rect">
            <a:avLst/>
          </a:prstGeom>
          <a:noFill/>
          <a:ln/>
        </p:spPr>
        <p:txBody>
          <a:bodyPr wrap="square" lIns="0" tIns="0" rIns="0" bIns="0" rtlCol="0" anchor="t"/>
          <a:lstStyle/>
          <a:p>
            <a:pPr indent="0" marL="0">
              <a:buNone/>
            </a:pPr>
            <a:r>
              <a:rPr lang="en-US" sz="1200" dirty="0">
                <a:solidFill>
                  <a:srgbClr val="3E3E4B"/>
                </a:solidFill>
                <a:latin typeface="Calibri" pitchFamily="34" charset="0"/>
                <a:ea typeface="Calibri" pitchFamily="34" charset="-122"/>
                <a:cs typeface="Calibri" pitchFamily="34" charset="-120"/>
              </a:rPr>
              <a:t>Application Gateway is documented as the preferred way to expose web applications running on AVS VMs. It is a Layer 7 load balancer with URL routing, session affinity, and optional WAF.</a:t>
            </a:r>
            <a:endParaRPr lang="en-US" sz="1200" dirty="0"/>
          </a:p>
        </p:txBody>
      </p:sp>
      <p:sp>
        <p:nvSpPr>
          <p:cNvPr id="11" name="Shape 9"/>
          <p:cNvSpPr/>
          <p:nvPr/>
        </p:nvSpPr>
        <p:spPr>
          <a:xfrm>
            <a:off x="8119872" y="1536192"/>
            <a:ext cx="3520440" cy="2148840"/>
          </a:xfrm>
          <a:prstGeom prst="roundRect">
            <a:avLst>
              <a:gd name="adj" fmla="val 3830"/>
            </a:avLst>
          </a:prstGeom>
          <a:solidFill>
            <a:srgbClr val="D3EDF1"/>
          </a:solidFill>
          <a:ln w="12700">
            <a:solidFill>
              <a:srgbClr val="D3EDF1"/>
            </a:solidFill>
            <a:prstDash val="solid"/>
          </a:ln>
        </p:spPr>
      </p:sp>
      <p:sp>
        <p:nvSpPr>
          <p:cNvPr id="12" name="Text 10"/>
          <p:cNvSpPr/>
          <p:nvPr/>
        </p:nvSpPr>
        <p:spPr>
          <a:xfrm>
            <a:off x="8375904" y="1737360"/>
            <a:ext cx="301752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Where it goes</a:t>
            </a:r>
            <a:endParaRPr lang="en-US" sz="1400" dirty="0"/>
          </a:p>
        </p:txBody>
      </p:sp>
      <p:sp>
        <p:nvSpPr>
          <p:cNvPr id="13" name="Text 11"/>
          <p:cNvSpPr/>
          <p:nvPr/>
        </p:nvSpPr>
        <p:spPr>
          <a:xfrm>
            <a:off x="8375904" y="2103120"/>
            <a:ext cx="3017520" cy="1463040"/>
          </a:xfrm>
          <a:prstGeom prst="rect">
            <a:avLst/>
          </a:prstGeom>
          <a:noFill/>
          <a:ln/>
        </p:spPr>
        <p:txBody>
          <a:bodyPr wrap="square" lIns="0" tIns="0" rIns="0" bIns="0" rtlCol="0" anchor="t"/>
          <a:lstStyle/>
          <a:p>
            <a:pPr indent="0" marL="0">
              <a:buNone/>
            </a:pPr>
            <a:r>
              <a:rPr lang="en-US" sz="1200" dirty="0">
                <a:solidFill>
                  <a:srgbClr val="3E3E4B"/>
                </a:solidFill>
                <a:latin typeface="Calibri" pitchFamily="34" charset="0"/>
                <a:ea typeface="Calibri" pitchFamily="34" charset="-122"/>
                <a:cs typeface="Calibri" pitchFamily="34" charset="-120"/>
              </a:rPr>
              <a:t>A dedicated hub subnet in a self-managed design. In Virtual WAN, a connected ingress or shared-services spoke, because it is not deployed into the managed hub.</a:t>
            </a:r>
            <a:endParaRPr lang="en-US" sz="1200" dirty="0"/>
          </a:p>
        </p:txBody>
      </p:sp>
      <p:sp>
        <p:nvSpPr>
          <p:cNvPr id="14" name="Text 12"/>
          <p:cNvSpPr/>
          <p:nvPr/>
        </p:nvSpPr>
        <p:spPr>
          <a:xfrm>
            <a:off x="548640" y="3977640"/>
            <a:ext cx="7315200" cy="292608"/>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Request processing</a:t>
            </a:r>
            <a:endParaRPr lang="en-US" sz="1500" dirty="0"/>
          </a:p>
        </p:txBody>
      </p:sp>
      <p:sp>
        <p:nvSpPr>
          <p:cNvPr id="15" name="Shape 13"/>
          <p:cNvSpPr/>
          <p:nvPr/>
        </p:nvSpPr>
        <p:spPr>
          <a:xfrm>
            <a:off x="548640" y="4389120"/>
            <a:ext cx="2606040" cy="1371600"/>
          </a:xfrm>
          <a:prstGeom prst="roundRect">
            <a:avLst>
              <a:gd name="adj" fmla="val 6000"/>
            </a:avLst>
          </a:prstGeom>
          <a:solidFill>
            <a:srgbClr val="E5F7FC"/>
          </a:solidFill>
          <a:ln w="12700">
            <a:solidFill>
              <a:srgbClr val="E5F7FC"/>
            </a:solidFill>
            <a:prstDash val="solid"/>
          </a:ln>
        </p:spPr>
      </p:sp>
      <p:sp>
        <p:nvSpPr>
          <p:cNvPr id="16" name="Shape 14"/>
          <p:cNvSpPr/>
          <p:nvPr/>
        </p:nvSpPr>
        <p:spPr>
          <a:xfrm>
            <a:off x="749808" y="4553712"/>
            <a:ext cx="365760" cy="365760"/>
          </a:xfrm>
          <a:prstGeom prst="ellipse">
            <a:avLst/>
          </a:prstGeom>
          <a:solidFill>
            <a:srgbClr val="00B3E2"/>
          </a:solidFill>
          <a:ln w="12700">
            <a:solidFill>
              <a:srgbClr val="00B3E2"/>
            </a:solidFill>
            <a:prstDash val="solid"/>
          </a:ln>
        </p:spPr>
      </p:sp>
      <p:sp>
        <p:nvSpPr>
          <p:cNvPr id="17" name="Text 15"/>
          <p:cNvSpPr/>
          <p:nvPr/>
        </p:nvSpPr>
        <p:spPr>
          <a:xfrm>
            <a:off x="749808" y="4553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8" name="Text 16"/>
          <p:cNvSpPr/>
          <p:nvPr/>
        </p:nvSpPr>
        <p:spPr>
          <a:xfrm>
            <a:off x="749808" y="5029200"/>
            <a:ext cx="2240280" cy="658368"/>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Client reaches the frontend listener</a:t>
            </a:r>
            <a:endParaRPr lang="en-US" sz="1150" dirty="0"/>
          </a:p>
        </p:txBody>
      </p:sp>
      <p:sp>
        <p:nvSpPr>
          <p:cNvPr id="19" name="Shape 17"/>
          <p:cNvSpPr/>
          <p:nvPr/>
        </p:nvSpPr>
        <p:spPr>
          <a:xfrm>
            <a:off x="3355848" y="4389120"/>
            <a:ext cx="2606040" cy="1371600"/>
          </a:xfrm>
          <a:prstGeom prst="roundRect">
            <a:avLst>
              <a:gd name="adj" fmla="val 6000"/>
            </a:avLst>
          </a:prstGeom>
          <a:solidFill>
            <a:srgbClr val="EBEDED"/>
          </a:solidFill>
          <a:ln w="12700">
            <a:solidFill>
              <a:srgbClr val="EBEDED"/>
            </a:solidFill>
            <a:prstDash val="solid"/>
          </a:ln>
        </p:spPr>
      </p:sp>
      <p:sp>
        <p:nvSpPr>
          <p:cNvPr id="20" name="Shape 18"/>
          <p:cNvSpPr/>
          <p:nvPr/>
        </p:nvSpPr>
        <p:spPr>
          <a:xfrm>
            <a:off x="3557016" y="4553712"/>
            <a:ext cx="365760" cy="365760"/>
          </a:xfrm>
          <a:prstGeom prst="ellipse">
            <a:avLst/>
          </a:prstGeom>
          <a:solidFill>
            <a:srgbClr val="00B3E2"/>
          </a:solidFill>
          <a:ln w="12700">
            <a:solidFill>
              <a:srgbClr val="00B3E2"/>
            </a:solidFill>
            <a:prstDash val="solid"/>
          </a:ln>
        </p:spPr>
      </p:sp>
      <p:sp>
        <p:nvSpPr>
          <p:cNvPr id="21" name="Text 19"/>
          <p:cNvSpPr/>
          <p:nvPr/>
        </p:nvSpPr>
        <p:spPr>
          <a:xfrm>
            <a:off x="3557016" y="4553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2" name="Text 20"/>
          <p:cNvSpPr/>
          <p:nvPr/>
        </p:nvSpPr>
        <p:spPr>
          <a:xfrm>
            <a:off x="3557016" y="5029200"/>
            <a:ext cx="2240280" cy="658368"/>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WAF evaluates headers and bodies against rules</a:t>
            </a:r>
            <a:endParaRPr lang="en-US" sz="1150" dirty="0"/>
          </a:p>
        </p:txBody>
      </p:sp>
      <p:sp>
        <p:nvSpPr>
          <p:cNvPr id="23" name="Shape 21"/>
          <p:cNvSpPr/>
          <p:nvPr/>
        </p:nvSpPr>
        <p:spPr>
          <a:xfrm>
            <a:off x="6163056" y="4389120"/>
            <a:ext cx="2606040" cy="1371600"/>
          </a:xfrm>
          <a:prstGeom prst="roundRect">
            <a:avLst>
              <a:gd name="adj" fmla="val 6000"/>
            </a:avLst>
          </a:prstGeom>
          <a:solidFill>
            <a:srgbClr val="E5F7FC"/>
          </a:solidFill>
          <a:ln w="12700">
            <a:solidFill>
              <a:srgbClr val="E5F7FC"/>
            </a:solidFill>
            <a:prstDash val="solid"/>
          </a:ln>
        </p:spPr>
      </p:sp>
      <p:sp>
        <p:nvSpPr>
          <p:cNvPr id="24" name="Shape 22"/>
          <p:cNvSpPr/>
          <p:nvPr/>
        </p:nvSpPr>
        <p:spPr>
          <a:xfrm>
            <a:off x="6364224" y="4553712"/>
            <a:ext cx="365760" cy="365760"/>
          </a:xfrm>
          <a:prstGeom prst="ellipse">
            <a:avLst/>
          </a:prstGeom>
          <a:solidFill>
            <a:srgbClr val="00B3E2"/>
          </a:solidFill>
          <a:ln w="12700">
            <a:solidFill>
              <a:srgbClr val="00B3E2"/>
            </a:solidFill>
            <a:prstDash val="solid"/>
          </a:ln>
        </p:spPr>
      </p:sp>
      <p:sp>
        <p:nvSpPr>
          <p:cNvPr id="25" name="Text 23"/>
          <p:cNvSpPr/>
          <p:nvPr/>
        </p:nvSpPr>
        <p:spPr>
          <a:xfrm>
            <a:off x="6364224" y="4553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6" name="Text 24"/>
          <p:cNvSpPr/>
          <p:nvPr/>
        </p:nvSpPr>
        <p:spPr>
          <a:xfrm>
            <a:off x="6364224" y="5029200"/>
            <a:ext cx="2240280" cy="658368"/>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TLS terminates at the gateway, or runs end to end</a:t>
            </a:r>
            <a:endParaRPr lang="en-US" sz="1150" dirty="0"/>
          </a:p>
        </p:txBody>
      </p:sp>
      <p:sp>
        <p:nvSpPr>
          <p:cNvPr id="27" name="Shape 25"/>
          <p:cNvSpPr/>
          <p:nvPr/>
        </p:nvSpPr>
        <p:spPr>
          <a:xfrm>
            <a:off x="8970264" y="4389120"/>
            <a:ext cx="2606040" cy="1371600"/>
          </a:xfrm>
          <a:prstGeom prst="roundRect">
            <a:avLst>
              <a:gd name="adj" fmla="val 6000"/>
            </a:avLst>
          </a:prstGeom>
          <a:solidFill>
            <a:srgbClr val="EBEDED"/>
          </a:solidFill>
          <a:ln w="12700">
            <a:solidFill>
              <a:srgbClr val="EBEDED"/>
            </a:solidFill>
            <a:prstDash val="solid"/>
          </a:ln>
        </p:spPr>
      </p:sp>
      <p:sp>
        <p:nvSpPr>
          <p:cNvPr id="28" name="Shape 26"/>
          <p:cNvSpPr/>
          <p:nvPr/>
        </p:nvSpPr>
        <p:spPr>
          <a:xfrm>
            <a:off x="9171432" y="4553712"/>
            <a:ext cx="365760" cy="365760"/>
          </a:xfrm>
          <a:prstGeom prst="ellipse">
            <a:avLst/>
          </a:prstGeom>
          <a:solidFill>
            <a:srgbClr val="00B3E2"/>
          </a:solidFill>
          <a:ln w="12700">
            <a:solidFill>
              <a:srgbClr val="00B3E2"/>
            </a:solidFill>
            <a:prstDash val="solid"/>
          </a:ln>
        </p:spPr>
      </p:sp>
      <p:sp>
        <p:nvSpPr>
          <p:cNvPr id="29" name="Text 27"/>
          <p:cNvSpPr/>
          <p:nvPr/>
        </p:nvSpPr>
        <p:spPr>
          <a:xfrm>
            <a:off x="9171432" y="45537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0" name="Text 28"/>
          <p:cNvSpPr/>
          <p:nvPr/>
        </p:nvSpPr>
        <p:spPr>
          <a:xfrm>
            <a:off x="9171432" y="5029200"/>
            <a:ext cx="2240280" cy="658368"/>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AVS web servers answer as private backend targets</a:t>
            </a:r>
            <a:endParaRPr lang="en-US" sz="1150" dirty="0"/>
          </a:p>
        </p:txBody>
      </p:sp>
      <p:sp>
        <p:nvSpPr>
          <p:cNvPr id="31" name="Text 29"/>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The AVS backend stays privately addressed and needs no direct public exposure.</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XXV - XXVII  SECURE ADMINISTRATIVE ACCESS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Bastion to a jump box, jump box to AVS</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37</a:t>
            </a:r>
            <a:endParaRPr lang="en-US" sz="900" dirty="0"/>
          </a:p>
        </p:txBody>
      </p:sp>
      <p:sp>
        <p:nvSpPr>
          <p:cNvPr id="5" name="Shape 3"/>
          <p:cNvSpPr/>
          <p:nvPr/>
        </p:nvSpPr>
        <p:spPr>
          <a:xfrm>
            <a:off x="548640" y="1572768"/>
            <a:ext cx="2651760" cy="2057400"/>
          </a:xfrm>
          <a:prstGeom prst="roundRect">
            <a:avLst>
              <a:gd name="adj" fmla="val 4000"/>
            </a:avLst>
          </a:prstGeom>
          <a:solidFill>
            <a:srgbClr val="E5F7FC"/>
          </a:solidFill>
          <a:ln w="12700">
            <a:solidFill>
              <a:srgbClr val="DDE2E2"/>
            </a:solidFill>
            <a:prstDash val="solid"/>
          </a:ln>
        </p:spPr>
      </p:sp>
      <p:sp>
        <p:nvSpPr>
          <p:cNvPr id="6" name="Shape 4"/>
          <p:cNvSpPr/>
          <p:nvPr/>
        </p:nvSpPr>
        <p:spPr>
          <a:xfrm>
            <a:off x="768096" y="1783080"/>
            <a:ext cx="402336" cy="402336"/>
          </a:xfrm>
          <a:prstGeom prst="ellipse">
            <a:avLst/>
          </a:prstGeom>
          <a:solidFill>
            <a:srgbClr val="8DB9D9"/>
          </a:solidFill>
          <a:ln w="12700">
            <a:solidFill>
              <a:srgbClr val="8DB9D9"/>
            </a:solidFill>
            <a:prstDash val="solid"/>
          </a:ln>
        </p:spPr>
      </p:sp>
      <p:sp>
        <p:nvSpPr>
          <p:cNvPr id="7" name="Text 5"/>
          <p:cNvSpPr/>
          <p:nvPr/>
        </p:nvSpPr>
        <p:spPr>
          <a:xfrm>
            <a:off x="768096" y="17830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768096" y="2286000"/>
            <a:ext cx="2240280" cy="502920"/>
          </a:xfrm>
          <a:prstGeom prst="rect">
            <a:avLst/>
          </a:prstGeom>
          <a:noFill/>
          <a:ln/>
        </p:spPr>
        <p:txBody>
          <a:bodyPr wrap="square" lIns="0" tIns="0" rIns="0" bIns="0" rtlCol="0" anchor="t"/>
          <a:lstStyle/>
          <a:p>
            <a:pPr indent="0" marL="0">
              <a:buNone/>
            </a:pPr>
            <a:r>
              <a:rPr lang="en-US" sz="1250" b="1" dirty="0">
                <a:solidFill>
                  <a:srgbClr val="3E3E4B"/>
                </a:solidFill>
                <a:latin typeface="Arial" pitchFamily="34" charset="0"/>
                <a:ea typeface="Arial" pitchFamily="34" charset="-122"/>
                <a:cs typeface="Arial" pitchFamily="34" charset="-120"/>
              </a:rPr>
              <a:t>Administrator</a:t>
            </a:r>
            <a:endParaRPr lang="en-US" sz="1250" dirty="0"/>
          </a:p>
        </p:txBody>
      </p:sp>
      <p:sp>
        <p:nvSpPr>
          <p:cNvPr id="9" name="Text 7"/>
          <p:cNvSpPr/>
          <p:nvPr/>
        </p:nvSpPr>
        <p:spPr>
          <a:xfrm>
            <a:off x="768096" y="2788920"/>
            <a:ext cx="2240280" cy="749808"/>
          </a:xfrm>
          <a:prstGeom prst="rect">
            <a:avLst/>
          </a:prstGeom>
          <a:noFill/>
          <a:ln/>
        </p:spPr>
        <p:txBody>
          <a:bodyPr wrap="square" lIns="0" tIns="0" rIns="0" bIns="0" rtlCol="0" anchor="t"/>
          <a:lstStyle/>
          <a:p>
            <a:pPr indent="0" marL="0">
              <a:buNone/>
            </a:pPr>
            <a:r>
              <a:rPr lang="en-US" sz="1100" dirty="0">
                <a:solidFill>
                  <a:srgbClr val="6E6E7E"/>
                </a:solidFill>
                <a:latin typeface="Calibri" pitchFamily="34" charset="0"/>
                <a:ea typeface="Calibri" pitchFamily="34" charset="-122"/>
                <a:cs typeface="Calibri" pitchFamily="34" charset="-120"/>
              </a:rPr>
              <a:t>Portal session over TLS, commonly TCP 443</a:t>
            </a:r>
            <a:endParaRPr lang="en-US" sz="1100" dirty="0"/>
          </a:p>
        </p:txBody>
      </p:sp>
      <p:sp>
        <p:nvSpPr>
          <p:cNvPr id="10" name="Shape 8"/>
          <p:cNvSpPr/>
          <p:nvPr/>
        </p:nvSpPr>
        <p:spPr>
          <a:xfrm>
            <a:off x="3255264" y="2487168"/>
            <a:ext cx="128016" cy="182880"/>
          </a:xfrm>
          <a:prstGeom prst="rightArrow">
            <a:avLst/>
          </a:prstGeom>
          <a:solidFill>
            <a:srgbClr val="00B3E2"/>
          </a:solidFill>
          <a:ln w="12700">
            <a:solidFill>
              <a:srgbClr val="333333"/>
            </a:solidFill>
            <a:prstDash val="solid"/>
          </a:ln>
        </p:spPr>
      </p:sp>
      <p:sp>
        <p:nvSpPr>
          <p:cNvPr id="11" name="Shape 9"/>
          <p:cNvSpPr/>
          <p:nvPr/>
        </p:nvSpPr>
        <p:spPr>
          <a:xfrm>
            <a:off x="3410712" y="1572768"/>
            <a:ext cx="2651760" cy="2057400"/>
          </a:xfrm>
          <a:prstGeom prst="roundRect">
            <a:avLst>
              <a:gd name="adj" fmla="val 4000"/>
            </a:avLst>
          </a:prstGeom>
          <a:solidFill>
            <a:srgbClr val="E5F7FC"/>
          </a:solidFill>
          <a:ln w="12700">
            <a:solidFill>
              <a:srgbClr val="DDE2E2"/>
            </a:solidFill>
            <a:prstDash val="solid"/>
          </a:ln>
        </p:spPr>
      </p:sp>
      <p:sp>
        <p:nvSpPr>
          <p:cNvPr id="12" name="Shape 10"/>
          <p:cNvSpPr/>
          <p:nvPr/>
        </p:nvSpPr>
        <p:spPr>
          <a:xfrm>
            <a:off x="3630168" y="1783080"/>
            <a:ext cx="402336" cy="402336"/>
          </a:xfrm>
          <a:prstGeom prst="ellipse">
            <a:avLst/>
          </a:prstGeom>
          <a:solidFill>
            <a:srgbClr val="00B3E2"/>
          </a:solidFill>
          <a:ln w="12700">
            <a:solidFill>
              <a:srgbClr val="00B3E2"/>
            </a:solidFill>
            <a:prstDash val="solid"/>
          </a:ln>
        </p:spPr>
      </p:sp>
      <p:sp>
        <p:nvSpPr>
          <p:cNvPr id="13" name="Text 11"/>
          <p:cNvSpPr/>
          <p:nvPr/>
        </p:nvSpPr>
        <p:spPr>
          <a:xfrm>
            <a:off x="3630168" y="17830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3630168" y="2286000"/>
            <a:ext cx="2240280" cy="502920"/>
          </a:xfrm>
          <a:prstGeom prst="rect">
            <a:avLst/>
          </a:prstGeom>
          <a:noFill/>
          <a:ln/>
        </p:spPr>
        <p:txBody>
          <a:bodyPr wrap="square" lIns="0" tIns="0" rIns="0" bIns="0" rtlCol="0" anchor="t"/>
          <a:lstStyle/>
          <a:p>
            <a:pPr indent="0" marL="0">
              <a:buNone/>
            </a:pPr>
            <a:r>
              <a:rPr lang="en-US" sz="1250" b="1" dirty="0">
                <a:solidFill>
                  <a:srgbClr val="3E3E4B"/>
                </a:solidFill>
                <a:latin typeface="Arial" pitchFamily="34" charset="0"/>
                <a:ea typeface="Arial" pitchFamily="34" charset="-122"/>
                <a:cs typeface="Arial" pitchFamily="34" charset="-120"/>
              </a:rPr>
              <a:t>Azure Bastion</a:t>
            </a:r>
            <a:endParaRPr lang="en-US" sz="1250" dirty="0"/>
          </a:p>
        </p:txBody>
      </p:sp>
      <p:sp>
        <p:nvSpPr>
          <p:cNvPr id="15" name="Text 13"/>
          <p:cNvSpPr/>
          <p:nvPr/>
        </p:nvSpPr>
        <p:spPr>
          <a:xfrm>
            <a:off x="3630168" y="2788920"/>
            <a:ext cx="2240280" cy="749808"/>
          </a:xfrm>
          <a:prstGeom prst="rect">
            <a:avLst/>
          </a:prstGeom>
          <a:noFill/>
          <a:ln/>
        </p:spPr>
        <p:txBody>
          <a:bodyPr wrap="square" lIns="0" tIns="0" rIns="0" bIns="0" rtlCol="0" anchor="t"/>
          <a:lstStyle/>
          <a:p>
            <a:pPr indent="0" marL="0">
              <a:buNone/>
            </a:pPr>
            <a:r>
              <a:rPr lang="en-US" sz="1100" dirty="0">
                <a:solidFill>
                  <a:srgbClr val="6E6E7E"/>
                </a:solidFill>
                <a:latin typeface="Calibri" pitchFamily="34" charset="0"/>
                <a:ea typeface="Calibri" pitchFamily="34" charset="-122"/>
                <a:cs typeface="Calibri" pitchFamily="34" charset="-120"/>
              </a:rPr>
              <a:t>RDP or SSH to Azure VMs with no public IP, agent, or special client</a:t>
            </a:r>
            <a:endParaRPr lang="en-US" sz="1100" dirty="0"/>
          </a:p>
        </p:txBody>
      </p:sp>
      <p:sp>
        <p:nvSpPr>
          <p:cNvPr id="16" name="Shape 14"/>
          <p:cNvSpPr/>
          <p:nvPr/>
        </p:nvSpPr>
        <p:spPr>
          <a:xfrm>
            <a:off x="6117336" y="2487168"/>
            <a:ext cx="128016" cy="182880"/>
          </a:xfrm>
          <a:prstGeom prst="rightArrow">
            <a:avLst/>
          </a:prstGeom>
          <a:solidFill>
            <a:srgbClr val="00B3E2"/>
          </a:solidFill>
          <a:ln w="12700">
            <a:solidFill>
              <a:srgbClr val="333333"/>
            </a:solidFill>
            <a:prstDash val="solid"/>
          </a:ln>
        </p:spPr>
      </p:sp>
      <p:sp>
        <p:nvSpPr>
          <p:cNvPr id="17" name="Shape 15"/>
          <p:cNvSpPr/>
          <p:nvPr/>
        </p:nvSpPr>
        <p:spPr>
          <a:xfrm>
            <a:off x="6272784" y="1572768"/>
            <a:ext cx="2651760" cy="2057400"/>
          </a:xfrm>
          <a:prstGeom prst="roundRect">
            <a:avLst>
              <a:gd name="adj" fmla="val 4000"/>
            </a:avLst>
          </a:prstGeom>
          <a:solidFill>
            <a:srgbClr val="E5F7FC"/>
          </a:solidFill>
          <a:ln w="12700">
            <a:solidFill>
              <a:srgbClr val="DDE2E2"/>
            </a:solidFill>
            <a:prstDash val="solid"/>
          </a:ln>
        </p:spPr>
      </p:sp>
      <p:sp>
        <p:nvSpPr>
          <p:cNvPr id="18" name="Shape 16"/>
          <p:cNvSpPr/>
          <p:nvPr/>
        </p:nvSpPr>
        <p:spPr>
          <a:xfrm>
            <a:off x="6492240" y="1783080"/>
            <a:ext cx="402336" cy="402336"/>
          </a:xfrm>
          <a:prstGeom prst="ellipse">
            <a:avLst/>
          </a:prstGeom>
          <a:solidFill>
            <a:srgbClr val="2DCCD3"/>
          </a:solidFill>
          <a:ln w="12700">
            <a:solidFill>
              <a:srgbClr val="2DCCD3"/>
            </a:solidFill>
            <a:prstDash val="solid"/>
          </a:ln>
        </p:spPr>
      </p:sp>
      <p:sp>
        <p:nvSpPr>
          <p:cNvPr id="19" name="Text 17"/>
          <p:cNvSpPr/>
          <p:nvPr/>
        </p:nvSpPr>
        <p:spPr>
          <a:xfrm>
            <a:off x="6492240" y="17830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0" name="Text 18"/>
          <p:cNvSpPr/>
          <p:nvPr/>
        </p:nvSpPr>
        <p:spPr>
          <a:xfrm>
            <a:off x="6492240" y="2286000"/>
            <a:ext cx="2240280" cy="502920"/>
          </a:xfrm>
          <a:prstGeom prst="rect">
            <a:avLst/>
          </a:prstGeom>
          <a:noFill/>
          <a:ln/>
        </p:spPr>
        <p:txBody>
          <a:bodyPr wrap="square" lIns="0" tIns="0" rIns="0" bIns="0" rtlCol="0" anchor="t"/>
          <a:lstStyle/>
          <a:p>
            <a:pPr indent="0" marL="0">
              <a:buNone/>
            </a:pPr>
            <a:r>
              <a:rPr lang="en-US" sz="1250" b="1" dirty="0">
                <a:solidFill>
                  <a:srgbClr val="3E3E4B"/>
                </a:solidFill>
                <a:latin typeface="Arial" pitchFamily="34" charset="0"/>
                <a:ea typeface="Arial" pitchFamily="34" charset="-122"/>
                <a:cs typeface="Arial" pitchFamily="34" charset="-120"/>
              </a:rPr>
              <a:t>Azure jump box</a:t>
            </a:r>
            <a:endParaRPr lang="en-US" sz="1250" dirty="0"/>
          </a:p>
        </p:txBody>
      </p:sp>
      <p:sp>
        <p:nvSpPr>
          <p:cNvPr id="21" name="Text 19"/>
          <p:cNvSpPr/>
          <p:nvPr/>
        </p:nvSpPr>
        <p:spPr>
          <a:xfrm>
            <a:off x="6492240" y="2788920"/>
            <a:ext cx="2240280" cy="749808"/>
          </a:xfrm>
          <a:prstGeom prst="rect">
            <a:avLst/>
          </a:prstGeom>
          <a:noFill/>
          <a:ln/>
        </p:spPr>
        <p:txBody>
          <a:bodyPr wrap="square" lIns="0" tIns="0" rIns="0" bIns="0" rtlCol="0" anchor="t"/>
          <a:lstStyle/>
          <a:p>
            <a:pPr indent="0" marL="0">
              <a:buNone/>
            </a:pPr>
            <a:r>
              <a:rPr lang="en-US" sz="1100" dirty="0">
                <a:solidFill>
                  <a:srgbClr val="6E6E7E"/>
                </a:solidFill>
                <a:latin typeface="Calibri" pitchFamily="34" charset="0"/>
                <a:ea typeface="Calibri" pitchFamily="34" charset="-122"/>
                <a:cs typeface="Calibri" pitchFamily="34" charset="-120"/>
              </a:rPr>
              <a:t>Windows VM with public inbound ports set to None, in a shared-services VNet</a:t>
            </a:r>
            <a:endParaRPr lang="en-US" sz="1100" dirty="0"/>
          </a:p>
        </p:txBody>
      </p:sp>
      <p:sp>
        <p:nvSpPr>
          <p:cNvPr id="22" name="Shape 20"/>
          <p:cNvSpPr/>
          <p:nvPr/>
        </p:nvSpPr>
        <p:spPr>
          <a:xfrm>
            <a:off x="8979408" y="2487168"/>
            <a:ext cx="128016" cy="182880"/>
          </a:xfrm>
          <a:prstGeom prst="rightArrow">
            <a:avLst/>
          </a:prstGeom>
          <a:solidFill>
            <a:srgbClr val="00B3E2"/>
          </a:solidFill>
          <a:ln w="12700">
            <a:solidFill>
              <a:srgbClr val="333333"/>
            </a:solidFill>
            <a:prstDash val="solid"/>
          </a:ln>
        </p:spPr>
      </p:sp>
      <p:sp>
        <p:nvSpPr>
          <p:cNvPr id="23" name="Shape 21"/>
          <p:cNvSpPr/>
          <p:nvPr/>
        </p:nvSpPr>
        <p:spPr>
          <a:xfrm>
            <a:off x="9134856" y="1572768"/>
            <a:ext cx="2651760" cy="2057400"/>
          </a:xfrm>
          <a:prstGeom prst="roundRect">
            <a:avLst>
              <a:gd name="adj" fmla="val 4000"/>
            </a:avLst>
          </a:prstGeom>
          <a:solidFill>
            <a:srgbClr val="E5F7FC"/>
          </a:solidFill>
          <a:ln w="12700">
            <a:solidFill>
              <a:srgbClr val="DDE2E2"/>
            </a:solidFill>
            <a:prstDash val="solid"/>
          </a:ln>
        </p:spPr>
      </p:sp>
      <p:sp>
        <p:nvSpPr>
          <p:cNvPr id="24" name="Shape 22"/>
          <p:cNvSpPr/>
          <p:nvPr/>
        </p:nvSpPr>
        <p:spPr>
          <a:xfrm>
            <a:off x="9354312" y="1783080"/>
            <a:ext cx="402336" cy="402336"/>
          </a:xfrm>
          <a:prstGeom prst="ellipse">
            <a:avLst/>
          </a:prstGeom>
          <a:solidFill>
            <a:srgbClr val="00AD93"/>
          </a:solidFill>
          <a:ln w="12700">
            <a:solidFill>
              <a:srgbClr val="00AD93"/>
            </a:solidFill>
            <a:prstDash val="solid"/>
          </a:ln>
        </p:spPr>
      </p:sp>
      <p:sp>
        <p:nvSpPr>
          <p:cNvPr id="25" name="Text 23"/>
          <p:cNvSpPr/>
          <p:nvPr/>
        </p:nvSpPr>
        <p:spPr>
          <a:xfrm>
            <a:off x="9354312" y="178308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6" name="Text 24"/>
          <p:cNvSpPr/>
          <p:nvPr/>
        </p:nvSpPr>
        <p:spPr>
          <a:xfrm>
            <a:off x="9354312" y="2286000"/>
            <a:ext cx="2240280" cy="502920"/>
          </a:xfrm>
          <a:prstGeom prst="rect">
            <a:avLst/>
          </a:prstGeom>
          <a:noFill/>
          <a:ln/>
        </p:spPr>
        <p:txBody>
          <a:bodyPr wrap="square" lIns="0" tIns="0" rIns="0" bIns="0" rtlCol="0" anchor="t"/>
          <a:lstStyle/>
          <a:p>
            <a:pPr indent="0" marL="0">
              <a:buNone/>
            </a:pPr>
            <a:r>
              <a:rPr lang="en-US" sz="1250" b="1" dirty="0">
                <a:solidFill>
                  <a:srgbClr val="3E3E4B"/>
                </a:solidFill>
                <a:latin typeface="Arial" pitchFamily="34" charset="0"/>
                <a:ea typeface="Arial" pitchFamily="34" charset="-122"/>
                <a:cs typeface="Arial" pitchFamily="34" charset="-120"/>
              </a:rPr>
              <a:t>vCenter and NSX Manager</a:t>
            </a:r>
            <a:endParaRPr lang="en-US" sz="1250" dirty="0"/>
          </a:p>
        </p:txBody>
      </p:sp>
      <p:sp>
        <p:nvSpPr>
          <p:cNvPr id="27" name="Text 25"/>
          <p:cNvSpPr/>
          <p:nvPr/>
        </p:nvSpPr>
        <p:spPr>
          <a:xfrm>
            <a:off x="9354312" y="2788920"/>
            <a:ext cx="2240280" cy="749808"/>
          </a:xfrm>
          <a:prstGeom prst="rect">
            <a:avLst/>
          </a:prstGeom>
          <a:noFill/>
          <a:ln/>
        </p:spPr>
        <p:txBody>
          <a:bodyPr wrap="square" lIns="0" tIns="0" rIns="0" bIns="0" rtlCol="0" anchor="t"/>
          <a:lstStyle/>
          <a:p>
            <a:pPr indent="0" marL="0">
              <a:buNone/>
            </a:pPr>
            <a:r>
              <a:rPr lang="en-US" sz="1100" dirty="0">
                <a:solidFill>
                  <a:srgbClr val="6E6E7E"/>
                </a:solidFill>
                <a:latin typeface="Calibri" pitchFamily="34" charset="0"/>
                <a:ea typeface="Calibri" pitchFamily="34" charset="-122"/>
                <a:cs typeface="Calibri" pitchFamily="34" charset="-120"/>
              </a:rPr>
              <a:t>Reached privately from the jump box over AVS ExpressRoute</a:t>
            </a:r>
            <a:endParaRPr lang="en-US" sz="1100" dirty="0"/>
          </a:p>
        </p:txBody>
      </p:sp>
      <p:sp>
        <p:nvSpPr>
          <p:cNvPr id="28" name="Shape 26"/>
          <p:cNvSpPr/>
          <p:nvPr/>
        </p:nvSpPr>
        <p:spPr>
          <a:xfrm>
            <a:off x="548640" y="3886200"/>
            <a:ext cx="5440680" cy="1920240"/>
          </a:xfrm>
          <a:prstGeom prst="roundRect">
            <a:avLst>
              <a:gd name="adj" fmla="val 4286"/>
            </a:avLst>
          </a:prstGeom>
          <a:solidFill>
            <a:srgbClr val="EBEDED"/>
          </a:solidFill>
          <a:ln w="12700">
            <a:solidFill>
              <a:srgbClr val="EBEDED"/>
            </a:solidFill>
            <a:prstDash val="solid"/>
          </a:ln>
        </p:spPr>
      </p:sp>
      <p:sp>
        <p:nvSpPr>
          <p:cNvPr id="29" name="Text 27"/>
          <p:cNvSpPr/>
          <p:nvPr/>
        </p:nvSpPr>
        <p:spPr>
          <a:xfrm>
            <a:off x="868680" y="4069080"/>
            <a:ext cx="4754880" cy="292608"/>
          </a:xfrm>
          <a:prstGeom prst="rect">
            <a:avLst/>
          </a:prstGeom>
          <a:noFill/>
          <a:ln/>
        </p:spPr>
        <p:txBody>
          <a:bodyPr wrap="square" lIns="0" tIns="0" rIns="0" bIns="0" rtlCol="0" anchor="ctr"/>
          <a:lstStyle/>
          <a:p>
            <a:pPr indent="0" marL="0">
              <a:buNone/>
            </a:pPr>
            <a:r>
              <a:rPr lang="en-US" sz="1400" b="1" dirty="0">
                <a:solidFill>
                  <a:srgbClr val="F15D23"/>
                </a:solidFill>
                <a:latin typeface="Arial" pitchFamily="34" charset="0"/>
                <a:ea typeface="Arial" pitchFamily="34" charset="-122"/>
                <a:cs typeface="Arial" pitchFamily="34" charset="-120"/>
              </a:rPr>
              <a:t>Why Bastion cannot reach AVS VMs directly</a:t>
            </a:r>
            <a:endParaRPr lang="en-US" sz="1400" dirty="0"/>
          </a:p>
        </p:txBody>
      </p:sp>
      <p:sp>
        <p:nvSpPr>
          <p:cNvPr id="30" name="Text 28"/>
          <p:cNvSpPr/>
          <p:nvPr/>
        </p:nvSpPr>
        <p:spPr>
          <a:xfrm>
            <a:off x="868680" y="4434840"/>
            <a:ext cx="4800600" cy="128016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Microsoft states plainly that Bastion cannot connect to AVS VMs because they are not Azure IaaS objects</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Bastion connects to a native Azure jump box, which then reaches AVS endpoints over private routing</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Never assign the jump box a public IP or expose TCP 3389 to the internet</a:t>
            </a:r>
            <a:endParaRPr lang="en-US" sz="1150" dirty="0"/>
          </a:p>
        </p:txBody>
      </p:sp>
      <p:sp>
        <p:nvSpPr>
          <p:cNvPr id="31" name="Shape 29"/>
          <p:cNvSpPr/>
          <p:nvPr/>
        </p:nvSpPr>
        <p:spPr>
          <a:xfrm>
            <a:off x="6199632" y="3886200"/>
            <a:ext cx="5440680" cy="1920240"/>
          </a:xfrm>
          <a:prstGeom prst="roundRect">
            <a:avLst>
              <a:gd name="adj" fmla="val 4286"/>
            </a:avLst>
          </a:prstGeom>
          <a:solidFill>
            <a:srgbClr val="E2F2E8"/>
          </a:solidFill>
          <a:ln w="12700">
            <a:solidFill>
              <a:srgbClr val="E2F2E8"/>
            </a:solidFill>
            <a:prstDash val="solid"/>
          </a:ln>
        </p:spPr>
      </p:sp>
      <p:sp>
        <p:nvSpPr>
          <p:cNvPr id="32" name="Text 30"/>
          <p:cNvSpPr/>
          <p:nvPr/>
        </p:nvSpPr>
        <p:spPr>
          <a:xfrm>
            <a:off x="6519672" y="4069080"/>
            <a:ext cx="4754880" cy="292608"/>
          </a:xfrm>
          <a:prstGeom prst="rect">
            <a:avLst/>
          </a:prstGeom>
          <a:noFill/>
          <a:ln/>
        </p:spPr>
        <p:txBody>
          <a:bodyPr wrap="square" lIns="0" tIns="0" rIns="0" bIns="0" rtlCol="0" anchor="ctr"/>
          <a:lstStyle/>
          <a:p>
            <a:pPr indent="0" marL="0">
              <a:buNone/>
            </a:pPr>
            <a:r>
              <a:rPr lang="en-US" sz="1400" b="1" dirty="0">
                <a:solidFill>
                  <a:srgbClr val="00AD93"/>
                </a:solidFill>
                <a:latin typeface="Arial" pitchFamily="34" charset="0"/>
                <a:ea typeface="Arial" pitchFamily="34" charset="-122"/>
                <a:cs typeface="Arial" pitchFamily="34" charset="-120"/>
              </a:rPr>
              <a:t>A useful side effect during VPN instability</a:t>
            </a:r>
            <a:endParaRPr lang="en-US" sz="1400" dirty="0"/>
          </a:p>
        </p:txBody>
      </p:sp>
      <p:sp>
        <p:nvSpPr>
          <p:cNvPr id="33" name="Text 31"/>
          <p:cNvSpPr/>
          <p:nvPr/>
        </p:nvSpPr>
        <p:spPr>
          <a:xfrm>
            <a:off x="6519672" y="4434840"/>
            <a:ext cx="4800600" cy="128016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The jump box to AVS management session stays on private Azure connectivity rather than crossing the on-premises VPN</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That removes latency-sensitive vCenter and NSX traffic from the tunnel</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Work started on the jump box can survive a brief drop of the administrator's own connection</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08</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Identity and DNS</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resilience</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The dependency that quietly decides whether the environment survives an outage</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XXVIII  DNS AS A CRITICAL DEPENDENCY</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Four estates, one namespace problem</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39</a:t>
            </a:r>
            <a:endParaRPr lang="en-US" sz="900" dirty="0"/>
          </a:p>
        </p:txBody>
      </p:sp>
      <p:sp>
        <p:nvSpPr>
          <p:cNvPr id="5" name="Shape 3"/>
          <p:cNvSpPr/>
          <p:nvPr/>
        </p:nvSpPr>
        <p:spPr>
          <a:xfrm>
            <a:off x="548640" y="1554480"/>
            <a:ext cx="2651760" cy="777240"/>
          </a:xfrm>
          <a:prstGeom prst="roundRect">
            <a:avLst>
              <a:gd name="adj" fmla="val 10588"/>
            </a:avLst>
          </a:prstGeom>
          <a:solidFill>
            <a:srgbClr val="3E3E4B"/>
          </a:solidFill>
          <a:ln w="12700">
            <a:solidFill>
              <a:srgbClr val="3E3E4B"/>
            </a:solidFill>
            <a:prstDash val="solid"/>
          </a:ln>
        </p:spPr>
      </p:sp>
      <p:sp>
        <p:nvSpPr>
          <p:cNvPr id="6" name="Text 4"/>
          <p:cNvSpPr/>
          <p:nvPr/>
        </p:nvSpPr>
        <p:spPr>
          <a:xfrm>
            <a:off x="685800" y="1554480"/>
            <a:ext cx="237744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AVS management components</a:t>
            </a:r>
            <a:endParaRPr lang="en-US" sz="1200" dirty="0"/>
          </a:p>
        </p:txBody>
      </p:sp>
      <p:sp>
        <p:nvSpPr>
          <p:cNvPr id="7" name="Shape 5"/>
          <p:cNvSpPr/>
          <p:nvPr/>
        </p:nvSpPr>
        <p:spPr>
          <a:xfrm>
            <a:off x="3410712" y="1554480"/>
            <a:ext cx="2651760" cy="777240"/>
          </a:xfrm>
          <a:prstGeom prst="roundRect">
            <a:avLst>
              <a:gd name="adj" fmla="val 10588"/>
            </a:avLst>
          </a:prstGeom>
          <a:solidFill>
            <a:srgbClr val="3E3E4B"/>
          </a:solidFill>
          <a:ln w="12700">
            <a:solidFill>
              <a:srgbClr val="3E3E4B"/>
            </a:solidFill>
            <a:prstDash val="solid"/>
          </a:ln>
        </p:spPr>
      </p:sp>
      <p:sp>
        <p:nvSpPr>
          <p:cNvPr id="8" name="Text 6"/>
          <p:cNvSpPr/>
          <p:nvPr/>
        </p:nvSpPr>
        <p:spPr>
          <a:xfrm>
            <a:off x="3547872" y="1554480"/>
            <a:ext cx="237744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AVS workloads</a:t>
            </a:r>
            <a:endParaRPr lang="en-US" sz="1200" dirty="0"/>
          </a:p>
        </p:txBody>
      </p:sp>
      <p:sp>
        <p:nvSpPr>
          <p:cNvPr id="9" name="Shape 7"/>
          <p:cNvSpPr/>
          <p:nvPr/>
        </p:nvSpPr>
        <p:spPr>
          <a:xfrm>
            <a:off x="6272784" y="1554480"/>
            <a:ext cx="2651760" cy="777240"/>
          </a:xfrm>
          <a:prstGeom prst="roundRect">
            <a:avLst>
              <a:gd name="adj" fmla="val 10588"/>
            </a:avLst>
          </a:prstGeom>
          <a:solidFill>
            <a:srgbClr val="3E3E4B"/>
          </a:solidFill>
          <a:ln w="12700">
            <a:solidFill>
              <a:srgbClr val="3E3E4B"/>
            </a:solidFill>
            <a:prstDash val="solid"/>
          </a:ln>
        </p:spPr>
      </p:sp>
      <p:sp>
        <p:nvSpPr>
          <p:cNvPr id="10" name="Text 8"/>
          <p:cNvSpPr/>
          <p:nvPr/>
        </p:nvSpPr>
        <p:spPr>
          <a:xfrm>
            <a:off x="6409944" y="1554480"/>
            <a:ext cx="237744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Azure workloads</a:t>
            </a:r>
            <a:endParaRPr lang="en-US" sz="1200" dirty="0"/>
          </a:p>
        </p:txBody>
      </p:sp>
      <p:sp>
        <p:nvSpPr>
          <p:cNvPr id="11" name="Shape 9"/>
          <p:cNvSpPr/>
          <p:nvPr/>
        </p:nvSpPr>
        <p:spPr>
          <a:xfrm>
            <a:off x="9134856" y="1554480"/>
            <a:ext cx="2651760" cy="777240"/>
          </a:xfrm>
          <a:prstGeom prst="roundRect">
            <a:avLst>
              <a:gd name="adj" fmla="val 10588"/>
            </a:avLst>
          </a:prstGeom>
          <a:solidFill>
            <a:srgbClr val="3E3E4B"/>
          </a:solidFill>
          <a:ln w="12700">
            <a:solidFill>
              <a:srgbClr val="3E3E4B"/>
            </a:solidFill>
            <a:prstDash val="solid"/>
          </a:ln>
        </p:spPr>
      </p:sp>
      <p:sp>
        <p:nvSpPr>
          <p:cNvPr id="12" name="Text 10"/>
          <p:cNvSpPr/>
          <p:nvPr/>
        </p:nvSpPr>
        <p:spPr>
          <a:xfrm>
            <a:off x="9272016" y="1554480"/>
            <a:ext cx="237744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On-premises systems</a:t>
            </a:r>
            <a:endParaRPr lang="en-US" sz="1200" dirty="0"/>
          </a:p>
        </p:txBody>
      </p:sp>
      <p:sp>
        <p:nvSpPr>
          <p:cNvPr id="13" name="Text 11"/>
          <p:cNvSpPr/>
          <p:nvPr/>
        </p:nvSpPr>
        <p:spPr>
          <a:xfrm>
            <a:off x="548640" y="2423160"/>
            <a:ext cx="11064240" cy="292608"/>
          </a:xfrm>
          <a:prstGeom prst="rect">
            <a:avLst/>
          </a:prstGeom>
          <a:noFill/>
          <a:ln/>
        </p:spPr>
        <p:txBody>
          <a:bodyPr wrap="square" lIns="0" tIns="0" rIns="0" bIns="0" rtlCol="0" anchor="ctr"/>
          <a:lstStyle/>
          <a:p>
            <a:pPr algn="ctr" indent="0" marL="0">
              <a:buNone/>
            </a:pPr>
            <a:r>
              <a:rPr lang="en-US" sz="1250" i="1" dirty="0">
                <a:solidFill>
                  <a:srgbClr val="6E6E7E"/>
                </a:solidFill>
                <a:latin typeface="Calibri" pitchFamily="34" charset="0"/>
                <a:ea typeface="Calibri" pitchFamily="34" charset="-122"/>
                <a:cs typeface="Calibri" pitchFamily="34" charset="-120"/>
              </a:rPr>
              <a:t>All four require consistent forward and reverse name resolution.</a:t>
            </a:r>
            <a:endParaRPr lang="en-US" sz="1250" dirty="0"/>
          </a:p>
        </p:txBody>
      </p:sp>
      <p:sp>
        <p:nvSpPr>
          <p:cNvPr id="14" name="Shape 12"/>
          <p:cNvSpPr/>
          <p:nvPr/>
        </p:nvSpPr>
        <p:spPr>
          <a:xfrm>
            <a:off x="548640" y="2926080"/>
            <a:ext cx="5394960" cy="1298448"/>
          </a:xfrm>
          <a:prstGeom prst="roundRect">
            <a:avLst>
              <a:gd name="adj" fmla="val 6338"/>
            </a:avLst>
          </a:prstGeom>
          <a:solidFill>
            <a:srgbClr val="E5F7FC"/>
          </a:solidFill>
          <a:ln w="12700">
            <a:solidFill>
              <a:srgbClr val="E5F7FC"/>
            </a:solidFill>
            <a:prstDash val="solid"/>
          </a:ln>
        </p:spPr>
      </p:sp>
      <p:sp>
        <p:nvSpPr>
          <p:cNvPr id="15" name="Text 13"/>
          <p:cNvSpPr/>
          <p:nvPr/>
        </p:nvSpPr>
        <p:spPr>
          <a:xfrm>
            <a:off x="786384" y="3090672"/>
            <a:ext cx="4937760" cy="274320"/>
          </a:xfrm>
          <a:prstGeom prst="rect">
            <a:avLst/>
          </a:prstGeom>
          <a:noFill/>
          <a:ln/>
        </p:spPr>
        <p:txBody>
          <a:bodyPr wrap="square" lIns="0" tIns="0" rIns="0" bIns="0" rtlCol="0" anchor="ctr"/>
          <a:lstStyle/>
          <a:p>
            <a:pPr indent="0" marL="0">
              <a:buNone/>
            </a:pPr>
            <a:r>
              <a:rPr lang="en-US" sz="1300" b="1" dirty="0">
                <a:solidFill>
                  <a:srgbClr val="00B3E2"/>
                </a:solidFill>
                <a:latin typeface="Arial" pitchFamily="34" charset="0"/>
                <a:ea typeface="Arial" pitchFamily="34" charset="-122"/>
                <a:cs typeface="Arial" pitchFamily="34" charset="-120"/>
              </a:rPr>
              <a:t>NSX DNS forwarding</a:t>
            </a:r>
            <a:endParaRPr lang="en-US" sz="1300" dirty="0"/>
          </a:p>
        </p:txBody>
      </p:sp>
      <p:sp>
        <p:nvSpPr>
          <p:cNvPr id="16" name="Text 14"/>
          <p:cNvSpPr/>
          <p:nvPr/>
        </p:nvSpPr>
        <p:spPr>
          <a:xfrm>
            <a:off x="786384" y="3401568"/>
            <a:ext cx="4937760" cy="73152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AVS management components resolve privately hosted namespaces through NSX DNS forwarding rules.</a:t>
            </a:r>
            <a:endParaRPr lang="en-US" sz="1150" dirty="0"/>
          </a:p>
        </p:txBody>
      </p:sp>
      <p:sp>
        <p:nvSpPr>
          <p:cNvPr id="17" name="Shape 15"/>
          <p:cNvSpPr/>
          <p:nvPr/>
        </p:nvSpPr>
        <p:spPr>
          <a:xfrm>
            <a:off x="6245352" y="2926080"/>
            <a:ext cx="5394960" cy="1298448"/>
          </a:xfrm>
          <a:prstGeom prst="roundRect">
            <a:avLst>
              <a:gd name="adj" fmla="val 6338"/>
            </a:avLst>
          </a:prstGeom>
          <a:solidFill>
            <a:srgbClr val="EBEDED"/>
          </a:solidFill>
          <a:ln w="12700">
            <a:solidFill>
              <a:srgbClr val="EBEDED"/>
            </a:solidFill>
            <a:prstDash val="solid"/>
          </a:ln>
        </p:spPr>
      </p:sp>
      <p:sp>
        <p:nvSpPr>
          <p:cNvPr id="18" name="Text 16"/>
          <p:cNvSpPr/>
          <p:nvPr/>
        </p:nvSpPr>
        <p:spPr>
          <a:xfrm>
            <a:off x="6483096" y="3090672"/>
            <a:ext cx="4937760" cy="274320"/>
          </a:xfrm>
          <a:prstGeom prst="rect">
            <a:avLst/>
          </a:prstGeom>
          <a:noFill/>
          <a:ln/>
        </p:spPr>
        <p:txBody>
          <a:bodyPr wrap="square" lIns="0" tIns="0" rIns="0" bIns="0" rtlCol="0" anchor="ctr"/>
          <a:lstStyle/>
          <a:p>
            <a:pPr indent="0" marL="0">
              <a:buNone/>
            </a:pPr>
            <a:r>
              <a:rPr lang="en-US" sz="1300" b="1" dirty="0">
                <a:solidFill>
                  <a:srgbClr val="2DCCD3"/>
                </a:solidFill>
                <a:latin typeface="Arial" pitchFamily="34" charset="0"/>
                <a:ea typeface="Arial" pitchFamily="34" charset="-122"/>
                <a:cs typeface="Arial" pitchFamily="34" charset="-120"/>
              </a:rPr>
              <a:t>Azure Private DNS</a:t>
            </a:r>
            <a:endParaRPr lang="en-US" sz="1300" dirty="0"/>
          </a:p>
        </p:txBody>
      </p:sp>
      <p:sp>
        <p:nvSpPr>
          <p:cNvPr id="19" name="Text 17"/>
          <p:cNvSpPr/>
          <p:nvPr/>
        </p:nvSpPr>
        <p:spPr>
          <a:xfrm>
            <a:off x="6483096" y="3401568"/>
            <a:ext cx="4937760" cy="73152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Provides private zones linked to one or more VNets without running authoritative DNS VMs.</a:t>
            </a:r>
            <a:endParaRPr lang="en-US" sz="1150" dirty="0"/>
          </a:p>
        </p:txBody>
      </p:sp>
      <p:sp>
        <p:nvSpPr>
          <p:cNvPr id="20" name="Shape 18"/>
          <p:cNvSpPr/>
          <p:nvPr/>
        </p:nvSpPr>
        <p:spPr>
          <a:xfrm>
            <a:off x="548640" y="4407408"/>
            <a:ext cx="5394960" cy="1298448"/>
          </a:xfrm>
          <a:prstGeom prst="roundRect">
            <a:avLst>
              <a:gd name="adj" fmla="val 6338"/>
            </a:avLst>
          </a:prstGeom>
          <a:solidFill>
            <a:srgbClr val="E5F7FC"/>
          </a:solidFill>
          <a:ln w="12700">
            <a:solidFill>
              <a:srgbClr val="E5F7FC"/>
            </a:solidFill>
            <a:prstDash val="solid"/>
          </a:ln>
        </p:spPr>
      </p:sp>
      <p:sp>
        <p:nvSpPr>
          <p:cNvPr id="21" name="Text 19"/>
          <p:cNvSpPr/>
          <p:nvPr/>
        </p:nvSpPr>
        <p:spPr>
          <a:xfrm>
            <a:off x="786384" y="4572000"/>
            <a:ext cx="4937760" cy="274320"/>
          </a:xfrm>
          <a:prstGeom prst="rect">
            <a:avLst/>
          </a:prstGeom>
          <a:noFill/>
          <a:ln/>
        </p:spPr>
        <p:txBody>
          <a:bodyPr wrap="square" lIns="0" tIns="0" rIns="0" bIns="0" rtlCol="0" anchor="ctr"/>
          <a:lstStyle/>
          <a:p>
            <a:pPr indent="0" marL="0">
              <a:buNone/>
            </a:pPr>
            <a:r>
              <a:rPr lang="en-US" sz="1300" b="1" dirty="0">
                <a:solidFill>
                  <a:srgbClr val="00AD93"/>
                </a:solidFill>
                <a:latin typeface="Arial" pitchFamily="34" charset="0"/>
                <a:ea typeface="Arial" pitchFamily="34" charset="-122"/>
                <a:cs typeface="Arial" pitchFamily="34" charset="-120"/>
              </a:rPr>
              <a:t>DNS Private Resolver</a:t>
            </a:r>
            <a:endParaRPr lang="en-US" sz="1300" dirty="0"/>
          </a:p>
        </p:txBody>
      </p:sp>
      <p:sp>
        <p:nvSpPr>
          <p:cNvPr id="22" name="Text 20"/>
          <p:cNvSpPr/>
          <p:nvPr/>
        </p:nvSpPr>
        <p:spPr>
          <a:xfrm>
            <a:off x="786384" y="4882896"/>
            <a:ext cx="4937760" cy="73152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Supports hybrid forwarding between Azure and on-premises without dedicated forwarder VMs.</a:t>
            </a:r>
            <a:endParaRPr lang="en-US" sz="1150" dirty="0"/>
          </a:p>
        </p:txBody>
      </p:sp>
      <p:sp>
        <p:nvSpPr>
          <p:cNvPr id="23" name="Shape 21"/>
          <p:cNvSpPr/>
          <p:nvPr/>
        </p:nvSpPr>
        <p:spPr>
          <a:xfrm>
            <a:off x="6245352" y="4407408"/>
            <a:ext cx="5394960" cy="1298448"/>
          </a:xfrm>
          <a:prstGeom prst="roundRect">
            <a:avLst>
              <a:gd name="adj" fmla="val 6338"/>
            </a:avLst>
          </a:prstGeom>
          <a:solidFill>
            <a:srgbClr val="EBEDED"/>
          </a:solidFill>
          <a:ln w="12700">
            <a:solidFill>
              <a:srgbClr val="EBEDED"/>
            </a:solidFill>
            <a:prstDash val="solid"/>
          </a:ln>
        </p:spPr>
      </p:sp>
      <p:sp>
        <p:nvSpPr>
          <p:cNvPr id="24" name="Text 22"/>
          <p:cNvSpPr/>
          <p:nvPr/>
        </p:nvSpPr>
        <p:spPr>
          <a:xfrm>
            <a:off x="6483096" y="4572000"/>
            <a:ext cx="4937760" cy="274320"/>
          </a:xfrm>
          <a:prstGeom prst="rect">
            <a:avLst/>
          </a:prstGeom>
          <a:noFill/>
          <a:ln/>
        </p:spPr>
        <p:txBody>
          <a:bodyPr wrap="square" lIns="0" tIns="0" rIns="0" bIns="0" rtlCol="0" anchor="ctr"/>
          <a:lstStyle/>
          <a:p>
            <a:pPr indent="0" marL="0">
              <a:buNone/>
            </a:pPr>
            <a:r>
              <a:rPr lang="en-US" sz="1300" b="1" dirty="0">
                <a:solidFill>
                  <a:srgbClr val="8DB9D9"/>
                </a:solidFill>
                <a:latin typeface="Arial" pitchFamily="34" charset="0"/>
                <a:ea typeface="Arial" pitchFamily="34" charset="-122"/>
                <a:cs typeface="Arial" pitchFamily="34" charset="-120"/>
              </a:rPr>
              <a:t>AD-integrated DNS</a:t>
            </a:r>
            <a:endParaRPr lang="en-US" sz="1300" dirty="0"/>
          </a:p>
        </p:txBody>
      </p:sp>
      <p:sp>
        <p:nvSpPr>
          <p:cNvPr id="25" name="Text 23"/>
          <p:cNvSpPr/>
          <p:nvPr/>
        </p:nvSpPr>
        <p:spPr>
          <a:xfrm>
            <a:off x="6483096" y="4882896"/>
            <a:ext cx="4937760" cy="731520"/>
          </a:xfrm>
          <a:prstGeom prst="rect">
            <a:avLst/>
          </a:prstGeom>
          <a:noFill/>
          <a:ln/>
        </p:spPr>
        <p:txBody>
          <a:bodyPr wrap="square" lIns="0" tIns="0" rIns="0" bIns="0" rtlCol="0" anchor="t"/>
          <a:lstStyle/>
          <a:p>
            <a:pPr indent="0" marL="0">
              <a:buNone/>
            </a:pPr>
            <a:r>
              <a:rPr lang="en-US" sz="1150" dirty="0">
                <a:solidFill>
                  <a:srgbClr val="3E3E4B"/>
                </a:solidFill>
                <a:latin typeface="Calibri" pitchFamily="34" charset="0"/>
                <a:ea typeface="Calibri" pitchFamily="34" charset="-122"/>
                <a:cs typeface="Calibri" pitchFamily="34" charset="-120"/>
              </a:rPr>
              <a:t>Domain-joined estates keep using AD DNS, hosted on resilient VMs in Azure and in AVS.</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XXIX - XXX  DOMAIN CONTROLLERS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Localise identity on both sides</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40</a:t>
            </a:r>
            <a:endParaRPr lang="en-US" sz="900" dirty="0"/>
          </a:p>
        </p:txBody>
      </p:sp>
      <p:sp>
        <p:nvSpPr>
          <p:cNvPr id="5" name="Shape 3"/>
          <p:cNvSpPr/>
          <p:nvPr/>
        </p:nvSpPr>
        <p:spPr>
          <a:xfrm>
            <a:off x="548640" y="1554480"/>
            <a:ext cx="5440680" cy="3749040"/>
          </a:xfrm>
          <a:prstGeom prst="roundRect">
            <a:avLst>
              <a:gd name="adj" fmla="val 2195"/>
            </a:avLst>
          </a:prstGeom>
          <a:solidFill>
            <a:srgbClr val="E5F7FC"/>
          </a:solidFill>
          <a:ln w="12700">
            <a:solidFill>
              <a:srgbClr val="E5F7FC"/>
            </a:solidFill>
            <a:prstDash val="solid"/>
          </a:ln>
        </p:spPr>
      </p:sp>
      <p:sp>
        <p:nvSpPr>
          <p:cNvPr id="6" name="Text 4"/>
          <p:cNvSpPr/>
          <p:nvPr/>
        </p:nvSpPr>
        <p:spPr>
          <a:xfrm>
            <a:off x="868680" y="1783080"/>
            <a:ext cx="4754880" cy="320040"/>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Domain controllers in Azure</a:t>
            </a:r>
            <a:endParaRPr lang="en-US" sz="1600" dirty="0"/>
          </a:p>
        </p:txBody>
      </p:sp>
      <p:sp>
        <p:nvSpPr>
          <p:cNvPr id="7" name="Text 5"/>
          <p:cNvSpPr/>
          <p:nvPr/>
        </p:nvSpPr>
        <p:spPr>
          <a:xfrm>
            <a:off x="868680" y="2240280"/>
            <a:ext cx="4800600" cy="29260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Deploy domain-controller and DNS capability in Azure rather than relying only on on-premises servers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For DNS, use existing AD-integrated DNS on at least two Azure VMs in the shared-services network</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For identity, at least one domain controller with zones or an availability set; in practice two, to avoid a single-server dependency</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In Virtual WAN, place these VMs in a connected identity or shared-services VNet, not the managed hub</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Point spoke VNets at the Azure-hosted DNS servers or a centralised resolver architecture</a:t>
            </a:r>
            <a:endParaRPr lang="en-US" sz="1200" dirty="0"/>
          </a:p>
        </p:txBody>
      </p:sp>
      <p:sp>
        <p:nvSpPr>
          <p:cNvPr id="8" name="Shape 6"/>
          <p:cNvSpPr/>
          <p:nvPr/>
        </p:nvSpPr>
        <p:spPr>
          <a:xfrm>
            <a:off x="6199632" y="1554480"/>
            <a:ext cx="5440680" cy="3749040"/>
          </a:xfrm>
          <a:prstGeom prst="roundRect">
            <a:avLst>
              <a:gd name="adj" fmla="val 2195"/>
            </a:avLst>
          </a:prstGeom>
          <a:solidFill>
            <a:srgbClr val="EBEDED"/>
          </a:solidFill>
          <a:ln w="12700">
            <a:solidFill>
              <a:srgbClr val="EBEDED"/>
            </a:solidFill>
            <a:prstDash val="solid"/>
          </a:ln>
        </p:spPr>
      </p:sp>
      <p:sp>
        <p:nvSpPr>
          <p:cNvPr id="9" name="Text 7"/>
          <p:cNvSpPr/>
          <p:nvPr/>
        </p:nvSpPr>
        <p:spPr>
          <a:xfrm>
            <a:off x="6519672" y="1783080"/>
            <a:ext cx="4754880" cy="320040"/>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Domain controllers in AVS</a:t>
            </a:r>
            <a:endParaRPr lang="en-US" sz="1600" dirty="0"/>
          </a:p>
        </p:txBody>
      </p:sp>
      <p:sp>
        <p:nvSpPr>
          <p:cNvPr id="10" name="Text 8"/>
          <p:cNvSpPr/>
          <p:nvPr/>
        </p:nvSpPr>
        <p:spPr>
          <a:xfrm>
            <a:off x="6519672" y="2240280"/>
            <a:ext cx="4800600" cy="292608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Microsoft recommends another domain controller inside the private cloud as an identity and DNS source for vSphere workloads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That reduces authentication and DNS dependence on the site-to-site VPN</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Do not treat a single AVS domain controller as sufficient production resiliency: design AD site topology, replication, DNS, and availability against recovery objectives</a:t>
            </a:r>
            <a:endParaRPr lang="en-US" sz="1200" dirty="0"/>
          </a:p>
          <a:p>
            <a:pPr marL="177800" indent="-177800">
              <a:spcAft>
                <a:spcPts val="800"/>
              </a:spcAft>
              <a:buSzPct val="100000"/>
              <a:buChar char="•"/>
            </a:pPr>
            <a:r>
              <a:rPr lang="en-US" sz="1200" dirty="0">
                <a:solidFill>
                  <a:srgbClr val="3E3E4B"/>
                </a:solidFill>
                <a:latin typeface="Calibri" pitchFamily="34" charset="0"/>
                <a:ea typeface="Calibri" pitchFamily="34" charset="-122"/>
                <a:cs typeface="Calibri" pitchFamily="34" charset="-120"/>
              </a:rPr>
              <a:t>Configure NSX DNS forwarding so AVS management components and workloads reach the required private DNS servers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XXXI  AZURE PRIVATE DNS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Zones, links, and the limits worth memorising</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41</a:t>
            </a:r>
            <a:endParaRPr lang="en-US" sz="900" dirty="0"/>
          </a:p>
        </p:txBody>
      </p:sp>
      <p:sp>
        <p:nvSpPr>
          <p:cNvPr id="5" name="Shape 3"/>
          <p:cNvSpPr/>
          <p:nvPr/>
        </p:nvSpPr>
        <p:spPr>
          <a:xfrm>
            <a:off x="548640" y="1536192"/>
            <a:ext cx="5440680" cy="2286000"/>
          </a:xfrm>
          <a:prstGeom prst="roundRect">
            <a:avLst>
              <a:gd name="adj" fmla="val 3600"/>
            </a:avLst>
          </a:prstGeom>
          <a:solidFill>
            <a:srgbClr val="E5F7FC"/>
          </a:solidFill>
          <a:ln w="12700">
            <a:solidFill>
              <a:srgbClr val="E5F7FC"/>
            </a:solidFill>
            <a:prstDash val="solid"/>
          </a:ln>
        </p:spPr>
      </p:sp>
      <p:sp>
        <p:nvSpPr>
          <p:cNvPr id="6" name="Text 4"/>
          <p:cNvSpPr/>
          <p:nvPr/>
        </p:nvSpPr>
        <p:spPr>
          <a:xfrm>
            <a:off x="868680" y="1737360"/>
            <a:ext cx="4754880" cy="292608"/>
          </a:xfrm>
          <a:prstGeom prst="rect">
            <a:avLst/>
          </a:prstGeom>
          <a:noFill/>
          <a:ln/>
        </p:spPr>
        <p:txBody>
          <a:bodyPr wrap="square" lIns="0" tIns="0" rIns="0" bIns="0" rtlCol="0" anchor="ctr"/>
          <a:lstStyle/>
          <a:p>
            <a:pPr indent="0" marL="0">
              <a:buNone/>
            </a:pPr>
            <a:r>
              <a:rPr lang="en-US" sz="1450" b="1" dirty="0">
                <a:solidFill>
                  <a:srgbClr val="00B3E2"/>
                </a:solidFill>
                <a:latin typeface="Arial" pitchFamily="34" charset="0"/>
                <a:ea typeface="Arial" pitchFamily="34" charset="-122"/>
                <a:cs typeface="Arial" pitchFamily="34" charset="-120"/>
              </a:rPr>
              <a:t>How it behaves</a:t>
            </a:r>
            <a:endParaRPr lang="en-US" sz="1450" dirty="0"/>
          </a:p>
        </p:txBody>
      </p:sp>
      <p:sp>
        <p:nvSpPr>
          <p:cNvPr id="7" name="Text 5"/>
          <p:cNvSpPr/>
          <p:nvPr/>
        </p:nvSpPr>
        <p:spPr>
          <a:xfrm>
            <a:off x="868680" y="2103120"/>
            <a:ext cx="4800600" cy="164592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Hosts private namespaces without operating authoritative DNS VMs for those zones</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Zones resolve only from linked VNets or through an integrated hybrid resolver path</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A single zone can link to multiple VNets</a:t>
            </a:r>
            <a:endParaRPr lang="en-US" sz="1150" dirty="0"/>
          </a:p>
          <a:p>
            <a:pPr marL="177800" indent="-177800">
              <a:spcAft>
                <a:spcPts val="800"/>
              </a:spcAft>
              <a:buSzPct val="100000"/>
              <a:buChar char="•"/>
            </a:pPr>
            <a:r>
              <a:rPr lang="en-US" sz="1150" dirty="0">
                <a:solidFill>
                  <a:srgbClr val="3E3E4B"/>
                </a:solidFill>
                <a:latin typeface="Calibri" pitchFamily="34" charset="0"/>
                <a:ea typeface="Calibri" pitchFamily="34" charset="-122"/>
                <a:cs typeface="Calibri" pitchFamily="34" charset="-120"/>
              </a:rPr>
              <a:t>Auto-registration creates and removes A records for supported Azure VMs across their lifecycle</a:t>
            </a:r>
            <a:endParaRPr lang="en-US" sz="1150" dirty="0"/>
          </a:p>
        </p:txBody>
      </p:sp>
      <p:sp>
        <p:nvSpPr>
          <p:cNvPr id="8" name="Text 6"/>
          <p:cNvSpPr/>
          <p:nvPr/>
        </p:nvSpPr>
        <p:spPr>
          <a:xfrm>
            <a:off x="6199632" y="1536192"/>
            <a:ext cx="539496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Limits and traps</a:t>
            </a:r>
            <a:endParaRPr lang="en-US" sz="1450" dirty="0"/>
          </a:p>
        </p:txBody>
      </p:sp>
      <p:sp>
        <p:nvSpPr>
          <p:cNvPr id="9" name="Text 7"/>
          <p:cNvSpPr/>
          <p:nvPr/>
        </p:nvSpPr>
        <p:spPr>
          <a:xfrm>
            <a:off x="6199632" y="1874520"/>
            <a:ext cx="2606040" cy="868680"/>
          </a:xfrm>
          <a:prstGeom prst="rect">
            <a:avLst/>
          </a:prstGeom>
          <a:noFill/>
          <a:ln/>
        </p:spPr>
        <p:txBody>
          <a:bodyPr wrap="square" lIns="0" tIns="0" rIns="0" bIns="0" rtlCol="0" anchor="ctr"/>
          <a:lstStyle/>
          <a:p>
            <a:pPr algn="ctr" indent="0" marL="0">
              <a:buNone/>
            </a:pPr>
            <a:r>
              <a:rPr lang="en-US" sz="4200" b="1" dirty="0">
                <a:solidFill>
                  <a:srgbClr val="00B3E2"/>
                </a:solidFill>
                <a:latin typeface="Arial" pitchFamily="34" charset="0"/>
                <a:ea typeface="Arial" pitchFamily="34" charset="-122"/>
                <a:cs typeface="Arial" pitchFamily="34" charset="-120"/>
              </a:rPr>
              <a:t>1</a:t>
            </a:r>
            <a:endParaRPr lang="en-US" sz="4200" dirty="0"/>
          </a:p>
        </p:txBody>
      </p:sp>
      <p:sp>
        <p:nvSpPr>
          <p:cNvPr id="10" name="Text 8"/>
          <p:cNvSpPr/>
          <p:nvPr/>
        </p:nvSpPr>
        <p:spPr>
          <a:xfrm>
            <a:off x="6199632" y="2743200"/>
            <a:ext cx="260604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private DNS zone per VNet with auto-registration</a:t>
            </a:r>
            <a:endParaRPr lang="en-US" sz="1200" dirty="0"/>
          </a:p>
        </p:txBody>
      </p:sp>
      <p:sp>
        <p:nvSpPr>
          <p:cNvPr id="11" name="Text 9"/>
          <p:cNvSpPr/>
          <p:nvPr/>
        </p:nvSpPr>
        <p:spPr>
          <a:xfrm>
            <a:off x="9034272" y="1874520"/>
            <a:ext cx="2606040" cy="868680"/>
          </a:xfrm>
          <a:prstGeom prst="rect">
            <a:avLst/>
          </a:prstGeom>
          <a:noFill/>
          <a:ln/>
        </p:spPr>
        <p:txBody>
          <a:bodyPr wrap="square" lIns="0" tIns="0" rIns="0" bIns="0" rtlCol="0" anchor="ctr"/>
          <a:lstStyle/>
          <a:p>
            <a:pPr algn="ctr" indent="0" marL="0">
              <a:buNone/>
            </a:pPr>
            <a:r>
              <a:rPr lang="en-US" sz="4200" b="1" dirty="0">
                <a:solidFill>
                  <a:srgbClr val="2DCCD3"/>
                </a:solidFill>
                <a:latin typeface="Arial" pitchFamily="34" charset="0"/>
                <a:ea typeface="Arial" pitchFamily="34" charset="-122"/>
                <a:cs typeface="Arial" pitchFamily="34" charset="-120"/>
              </a:rPr>
              <a:t>1,000</a:t>
            </a:r>
            <a:endParaRPr lang="en-US" sz="4200" dirty="0"/>
          </a:p>
        </p:txBody>
      </p:sp>
      <p:sp>
        <p:nvSpPr>
          <p:cNvPr id="12" name="Text 10"/>
          <p:cNvSpPr/>
          <p:nvPr/>
        </p:nvSpPr>
        <p:spPr>
          <a:xfrm>
            <a:off x="9034272" y="2743200"/>
            <a:ext cx="2606040" cy="548640"/>
          </a:xfrm>
          <a:prstGeom prst="rect">
            <a:avLst/>
          </a:prstGeom>
          <a:noFill/>
          <a:ln/>
        </p:spPr>
        <p:txBody>
          <a:bodyPr wrap="square" lIns="0" tIns="0" rIns="0" bIns="0" rtlCol="0" anchor="t"/>
          <a:lstStyle/>
          <a:p>
            <a:pPr algn="ctr" indent="0" marL="0">
              <a:buNone/>
            </a:pPr>
            <a:r>
              <a:rPr lang="en-US" sz="1200" dirty="0">
                <a:solidFill>
                  <a:srgbClr val="6E6E7E"/>
                </a:solidFill>
                <a:latin typeface="Calibri" pitchFamily="34" charset="0"/>
                <a:ea typeface="Calibri" pitchFamily="34" charset="-122"/>
                <a:cs typeface="Calibri" pitchFamily="34" charset="-120"/>
              </a:rPr>
              <a:t>zone links per VNet without auto-registration</a:t>
            </a:r>
            <a:endParaRPr lang="en-US" sz="1200" dirty="0"/>
          </a:p>
        </p:txBody>
      </p:sp>
      <p:sp>
        <p:nvSpPr>
          <p:cNvPr id="13" name="Shape 11"/>
          <p:cNvSpPr/>
          <p:nvPr/>
        </p:nvSpPr>
        <p:spPr>
          <a:xfrm>
            <a:off x="548640" y="4023360"/>
            <a:ext cx="11091672" cy="1783080"/>
          </a:xfrm>
          <a:prstGeom prst="roundRect">
            <a:avLst>
              <a:gd name="adj" fmla="val 4615"/>
            </a:avLst>
          </a:prstGeom>
          <a:solidFill>
            <a:srgbClr val="E2F2E8"/>
          </a:solidFill>
          <a:ln w="12700">
            <a:solidFill>
              <a:srgbClr val="E2F2E8"/>
            </a:solidFill>
            <a:prstDash val="solid"/>
          </a:ln>
        </p:spPr>
      </p:sp>
      <p:sp>
        <p:nvSpPr>
          <p:cNvPr id="14" name="Text 12"/>
          <p:cNvSpPr/>
          <p:nvPr/>
        </p:nvSpPr>
        <p:spPr>
          <a:xfrm>
            <a:off x="914400" y="4224528"/>
            <a:ext cx="10424160" cy="292608"/>
          </a:xfrm>
          <a:prstGeom prst="rect">
            <a:avLst/>
          </a:prstGeom>
          <a:noFill/>
          <a:ln/>
        </p:spPr>
        <p:txBody>
          <a:bodyPr wrap="square" lIns="0" tIns="0" rIns="0" bIns="0" rtlCol="0" anchor="ctr"/>
          <a:lstStyle/>
          <a:p>
            <a:pPr indent="0" marL="0">
              <a:buNone/>
            </a:pPr>
            <a:r>
              <a:rPr lang="en-US" sz="1400" b="1" dirty="0">
                <a:solidFill>
                  <a:srgbClr val="3E3E4B"/>
                </a:solidFill>
                <a:latin typeface="Arial" pitchFamily="34" charset="0"/>
                <a:ea typeface="Arial" pitchFamily="34" charset="-122"/>
                <a:cs typeface="Arial" pitchFamily="34" charset="-120"/>
              </a:rPr>
              <a:t>The trap that catches most hybrid designs</a:t>
            </a:r>
            <a:endParaRPr lang="en-US" sz="1400" dirty="0"/>
          </a:p>
        </p:txBody>
      </p:sp>
      <p:sp>
        <p:nvSpPr>
          <p:cNvPr id="15" name="Text 13"/>
          <p:cNvSpPr/>
          <p:nvPr/>
        </p:nvSpPr>
        <p:spPr>
          <a:xfrm>
            <a:off x="914400" y="4572000"/>
            <a:ext cx="10424160" cy="100584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Custom DNS servers override Azure's default name-resolution sequence. Once a VNet points at custom servers, linked private zones stop resolving unless conditional forwarding or DNS Private Resolver is put in place deliberately.</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XXXII  CONDITIONAL DNS FORWARDING</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Getting queries to the right resolver</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42</a:t>
            </a:r>
            <a:endParaRPr lang="en-US" sz="900" dirty="0"/>
          </a:p>
        </p:txBody>
      </p:sp>
      <p:sp>
        <p:nvSpPr>
          <p:cNvPr id="5" name="Shape 3"/>
          <p:cNvSpPr/>
          <p:nvPr/>
        </p:nvSpPr>
        <p:spPr>
          <a:xfrm>
            <a:off x="548640" y="1536192"/>
            <a:ext cx="11091672" cy="713232"/>
          </a:xfrm>
          <a:prstGeom prst="roundRect">
            <a:avLst>
              <a:gd name="adj" fmla="val 11538"/>
            </a:avLst>
          </a:prstGeom>
          <a:solidFill>
            <a:srgbClr val="E5F7FC"/>
          </a:solidFill>
          <a:ln w="12700">
            <a:solidFill>
              <a:srgbClr val="E5F7FC"/>
            </a:solidFill>
            <a:prstDash val="solid"/>
          </a:ln>
        </p:spPr>
      </p:sp>
      <p:sp>
        <p:nvSpPr>
          <p:cNvPr id="6" name="Shape 4"/>
          <p:cNvSpPr/>
          <p:nvPr/>
        </p:nvSpPr>
        <p:spPr>
          <a:xfrm>
            <a:off x="777240" y="1810512"/>
            <a:ext cx="164592" cy="164592"/>
          </a:xfrm>
          <a:prstGeom prst="ellipse">
            <a:avLst/>
          </a:prstGeom>
          <a:solidFill>
            <a:srgbClr val="00B3E2"/>
          </a:solidFill>
          <a:ln w="12700">
            <a:solidFill>
              <a:srgbClr val="333333"/>
            </a:solidFill>
            <a:prstDash val="solid"/>
          </a:ln>
        </p:spPr>
      </p:sp>
      <p:sp>
        <p:nvSpPr>
          <p:cNvPr id="7" name="Text 5"/>
          <p:cNvSpPr/>
          <p:nvPr/>
        </p:nvSpPr>
        <p:spPr>
          <a:xfrm>
            <a:off x="1051560" y="1536192"/>
            <a:ext cx="288036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Conditional forwarding</a:t>
            </a:r>
            <a:endParaRPr lang="en-US" sz="1250" dirty="0"/>
          </a:p>
        </p:txBody>
      </p:sp>
      <p:sp>
        <p:nvSpPr>
          <p:cNvPr id="8" name="Text 6"/>
          <p:cNvSpPr/>
          <p:nvPr/>
        </p:nvSpPr>
        <p:spPr>
          <a:xfrm>
            <a:off x="4023360" y="1536192"/>
            <a:ext cx="740664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Sends queries for a specific DNS suffix to a designated resolver.</a:t>
            </a:r>
            <a:endParaRPr lang="en-US" sz="1200" dirty="0"/>
          </a:p>
        </p:txBody>
      </p:sp>
      <p:sp>
        <p:nvSpPr>
          <p:cNvPr id="9" name="Shape 7"/>
          <p:cNvSpPr/>
          <p:nvPr/>
        </p:nvSpPr>
        <p:spPr>
          <a:xfrm>
            <a:off x="548640" y="2359152"/>
            <a:ext cx="11091672" cy="713232"/>
          </a:xfrm>
          <a:prstGeom prst="roundRect">
            <a:avLst>
              <a:gd name="adj" fmla="val 11538"/>
            </a:avLst>
          </a:prstGeom>
          <a:solidFill>
            <a:srgbClr val="EBEDED"/>
          </a:solidFill>
          <a:ln w="12700">
            <a:solidFill>
              <a:srgbClr val="EBEDED"/>
            </a:solidFill>
            <a:prstDash val="solid"/>
          </a:ln>
        </p:spPr>
      </p:sp>
      <p:sp>
        <p:nvSpPr>
          <p:cNvPr id="10" name="Shape 8"/>
          <p:cNvSpPr/>
          <p:nvPr/>
        </p:nvSpPr>
        <p:spPr>
          <a:xfrm>
            <a:off x="777240" y="2633472"/>
            <a:ext cx="164592" cy="164592"/>
          </a:xfrm>
          <a:prstGeom prst="ellipse">
            <a:avLst/>
          </a:prstGeom>
          <a:solidFill>
            <a:srgbClr val="2DCCD3"/>
          </a:solidFill>
          <a:ln w="12700">
            <a:solidFill>
              <a:srgbClr val="333333"/>
            </a:solidFill>
            <a:prstDash val="solid"/>
          </a:ln>
        </p:spPr>
      </p:sp>
      <p:sp>
        <p:nvSpPr>
          <p:cNvPr id="11" name="Text 9"/>
          <p:cNvSpPr/>
          <p:nvPr/>
        </p:nvSpPr>
        <p:spPr>
          <a:xfrm>
            <a:off x="1051560" y="2359152"/>
            <a:ext cx="288036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On-premises to Azure</a:t>
            </a:r>
            <a:endParaRPr lang="en-US" sz="1250" dirty="0"/>
          </a:p>
        </p:txBody>
      </p:sp>
      <p:sp>
        <p:nvSpPr>
          <p:cNvPr id="12" name="Text 10"/>
          <p:cNvSpPr/>
          <p:nvPr/>
        </p:nvSpPr>
        <p:spPr>
          <a:xfrm>
            <a:off x="4023360" y="2359152"/>
            <a:ext cx="740664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On-premises DNS servers forward Azure private-zone queries to the inbound endpoint of Azure DNS Private Resolver.</a:t>
            </a:r>
            <a:endParaRPr lang="en-US" sz="1200" dirty="0"/>
          </a:p>
        </p:txBody>
      </p:sp>
      <p:sp>
        <p:nvSpPr>
          <p:cNvPr id="13" name="Shape 11"/>
          <p:cNvSpPr/>
          <p:nvPr/>
        </p:nvSpPr>
        <p:spPr>
          <a:xfrm>
            <a:off x="548640" y="3182112"/>
            <a:ext cx="11091672" cy="713232"/>
          </a:xfrm>
          <a:prstGeom prst="roundRect">
            <a:avLst>
              <a:gd name="adj" fmla="val 11538"/>
            </a:avLst>
          </a:prstGeom>
          <a:solidFill>
            <a:srgbClr val="E5F7FC"/>
          </a:solidFill>
          <a:ln w="12700">
            <a:solidFill>
              <a:srgbClr val="E5F7FC"/>
            </a:solidFill>
            <a:prstDash val="solid"/>
          </a:ln>
        </p:spPr>
      </p:sp>
      <p:sp>
        <p:nvSpPr>
          <p:cNvPr id="14" name="Shape 12"/>
          <p:cNvSpPr/>
          <p:nvPr/>
        </p:nvSpPr>
        <p:spPr>
          <a:xfrm>
            <a:off x="777240" y="3456432"/>
            <a:ext cx="164592" cy="164592"/>
          </a:xfrm>
          <a:prstGeom prst="ellipse">
            <a:avLst/>
          </a:prstGeom>
          <a:solidFill>
            <a:srgbClr val="00AD93"/>
          </a:solidFill>
          <a:ln w="12700">
            <a:solidFill>
              <a:srgbClr val="333333"/>
            </a:solidFill>
            <a:prstDash val="solid"/>
          </a:ln>
        </p:spPr>
      </p:sp>
      <p:sp>
        <p:nvSpPr>
          <p:cNvPr id="15" name="Text 13"/>
          <p:cNvSpPr/>
          <p:nvPr/>
        </p:nvSpPr>
        <p:spPr>
          <a:xfrm>
            <a:off x="1051560" y="3182112"/>
            <a:ext cx="288036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Azure to on-premises</a:t>
            </a:r>
            <a:endParaRPr lang="en-US" sz="1250" dirty="0"/>
          </a:p>
        </p:txBody>
      </p:sp>
      <p:sp>
        <p:nvSpPr>
          <p:cNvPr id="16" name="Text 14"/>
          <p:cNvSpPr/>
          <p:nvPr/>
        </p:nvSpPr>
        <p:spPr>
          <a:xfrm>
            <a:off x="4023360" y="3182112"/>
            <a:ext cx="740664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Outbound endpoints and forwarding rulesets send Azure queries to on-premises or other private DNS servers.</a:t>
            </a:r>
            <a:endParaRPr lang="en-US" sz="1200" dirty="0"/>
          </a:p>
        </p:txBody>
      </p:sp>
      <p:sp>
        <p:nvSpPr>
          <p:cNvPr id="17" name="Shape 15"/>
          <p:cNvSpPr/>
          <p:nvPr/>
        </p:nvSpPr>
        <p:spPr>
          <a:xfrm>
            <a:off x="548640" y="4005072"/>
            <a:ext cx="11091672" cy="713232"/>
          </a:xfrm>
          <a:prstGeom prst="roundRect">
            <a:avLst>
              <a:gd name="adj" fmla="val 11538"/>
            </a:avLst>
          </a:prstGeom>
          <a:solidFill>
            <a:srgbClr val="EBEDED"/>
          </a:solidFill>
          <a:ln w="12700">
            <a:solidFill>
              <a:srgbClr val="EBEDED"/>
            </a:solidFill>
            <a:prstDash val="solid"/>
          </a:ln>
        </p:spPr>
      </p:sp>
      <p:sp>
        <p:nvSpPr>
          <p:cNvPr id="18" name="Shape 16"/>
          <p:cNvSpPr/>
          <p:nvPr/>
        </p:nvSpPr>
        <p:spPr>
          <a:xfrm>
            <a:off x="777240" y="4279392"/>
            <a:ext cx="164592" cy="164592"/>
          </a:xfrm>
          <a:prstGeom prst="ellipse">
            <a:avLst/>
          </a:prstGeom>
          <a:solidFill>
            <a:srgbClr val="8DB9D9"/>
          </a:solidFill>
          <a:ln w="12700">
            <a:solidFill>
              <a:srgbClr val="333333"/>
            </a:solidFill>
            <a:prstDash val="solid"/>
          </a:ln>
        </p:spPr>
      </p:sp>
      <p:sp>
        <p:nvSpPr>
          <p:cNvPr id="19" name="Text 17"/>
          <p:cNvSpPr/>
          <p:nvPr/>
        </p:nvSpPr>
        <p:spPr>
          <a:xfrm>
            <a:off x="1051560" y="4005072"/>
            <a:ext cx="288036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AVS namespaces</a:t>
            </a:r>
            <a:endParaRPr lang="en-US" sz="1250" dirty="0"/>
          </a:p>
        </p:txBody>
      </p:sp>
      <p:sp>
        <p:nvSpPr>
          <p:cNvPr id="20" name="Text 18"/>
          <p:cNvSpPr/>
          <p:nvPr/>
        </p:nvSpPr>
        <p:spPr>
          <a:xfrm>
            <a:off x="4023360" y="4005072"/>
            <a:ext cx="740664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The NSX DNS Service conditionally forwards defined FQDN zones to Azure or on-premises private DNS servers.</a:t>
            </a:r>
            <a:endParaRPr lang="en-US" sz="1200" dirty="0"/>
          </a:p>
        </p:txBody>
      </p:sp>
      <p:sp>
        <p:nvSpPr>
          <p:cNvPr id="21" name="Shape 19"/>
          <p:cNvSpPr/>
          <p:nvPr/>
        </p:nvSpPr>
        <p:spPr>
          <a:xfrm>
            <a:off x="548640" y="4828032"/>
            <a:ext cx="11091672" cy="713232"/>
          </a:xfrm>
          <a:prstGeom prst="roundRect">
            <a:avLst>
              <a:gd name="adj" fmla="val 11538"/>
            </a:avLst>
          </a:prstGeom>
          <a:solidFill>
            <a:srgbClr val="E5F7FC"/>
          </a:solidFill>
          <a:ln w="12700">
            <a:solidFill>
              <a:srgbClr val="E5F7FC"/>
            </a:solidFill>
            <a:prstDash val="solid"/>
          </a:ln>
        </p:spPr>
      </p:sp>
      <p:sp>
        <p:nvSpPr>
          <p:cNvPr id="22" name="Shape 20"/>
          <p:cNvSpPr/>
          <p:nvPr/>
        </p:nvSpPr>
        <p:spPr>
          <a:xfrm>
            <a:off x="777240" y="5102352"/>
            <a:ext cx="164592" cy="164592"/>
          </a:xfrm>
          <a:prstGeom prst="ellipse">
            <a:avLst/>
          </a:prstGeom>
          <a:solidFill>
            <a:srgbClr val="AD1AAC"/>
          </a:solidFill>
          <a:ln w="12700">
            <a:solidFill>
              <a:srgbClr val="333333"/>
            </a:solidFill>
            <a:prstDash val="solid"/>
          </a:ln>
        </p:spPr>
      </p:sp>
      <p:sp>
        <p:nvSpPr>
          <p:cNvPr id="23" name="Text 21"/>
          <p:cNvSpPr/>
          <p:nvPr/>
        </p:nvSpPr>
        <p:spPr>
          <a:xfrm>
            <a:off x="1051560" y="4828032"/>
            <a:ext cx="2880360" cy="713232"/>
          </a:xfrm>
          <a:prstGeom prst="rect">
            <a:avLst/>
          </a:prstGeom>
          <a:noFill/>
          <a:ln/>
        </p:spPr>
        <p:txBody>
          <a:bodyPr wrap="square" lIns="0" tIns="0" rIns="0" bIns="0" rtlCol="0" anchor="ctr"/>
          <a:lstStyle/>
          <a:p>
            <a:pPr indent="0" marL="0">
              <a:buNone/>
            </a:pPr>
            <a:r>
              <a:rPr lang="en-US" sz="1250" b="1" dirty="0">
                <a:solidFill>
                  <a:srgbClr val="3E3E4B"/>
                </a:solidFill>
                <a:latin typeface="Arial" pitchFamily="34" charset="0"/>
                <a:ea typeface="Arial" pitchFamily="34" charset="-122"/>
                <a:cs typeface="Arial" pitchFamily="34" charset="-120"/>
              </a:rPr>
              <a:t>AVS Gen 2 management names</a:t>
            </a:r>
            <a:endParaRPr lang="en-US" sz="1250" dirty="0"/>
          </a:p>
        </p:txBody>
      </p:sp>
      <p:sp>
        <p:nvSpPr>
          <p:cNvPr id="24" name="Text 22"/>
          <p:cNvSpPr/>
          <p:nvPr/>
        </p:nvSpPr>
        <p:spPr>
          <a:xfrm>
            <a:off x="4023360" y="4828032"/>
            <a:ext cx="7406640" cy="713232"/>
          </a:xfrm>
          <a:prstGeom prst="rect">
            <a:avLst/>
          </a:prstGeom>
          <a:noFill/>
          <a:ln/>
        </p:spPr>
        <p:txBody>
          <a:bodyPr wrap="square" lIns="0" tIns="0" rIns="0" bIns="0" rtlCol="0" anchor="ctr"/>
          <a:lstStyle/>
          <a:p>
            <a:pPr indent="0" marL="0">
              <a:buNone/>
            </a:pPr>
            <a:r>
              <a:rPr lang="en-US" sz="1200" dirty="0">
                <a:solidFill>
                  <a:srgbClr val="3E3E4B"/>
                </a:solidFill>
                <a:latin typeface="Calibri" pitchFamily="34" charset="0"/>
                <a:ea typeface="Calibri" pitchFamily="34" charset="-122"/>
                <a:cs typeface="Calibri" pitchFamily="34" charset="-120"/>
              </a:rPr>
              <a:t>Microsoft documents using DNS Private Resolver or a DNS server in the AVS VNet, with a conditional forwarder created from on-premises.</a:t>
            </a:r>
            <a:endParaRPr lang="en-US" sz="1200" dirty="0"/>
          </a:p>
        </p:txBody>
      </p:sp>
      <p:sp>
        <p:nvSpPr>
          <p:cNvPr id="25" name="Shape 23"/>
          <p:cNvSpPr/>
          <p:nvPr/>
        </p:nvSpPr>
        <p:spPr>
          <a:xfrm>
            <a:off x="548640" y="5669280"/>
            <a:ext cx="11091672" cy="658368"/>
          </a:xfrm>
          <a:prstGeom prst="roundRect">
            <a:avLst>
              <a:gd name="adj" fmla="val 12500"/>
            </a:avLst>
          </a:prstGeom>
          <a:solidFill>
            <a:srgbClr val="F15D23"/>
          </a:solidFill>
          <a:ln w="12700">
            <a:solidFill>
              <a:srgbClr val="F15D23"/>
            </a:solidFill>
            <a:prstDash val="solid"/>
          </a:ln>
        </p:spPr>
      </p:sp>
      <p:sp>
        <p:nvSpPr>
          <p:cNvPr id="26" name="Text 24"/>
          <p:cNvSpPr/>
          <p:nvPr/>
        </p:nvSpPr>
        <p:spPr>
          <a:xfrm>
            <a:off x="914400" y="5669280"/>
            <a:ext cx="10424160" cy="65836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Do not point on-premises DNS servers directly at 168.63.129.16. Use a resolver or forwarder inside Azure.</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XXXIII  DNS FAULT TOLERANCE</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What happens when the tunnel drops</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43</a:t>
            </a:r>
            <a:endParaRPr lang="en-US" sz="900" dirty="0"/>
          </a:p>
        </p:txBody>
      </p:sp>
      <p:sp>
        <p:nvSpPr>
          <p:cNvPr id="5" name="Shape 3"/>
          <p:cNvSpPr/>
          <p:nvPr/>
        </p:nvSpPr>
        <p:spPr>
          <a:xfrm>
            <a:off x="548640" y="1554480"/>
            <a:ext cx="5440680" cy="2148840"/>
          </a:xfrm>
          <a:prstGeom prst="roundRect">
            <a:avLst>
              <a:gd name="adj" fmla="val 3830"/>
            </a:avLst>
          </a:prstGeom>
          <a:solidFill>
            <a:srgbClr val="EBEDED"/>
          </a:solidFill>
          <a:ln w="12700">
            <a:solidFill>
              <a:srgbClr val="EBEDED"/>
            </a:solidFill>
            <a:prstDash val="solid"/>
          </a:ln>
        </p:spPr>
      </p:sp>
      <p:sp>
        <p:nvSpPr>
          <p:cNvPr id="6" name="Text 4"/>
          <p:cNvSpPr/>
          <p:nvPr/>
        </p:nvSpPr>
        <p:spPr>
          <a:xfrm>
            <a:off x="868680" y="1755648"/>
            <a:ext cx="4754880" cy="292608"/>
          </a:xfrm>
          <a:prstGeom prst="rect">
            <a:avLst/>
          </a:prstGeom>
          <a:noFill/>
          <a:ln/>
        </p:spPr>
        <p:txBody>
          <a:bodyPr wrap="square" lIns="0" tIns="0" rIns="0" bIns="0" rtlCol="0" anchor="ctr"/>
          <a:lstStyle/>
          <a:p>
            <a:pPr indent="0" marL="0">
              <a:buNone/>
            </a:pPr>
            <a:r>
              <a:rPr lang="en-US" sz="1450" b="1" dirty="0">
                <a:solidFill>
                  <a:srgbClr val="F15D23"/>
                </a:solidFill>
                <a:latin typeface="Arial" pitchFamily="34" charset="0"/>
                <a:ea typeface="Arial" pitchFamily="34" charset="-122"/>
                <a:cs typeface="Arial" pitchFamily="34" charset="-120"/>
              </a:rPr>
              <a:t>Single-sided design</a:t>
            </a:r>
            <a:endParaRPr lang="en-US" sz="1450" dirty="0"/>
          </a:p>
        </p:txBody>
      </p:sp>
      <p:sp>
        <p:nvSpPr>
          <p:cNvPr id="7" name="Text 5"/>
          <p:cNvSpPr/>
          <p:nvPr/>
        </p:nvSpPr>
        <p:spPr>
          <a:xfrm>
            <a:off x="868680" y="2121408"/>
            <a:ext cx="4800600" cy="141732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Relying exclusively on on-premises DNS makes every Azure and AVS workload dependent on the site-to-site VPN for name resolution. A tunnel outage becomes an application outage.</a:t>
            </a:r>
            <a:endParaRPr lang="en-US" sz="1250" dirty="0"/>
          </a:p>
        </p:txBody>
      </p:sp>
      <p:sp>
        <p:nvSpPr>
          <p:cNvPr id="8" name="Shape 6"/>
          <p:cNvSpPr/>
          <p:nvPr/>
        </p:nvSpPr>
        <p:spPr>
          <a:xfrm>
            <a:off x="6199632" y="1554480"/>
            <a:ext cx="5440680" cy="2148840"/>
          </a:xfrm>
          <a:prstGeom prst="roundRect">
            <a:avLst>
              <a:gd name="adj" fmla="val 3830"/>
            </a:avLst>
          </a:prstGeom>
          <a:solidFill>
            <a:srgbClr val="E2F2E8"/>
          </a:solidFill>
          <a:ln w="12700">
            <a:solidFill>
              <a:srgbClr val="E2F2E8"/>
            </a:solidFill>
            <a:prstDash val="solid"/>
          </a:ln>
        </p:spPr>
      </p:sp>
      <p:sp>
        <p:nvSpPr>
          <p:cNvPr id="9" name="Text 7"/>
          <p:cNvSpPr/>
          <p:nvPr/>
        </p:nvSpPr>
        <p:spPr>
          <a:xfrm>
            <a:off x="6519672" y="1755648"/>
            <a:ext cx="4754880" cy="292608"/>
          </a:xfrm>
          <a:prstGeom prst="rect">
            <a:avLst/>
          </a:prstGeom>
          <a:noFill/>
          <a:ln/>
        </p:spPr>
        <p:txBody>
          <a:bodyPr wrap="square" lIns="0" tIns="0" rIns="0" bIns="0" rtlCol="0" anchor="ctr"/>
          <a:lstStyle/>
          <a:p>
            <a:pPr indent="0" marL="0">
              <a:buNone/>
            </a:pPr>
            <a:r>
              <a:rPr lang="en-US" sz="1450" b="1" dirty="0">
                <a:solidFill>
                  <a:srgbClr val="00AD93"/>
                </a:solidFill>
                <a:latin typeface="Arial" pitchFamily="34" charset="0"/>
                <a:ea typeface="Arial" pitchFamily="34" charset="-122"/>
                <a:cs typeface="Arial" pitchFamily="34" charset="-120"/>
              </a:rPr>
              <a:t>Localised design</a:t>
            </a:r>
            <a:endParaRPr lang="en-US" sz="1450" dirty="0"/>
          </a:p>
        </p:txBody>
      </p:sp>
      <p:sp>
        <p:nvSpPr>
          <p:cNvPr id="10" name="Text 8"/>
          <p:cNvSpPr/>
          <p:nvPr/>
        </p:nvSpPr>
        <p:spPr>
          <a:xfrm>
            <a:off x="6519672" y="2121408"/>
            <a:ext cx="4800600" cy="1417320"/>
          </a:xfrm>
          <a:prstGeom prst="rect">
            <a:avLst/>
          </a:prstGeom>
          <a:noFill/>
          <a:ln/>
        </p:spPr>
        <p:txBody>
          <a:bodyPr wrap="square" lIns="0" tIns="0" rIns="0" bIns="0" rtlCol="0" anchor="t"/>
          <a:lstStyle/>
          <a:p>
            <a:pPr indent="0" marL="0">
              <a:buNone/>
            </a:pPr>
            <a:r>
              <a:rPr lang="en-US" sz="1250" dirty="0">
                <a:solidFill>
                  <a:srgbClr val="3E3E4B"/>
                </a:solidFill>
                <a:latin typeface="Calibri" pitchFamily="34" charset="0"/>
                <a:ea typeface="Calibri" pitchFamily="34" charset="-122"/>
                <a:cs typeface="Calibri" pitchFamily="34" charset="-120"/>
              </a:rPr>
              <a:t>Azure-hosted AD-integrated DNS or DNS Private Resolver serves Azure VNets locally. An AVS-local domain controller with NSX DNS forwarding serves VMware workloads locally.</a:t>
            </a:r>
            <a:endParaRPr lang="en-US" sz="1250" dirty="0"/>
          </a:p>
        </p:txBody>
      </p:sp>
      <p:sp>
        <p:nvSpPr>
          <p:cNvPr id="11" name="Shape 9"/>
          <p:cNvSpPr/>
          <p:nvPr/>
        </p:nvSpPr>
        <p:spPr>
          <a:xfrm>
            <a:off x="548640" y="3977640"/>
            <a:ext cx="11091672" cy="1828800"/>
          </a:xfrm>
          <a:prstGeom prst="roundRect">
            <a:avLst>
              <a:gd name="adj" fmla="val 4500"/>
            </a:avLst>
          </a:prstGeom>
          <a:solidFill>
            <a:srgbClr val="E5F7FC"/>
          </a:solidFill>
          <a:ln w="12700">
            <a:solidFill>
              <a:srgbClr val="E5F7FC"/>
            </a:solidFill>
            <a:prstDash val="solid"/>
          </a:ln>
        </p:spPr>
      </p:sp>
      <p:sp>
        <p:nvSpPr>
          <p:cNvPr id="12" name="Text 10"/>
          <p:cNvSpPr/>
          <p:nvPr/>
        </p:nvSpPr>
        <p:spPr>
          <a:xfrm>
            <a:off x="868680" y="4160520"/>
            <a:ext cx="10424160" cy="292608"/>
          </a:xfrm>
          <a:prstGeom prst="rect">
            <a:avLst/>
          </a:prstGeom>
          <a:noFill/>
          <a:ln/>
        </p:spPr>
        <p:txBody>
          <a:bodyPr wrap="square" lIns="0" tIns="0" rIns="0" bIns="0" rtlCol="0" anchor="ctr"/>
          <a:lstStyle/>
          <a:p>
            <a:pPr indent="0" marL="0">
              <a:buNone/>
            </a:pPr>
            <a:r>
              <a:rPr lang="en-US" sz="1450" b="1" dirty="0">
                <a:solidFill>
                  <a:srgbClr val="3E3E4B"/>
                </a:solidFill>
                <a:latin typeface="Arial" pitchFamily="34" charset="0"/>
                <a:ea typeface="Arial" pitchFamily="34" charset="-122"/>
                <a:cs typeface="Arial" pitchFamily="34" charset="-120"/>
              </a:rPr>
              <a:t>Design rules</a:t>
            </a:r>
            <a:endParaRPr lang="en-US" sz="1450" dirty="0"/>
          </a:p>
        </p:txBody>
      </p:sp>
      <p:sp>
        <p:nvSpPr>
          <p:cNvPr id="13" name="Text 11"/>
          <p:cNvSpPr/>
          <p:nvPr/>
        </p:nvSpPr>
        <p:spPr>
          <a:xfrm>
            <a:off x="868680" y="4526280"/>
            <a:ext cx="10424160" cy="118872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Local services let each environment keep resolving local dependencies during a WAN interruption, though cross-environment dependencies still fail until connectivity returns</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Design DNS servers, resolver endpoints, forwarding targets, and firewall rules redundantly</a:t>
            </a:r>
            <a:endParaRPr lang="en-US" sz="1250" dirty="0"/>
          </a:p>
          <a:p>
            <a:pPr marL="177800" indent="-177800">
              <a:spcAft>
                <a:spcPts val="800"/>
              </a:spcAft>
              <a:buSzPct val="100000"/>
              <a:buChar char="•"/>
            </a:pPr>
            <a:r>
              <a:rPr lang="en-US" sz="1250" dirty="0">
                <a:solidFill>
                  <a:srgbClr val="3E3E4B"/>
                </a:solidFill>
                <a:latin typeface="Calibri" pitchFamily="34" charset="0"/>
                <a:ea typeface="Calibri" pitchFamily="34" charset="-122"/>
                <a:cs typeface="Calibri" pitchFamily="34" charset="-120"/>
              </a:rPr>
              <a:t>Avoid a single DNS VM, and avoid a single forwarding target that becomes unreachable with the tunnel</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9966960" y="-1371600"/>
            <a:ext cx="4754880" cy="4754880"/>
          </a:xfrm>
          <a:prstGeom prst="ellipse">
            <a:avLst/>
          </a:prstGeom>
          <a:solidFill>
            <a:srgbClr val="474756"/>
          </a:solidFill>
          <a:ln w="12700">
            <a:solidFill>
              <a:srgbClr val="333333"/>
            </a:solidFill>
            <a:prstDash val="solid"/>
          </a:ln>
        </p:spPr>
      </p:sp>
      <p:sp>
        <p:nvSpPr>
          <p:cNvPr id="3" name="Shape 1"/>
          <p:cNvSpPr/>
          <p:nvPr/>
        </p:nvSpPr>
        <p:spPr>
          <a:xfrm>
            <a:off x="10881360" y="4206240"/>
            <a:ext cx="2377440" cy="2377440"/>
          </a:xfrm>
          <a:prstGeom prst="ellipse">
            <a:avLst/>
          </a:prstGeom>
          <a:solidFill>
            <a:srgbClr val="474756"/>
          </a:solidFill>
          <a:ln w="12700">
            <a:solidFill>
              <a:srgbClr val="333333"/>
            </a:solidFill>
            <a:prstDash val="solid"/>
          </a:ln>
        </p:spPr>
      </p:sp>
      <p:sp>
        <p:nvSpPr>
          <p:cNvPr id="4" name="Text 2"/>
          <p:cNvSpPr/>
          <p:nvPr/>
        </p:nvSpPr>
        <p:spPr>
          <a:xfrm>
            <a:off x="822960" y="1965960"/>
            <a:ext cx="2011680" cy="914400"/>
          </a:xfrm>
          <a:prstGeom prst="rect">
            <a:avLst/>
          </a:prstGeom>
          <a:noFill/>
          <a:ln/>
        </p:spPr>
        <p:txBody>
          <a:bodyPr wrap="square" lIns="0" tIns="0" rIns="0" bIns="0" rtlCol="0" anchor="ctr"/>
          <a:lstStyle/>
          <a:p>
            <a:pPr indent="0" marL="0">
              <a:buNone/>
            </a:pPr>
            <a:r>
              <a:rPr lang="en-US" sz="5600" b="1" dirty="0">
                <a:solidFill>
                  <a:srgbClr val="00B3E2"/>
                </a:solidFill>
                <a:latin typeface="Arial" pitchFamily="34" charset="0"/>
                <a:ea typeface="Arial" pitchFamily="34" charset="-122"/>
                <a:cs typeface="Arial" pitchFamily="34" charset="-120"/>
              </a:rPr>
              <a:t>09</a:t>
            </a:r>
            <a:endParaRPr lang="en-US" sz="5600" dirty="0"/>
          </a:p>
        </p:txBody>
      </p:sp>
      <p:sp>
        <p:nvSpPr>
          <p:cNvPr id="5" name="Text 3"/>
          <p:cNvSpPr/>
          <p:nvPr/>
        </p:nvSpPr>
        <p:spPr>
          <a:xfrm>
            <a:off x="822960" y="2880360"/>
            <a:ext cx="8595360" cy="100584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Final architecture</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summary</a:t>
            </a:r>
            <a:endParaRPr lang="en-US" sz="3400" dirty="0"/>
          </a:p>
        </p:txBody>
      </p:sp>
      <p:sp>
        <p:nvSpPr>
          <p:cNvPr id="6" name="Text 4"/>
          <p:cNvSpPr/>
          <p:nvPr/>
        </p:nvSpPr>
        <p:spPr>
          <a:xfrm>
            <a:off x="868680" y="3931920"/>
            <a:ext cx="7863840" cy="73152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Five layers, and the risks each one is there to reduce</a:t>
            </a:r>
            <a:endParaRPr lang="en-US" sz="1400" dirty="0"/>
          </a:p>
        </p:txBody>
      </p:sp>
      <p:sp>
        <p:nvSpPr>
          <p:cNvPr id="7" name="Text 5"/>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XXXIV.A - B  CONNECTIVITY AND ROUTING</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Build order for the platform layers</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45</a:t>
            </a:r>
            <a:endParaRPr lang="en-US" sz="900" dirty="0"/>
          </a:p>
        </p:txBody>
      </p:sp>
      <p:sp>
        <p:nvSpPr>
          <p:cNvPr id="5" name="Shape 3"/>
          <p:cNvSpPr/>
          <p:nvPr/>
        </p:nvSpPr>
        <p:spPr>
          <a:xfrm>
            <a:off x="548640" y="1536192"/>
            <a:ext cx="5440680" cy="4572000"/>
          </a:xfrm>
          <a:prstGeom prst="roundRect">
            <a:avLst>
              <a:gd name="adj" fmla="val 1800"/>
            </a:avLst>
          </a:prstGeom>
          <a:solidFill>
            <a:srgbClr val="E5F7FC"/>
          </a:solidFill>
          <a:ln w="12700">
            <a:solidFill>
              <a:srgbClr val="E5F7FC"/>
            </a:solidFill>
            <a:prstDash val="solid"/>
          </a:ln>
        </p:spPr>
      </p:sp>
      <p:sp>
        <p:nvSpPr>
          <p:cNvPr id="6" name="Text 4"/>
          <p:cNvSpPr/>
          <p:nvPr/>
        </p:nvSpPr>
        <p:spPr>
          <a:xfrm>
            <a:off x="868680" y="1737360"/>
            <a:ext cx="4754880" cy="320040"/>
          </a:xfrm>
          <a:prstGeom prst="rect">
            <a:avLst/>
          </a:prstGeom>
          <a:noFill/>
          <a:ln/>
        </p:spPr>
        <p:txBody>
          <a:bodyPr wrap="square" lIns="0" tIns="0" rIns="0" bIns="0" rtlCol="0" anchor="ctr"/>
          <a:lstStyle/>
          <a:p>
            <a:pPr indent="0" marL="0">
              <a:buNone/>
            </a:pPr>
            <a:r>
              <a:rPr lang="en-US" sz="1600" b="1" dirty="0">
                <a:solidFill>
                  <a:srgbClr val="00B3E2"/>
                </a:solidFill>
                <a:latin typeface="Arial" pitchFamily="34" charset="0"/>
                <a:ea typeface="Arial" pitchFamily="34" charset="-122"/>
                <a:cs typeface="Arial" pitchFamily="34" charset="-120"/>
              </a:rPr>
              <a:t>Connectivity layer</a:t>
            </a:r>
            <a:endParaRPr lang="en-US" sz="1600" dirty="0"/>
          </a:p>
        </p:txBody>
      </p:sp>
      <p:sp>
        <p:nvSpPr>
          <p:cNvPr id="7" name="Shape 5"/>
          <p:cNvSpPr/>
          <p:nvPr/>
        </p:nvSpPr>
        <p:spPr>
          <a:xfrm>
            <a:off x="868680" y="2139696"/>
            <a:ext cx="384048" cy="384048"/>
          </a:xfrm>
          <a:prstGeom prst="ellipse">
            <a:avLst/>
          </a:prstGeom>
          <a:solidFill>
            <a:srgbClr val="00B3E2"/>
          </a:solidFill>
          <a:ln w="12700">
            <a:solidFill>
              <a:srgbClr val="00B3E2"/>
            </a:solidFill>
            <a:prstDash val="solid"/>
          </a:ln>
        </p:spPr>
      </p:sp>
      <p:sp>
        <p:nvSpPr>
          <p:cNvPr id="8" name="Text 6"/>
          <p:cNvSpPr/>
          <p:nvPr/>
        </p:nvSpPr>
        <p:spPr>
          <a:xfrm>
            <a:off x="868680" y="21396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1435608" y="2084832"/>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Deploy a Standard Azure Virtual WAN</a:t>
            </a:r>
            <a:endParaRPr lang="en-US" sz="1200" dirty="0"/>
          </a:p>
        </p:txBody>
      </p:sp>
      <p:sp>
        <p:nvSpPr>
          <p:cNvPr id="10" name="Shape 8"/>
          <p:cNvSpPr/>
          <p:nvPr/>
        </p:nvSpPr>
        <p:spPr>
          <a:xfrm>
            <a:off x="868680" y="2798064"/>
            <a:ext cx="384048" cy="384048"/>
          </a:xfrm>
          <a:prstGeom prst="ellipse">
            <a:avLst/>
          </a:prstGeom>
          <a:solidFill>
            <a:srgbClr val="00B3E2"/>
          </a:solidFill>
          <a:ln w="12700">
            <a:solidFill>
              <a:srgbClr val="00B3E2"/>
            </a:solidFill>
            <a:prstDash val="solid"/>
          </a:ln>
        </p:spPr>
      </p:sp>
      <p:sp>
        <p:nvSpPr>
          <p:cNvPr id="11" name="Text 9"/>
          <p:cNvSpPr/>
          <p:nvPr/>
        </p:nvSpPr>
        <p:spPr>
          <a:xfrm>
            <a:off x="868680" y="27980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435608" y="2743200"/>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Create a regional virtual hub with adequate, nonoverlapping address space</a:t>
            </a:r>
            <a:endParaRPr lang="en-US" sz="1200" dirty="0"/>
          </a:p>
        </p:txBody>
      </p:sp>
      <p:sp>
        <p:nvSpPr>
          <p:cNvPr id="13" name="Shape 11"/>
          <p:cNvSpPr/>
          <p:nvPr/>
        </p:nvSpPr>
        <p:spPr>
          <a:xfrm>
            <a:off x="868680" y="3456432"/>
            <a:ext cx="384048" cy="384048"/>
          </a:xfrm>
          <a:prstGeom prst="ellipse">
            <a:avLst/>
          </a:prstGeom>
          <a:solidFill>
            <a:srgbClr val="00B3E2"/>
          </a:solidFill>
          <a:ln w="12700">
            <a:solidFill>
              <a:srgbClr val="00B3E2"/>
            </a:solidFill>
            <a:prstDash val="solid"/>
          </a:ln>
        </p:spPr>
      </p:sp>
      <p:sp>
        <p:nvSpPr>
          <p:cNvPr id="14" name="Text 12"/>
          <p:cNvSpPr/>
          <p:nvPr/>
        </p:nvSpPr>
        <p:spPr>
          <a:xfrm>
            <a:off x="868680" y="345643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5" name="Text 13"/>
          <p:cNvSpPr/>
          <p:nvPr/>
        </p:nvSpPr>
        <p:spPr>
          <a:xfrm>
            <a:off x="1435608" y="3401568"/>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Deploy and size the site-to-site VPN gateway for aggregate throughput</a:t>
            </a:r>
            <a:endParaRPr lang="en-US" sz="1200" dirty="0"/>
          </a:p>
        </p:txBody>
      </p:sp>
      <p:sp>
        <p:nvSpPr>
          <p:cNvPr id="16" name="Shape 14"/>
          <p:cNvSpPr/>
          <p:nvPr/>
        </p:nvSpPr>
        <p:spPr>
          <a:xfrm>
            <a:off x="868680" y="4114800"/>
            <a:ext cx="384048" cy="384048"/>
          </a:xfrm>
          <a:prstGeom prst="ellipse">
            <a:avLst/>
          </a:prstGeom>
          <a:solidFill>
            <a:srgbClr val="00B3E2"/>
          </a:solidFill>
          <a:ln w="12700">
            <a:solidFill>
              <a:srgbClr val="00B3E2"/>
            </a:solidFill>
            <a:prstDash val="solid"/>
          </a:ln>
        </p:spPr>
      </p:sp>
      <p:sp>
        <p:nvSpPr>
          <p:cNvPr id="17" name="Text 15"/>
          <p:cNvSpPr/>
          <p:nvPr/>
        </p:nvSpPr>
        <p:spPr>
          <a:xfrm>
            <a:off x="868680" y="41148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8" name="Text 16"/>
          <p:cNvSpPr/>
          <p:nvPr/>
        </p:nvSpPr>
        <p:spPr>
          <a:xfrm>
            <a:off x="1435608" y="4059936"/>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Select Microsoft-network or ISP routing preference on performance and cost grounds</a:t>
            </a:r>
            <a:endParaRPr lang="en-US" sz="1200" dirty="0"/>
          </a:p>
        </p:txBody>
      </p:sp>
      <p:sp>
        <p:nvSpPr>
          <p:cNvPr id="19" name="Shape 17"/>
          <p:cNvSpPr/>
          <p:nvPr/>
        </p:nvSpPr>
        <p:spPr>
          <a:xfrm>
            <a:off x="868680" y="4773168"/>
            <a:ext cx="384048" cy="384048"/>
          </a:xfrm>
          <a:prstGeom prst="ellipse">
            <a:avLst/>
          </a:prstGeom>
          <a:solidFill>
            <a:srgbClr val="00B3E2"/>
          </a:solidFill>
          <a:ln w="12700">
            <a:solidFill>
              <a:srgbClr val="00B3E2"/>
            </a:solidFill>
            <a:prstDash val="solid"/>
          </a:ln>
        </p:spPr>
      </p:sp>
      <p:sp>
        <p:nvSpPr>
          <p:cNvPr id="20" name="Text 18"/>
          <p:cNvSpPr/>
          <p:nvPr/>
        </p:nvSpPr>
        <p:spPr>
          <a:xfrm>
            <a:off x="868680" y="47731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1" name="Text 19"/>
          <p:cNvSpPr/>
          <p:nvPr/>
        </p:nvSpPr>
        <p:spPr>
          <a:xfrm>
            <a:off x="1435608" y="4718304"/>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Deploy an ExpressRoute gateway in the same hub</a:t>
            </a:r>
            <a:endParaRPr lang="en-US" sz="1200" dirty="0"/>
          </a:p>
        </p:txBody>
      </p:sp>
      <p:sp>
        <p:nvSpPr>
          <p:cNvPr id="22" name="Shape 20"/>
          <p:cNvSpPr/>
          <p:nvPr/>
        </p:nvSpPr>
        <p:spPr>
          <a:xfrm>
            <a:off x="868680" y="5431536"/>
            <a:ext cx="384048" cy="384048"/>
          </a:xfrm>
          <a:prstGeom prst="ellipse">
            <a:avLst/>
          </a:prstGeom>
          <a:solidFill>
            <a:srgbClr val="00B3E2"/>
          </a:solidFill>
          <a:ln w="12700">
            <a:solidFill>
              <a:srgbClr val="00B3E2"/>
            </a:solidFill>
            <a:prstDash val="solid"/>
          </a:ln>
        </p:spPr>
      </p:sp>
      <p:sp>
        <p:nvSpPr>
          <p:cNvPr id="23" name="Text 21"/>
          <p:cNvSpPr/>
          <p:nvPr/>
        </p:nvSpPr>
        <p:spPr>
          <a:xfrm>
            <a:off x="868680" y="543153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4" name="Text 22"/>
          <p:cNvSpPr/>
          <p:nvPr/>
        </p:nvSpPr>
        <p:spPr>
          <a:xfrm>
            <a:off x="1435608" y="5376672"/>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Redeem the AVS authorization key and associate the circuit with the hub</a:t>
            </a:r>
            <a:endParaRPr lang="en-US" sz="1200" dirty="0"/>
          </a:p>
        </p:txBody>
      </p:sp>
      <p:sp>
        <p:nvSpPr>
          <p:cNvPr id="25" name="Shape 23"/>
          <p:cNvSpPr/>
          <p:nvPr/>
        </p:nvSpPr>
        <p:spPr>
          <a:xfrm>
            <a:off x="6199632" y="1536192"/>
            <a:ext cx="5440680" cy="4572000"/>
          </a:xfrm>
          <a:prstGeom prst="roundRect">
            <a:avLst>
              <a:gd name="adj" fmla="val 1800"/>
            </a:avLst>
          </a:prstGeom>
          <a:solidFill>
            <a:srgbClr val="EBEDED"/>
          </a:solidFill>
          <a:ln w="12700">
            <a:solidFill>
              <a:srgbClr val="EBEDED"/>
            </a:solidFill>
            <a:prstDash val="solid"/>
          </a:ln>
        </p:spPr>
      </p:sp>
      <p:sp>
        <p:nvSpPr>
          <p:cNvPr id="26" name="Text 24"/>
          <p:cNvSpPr/>
          <p:nvPr/>
        </p:nvSpPr>
        <p:spPr>
          <a:xfrm>
            <a:off x="6519672" y="1737360"/>
            <a:ext cx="4754880" cy="320040"/>
          </a:xfrm>
          <a:prstGeom prst="rect">
            <a:avLst/>
          </a:prstGeom>
          <a:noFill/>
          <a:ln/>
        </p:spPr>
        <p:txBody>
          <a:bodyPr wrap="square" lIns="0" tIns="0" rIns="0" bIns="0" rtlCol="0" anchor="ctr"/>
          <a:lstStyle/>
          <a:p>
            <a:pPr indent="0" marL="0">
              <a:buNone/>
            </a:pPr>
            <a:r>
              <a:rPr lang="en-US" sz="1600" b="1" dirty="0">
                <a:solidFill>
                  <a:srgbClr val="3E3E4B"/>
                </a:solidFill>
                <a:latin typeface="Arial" pitchFamily="34" charset="0"/>
                <a:ea typeface="Arial" pitchFamily="34" charset="-122"/>
                <a:cs typeface="Arial" pitchFamily="34" charset="-120"/>
              </a:rPr>
              <a:t>Routing layer</a:t>
            </a:r>
            <a:endParaRPr lang="en-US" sz="1600" dirty="0"/>
          </a:p>
        </p:txBody>
      </p:sp>
      <p:sp>
        <p:nvSpPr>
          <p:cNvPr id="27" name="Shape 25"/>
          <p:cNvSpPr/>
          <p:nvPr/>
        </p:nvSpPr>
        <p:spPr>
          <a:xfrm>
            <a:off x="6519672" y="2157984"/>
            <a:ext cx="384048" cy="384048"/>
          </a:xfrm>
          <a:prstGeom prst="ellipse">
            <a:avLst/>
          </a:prstGeom>
          <a:solidFill>
            <a:srgbClr val="2DCCD3"/>
          </a:solidFill>
          <a:ln w="12700">
            <a:solidFill>
              <a:srgbClr val="2DCCD3"/>
            </a:solidFill>
            <a:prstDash val="solid"/>
          </a:ln>
        </p:spPr>
      </p:sp>
      <p:sp>
        <p:nvSpPr>
          <p:cNvPr id="28" name="Text 26"/>
          <p:cNvSpPr/>
          <p:nvPr/>
        </p:nvSpPr>
        <p:spPr>
          <a:xfrm>
            <a:off x="6519672" y="215798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9" name="Text 27"/>
          <p:cNvSpPr/>
          <p:nvPr/>
        </p:nvSpPr>
        <p:spPr>
          <a:xfrm>
            <a:off x="7086600" y="2103120"/>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Enable BGP wherever possible to advertise on-premises, Azure, AVS, and HCX routes</a:t>
            </a:r>
            <a:endParaRPr lang="en-US" sz="1200" dirty="0"/>
          </a:p>
        </p:txBody>
      </p:sp>
      <p:sp>
        <p:nvSpPr>
          <p:cNvPr id="30" name="Shape 28"/>
          <p:cNvSpPr/>
          <p:nvPr/>
        </p:nvSpPr>
        <p:spPr>
          <a:xfrm>
            <a:off x="6519672" y="2935224"/>
            <a:ext cx="384048" cy="384048"/>
          </a:xfrm>
          <a:prstGeom prst="ellipse">
            <a:avLst/>
          </a:prstGeom>
          <a:solidFill>
            <a:srgbClr val="2DCCD3"/>
          </a:solidFill>
          <a:ln w="12700">
            <a:solidFill>
              <a:srgbClr val="2DCCD3"/>
            </a:solidFill>
            <a:prstDash val="solid"/>
          </a:ln>
        </p:spPr>
      </p:sp>
      <p:sp>
        <p:nvSpPr>
          <p:cNvPr id="31" name="Text 29"/>
          <p:cNvSpPr/>
          <p:nvPr/>
        </p:nvSpPr>
        <p:spPr>
          <a:xfrm>
            <a:off x="6519672" y="293522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2" name="Text 30"/>
          <p:cNvSpPr/>
          <p:nvPr/>
        </p:nvSpPr>
        <p:spPr>
          <a:xfrm>
            <a:off x="7086600" y="2880360"/>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Configure unique ASNs and compatible BGP peer addresses</a:t>
            </a:r>
            <a:endParaRPr lang="en-US" sz="1200" dirty="0"/>
          </a:p>
        </p:txBody>
      </p:sp>
      <p:sp>
        <p:nvSpPr>
          <p:cNvPr id="33" name="Shape 31"/>
          <p:cNvSpPr/>
          <p:nvPr/>
        </p:nvSpPr>
        <p:spPr>
          <a:xfrm>
            <a:off x="6519672" y="3712464"/>
            <a:ext cx="384048" cy="384048"/>
          </a:xfrm>
          <a:prstGeom prst="ellipse">
            <a:avLst/>
          </a:prstGeom>
          <a:solidFill>
            <a:srgbClr val="2DCCD3"/>
          </a:solidFill>
          <a:ln w="12700">
            <a:solidFill>
              <a:srgbClr val="2DCCD3"/>
            </a:solidFill>
            <a:prstDash val="solid"/>
          </a:ln>
        </p:spPr>
      </p:sp>
      <p:sp>
        <p:nvSpPr>
          <p:cNvPr id="34" name="Text 32"/>
          <p:cNvSpPr/>
          <p:nvPr/>
        </p:nvSpPr>
        <p:spPr>
          <a:xfrm>
            <a:off x="6519672" y="37124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5" name="Text 33"/>
          <p:cNvSpPr/>
          <p:nvPr/>
        </p:nvSpPr>
        <p:spPr>
          <a:xfrm>
            <a:off x="7086600" y="3657600"/>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Use custom APIPA BGP addresses only when the on-premises peer uses APIPA</a:t>
            </a:r>
            <a:endParaRPr lang="en-US" sz="1200" dirty="0"/>
          </a:p>
        </p:txBody>
      </p:sp>
      <p:sp>
        <p:nvSpPr>
          <p:cNvPr id="36" name="Shape 34"/>
          <p:cNvSpPr/>
          <p:nvPr/>
        </p:nvSpPr>
        <p:spPr>
          <a:xfrm>
            <a:off x="6519672" y="4489704"/>
            <a:ext cx="384048" cy="384048"/>
          </a:xfrm>
          <a:prstGeom prst="ellipse">
            <a:avLst/>
          </a:prstGeom>
          <a:solidFill>
            <a:srgbClr val="2DCCD3"/>
          </a:solidFill>
          <a:ln w="12700">
            <a:solidFill>
              <a:srgbClr val="2DCCD3"/>
            </a:solidFill>
            <a:prstDash val="solid"/>
          </a:ln>
        </p:spPr>
      </p:sp>
      <p:sp>
        <p:nvSpPr>
          <p:cNvPr id="37" name="Text 35"/>
          <p:cNvSpPr/>
          <p:nvPr/>
        </p:nvSpPr>
        <p:spPr>
          <a:xfrm>
            <a:off x="6519672" y="448970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8" name="Text 36"/>
          <p:cNvSpPr/>
          <p:nvPr/>
        </p:nvSpPr>
        <p:spPr>
          <a:xfrm>
            <a:off x="7086600" y="4434840"/>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Leave hub routing preference at ExpressRoute unless a deliberate requirement justifies otherwise</a:t>
            </a:r>
            <a:endParaRPr lang="en-US" sz="1200" dirty="0"/>
          </a:p>
        </p:txBody>
      </p:sp>
      <p:sp>
        <p:nvSpPr>
          <p:cNvPr id="39" name="Shape 37"/>
          <p:cNvSpPr/>
          <p:nvPr/>
        </p:nvSpPr>
        <p:spPr>
          <a:xfrm>
            <a:off x="6519672" y="5266944"/>
            <a:ext cx="384048" cy="384048"/>
          </a:xfrm>
          <a:prstGeom prst="ellipse">
            <a:avLst/>
          </a:prstGeom>
          <a:solidFill>
            <a:srgbClr val="2DCCD3"/>
          </a:solidFill>
          <a:ln w="12700">
            <a:solidFill>
              <a:srgbClr val="2DCCD3"/>
            </a:solidFill>
            <a:prstDash val="solid"/>
          </a:ln>
        </p:spPr>
      </p:sp>
      <p:sp>
        <p:nvSpPr>
          <p:cNvPr id="40" name="Text 38"/>
          <p:cNvSpPr/>
          <p:nvPr/>
        </p:nvSpPr>
        <p:spPr>
          <a:xfrm>
            <a:off x="6519672" y="52669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41" name="Text 39"/>
          <p:cNvSpPr/>
          <p:nvPr/>
        </p:nvSpPr>
        <p:spPr>
          <a:xfrm>
            <a:off x="7086600" y="5212080"/>
            <a:ext cx="4279392" cy="566928"/>
          </a:xfrm>
          <a:prstGeom prst="rect">
            <a:avLst/>
          </a:prstGeom>
          <a:noFill/>
          <a:ln/>
        </p:spPr>
        <p:txBody>
          <a:bodyPr wrap="square" lIns="0" tIns="0" rIns="0" bIns="0" rtlCol="0" anchor="t"/>
          <a:lstStyle/>
          <a:p>
            <a:pPr indent="0" marL="0">
              <a:lnSpc>
                <a:spcPct val="100000"/>
              </a:lnSpc>
              <a:buNone/>
            </a:pPr>
            <a:r>
              <a:rPr lang="en-US" sz="1200" b="1" dirty="0">
                <a:solidFill>
                  <a:srgbClr val="3E3E4B"/>
                </a:solidFill>
                <a:latin typeface="Calibri" pitchFamily="34" charset="0"/>
                <a:ea typeface="Calibri" pitchFamily="34" charset="-122"/>
                <a:cs typeface="Calibri" pitchFamily="34" charset="-120"/>
              </a:rPr>
              <a:t>Allow roughly five minutes for route propagation after linking AVS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XXXIV.C - E  SECURITY, MANAGEMENT, IDENTITY</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The three layers that make it operable</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46</a:t>
            </a:r>
            <a:endParaRPr lang="en-US" sz="900" dirty="0"/>
          </a:p>
        </p:txBody>
      </p:sp>
      <p:sp>
        <p:nvSpPr>
          <p:cNvPr id="5" name="Shape 3"/>
          <p:cNvSpPr/>
          <p:nvPr/>
        </p:nvSpPr>
        <p:spPr>
          <a:xfrm>
            <a:off x="548640" y="1536192"/>
            <a:ext cx="3566160" cy="4297680"/>
          </a:xfrm>
          <a:prstGeom prst="roundRect">
            <a:avLst>
              <a:gd name="adj" fmla="val 2308"/>
            </a:avLst>
          </a:prstGeom>
          <a:solidFill>
            <a:srgbClr val="E5F7FC"/>
          </a:solidFill>
          <a:ln w="12700">
            <a:solidFill>
              <a:srgbClr val="E5F7FC"/>
            </a:solidFill>
            <a:prstDash val="solid"/>
          </a:ln>
        </p:spPr>
      </p:sp>
      <p:sp>
        <p:nvSpPr>
          <p:cNvPr id="6" name="Text 4"/>
          <p:cNvSpPr/>
          <p:nvPr/>
        </p:nvSpPr>
        <p:spPr>
          <a:xfrm>
            <a:off x="804672" y="1737360"/>
            <a:ext cx="3017520" cy="320040"/>
          </a:xfrm>
          <a:prstGeom prst="rect">
            <a:avLst/>
          </a:prstGeom>
          <a:noFill/>
          <a:ln/>
        </p:spPr>
        <p:txBody>
          <a:bodyPr wrap="square" lIns="0" tIns="0" rIns="0" bIns="0" rtlCol="0" anchor="ctr"/>
          <a:lstStyle/>
          <a:p>
            <a:pPr indent="0" marL="0">
              <a:buNone/>
            </a:pPr>
            <a:r>
              <a:rPr lang="en-US" sz="1500" b="1" dirty="0">
                <a:solidFill>
                  <a:srgbClr val="00B3E2"/>
                </a:solidFill>
                <a:latin typeface="Arial" pitchFamily="34" charset="0"/>
                <a:ea typeface="Arial" pitchFamily="34" charset="-122"/>
                <a:cs typeface="Arial" pitchFamily="34" charset="-120"/>
              </a:rPr>
              <a:t>Security</a:t>
            </a:r>
            <a:endParaRPr lang="en-US" sz="1500" dirty="0"/>
          </a:p>
        </p:txBody>
      </p:sp>
      <p:sp>
        <p:nvSpPr>
          <p:cNvPr id="7" name="Text 5"/>
          <p:cNvSpPr/>
          <p:nvPr/>
        </p:nvSpPr>
        <p:spPr>
          <a:xfrm>
            <a:off x="804672" y="2194560"/>
            <a:ext cx="3063240" cy="352044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Use a secured virtual hub with Azure Firewall and routing intent, or document explicitly that a self-managed hub VNet and UDR design is being used</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Segment AVS management and workload prefixes with Azure Firewall, NSGs, and NSX policy</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Never apply an unsupported 0.0.0.0/0 UDR to a gateway subnet</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Place Application Gateway in an ingress or shared-services VNet and use AVS VMs as private backends</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Never expose AVS management endpoints or jump-box RDP to the internet</a:t>
            </a:r>
            <a:endParaRPr lang="en-US" sz="1050" dirty="0"/>
          </a:p>
        </p:txBody>
      </p:sp>
      <p:sp>
        <p:nvSpPr>
          <p:cNvPr id="8" name="Shape 6"/>
          <p:cNvSpPr/>
          <p:nvPr/>
        </p:nvSpPr>
        <p:spPr>
          <a:xfrm>
            <a:off x="4315968" y="1536192"/>
            <a:ext cx="3566160" cy="4297680"/>
          </a:xfrm>
          <a:prstGeom prst="roundRect">
            <a:avLst>
              <a:gd name="adj" fmla="val 2308"/>
            </a:avLst>
          </a:prstGeom>
          <a:solidFill>
            <a:srgbClr val="EBEDED"/>
          </a:solidFill>
          <a:ln w="12700">
            <a:solidFill>
              <a:srgbClr val="EBEDED"/>
            </a:solidFill>
            <a:prstDash val="solid"/>
          </a:ln>
        </p:spPr>
      </p:sp>
      <p:sp>
        <p:nvSpPr>
          <p:cNvPr id="9" name="Text 7"/>
          <p:cNvSpPr/>
          <p:nvPr/>
        </p:nvSpPr>
        <p:spPr>
          <a:xfrm>
            <a:off x="4572000" y="1737360"/>
            <a:ext cx="301752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Management</a:t>
            </a:r>
            <a:endParaRPr lang="en-US" sz="1500" dirty="0"/>
          </a:p>
        </p:txBody>
      </p:sp>
      <p:sp>
        <p:nvSpPr>
          <p:cNvPr id="10" name="Text 8"/>
          <p:cNvSpPr/>
          <p:nvPr/>
        </p:nvSpPr>
        <p:spPr>
          <a:xfrm>
            <a:off x="4572000" y="2194560"/>
            <a:ext cx="3063240" cy="352044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Deploy a native Azure jump box in a connected management or shared-services VNet</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Use Azure Bastion to reach the jump box through its private IP</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Access vCenter Server and NSX Manager privately from the jump box</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Do not attempt to use Bastion directly against AVS VMs as though they were Azure IaaS resources</a:t>
            </a:r>
            <a:endParaRPr lang="en-US" sz="1050" dirty="0"/>
          </a:p>
        </p:txBody>
      </p:sp>
      <p:sp>
        <p:nvSpPr>
          <p:cNvPr id="11" name="Shape 9"/>
          <p:cNvSpPr/>
          <p:nvPr/>
        </p:nvSpPr>
        <p:spPr>
          <a:xfrm>
            <a:off x="8074152" y="1536192"/>
            <a:ext cx="3566160" cy="4297680"/>
          </a:xfrm>
          <a:prstGeom prst="roundRect">
            <a:avLst>
              <a:gd name="adj" fmla="val 2308"/>
            </a:avLst>
          </a:prstGeom>
          <a:solidFill>
            <a:srgbClr val="D3EDF1"/>
          </a:solidFill>
          <a:ln w="12700">
            <a:solidFill>
              <a:srgbClr val="D3EDF1"/>
            </a:solidFill>
            <a:prstDash val="solid"/>
          </a:ln>
        </p:spPr>
      </p:sp>
      <p:sp>
        <p:nvSpPr>
          <p:cNvPr id="12" name="Text 10"/>
          <p:cNvSpPr/>
          <p:nvPr/>
        </p:nvSpPr>
        <p:spPr>
          <a:xfrm>
            <a:off x="8330184" y="1737360"/>
            <a:ext cx="3017520" cy="320040"/>
          </a:xfrm>
          <a:prstGeom prst="rect">
            <a:avLst/>
          </a:prstGeom>
          <a:noFill/>
          <a:ln/>
        </p:spPr>
        <p:txBody>
          <a:bodyPr wrap="square" lIns="0" tIns="0" rIns="0" bIns="0" rtlCol="0" anchor="ctr"/>
          <a:lstStyle/>
          <a:p>
            <a:pPr indent="0" marL="0">
              <a:buNone/>
            </a:pPr>
            <a:r>
              <a:rPr lang="en-US" sz="1500" b="1" dirty="0">
                <a:solidFill>
                  <a:srgbClr val="3E3E4B"/>
                </a:solidFill>
                <a:latin typeface="Arial" pitchFamily="34" charset="0"/>
                <a:ea typeface="Arial" pitchFamily="34" charset="-122"/>
                <a:cs typeface="Arial" pitchFamily="34" charset="-120"/>
              </a:rPr>
              <a:t>Identity and DNS</a:t>
            </a:r>
            <a:endParaRPr lang="en-US" sz="1500" dirty="0"/>
          </a:p>
        </p:txBody>
      </p:sp>
      <p:sp>
        <p:nvSpPr>
          <p:cNvPr id="13" name="Text 11"/>
          <p:cNvSpPr/>
          <p:nvPr/>
        </p:nvSpPr>
        <p:spPr>
          <a:xfrm>
            <a:off x="8330184" y="2194560"/>
            <a:ext cx="3063240" cy="3520440"/>
          </a:xfrm>
          <a:prstGeom prst="rect">
            <a:avLst/>
          </a:prstGeom>
          <a:noFill/>
          <a:ln/>
        </p:spPr>
        <p:txBody>
          <a:bodyPr wrap="square" lIns="0" tIns="0" rIns="0" bIns="0" rtlCol="0" anchor="t"/>
          <a:lstStyle/>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Deploy resilient AD-integrated DNS and domain controllers in an Azure identity or shared-services VNet</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Deploy an AVS-local domain controller for vSphere workload identity and DNS</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Use Azure Private DNS for Azure-private namespaces and auto-registration where appropriate</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Use Azure DNS Private Resolver or supported forwarders for hybrid resolution</a:t>
            </a:r>
            <a:endParaRPr lang="en-US" sz="1050" dirty="0"/>
          </a:p>
          <a:p>
            <a:pPr marL="177800" indent="-177800">
              <a:spcAft>
                <a:spcPts val="800"/>
              </a:spcAft>
              <a:buSzPct val="100000"/>
              <a:buChar char="•"/>
            </a:pPr>
            <a:r>
              <a:rPr lang="en-US" sz="1050" dirty="0">
                <a:solidFill>
                  <a:srgbClr val="3E3E4B"/>
                </a:solidFill>
                <a:latin typeface="Calibri" pitchFamily="34" charset="0"/>
                <a:ea typeface="Calibri" pitchFamily="34" charset="-122"/>
                <a:cs typeface="Calibri" pitchFamily="34" charset="-120"/>
              </a:rPr>
              <a:t>Configure NSX DNS forward zones for AVS management and workload resolution</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3E3E4B"/>
        </a:solidFill>
      </p:bgPr>
    </p:bg>
    <p:spTree>
      <p:nvGrpSpPr>
        <p:cNvPr id="1" name=""/>
        <p:cNvGrpSpPr/>
        <p:nvPr/>
      </p:nvGrpSpPr>
      <p:grpSpPr>
        <a:xfrm>
          <a:off x="0" y="0"/>
          <a:ext cx="0" cy="0"/>
          <a:chOff x="0" y="0"/>
          <a:chExt cx="0" cy="0"/>
        </a:xfrm>
      </p:grpSpPr>
      <p:sp>
        <p:nvSpPr>
          <p:cNvPr id="2" name="Shape 0"/>
          <p:cNvSpPr/>
          <p:nvPr/>
        </p:nvSpPr>
        <p:spPr>
          <a:xfrm>
            <a:off x="10607040" y="-1097280"/>
            <a:ext cx="3840480" cy="3840480"/>
          </a:xfrm>
          <a:prstGeom prst="ellipse">
            <a:avLst/>
          </a:prstGeom>
          <a:solidFill>
            <a:srgbClr val="474756"/>
          </a:solidFill>
          <a:ln w="12700">
            <a:solidFill>
              <a:srgbClr val="333333"/>
            </a:solidFill>
            <a:prstDash val="solid"/>
          </a:ln>
        </p:spPr>
      </p:sp>
      <p:sp>
        <p:nvSpPr>
          <p:cNvPr id="3" name="Text 1"/>
          <p:cNvSpPr/>
          <p:nvPr/>
        </p:nvSpPr>
        <p:spPr>
          <a:xfrm>
            <a:off x="822960" y="685800"/>
            <a:ext cx="7315200" cy="274320"/>
          </a:xfrm>
          <a:prstGeom prst="rect">
            <a:avLst/>
          </a:prstGeom>
          <a:noFill/>
          <a:ln/>
        </p:spPr>
        <p:txBody>
          <a:bodyPr wrap="square" lIns="0" tIns="0" rIns="0" bIns="0" rtlCol="0" anchor="ctr"/>
          <a:lstStyle/>
          <a:p>
            <a:pPr indent="0" marL="0">
              <a:buNone/>
            </a:pPr>
            <a:r>
              <a:rPr lang="en-US" sz="1100" b="1" spc="160" kern="0" dirty="0">
                <a:solidFill>
                  <a:srgbClr val="00B3E2"/>
                </a:solidFill>
                <a:latin typeface="Arial" pitchFamily="34" charset="0"/>
                <a:ea typeface="Arial" pitchFamily="34" charset="-122"/>
                <a:cs typeface="Arial" pitchFamily="34" charset="-120"/>
              </a:rPr>
              <a:t>XXXV  CLOSING PERSPECTIVE</a:t>
            </a:r>
            <a:endParaRPr lang="en-US" sz="1100" dirty="0"/>
          </a:p>
        </p:txBody>
      </p:sp>
      <p:sp>
        <p:nvSpPr>
          <p:cNvPr id="4" name="Text 2"/>
          <p:cNvSpPr/>
          <p:nvPr/>
        </p:nvSpPr>
        <p:spPr>
          <a:xfrm>
            <a:off x="822960" y="1005840"/>
            <a:ext cx="9144000" cy="5486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Constraint, not equivalence</a:t>
            </a:r>
            <a:endParaRPr lang="en-US" sz="3000" dirty="0"/>
          </a:p>
        </p:txBody>
      </p:sp>
      <p:sp>
        <p:nvSpPr>
          <p:cNvPr id="5" name="Text 3"/>
          <p:cNvSpPr/>
          <p:nvPr/>
        </p:nvSpPr>
        <p:spPr>
          <a:xfrm>
            <a:off x="868680" y="1691640"/>
            <a:ext cx="9692640" cy="548640"/>
          </a:xfrm>
          <a:prstGeom prst="rect">
            <a:avLst/>
          </a:prstGeom>
          <a:noFill/>
          <a:ln/>
        </p:spPr>
        <p:txBody>
          <a:bodyPr wrap="square" lIns="0" tIns="0" rIns="0" bIns="0" rtlCol="0" anchor="t"/>
          <a:lstStyle/>
          <a:p>
            <a:pPr indent="0" marL="0">
              <a:buNone/>
            </a:pPr>
            <a:r>
              <a:rPr lang="en-US" sz="1400" dirty="0">
                <a:solidFill>
                  <a:srgbClr val="B2E8F6"/>
                </a:solidFill>
                <a:latin typeface="Calibri" pitchFamily="34" charset="0"/>
                <a:ea typeface="Calibri" pitchFamily="34" charset="-122"/>
                <a:cs typeface="Calibri" pitchFamily="34" charset="-120"/>
              </a:rPr>
              <a:t>The architecture treats the absence of an external ExpressRoute circuit as a design constraint rather than assuming VPN performance is equivalent to private connectivity.</a:t>
            </a:r>
            <a:endParaRPr lang="en-US" sz="1400" dirty="0"/>
          </a:p>
        </p:txBody>
      </p:sp>
      <p:sp>
        <p:nvSpPr>
          <p:cNvPr id="6" name="Shape 4"/>
          <p:cNvSpPr/>
          <p:nvPr/>
        </p:nvSpPr>
        <p:spPr>
          <a:xfrm>
            <a:off x="822960" y="2514600"/>
            <a:ext cx="3474720" cy="2148840"/>
          </a:xfrm>
          <a:prstGeom prst="roundRect">
            <a:avLst>
              <a:gd name="adj" fmla="val 3830"/>
            </a:avLst>
          </a:prstGeom>
          <a:solidFill>
            <a:srgbClr val="474756"/>
          </a:solidFill>
          <a:ln w="12700">
            <a:solidFill>
              <a:srgbClr val="474756"/>
            </a:solidFill>
            <a:prstDash val="solid"/>
          </a:ln>
        </p:spPr>
      </p:sp>
      <p:sp>
        <p:nvSpPr>
          <p:cNvPr id="7" name="Shape 5"/>
          <p:cNvSpPr/>
          <p:nvPr/>
        </p:nvSpPr>
        <p:spPr>
          <a:xfrm>
            <a:off x="1060704" y="2743200"/>
            <a:ext cx="420624" cy="420624"/>
          </a:xfrm>
          <a:prstGeom prst="ellipse">
            <a:avLst/>
          </a:prstGeom>
          <a:solidFill>
            <a:srgbClr val="00B3E2"/>
          </a:solidFill>
          <a:ln w="12700">
            <a:solidFill>
              <a:srgbClr val="00B3E2"/>
            </a:solidFill>
            <a:prstDash val="solid"/>
          </a:ln>
        </p:spPr>
      </p:sp>
      <p:sp>
        <p:nvSpPr>
          <p:cNvPr id="8" name="Text 6"/>
          <p:cNvSpPr/>
          <p:nvPr/>
        </p:nvSpPr>
        <p:spPr>
          <a:xfrm>
            <a:off x="1060704" y="2743200"/>
            <a:ext cx="420624" cy="420624"/>
          </a:xfrm>
          <a:prstGeom prst="rect">
            <a:avLst/>
          </a:prstGeom>
          <a:noFill/>
          <a:ln/>
        </p:spPr>
        <p:txBody>
          <a:bodyPr wrap="square" lIns="0" tIns="0" rIns="0" bIns="0" rtlCol="0" anchor="ctr"/>
          <a:lstStyle/>
          <a:p>
            <a:pPr algn="ctr" indent="0" marL="0">
              <a:buNone/>
            </a:pPr>
            <a:r>
              <a:rPr lang="en-US" sz="1100" b="1" dirty="0">
                <a:solidFill>
                  <a:srgbClr val="3E3E4B"/>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1060704" y="3291840"/>
            <a:ext cx="30175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Performance risk</a:t>
            </a:r>
            <a:endParaRPr lang="en-US" sz="1400" dirty="0"/>
          </a:p>
        </p:txBody>
      </p:sp>
      <p:sp>
        <p:nvSpPr>
          <p:cNvPr id="10" name="Text 8"/>
          <p:cNvSpPr/>
          <p:nvPr/>
        </p:nvSpPr>
        <p:spPr>
          <a:xfrm>
            <a:off x="1060704" y="3639312"/>
            <a:ext cx="3017520" cy="914400"/>
          </a:xfrm>
          <a:prstGeom prst="rect">
            <a:avLst/>
          </a:prstGeom>
          <a:noFill/>
          <a:ln/>
        </p:spPr>
        <p:txBody>
          <a:bodyPr wrap="square" lIns="0" tIns="0" rIns="0" bIns="0" rtlCol="0" anchor="t"/>
          <a:lstStyle/>
          <a:p>
            <a:pPr indent="0" marL="0">
              <a:buNone/>
            </a:pPr>
            <a:r>
              <a:rPr lang="en-US" sz="1150" dirty="0">
                <a:solidFill>
                  <a:srgbClr val="D6D6DF"/>
                </a:solidFill>
                <a:latin typeface="Calibri" pitchFamily="34" charset="0"/>
                <a:ea typeface="Calibri" pitchFamily="34" charset="-122"/>
                <a:cs typeface="Calibri" pitchFamily="34" charset="-120"/>
              </a:rPr>
              <a:t>Mitigated by gateway sizing, routing preference, BGP, migration-method selection, and realistic downtime planning.</a:t>
            </a:r>
            <a:endParaRPr lang="en-US" sz="1150" dirty="0"/>
          </a:p>
        </p:txBody>
      </p:sp>
      <p:sp>
        <p:nvSpPr>
          <p:cNvPr id="11" name="Shape 9"/>
          <p:cNvSpPr/>
          <p:nvPr/>
        </p:nvSpPr>
        <p:spPr>
          <a:xfrm>
            <a:off x="4526280" y="2514600"/>
            <a:ext cx="3474720" cy="2148840"/>
          </a:xfrm>
          <a:prstGeom prst="roundRect">
            <a:avLst>
              <a:gd name="adj" fmla="val 3830"/>
            </a:avLst>
          </a:prstGeom>
          <a:solidFill>
            <a:srgbClr val="474756"/>
          </a:solidFill>
          <a:ln w="12700">
            <a:solidFill>
              <a:srgbClr val="474756"/>
            </a:solidFill>
            <a:prstDash val="solid"/>
          </a:ln>
        </p:spPr>
      </p:sp>
      <p:sp>
        <p:nvSpPr>
          <p:cNvPr id="12" name="Shape 10"/>
          <p:cNvSpPr/>
          <p:nvPr/>
        </p:nvSpPr>
        <p:spPr>
          <a:xfrm>
            <a:off x="4764024" y="2743200"/>
            <a:ext cx="420624" cy="420624"/>
          </a:xfrm>
          <a:prstGeom prst="ellipse">
            <a:avLst/>
          </a:prstGeom>
          <a:solidFill>
            <a:srgbClr val="2DCCD3"/>
          </a:solidFill>
          <a:ln w="12700">
            <a:solidFill>
              <a:srgbClr val="2DCCD3"/>
            </a:solidFill>
            <a:prstDash val="solid"/>
          </a:ln>
        </p:spPr>
      </p:sp>
      <p:sp>
        <p:nvSpPr>
          <p:cNvPr id="13" name="Text 11"/>
          <p:cNvSpPr/>
          <p:nvPr/>
        </p:nvSpPr>
        <p:spPr>
          <a:xfrm>
            <a:off x="4764024" y="2743200"/>
            <a:ext cx="420624" cy="420624"/>
          </a:xfrm>
          <a:prstGeom prst="rect">
            <a:avLst/>
          </a:prstGeom>
          <a:noFill/>
          <a:ln/>
        </p:spPr>
        <p:txBody>
          <a:bodyPr wrap="square" lIns="0" tIns="0" rIns="0" bIns="0" rtlCol="0" anchor="ctr"/>
          <a:lstStyle/>
          <a:p>
            <a:pPr algn="ctr" indent="0" marL="0">
              <a:buNone/>
            </a:pPr>
            <a:r>
              <a:rPr lang="en-US" sz="1100" b="1" dirty="0">
                <a:solidFill>
                  <a:srgbClr val="3E3E4B"/>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4764024" y="3291840"/>
            <a:ext cx="30175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Availability risk</a:t>
            </a:r>
            <a:endParaRPr lang="en-US" sz="1400" dirty="0"/>
          </a:p>
        </p:txBody>
      </p:sp>
      <p:sp>
        <p:nvSpPr>
          <p:cNvPr id="15" name="Text 13"/>
          <p:cNvSpPr/>
          <p:nvPr/>
        </p:nvSpPr>
        <p:spPr>
          <a:xfrm>
            <a:off x="4764024" y="3639312"/>
            <a:ext cx="3017520" cy="914400"/>
          </a:xfrm>
          <a:prstGeom prst="rect">
            <a:avLst/>
          </a:prstGeom>
          <a:noFill/>
          <a:ln/>
        </p:spPr>
        <p:txBody>
          <a:bodyPr wrap="square" lIns="0" tIns="0" rIns="0" bIns="0" rtlCol="0" anchor="t"/>
          <a:lstStyle/>
          <a:p>
            <a:pPr indent="0" marL="0">
              <a:buNone/>
            </a:pPr>
            <a:r>
              <a:rPr lang="en-US" sz="1150" dirty="0">
                <a:solidFill>
                  <a:srgbClr val="D6D6DF"/>
                </a:solidFill>
                <a:latin typeface="Calibri" pitchFamily="34" charset="0"/>
                <a:ea typeface="Calibri" pitchFamily="34" charset="-122"/>
                <a:cs typeface="Calibri" pitchFamily="34" charset="-120"/>
              </a:rPr>
              <a:t>Mitigated by localising management, identity, and DNS services in both Azure and AVS.</a:t>
            </a:r>
            <a:endParaRPr lang="en-US" sz="1150" dirty="0"/>
          </a:p>
        </p:txBody>
      </p:sp>
      <p:sp>
        <p:nvSpPr>
          <p:cNvPr id="16" name="Shape 14"/>
          <p:cNvSpPr/>
          <p:nvPr/>
        </p:nvSpPr>
        <p:spPr>
          <a:xfrm>
            <a:off x="8229600" y="2514600"/>
            <a:ext cx="3474720" cy="2148840"/>
          </a:xfrm>
          <a:prstGeom prst="roundRect">
            <a:avLst>
              <a:gd name="adj" fmla="val 3830"/>
            </a:avLst>
          </a:prstGeom>
          <a:solidFill>
            <a:srgbClr val="474756"/>
          </a:solidFill>
          <a:ln w="12700">
            <a:solidFill>
              <a:srgbClr val="474756"/>
            </a:solidFill>
            <a:prstDash val="solid"/>
          </a:ln>
        </p:spPr>
      </p:sp>
      <p:sp>
        <p:nvSpPr>
          <p:cNvPr id="17" name="Shape 15"/>
          <p:cNvSpPr/>
          <p:nvPr/>
        </p:nvSpPr>
        <p:spPr>
          <a:xfrm>
            <a:off x="8467344" y="2743200"/>
            <a:ext cx="420624" cy="420624"/>
          </a:xfrm>
          <a:prstGeom prst="ellipse">
            <a:avLst/>
          </a:prstGeom>
          <a:solidFill>
            <a:srgbClr val="00AD93"/>
          </a:solidFill>
          <a:ln w="12700">
            <a:solidFill>
              <a:srgbClr val="00AD93"/>
            </a:solidFill>
            <a:prstDash val="solid"/>
          </a:ln>
        </p:spPr>
      </p:sp>
      <p:sp>
        <p:nvSpPr>
          <p:cNvPr id="18" name="Text 16"/>
          <p:cNvSpPr/>
          <p:nvPr/>
        </p:nvSpPr>
        <p:spPr>
          <a:xfrm>
            <a:off x="8467344" y="2743200"/>
            <a:ext cx="420624" cy="420624"/>
          </a:xfrm>
          <a:prstGeom prst="rect">
            <a:avLst/>
          </a:prstGeom>
          <a:noFill/>
          <a:ln/>
        </p:spPr>
        <p:txBody>
          <a:bodyPr wrap="square" lIns="0" tIns="0" rIns="0" bIns="0" rtlCol="0" anchor="ctr"/>
          <a:lstStyle/>
          <a:p>
            <a:pPr algn="ctr" indent="0" marL="0">
              <a:buNone/>
            </a:pPr>
            <a:r>
              <a:rPr lang="en-US" sz="1100" b="1" dirty="0">
                <a:solidFill>
                  <a:srgbClr val="3E3E4B"/>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467344" y="3291840"/>
            <a:ext cx="3017520" cy="29260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Security risk</a:t>
            </a:r>
            <a:endParaRPr lang="en-US" sz="1400" dirty="0"/>
          </a:p>
        </p:txBody>
      </p:sp>
      <p:sp>
        <p:nvSpPr>
          <p:cNvPr id="20" name="Text 18"/>
          <p:cNvSpPr/>
          <p:nvPr/>
        </p:nvSpPr>
        <p:spPr>
          <a:xfrm>
            <a:off x="8467344" y="3639312"/>
            <a:ext cx="3017520" cy="914400"/>
          </a:xfrm>
          <a:prstGeom prst="rect">
            <a:avLst/>
          </a:prstGeom>
          <a:noFill/>
          <a:ln/>
        </p:spPr>
        <p:txBody>
          <a:bodyPr wrap="square" lIns="0" tIns="0" rIns="0" bIns="0" rtlCol="0" anchor="t"/>
          <a:lstStyle/>
          <a:p>
            <a:pPr indent="0" marL="0">
              <a:buNone/>
            </a:pPr>
            <a:r>
              <a:rPr lang="en-US" sz="1150" dirty="0">
                <a:solidFill>
                  <a:srgbClr val="D6D6DF"/>
                </a:solidFill>
                <a:latin typeface="Calibri" pitchFamily="34" charset="0"/>
                <a:ea typeface="Calibri" pitchFamily="34" charset="-122"/>
                <a:cs typeface="Calibri" pitchFamily="34" charset="-120"/>
              </a:rPr>
              <a:t>Mitigated by centralised inspection, routing intent or UDRs matched to the hub model, private administrative access, and Application Gateway with WAF.</a:t>
            </a:r>
            <a:endParaRPr lang="en-US" sz="1150" dirty="0"/>
          </a:p>
        </p:txBody>
      </p:sp>
      <p:sp>
        <p:nvSpPr>
          <p:cNvPr id="21" name="Shape 19"/>
          <p:cNvSpPr/>
          <p:nvPr/>
        </p:nvSpPr>
        <p:spPr>
          <a:xfrm>
            <a:off x="822960" y="4937760"/>
            <a:ext cx="10561320" cy="960120"/>
          </a:xfrm>
          <a:prstGeom prst="roundRect">
            <a:avLst>
              <a:gd name="adj" fmla="val 8571"/>
            </a:avLst>
          </a:prstGeom>
          <a:solidFill>
            <a:srgbClr val="474756"/>
          </a:solidFill>
          <a:ln w="12700">
            <a:solidFill>
              <a:srgbClr val="474756"/>
            </a:solidFill>
            <a:prstDash val="solid"/>
          </a:ln>
        </p:spPr>
      </p:sp>
      <p:sp>
        <p:nvSpPr>
          <p:cNvPr id="22" name="Text 20"/>
          <p:cNvSpPr/>
          <p:nvPr/>
        </p:nvSpPr>
        <p:spPr>
          <a:xfrm>
            <a:off x="1143000" y="4937760"/>
            <a:ext cx="9966960" cy="960120"/>
          </a:xfrm>
          <a:prstGeom prst="rect">
            <a:avLst/>
          </a:prstGeom>
          <a:noFill/>
          <a:ln/>
        </p:spPr>
        <p:txBody>
          <a:bodyPr wrap="square" lIns="0" tIns="0" rIns="0" bIns="0" rtlCol="0" anchor="ctr"/>
          <a:lstStyle/>
          <a:p>
            <a:pPr indent="0" marL="0">
              <a:buNone/>
            </a:pPr>
            <a:r>
              <a:rPr lang="en-US" sz="1200" i="1" dirty="0">
                <a:solidFill>
                  <a:srgbClr val="B2E8F6"/>
                </a:solidFill>
                <a:latin typeface="Calibri" pitchFamily="34" charset="0"/>
                <a:ea typeface="Calibri" pitchFamily="34" charset="-122"/>
                <a:cs typeface="Calibri" pitchFamily="34" charset="-120"/>
              </a:rPr>
              <a:t>The prediction that SD-WAN and public encrypted transport will eventually displace dedicated circuits is speculative and is not an AVS product recommendation. Current designs should follow documented workload, security, support, and SLA requirements.</a:t>
            </a:r>
            <a:endParaRPr lang="en-US" sz="1200" dirty="0"/>
          </a:p>
        </p:txBody>
      </p:sp>
      <p:sp>
        <p:nvSpPr>
          <p:cNvPr id="23" name="Text 21"/>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8A8A99"/>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515600" cy="256032"/>
          </a:xfrm>
          <a:prstGeom prst="rect">
            <a:avLst/>
          </a:prstGeom>
          <a:noFill/>
          <a:ln/>
        </p:spPr>
        <p:txBody>
          <a:bodyPr wrap="square" lIns="0" tIns="0" rIns="0" bIns="0" rtlCol="0" anchor="ctr"/>
          <a:lstStyle/>
          <a:p>
            <a:pPr indent="0" marL="0">
              <a:buNone/>
            </a:pPr>
            <a:r>
              <a:rPr lang="en-US" sz="1050" b="1" spc="160" kern="0" dirty="0">
                <a:solidFill>
                  <a:srgbClr val="00B3E2"/>
                </a:solidFill>
                <a:latin typeface="Arial" pitchFamily="34" charset="0"/>
                <a:ea typeface="Arial" pitchFamily="34" charset="-122"/>
                <a:cs typeface="Arial" pitchFamily="34" charset="-120"/>
              </a:rPr>
              <a:t>REFERENCES</a:t>
            </a:r>
            <a:endParaRPr lang="en-US" sz="1050" dirty="0"/>
          </a:p>
        </p:txBody>
      </p:sp>
      <p:sp>
        <p:nvSpPr>
          <p:cNvPr id="3" name="Text 1"/>
          <p:cNvSpPr/>
          <p:nvPr/>
        </p:nvSpPr>
        <p:spPr>
          <a:xfrm>
            <a:off x="548640" y="676656"/>
            <a:ext cx="11064240" cy="685800"/>
          </a:xfrm>
          <a:prstGeom prst="rect">
            <a:avLst/>
          </a:prstGeom>
          <a:noFill/>
          <a:ln/>
        </p:spPr>
        <p:txBody>
          <a:bodyPr wrap="square" lIns="0" tIns="0" rIns="0" bIns="0" rtlCol="0" anchor="t"/>
          <a:lstStyle/>
          <a:p>
            <a:pPr indent="0" marL="0">
              <a:buNone/>
            </a:pPr>
            <a:r>
              <a:rPr lang="en-US" sz="2700" b="1" dirty="0">
                <a:solidFill>
                  <a:srgbClr val="3E3E4B"/>
                </a:solidFill>
                <a:latin typeface="Arial" pitchFamily="34" charset="0"/>
                <a:ea typeface="Arial" pitchFamily="34" charset="-122"/>
                <a:cs typeface="Arial" pitchFamily="34" charset="-120"/>
              </a:rPr>
              <a:t>Primary Microsoft Learn sources</a:t>
            </a:r>
            <a:endParaRPr lang="en-US" sz="2700" dirty="0"/>
          </a:p>
        </p:txBody>
      </p:sp>
      <p:sp>
        <p:nvSpPr>
          <p:cNvPr id="4" name="Text 2"/>
          <p:cNvSpPr/>
          <p:nvPr/>
        </p:nvSpPr>
        <p:spPr>
          <a:xfrm>
            <a:off x="11384280" y="6355080"/>
            <a:ext cx="457200" cy="274320"/>
          </a:xfrm>
          <a:prstGeom prst="rect">
            <a:avLst/>
          </a:prstGeom>
          <a:noFill/>
          <a:ln/>
        </p:spPr>
        <p:txBody>
          <a:bodyPr wrap="square" rtlCol="0" anchor="ctr"/>
          <a:lstStyle/>
          <a:p>
            <a:pPr algn="r" indent="0" marL="0">
              <a:buNone/>
            </a:pPr>
            <a:r>
              <a:rPr lang="en-US" sz="900" dirty="0">
                <a:solidFill>
                  <a:srgbClr val="9A9AA8"/>
                </a:solidFill>
                <a:latin typeface="Calibri" pitchFamily="34" charset="0"/>
                <a:ea typeface="Calibri" pitchFamily="34" charset="-122"/>
                <a:cs typeface="Calibri" pitchFamily="34" charset="-120"/>
              </a:rPr>
              <a:t>48</a:t>
            </a:r>
            <a:endParaRPr lang="en-US" sz="900" dirty="0"/>
          </a:p>
        </p:txBody>
      </p:sp>
      <p:sp>
        <p:nvSpPr>
          <p:cNvPr id="5" name="Shape 3"/>
          <p:cNvSpPr/>
          <p:nvPr/>
        </p:nvSpPr>
        <p:spPr>
          <a:xfrm>
            <a:off x="548640" y="1554480"/>
            <a:ext cx="5394960" cy="603504"/>
          </a:xfrm>
          <a:prstGeom prst="roundRect">
            <a:avLst>
              <a:gd name="adj" fmla="val 13636"/>
            </a:avLst>
          </a:prstGeom>
          <a:solidFill>
            <a:srgbClr val="E5F7FC"/>
          </a:solidFill>
          <a:ln w="12700">
            <a:solidFill>
              <a:srgbClr val="E5F7FC"/>
            </a:solidFill>
            <a:prstDash val="solid"/>
          </a:ln>
        </p:spPr>
      </p:sp>
      <p:sp>
        <p:nvSpPr>
          <p:cNvPr id="6" name="Shape 4"/>
          <p:cNvSpPr/>
          <p:nvPr/>
        </p:nvSpPr>
        <p:spPr>
          <a:xfrm>
            <a:off x="768096" y="1773936"/>
            <a:ext cx="146304" cy="146304"/>
          </a:xfrm>
          <a:prstGeom prst="ellipse">
            <a:avLst/>
          </a:prstGeom>
          <a:solidFill>
            <a:srgbClr val="00B3E2"/>
          </a:solidFill>
          <a:ln w="12700">
            <a:solidFill>
              <a:srgbClr val="333333"/>
            </a:solidFill>
            <a:prstDash val="solid"/>
          </a:ln>
        </p:spPr>
      </p:sp>
      <p:sp>
        <p:nvSpPr>
          <p:cNvPr id="7" name="Text 5"/>
          <p:cNvSpPr/>
          <p:nvPr/>
        </p:nvSpPr>
        <p:spPr>
          <a:xfrm>
            <a:off x="1042416" y="1554480"/>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Azure VMware Solution documentation</a:t>
            </a:r>
            <a:endParaRPr lang="en-US" sz="1150" dirty="0"/>
          </a:p>
        </p:txBody>
      </p:sp>
      <p:sp>
        <p:nvSpPr>
          <p:cNvPr id="8" name="Shape 6"/>
          <p:cNvSpPr/>
          <p:nvPr/>
        </p:nvSpPr>
        <p:spPr>
          <a:xfrm>
            <a:off x="6245352" y="1554480"/>
            <a:ext cx="5394960" cy="603504"/>
          </a:xfrm>
          <a:prstGeom prst="roundRect">
            <a:avLst>
              <a:gd name="adj" fmla="val 13636"/>
            </a:avLst>
          </a:prstGeom>
          <a:solidFill>
            <a:srgbClr val="EBEDED"/>
          </a:solidFill>
          <a:ln w="12700">
            <a:solidFill>
              <a:srgbClr val="EBEDED"/>
            </a:solidFill>
            <a:prstDash val="solid"/>
          </a:ln>
        </p:spPr>
      </p:sp>
      <p:sp>
        <p:nvSpPr>
          <p:cNvPr id="9" name="Shape 7"/>
          <p:cNvSpPr/>
          <p:nvPr/>
        </p:nvSpPr>
        <p:spPr>
          <a:xfrm>
            <a:off x="6464808" y="1773936"/>
            <a:ext cx="146304" cy="146304"/>
          </a:xfrm>
          <a:prstGeom prst="ellipse">
            <a:avLst/>
          </a:prstGeom>
          <a:solidFill>
            <a:srgbClr val="00B3E2"/>
          </a:solidFill>
          <a:ln w="12700">
            <a:solidFill>
              <a:srgbClr val="333333"/>
            </a:solidFill>
            <a:prstDash val="solid"/>
          </a:ln>
        </p:spPr>
      </p:sp>
      <p:sp>
        <p:nvSpPr>
          <p:cNvPr id="10" name="Text 8"/>
          <p:cNvSpPr/>
          <p:nvPr/>
        </p:nvSpPr>
        <p:spPr>
          <a:xfrm>
            <a:off x="6739128" y="1554480"/>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Configure a site-to-site VPN in Virtual WAN for Azure VMware Solution</a:t>
            </a:r>
            <a:endParaRPr lang="en-US" sz="1150" dirty="0"/>
          </a:p>
        </p:txBody>
      </p:sp>
      <p:sp>
        <p:nvSpPr>
          <p:cNvPr id="11" name="Shape 9"/>
          <p:cNvSpPr/>
          <p:nvPr/>
        </p:nvSpPr>
        <p:spPr>
          <a:xfrm>
            <a:off x="548640" y="2267712"/>
            <a:ext cx="5394960" cy="603504"/>
          </a:xfrm>
          <a:prstGeom prst="roundRect">
            <a:avLst>
              <a:gd name="adj" fmla="val 13636"/>
            </a:avLst>
          </a:prstGeom>
          <a:solidFill>
            <a:srgbClr val="E5F7FC"/>
          </a:solidFill>
          <a:ln w="12700">
            <a:solidFill>
              <a:srgbClr val="E5F7FC"/>
            </a:solidFill>
            <a:prstDash val="solid"/>
          </a:ln>
        </p:spPr>
      </p:sp>
      <p:sp>
        <p:nvSpPr>
          <p:cNvPr id="12" name="Shape 10"/>
          <p:cNvSpPr/>
          <p:nvPr/>
        </p:nvSpPr>
        <p:spPr>
          <a:xfrm>
            <a:off x="768096" y="2487168"/>
            <a:ext cx="146304" cy="146304"/>
          </a:xfrm>
          <a:prstGeom prst="ellipse">
            <a:avLst/>
          </a:prstGeom>
          <a:solidFill>
            <a:srgbClr val="00B3E2"/>
          </a:solidFill>
          <a:ln w="12700">
            <a:solidFill>
              <a:srgbClr val="333333"/>
            </a:solidFill>
            <a:prstDash val="solid"/>
          </a:ln>
        </p:spPr>
      </p:sp>
      <p:sp>
        <p:nvSpPr>
          <p:cNvPr id="13" name="Text 11"/>
          <p:cNvSpPr/>
          <p:nvPr/>
        </p:nvSpPr>
        <p:spPr>
          <a:xfrm>
            <a:off x="1042416" y="2267712"/>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Integrate Azure VMware Solution in a hub-and-spoke architecture</a:t>
            </a:r>
            <a:endParaRPr lang="en-US" sz="1150" dirty="0"/>
          </a:p>
        </p:txBody>
      </p:sp>
      <p:sp>
        <p:nvSpPr>
          <p:cNvPr id="14" name="Shape 12"/>
          <p:cNvSpPr/>
          <p:nvPr/>
        </p:nvSpPr>
        <p:spPr>
          <a:xfrm>
            <a:off x="6245352" y="2267712"/>
            <a:ext cx="5394960" cy="603504"/>
          </a:xfrm>
          <a:prstGeom prst="roundRect">
            <a:avLst>
              <a:gd name="adj" fmla="val 13636"/>
            </a:avLst>
          </a:prstGeom>
          <a:solidFill>
            <a:srgbClr val="EBEDED"/>
          </a:solidFill>
          <a:ln w="12700">
            <a:solidFill>
              <a:srgbClr val="EBEDED"/>
            </a:solidFill>
            <a:prstDash val="solid"/>
          </a:ln>
        </p:spPr>
      </p:sp>
      <p:sp>
        <p:nvSpPr>
          <p:cNvPr id="15" name="Shape 13"/>
          <p:cNvSpPr/>
          <p:nvPr/>
        </p:nvSpPr>
        <p:spPr>
          <a:xfrm>
            <a:off x="6464808" y="2487168"/>
            <a:ext cx="146304" cy="146304"/>
          </a:xfrm>
          <a:prstGeom prst="ellipse">
            <a:avLst/>
          </a:prstGeom>
          <a:solidFill>
            <a:srgbClr val="00B3E2"/>
          </a:solidFill>
          <a:ln w="12700">
            <a:solidFill>
              <a:srgbClr val="333333"/>
            </a:solidFill>
            <a:prstDash val="solid"/>
          </a:ln>
        </p:spPr>
      </p:sp>
      <p:sp>
        <p:nvSpPr>
          <p:cNvPr id="16" name="Text 14"/>
          <p:cNvSpPr/>
          <p:nvPr/>
        </p:nvSpPr>
        <p:spPr>
          <a:xfrm>
            <a:off x="6739128" y="2267712"/>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VMware HCX migration considerations</a:t>
            </a:r>
            <a:endParaRPr lang="en-US" sz="1150" dirty="0"/>
          </a:p>
        </p:txBody>
      </p:sp>
      <p:sp>
        <p:nvSpPr>
          <p:cNvPr id="17" name="Shape 15"/>
          <p:cNvSpPr/>
          <p:nvPr/>
        </p:nvSpPr>
        <p:spPr>
          <a:xfrm>
            <a:off x="548640" y="2980944"/>
            <a:ext cx="5394960" cy="603504"/>
          </a:xfrm>
          <a:prstGeom prst="roundRect">
            <a:avLst>
              <a:gd name="adj" fmla="val 13636"/>
            </a:avLst>
          </a:prstGeom>
          <a:solidFill>
            <a:srgbClr val="E5F7FC"/>
          </a:solidFill>
          <a:ln w="12700">
            <a:solidFill>
              <a:srgbClr val="E5F7FC"/>
            </a:solidFill>
            <a:prstDash val="solid"/>
          </a:ln>
        </p:spPr>
      </p:sp>
      <p:sp>
        <p:nvSpPr>
          <p:cNvPr id="18" name="Shape 16"/>
          <p:cNvSpPr/>
          <p:nvPr/>
        </p:nvSpPr>
        <p:spPr>
          <a:xfrm>
            <a:off x="768096" y="3200400"/>
            <a:ext cx="146304" cy="146304"/>
          </a:xfrm>
          <a:prstGeom prst="ellipse">
            <a:avLst/>
          </a:prstGeom>
          <a:solidFill>
            <a:srgbClr val="00B3E2"/>
          </a:solidFill>
          <a:ln w="12700">
            <a:solidFill>
              <a:srgbClr val="333333"/>
            </a:solidFill>
            <a:prstDash val="solid"/>
          </a:ln>
        </p:spPr>
      </p:sp>
      <p:sp>
        <p:nvSpPr>
          <p:cNvPr id="19" name="Text 17"/>
          <p:cNvSpPr/>
          <p:nvPr/>
        </p:nvSpPr>
        <p:spPr>
          <a:xfrm>
            <a:off x="1042416" y="2980944"/>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Migrate a SQL Server standalone instance to AVS</a:t>
            </a:r>
            <a:endParaRPr lang="en-US" sz="1150" dirty="0"/>
          </a:p>
        </p:txBody>
      </p:sp>
      <p:sp>
        <p:nvSpPr>
          <p:cNvPr id="20" name="Shape 18"/>
          <p:cNvSpPr/>
          <p:nvPr/>
        </p:nvSpPr>
        <p:spPr>
          <a:xfrm>
            <a:off x="6245352" y="2980944"/>
            <a:ext cx="5394960" cy="603504"/>
          </a:xfrm>
          <a:prstGeom prst="roundRect">
            <a:avLst>
              <a:gd name="adj" fmla="val 13636"/>
            </a:avLst>
          </a:prstGeom>
          <a:solidFill>
            <a:srgbClr val="EBEDED"/>
          </a:solidFill>
          <a:ln w="12700">
            <a:solidFill>
              <a:srgbClr val="EBEDED"/>
            </a:solidFill>
            <a:prstDash val="solid"/>
          </a:ln>
        </p:spPr>
      </p:sp>
      <p:sp>
        <p:nvSpPr>
          <p:cNvPr id="21" name="Shape 19"/>
          <p:cNvSpPr/>
          <p:nvPr/>
        </p:nvSpPr>
        <p:spPr>
          <a:xfrm>
            <a:off x="6464808" y="3200400"/>
            <a:ext cx="146304" cy="146304"/>
          </a:xfrm>
          <a:prstGeom prst="ellipse">
            <a:avLst/>
          </a:prstGeom>
          <a:solidFill>
            <a:srgbClr val="00B3E2"/>
          </a:solidFill>
          <a:ln w="12700">
            <a:solidFill>
              <a:srgbClr val="333333"/>
            </a:solidFill>
            <a:prstDash val="solid"/>
          </a:ln>
        </p:spPr>
      </p:sp>
      <p:sp>
        <p:nvSpPr>
          <p:cNvPr id="22" name="Text 20"/>
          <p:cNvSpPr/>
          <p:nvPr/>
        </p:nvSpPr>
        <p:spPr>
          <a:xfrm>
            <a:off x="6739128" y="2980944"/>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Migrate a SQL Server Always On Failover Cluster Instance to AVS</a:t>
            </a:r>
            <a:endParaRPr lang="en-US" sz="1150" dirty="0"/>
          </a:p>
        </p:txBody>
      </p:sp>
      <p:sp>
        <p:nvSpPr>
          <p:cNvPr id="23" name="Shape 21"/>
          <p:cNvSpPr/>
          <p:nvPr/>
        </p:nvSpPr>
        <p:spPr>
          <a:xfrm>
            <a:off x="548640" y="3694176"/>
            <a:ext cx="5394960" cy="603504"/>
          </a:xfrm>
          <a:prstGeom prst="roundRect">
            <a:avLst>
              <a:gd name="adj" fmla="val 13636"/>
            </a:avLst>
          </a:prstGeom>
          <a:solidFill>
            <a:srgbClr val="E5F7FC"/>
          </a:solidFill>
          <a:ln w="12700">
            <a:solidFill>
              <a:srgbClr val="E5F7FC"/>
            </a:solidFill>
            <a:prstDash val="solid"/>
          </a:ln>
        </p:spPr>
      </p:sp>
      <p:sp>
        <p:nvSpPr>
          <p:cNvPr id="24" name="Shape 22"/>
          <p:cNvSpPr/>
          <p:nvPr/>
        </p:nvSpPr>
        <p:spPr>
          <a:xfrm>
            <a:off x="768096" y="3913632"/>
            <a:ext cx="146304" cy="146304"/>
          </a:xfrm>
          <a:prstGeom prst="ellipse">
            <a:avLst/>
          </a:prstGeom>
          <a:solidFill>
            <a:srgbClr val="00B3E2"/>
          </a:solidFill>
          <a:ln w="12700">
            <a:solidFill>
              <a:srgbClr val="333333"/>
            </a:solidFill>
            <a:prstDash val="solid"/>
          </a:ln>
        </p:spPr>
      </p:sp>
      <p:sp>
        <p:nvSpPr>
          <p:cNvPr id="25" name="Text 23"/>
          <p:cNvSpPr/>
          <p:nvPr/>
        </p:nvSpPr>
        <p:spPr>
          <a:xfrm>
            <a:off x="1042416" y="3694176"/>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Protect AVS web apps with Azure Application Gateway</a:t>
            </a:r>
            <a:endParaRPr lang="en-US" sz="1150" dirty="0"/>
          </a:p>
        </p:txBody>
      </p:sp>
      <p:sp>
        <p:nvSpPr>
          <p:cNvPr id="26" name="Shape 24"/>
          <p:cNvSpPr/>
          <p:nvPr/>
        </p:nvSpPr>
        <p:spPr>
          <a:xfrm>
            <a:off x="6245352" y="3694176"/>
            <a:ext cx="5394960" cy="603504"/>
          </a:xfrm>
          <a:prstGeom prst="roundRect">
            <a:avLst>
              <a:gd name="adj" fmla="val 13636"/>
            </a:avLst>
          </a:prstGeom>
          <a:solidFill>
            <a:srgbClr val="EBEDED"/>
          </a:solidFill>
          <a:ln w="12700">
            <a:solidFill>
              <a:srgbClr val="EBEDED"/>
            </a:solidFill>
            <a:prstDash val="solid"/>
          </a:ln>
        </p:spPr>
      </p:sp>
      <p:sp>
        <p:nvSpPr>
          <p:cNvPr id="27" name="Shape 25"/>
          <p:cNvSpPr/>
          <p:nvPr/>
        </p:nvSpPr>
        <p:spPr>
          <a:xfrm>
            <a:off x="6464808" y="3913632"/>
            <a:ext cx="146304" cy="146304"/>
          </a:xfrm>
          <a:prstGeom prst="ellipse">
            <a:avLst/>
          </a:prstGeom>
          <a:solidFill>
            <a:srgbClr val="00B3E2"/>
          </a:solidFill>
          <a:ln w="12700">
            <a:solidFill>
              <a:srgbClr val="333333"/>
            </a:solidFill>
            <a:prstDash val="solid"/>
          </a:ln>
        </p:spPr>
      </p:sp>
      <p:sp>
        <p:nvSpPr>
          <p:cNvPr id="28" name="Text 26"/>
          <p:cNvSpPr/>
          <p:nvPr/>
        </p:nvSpPr>
        <p:spPr>
          <a:xfrm>
            <a:off x="6739128" y="3694176"/>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Access an AVS private cloud through a jump box</a:t>
            </a:r>
            <a:endParaRPr lang="en-US" sz="1150" dirty="0"/>
          </a:p>
        </p:txBody>
      </p:sp>
      <p:sp>
        <p:nvSpPr>
          <p:cNvPr id="29" name="Shape 27"/>
          <p:cNvSpPr/>
          <p:nvPr/>
        </p:nvSpPr>
        <p:spPr>
          <a:xfrm>
            <a:off x="548640" y="4407408"/>
            <a:ext cx="5394960" cy="603504"/>
          </a:xfrm>
          <a:prstGeom prst="roundRect">
            <a:avLst>
              <a:gd name="adj" fmla="val 13636"/>
            </a:avLst>
          </a:prstGeom>
          <a:solidFill>
            <a:srgbClr val="E5F7FC"/>
          </a:solidFill>
          <a:ln w="12700">
            <a:solidFill>
              <a:srgbClr val="E5F7FC"/>
            </a:solidFill>
            <a:prstDash val="solid"/>
          </a:ln>
        </p:spPr>
      </p:sp>
      <p:sp>
        <p:nvSpPr>
          <p:cNvPr id="30" name="Shape 28"/>
          <p:cNvSpPr/>
          <p:nvPr/>
        </p:nvSpPr>
        <p:spPr>
          <a:xfrm>
            <a:off x="768096" y="4626864"/>
            <a:ext cx="146304" cy="146304"/>
          </a:xfrm>
          <a:prstGeom prst="ellipse">
            <a:avLst/>
          </a:prstGeom>
          <a:solidFill>
            <a:srgbClr val="00B3E2"/>
          </a:solidFill>
          <a:ln w="12700">
            <a:solidFill>
              <a:srgbClr val="333333"/>
            </a:solidFill>
            <a:prstDash val="solid"/>
          </a:ln>
        </p:spPr>
      </p:sp>
      <p:sp>
        <p:nvSpPr>
          <p:cNvPr id="31" name="Text 29"/>
          <p:cNvSpPr/>
          <p:nvPr/>
        </p:nvSpPr>
        <p:spPr>
          <a:xfrm>
            <a:off x="1042416" y="4407408"/>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Configure an AVS DNS forwarder</a:t>
            </a:r>
            <a:endParaRPr lang="en-US" sz="1150" dirty="0"/>
          </a:p>
        </p:txBody>
      </p:sp>
      <p:sp>
        <p:nvSpPr>
          <p:cNvPr id="32" name="Shape 30"/>
          <p:cNvSpPr/>
          <p:nvPr/>
        </p:nvSpPr>
        <p:spPr>
          <a:xfrm>
            <a:off x="6245352" y="4407408"/>
            <a:ext cx="5394960" cy="603504"/>
          </a:xfrm>
          <a:prstGeom prst="roundRect">
            <a:avLst>
              <a:gd name="adj" fmla="val 13636"/>
            </a:avLst>
          </a:prstGeom>
          <a:solidFill>
            <a:srgbClr val="EBEDED"/>
          </a:solidFill>
          <a:ln w="12700">
            <a:solidFill>
              <a:srgbClr val="EBEDED"/>
            </a:solidFill>
            <a:prstDash val="solid"/>
          </a:ln>
        </p:spPr>
      </p:sp>
      <p:sp>
        <p:nvSpPr>
          <p:cNvPr id="33" name="Shape 31"/>
          <p:cNvSpPr/>
          <p:nvPr/>
        </p:nvSpPr>
        <p:spPr>
          <a:xfrm>
            <a:off x="6464808" y="4626864"/>
            <a:ext cx="146304" cy="146304"/>
          </a:xfrm>
          <a:prstGeom prst="ellipse">
            <a:avLst/>
          </a:prstGeom>
          <a:solidFill>
            <a:srgbClr val="00B3E2"/>
          </a:solidFill>
          <a:ln w="12700">
            <a:solidFill>
              <a:srgbClr val="333333"/>
            </a:solidFill>
            <a:prstDash val="solid"/>
          </a:ln>
        </p:spPr>
      </p:sp>
      <p:sp>
        <p:nvSpPr>
          <p:cNvPr id="34" name="Text 32"/>
          <p:cNvSpPr/>
          <p:nvPr/>
        </p:nvSpPr>
        <p:spPr>
          <a:xfrm>
            <a:off x="6739128" y="4407408"/>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Azure Virtual WAN hub-and-spoke architecture</a:t>
            </a:r>
            <a:endParaRPr lang="en-US" sz="1150" dirty="0"/>
          </a:p>
        </p:txBody>
      </p:sp>
      <p:sp>
        <p:nvSpPr>
          <p:cNvPr id="35" name="Shape 33"/>
          <p:cNvSpPr/>
          <p:nvPr/>
        </p:nvSpPr>
        <p:spPr>
          <a:xfrm>
            <a:off x="548640" y="5120640"/>
            <a:ext cx="5394960" cy="603504"/>
          </a:xfrm>
          <a:prstGeom prst="roundRect">
            <a:avLst>
              <a:gd name="adj" fmla="val 13636"/>
            </a:avLst>
          </a:prstGeom>
          <a:solidFill>
            <a:srgbClr val="E5F7FC"/>
          </a:solidFill>
          <a:ln w="12700">
            <a:solidFill>
              <a:srgbClr val="E5F7FC"/>
            </a:solidFill>
            <a:prstDash val="solid"/>
          </a:ln>
        </p:spPr>
      </p:sp>
      <p:sp>
        <p:nvSpPr>
          <p:cNvPr id="36" name="Shape 34"/>
          <p:cNvSpPr/>
          <p:nvPr/>
        </p:nvSpPr>
        <p:spPr>
          <a:xfrm>
            <a:off x="768096" y="5340096"/>
            <a:ext cx="146304" cy="146304"/>
          </a:xfrm>
          <a:prstGeom prst="ellipse">
            <a:avLst/>
          </a:prstGeom>
          <a:solidFill>
            <a:srgbClr val="00B3E2"/>
          </a:solidFill>
          <a:ln w="12700">
            <a:solidFill>
              <a:srgbClr val="333333"/>
            </a:solidFill>
            <a:prstDash val="solid"/>
          </a:ln>
        </p:spPr>
      </p:sp>
      <p:sp>
        <p:nvSpPr>
          <p:cNvPr id="37" name="Text 35"/>
          <p:cNvSpPr/>
          <p:nvPr/>
        </p:nvSpPr>
        <p:spPr>
          <a:xfrm>
            <a:off x="1042416" y="5120640"/>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What is a secured virtual hub, and Virtual WAN routing intent</a:t>
            </a:r>
            <a:endParaRPr lang="en-US" sz="1150" dirty="0"/>
          </a:p>
        </p:txBody>
      </p:sp>
      <p:sp>
        <p:nvSpPr>
          <p:cNvPr id="38" name="Shape 36"/>
          <p:cNvSpPr/>
          <p:nvPr/>
        </p:nvSpPr>
        <p:spPr>
          <a:xfrm>
            <a:off x="6245352" y="5120640"/>
            <a:ext cx="5394960" cy="603504"/>
          </a:xfrm>
          <a:prstGeom prst="roundRect">
            <a:avLst>
              <a:gd name="adj" fmla="val 13636"/>
            </a:avLst>
          </a:prstGeom>
          <a:solidFill>
            <a:srgbClr val="EBEDED"/>
          </a:solidFill>
          <a:ln w="12700">
            <a:solidFill>
              <a:srgbClr val="EBEDED"/>
            </a:solidFill>
            <a:prstDash val="solid"/>
          </a:ln>
        </p:spPr>
      </p:sp>
      <p:sp>
        <p:nvSpPr>
          <p:cNvPr id="39" name="Shape 37"/>
          <p:cNvSpPr/>
          <p:nvPr/>
        </p:nvSpPr>
        <p:spPr>
          <a:xfrm>
            <a:off x="6464808" y="5340096"/>
            <a:ext cx="146304" cy="146304"/>
          </a:xfrm>
          <a:prstGeom prst="ellipse">
            <a:avLst/>
          </a:prstGeom>
          <a:solidFill>
            <a:srgbClr val="00B3E2"/>
          </a:solidFill>
          <a:ln w="12700">
            <a:solidFill>
              <a:srgbClr val="333333"/>
            </a:solidFill>
            <a:prstDash val="solid"/>
          </a:ln>
        </p:spPr>
      </p:sp>
      <p:sp>
        <p:nvSpPr>
          <p:cNvPr id="40" name="Text 38"/>
          <p:cNvSpPr/>
          <p:nvPr/>
        </p:nvSpPr>
        <p:spPr>
          <a:xfrm>
            <a:off x="6739128" y="5120640"/>
            <a:ext cx="4709160" cy="603504"/>
          </a:xfrm>
          <a:prstGeom prst="rect">
            <a:avLst/>
          </a:prstGeom>
          <a:noFill/>
          <a:ln/>
        </p:spPr>
        <p:txBody>
          <a:bodyPr wrap="square" lIns="0" tIns="0" rIns="0" bIns="0" rtlCol="0" anchor="ctr"/>
          <a:lstStyle/>
          <a:p>
            <a:pPr indent="0" marL="0">
              <a:buNone/>
            </a:pPr>
            <a:r>
              <a:rPr lang="en-US" sz="1150" dirty="0">
                <a:solidFill>
                  <a:srgbClr val="3E3E4B"/>
                </a:solidFill>
                <a:latin typeface="Calibri" pitchFamily="34" charset="0"/>
                <a:ea typeface="Calibri" pitchFamily="34" charset="-122"/>
                <a:cs typeface="Calibri" pitchFamily="34" charset="-120"/>
              </a:rPr>
              <a:t>Azure DNS Private Resolver architecture, and Azure Private DNS overview</a:t>
            </a:r>
            <a:endParaRPr lang="en-US" sz="1150" dirty="0"/>
          </a:p>
        </p:txBody>
      </p:sp>
      <p:sp>
        <p:nvSpPr>
          <p:cNvPr id="41" name="Text 39"/>
          <p:cNvSpPr/>
          <p:nvPr/>
        </p:nvSpPr>
        <p:spPr>
          <a:xfrm>
            <a:off x="548640" y="6108192"/>
            <a:ext cx="10607040" cy="320040"/>
          </a:xfrm>
          <a:prstGeom prst="rect">
            <a:avLst/>
          </a:prstGeom>
          <a:noFill/>
          <a:ln/>
        </p:spPr>
        <p:txBody>
          <a:bodyPr wrap="square" lIns="0" tIns="0" rIns="0" bIns="0" rtlCol="0" anchor="t"/>
          <a:lstStyle/>
          <a:p>
            <a:pPr indent="0" marL="0">
              <a:buNone/>
            </a:pPr>
            <a:r>
              <a:rPr lang="en-US" sz="1050" i="1" dirty="0">
                <a:solidFill>
                  <a:srgbClr val="6E6E7E"/>
                </a:solidFill>
                <a:latin typeface="Calibri" pitchFamily="34" charset="0"/>
                <a:ea typeface="Calibri" pitchFamily="34" charset="-122"/>
                <a:cs typeface="Calibri" pitchFamily="34" charset="-120"/>
              </a:rPr>
              <a:t>All links are preserved in the source outline accompanying this deck. learn.microsoft.com is authoritative over any interpretation presented here.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Quisitive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AVS over Site-to-Site VPN</dc:title>
  <dc:subject>PptxGenJS Presentation</dc:subject>
  <dc:creator>Quisitive</dc:creator>
  <cp:lastModifiedBy>Quisitive</cp:lastModifiedBy>
  <cp:revision>1</cp:revision>
  <dcterms:created xsi:type="dcterms:W3CDTF">2026-07-24T20:55:18Z</dcterms:created>
  <dcterms:modified xsi:type="dcterms:W3CDTF">2026-07-24T20:55:18Z</dcterms:modified>
</cp:coreProperties>
</file>