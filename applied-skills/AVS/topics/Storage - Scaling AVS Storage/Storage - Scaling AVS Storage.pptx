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Physical capacity consumed (GB)</c:v>
                </c:pt>
              </c:strCache>
            </c:strRef>
          </c:tx>
          <c:spPr>
            <a:solidFill>
              <a:srgbClr val="8DB9D9"/>
            </a:solidFill>
            <a:effectLst/>
          </c:spPr>
          <c:invertIfNegative val="0"/>
          <c:dLbls>
            <c:numFmt formatCode="#,##0" sourceLinked="0"/>
            <c:txPr>
              <a:bodyPr/>
              <a:lstStyle/>
              <a:p>
                <a:pPr>
                  <a:defRPr b="0" i="0" strike="noStrike" sz="1200" u="none">
                    <a:solidFill>
                      <a:srgbClr val="3E3E4B"/>
                    </a:solidFill>
                    <a:latin typeface="Arial"/>
                  </a:defRPr>
                </a:pPr>
              </a:p>
            </c:txPr>
            <c:showLegendKey val="0"/>
            <c:showVal val="1"/>
            <c:showCatName val="0"/>
            <c:showSerName val="0"/>
            <c:showPercent val="0"/>
            <c:showBubbleSize val="0"/>
            <c:showLeaderLines val="0"/>
          </c:dLbls>
          <c:dPt>
            <c:idx val="0"/>
            <c:invertIfNegative val="0"/>
            <c:bubble3D val="0"/>
            <c:spPr>
              <a:solidFill>
                <a:srgbClr val="8DB9D9"/>
              </a:solidFill>
              <a:effectLst/>
            </c:spPr>
          </c:dPt>
          <c:dPt>
            <c:idx val="1"/>
            <c:invertIfNegative val="0"/>
            <c:bubble3D val="0"/>
            <c:spPr>
              <a:solidFill>
                <a:srgbClr val="00B3E2"/>
              </a:solidFill>
              <a:effectLst/>
            </c:spPr>
          </c:dPt>
          <c:dPt>
            <c:idx val="2"/>
            <c:invertIfNegative val="0"/>
            <c:bubble3D val="0"/>
            <c:spPr>
              <a:solidFill>
                <a:srgbClr val="3E3E4B"/>
              </a:solidFill>
              <a:effectLst/>
            </c:spPr>
          </c:dPt>
          <c:cat>
            <c:multiLvlStrRef>
              <c:f>Sheet1!$A$2:$A$4</c:f>
              <c:multiLvlStrCache>
                <c:ptCount val="3"/>
                <c:lvl>
                  <c:pt idx="0">
                    <c:v>Written data</c:v>
                  </c:pt>
                  <c:pt idx="1">
                    <c:v>RAID-1 FTT-1 (2 copies)</c:v>
                  </c:pt>
                  <c:pt idx="2">
                    <c:v>Three-way mirror (3 copies)</c:v>
                  </c:pt>
                </c:lvl>
              </c:multiLvlStrCache>
            </c:multiLvlStrRef>
          </c:cat>
          <c:val>
            <c:numRef>
              <c:f>Sheet1!$B$2:$B$4</c:f>
              <c:numCache>
                <c:formatCode>General</c:formatCode>
                <c:ptCount val="3"/>
                <c:pt idx="0">
                  <c:v>100</c:v>
                </c:pt>
                <c:pt idx="1">
                  <c:v>200</c:v>
                </c:pt>
                <c:pt idx="2">
                  <c:v>300</c:v>
                </c:pt>
              </c:numCache>
            </c:numRef>
          </c:val>
        </c:ser>
        <c:dLbls>
          <c:numFmt formatCode="#,##0" sourceLinked="0"/>
          <c:txPr>
            <a:bodyPr/>
            <a:lstStyle/>
            <a:p>
              <a:pPr>
                <a:defRPr b="0" i="0" strike="noStrike" sz="1200" u="none">
                  <a:solidFill>
                    <a:srgbClr val="3E3E4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A57"/>
                </a:solidFill>
                <a:latin typeface="Arial"/>
              </a:defRPr>
            </a:pPr>
            <a:endParaRPr lang="en-US"/>
          </a:p>
        </c:txPr>
        <c:crossAx val="2094734552"/>
        <c:crosses val="autoZero"/>
        <c:auto val="1"/>
        <c:lblAlgn val="ctr"/>
        <c:noMultiLvlLbl val="1"/>
      </c:catAx>
      <c:valAx>
        <c:axId val="2094734552"/>
        <c:scaling>
          <c:orientation val="minMax"/>
          <c:max val="360"/>
        </c:scaling>
        <c:delete val="0"/>
        <c:axPos val="l"/>
        <c:majorGridlines>
          <c:spPr>
            <a:ln w="12700" cap="flat">
              <a:solidFill>
                <a:srgbClr val="DDE2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E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Connections consumed</c:v>
                </c:pt>
              </c:strCache>
            </c:strRef>
          </c:tx>
          <c:spPr>
            <a:solidFill>
              <a:srgbClr val="F15D23"/>
            </a:solidFill>
            <a:effectLst/>
          </c:spPr>
          <c:invertIfNegative val="0"/>
          <c:dLbls>
            <c:numFmt formatCode="#,##0" sourceLinked="0"/>
            <c:txPr>
              <a:bodyPr/>
              <a:lstStyle/>
              <a:p>
                <a:pPr>
                  <a:defRPr b="0" i="0" strike="noStrike" sz="1200" u="none">
                    <a:solidFill>
                      <a:srgbClr val="3E3E4B"/>
                    </a:solidFill>
                    <a:latin typeface="Arial"/>
                  </a:defRPr>
                </a:pPr>
              </a:p>
            </c:txPr>
            <c:showLegendKey val="0"/>
            <c:showVal val="1"/>
            <c:showCatName val="0"/>
            <c:showSerName val="0"/>
            <c:showPercent val="0"/>
            <c:showBubbleSize val="0"/>
            <c:showLeaderLines val="0"/>
          </c:dLbls>
          <c:dPt>
            <c:idx val="0"/>
            <c:invertIfNegative val="0"/>
            <c:bubble3D val="0"/>
            <c:spPr>
              <a:solidFill>
                <a:srgbClr val="F15D23"/>
              </a:solidFill>
              <a:effectLst/>
            </c:spPr>
          </c:dPt>
          <c:dPt>
            <c:idx val="1"/>
            <c:invertIfNegative val="0"/>
            <c:bubble3D val="0"/>
            <c:spPr>
              <a:solidFill>
                <a:srgbClr val="00AD93"/>
              </a:solidFill>
              <a:effectLst/>
            </c:spPr>
          </c:dPt>
          <c:dPt>
            <c:idx val="2"/>
            <c:invertIfNegative val="0"/>
            <c:bubble3D val="0"/>
            <c:spPr>
              <a:solidFill>
                <a:srgbClr val="00B3E2"/>
              </a:solidFill>
              <a:effectLst/>
            </c:spPr>
          </c:dPt>
          <c:cat>
            <c:multiLvlStrRef>
              <c:f>Sheet1!$A$2:$A$4</c:f>
              <c:multiLvlStrCache>
                <c:ptCount val="3"/>
                <c:lvl>
                  <c:pt idx="0">
                    <c:v>16 hosts x 8 sessions</c:v>
                  </c:pt>
                  <c:pt idx="1">
                    <c:v>16 hosts x 6 sessions (recommended)</c:v>
                  </c:pt>
                  <c:pt idx="2">
                    <c:v>16 hosts x 7 sessions (AV64)</c:v>
                  </c:pt>
                </c:lvl>
              </c:multiLvlStrCache>
            </c:multiLvlStrRef>
          </c:cat>
          <c:val>
            <c:numRef>
              <c:f>Sheet1!$B$2:$B$4</c:f>
              <c:numCache>
                <c:formatCode>General</c:formatCode>
                <c:ptCount val="3"/>
                <c:pt idx="0">
                  <c:v>128</c:v>
                </c:pt>
                <c:pt idx="1">
                  <c:v>96</c:v>
                </c:pt>
                <c:pt idx="2">
                  <c:v>112</c:v>
                </c:pt>
              </c:numCache>
            </c:numRef>
          </c:val>
        </c:ser>
        <c:dLbls>
          <c:numFmt formatCode="#,##0" sourceLinked="0"/>
          <c:txPr>
            <a:bodyPr/>
            <a:lstStyle/>
            <a:p>
              <a:pPr>
                <a:defRPr b="0" i="0" strike="noStrike" sz="1200" u="none">
                  <a:solidFill>
                    <a:srgbClr val="3E3E4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A4A57"/>
                </a:solidFill>
                <a:latin typeface="Arial"/>
              </a:defRPr>
            </a:pPr>
            <a:endParaRPr lang="en-US"/>
          </a:p>
        </c:txPr>
        <c:crossAx val="2094734552"/>
        <c:crosses val="autoZero"/>
        <c:auto val="1"/>
        <c:lblAlgn val="ctr"/>
        <c:noMultiLvlLbl val="1"/>
      </c:catAx>
      <c:valAx>
        <c:axId val="2094734552"/>
        <c:scaling>
          <c:orientation val="minMax"/>
          <c:max val="150"/>
        </c:scaling>
        <c:delete val="0"/>
        <c:axPos val="l"/>
        <c:majorGridlines>
          <c:spPr>
            <a:ln w="12700" cap="flat">
              <a:solidFill>
                <a:srgbClr val="DDE2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E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AVS makes cloud storage physics visible again. The goal of this session is a repeatable playbook for growing storage without buying compute you do not need. Every claim here is tied to Microsoft Learn; a few transcript-sourced analogies are flagged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AVS introduction and private-cloud/cluster concepts on Microsoft Learn. The abstraction is useful right up to the point where you need more capacity than the cluster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vSAN claims local disks from every host in the cluster, so native capacity only grows with hosts. This is the whole reason external datastores exist in the AVS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Optimization is free or cheap; external storage is an architecture and a cost. Most environments recover meaningful capacity in steps 1 to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places where session material and current Microsoft Learn text diverge. Say plainly that capacity planning must use the deployed SKU, not a remembered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shock-absorber analogy for cache is explanatory rather than Microsoft terminology, but it lands well: cache smooths bursts, capacity holds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client sizes from raw capacity, they will be short. Policy overhead alone can double consumption under the default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log-structured file system and write-amplification detail from the session is general vSAN theory, not AVS documentation. Keep the practical point: check the generation before running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dual-engine analogy from the session is a simplification of RAID-1 mirroring. The operational point is that protection is per object, driven by the assigned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clearly: the 200 GB and 300 GB figures are conceptual calculations, not values published in the AVS documentation. Supported RAID and FTT combinations are in Configure a storage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Auditors and capacity reviewers repeatedly flag this. Also note the exception: Elastic SAN VMFS datastores have separate guidance and currently recommend eager-zeroed thick virtual disks.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Learn confirms the mismatch directly; the enumerated failure scenarios come from the session. Either way the guidance is identical: do not rename.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focuses on RAID-6 erasure coding, but RAID-1 FTT-2 is equally supported and has a lower host floor. Parity mathematics from the session is general storage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clients remember. Many environments grow to eight or ten hosts and never revisit FTT, which quietly leaves them outside the SLA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pre-work for any storage conversation. If a client asks for more capacity, this checklist runs before any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is workload-specific: capacity savings versus I/O performance. Databases and other I/O-intensive systems are the usual candidates for disabling dedup.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from the session, deduplicated data expanding back into full blocks, explains why this consumes capacity and I/O. The documented warning is the operative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capacity-recovery feature with a performance cost. Enable it deliberately, not as a default hardening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cycle is where rollouts fail. Teams enable at cluster level, see no reclamation, and conclude the feature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VADP backup-failure example from the session is plausible but the documentation does not limit causes to backup software. UUID-only output is why validation takes real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capacity-cleanup exercise can turn into an outage. Insist on documented ownership before any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frames this as buying a second car versus fitting a roof rack. Useful shorthand, but keep the decision quantitative: compare cost per usable TB against the compute you would inherit.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standardize on one external platform for the whole estate. Mixed placement is normal and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zone alignment requirement catches people out on multi-zone designs. Confirm it before the SAN is provisioned; it is not something you fix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irreversible-without-support decisions on one slide: the /24 and the endpoint count. Both belong in the design document, not the build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a datastore to a cluster connects it to every host in that cluster. Multiple clusters sharing a datastore must all be counted. Reserve capacity for maintenance, host replacement, and future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Gen 1 designs, gateway sizing is a first-class capacity input. For Gen 2 the conversation simplifies considerably.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states that brief gateway maintenance is not expected to affect datastore availability when the connection returns within seconds. Get that into the runbook so on-call does not escalate every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datastore behaves like any other for vMotion purposes, which makes migration of storage-heavy VMs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Single-datastore sizing up to 64 TB comes from the session; confirm current volume and datastore limits for the selected region and service level before designing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guidance: use nconnect=4 and multiple datastores together when one NFS flow does not deliver the required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and boot-disk exclusion is an architectural recommendation from the session; the documented latency risk supports it. Retrieval charges belong in the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silent failure mode: everything keeps working until an operation depends on the association. Put the resync command in the service-level change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policy-versus-resource-group distinction confuses people during handover. Frequency lives in the policy; the actual schedule comes from the resource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describes VMware Tools, VIX, and Windows VSS coordinating a brief quiesce. The AVS article documents the pause-and-snapshot workflow without every API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restores under realistic conditions is an operational recommendation, not a documented requirement, but it is the difference between a plan and a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worth noting: guest files cannot be restored from a cloned or uninitialized VMDK. Vault and test the Administrator credential before you depend on this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support model matters commercially: Pure owns onboarding and product support, which changes the escalation path compared with first-party Azure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reuse, monitoring integrations, and DR runbook reuse are reasonable benefits cited in the session but not enumerated in the AVS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Optimization is not a separate branch, it is the precondition for all four. Nobody should be choosing a platform before the vSAN checklist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operating-model point: capacity is the easiest thing to compare and the least useful basis for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share the linked outline alongside the deck so the audience can follow every claim back to its source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052560" y="-1371600"/>
            <a:ext cx="5120640" cy="5120640"/>
          </a:xfrm>
          <a:prstGeom prst="ellipse">
            <a:avLst/>
          </a:prstGeom>
          <a:solidFill>
            <a:srgbClr val="2F2F3B"/>
          </a:solidFill>
          <a:ln w="12700">
            <a:solidFill>
              <a:srgbClr val="2F2F3B"/>
            </a:solidFill>
            <a:prstDash val="solid"/>
          </a:ln>
        </p:spPr>
      </p:sp>
      <p:sp>
        <p:nvSpPr>
          <p:cNvPr id="3" name="Shape 1"/>
          <p:cNvSpPr/>
          <p:nvPr/>
        </p:nvSpPr>
        <p:spPr>
          <a:xfrm>
            <a:off x="10424160" y="4206240"/>
            <a:ext cx="2926080" cy="2926080"/>
          </a:xfrm>
          <a:prstGeom prst="ellipse">
            <a:avLst/>
          </a:prstGeom>
          <a:solidFill>
            <a:srgbClr val="353542"/>
          </a:solidFill>
          <a:ln w="12700">
            <a:solidFill>
              <a:srgbClr val="00B3E2"/>
            </a:solidFill>
            <a:prstDash val="solid"/>
          </a:ln>
        </p:spPr>
      </p:sp>
      <p:sp>
        <p:nvSpPr>
          <p:cNvPr id="4" name="Text 2"/>
          <p:cNvSpPr/>
          <p:nvPr/>
        </p:nvSpPr>
        <p:spPr>
          <a:xfrm>
            <a:off x="822960" y="1417320"/>
            <a:ext cx="7772400" cy="274320"/>
          </a:xfrm>
          <a:prstGeom prst="rect">
            <a:avLst/>
          </a:prstGeom>
          <a:noFill/>
          <a:ln/>
        </p:spPr>
        <p:txBody>
          <a:bodyPr wrap="square" lIns="0" tIns="0" rIns="0" bIns="0" rtlCol="0" anchor="ctr"/>
          <a:lstStyle/>
          <a:p>
            <a:pPr indent="0" marL="0">
              <a:buNone/>
            </a:pPr>
            <a:r>
              <a:rPr lang="en-US" sz="1200" b="1" spc="200" kern="0" dirty="0">
                <a:solidFill>
                  <a:srgbClr val="00B3E2"/>
                </a:solidFill>
                <a:latin typeface="Calibri" pitchFamily="34" charset="0"/>
                <a:ea typeface="Calibri" pitchFamily="34" charset="-122"/>
                <a:cs typeface="Calibri" pitchFamily="34" charset="-120"/>
              </a:rPr>
              <a:t>QUISITIVE  |  SECURE INFRASTRUCTURE</a:t>
            </a:r>
            <a:endParaRPr lang="en-US" sz="1200" dirty="0"/>
          </a:p>
        </p:txBody>
      </p:sp>
      <p:sp>
        <p:nvSpPr>
          <p:cNvPr id="5" name="Text 3"/>
          <p:cNvSpPr/>
          <p:nvPr/>
        </p:nvSpPr>
        <p:spPr>
          <a:xfrm>
            <a:off x="822960" y="1874520"/>
            <a:ext cx="8412480" cy="182880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libri" pitchFamily="34" charset="0"/>
                <a:ea typeface="Calibri" pitchFamily="34" charset="-122"/>
                <a:cs typeface="Calibri" pitchFamily="34" charset="-120"/>
              </a:rPr>
              <a:t>Scaling Azure VMware Solution Storage Without Adding Nodes</a:t>
            </a:r>
            <a:endParaRPr lang="en-US" sz="4200" dirty="0"/>
          </a:p>
        </p:txBody>
      </p:sp>
      <p:sp>
        <p:nvSpPr>
          <p:cNvPr id="6" name="Text 4"/>
          <p:cNvSpPr/>
          <p:nvPr/>
        </p:nvSpPr>
        <p:spPr>
          <a:xfrm>
            <a:off x="822960" y="3886200"/>
            <a:ext cx="7863840" cy="822960"/>
          </a:xfrm>
          <a:prstGeom prst="rect">
            <a:avLst/>
          </a:prstGeom>
          <a:noFill/>
          <a:ln/>
        </p:spPr>
        <p:txBody>
          <a:bodyPr wrap="square" lIns="0" tIns="0" rIns="0" bIns="0" rtlCol="0" anchor="ctr"/>
          <a:lstStyle/>
          <a:p>
            <a:pPr indent="0" marL="0">
              <a:lnSpc>
                <a:spcPts val="2200"/>
              </a:lnSpc>
              <a:buNone/>
            </a:pPr>
            <a:r>
              <a:rPr lang="en-US" sz="1500" dirty="0">
                <a:solidFill>
                  <a:srgbClr val="B2E8F6"/>
                </a:solidFill>
                <a:latin typeface="Calibri" pitchFamily="34" charset="0"/>
                <a:ea typeface="Calibri" pitchFamily="34" charset="-122"/>
                <a:cs typeface="Calibri" pitchFamily="34" charset="-120"/>
              </a:rPr>
              <a:t>A practitioner playbook: optimize native vSAN first, then decouple storage from compute with Azure NetApp Files, Azure Elastic SAN, and Pure Storage.</a:t>
            </a:r>
            <a:endParaRPr lang="en-US" sz="1500" dirty="0"/>
          </a:p>
        </p:txBody>
      </p:sp>
      <p:sp>
        <p:nvSpPr>
          <p:cNvPr id="7" name="Shape 5"/>
          <p:cNvSpPr/>
          <p:nvPr/>
        </p:nvSpPr>
        <p:spPr>
          <a:xfrm>
            <a:off x="822960" y="4983480"/>
            <a:ext cx="2743200" cy="457200"/>
          </a:xfrm>
          <a:prstGeom prst="roundRect">
            <a:avLst>
              <a:gd name="adj" fmla="val 12000"/>
            </a:avLst>
          </a:prstGeom>
          <a:solidFill>
            <a:srgbClr val="00B3E2"/>
          </a:solidFill>
          <a:ln w="12700">
            <a:solidFill>
              <a:srgbClr val="00B3E2"/>
            </a:solidFill>
            <a:prstDash val="solid"/>
          </a:ln>
        </p:spPr>
      </p:sp>
      <p:sp>
        <p:nvSpPr>
          <p:cNvPr id="8" name="Text 6"/>
          <p:cNvSpPr/>
          <p:nvPr/>
        </p:nvSpPr>
        <p:spPr>
          <a:xfrm>
            <a:off x="822960" y="4983480"/>
            <a:ext cx="2743200" cy="457200"/>
          </a:xfrm>
          <a:prstGeom prst="rect">
            <a:avLst/>
          </a:prstGeom>
          <a:noFill/>
          <a:ln/>
        </p:spPr>
        <p:txBody>
          <a:bodyPr wrap="square" lIns="0" tIns="0" rIns="0" bIns="0" rtlCol="0" anchor="ctr"/>
          <a:lstStyle/>
          <a:p>
            <a:pPr algn="ctr" indent="0" marL="0">
              <a:buNone/>
            </a:pPr>
            <a:r>
              <a:rPr lang="en-US" sz="1300" b="1" dirty="0">
                <a:solidFill>
                  <a:srgbClr val="0A2C36"/>
                </a:solidFill>
                <a:latin typeface="Calibri" pitchFamily="34" charset="0"/>
                <a:ea typeface="Calibri" pitchFamily="34" charset="-122"/>
                <a:cs typeface="Calibri" pitchFamily="34" charset="-120"/>
              </a:rPr>
              <a:t>Technical deep dive</a:t>
            </a:r>
            <a:endParaRPr lang="en-US" sz="1300" dirty="0"/>
          </a:p>
        </p:txBody>
      </p:sp>
      <p:sp>
        <p:nvSpPr>
          <p:cNvPr id="9" name="Text 7"/>
          <p:cNvSpPr/>
          <p:nvPr/>
        </p:nvSpPr>
        <p:spPr>
          <a:xfrm>
            <a:off x="3749040" y="4983480"/>
            <a:ext cx="5669280" cy="457200"/>
          </a:xfrm>
          <a:prstGeom prst="rect">
            <a:avLst/>
          </a:prstGeom>
          <a:noFill/>
          <a:ln/>
        </p:spPr>
        <p:txBody>
          <a:bodyPr wrap="square" lIns="0" tIns="0" rIns="0" bIns="0" rtlCol="0" anchor="ctr"/>
          <a:lstStyle/>
          <a:p>
            <a:pPr indent="0" marL="0">
              <a:buNone/>
            </a:pPr>
            <a:r>
              <a:rPr lang="en-US" sz="1150" dirty="0">
                <a:solidFill>
                  <a:srgbClr val="9A9AA8"/>
                </a:solidFill>
                <a:latin typeface="Calibri" pitchFamily="34" charset="0"/>
                <a:ea typeface="Calibri" pitchFamily="34" charset="-122"/>
                <a:cs typeface="Calibri" pitchFamily="34" charset="-120"/>
              </a:rPr>
              <a:t>Sourced from the AVS storage session and validated against current Microsoft Learn documentation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THE PREMISE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The “infinite cloud” illusion</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Portal-driven management hides hardware. Azure VMware Solution puts it back in view.</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691640"/>
            <a:ext cx="5120640" cy="1298448"/>
          </a:xfrm>
          <a:prstGeom prst="roundRect">
            <a:avLst>
              <a:gd name="adj" fmla="val 4225"/>
            </a:avLst>
          </a:prstGeom>
          <a:solidFill>
            <a:srgbClr val="EBEDED"/>
          </a:solidFill>
          <a:ln w="12700">
            <a:solidFill>
              <a:srgbClr val="EBEDED"/>
            </a:solidFill>
            <a:prstDash val="solid"/>
          </a:ln>
        </p:spPr>
      </p:sp>
      <p:sp>
        <p:nvSpPr>
          <p:cNvPr id="8" name="Text 6"/>
          <p:cNvSpPr/>
          <p:nvPr/>
        </p:nvSpPr>
        <p:spPr>
          <a:xfrm>
            <a:off x="804672" y="1874520"/>
            <a:ext cx="460857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ASSUMPTION</a:t>
            </a:r>
            <a:endParaRPr lang="en-US" sz="950" dirty="0"/>
          </a:p>
        </p:txBody>
      </p:sp>
      <p:sp>
        <p:nvSpPr>
          <p:cNvPr id="9" name="Text 7"/>
          <p:cNvSpPr/>
          <p:nvPr/>
        </p:nvSpPr>
        <p:spPr>
          <a:xfrm>
            <a:off x="804672" y="2148840"/>
            <a:ext cx="46085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Storage is just a service dial</a:t>
            </a:r>
            <a:endParaRPr lang="en-US" sz="1450" dirty="0"/>
          </a:p>
        </p:txBody>
      </p:sp>
      <p:sp>
        <p:nvSpPr>
          <p:cNvPr id="10" name="Shape 8"/>
          <p:cNvSpPr/>
          <p:nvPr/>
        </p:nvSpPr>
        <p:spPr>
          <a:xfrm>
            <a:off x="5943600" y="1691640"/>
            <a:ext cx="5669280" cy="1298448"/>
          </a:xfrm>
          <a:prstGeom prst="roundRect">
            <a:avLst>
              <a:gd name="adj" fmla="val 4225"/>
            </a:avLst>
          </a:prstGeom>
          <a:solidFill>
            <a:srgbClr val="E5F7FC"/>
          </a:solidFill>
          <a:ln w="12700">
            <a:solidFill>
              <a:srgbClr val="E5F7FC"/>
            </a:solidFill>
            <a:prstDash val="solid"/>
          </a:ln>
        </p:spPr>
      </p:sp>
      <p:sp>
        <p:nvSpPr>
          <p:cNvPr id="11" name="Text 9"/>
          <p:cNvSpPr/>
          <p:nvPr/>
        </p:nvSpPr>
        <p:spPr>
          <a:xfrm>
            <a:off x="6199632" y="1874520"/>
            <a:ext cx="51572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REALITY IN AVS</a:t>
            </a:r>
            <a:endParaRPr lang="en-US" sz="950" dirty="0"/>
          </a:p>
        </p:txBody>
      </p:sp>
      <p:sp>
        <p:nvSpPr>
          <p:cNvPr id="12" name="Text 10"/>
          <p:cNvSpPr/>
          <p:nvPr/>
        </p:nvSpPr>
        <p:spPr>
          <a:xfrm>
            <a:off x="6199632" y="2148840"/>
            <a:ext cx="5157216" cy="694944"/>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AVS clusters run on dedicated bare-metal ESXi hosts. The capacity is physical.</a:t>
            </a:r>
            <a:endParaRPr lang="en-US" sz="1300" dirty="0"/>
          </a:p>
        </p:txBody>
      </p:sp>
      <p:sp>
        <p:nvSpPr>
          <p:cNvPr id="13" name="Shape 11"/>
          <p:cNvSpPr/>
          <p:nvPr/>
        </p:nvSpPr>
        <p:spPr>
          <a:xfrm>
            <a:off x="548640" y="3172968"/>
            <a:ext cx="5120640" cy="1298448"/>
          </a:xfrm>
          <a:prstGeom prst="roundRect">
            <a:avLst>
              <a:gd name="adj" fmla="val 4225"/>
            </a:avLst>
          </a:prstGeom>
          <a:solidFill>
            <a:srgbClr val="EBEDED"/>
          </a:solidFill>
          <a:ln w="12700">
            <a:solidFill>
              <a:srgbClr val="EBEDED"/>
            </a:solidFill>
            <a:prstDash val="solid"/>
          </a:ln>
        </p:spPr>
      </p:sp>
      <p:sp>
        <p:nvSpPr>
          <p:cNvPr id="14" name="Text 12"/>
          <p:cNvSpPr/>
          <p:nvPr/>
        </p:nvSpPr>
        <p:spPr>
          <a:xfrm>
            <a:off x="804672" y="3355848"/>
            <a:ext cx="460857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ASSUMPTION</a:t>
            </a:r>
            <a:endParaRPr lang="en-US" sz="950" dirty="0"/>
          </a:p>
        </p:txBody>
      </p:sp>
      <p:sp>
        <p:nvSpPr>
          <p:cNvPr id="15" name="Text 13"/>
          <p:cNvSpPr/>
          <p:nvPr/>
        </p:nvSpPr>
        <p:spPr>
          <a:xfrm>
            <a:off x="804672" y="3630168"/>
            <a:ext cx="46085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Capacity is effectively unbounded</a:t>
            </a:r>
            <a:endParaRPr lang="en-US" sz="1450" dirty="0"/>
          </a:p>
        </p:txBody>
      </p:sp>
      <p:sp>
        <p:nvSpPr>
          <p:cNvPr id="16" name="Shape 14"/>
          <p:cNvSpPr/>
          <p:nvPr/>
        </p:nvSpPr>
        <p:spPr>
          <a:xfrm>
            <a:off x="5943600" y="3172968"/>
            <a:ext cx="5669280" cy="1298448"/>
          </a:xfrm>
          <a:prstGeom prst="roundRect">
            <a:avLst>
              <a:gd name="adj" fmla="val 4225"/>
            </a:avLst>
          </a:prstGeom>
          <a:solidFill>
            <a:srgbClr val="E5F7FC"/>
          </a:solidFill>
          <a:ln w="12700">
            <a:solidFill>
              <a:srgbClr val="E5F7FC"/>
            </a:solidFill>
            <a:prstDash val="solid"/>
          </a:ln>
        </p:spPr>
      </p:sp>
      <p:sp>
        <p:nvSpPr>
          <p:cNvPr id="17" name="Text 15"/>
          <p:cNvSpPr/>
          <p:nvPr/>
        </p:nvSpPr>
        <p:spPr>
          <a:xfrm>
            <a:off x="6199632" y="3355848"/>
            <a:ext cx="51572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REALITY IN AVS</a:t>
            </a:r>
            <a:endParaRPr lang="en-US" sz="950" dirty="0"/>
          </a:p>
        </p:txBody>
      </p:sp>
      <p:sp>
        <p:nvSpPr>
          <p:cNvPr id="18" name="Text 16"/>
          <p:cNvSpPr/>
          <p:nvPr/>
        </p:nvSpPr>
        <p:spPr>
          <a:xfrm>
            <a:off x="6199632" y="3630168"/>
            <a:ext cx="5157216" cy="694944"/>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Capacity is bounded by host, cluster, datastore, networking, and service limits.</a:t>
            </a:r>
            <a:endParaRPr lang="en-US" sz="1300" dirty="0"/>
          </a:p>
        </p:txBody>
      </p:sp>
      <p:sp>
        <p:nvSpPr>
          <p:cNvPr id="19" name="Shape 17"/>
          <p:cNvSpPr/>
          <p:nvPr/>
        </p:nvSpPr>
        <p:spPr>
          <a:xfrm>
            <a:off x="548640" y="4654296"/>
            <a:ext cx="5120640" cy="1298448"/>
          </a:xfrm>
          <a:prstGeom prst="roundRect">
            <a:avLst>
              <a:gd name="adj" fmla="val 4225"/>
            </a:avLst>
          </a:prstGeom>
          <a:solidFill>
            <a:srgbClr val="EBEDED"/>
          </a:solidFill>
          <a:ln w="12700">
            <a:solidFill>
              <a:srgbClr val="EBEDED"/>
            </a:solidFill>
            <a:prstDash val="solid"/>
          </a:ln>
        </p:spPr>
      </p:sp>
      <p:sp>
        <p:nvSpPr>
          <p:cNvPr id="20" name="Text 18"/>
          <p:cNvSpPr/>
          <p:nvPr/>
        </p:nvSpPr>
        <p:spPr>
          <a:xfrm>
            <a:off x="804672" y="4837176"/>
            <a:ext cx="460857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ASSUMPTION</a:t>
            </a:r>
            <a:endParaRPr lang="en-US" sz="950" dirty="0"/>
          </a:p>
        </p:txBody>
      </p:sp>
      <p:sp>
        <p:nvSpPr>
          <p:cNvPr id="21" name="Text 19"/>
          <p:cNvSpPr/>
          <p:nvPr/>
        </p:nvSpPr>
        <p:spPr>
          <a:xfrm>
            <a:off x="804672" y="5111496"/>
            <a:ext cx="46085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Adding storage costs storage money</a:t>
            </a:r>
            <a:endParaRPr lang="en-US" sz="1450" dirty="0"/>
          </a:p>
        </p:txBody>
      </p:sp>
      <p:sp>
        <p:nvSpPr>
          <p:cNvPr id="22" name="Shape 20"/>
          <p:cNvSpPr/>
          <p:nvPr/>
        </p:nvSpPr>
        <p:spPr>
          <a:xfrm>
            <a:off x="5943600" y="4654296"/>
            <a:ext cx="5669280" cy="1298448"/>
          </a:xfrm>
          <a:prstGeom prst="roundRect">
            <a:avLst>
              <a:gd name="adj" fmla="val 4225"/>
            </a:avLst>
          </a:prstGeom>
          <a:solidFill>
            <a:srgbClr val="E5F7FC"/>
          </a:solidFill>
          <a:ln w="12700">
            <a:solidFill>
              <a:srgbClr val="E5F7FC"/>
            </a:solidFill>
            <a:prstDash val="solid"/>
          </a:ln>
        </p:spPr>
      </p:sp>
      <p:sp>
        <p:nvSpPr>
          <p:cNvPr id="23" name="Text 21"/>
          <p:cNvSpPr/>
          <p:nvPr/>
        </p:nvSpPr>
        <p:spPr>
          <a:xfrm>
            <a:off x="6199632" y="4837176"/>
            <a:ext cx="51572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REALITY IN AVS</a:t>
            </a:r>
            <a:endParaRPr lang="en-US" sz="950" dirty="0"/>
          </a:p>
        </p:txBody>
      </p:sp>
      <p:sp>
        <p:nvSpPr>
          <p:cNvPr id="24" name="Text 22"/>
          <p:cNvSpPr/>
          <p:nvPr/>
        </p:nvSpPr>
        <p:spPr>
          <a:xfrm>
            <a:off x="6199632" y="5111496"/>
            <a:ext cx="5157216" cy="694944"/>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Native vSAN growth means adding a host: CPU, memory, networking, and licensing come with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THE CONSTRAINT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Hyperconvergence ties storage growth to compute growth</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Each host contributes local disks to one cluster-wide vSAN datastore.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48640" y="1691640"/>
            <a:ext cx="2532888" cy="1737360"/>
          </a:xfrm>
          <a:prstGeom prst="roundRect">
            <a:avLst>
              <a:gd name="adj" fmla="val 3158"/>
            </a:avLst>
          </a:prstGeom>
          <a:solidFill>
            <a:srgbClr val="EBEDED"/>
          </a:solidFill>
          <a:ln w="12700">
            <a:solidFill>
              <a:srgbClr val="EBEDED"/>
            </a:solidFill>
            <a:prstDash val="solid"/>
          </a:ln>
        </p:spPr>
      </p:sp>
      <p:sp>
        <p:nvSpPr>
          <p:cNvPr id="8" name="Text 6"/>
          <p:cNvSpPr/>
          <p:nvPr/>
        </p:nvSpPr>
        <p:spPr>
          <a:xfrm>
            <a:off x="804672" y="1874520"/>
            <a:ext cx="2020824"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Host 1</a:t>
            </a:r>
            <a:endParaRPr lang="en-US" sz="1400" dirty="0"/>
          </a:p>
        </p:txBody>
      </p:sp>
      <p:sp>
        <p:nvSpPr>
          <p:cNvPr id="9" name="Shape 7"/>
          <p:cNvSpPr/>
          <p:nvPr/>
        </p:nvSpPr>
        <p:spPr>
          <a:xfrm>
            <a:off x="804672" y="2286000"/>
            <a:ext cx="2011680" cy="292608"/>
          </a:xfrm>
          <a:prstGeom prst="roundRect">
            <a:avLst>
              <a:gd name="adj" fmla="val 15625"/>
            </a:avLst>
          </a:prstGeom>
          <a:solidFill>
            <a:srgbClr val="DDE2E2"/>
          </a:solidFill>
          <a:ln w="12700">
            <a:solidFill>
              <a:srgbClr val="DDE2E2"/>
            </a:solidFill>
            <a:prstDash val="solid"/>
          </a:ln>
        </p:spPr>
      </p:sp>
      <p:sp>
        <p:nvSpPr>
          <p:cNvPr id="10" name="Text 8"/>
          <p:cNvSpPr/>
          <p:nvPr/>
        </p:nvSpPr>
        <p:spPr>
          <a:xfrm>
            <a:off x="914400" y="228600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CPU</a:t>
            </a:r>
            <a:endParaRPr lang="en-US" sz="1100" dirty="0"/>
          </a:p>
        </p:txBody>
      </p:sp>
      <p:sp>
        <p:nvSpPr>
          <p:cNvPr id="11" name="Shape 9"/>
          <p:cNvSpPr/>
          <p:nvPr/>
        </p:nvSpPr>
        <p:spPr>
          <a:xfrm>
            <a:off x="804672" y="2651760"/>
            <a:ext cx="2011680" cy="292608"/>
          </a:xfrm>
          <a:prstGeom prst="roundRect">
            <a:avLst>
              <a:gd name="adj" fmla="val 15625"/>
            </a:avLst>
          </a:prstGeom>
          <a:solidFill>
            <a:srgbClr val="DDE2E2"/>
          </a:solidFill>
          <a:ln w="12700">
            <a:solidFill>
              <a:srgbClr val="DDE2E2"/>
            </a:solidFill>
            <a:prstDash val="solid"/>
          </a:ln>
        </p:spPr>
      </p:sp>
      <p:sp>
        <p:nvSpPr>
          <p:cNvPr id="12" name="Text 10"/>
          <p:cNvSpPr/>
          <p:nvPr/>
        </p:nvSpPr>
        <p:spPr>
          <a:xfrm>
            <a:off x="914400" y="265176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Memory</a:t>
            </a:r>
            <a:endParaRPr lang="en-US" sz="1100" dirty="0"/>
          </a:p>
        </p:txBody>
      </p:sp>
      <p:sp>
        <p:nvSpPr>
          <p:cNvPr id="13" name="Shape 11"/>
          <p:cNvSpPr/>
          <p:nvPr/>
        </p:nvSpPr>
        <p:spPr>
          <a:xfrm>
            <a:off x="804672" y="3017520"/>
            <a:ext cx="2011680" cy="292608"/>
          </a:xfrm>
          <a:prstGeom prst="roundRect">
            <a:avLst>
              <a:gd name="adj" fmla="val 15625"/>
            </a:avLst>
          </a:prstGeom>
          <a:solidFill>
            <a:srgbClr val="00B3E2"/>
          </a:solidFill>
          <a:ln w="12700">
            <a:solidFill>
              <a:srgbClr val="00B3E2"/>
            </a:solidFill>
            <a:prstDash val="solid"/>
          </a:ln>
        </p:spPr>
      </p:sp>
      <p:sp>
        <p:nvSpPr>
          <p:cNvPr id="14" name="Text 12"/>
          <p:cNvSpPr/>
          <p:nvPr/>
        </p:nvSpPr>
        <p:spPr>
          <a:xfrm>
            <a:off x="914400" y="3017520"/>
            <a:ext cx="1828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vSAN disks</a:t>
            </a:r>
            <a:endParaRPr lang="en-US" sz="1100" dirty="0"/>
          </a:p>
        </p:txBody>
      </p:sp>
      <p:sp>
        <p:nvSpPr>
          <p:cNvPr id="15" name="Shape 13"/>
          <p:cNvSpPr/>
          <p:nvPr/>
        </p:nvSpPr>
        <p:spPr>
          <a:xfrm>
            <a:off x="3401568" y="1691640"/>
            <a:ext cx="2532888" cy="1737360"/>
          </a:xfrm>
          <a:prstGeom prst="roundRect">
            <a:avLst>
              <a:gd name="adj" fmla="val 3158"/>
            </a:avLst>
          </a:prstGeom>
          <a:solidFill>
            <a:srgbClr val="EBEDED"/>
          </a:solidFill>
          <a:ln w="12700">
            <a:solidFill>
              <a:srgbClr val="EBEDED"/>
            </a:solidFill>
            <a:prstDash val="solid"/>
          </a:ln>
        </p:spPr>
      </p:sp>
      <p:sp>
        <p:nvSpPr>
          <p:cNvPr id="16" name="Text 14"/>
          <p:cNvSpPr/>
          <p:nvPr/>
        </p:nvSpPr>
        <p:spPr>
          <a:xfrm>
            <a:off x="3657600" y="1874520"/>
            <a:ext cx="2020824"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Host 2</a:t>
            </a:r>
            <a:endParaRPr lang="en-US" sz="1400" dirty="0"/>
          </a:p>
        </p:txBody>
      </p:sp>
      <p:sp>
        <p:nvSpPr>
          <p:cNvPr id="17" name="Shape 15"/>
          <p:cNvSpPr/>
          <p:nvPr/>
        </p:nvSpPr>
        <p:spPr>
          <a:xfrm>
            <a:off x="3657600" y="2286000"/>
            <a:ext cx="2011680" cy="292608"/>
          </a:xfrm>
          <a:prstGeom prst="roundRect">
            <a:avLst>
              <a:gd name="adj" fmla="val 15625"/>
            </a:avLst>
          </a:prstGeom>
          <a:solidFill>
            <a:srgbClr val="DDE2E2"/>
          </a:solidFill>
          <a:ln w="12700">
            <a:solidFill>
              <a:srgbClr val="DDE2E2"/>
            </a:solidFill>
            <a:prstDash val="solid"/>
          </a:ln>
        </p:spPr>
      </p:sp>
      <p:sp>
        <p:nvSpPr>
          <p:cNvPr id="18" name="Text 16"/>
          <p:cNvSpPr/>
          <p:nvPr/>
        </p:nvSpPr>
        <p:spPr>
          <a:xfrm>
            <a:off x="3767328" y="228600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CPU</a:t>
            </a:r>
            <a:endParaRPr lang="en-US" sz="1100" dirty="0"/>
          </a:p>
        </p:txBody>
      </p:sp>
      <p:sp>
        <p:nvSpPr>
          <p:cNvPr id="19" name="Shape 17"/>
          <p:cNvSpPr/>
          <p:nvPr/>
        </p:nvSpPr>
        <p:spPr>
          <a:xfrm>
            <a:off x="3657600" y="2651760"/>
            <a:ext cx="2011680" cy="292608"/>
          </a:xfrm>
          <a:prstGeom prst="roundRect">
            <a:avLst>
              <a:gd name="adj" fmla="val 15625"/>
            </a:avLst>
          </a:prstGeom>
          <a:solidFill>
            <a:srgbClr val="DDE2E2"/>
          </a:solidFill>
          <a:ln w="12700">
            <a:solidFill>
              <a:srgbClr val="DDE2E2"/>
            </a:solidFill>
            <a:prstDash val="solid"/>
          </a:ln>
        </p:spPr>
      </p:sp>
      <p:sp>
        <p:nvSpPr>
          <p:cNvPr id="20" name="Text 18"/>
          <p:cNvSpPr/>
          <p:nvPr/>
        </p:nvSpPr>
        <p:spPr>
          <a:xfrm>
            <a:off x="3767328" y="265176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Memory</a:t>
            </a:r>
            <a:endParaRPr lang="en-US" sz="1100" dirty="0"/>
          </a:p>
        </p:txBody>
      </p:sp>
      <p:sp>
        <p:nvSpPr>
          <p:cNvPr id="21" name="Shape 19"/>
          <p:cNvSpPr/>
          <p:nvPr/>
        </p:nvSpPr>
        <p:spPr>
          <a:xfrm>
            <a:off x="3657600" y="3017520"/>
            <a:ext cx="2011680" cy="292608"/>
          </a:xfrm>
          <a:prstGeom prst="roundRect">
            <a:avLst>
              <a:gd name="adj" fmla="val 15625"/>
            </a:avLst>
          </a:prstGeom>
          <a:solidFill>
            <a:srgbClr val="00B3E2"/>
          </a:solidFill>
          <a:ln w="12700">
            <a:solidFill>
              <a:srgbClr val="00B3E2"/>
            </a:solidFill>
            <a:prstDash val="solid"/>
          </a:ln>
        </p:spPr>
      </p:sp>
      <p:sp>
        <p:nvSpPr>
          <p:cNvPr id="22" name="Text 20"/>
          <p:cNvSpPr/>
          <p:nvPr/>
        </p:nvSpPr>
        <p:spPr>
          <a:xfrm>
            <a:off x="3767328" y="3017520"/>
            <a:ext cx="1828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vSAN disks</a:t>
            </a:r>
            <a:endParaRPr lang="en-US" sz="1100" dirty="0"/>
          </a:p>
        </p:txBody>
      </p:sp>
      <p:sp>
        <p:nvSpPr>
          <p:cNvPr id="23" name="Shape 21"/>
          <p:cNvSpPr/>
          <p:nvPr/>
        </p:nvSpPr>
        <p:spPr>
          <a:xfrm>
            <a:off x="6254496" y="1691640"/>
            <a:ext cx="2532888" cy="1737360"/>
          </a:xfrm>
          <a:prstGeom prst="roundRect">
            <a:avLst>
              <a:gd name="adj" fmla="val 3158"/>
            </a:avLst>
          </a:prstGeom>
          <a:solidFill>
            <a:srgbClr val="EBEDED"/>
          </a:solidFill>
          <a:ln w="12700">
            <a:solidFill>
              <a:srgbClr val="EBEDED"/>
            </a:solidFill>
            <a:prstDash val="solid"/>
          </a:ln>
        </p:spPr>
      </p:sp>
      <p:sp>
        <p:nvSpPr>
          <p:cNvPr id="24" name="Text 22"/>
          <p:cNvSpPr/>
          <p:nvPr/>
        </p:nvSpPr>
        <p:spPr>
          <a:xfrm>
            <a:off x="6510528" y="1874520"/>
            <a:ext cx="2020824"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Host 3</a:t>
            </a:r>
            <a:endParaRPr lang="en-US" sz="1400" dirty="0"/>
          </a:p>
        </p:txBody>
      </p:sp>
      <p:sp>
        <p:nvSpPr>
          <p:cNvPr id="25" name="Shape 23"/>
          <p:cNvSpPr/>
          <p:nvPr/>
        </p:nvSpPr>
        <p:spPr>
          <a:xfrm>
            <a:off x="6510528" y="2286000"/>
            <a:ext cx="2011680" cy="292608"/>
          </a:xfrm>
          <a:prstGeom prst="roundRect">
            <a:avLst>
              <a:gd name="adj" fmla="val 15625"/>
            </a:avLst>
          </a:prstGeom>
          <a:solidFill>
            <a:srgbClr val="DDE2E2"/>
          </a:solidFill>
          <a:ln w="12700">
            <a:solidFill>
              <a:srgbClr val="DDE2E2"/>
            </a:solidFill>
            <a:prstDash val="solid"/>
          </a:ln>
        </p:spPr>
      </p:sp>
      <p:sp>
        <p:nvSpPr>
          <p:cNvPr id="26" name="Text 24"/>
          <p:cNvSpPr/>
          <p:nvPr/>
        </p:nvSpPr>
        <p:spPr>
          <a:xfrm>
            <a:off x="6620256" y="228600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CPU</a:t>
            </a:r>
            <a:endParaRPr lang="en-US" sz="1100" dirty="0"/>
          </a:p>
        </p:txBody>
      </p:sp>
      <p:sp>
        <p:nvSpPr>
          <p:cNvPr id="27" name="Shape 25"/>
          <p:cNvSpPr/>
          <p:nvPr/>
        </p:nvSpPr>
        <p:spPr>
          <a:xfrm>
            <a:off x="6510528" y="2651760"/>
            <a:ext cx="2011680" cy="292608"/>
          </a:xfrm>
          <a:prstGeom prst="roundRect">
            <a:avLst>
              <a:gd name="adj" fmla="val 15625"/>
            </a:avLst>
          </a:prstGeom>
          <a:solidFill>
            <a:srgbClr val="DDE2E2"/>
          </a:solidFill>
          <a:ln w="12700">
            <a:solidFill>
              <a:srgbClr val="DDE2E2"/>
            </a:solidFill>
            <a:prstDash val="solid"/>
          </a:ln>
        </p:spPr>
      </p:sp>
      <p:sp>
        <p:nvSpPr>
          <p:cNvPr id="28" name="Text 26"/>
          <p:cNvSpPr/>
          <p:nvPr/>
        </p:nvSpPr>
        <p:spPr>
          <a:xfrm>
            <a:off x="6620256" y="265176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Memory</a:t>
            </a:r>
            <a:endParaRPr lang="en-US" sz="1100" dirty="0"/>
          </a:p>
        </p:txBody>
      </p:sp>
      <p:sp>
        <p:nvSpPr>
          <p:cNvPr id="29" name="Shape 27"/>
          <p:cNvSpPr/>
          <p:nvPr/>
        </p:nvSpPr>
        <p:spPr>
          <a:xfrm>
            <a:off x="6510528" y="3017520"/>
            <a:ext cx="2011680" cy="292608"/>
          </a:xfrm>
          <a:prstGeom prst="roundRect">
            <a:avLst>
              <a:gd name="adj" fmla="val 15625"/>
            </a:avLst>
          </a:prstGeom>
          <a:solidFill>
            <a:srgbClr val="00B3E2"/>
          </a:solidFill>
          <a:ln w="12700">
            <a:solidFill>
              <a:srgbClr val="00B3E2"/>
            </a:solidFill>
            <a:prstDash val="solid"/>
          </a:ln>
        </p:spPr>
      </p:sp>
      <p:sp>
        <p:nvSpPr>
          <p:cNvPr id="30" name="Text 28"/>
          <p:cNvSpPr/>
          <p:nvPr/>
        </p:nvSpPr>
        <p:spPr>
          <a:xfrm>
            <a:off x="6620256" y="3017520"/>
            <a:ext cx="1828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vSAN disks</a:t>
            </a:r>
            <a:endParaRPr lang="en-US" sz="1100" dirty="0"/>
          </a:p>
        </p:txBody>
      </p:sp>
      <p:sp>
        <p:nvSpPr>
          <p:cNvPr id="31" name="Shape 29"/>
          <p:cNvSpPr/>
          <p:nvPr/>
        </p:nvSpPr>
        <p:spPr>
          <a:xfrm>
            <a:off x="9107424" y="1691640"/>
            <a:ext cx="2532888" cy="1737360"/>
          </a:xfrm>
          <a:prstGeom prst="roundRect">
            <a:avLst>
              <a:gd name="adj" fmla="val 3158"/>
            </a:avLst>
          </a:prstGeom>
          <a:solidFill>
            <a:srgbClr val="E2F2E8"/>
          </a:solidFill>
          <a:ln w="12700">
            <a:solidFill>
              <a:srgbClr val="E2F2E8"/>
            </a:solidFill>
            <a:prstDash val="solid"/>
          </a:ln>
        </p:spPr>
      </p:sp>
      <p:sp>
        <p:nvSpPr>
          <p:cNvPr id="32" name="Text 30"/>
          <p:cNvSpPr/>
          <p:nvPr/>
        </p:nvSpPr>
        <p:spPr>
          <a:xfrm>
            <a:off x="9363456" y="1874520"/>
            <a:ext cx="2020824"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Host 4 (added)</a:t>
            </a:r>
            <a:endParaRPr lang="en-US" sz="1400" dirty="0"/>
          </a:p>
        </p:txBody>
      </p:sp>
      <p:sp>
        <p:nvSpPr>
          <p:cNvPr id="33" name="Shape 31"/>
          <p:cNvSpPr/>
          <p:nvPr/>
        </p:nvSpPr>
        <p:spPr>
          <a:xfrm>
            <a:off x="9363456" y="2286000"/>
            <a:ext cx="2011680" cy="292608"/>
          </a:xfrm>
          <a:prstGeom prst="roundRect">
            <a:avLst>
              <a:gd name="adj" fmla="val 15625"/>
            </a:avLst>
          </a:prstGeom>
          <a:solidFill>
            <a:srgbClr val="C9E4D6"/>
          </a:solidFill>
          <a:ln w="12700">
            <a:solidFill>
              <a:srgbClr val="C9E4D6"/>
            </a:solidFill>
            <a:prstDash val="solid"/>
          </a:ln>
        </p:spPr>
      </p:sp>
      <p:sp>
        <p:nvSpPr>
          <p:cNvPr id="34" name="Text 32"/>
          <p:cNvSpPr/>
          <p:nvPr/>
        </p:nvSpPr>
        <p:spPr>
          <a:xfrm>
            <a:off x="9473184" y="228600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CPU</a:t>
            </a:r>
            <a:endParaRPr lang="en-US" sz="1100" dirty="0"/>
          </a:p>
        </p:txBody>
      </p:sp>
      <p:sp>
        <p:nvSpPr>
          <p:cNvPr id="35" name="Shape 33"/>
          <p:cNvSpPr/>
          <p:nvPr/>
        </p:nvSpPr>
        <p:spPr>
          <a:xfrm>
            <a:off x="9363456" y="2651760"/>
            <a:ext cx="2011680" cy="292608"/>
          </a:xfrm>
          <a:prstGeom prst="roundRect">
            <a:avLst>
              <a:gd name="adj" fmla="val 15625"/>
            </a:avLst>
          </a:prstGeom>
          <a:solidFill>
            <a:srgbClr val="C9E4D6"/>
          </a:solidFill>
          <a:ln w="12700">
            <a:solidFill>
              <a:srgbClr val="C9E4D6"/>
            </a:solidFill>
            <a:prstDash val="solid"/>
          </a:ln>
        </p:spPr>
      </p:sp>
      <p:sp>
        <p:nvSpPr>
          <p:cNvPr id="36" name="Text 34"/>
          <p:cNvSpPr/>
          <p:nvPr/>
        </p:nvSpPr>
        <p:spPr>
          <a:xfrm>
            <a:off x="9473184" y="2651760"/>
            <a:ext cx="1828800" cy="292608"/>
          </a:xfrm>
          <a:prstGeom prst="rect">
            <a:avLst/>
          </a:prstGeom>
          <a:noFill/>
          <a:ln/>
        </p:spPr>
        <p:txBody>
          <a:bodyPr wrap="square" lIns="0" tIns="0" rIns="0" bIns="0" rtlCol="0" anchor="ctr"/>
          <a:lstStyle/>
          <a:p>
            <a:pPr indent="0" marL="0">
              <a:buNone/>
            </a:pPr>
            <a:r>
              <a:rPr lang="en-US" sz="1100" dirty="0">
                <a:solidFill>
                  <a:srgbClr val="3E3E4B"/>
                </a:solidFill>
                <a:latin typeface="Calibri" pitchFamily="34" charset="0"/>
                <a:ea typeface="Calibri" pitchFamily="34" charset="-122"/>
                <a:cs typeface="Calibri" pitchFamily="34" charset="-120"/>
              </a:rPr>
              <a:t>Memory</a:t>
            </a:r>
            <a:endParaRPr lang="en-US" sz="1100" dirty="0"/>
          </a:p>
        </p:txBody>
      </p:sp>
      <p:sp>
        <p:nvSpPr>
          <p:cNvPr id="37" name="Shape 35"/>
          <p:cNvSpPr/>
          <p:nvPr/>
        </p:nvSpPr>
        <p:spPr>
          <a:xfrm>
            <a:off x="9363456" y="3017520"/>
            <a:ext cx="2011680" cy="292608"/>
          </a:xfrm>
          <a:prstGeom prst="roundRect">
            <a:avLst>
              <a:gd name="adj" fmla="val 15625"/>
            </a:avLst>
          </a:prstGeom>
          <a:solidFill>
            <a:srgbClr val="00B3E2"/>
          </a:solidFill>
          <a:ln w="12700">
            <a:solidFill>
              <a:srgbClr val="00B3E2"/>
            </a:solidFill>
            <a:prstDash val="solid"/>
          </a:ln>
        </p:spPr>
      </p:sp>
      <p:sp>
        <p:nvSpPr>
          <p:cNvPr id="38" name="Text 36"/>
          <p:cNvSpPr/>
          <p:nvPr/>
        </p:nvSpPr>
        <p:spPr>
          <a:xfrm>
            <a:off x="9473184" y="3017520"/>
            <a:ext cx="1828800"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vSAN disks</a:t>
            </a:r>
            <a:endParaRPr lang="en-US" sz="1100" dirty="0"/>
          </a:p>
        </p:txBody>
      </p:sp>
      <p:sp>
        <p:nvSpPr>
          <p:cNvPr id="39" name="Text 37"/>
          <p:cNvSpPr/>
          <p:nvPr/>
        </p:nvSpPr>
        <p:spPr>
          <a:xfrm>
            <a:off x="548640" y="3611880"/>
            <a:ext cx="11064240" cy="329184"/>
          </a:xfrm>
          <a:prstGeom prst="rect">
            <a:avLst/>
          </a:prstGeom>
          <a:noFill/>
          <a:ln/>
        </p:spPr>
        <p:txBody>
          <a:bodyPr wrap="square" lIns="0" tIns="0" rIns="0" bIns="0" rtlCol="0" anchor="ctr"/>
          <a:lstStyle/>
          <a:p>
            <a:pPr indent="0" marL="0">
              <a:buNone/>
            </a:pPr>
            <a:r>
              <a:rPr lang="en-US" sz="1500" b="1" i="1" dirty="0">
                <a:solidFill>
                  <a:srgbClr val="3E3E4B"/>
                </a:solidFill>
                <a:latin typeface="Calibri" pitchFamily="34" charset="0"/>
                <a:ea typeface="Calibri" pitchFamily="34" charset="-122"/>
                <a:cs typeface="Calibri" pitchFamily="34" charset="-120"/>
              </a:rPr>
              <a:t>You wanted the blue row. You paid for all three.</a:t>
            </a:r>
            <a:endParaRPr lang="en-US" sz="1500" dirty="0"/>
          </a:p>
        </p:txBody>
      </p:sp>
      <p:sp>
        <p:nvSpPr>
          <p:cNvPr id="40" name="Shape 38"/>
          <p:cNvSpPr/>
          <p:nvPr/>
        </p:nvSpPr>
        <p:spPr>
          <a:xfrm>
            <a:off x="548640" y="4069080"/>
            <a:ext cx="5486400" cy="1051560"/>
          </a:xfrm>
          <a:prstGeom prst="roundRect">
            <a:avLst>
              <a:gd name="adj" fmla="val 5217"/>
            </a:avLst>
          </a:prstGeom>
          <a:solidFill>
            <a:srgbClr val="EBEDED"/>
          </a:solidFill>
          <a:ln w="12700">
            <a:solidFill>
              <a:srgbClr val="EBEDED"/>
            </a:solidFill>
            <a:prstDash val="solid"/>
          </a:ln>
        </p:spPr>
      </p:sp>
      <p:sp>
        <p:nvSpPr>
          <p:cNvPr id="41" name="Shape 39"/>
          <p:cNvSpPr/>
          <p:nvPr/>
        </p:nvSpPr>
        <p:spPr>
          <a:xfrm>
            <a:off x="804672" y="4402836"/>
            <a:ext cx="384048" cy="384048"/>
          </a:xfrm>
          <a:prstGeom prst="ellipse">
            <a:avLst/>
          </a:prstGeom>
          <a:solidFill>
            <a:srgbClr val="F15D23"/>
          </a:solidFill>
          <a:ln w="12700">
            <a:solidFill>
              <a:srgbClr val="F15D23"/>
            </a:solidFill>
            <a:prstDash val="solid"/>
          </a:ln>
        </p:spPr>
      </p:sp>
      <p:sp>
        <p:nvSpPr>
          <p:cNvPr id="42" name="Text 40"/>
          <p:cNvSpPr/>
          <p:nvPr/>
        </p:nvSpPr>
        <p:spPr>
          <a:xfrm>
            <a:off x="804672" y="44028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3" name="Text 41"/>
          <p:cNvSpPr/>
          <p:nvPr/>
        </p:nvSpPr>
        <p:spPr>
          <a:xfrm>
            <a:off x="1389888" y="4215384"/>
            <a:ext cx="4389120" cy="758952"/>
          </a:xfrm>
          <a:prstGeom prst="rect">
            <a:avLst/>
          </a:prstGeom>
          <a:noFill/>
          <a:ln/>
        </p:spPr>
        <p:txBody>
          <a:bodyPr wrap="square" lIns="0" tIns="0" rIns="0" bIns="0" rtlCol="0" anchor="ctr"/>
          <a:lstStyle/>
          <a:p>
            <a:pPr indent="0" marL="0">
              <a:lnSpc>
                <a:spcPts val="1700"/>
              </a:lnSpc>
              <a:buNone/>
            </a:pPr>
            <a:r>
              <a:rPr lang="en-US" sz="1300" dirty="0">
                <a:solidFill>
                  <a:srgbClr val="3E3E4B"/>
                </a:solidFill>
                <a:latin typeface="Calibri" pitchFamily="34" charset="0"/>
                <a:ea typeface="Calibri" pitchFamily="34" charset="-122"/>
                <a:cs typeface="Calibri" pitchFamily="34" charset="-120"/>
              </a:rPr>
              <a:t>Storage-heavy workloads force the purchase of compute capacity the workload does not require.</a:t>
            </a:r>
            <a:endParaRPr lang="en-US" sz="1300" dirty="0"/>
          </a:p>
        </p:txBody>
      </p:sp>
      <p:sp>
        <p:nvSpPr>
          <p:cNvPr id="44" name="Shape 42"/>
          <p:cNvSpPr/>
          <p:nvPr/>
        </p:nvSpPr>
        <p:spPr>
          <a:xfrm>
            <a:off x="6309360" y="4069080"/>
            <a:ext cx="5303520" cy="1051560"/>
          </a:xfrm>
          <a:prstGeom prst="roundRect">
            <a:avLst>
              <a:gd name="adj" fmla="val 5217"/>
            </a:avLst>
          </a:prstGeom>
          <a:solidFill>
            <a:srgbClr val="E2F2E8"/>
          </a:solidFill>
          <a:ln w="12700">
            <a:solidFill>
              <a:srgbClr val="E2F2E8"/>
            </a:solidFill>
            <a:prstDash val="solid"/>
          </a:ln>
        </p:spPr>
      </p:sp>
      <p:sp>
        <p:nvSpPr>
          <p:cNvPr id="45" name="Shape 43"/>
          <p:cNvSpPr/>
          <p:nvPr/>
        </p:nvSpPr>
        <p:spPr>
          <a:xfrm>
            <a:off x="6565392" y="4402836"/>
            <a:ext cx="384048" cy="384048"/>
          </a:xfrm>
          <a:prstGeom prst="ellipse">
            <a:avLst/>
          </a:prstGeom>
          <a:solidFill>
            <a:srgbClr val="00AD93"/>
          </a:solidFill>
          <a:ln w="12700">
            <a:solidFill>
              <a:srgbClr val="00AD93"/>
            </a:solidFill>
            <a:prstDash val="solid"/>
          </a:ln>
        </p:spPr>
      </p:sp>
      <p:sp>
        <p:nvSpPr>
          <p:cNvPr id="46" name="Text 44"/>
          <p:cNvSpPr/>
          <p:nvPr/>
        </p:nvSpPr>
        <p:spPr>
          <a:xfrm>
            <a:off x="6565392" y="44028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7" name="Text 45"/>
          <p:cNvSpPr/>
          <p:nvPr/>
        </p:nvSpPr>
        <p:spPr>
          <a:xfrm>
            <a:off x="7150608" y="4215384"/>
            <a:ext cx="4206240" cy="758952"/>
          </a:xfrm>
          <a:prstGeom prst="rect">
            <a:avLst/>
          </a:prstGeom>
          <a:noFill/>
          <a:ln/>
        </p:spPr>
        <p:txBody>
          <a:bodyPr wrap="square" lIns="0" tIns="0" rIns="0" bIns="0" rtlCol="0" anchor="ctr"/>
          <a:lstStyle/>
          <a:p>
            <a:pPr indent="0" marL="0">
              <a:lnSpc>
                <a:spcPts val="1700"/>
              </a:lnSpc>
              <a:buNone/>
            </a:pPr>
            <a:r>
              <a:rPr lang="en-US" sz="1300" dirty="0">
                <a:solidFill>
                  <a:srgbClr val="3E3E4B"/>
                </a:solidFill>
                <a:latin typeface="Calibri" pitchFamily="34" charset="0"/>
                <a:ea typeface="Calibri" pitchFamily="34" charset="-122"/>
                <a:cs typeface="Calibri" pitchFamily="34" charset="-120"/>
              </a:rPr>
              <a:t>Microsoft supports external datastores specifically so storage can expand without scaling the cluster.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WHAT WE WILL COVER</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The storage-scaling playbook</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Exhaust the cheap options before you buy anything.</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48640" y="1783080"/>
            <a:ext cx="420624" cy="420624"/>
          </a:xfrm>
          <a:prstGeom prst="ellipse">
            <a:avLst/>
          </a:prstGeom>
          <a:solidFill>
            <a:srgbClr val="00B3E2"/>
          </a:solidFill>
          <a:ln w="12700">
            <a:solidFill>
              <a:srgbClr val="00B3E2"/>
            </a:solidFill>
            <a:prstDash val="solid"/>
          </a:ln>
        </p:spPr>
      </p:sp>
      <p:sp>
        <p:nvSpPr>
          <p:cNvPr id="8" name="Text 6"/>
          <p:cNvSpPr/>
          <p:nvPr/>
        </p:nvSpPr>
        <p:spPr>
          <a:xfrm>
            <a:off x="548640" y="1783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52144" y="176479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Optimize native vSAN</a:t>
            </a:r>
            <a:endParaRPr lang="en-US" sz="1500" dirty="0"/>
          </a:p>
        </p:txBody>
      </p:sp>
      <p:sp>
        <p:nvSpPr>
          <p:cNvPr id="10" name="Text 8"/>
          <p:cNvSpPr/>
          <p:nvPr/>
        </p:nvSpPr>
        <p:spPr>
          <a:xfrm>
            <a:off x="1152144" y="2057400"/>
            <a:ext cx="4745736" cy="96012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Confirm architecture, host type, raw capacity, and assigned policies before spending.</a:t>
            </a:r>
            <a:endParaRPr lang="en-US" sz="1250" dirty="0"/>
          </a:p>
        </p:txBody>
      </p:sp>
      <p:sp>
        <p:nvSpPr>
          <p:cNvPr id="11" name="Shape 9"/>
          <p:cNvSpPr/>
          <p:nvPr/>
        </p:nvSpPr>
        <p:spPr>
          <a:xfrm>
            <a:off x="6309360" y="1783080"/>
            <a:ext cx="420624" cy="420624"/>
          </a:xfrm>
          <a:prstGeom prst="ellipse">
            <a:avLst/>
          </a:prstGeom>
          <a:solidFill>
            <a:srgbClr val="00B3E2"/>
          </a:solidFill>
          <a:ln w="12700">
            <a:solidFill>
              <a:srgbClr val="00B3E2"/>
            </a:solidFill>
            <a:prstDash val="solid"/>
          </a:ln>
        </p:spPr>
      </p:sp>
      <p:sp>
        <p:nvSpPr>
          <p:cNvPr id="12" name="Text 10"/>
          <p:cNvSpPr/>
          <p:nvPr/>
        </p:nvSpPr>
        <p:spPr>
          <a:xfrm>
            <a:off x="6309360" y="1783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912864" y="176479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Validate storage policies</a:t>
            </a:r>
            <a:endParaRPr lang="en-US" sz="1500" dirty="0"/>
          </a:p>
        </p:txBody>
      </p:sp>
      <p:sp>
        <p:nvSpPr>
          <p:cNvPr id="14" name="Text 12"/>
          <p:cNvSpPr/>
          <p:nvPr/>
        </p:nvSpPr>
        <p:spPr>
          <a:xfrm>
            <a:off x="6912864" y="2057400"/>
            <a:ext cx="4745736" cy="96012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Policies do not follow cluster growth. Reassess FTT whenever host count changes.</a:t>
            </a:r>
            <a:endParaRPr lang="en-US" sz="1250" dirty="0"/>
          </a:p>
        </p:txBody>
      </p:sp>
      <p:sp>
        <p:nvSpPr>
          <p:cNvPr id="15" name="Shape 13"/>
          <p:cNvSpPr/>
          <p:nvPr/>
        </p:nvSpPr>
        <p:spPr>
          <a:xfrm>
            <a:off x="548640" y="3264408"/>
            <a:ext cx="420624" cy="420624"/>
          </a:xfrm>
          <a:prstGeom prst="ellipse">
            <a:avLst/>
          </a:prstGeom>
          <a:solidFill>
            <a:srgbClr val="00B3E2"/>
          </a:solidFill>
          <a:ln w="12700">
            <a:solidFill>
              <a:srgbClr val="00B3E2"/>
            </a:solidFill>
            <a:prstDash val="solid"/>
          </a:ln>
        </p:spPr>
      </p:sp>
      <p:sp>
        <p:nvSpPr>
          <p:cNvPr id="16" name="Text 14"/>
          <p:cNvSpPr/>
          <p:nvPr/>
        </p:nvSpPr>
        <p:spPr>
          <a:xfrm>
            <a:off x="548640" y="3264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152144" y="3246120"/>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Reclaim deleted blocks</a:t>
            </a:r>
            <a:endParaRPr lang="en-US" sz="1500" dirty="0"/>
          </a:p>
        </p:txBody>
      </p:sp>
      <p:sp>
        <p:nvSpPr>
          <p:cNvPr id="18" name="Text 16"/>
          <p:cNvSpPr/>
          <p:nvPr/>
        </p:nvSpPr>
        <p:spPr>
          <a:xfrm>
            <a:off x="1152144" y="3538728"/>
            <a:ext cx="4745736" cy="96012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TRIM/UNMAP returns guest-deleted capacity, with prerequisites and a power cycle.</a:t>
            </a:r>
            <a:endParaRPr lang="en-US" sz="1250" dirty="0"/>
          </a:p>
        </p:txBody>
      </p:sp>
      <p:sp>
        <p:nvSpPr>
          <p:cNvPr id="19" name="Shape 17"/>
          <p:cNvSpPr/>
          <p:nvPr/>
        </p:nvSpPr>
        <p:spPr>
          <a:xfrm>
            <a:off x="6309360" y="3264408"/>
            <a:ext cx="420624" cy="420624"/>
          </a:xfrm>
          <a:prstGeom prst="ellipse">
            <a:avLst/>
          </a:prstGeom>
          <a:solidFill>
            <a:srgbClr val="00B3E2"/>
          </a:solidFill>
          <a:ln w="12700">
            <a:solidFill>
              <a:srgbClr val="00B3E2"/>
            </a:solidFill>
            <a:prstDash val="solid"/>
          </a:ln>
        </p:spPr>
      </p:sp>
      <p:sp>
        <p:nvSpPr>
          <p:cNvPr id="20" name="Text 18"/>
          <p:cNvSpPr/>
          <p:nvPr/>
        </p:nvSpPr>
        <p:spPr>
          <a:xfrm>
            <a:off x="6309360" y="32644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912864" y="3246120"/>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Remove unassociated objects</a:t>
            </a:r>
            <a:endParaRPr lang="en-US" sz="1500" dirty="0"/>
          </a:p>
        </p:txBody>
      </p:sp>
      <p:sp>
        <p:nvSpPr>
          <p:cNvPr id="22" name="Text 20"/>
          <p:cNvSpPr/>
          <p:nvPr/>
        </p:nvSpPr>
        <p:spPr>
          <a:xfrm>
            <a:off x="6912864" y="3538728"/>
            <a:ext cx="4745736" cy="96012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Find orphaned vSAN objects consuming capacity and blocking cluster operations.</a:t>
            </a:r>
            <a:endParaRPr lang="en-US" sz="1250" dirty="0"/>
          </a:p>
        </p:txBody>
      </p:sp>
      <p:sp>
        <p:nvSpPr>
          <p:cNvPr id="23" name="Shape 21"/>
          <p:cNvSpPr/>
          <p:nvPr/>
        </p:nvSpPr>
        <p:spPr>
          <a:xfrm>
            <a:off x="548640" y="4745736"/>
            <a:ext cx="420624" cy="420624"/>
          </a:xfrm>
          <a:prstGeom prst="ellipse">
            <a:avLst/>
          </a:prstGeom>
          <a:solidFill>
            <a:srgbClr val="2DCCD3"/>
          </a:solidFill>
          <a:ln w="12700">
            <a:solidFill>
              <a:srgbClr val="2DCCD3"/>
            </a:solidFill>
            <a:prstDash val="solid"/>
          </a:ln>
        </p:spPr>
      </p:sp>
      <p:sp>
        <p:nvSpPr>
          <p:cNvPr id="24" name="Text 22"/>
          <p:cNvSpPr/>
          <p:nvPr/>
        </p:nvSpPr>
        <p:spPr>
          <a:xfrm>
            <a:off x="548640" y="4745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p:nvPr/>
        </p:nvSpPr>
        <p:spPr>
          <a:xfrm>
            <a:off x="1152144" y="4727448"/>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Add independent storage</a:t>
            </a:r>
            <a:endParaRPr lang="en-US" sz="1500" dirty="0"/>
          </a:p>
        </p:txBody>
      </p:sp>
      <p:sp>
        <p:nvSpPr>
          <p:cNvPr id="26" name="Text 24"/>
          <p:cNvSpPr/>
          <p:nvPr/>
        </p:nvSpPr>
        <p:spPr>
          <a:xfrm>
            <a:off x="1152144" y="5020056"/>
            <a:ext cx="4745736" cy="96012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Azure NetApp Files, Azure Elastic SAN, or Pure Storage, attached as datastores.</a:t>
            </a:r>
            <a:endParaRPr lang="en-US" sz="1250" dirty="0"/>
          </a:p>
        </p:txBody>
      </p:sp>
      <p:sp>
        <p:nvSpPr>
          <p:cNvPr id="27" name="Shape 25"/>
          <p:cNvSpPr/>
          <p:nvPr/>
        </p:nvSpPr>
        <p:spPr>
          <a:xfrm>
            <a:off x="6309360" y="4745736"/>
            <a:ext cx="420624" cy="420624"/>
          </a:xfrm>
          <a:prstGeom prst="ellipse">
            <a:avLst/>
          </a:prstGeom>
          <a:solidFill>
            <a:srgbClr val="2DCCD3"/>
          </a:solidFill>
          <a:ln w="12700">
            <a:solidFill>
              <a:srgbClr val="2DCCD3"/>
            </a:solidFill>
            <a:prstDash val="solid"/>
          </a:ln>
        </p:spPr>
      </p:sp>
      <p:sp>
        <p:nvSpPr>
          <p:cNvPr id="28" name="Text 26"/>
          <p:cNvSpPr/>
          <p:nvPr/>
        </p:nvSpPr>
        <p:spPr>
          <a:xfrm>
            <a:off x="6309360" y="4745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p:nvPr/>
        </p:nvSpPr>
        <p:spPr>
          <a:xfrm>
            <a:off x="6912864" y="4727448"/>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Protect what you moved</a:t>
            </a:r>
            <a:endParaRPr lang="en-US" sz="1500" dirty="0"/>
          </a:p>
        </p:txBody>
      </p:sp>
      <p:sp>
        <p:nvSpPr>
          <p:cNvPr id="30" name="Text 28"/>
          <p:cNvSpPr/>
          <p:nvPr/>
        </p:nvSpPr>
        <p:spPr>
          <a:xfrm>
            <a:off x="6912864" y="5020056"/>
            <a:ext cx="4745736" cy="96012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Back up and restore externally stored VMs and VMDKs with documented procedures.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BEFORE YOU PLAN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Verify these against your deployed SKU</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Published figures shift between generations. Four items to confirm before capacity planning.</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48640" y="1783080"/>
            <a:ext cx="5349240" cy="1920240"/>
          </a:xfrm>
          <a:prstGeom prst="roundRect">
            <a:avLst>
              <a:gd name="adj" fmla="val 2857"/>
            </a:avLst>
          </a:prstGeom>
          <a:solidFill>
            <a:srgbClr val="FDF3E0"/>
          </a:solidFill>
          <a:ln w="12700">
            <a:solidFill>
              <a:srgbClr val="FDF3E0"/>
            </a:solidFill>
            <a:prstDash val="solid"/>
          </a:ln>
        </p:spPr>
      </p:sp>
      <p:sp>
        <p:nvSpPr>
          <p:cNvPr id="8" name="Text 6"/>
          <p:cNvSpPr/>
          <p:nvPr/>
        </p:nvSpPr>
        <p:spPr>
          <a:xfrm>
            <a:off x="804672" y="1965960"/>
            <a:ext cx="483717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CONFIRM</a:t>
            </a:r>
            <a:endParaRPr lang="en-US" sz="950" dirty="0"/>
          </a:p>
        </p:txBody>
      </p:sp>
      <p:sp>
        <p:nvSpPr>
          <p:cNvPr id="9" name="Text 7"/>
          <p:cNvSpPr/>
          <p:nvPr/>
        </p:nvSpPr>
        <p:spPr>
          <a:xfrm>
            <a:off x="804672" y="2240280"/>
            <a:ext cx="48371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Host specifications</a:t>
            </a:r>
            <a:endParaRPr lang="en-US" sz="1500" dirty="0"/>
          </a:p>
        </p:txBody>
      </p:sp>
      <p:sp>
        <p:nvSpPr>
          <p:cNvPr id="10" name="Text 8"/>
          <p:cNvSpPr/>
          <p:nvPr/>
        </p:nvSpPr>
        <p:spPr>
          <a:xfrm>
            <a:off x="804672" y="2606040"/>
            <a:ext cx="4837176" cy="9509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storage-concepts page shows AV36 as 1.6 TB cache plus 15.4 TB raw capacity. The hardware table lists 3.2 TB cache and 15.20 TB capacity. Validate the deployed host generation and SKU.</a:t>
            </a:r>
            <a:endParaRPr lang="en-US" sz="1250" dirty="0"/>
          </a:p>
        </p:txBody>
      </p:sp>
      <p:sp>
        <p:nvSpPr>
          <p:cNvPr id="11" name="Shape 9"/>
          <p:cNvSpPr/>
          <p:nvPr/>
        </p:nvSpPr>
        <p:spPr>
          <a:xfrm>
            <a:off x="6263640" y="1783080"/>
            <a:ext cx="5349240" cy="1920240"/>
          </a:xfrm>
          <a:prstGeom prst="roundRect">
            <a:avLst>
              <a:gd name="adj" fmla="val 2857"/>
            </a:avLst>
          </a:prstGeom>
          <a:solidFill>
            <a:srgbClr val="FDF3E0"/>
          </a:solidFill>
          <a:ln w="12700">
            <a:solidFill>
              <a:srgbClr val="FDF3E0"/>
            </a:solidFill>
            <a:prstDash val="solid"/>
          </a:ln>
        </p:spPr>
      </p:sp>
      <p:sp>
        <p:nvSpPr>
          <p:cNvPr id="12" name="Text 10"/>
          <p:cNvSpPr/>
          <p:nvPr/>
        </p:nvSpPr>
        <p:spPr>
          <a:xfrm>
            <a:off x="6519672" y="1965960"/>
            <a:ext cx="483717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CONFIRM</a:t>
            </a:r>
            <a:endParaRPr lang="en-US" sz="950" dirty="0"/>
          </a:p>
        </p:txBody>
      </p:sp>
      <p:sp>
        <p:nvSpPr>
          <p:cNvPr id="13" name="Text 11"/>
          <p:cNvSpPr/>
          <p:nvPr/>
        </p:nvSpPr>
        <p:spPr>
          <a:xfrm>
            <a:off x="6519672" y="2240280"/>
            <a:ext cx="48371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ExpressRoute throughput</a:t>
            </a:r>
            <a:endParaRPr lang="en-US" sz="1500" dirty="0"/>
          </a:p>
        </p:txBody>
      </p:sp>
      <p:sp>
        <p:nvSpPr>
          <p:cNvPr id="14" name="Text 12"/>
          <p:cNvSpPr/>
          <p:nvPr/>
        </p:nvSpPr>
        <p:spPr>
          <a:xfrm>
            <a:off x="6519672" y="2606040"/>
            <a:ext cx="4837176" cy="9509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Current Elastic SAN guidance cites 1,280 Mbps for an UltraPerformance gateway example. Size gateways from current documentation, not from older session material.</a:t>
            </a:r>
            <a:endParaRPr lang="en-US" sz="1250" dirty="0"/>
          </a:p>
        </p:txBody>
      </p:sp>
      <p:sp>
        <p:nvSpPr>
          <p:cNvPr id="15" name="Shape 13"/>
          <p:cNvSpPr/>
          <p:nvPr/>
        </p:nvSpPr>
        <p:spPr>
          <a:xfrm>
            <a:off x="548640" y="3931920"/>
            <a:ext cx="5349240" cy="1920240"/>
          </a:xfrm>
          <a:prstGeom prst="roundRect">
            <a:avLst>
              <a:gd name="adj" fmla="val 2857"/>
            </a:avLst>
          </a:prstGeom>
          <a:solidFill>
            <a:srgbClr val="FDF3E0"/>
          </a:solidFill>
          <a:ln w="12700">
            <a:solidFill>
              <a:srgbClr val="FDF3E0"/>
            </a:solidFill>
            <a:prstDash val="solid"/>
          </a:ln>
        </p:spPr>
      </p:sp>
      <p:sp>
        <p:nvSpPr>
          <p:cNvPr id="16" name="Text 14"/>
          <p:cNvSpPr/>
          <p:nvPr/>
        </p:nvSpPr>
        <p:spPr>
          <a:xfrm>
            <a:off x="804672" y="4114800"/>
            <a:ext cx="483717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CONFIRM</a:t>
            </a:r>
            <a:endParaRPr lang="en-US" sz="950" dirty="0"/>
          </a:p>
        </p:txBody>
      </p:sp>
      <p:sp>
        <p:nvSpPr>
          <p:cNvPr id="17" name="Text 15"/>
          <p:cNvSpPr/>
          <p:nvPr/>
        </p:nvSpPr>
        <p:spPr>
          <a:xfrm>
            <a:off x="804672" y="4389120"/>
            <a:ext cx="48371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FTT-2 guidance</a:t>
            </a:r>
            <a:endParaRPr lang="en-US" sz="1500" dirty="0"/>
          </a:p>
        </p:txBody>
      </p:sp>
      <p:sp>
        <p:nvSpPr>
          <p:cNvPr id="18" name="Text 16"/>
          <p:cNvSpPr/>
          <p:nvPr/>
        </p:nvSpPr>
        <p:spPr>
          <a:xfrm>
            <a:off x="804672" y="4754880"/>
            <a:ext cx="4837176" cy="9509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Clusters with more than six hosts should use FTT-2 for the referenced SLA guidance. Storage policies do not update automatically as the cluster grows.</a:t>
            </a:r>
            <a:endParaRPr lang="en-US" sz="1250" dirty="0"/>
          </a:p>
        </p:txBody>
      </p:sp>
      <p:sp>
        <p:nvSpPr>
          <p:cNvPr id="19" name="Shape 17"/>
          <p:cNvSpPr/>
          <p:nvPr/>
        </p:nvSpPr>
        <p:spPr>
          <a:xfrm>
            <a:off x="6263640" y="3931920"/>
            <a:ext cx="5349240" cy="1920240"/>
          </a:xfrm>
          <a:prstGeom prst="roundRect">
            <a:avLst>
              <a:gd name="adj" fmla="val 2857"/>
            </a:avLst>
          </a:prstGeom>
          <a:solidFill>
            <a:srgbClr val="FDF3E0"/>
          </a:solidFill>
          <a:ln w="12700">
            <a:solidFill>
              <a:srgbClr val="FDF3E0"/>
            </a:solidFill>
            <a:prstDash val="solid"/>
          </a:ln>
        </p:spPr>
      </p:sp>
      <p:sp>
        <p:nvSpPr>
          <p:cNvPr id="20" name="Text 18"/>
          <p:cNvSpPr/>
          <p:nvPr/>
        </p:nvSpPr>
        <p:spPr>
          <a:xfrm>
            <a:off x="6519672" y="4114800"/>
            <a:ext cx="483717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CONFIRM</a:t>
            </a:r>
            <a:endParaRPr lang="en-US" sz="950" dirty="0"/>
          </a:p>
        </p:txBody>
      </p:sp>
      <p:sp>
        <p:nvSpPr>
          <p:cNvPr id="21" name="Text 19"/>
          <p:cNvSpPr/>
          <p:nvPr/>
        </p:nvSpPr>
        <p:spPr>
          <a:xfrm>
            <a:off x="6519672" y="4389120"/>
            <a:ext cx="48371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nconnect=4 for ANF</a:t>
            </a:r>
            <a:endParaRPr lang="en-US" sz="1500" dirty="0"/>
          </a:p>
        </p:txBody>
      </p:sp>
      <p:sp>
        <p:nvSpPr>
          <p:cNvPr id="22" name="Text 20"/>
          <p:cNvSpPr/>
          <p:nvPr/>
        </p:nvSpPr>
        <p:spPr>
          <a:xfrm>
            <a:off x="6519672" y="4754880"/>
            <a:ext cx="4837176" cy="9509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Now documented as generally available, fixed at four connections, and non-disruptive on Gen 1 and Gen 2. A support ticket is no longer described as a requirement.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00B3E2"/>
          </a:solidFill>
          <a:ln w="12700">
            <a:solidFill>
              <a:srgbClr val="00B3E2"/>
            </a:solidFill>
            <a:prstDash val="solid"/>
          </a:ln>
        </p:spPr>
      </p:sp>
      <p:sp>
        <p:nvSpPr>
          <p:cNvPr id="3" name="Text 1"/>
          <p:cNvSpPr/>
          <p:nvPr/>
        </p:nvSpPr>
        <p:spPr>
          <a:xfrm>
            <a:off x="82296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1</a:t>
            </a:r>
            <a:endParaRPr lang="en-US" sz="4600" dirty="0"/>
          </a:p>
        </p:txBody>
      </p:sp>
      <p:sp>
        <p:nvSpPr>
          <p:cNvPr id="4" name="Text 2"/>
          <p:cNvSpPr/>
          <p:nvPr/>
        </p:nvSpPr>
        <p:spPr>
          <a:xfrm>
            <a:off x="2606040" y="2377440"/>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Native vSAN foundations</a:t>
            </a:r>
            <a:endParaRPr lang="en-US" sz="3400" dirty="0"/>
          </a:p>
        </p:txBody>
      </p:sp>
      <p:sp>
        <p:nvSpPr>
          <p:cNvPr id="5" name="Text 3"/>
          <p:cNvSpPr/>
          <p:nvPr/>
        </p:nvSpPr>
        <p:spPr>
          <a:xfrm>
            <a:off x="2651760" y="3200400"/>
            <a:ext cx="8686800" cy="548640"/>
          </a:xfrm>
          <a:prstGeom prst="rect">
            <a:avLst/>
          </a:prstGeom>
          <a:noFill/>
          <a:ln/>
        </p:spPr>
        <p:txBody>
          <a:bodyPr wrap="square" lIns="0" tIns="0" rIns="0" bIns="0" rtlCol="0" anchor="ctr"/>
          <a:lstStyle/>
          <a:p>
            <a:pPr indent="0" marL="0">
              <a:buNone/>
            </a:pPr>
            <a:r>
              <a:rPr lang="en-US" sz="1500" dirty="0">
                <a:solidFill>
                  <a:srgbClr val="B2E8F6"/>
                </a:solidFill>
                <a:latin typeface="Calibri" pitchFamily="34" charset="0"/>
                <a:ea typeface="Calibri" pitchFamily="34" charset="-122"/>
                <a:cs typeface="Calibri" pitchFamily="34" charset="-120"/>
              </a:rPr>
              <a:t>Architecture, capacity math, and the policies that quietly consume it</a:t>
            </a:r>
            <a:endParaRPr lang="en-US" sz="1500" dirty="0"/>
          </a:p>
        </p:txBody>
      </p:sp>
      <p:sp>
        <p:nvSpPr>
          <p:cNvPr id="6" name="Text 4"/>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9A9AA8"/>
                </a:solidFill>
                <a:latin typeface="Calibri" pitchFamily="34" charset="0"/>
                <a:ea typeface="Calibri" pitchFamily="34" charset="-122"/>
                <a:cs typeface="Calibri" pitchFamily="34" charset="-120"/>
              </a:rPr>
              <a:t>Quisitive  |  Scaling AVS Storage Without New Nodes</a:t>
            </a:r>
            <a:endParaRPr lang="en-US" sz="900" dirty="0"/>
          </a:p>
        </p:txBody>
      </p:sp>
      <p:sp>
        <p:nvSpPr>
          <p:cNvPr id="7" name="Text 5"/>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NATIVE ARCHITECTURE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Every AVS private cloud ships with vSAN</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One vSAN datastore per cluster, built from the local disks of every host in it.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548640" y="1783080"/>
            <a:ext cx="5943600" cy="32918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4A4A57"/>
                </a:solidFill>
                <a:latin typeface="Calibri" pitchFamily="34" charset="0"/>
                <a:ea typeface="Calibri" pitchFamily="34" charset="-122"/>
                <a:cs typeface="Calibri" pitchFamily="34" charset="-120"/>
              </a:rPr>
              <a:t>Every AVS private cloud includes VMware vSAN for workload storage.</a:t>
            </a:r>
            <a:endParaRPr lang="en-US" sz="1450" dirty="0"/>
          </a:p>
          <a:p>
            <a:pPr marL="342900" indent="-342900">
              <a:spcAft>
                <a:spcPts val="900"/>
              </a:spcAft>
              <a:buSzPct val="100000"/>
              <a:buChar char="•"/>
            </a:pPr>
            <a:r>
              <a:rPr lang="en-US" sz="1450" dirty="0">
                <a:solidFill>
                  <a:srgbClr val="4A4A57"/>
                </a:solidFill>
                <a:latin typeface="Calibri" pitchFamily="34" charset="0"/>
                <a:ea typeface="Calibri" pitchFamily="34" charset="-122"/>
                <a:cs typeface="Calibri" pitchFamily="34" charset="-120"/>
              </a:rPr>
              <a:t>Each cluster has its own vSAN datastore. Datastores are not shared across clusters.</a:t>
            </a:r>
            <a:endParaRPr lang="en-US" sz="1450" dirty="0"/>
          </a:p>
          <a:p>
            <a:pPr marL="342900" indent="-342900">
              <a:spcAft>
                <a:spcPts val="900"/>
              </a:spcAft>
              <a:buSzPct val="100000"/>
              <a:buChar char="•"/>
            </a:pPr>
            <a:r>
              <a:rPr lang="en-US" sz="1450" dirty="0">
                <a:solidFill>
                  <a:srgbClr val="4A4A57"/>
                </a:solidFill>
                <a:latin typeface="Calibri" pitchFamily="34" charset="0"/>
                <a:ea typeface="Calibri" pitchFamily="34" charset="-122"/>
                <a:cs typeface="Calibri" pitchFamily="34" charset="-120"/>
              </a:rPr>
              <a:t>Local disks from every host in the cluster are claimed by the cluster-wide datastore.</a:t>
            </a:r>
            <a:endParaRPr lang="en-US" sz="1450" dirty="0"/>
          </a:p>
          <a:p>
            <a:pPr marL="342900" indent="-342900">
              <a:spcAft>
                <a:spcPts val="900"/>
              </a:spcAft>
              <a:buSzPct val="100000"/>
              <a:buChar char="•"/>
            </a:pPr>
            <a:r>
              <a:rPr lang="en-US" sz="1450" dirty="0">
                <a:solidFill>
                  <a:srgbClr val="4A4A57"/>
                </a:solidFill>
                <a:latin typeface="Calibri" pitchFamily="34" charset="0"/>
                <a:ea typeface="Calibri" pitchFamily="34" charset="-122"/>
                <a:cs typeface="Calibri" pitchFamily="34" charset="-120"/>
              </a:rPr>
              <a:t>Native datastore capacity therefore grows only as hosts are added.</a:t>
            </a:r>
            <a:endParaRPr lang="en-US" sz="1450" dirty="0"/>
          </a:p>
          <a:p>
            <a:pPr marL="342900" indent="-342900">
              <a:spcAft>
                <a:spcPts val="900"/>
              </a:spcAft>
              <a:buSzPct val="100000"/>
              <a:buChar char="•"/>
            </a:pPr>
            <a:r>
              <a:rPr lang="en-US" sz="1450" dirty="0">
                <a:solidFill>
                  <a:srgbClr val="4A4A57"/>
                </a:solidFill>
                <a:latin typeface="Calibri" pitchFamily="34" charset="0"/>
                <a:ea typeface="Calibri" pitchFamily="34" charset="-122"/>
                <a:cs typeface="Calibri" pitchFamily="34" charset="-120"/>
              </a:rPr>
              <a:t>OSA disk groups use a cache tier that services active I/O before destaging to the capacity tier.</a:t>
            </a:r>
            <a:endParaRPr lang="en-US" sz="1450" dirty="0"/>
          </a:p>
          <a:p>
            <a:pPr marL="342900" indent="-342900">
              <a:spcAft>
                <a:spcPts val="900"/>
              </a:spcAft>
              <a:buSzPct val="100000"/>
              <a:buChar char="•"/>
            </a:pPr>
            <a:r>
              <a:rPr lang="en-US" sz="1450" dirty="0">
                <a:solidFill>
                  <a:srgbClr val="4A4A57"/>
                </a:solidFill>
                <a:latin typeface="Calibri" pitchFamily="34" charset="0"/>
                <a:ea typeface="Calibri" pitchFamily="34" charset="-122"/>
                <a:cs typeface="Calibri" pitchFamily="34" charset="-120"/>
              </a:rPr>
              <a:t>In OSA, deduplication and compression are applied as data moves from cache to capacity.</a:t>
            </a:r>
            <a:endParaRPr lang="en-US" sz="1450" dirty="0"/>
          </a:p>
        </p:txBody>
      </p:sp>
      <p:sp>
        <p:nvSpPr>
          <p:cNvPr id="8" name="Shape 6"/>
          <p:cNvSpPr/>
          <p:nvPr/>
        </p:nvSpPr>
        <p:spPr>
          <a:xfrm>
            <a:off x="6858000" y="1783080"/>
            <a:ext cx="4754880" cy="1691640"/>
          </a:xfrm>
          <a:prstGeom prst="roundRect">
            <a:avLst>
              <a:gd name="adj" fmla="val 3243"/>
            </a:avLst>
          </a:prstGeom>
          <a:solidFill>
            <a:srgbClr val="E5F7FC"/>
          </a:solidFill>
          <a:ln w="12700">
            <a:solidFill>
              <a:srgbClr val="E5F7FC"/>
            </a:solidFill>
            <a:prstDash val="solid"/>
          </a:ln>
        </p:spPr>
      </p:sp>
      <p:sp>
        <p:nvSpPr>
          <p:cNvPr id="9" name="Text 7"/>
          <p:cNvSpPr/>
          <p:nvPr/>
        </p:nvSpPr>
        <p:spPr>
          <a:xfrm>
            <a:off x="7114032" y="1965960"/>
            <a:ext cx="42428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CACHE TIER</a:t>
            </a:r>
            <a:endParaRPr lang="en-US" sz="950" dirty="0"/>
          </a:p>
        </p:txBody>
      </p:sp>
      <p:sp>
        <p:nvSpPr>
          <p:cNvPr id="10" name="Text 8"/>
          <p:cNvSpPr/>
          <p:nvPr/>
        </p:nvSpPr>
        <p:spPr>
          <a:xfrm>
            <a:off x="7114032" y="2240280"/>
            <a:ext cx="424281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Absorbs active I/O</a:t>
            </a:r>
            <a:endParaRPr lang="en-US" sz="1500" dirty="0"/>
          </a:p>
        </p:txBody>
      </p:sp>
      <p:sp>
        <p:nvSpPr>
          <p:cNvPr id="11" name="Text 9"/>
          <p:cNvSpPr/>
          <p:nvPr/>
        </p:nvSpPr>
        <p:spPr>
          <a:xfrm>
            <a:off x="7114032" y="2606040"/>
            <a:ext cx="424281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Write-intent buffer in front of the capacity tier. Sized per disk group, not per VM.</a:t>
            </a:r>
            <a:endParaRPr lang="en-US" sz="1250" dirty="0"/>
          </a:p>
        </p:txBody>
      </p:sp>
      <p:sp>
        <p:nvSpPr>
          <p:cNvPr id="12" name="Shape 10"/>
          <p:cNvSpPr/>
          <p:nvPr/>
        </p:nvSpPr>
        <p:spPr>
          <a:xfrm>
            <a:off x="6858000" y="3657600"/>
            <a:ext cx="4754880" cy="1691640"/>
          </a:xfrm>
          <a:prstGeom prst="roundRect">
            <a:avLst>
              <a:gd name="adj" fmla="val 3243"/>
            </a:avLst>
          </a:prstGeom>
          <a:solidFill>
            <a:srgbClr val="EBEDED"/>
          </a:solidFill>
          <a:ln w="12700">
            <a:solidFill>
              <a:srgbClr val="EBEDED"/>
            </a:solidFill>
            <a:prstDash val="solid"/>
          </a:ln>
        </p:spPr>
      </p:sp>
      <p:sp>
        <p:nvSpPr>
          <p:cNvPr id="13" name="Text 11"/>
          <p:cNvSpPr/>
          <p:nvPr/>
        </p:nvSpPr>
        <p:spPr>
          <a:xfrm>
            <a:off x="7114032" y="3840480"/>
            <a:ext cx="424281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CAPACITY TIER</a:t>
            </a:r>
            <a:endParaRPr lang="en-US" sz="950" dirty="0"/>
          </a:p>
        </p:txBody>
      </p:sp>
      <p:sp>
        <p:nvSpPr>
          <p:cNvPr id="14" name="Text 12"/>
          <p:cNvSpPr/>
          <p:nvPr/>
        </p:nvSpPr>
        <p:spPr>
          <a:xfrm>
            <a:off x="7114032" y="4114800"/>
            <a:ext cx="424281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Holds the data</a:t>
            </a:r>
            <a:endParaRPr lang="en-US" sz="1500" dirty="0"/>
          </a:p>
        </p:txBody>
      </p:sp>
      <p:sp>
        <p:nvSpPr>
          <p:cNvPr id="15" name="Text 13"/>
          <p:cNvSpPr/>
          <p:nvPr/>
        </p:nvSpPr>
        <p:spPr>
          <a:xfrm>
            <a:off x="7114032" y="4480560"/>
            <a:ext cx="424281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Destaged, deduplicated, and compressed. This is the tier your capacity reports are measuring.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CAPACITY MATH</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Raw capacity is not usable capacity</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The documented AV36 example, and why it overstates what your workloads can consume.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48640" y="1737360"/>
            <a:ext cx="3520440" cy="1828800"/>
          </a:xfrm>
          <a:prstGeom prst="roundRect">
            <a:avLst>
              <a:gd name="adj" fmla="val 3000"/>
            </a:avLst>
          </a:prstGeom>
          <a:solidFill>
            <a:srgbClr val="3E3E4B"/>
          </a:solidFill>
          <a:ln w="12700">
            <a:solidFill>
              <a:srgbClr val="3E3E4B"/>
            </a:solidFill>
            <a:prstDash val="solid"/>
          </a:ln>
        </p:spPr>
      </p:sp>
      <p:sp>
        <p:nvSpPr>
          <p:cNvPr id="8" name="Text 6"/>
          <p:cNvSpPr/>
          <p:nvPr/>
        </p:nvSpPr>
        <p:spPr>
          <a:xfrm>
            <a:off x="731520" y="1938528"/>
            <a:ext cx="3154680" cy="777240"/>
          </a:xfrm>
          <a:prstGeom prst="rect">
            <a:avLst/>
          </a:prstGeom>
          <a:noFill/>
          <a:ln/>
        </p:spPr>
        <p:txBody>
          <a:bodyPr wrap="square" lIns="0" tIns="0" rIns="0" bIns="0" rtlCol="0" anchor="ctr"/>
          <a:lstStyle/>
          <a:p>
            <a:pPr algn="ctr" indent="0" marL="0">
              <a:buNone/>
            </a:pPr>
            <a:r>
              <a:rPr lang="en-US" sz="4000" b="1" dirty="0">
                <a:solidFill>
                  <a:srgbClr val="00B3E2"/>
                </a:solidFill>
                <a:latin typeface="Calibri" pitchFamily="34" charset="0"/>
                <a:ea typeface="Calibri" pitchFamily="34" charset="-122"/>
                <a:cs typeface="Calibri" pitchFamily="34" charset="-120"/>
              </a:rPr>
              <a:t>1.6 TB</a:t>
            </a:r>
            <a:endParaRPr lang="en-US" sz="4000" dirty="0"/>
          </a:p>
        </p:txBody>
      </p:sp>
      <p:sp>
        <p:nvSpPr>
          <p:cNvPr id="9" name="Text 7"/>
          <p:cNvSpPr/>
          <p:nvPr/>
        </p:nvSpPr>
        <p:spPr>
          <a:xfrm>
            <a:off x="749808" y="2724912"/>
            <a:ext cx="3118104" cy="73152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NVMe cache per host in the documented AV36 example</a:t>
            </a:r>
            <a:endParaRPr lang="en-US" sz="1200" dirty="0"/>
          </a:p>
        </p:txBody>
      </p:sp>
      <p:sp>
        <p:nvSpPr>
          <p:cNvPr id="10" name="Shape 8"/>
          <p:cNvSpPr/>
          <p:nvPr/>
        </p:nvSpPr>
        <p:spPr>
          <a:xfrm>
            <a:off x="4315968" y="1737360"/>
            <a:ext cx="3520440" cy="1828800"/>
          </a:xfrm>
          <a:prstGeom prst="roundRect">
            <a:avLst>
              <a:gd name="adj" fmla="val 3000"/>
            </a:avLst>
          </a:prstGeom>
          <a:solidFill>
            <a:srgbClr val="3E3E4B"/>
          </a:solidFill>
          <a:ln w="12700">
            <a:solidFill>
              <a:srgbClr val="3E3E4B"/>
            </a:solidFill>
            <a:prstDash val="solid"/>
          </a:ln>
        </p:spPr>
      </p:sp>
      <p:sp>
        <p:nvSpPr>
          <p:cNvPr id="11" name="Text 9"/>
          <p:cNvSpPr/>
          <p:nvPr/>
        </p:nvSpPr>
        <p:spPr>
          <a:xfrm>
            <a:off x="4498848" y="1938528"/>
            <a:ext cx="3154680" cy="777240"/>
          </a:xfrm>
          <a:prstGeom prst="rect">
            <a:avLst/>
          </a:prstGeom>
          <a:noFill/>
          <a:ln/>
        </p:spPr>
        <p:txBody>
          <a:bodyPr wrap="square" lIns="0" tIns="0" rIns="0" bIns="0" rtlCol="0" anchor="ctr"/>
          <a:lstStyle/>
          <a:p>
            <a:pPr algn="ctr" indent="0" marL="0">
              <a:buNone/>
            </a:pPr>
            <a:r>
              <a:rPr lang="en-US" sz="4000" b="1" dirty="0">
                <a:solidFill>
                  <a:srgbClr val="00B3E2"/>
                </a:solidFill>
                <a:latin typeface="Calibri" pitchFamily="34" charset="0"/>
                <a:ea typeface="Calibri" pitchFamily="34" charset="-122"/>
                <a:cs typeface="Calibri" pitchFamily="34" charset="-120"/>
              </a:rPr>
              <a:t>15.4 TB</a:t>
            </a:r>
            <a:endParaRPr lang="en-US" sz="4000" dirty="0"/>
          </a:p>
        </p:txBody>
      </p:sp>
      <p:sp>
        <p:nvSpPr>
          <p:cNvPr id="12" name="Text 10"/>
          <p:cNvSpPr/>
          <p:nvPr/>
        </p:nvSpPr>
        <p:spPr>
          <a:xfrm>
            <a:off x="4517136" y="2724912"/>
            <a:ext cx="3118104" cy="73152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Raw SSD capacity per host in the same example</a:t>
            </a:r>
            <a:endParaRPr lang="en-US" sz="1200" dirty="0"/>
          </a:p>
        </p:txBody>
      </p:sp>
      <p:sp>
        <p:nvSpPr>
          <p:cNvPr id="13" name="Shape 11"/>
          <p:cNvSpPr/>
          <p:nvPr/>
        </p:nvSpPr>
        <p:spPr>
          <a:xfrm>
            <a:off x="8083296" y="1737360"/>
            <a:ext cx="3529584" cy="1828800"/>
          </a:xfrm>
          <a:prstGeom prst="roundRect">
            <a:avLst>
              <a:gd name="adj" fmla="val 3000"/>
            </a:avLst>
          </a:prstGeom>
          <a:solidFill>
            <a:srgbClr val="3E3E4B"/>
          </a:solidFill>
          <a:ln w="12700">
            <a:solidFill>
              <a:srgbClr val="3E3E4B"/>
            </a:solidFill>
            <a:prstDash val="solid"/>
          </a:ln>
        </p:spPr>
      </p:sp>
      <p:sp>
        <p:nvSpPr>
          <p:cNvPr id="14" name="Text 12"/>
          <p:cNvSpPr/>
          <p:nvPr/>
        </p:nvSpPr>
        <p:spPr>
          <a:xfrm>
            <a:off x="8266176" y="1938528"/>
            <a:ext cx="3163824" cy="777240"/>
          </a:xfrm>
          <a:prstGeom prst="rect">
            <a:avLst/>
          </a:prstGeom>
          <a:noFill/>
          <a:ln/>
        </p:spPr>
        <p:txBody>
          <a:bodyPr wrap="square" lIns="0" tIns="0" rIns="0" bIns="0" rtlCol="0" anchor="ctr"/>
          <a:lstStyle/>
          <a:p>
            <a:pPr algn="ctr" indent="0" marL="0">
              <a:buNone/>
            </a:pPr>
            <a:r>
              <a:rPr lang="en-US" sz="4000" b="1" dirty="0">
                <a:solidFill>
                  <a:srgbClr val="2DCCD3"/>
                </a:solidFill>
                <a:latin typeface="Calibri" pitchFamily="34" charset="0"/>
                <a:ea typeface="Calibri" pitchFamily="34" charset="-122"/>
                <a:cs typeface="Calibri" pitchFamily="34" charset="-120"/>
              </a:rPr>
              <a:t>61.6 TB</a:t>
            </a:r>
            <a:endParaRPr lang="en-US" sz="4000" dirty="0"/>
          </a:p>
        </p:txBody>
      </p:sp>
      <p:sp>
        <p:nvSpPr>
          <p:cNvPr id="15" name="Text 13"/>
          <p:cNvSpPr/>
          <p:nvPr/>
        </p:nvSpPr>
        <p:spPr>
          <a:xfrm>
            <a:off x="8284464" y="2724912"/>
            <a:ext cx="3127248" cy="73152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Raw capacity across four hosts before any overhead</a:t>
            </a:r>
            <a:endParaRPr lang="en-US" sz="1200" dirty="0"/>
          </a:p>
        </p:txBody>
      </p:sp>
      <p:sp>
        <p:nvSpPr>
          <p:cNvPr id="16" name="Shape 14"/>
          <p:cNvSpPr/>
          <p:nvPr/>
        </p:nvSpPr>
        <p:spPr>
          <a:xfrm>
            <a:off x="548640" y="3794760"/>
            <a:ext cx="5486400" cy="1600200"/>
          </a:xfrm>
          <a:prstGeom prst="roundRect">
            <a:avLst>
              <a:gd name="adj" fmla="val 3429"/>
            </a:avLst>
          </a:prstGeom>
          <a:solidFill>
            <a:srgbClr val="FDF3E0"/>
          </a:solidFill>
          <a:ln w="12700">
            <a:solidFill>
              <a:srgbClr val="FDF3E0"/>
            </a:solidFill>
            <a:prstDash val="solid"/>
          </a:ln>
        </p:spPr>
      </p:sp>
      <p:sp>
        <p:nvSpPr>
          <p:cNvPr id="17" name="Text 15"/>
          <p:cNvSpPr/>
          <p:nvPr/>
        </p:nvSpPr>
        <p:spPr>
          <a:xfrm>
            <a:off x="804672" y="3977640"/>
            <a:ext cx="497433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GENERATION DRIFT</a:t>
            </a:r>
            <a:endParaRPr lang="en-US" sz="950" dirty="0"/>
          </a:p>
        </p:txBody>
      </p:sp>
      <p:sp>
        <p:nvSpPr>
          <p:cNvPr id="18" name="Text 16"/>
          <p:cNvSpPr/>
          <p:nvPr/>
        </p:nvSpPr>
        <p:spPr>
          <a:xfrm>
            <a:off x="804672" y="425196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Use your SKU, not the example</a:t>
            </a:r>
            <a:endParaRPr lang="en-US" sz="1500" dirty="0"/>
          </a:p>
        </p:txBody>
      </p:sp>
      <p:sp>
        <p:nvSpPr>
          <p:cNvPr id="19" name="Text 17"/>
          <p:cNvSpPr/>
          <p:nvPr/>
        </p:nvSpPr>
        <p:spPr>
          <a:xfrm>
            <a:off x="804672" y="4617720"/>
            <a:ext cx="4974336" cy="6309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current hardware table lists AV36 as 3.2 TB cache and 15.20 TB capacity. Architects should plan from the specifications of the deployed generation.</a:t>
            </a:r>
            <a:endParaRPr lang="en-US" sz="1250" dirty="0"/>
          </a:p>
        </p:txBody>
      </p:sp>
      <p:sp>
        <p:nvSpPr>
          <p:cNvPr id="20" name="Shape 18"/>
          <p:cNvSpPr/>
          <p:nvPr/>
        </p:nvSpPr>
        <p:spPr>
          <a:xfrm>
            <a:off x="6126480" y="3794760"/>
            <a:ext cx="5486400" cy="1600200"/>
          </a:xfrm>
          <a:prstGeom prst="roundRect">
            <a:avLst>
              <a:gd name="adj" fmla="val 3429"/>
            </a:avLst>
          </a:prstGeom>
          <a:solidFill>
            <a:srgbClr val="E5F7FC"/>
          </a:solidFill>
          <a:ln w="12700">
            <a:solidFill>
              <a:srgbClr val="E5F7FC"/>
            </a:solidFill>
            <a:prstDash val="solid"/>
          </a:ln>
        </p:spPr>
      </p:sp>
      <p:sp>
        <p:nvSpPr>
          <p:cNvPr id="21" name="Text 19"/>
          <p:cNvSpPr/>
          <p:nvPr/>
        </p:nvSpPr>
        <p:spPr>
          <a:xfrm>
            <a:off x="6382512" y="3977640"/>
            <a:ext cx="49743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OVERHEAD</a:t>
            </a:r>
            <a:endParaRPr lang="en-US" sz="950" dirty="0"/>
          </a:p>
        </p:txBody>
      </p:sp>
      <p:sp>
        <p:nvSpPr>
          <p:cNvPr id="22" name="Text 20"/>
          <p:cNvSpPr/>
          <p:nvPr/>
        </p:nvSpPr>
        <p:spPr>
          <a:xfrm>
            <a:off x="6382512" y="425196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What consumes the difference</a:t>
            </a:r>
            <a:endParaRPr lang="en-US" sz="1500" dirty="0"/>
          </a:p>
        </p:txBody>
      </p:sp>
      <p:sp>
        <p:nvSpPr>
          <p:cNvPr id="23" name="Text 21"/>
          <p:cNvSpPr/>
          <p:nvPr/>
        </p:nvSpPr>
        <p:spPr>
          <a:xfrm>
            <a:off x="6400800" y="4617720"/>
            <a:ext cx="4937760" cy="63093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Storage policy replicas and parity</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vSAN metadata</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Operational reserve</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Fault-tolerance requirements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KNOW YOUR ARCHITECTURE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vSAN OSA versus ESA</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Operational guidance diverges. Identify the generation before applying any of it.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48640" y="1737360"/>
            <a:ext cx="5486400" cy="3657600"/>
          </a:xfrm>
          <a:prstGeom prst="roundRect">
            <a:avLst>
              <a:gd name="adj" fmla="val 1500"/>
            </a:avLst>
          </a:prstGeom>
          <a:solidFill>
            <a:srgbClr val="EBEDED"/>
          </a:solidFill>
          <a:ln w="12700">
            <a:solidFill>
              <a:srgbClr val="EBEDED"/>
            </a:solidFill>
            <a:prstDash val="solid"/>
          </a:ln>
        </p:spPr>
      </p:sp>
      <p:sp>
        <p:nvSpPr>
          <p:cNvPr id="8" name="Text 6"/>
          <p:cNvSpPr/>
          <p:nvPr/>
        </p:nvSpPr>
        <p:spPr>
          <a:xfrm>
            <a:off x="822960" y="1920240"/>
            <a:ext cx="4937760" cy="329184"/>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Original Storage Architecture</a:t>
            </a:r>
            <a:endParaRPr lang="en-US" sz="1800" dirty="0"/>
          </a:p>
        </p:txBody>
      </p:sp>
      <p:sp>
        <p:nvSpPr>
          <p:cNvPr id="9" name="Text 7"/>
          <p:cNvSpPr/>
          <p:nvPr/>
        </p:nvSpPr>
        <p:spPr>
          <a:xfrm>
            <a:off x="822960" y="2249424"/>
            <a:ext cx="4937760" cy="274320"/>
          </a:xfrm>
          <a:prstGeom prst="rect">
            <a:avLst/>
          </a:prstGeom>
          <a:noFill/>
          <a:ln/>
        </p:spPr>
        <p:txBody>
          <a:bodyPr wrap="square" lIns="0" tIns="0" rIns="0" bIns="0" rtlCol="0" anchor="ctr"/>
          <a:lstStyle/>
          <a:p>
            <a:pPr indent="0" marL="0">
              <a:buNone/>
            </a:pPr>
            <a:r>
              <a:rPr lang="en-US" sz="1200" dirty="0">
                <a:solidFill>
                  <a:srgbClr val="6E6E7A"/>
                </a:solidFill>
                <a:latin typeface="Calibri" pitchFamily="34" charset="0"/>
                <a:ea typeface="Calibri" pitchFamily="34" charset="-122"/>
                <a:cs typeface="Calibri" pitchFamily="34" charset="-120"/>
              </a:rPr>
              <a:t>Gen 1 private clouds</a:t>
            </a:r>
            <a:endParaRPr lang="en-US" sz="1200" dirty="0"/>
          </a:p>
        </p:txBody>
      </p:sp>
      <p:sp>
        <p:nvSpPr>
          <p:cNvPr id="10" name="Text 8"/>
          <p:cNvSpPr/>
          <p:nvPr/>
        </p:nvSpPr>
        <p:spPr>
          <a:xfrm>
            <a:off x="841248" y="2651760"/>
            <a:ext cx="4937760" cy="25603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AV36, AV36P, and AV52 are listed with OSA.</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Distinct cache tier and capacity tier per disk group.</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Deduplication and compression are on by default.</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TRIM/UNMAP is disabled by default.</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OSA-specific Run Commands are documented separately as Configure VMware vSAN (OSA).</a:t>
            </a:r>
            <a:endParaRPr lang="en-US" sz="1300" dirty="0"/>
          </a:p>
        </p:txBody>
      </p:sp>
      <p:sp>
        <p:nvSpPr>
          <p:cNvPr id="11" name="Shape 9"/>
          <p:cNvSpPr/>
          <p:nvPr/>
        </p:nvSpPr>
        <p:spPr>
          <a:xfrm>
            <a:off x="6309360" y="1737360"/>
            <a:ext cx="5303520" cy="3657600"/>
          </a:xfrm>
          <a:prstGeom prst="roundRect">
            <a:avLst>
              <a:gd name="adj" fmla="val 1500"/>
            </a:avLst>
          </a:prstGeom>
          <a:solidFill>
            <a:srgbClr val="3E3E4B"/>
          </a:solidFill>
          <a:ln w="12700">
            <a:solidFill>
              <a:srgbClr val="3E3E4B"/>
            </a:solidFill>
            <a:prstDash val="solid"/>
          </a:ln>
        </p:spPr>
      </p:sp>
      <p:sp>
        <p:nvSpPr>
          <p:cNvPr id="12" name="Text 10"/>
          <p:cNvSpPr/>
          <p:nvPr/>
        </p:nvSpPr>
        <p:spPr>
          <a:xfrm>
            <a:off x="6583680" y="1920240"/>
            <a:ext cx="47548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Express Storage Architecture</a:t>
            </a:r>
            <a:endParaRPr lang="en-US" sz="1800" dirty="0"/>
          </a:p>
        </p:txBody>
      </p:sp>
      <p:sp>
        <p:nvSpPr>
          <p:cNvPr id="13" name="Text 11"/>
          <p:cNvSpPr/>
          <p:nvPr/>
        </p:nvSpPr>
        <p:spPr>
          <a:xfrm>
            <a:off x="6583680" y="2249424"/>
            <a:ext cx="4754880" cy="274320"/>
          </a:xfrm>
          <a:prstGeom prst="rect">
            <a:avLst/>
          </a:prstGeom>
          <a:noFill/>
          <a:ln/>
        </p:spPr>
        <p:txBody>
          <a:bodyPr wrap="square" lIns="0" tIns="0" rIns="0" bIns="0" rtlCol="0" anchor="ctr"/>
          <a:lstStyle/>
          <a:p>
            <a:pPr indent="0" marL="0">
              <a:buNone/>
            </a:pPr>
            <a:r>
              <a:rPr lang="en-US" sz="1200" dirty="0">
                <a:solidFill>
                  <a:srgbClr val="B2E8F6"/>
                </a:solidFill>
                <a:latin typeface="Calibri" pitchFamily="34" charset="0"/>
                <a:ea typeface="Calibri" pitchFamily="34" charset="-122"/>
                <a:cs typeface="Calibri" pitchFamily="34" charset="-120"/>
              </a:rPr>
              <a:t>Default for AV48 and AV64 Gen 2</a:t>
            </a:r>
            <a:endParaRPr lang="en-US" sz="1200" dirty="0"/>
          </a:p>
        </p:txBody>
      </p:sp>
      <p:sp>
        <p:nvSpPr>
          <p:cNvPr id="14" name="Text 12"/>
          <p:cNvSpPr/>
          <p:nvPr/>
        </p:nvSpPr>
        <p:spPr>
          <a:xfrm>
            <a:off x="6601968" y="2651760"/>
            <a:ext cx="4754880" cy="256032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Gen 2 private clouds use ESA and deploy directly inside an Azure virtual network.</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The hardware table lists no separate cache tier for AV48 and AV64 Gen 2.</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Storage-policy host-count prerequisites differ, including ESA-optimized RAID-5 and RAID-6.</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OSA Run Command guidance does not apply.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POLICIES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The default policy and what it costs you</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RAID-1 FTT-1 with thin provisioning, applied until someone explicitly changes it.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1737360"/>
            <a:ext cx="3520440" cy="1554480"/>
          </a:xfrm>
          <a:prstGeom prst="roundRect">
            <a:avLst>
              <a:gd name="adj" fmla="val 3529"/>
            </a:avLst>
          </a:prstGeom>
          <a:solidFill>
            <a:srgbClr val="3E3E4B"/>
          </a:solidFill>
          <a:ln w="12700">
            <a:solidFill>
              <a:srgbClr val="3E3E4B"/>
            </a:solidFill>
            <a:prstDash val="solid"/>
          </a:ln>
        </p:spPr>
      </p:sp>
      <p:sp>
        <p:nvSpPr>
          <p:cNvPr id="8" name="Text 6"/>
          <p:cNvSpPr/>
          <p:nvPr/>
        </p:nvSpPr>
        <p:spPr>
          <a:xfrm>
            <a:off x="804672" y="1920240"/>
            <a:ext cx="30083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DEFAULT POLICY</a:t>
            </a:r>
            <a:endParaRPr lang="en-US" sz="950" dirty="0"/>
          </a:p>
        </p:txBody>
      </p:sp>
      <p:sp>
        <p:nvSpPr>
          <p:cNvPr id="9" name="Text 7"/>
          <p:cNvSpPr/>
          <p:nvPr/>
        </p:nvSpPr>
        <p:spPr>
          <a:xfrm>
            <a:off x="804672" y="2194560"/>
            <a:ext cx="3008376" cy="310896"/>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R1FTT1</a:t>
            </a:r>
            <a:endParaRPr lang="en-US" sz="2600" dirty="0"/>
          </a:p>
        </p:txBody>
      </p:sp>
      <p:sp>
        <p:nvSpPr>
          <p:cNvPr id="10" name="Text 8"/>
          <p:cNvSpPr/>
          <p:nvPr/>
        </p:nvSpPr>
        <p:spPr>
          <a:xfrm>
            <a:off x="804672" y="2560320"/>
            <a:ext cx="3008376" cy="585216"/>
          </a:xfrm>
          <a:prstGeom prst="rect">
            <a:avLst/>
          </a:prstGeom>
          <a:noFill/>
          <a:ln/>
        </p:spPr>
        <p:txBody>
          <a:bodyPr wrap="square" lIns="0" tIns="0" rIns="0" bIns="0" rtlCol="0" anchor="t"/>
          <a:lstStyle/>
          <a:p>
            <a:pPr indent="0" marL="0">
              <a:lnSpc>
                <a:spcPts val="1650"/>
              </a:lnSpc>
              <a:buNone/>
            </a:pPr>
            <a:r>
              <a:rPr lang="en-US" sz="1250" dirty="0">
                <a:solidFill>
                  <a:srgbClr val="D9D9E0"/>
                </a:solidFill>
                <a:latin typeface="Calibri" pitchFamily="34" charset="0"/>
                <a:ea typeface="Calibri" pitchFamily="34" charset="-122"/>
                <a:cs typeface="Calibri" pitchFamily="34" charset="-120"/>
              </a:rPr>
              <a:t>RAID-1 mirroring that tolerates one host failure, with thin provisioning.</a:t>
            </a:r>
            <a:endParaRPr lang="en-US" sz="1250" dirty="0"/>
          </a:p>
        </p:txBody>
      </p:sp>
      <p:sp>
        <p:nvSpPr>
          <p:cNvPr id="11" name="Shape 9"/>
          <p:cNvSpPr/>
          <p:nvPr/>
        </p:nvSpPr>
        <p:spPr>
          <a:xfrm>
            <a:off x="4315968" y="1737360"/>
            <a:ext cx="3520440" cy="1554480"/>
          </a:xfrm>
          <a:prstGeom prst="roundRect">
            <a:avLst>
              <a:gd name="adj" fmla="val 3529"/>
            </a:avLst>
          </a:prstGeom>
          <a:solidFill>
            <a:srgbClr val="E5F7FC"/>
          </a:solidFill>
          <a:ln w="12700">
            <a:solidFill>
              <a:srgbClr val="E5F7FC"/>
            </a:solidFill>
            <a:prstDash val="solid"/>
          </a:ln>
        </p:spPr>
      </p:sp>
      <p:sp>
        <p:nvSpPr>
          <p:cNvPr id="12" name="Text 10"/>
          <p:cNvSpPr/>
          <p:nvPr/>
        </p:nvSpPr>
        <p:spPr>
          <a:xfrm>
            <a:off x="4572000" y="1920240"/>
            <a:ext cx="30083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MINIMUM HOSTS</a:t>
            </a:r>
            <a:endParaRPr lang="en-US" sz="950" dirty="0"/>
          </a:p>
        </p:txBody>
      </p:sp>
      <p:sp>
        <p:nvSpPr>
          <p:cNvPr id="13" name="Text 11"/>
          <p:cNvSpPr/>
          <p:nvPr/>
        </p:nvSpPr>
        <p:spPr>
          <a:xfrm>
            <a:off x="4572000" y="2194560"/>
            <a:ext cx="3008376" cy="310896"/>
          </a:xfrm>
          <a:prstGeom prst="rect">
            <a:avLst/>
          </a:prstGeom>
          <a:noFill/>
          <a:ln/>
        </p:spPr>
        <p:txBody>
          <a:bodyPr wrap="square" lIns="0" tIns="0" rIns="0" bIns="0" rtlCol="0" anchor="ctr"/>
          <a:lstStyle/>
          <a:p>
            <a:pPr indent="0" marL="0">
              <a:buNone/>
            </a:pPr>
            <a:r>
              <a:rPr lang="en-US" sz="2600" b="1" dirty="0">
                <a:solidFill>
                  <a:srgbClr val="3E3E4B"/>
                </a:solidFill>
                <a:latin typeface="Calibri" pitchFamily="34" charset="0"/>
                <a:ea typeface="Calibri" pitchFamily="34" charset="-122"/>
                <a:cs typeface="Calibri" pitchFamily="34" charset="-120"/>
              </a:rPr>
              <a:t>3</a:t>
            </a:r>
            <a:endParaRPr lang="en-US" sz="2600" dirty="0"/>
          </a:p>
        </p:txBody>
      </p:sp>
      <p:sp>
        <p:nvSpPr>
          <p:cNvPr id="14" name="Text 12"/>
          <p:cNvSpPr/>
          <p:nvPr/>
        </p:nvSpPr>
        <p:spPr>
          <a:xfrm>
            <a:off x="4572000" y="2560320"/>
            <a:ext cx="3008376" cy="58521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RAID-1 FTT-1 requires at least three hosts in the cluster.</a:t>
            </a:r>
            <a:endParaRPr lang="en-US" sz="1250" dirty="0"/>
          </a:p>
        </p:txBody>
      </p:sp>
      <p:sp>
        <p:nvSpPr>
          <p:cNvPr id="15" name="Shape 13"/>
          <p:cNvSpPr/>
          <p:nvPr/>
        </p:nvSpPr>
        <p:spPr>
          <a:xfrm>
            <a:off x="8083296" y="1737360"/>
            <a:ext cx="3529584" cy="1554480"/>
          </a:xfrm>
          <a:prstGeom prst="roundRect">
            <a:avLst>
              <a:gd name="adj" fmla="val 3529"/>
            </a:avLst>
          </a:prstGeom>
          <a:solidFill>
            <a:srgbClr val="E5F7FC"/>
          </a:solidFill>
          <a:ln w="12700">
            <a:solidFill>
              <a:srgbClr val="E5F7FC"/>
            </a:solidFill>
            <a:prstDash val="solid"/>
          </a:ln>
        </p:spPr>
      </p:sp>
      <p:sp>
        <p:nvSpPr>
          <p:cNvPr id="16" name="Text 14"/>
          <p:cNvSpPr/>
          <p:nvPr/>
        </p:nvSpPr>
        <p:spPr>
          <a:xfrm>
            <a:off x="8339328" y="1920240"/>
            <a:ext cx="3017520"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APPLIED WHEN</a:t>
            </a:r>
            <a:endParaRPr lang="en-US" sz="950" dirty="0"/>
          </a:p>
        </p:txBody>
      </p:sp>
      <p:sp>
        <p:nvSpPr>
          <p:cNvPr id="17" name="Text 15"/>
          <p:cNvSpPr/>
          <p:nvPr/>
        </p:nvSpPr>
        <p:spPr>
          <a:xfrm>
            <a:off x="8339328" y="2194560"/>
            <a:ext cx="301752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Always, by default</a:t>
            </a:r>
            <a:endParaRPr lang="en-US" sz="1700" dirty="0"/>
          </a:p>
        </p:txBody>
      </p:sp>
      <p:sp>
        <p:nvSpPr>
          <p:cNvPr id="18" name="Text 16"/>
          <p:cNvSpPr/>
          <p:nvPr/>
        </p:nvSpPr>
        <p:spPr>
          <a:xfrm>
            <a:off x="8339328" y="2560320"/>
            <a:ext cx="3017520" cy="58521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default remains in force unless an administrator changes it or applies another policy.</a:t>
            </a:r>
            <a:endParaRPr lang="en-US" sz="1250" dirty="0"/>
          </a:p>
        </p:txBody>
      </p:sp>
      <p:sp>
        <p:nvSpPr>
          <p:cNvPr id="19" name="Text 17"/>
          <p:cNvSpPr/>
          <p:nvPr/>
        </p:nvSpPr>
        <p:spPr>
          <a:xfrm>
            <a:off x="548640" y="356616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How FTT-1 actually protects the workload</a:t>
            </a:r>
            <a:endParaRPr lang="en-US" sz="1700" dirty="0"/>
          </a:p>
        </p:txBody>
      </p:sp>
      <p:sp>
        <p:nvSpPr>
          <p:cNvPr id="20" name="Text 18"/>
          <p:cNvSpPr/>
          <p:nvPr/>
        </p:nvSpPr>
        <p:spPr>
          <a:xfrm>
            <a:off x="566928" y="3977640"/>
            <a:ext cx="5577840" cy="146304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Sufficient redundancy is maintained to tolerate one host failure in a three-host cluster.</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Microsoft monitors hardware failures and replaces failed hardware as part of operating the service.</a:t>
            </a:r>
            <a:endParaRPr lang="en-US" sz="1350" dirty="0"/>
          </a:p>
        </p:txBody>
      </p:sp>
      <p:sp>
        <p:nvSpPr>
          <p:cNvPr id="21" name="Shape 19"/>
          <p:cNvSpPr/>
          <p:nvPr/>
        </p:nvSpPr>
        <p:spPr>
          <a:xfrm>
            <a:off x="6309360" y="3931920"/>
            <a:ext cx="5303520" cy="1371600"/>
          </a:xfrm>
          <a:prstGeom prst="roundRect">
            <a:avLst>
              <a:gd name="adj" fmla="val 4000"/>
            </a:avLst>
          </a:prstGeom>
          <a:solidFill>
            <a:srgbClr val="EBEDED"/>
          </a:solidFill>
          <a:ln w="12700">
            <a:solidFill>
              <a:srgbClr val="EBEDED"/>
            </a:solidFill>
            <a:prstDash val="solid"/>
          </a:ln>
        </p:spPr>
      </p:sp>
      <p:sp>
        <p:nvSpPr>
          <p:cNvPr id="22" name="Shape 20"/>
          <p:cNvSpPr/>
          <p:nvPr/>
        </p:nvSpPr>
        <p:spPr>
          <a:xfrm>
            <a:off x="6565392" y="4425696"/>
            <a:ext cx="384048" cy="384048"/>
          </a:xfrm>
          <a:prstGeom prst="ellipse">
            <a:avLst/>
          </a:prstGeom>
          <a:solidFill>
            <a:srgbClr val="00B3E2"/>
          </a:solidFill>
          <a:ln w="12700">
            <a:solidFill>
              <a:srgbClr val="00B3E2"/>
            </a:solidFill>
            <a:prstDash val="solid"/>
          </a:ln>
        </p:spPr>
      </p:sp>
      <p:sp>
        <p:nvSpPr>
          <p:cNvPr id="23" name="Text 21"/>
          <p:cNvSpPr/>
          <p:nvPr/>
        </p:nvSpPr>
        <p:spPr>
          <a:xfrm>
            <a:off x="6565392" y="44256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24" name="Text 22"/>
          <p:cNvSpPr/>
          <p:nvPr/>
        </p:nvSpPr>
        <p:spPr>
          <a:xfrm>
            <a:off x="7150608" y="4078224"/>
            <a:ext cx="4206240" cy="1078992"/>
          </a:xfrm>
          <a:prstGeom prst="rect">
            <a:avLst/>
          </a:prstGeom>
          <a:noFill/>
          <a:ln/>
        </p:spPr>
        <p:txBody>
          <a:bodyPr wrap="square" lIns="0" tIns="0" rIns="0" bIns="0" rtlCol="0" anchor="ctr"/>
          <a:lstStyle/>
          <a:p>
            <a:pPr indent="0" marL="0">
              <a:lnSpc>
                <a:spcPts val="1700"/>
              </a:lnSpc>
              <a:buNone/>
            </a:pPr>
            <a:r>
              <a:rPr lang="en-US" sz="1300" dirty="0">
                <a:solidFill>
                  <a:srgbClr val="3E3E4B"/>
                </a:solidFill>
                <a:latin typeface="Calibri" pitchFamily="34" charset="0"/>
                <a:ea typeface="Calibri" pitchFamily="34" charset="-122"/>
                <a:cs typeface="Calibri" pitchFamily="34" charset="-120"/>
              </a:rPr>
              <a:t>Capacity planning must use the policy assigned to each object, not the datastore's raw capacity figure.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CAPACITY MATH</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Mirroring consumes capacity you already bought</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Conceptual illustration for a 100 GB virtual disk. Validate supported RAID and FTT combinations for your cluster.</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11</a:t>
            </a:r>
            <a:endParaRPr lang="en-US" sz="900" dirty="0"/>
          </a:p>
        </p:txBody>
      </p:sp>
      <p:graphicFrame>
        <p:nvGraphicFramePr>
          <p:cNvPr id="7" name="Chart 0" descr=""/>
          <p:cNvGraphicFramePr/>
          <p:nvPr/>
        </p:nvGraphicFramePr>
        <p:xfrm>
          <a:off x="548640" y="178308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406640" y="1783080"/>
            <a:ext cx="4206240" cy="1691640"/>
          </a:xfrm>
          <a:prstGeom prst="roundRect">
            <a:avLst>
              <a:gd name="adj" fmla="val 3243"/>
            </a:avLst>
          </a:prstGeom>
          <a:solidFill>
            <a:srgbClr val="E5F7FC"/>
          </a:solidFill>
          <a:ln w="12700">
            <a:solidFill>
              <a:srgbClr val="E5F7FC"/>
            </a:solidFill>
            <a:prstDash val="solid"/>
          </a:ln>
        </p:spPr>
      </p:sp>
      <p:sp>
        <p:nvSpPr>
          <p:cNvPr id="9" name="Text 6"/>
          <p:cNvSpPr/>
          <p:nvPr/>
        </p:nvSpPr>
        <p:spPr>
          <a:xfrm>
            <a:off x="7662672" y="1965960"/>
            <a:ext cx="36941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WHAT THIS MEANS</a:t>
            </a:r>
            <a:endParaRPr lang="en-US" sz="950" dirty="0"/>
          </a:p>
        </p:txBody>
      </p:sp>
      <p:sp>
        <p:nvSpPr>
          <p:cNvPr id="10" name="Text 7"/>
          <p:cNvSpPr/>
          <p:nvPr/>
        </p:nvSpPr>
        <p:spPr>
          <a:xfrm>
            <a:off x="7662672" y="2240280"/>
            <a:ext cx="36941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Usable is a fraction of raw</a:t>
            </a:r>
            <a:endParaRPr lang="en-US" sz="1500" dirty="0"/>
          </a:p>
        </p:txBody>
      </p:sp>
      <p:sp>
        <p:nvSpPr>
          <p:cNvPr id="11" name="Text 8"/>
          <p:cNvSpPr/>
          <p:nvPr/>
        </p:nvSpPr>
        <p:spPr>
          <a:xfrm>
            <a:off x="7662672" y="2606040"/>
            <a:ext cx="369417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A 61.6 TB raw cluster under a two-copy mirror holds far less workload data than the number suggests.</a:t>
            </a:r>
            <a:endParaRPr lang="en-US" sz="1250" dirty="0"/>
          </a:p>
        </p:txBody>
      </p:sp>
      <p:sp>
        <p:nvSpPr>
          <p:cNvPr id="12" name="Shape 9"/>
          <p:cNvSpPr/>
          <p:nvPr/>
        </p:nvSpPr>
        <p:spPr>
          <a:xfrm>
            <a:off x="7406640" y="3657600"/>
            <a:ext cx="4206240" cy="1691640"/>
          </a:xfrm>
          <a:prstGeom prst="roundRect">
            <a:avLst>
              <a:gd name="adj" fmla="val 3243"/>
            </a:avLst>
          </a:prstGeom>
          <a:solidFill>
            <a:srgbClr val="EBEDED"/>
          </a:solidFill>
          <a:ln w="12700">
            <a:solidFill>
              <a:srgbClr val="EBEDED"/>
            </a:solidFill>
            <a:prstDash val="solid"/>
          </a:ln>
        </p:spPr>
      </p:sp>
      <p:sp>
        <p:nvSpPr>
          <p:cNvPr id="13" name="Text 10"/>
          <p:cNvSpPr/>
          <p:nvPr/>
        </p:nvSpPr>
        <p:spPr>
          <a:xfrm>
            <a:off x="7662672" y="3840480"/>
            <a:ext cx="369417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PLAN PER OBJECT</a:t>
            </a:r>
            <a:endParaRPr lang="en-US" sz="950" dirty="0"/>
          </a:p>
        </p:txBody>
      </p:sp>
      <p:sp>
        <p:nvSpPr>
          <p:cNvPr id="14" name="Text 11"/>
          <p:cNvSpPr/>
          <p:nvPr/>
        </p:nvSpPr>
        <p:spPr>
          <a:xfrm>
            <a:off x="7662672" y="4114800"/>
            <a:ext cx="36941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Policy drives cost</a:t>
            </a:r>
            <a:endParaRPr lang="en-US" sz="1500" dirty="0"/>
          </a:p>
        </p:txBody>
      </p:sp>
      <p:sp>
        <p:nvSpPr>
          <p:cNvPr id="15" name="Text 12"/>
          <p:cNvSpPr/>
          <p:nvPr/>
        </p:nvSpPr>
        <p:spPr>
          <a:xfrm>
            <a:off x="7662672" y="4480560"/>
            <a:ext cx="369417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Different VMs can carry different policies. Size from the assigned policy mix, not one blanket assumption.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AUDIT TRAP</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The thick-provisioning interface quirk</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What vSphere displays is not necessarily what your workloads are using.</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48640" y="1783080"/>
            <a:ext cx="5394960" cy="1828800"/>
          </a:xfrm>
          <a:prstGeom prst="roundRect">
            <a:avLst>
              <a:gd name="adj" fmla="val 3000"/>
            </a:avLst>
          </a:prstGeom>
          <a:solidFill>
            <a:srgbClr val="EBEDED"/>
          </a:solidFill>
          <a:ln w="12700">
            <a:solidFill>
              <a:srgbClr val="EBEDED"/>
            </a:solidFill>
            <a:prstDash val="solid"/>
          </a:ln>
        </p:spPr>
      </p:sp>
      <p:sp>
        <p:nvSpPr>
          <p:cNvPr id="8" name="Text 6"/>
          <p:cNvSpPr/>
          <p:nvPr/>
        </p:nvSpPr>
        <p:spPr>
          <a:xfrm>
            <a:off x="804672" y="1965960"/>
            <a:ext cx="488289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WHAT YOU MAY SEE</a:t>
            </a:r>
            <a:endParaRPr lang="en-US" sz="950" dirty="0"/>
          </a:p>
        </p:txBody>
      </p:sp>
      <p:sp>
        <p:nvSpPr>
          <p:cNvPr id="9" name="Text 7"/>
          <p:cNvSpPr/>
          <p:nvPr/>
        </p:nvSpPr>
        <p:spPr>
          <a:xfrm>
            <a:off x="80467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“vSAN Default Storage Policy”</a:t>
            </a:r>
            <a:endParaRPr lang="en-US" sz="1500" dirty="0"/>
          </a:p>
        </p:txBody>
      </p:sp>
      <p:sp>
        <p:nvSpPr>
          <p:cNvPr id="10" name="Text 8"/>
          <p:cNvSpPr/>
          <p:nvPr/>
        </p:nvSpPr>
        <p:spPr>
          <a:xfrm>
            <a:off x="804672" y="2606040"/>
            <a:ext cx="4882896" cy="85953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Displayed with Object Space Reservation set to thick provisioning. It exists for historical purposes and is modified to thin provisioning.</a:t>
            </a:r>
            <a:endParaRPr lang="en-US" sz="1300" dirty="0"/>
          </a:p>
        </p:txBody>
      </p:sp>
      <p:sp>
        <p:nvSpPr>
          <p:cNvPr id="11" name="Shape 9"/>
          <p:cNvSpPr/>
          <p:nvPr/>
        </p:nvSpPr>
        <p:spPr>
          <a:xfrm>
            <a:off x="6217920" y="1783080"/>
            <a:ext cx="5394960" cy="1828800"/>
          </a:xfrm>
          <a:prstGeom prst="roundRect">
            <a:avLst>
              <a:gd name="adj" fmla="val 3000"/>
            </a:avLst>
          </a:prstGeom>
          <a:solidFill>
            <a:srgbClr val="E5F7FC"/>
          </a:solidFill>
          <a:ln w="12700">
            <a:solidFill>
              <a:srgbClr val="E5F7FC"/>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WHAT IS ACTUALLY APPLIED</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RAID-1 FTT-1, thin provisioned</a:t>
            </a:r>
            <a:endParaRPr lang="en-US" sz="1500" dirty="0"/>
          </a:p>
        </p:txBody>
      </p:sp>
      <p:sp>
        <p:nvSpPr>
          <p:cNvPr id="14" name="Text 12"/>
          <p:cNvSpPr/>
          <p:nvPr/>
        </p:nvSpPr>
        <p:spPr>
          <a:xfrm>
            <a:off x="6473952" y="2606040"/>
            <a:ext cx="4882896" cy="85953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The documented workload default sets Object Space Reservation to thin. That is the policy assigned to workload objects.</a:t>
            </a:r>
            <a:endParaRPr lang="en-US" sz="1300" dirty="0"/>
          </a:p>
        </p:txBody>
      </p:sp>
      <p:sp>
        <p:nvSpPr>
          <p:cNvPr id="15" name="Text 13"/>
          <p:cNvSpPr/>
          <p:nvPr/>
        </p:nvSpPr>
        <p:spPr>
          <a:xfrm>
            <a:off x="548640" y="384048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Reading the value</a:t>
            </a:r>
            <a:endParaRPr lang="en-US" sz="1700" dirty="0"/>
          </a:p>
        </p:txBody>
      </p:sp>
      <p:sp>
        <p:nvSpPr>
          <p:cNvPr id="16" name="Shape 14"/>
          <p:cNvSpPr/>
          <p:nvPr/>
        </p:nvSpPr>
        <p:spPr>
          <a:xfrm>
            <a:off x="548640" y="4224528"/>
            <a:ext cx="3520440" cy="1417320"/>
          </a:xfrm>
          <a:prstGeom prst="roundRect">
            <a:avLst>
              <a:gd name="adj" fmla="val 3871"/>
            </a:avLst>
          </a:prstGeom>
          <a:solidFill>
            <a:srgbClr val="E2F2E8"/>
          </a:solidFill>
          <a:ln w="12700">
            <a:solidFill>
              <a:srgbClr val="E2F2E8"/>
            </a:solidFill>
            <a:prstDash val="solid"/>
          </a:ln>
        </p:spPr>
      </p:sp>
      <p:sp>
        <p:nvSpPr>
          <p:cNvPr id="17" name="Text 15"/>
          <p:cNvSpPr/>
          <p:nvPr/>
        </p:nvSpPr>
        <p:spPr>
          <a:xfrm>
            <a:off x="804672" y="4407408"/>
            <a:ext cx="3008376" cy="45720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vSANObjectSpaceReservation = 0</a:t>
            </a:r>
            <a:endParaRPr lang="en-US" sz="1300" dirty="0"/>
          </a:p>
        </p:txBody>
      </p:sp>
      <p:sp>
        <p:nvSpPr>
          <p:cNvPr id="18" name="Text 16"/>
          <p:cNvSpPr/>
          <p:nvPr/>
        </p:nvSpPr>
        <p:spPr>
          <a:xfrm>
            <a:off x="804672" y="4919472"/>
            <a:ext cx="3008376" cy="576072"/>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Thin provisioned</a:t>
            </a:r>
            <a:endParaRPr lang="en-US" sz="1250" dirty="0"/>
          </a:p>
        </p:txBody>
      </p:sp>
      <p:sp>
        <p:nvSpPr>
          <p:cNvPr id="19" name="Shape 17"/>
          <p:cNvSpPr/>
          <p:nvPr/>
        </p:nvSpPr>
        <p:spPr>
          <a:xfrm>
            <a:off x="4315968" y="4224528"/>
            <a:ext cx="3520440" cy="1417320"/>
          </a:xfrm>
          <a:prstGeom prst="roundRect">
            <a:avLst>
              <a:gd name="adj" fmla="val 3871"/>
            </a:avLst>
          </a:prstGeom>
          <a:solidFill>
            <a:srgbClr val="FDE8E0"/>
          </a:solidFill>
          <a:ln w="12700">
            <a:solidFill>
              <a:srgbClr val="FDE8E0"/>
            </a:solidFill>
            <a:prstDash val="solid"/>
          </a:ln>
        </p:spPr>
      </p:sp>
      <p:sp>
        <p:nvSpPr>
          <p:cNvPr id="20" name="Text 18"/>
          <p:cNvSpPr/>
          <p:nvPr/>
        </p:nvSpPr>
        <p:spPr>
          <a:xfrm>
            <a:off x="4572000" y="4407408"/>
            <a:ext cx="3008376" cy="45720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vSANObjectSpaceReservation = 100</a:t>
            </a:r>
            <a:endParaRPr lang="en-US" sz="1300" dirty="0"/>
          </a:p>
        </p:txBody>
      </p:sp>
      <p:sp>
        <p:nvSpPr>
          <p:cNvPr id="21" name="Text 19"/>
          <p:cNvSpPr/>
          <p:nvPr/>
        </p:nvSpPr>
        <p:spPr>
          <a:xfrm>
            <a:off x="4572000" y="4919472"/>
            <a:ext cx="3008376" cy="576072"/>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Thick provisioned</a:t>
            </a:r>
            <a:endParaRPr lang="en-US" sz="1250" dirty="0"/>
          </a:p>
        </p:txBody>
      </p:sp>
      <p:sp>
        <p:nvSpPr>
          <p:cNvPr id="22" name="Shape 20"/>
          <p:cNvSpPr/>
          <p:nvPr/>
        </p:nvSpPr>
        <p:spPr>
          <a:xfrm>
            <a:off x="8083296" y="4224528"/>
            <a:ext cx="3529584" cy="1417320"/>
          </a:xfrm>
          <a:prstGeom prst="roundRect">
            <a:avLst>
              <a:gd name="adj" fmla="val 3871"/>
            </a:avLst>
          </a:prstGeom>
          <a:solidFill>
            <a:srgbClr val="EBEDED"/>
          </a:solidFill>
          <a:ln w="12700">
            <a:solidFill>
              <a:srgbClr val="EBEDED"/>
            </a:solidFill>
            <a:prstDash val="solid"/>
          </a:ln>
        </p:spPr>
      </p:sp>
      <p:sp>
        <p:nvSpPr>
          <p:cNvPr id="23" name="Text 21"/>
          <p:cNvSpPr/>
          <p:nvPr/>
        </p:nvSpPr>
        <p:spPr>
          <a:xfrm>
            <a:off x="8339328" y="4407408"/>
            <a:ext cx="3017520" cy="45720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Management VMs</a:t>
            </a:r>
            <a:endParaRPr lang="en-US" sz="1300" dirty="0"/>
          </a:p>
        </p:txBody>
      </p:sp>
      <p:sp>
        <p:nvSpPr>
          <p:cNvPr id="24" name="Text 22"/>
          <p:cNvSpPr/>
          <p:nvPr/>
        </p:nvSpPr>
        <p:spPr>
          <a:xfrm>
            <a:off x="8339328" y="4919472"/>
            <a:ext cx="3017520" cy="576072"/>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Use the Microsoft vSAN Management Storage Policy: thin provisioned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HARD RULE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Never rename AVS clusters or datastores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The CLI will let you. Microsoft documents that you should not.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48640" y="1783080"/>
            <a:ext cx="11064240" cy="1188720"/>
          </a:xfrm>
          <a:prstGeom prst="roundRect">
            <a:avLst>
              <a:gd name="adj" fmla="val 4615"/>
            </a:avLst>
          </a:prstGeom>
          <a:solidFill>
            <a:srgbClr val="FDE8E0"/>
          </a:solidFill>
          <a:ln w="12700">
            <a:solidFill>
              <a:srgbClr val="FDE8E0"/>
            </a:solidFill>
            <a:prstDash val="solid"/>
          </a:ln>
        </p:spPr>
      </p:sp>
      <p:sp>
        <p:nvSpPr>
          <p:cNvPr id="8" name="Shape 6"/>
          <p:cNvSpPr/>
          <p:nvPr/>
        </p:nvSpPr>
        <p:spPr>
          <a:xfrm>
            <a:off x="868680" y="2103120"/>
            <a:ext cx="548640" cy="548640"/>
          </a:xfrm>
          <a:prstGeom prst="ellipse">
            <a:avLst/>
          </a:prstGeom>
          <a:solidFill>
            <a:srgbClr val="F15D23"/>
          </a:solidFill>
          <a:ln w="12700">
            <a:solidFill>
              <a:srgbClr val="F15D23"/>
            </a:solidFill>
            <a:prstDash val="solid"/>
          </a:ln>
        </p:spPr>
      </p:sp>
      <p:sp>
        <p:nvSpPr>
          <p:cNvPr id="9" name="Text 7"/>
          <p:cNvSpPr/>
          <p:nvPr/>
        </p:nvSpPr>
        <p:spPr>
          <a:xfrm>
            <a:off x="868680"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1645920" y="1965960"/>
            <a:ext cx="9692640" cy="868680"/>
          </a:xfrm>
          <a:prstGeom prst="rect">
            <a:avLst/>
          </a:prstGeom>
          <a:noFill/>
          <a:ln/>
        </p:spPr>
        <p:txBody>
          <a:bodyPr wrap="square" lIns="0" tIns="0" rIns="0" bIns="0" rtlCol="0" anchor="ctr"/>
          <a:lstStyle/>
          <a:p>
            <a:pPr indent="0" marL="0">
              <a:lnSpc>
                <a:spcPts val="2000"/>
              </a:lnSpc>
              <a:buNone/>
            </a:pPr>
            <a:r>
              <a:rPr lang="en-US" sz="1500" dirty="0">
                <a:solidFill>
                  <a:srgbClr val="3E3E4B"/>
                </a:solidFill>
                <a:latin typeface="Calibri" pitchFamily="34" charset="0"/>
                <a:ea typeface="Calibri" pitchFamily="34" charset="-122"/>
                <a:cs typeface="Calibri" pitchFamily="34" charset="-120"/>
              </a:rPr>
              <a:t>Microsoft explicitly states that AVS datastores and clusters must not be renamed. Azure CLI and PowerShell may expose operations that appear to permit it.</a:t>
            </a:r>
            <a:endParaRPr lang="en-US" sz="1500" dirty="0"/>
          </a:p>
        </p:txBody>
      </p:sp>
      <p:sp>
        <p:nvSpPr>
          <p:cNvPr id="11" name="Text 9"/>
          <p:cNvSpPr/>
          <p:nvPr/>
        </p:nvSpPr>
        <p:spPr>
          <a:xfrm>
            <a:off x="548640" y="320040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Why it matters</a:t>
            </a:r>
            <a:endParaRPr lang="en-US" sz="1700" dirty="0"/>
          </a:p>
        </p:txBody>
      </p:sp>
      <p:sp>
        <p:nvSpPr>
          <p:cNvPr id="12" name="Shape 10"/>
          <p:cNvSpPr/>
          <p:nvPr/>
        </p:nvSpPr>
        <p:spPr>
          <a:xfrm>
            <a:off x="548640" y="3611880"/>
            <a:ext cx="3520440" cy="1783080"/>
          </a:xfrm>
          <a:prstGeom prst="roundRect">
            <a:avLst>
              <a:gd name="adj" fmla="val 3077"/>
            </a:avLst>
          </a:prstGeom>
          <a:solidFill>
            <a:srgbClr val="EBEDED"/>
          </a:solidFill>
          <a:ln w="12700">
            <a:solidFill>
              <a:srgbClr val="EBEDED"/>
            </a:solidFill>
            <a:prstDash val="solid"/>
          </a:ln>
        </p:spPr>
      </p:sp>
      <p:sp>
        <p:nvSpPr>
          <p:cNvPr id="13" name="Text 11"/>
          <p:cNvSpPr/>
          <p:nvPr/>
        </p:nvSpPr>
        <p:spPr>
          <a:xfrm>
            <a:off x="804672" y="37947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Metadata mismatch</a:t>
            </a:r>
            <a:endParaRPr lang="en-US" sz="1450" dirty="0"/>
          </a:p>
        </p:txBody>
      </p:sp>
      <p:sp>
        <p:nvSpPr>
          <p:cNvPr id="14" name="Text 12"/>
          <p:cNvSpPr/>
          <p:nvPr/>
        </p:nvSpPr>
        <p:spPr>
          <a:xfrm>
            <a:off x="804672" y="4160520"/>
            <a:ext cx="3008376" cy="10881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A rename desynchronizes Azure portal resource names from vSphere names. This is the documented consequence.</a:t>
            </a:r>
            <a:endParaRPr lang="en-US" sz="1250" dirty="0"/>
          </a:p>
        </p:txBody>
      </p:sp>
      <p:sp>
        <p:nvSpPr>
          <p:cNvPr id="15" name="Shape 13"/>
          <p:cNvSpPr/>
          <p:nvPr/>
        </p:nvSpPr>
        <p:spPr>
          <a:xfrm>
            <a:off x="4325112" y="3611880"/>
            <a:ext cx="3520440" cy="1783080"/>
          </a:xfrm>
          <a:prstGeom prst="roundRect">
            <a:avLst>
              <a:gd name="adj" fmla="val 3077"/>
            </a:avLst>
          </a:prstGeom>
          <a:solidFill>
            <a:srgbClr val="EBEDED"/>
          </a:solidFill>
          <a:ln w="12700">
            <a:solidFill>
              <a:srgbClr val="EBEDED"/>
            </a:solidFill>
            <a:prstDash val="solid"/>
          </a:ln>
        </p:spPr>
      </p:sp>
      <p:sp>
        <p:nvSpPr>
          <p:cNvPr id="16" name="Text 14"/>
          <p:cNvSpPr/>
          <p:nvPr/>
        </p:nvSpPr>
        <p:spPr>
          <a:xfrm>
            <a:off x="4581144" y="37947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Downstream failures</a:t>
            </a:r>
            <a:endParaRPr lang="en-US" sz="1450" dirty="0"/>
          </a:p>
        </p:txBody>
      </p:sp>
      <p:sp>
        <p:nvSpPr>
          <p:cNvPr id="17" name="Text 15"/>
          <p:cNvSpPr/>
          <p:nvPr/>
        </p:nvSpPr>
        <p:spPr>
          <a:xfrm>
            <a:off x="4581144" y="4160520"/>
            <a:ext cx="3008376" cy="10881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session describes API failures, host-replacement failures, backup failures, and orphaning as possible outcomes.</a:t>
            </a:r>
            <a:endParaRPr lang="en-US" sz="1250" dirty="0"/>
          </a:p>
        </p:txBody>
      </p:sp>
      <p:sp>
        <p:nvSpPr>
          <p:cNvPr id="18" name="Shape 16"/>
          <p:cNvSpPr/>
          <p:nvPr/>
        </p:nvSpPr>
        <p:spPr>
          <a:xfrm>
            <a:off x="8101584" y="3611880"/>
            <a:ext cx="3520440" cy="1783080"/>
          </a:xfrm>
          <a:prstGeom prst="roundRect">
            <a:avLst>
              <a:gd name="adj" fmla="val 3077"/>
            </a:avLst>
          </a:prstGeom>
          <a:solidFill>
            <a:srgbClr val="E2F2E8"/>
          </a:solidFill>
          <a:ln w="12700">
            <a:solidFill>
              <a:srgbClr val="E2F2E8"/>
            </a:solidFill>
            <a:prstDash val="solid"/>
          </a:ln>
        </p:spPr>
      </p:sp>
      <p:sp>
        <p:nvSpPr>
          <p:cNvPr id="19" name="Text 17"/>
          <p:cNvSpPr/>
          <p:nvPr/>
        </p:nvSpPr>
        <p:spPr>
          <a:xfrm>
            <a:off x="8357616" y="37947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Treat as immutable</a:t>
            </a:r>
            <a:endParaRPr lang="en-US" sz="1450" dirty="0"/>
          </a:p>
        </p:txBody>
      </p:sp>
      <p:sp>
        <p:nvSpPr>
          <p:cNvPr id="20" name="Text 18"/>
          <p:cNvSpPr/>
          <p:nvPr/>
        </p:nvSpPr>
        <p:spPr>
          <a:xfrm>
            <a:off x="8357616" y="4160520"/>
            <a:ext cx="3008376" cy="10881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Finalize naming before deployment and treat it as permanent afterward. There is no supported rename path.</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RESILIENCE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Moving from FTT-1 to FTT-2</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Host-count prerequisites, and the SLA guidance that triggers the change.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48640" y="1783080"/>
            <a:ext cx="2743200" cy="914400"/>
          </a:xfrm>
          <a:prstGeom prst="roundRect">
            <a:avLst>
              <a:gd name="adj" fmla="val 6000"/>
            </a:avLst>
          </a:prstGeom>
          <a:solidFill>
            <a:srgbClr val="E5F7FC"/>
          </a:solidFill>
          <a:ln w="12700">
            <a:solidFill>
              <a:srgbClr val="E5F7FC"/>
            </a:solidFill>
            <a:prstDash val="solid"/>
          </a:ln>
        </p:spPr>
      </p:sp>
      <p:sp>
        <p:nvSpPr>
          <p:cNvPr id="8" name="Text 6"/>
          <p:cNvSpPr/>
          <p:nvPr/>
        </p:nvSpPr>
        <p:spPr>
          <a:xfrm>
            <a:off x="804672" y="1965960"/>
            <a:ext cx="22311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RAID-1 FTT-1</a:t>
            </a:r>
            <a:endParaRPr lang="en-US" sz="1500" dirty="0"/>
          </a:p>
        </p:txBody>
      </p:sp>
      <p:sp>
        <p:nvSpPr>
          <p:cNvPr id="9" name="Shape 7"/>
          <p:cNvSpPr/>
          <p:nvPr/>
        </p:nvSpPr>
        <p:spPr>
          <a:xfrm>
            <a:off x="3429000" y="1783080"/>
            <a:ext cx="2194560" cy="914400"/>
          </a:xfrm>
          <a:prstGeom prst="roundRect">
            <a:avLst>
              <a:gd name="adj" fmla="val 6000"/>
            </a:avLst>
          </a:prstGeom>
          <a:solidFill>
            <a:srgbClr val="3E3E4B"/>
          </a:solidFill>
          <a:ln w="12700">
            <a:solidFill>
              <a:srgbClr val="3E3E4B"/>
            </a:solidFill>
            <a:prstDash val="solid"/>
          </a:ln>
        </p:spPr>
      </p:sp>
      <p:sp>
        <p:nvSpPr>
          <p:cNvPr id="10" name="Text 8"/>
          <p:cNvSpPr/>
          <p:nvPr/>
        </p:nvSpPr>
        <p:spPr>
          <a:xfrm>
            <a:off x="3685032" y="1965960"/>
            <a:ext cx="168249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 hosts minimum</a:t>
            </a:r>
            <a:endParaRPr lang="en-US" sz="1400" dirty="0"/>
          </a:p>
        </p:txBody>
      </p:sp>
      <p:sp>
        <p:nvSpPr>
          <p:cNvPr id="11" name="Shape 9"/>
          <p:cNvSpPr/>
          <p:nvPr/>
        </p:nvSpPr>
        <p:spPr>
          <a:xfrm>
            <a:off x="5760720" y="1783080"/>
            <a:ext cx="5852160" cy="914400"/>
          </a:xfrm>
          <a:prstGeom prst="roundRect">
            <a:avLst>
              <a:gd name="adj" fmla="val 6000"/>
            </a:avLst>
          </a:prstGeom>
          <a:solidFill>
            <a:srgbClr val="EBEDED"/>
          </a:solidFill>
          <a:ln w="12700">
            <a:solidFill>
              <a:srgbClr val="EBEDED"/>
            </a:solidFill>
            <a:prstDash val="solid"/>
          </a:ln>
        </p:spPr>
      </p:sp>
      <p:sp>
        <p:nvSpPr>
          <p:cNvPr id="12" name="Text 10"/>
          <p:cNvSpPr/>
          <p:nvPr/>
        </p:nvSpPr>
        <p:spPr>
          <a:xfrm>
            <a:off x="6016752" y="1965960"/>
            <a:ext cx="5340096" cy="58521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Default workload policy. Mirrored, tolerates one host failure.</a:t>
            </a:r>
            <a:endParaRPr lang="en-US" sz="1300" dirty="0"/>
          </a:p>
        </p:txBody>
      </p:sp>
      <p:sp>
        <p:nvSpPr>
          <p:cNvPr id="13" name="Shape 11"/>
          <p:cNvSpPr/>
          <p:nvPr/>
        </p:nvSpPr>
        <p:spPr>
          <a:xfrm>
            <a:off x="548640" y="2834640"/>
            <a:ext cx="2743200" cy="914400"/>
          </a:xfrm>
          <a:prstGeom prst="roundRect">
            <a:avLst>
              <a:gd name="adj" fmla="val 6000"/>
            </a:avLst>
          </a:prstGeom>
          <a:solidFill>
            <a:srgbClr val="E5F7FC"/>
          </a:solidFill>
          <a:ln w="12700">
            <a:solidFill>
              <a:srgbClr val="E5F7FC"/>
            </a:solidFill>
            <a:prstDash val="solid"/>
          </a:ln>
        </p:spPr>
      </p:sp>
      <p:sp>
        <p:nvSpPr>
          <p:cNvPr id="14" name="Text 12"/>
          <p:cNvSpPr/>
          <p:nvPr/>
        </p:nvSpPr>
        <p:spPr>
          <a:xfrm>
            <a:off x="804672" y="3017520"/>
            <a:ext cx="22311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RAID-1 FTT-2</a:t>
            </a:r>
            <a:endParaRPr lang="en-US" sz="1500" dirty="0"/>
          </a:p>
        </p:txBody>
      </p:sp>
      <p:sp>
        <p:nvSpPr>
          <p:cNvPr id="15" name="Shape 13"/>
          <p:cNvSpPr/>
          <p:nvPr/>
        </p:nvSpPr>
        <p:spPr>
          <a:xfrm>
            <a:off x="3429000" y="2834640"/>
            <a:ext cx="2194560" cy="914400"/>
          </a:xfrm>
          <a:prstGeom prst="roundRect">
            <a:avLst>
              <a:gd name="adj" fmla="val 6000"/>
            </a:avLst>
          </a:prstGeom>
          <a:solidFill>
            <a:srgbClr val="3E3E4B"/>
          </a:solidFill>
          <a:ln w="12700">
            <a:solidFill>
              <a:srgbClr val="3E3E4B"/>
            </a:solidFill>
            <a:prstDash val="solid"/>
          </a:ln>
        </p:spPr>
      </p:sp>
      <p:sp>
        <p:nvSpPr>
          <p:cNvPr id="16" name="Text 14"/>
          <p:cNvSpPr/>
          <p:nvPr/>
        </p:nvSpPr>
        <p:spPr>
          <a:xfrm>
            <a:off x="3685032" y="3017520"/>
            <a:ext cx="168249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 hosts minimum</a:t>
            </a:r>
            <a:endParaRPr lang="en-US" sz="1400" dirty="0"/>
          </a:p>
        </p:txBody>
      </p:sp>
      <p:sp>
        <p:nvSpPr>
          <p:cNvPr id="17" name="Shape 15"/>
          <p:cNvSpPr/>
          <p:nvPr/>
        </p:nvSpPr>
        <p:spPr>
          <a:xfrm>
            <a:off x="5760720" y="2834640"/>
            <a:ext cx="5852160" cy="914400"/>
          </a:xfrm>
          <a:prstGeom prst="roundRect">
            <a:avLst>
              <a:gd name="adj" fmla="val 6000"/>
            </a:avLst>
          </a:prstGeom>
          <a:solidFill>
            <a:srgbClr val="EBEDED"/>
          </a:solidFill>
          <a:ln w="12700">
            <a:solidFill>
              <a:srgbClr val="EBEDED"/>
            </a:solidFill>
            <a:prstDash val="solid"/>
          </a:ln>
        </p:spPr>
      </p:sp>
      <p:sp>
        <p:nvSpPr>
          <p:cNvPr id="18" name="Text 16"/>
          <p:cNvSpPr/>
          <p:nvPr/>
        </p:nvSpPr>
        <p:spPr>
          <a:xfrm>
            <a:off x="6016752" y="3017520"/>
            <a:ext cx="5340096" cy="58521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Supported mirrored policy tolerating two failures.</a:t>
            </a:r>
            <a:endParaRPr lang="en-US" sz="1300" dirty="0"/>
          </a:p>
        </p:txBody>
      </p:sp>
      <p:sp>
        <p:nvSpPr>
          <p:cNvPr id="19" name="Shape 17"/>
          <p:cNvSpPr/>
          <p:nvPr/>
        </p:nvSpPr>
        <p:spPr>
          <a:xfrm>
            <a:off x="548640" y="3886200"/>
            <a:ext cx="2743200" cy="914400"/>
          </a:xfrm>
          <a:prstGeom prst="roundRect">
            <a:avLst>
              <a:gd name="adj" fmla="val 6000"/>
            </a:avLst>
          </a:prstGeom>
          <a:solidFill>
            <a:srgbClr val="B2E8F6"/>
          </a:solidFill>
          <a:ln w="12700">
            <a:solidFill>
              <a:srgbClr val="B2E8F6"/>
            </a:solidFill>
            <a:prstDash val="solid"/>
          </a:ln>
        </p:spPr>
      </p:sp>
      <p:sp>
        <p:nvSpPr>
          <p:cNvPr id="20" name="Text 18"/>
          <p:cNvSpPr/>
          <p:nvPr/>
        </p:nvSpPr>
        <p:spPr>
          <a:xfrm>
            <a:off x="804672" y="4069080"/>
            <a:ext cx="22311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RAID-6 FTT-2</a:t>
            </a:r>
            <a:endParaRPr lang="en-US" sz="1500" dirty="0"/>
          </a:p>
        </p:txBody>
      </p:sp>
      <p:sp>
        <p:nvSpPr>
          <p:cNvPr id="21" name="Shape 19"/>
          <p:cNvSpPr/>
          <p:nvPr/>
        </p:nvSpPr>
        <p:spPr>
          <a:xfrm>
            <a:off x="3429000" y="3886200"/>
            <a:ext cx="2194560" cy="914400"/>
          </a:xfrm>
          <a:prstGeom prst="roundRect">
            <a:avLst>
              <a:gd name="adj" fmla="val 6000"/>
            </a:avLst>
          </a:prstGeom>
          <a:solidFill>
            <a:srgbClr val="3E3E4B"/>
          </a:solidFill>
          <a:ln w="12700">
            <a:solidFill>
              <a:srgbClr val="3E3E4B"/>
            </a:solidFill>
            <a:prstDash val="solid"/>
          </a:ln>
        </p:spPr>
      </p:sp>
      <p:sp>
        <p:nvSpPr>
          <p:cNvPr id="22" name="Text 20"/>
          <p:cNvSpPr/>
          <p:nvPr/>
        </p:nvSpPr>
        <p:spPr>
          <a:xfrm>
            <a:off x="3685032" y="4069080"/>
            <a:ext cx="168249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6 hosts minimum</a:t>
            </a:r>
            <a:endParaRPr lang="en-US" sz="1400" dirty="0"/>
          </a:p>
        </p:txBody>
      </p:sp>
      <p:sp>
        <p:nvSpPr>
          <p:cNvPr id="23" name="Shape 21"/>
          <p:cNvSpPr/>
          <p:nvPr/>
        </p:nvSpPr>
        <p:spPr>
          <a:xfrm>
            <a:off x="5760720" y="3886200"/>
            <a:ext cx="5852160" cy="914400"/>
          </a:xfrm>
          <a:prstGeom prst="roundRect">
            <a:avLst>
              <a:gd name="adj" fmla="val 6000"/>
            </a:avLst>
          </a:prstGeom>
          <a:solidFill>
            <a:srgbClr val="EBEDED"/>
          </a:solidFill>
          <a:ln w="12700">
            <a:solidFill>
              <a:srgbClr val="EBEDED"/>
            </a:solidFill>
            <a:prstDash val="solid"/>
          </a:ln>
        </p:spPr>
      </p:sp>
      <p:sp>
        <p:nvSpPr>
          <p:cNvPr id="24" name="Text 22"/>
          <p:cNvSpPr/>
          <p:nvPr/>
        </p:nvSpPr>
        <p:spPr>
          <a:xfrm>
            <a:off x="6016752" y="4069080"/>
            <a:ext cx="5340096" cy="58521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Erasure coding. R6FTT2 tolerates two failures. Required minimum for OSA and ESA.</a:t>
            </a:r>
            <a:endParaRPr lang="en-US" sz="1300" dirty="0"/>
          </a:p>
        </p:txBody>
      </p:sp>
      <p:sp>
        <p:nvSpPr>
          <p:cNvPr id="25" name="Shape 23"/>
          <p:cNvSpPr/>
          <p:nvPr/>
        </p:nvSpPr>
        <p:spPr>
          <a:xfrm>
            <a:off x="548640" y="5029200"/>
            <a:ext cx="11064240" cy="914400"/>
          </a:xfrm>
          <a:prstGeom prst="roundRect">
            <a:avLst>
              <a:gd name="adj" fmla="val 6000"/>
            </a:avLst>
          </a:prstGeom>
          <a:solidFill>
            <a:srgbClr val="FDF3E0"/>
          </a:solidFill>
          <a:ln w="12700">
            <a:solidFill>
              <a:srgbClr val="FDF3E0"/>
            </a:solidFill>
            <a:prstDash val="solid"/>
          </a:ln>
        </p:spPr>
      </p:sp>
      <p:sp>
        <p:nvSpPr>
          <p:cNvPr id="26" name="Shape 24"/>
          <p:cNvSpPr/>
          <p:nvPr/>
        </p:nvSpPr>
        <p:spPr>
          <a:xfrm>
            <a:off x="804672" y="5294376"/>
            <a:ext cx="384048" cy="384048"/>
          </a:xfrm>
          <a:prstGeom prst="ellipse">
            <a:avLst/>
          </a:prstGeom>
          <a:solidFill>
            <a:srgbClr val="FAC458"/>
          </a:solidFill>
          <a:ln w="12700">
            <a:solidFill>
              <a:srgbClr val="FAC458"/>
            </a:solidFill>
            <a:prstDash val="solid"/>
          </a:ln>
        </p:spPr>
      </p:sp>
      <p:sp>
        <p:nvSpPr>
          <p:cNvPr id="27" name="Text 25"/>
          <p:cNvSpPr/>
          <p:nvPr/>
        </p:nvSpPr>
        <p:spPr>
          <a:xfrm>
            <a:off x="804672" y="52943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1389888" y="5175504"/>
            <a:ext cx="9966960" cy="62179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AVS storage concepts state that clusters with more than six hosts should use an FTT-2 policy for the referenced SLA guidance. Microsoft supports both RAID-1 FTT-2 and RAID-6 FTT-2.</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OPERATIONAL TRAP</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Policies do not follow the cluster</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Growing a cluster changes what is possible, not what is applied.</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48640" y="1828800"/>
            <a:ext cx="420624" cy="420624"/>
          </a:xfrm>
          <a:prstGeom prst="ellipse">
            <a:avLst/>
          </a:prstGeom>
          <a:solidFill>
            <a:srgbClr val="00B3E2"/>
          </a:solidFill>
          <a:ln w="12700">
            <a:solidFill>
              <a:srgbClr val="00B3E2"/>
            </a:solidFill>
            <a:prstDash val="solid"/>
          </a:ln>
        </p:spPr>
      </p:sp>
      <p:sp>
        <p:nvSpPr>
          <p:cNvPr id="8" name="Text 6"/>
          <p:cNvSpPr/>
          <p:nvPr/>
        </p:nvSpPr>
        <p:spPr>
          <a:xfrm>
            <a:off x="548640"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52144" y="181051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Growth does not change policy</a:t>
            </a:r>
            <a:endParaRPr lang="en-US" sz="1500" dirty="0"/>
          </a:p>
        </p:txBody>
      </p:sp>
      <p:sp>
        <p:nvSpPr>
          <p:cNvPr id="10" name="Text 8"/>
          <p:cNvSpPr/>
          <p:nvPr/>
        </p:nvSpPr>
        <p:spPr>
          <a:xfrm>
            <a:off x="1152144" y="2103120"/>
            <a:ext cx="4745736" cy="128016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The storage policy does not automatically update when a cluster grows. A twelve-host cluster can still run FTT-1 everywhere.</a:t>
            </a:r>
            <a:endParaRPr lang="en-US" sz="1250" dirty="0"/>
          </a:p>
        </p:txBody>
      </p:sp>
      <p:sp>
        <p:nvSpPr>
          <p:cNvPr id="11" name="Shape 9"/>
          <p:cNvSpPr/>
          <p:nvPr/>
        </p:nvSpPr>
        <p:spPr>
          <a:xfrm>
            <a:off x="6309360" y="1828800"/>
            <a:ext cx="420624" cy="420624"/>
          </a:xfrm>
          <a:prstGeom prst="ellipse">
            <a:avLst/>
          </a:prstGeom>
          <a:solidFill>
            <a:srgbClr val="00B3E2"/>
          </a:solidFill>
          <a:ln w="12700">
            <a:solidFill>
              <a:srgbClr val="00B3E2"/>
            </a:solidFill>
            <a:prstDash val="solid"/>
          </a:ln>
        </p:spPr>
      </p:sp>
      <p:sp>
        <p:nvSpPr>
          <p:cNvPr id="12" name="Text 10"/>
          <p:cNvSpPr/>
          <p:nvPr/>
        </p:nvSpPr>
        <p:spPr>
          <a:xfrm>
            <a:off x="6309360"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912864" y="181051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Changing the default is not enough</a:t>
            </a:r>
            <a:endParaRPr lang="en-US" sz="1500" dirty="0"/>
          </a:p>
        </p:txBody>
      </p:sp>
      <p:sp>
        <p:nvSpPr>
          <p:cNvPr id="14" name="Text 12"/>
          <p:cNvSpPr/>
          <p:nvPr/>
        </p:nvSpPr>
        <p:spPr>
          <a:xfrm>
            <a:off x="6912864" y="2103120"/>
            <a:ext cx="4745736" cy="128016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Changing the cluster default policy does not automatically update running VMs. Existing objects keep their assigned policy.</a:t>
            </a:r>
            <a:endParaRPr lang="en-US" sz="1250" dirty="0"/>
          </a:p>
        </p:txBody>
      </p:sp>
      <p:sp>
        <p:nvSpPr>
          <p:cNvPr id="15" name="Shape 13"/>
          <p:cNvSpPr/>
          <p:nvPr/>
        </p:nvSpPr>
        <p:spPr>
          <a:xfrm>
            <a:off x="548640" y="3657600"/>
            <a:ext cx="420624" cy="420624"/>
          </a:xfrm>
          <a:prstGeom prst="ellipse">
            <a:avLst/>
          </a:prstGeom>
          <a:solidFill>
            <a:srgbClr val="00B3E2"/>
          </a:solidFill>
          <a:ln w="12700">
            <a:solidFill>
              <a:srgbClr val="00B3E2"/>
            </a:solidFill>
            <a:prstDash val="solid"/>
          </a:ln>
        </p:spPr>
      </p:sp>
      <p:sp>
        <p:nvSpPr>
          <p:cNvPr id="16" name="Text 14"/>
          <p:cNvSpPr/>
          <p:nvPr/>
        </p:nvSpPr>
        <p:spPr>
          <a:xfrm>
            <a:off x="548640" y="36576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152144" y="363931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Apply explicitly</a:t>
            </a:r>
            <a:endParaRPr lang="en-US" sz="1500" dirty="0"/>
          </a:p>
        </p:txBody>
      </p:sp>
      <p:sp>
        <p:nvSpPr>
          <p:cNvPr id="18" name="Text 16"/>
          <p:cNvSpPr/>
          <p:nvPr/>
        </p:nvSpPr>
        <p:spPr>
          <a:xfrm>
            <a:off x="1152144" y="3931920"/>
            <a:ext cx="4745736" cy="128016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Set the appropriate default, then explicitly apply the intended policy to existing VMs or individual disks.</a:t>
            </a:r>
            <a:endParaRPr lang="en-US" sz="1250" dirty="0"/>
          </a:p>
        </p:txBody>
      </p:sp>
      <p:sp>
        <p:nvSpPr>
          <p:cNvPr id="19" name="Shape 17"/>
          <p:cNvSpPr/>
          <p:nvPr/>
        </p:nvSpPr>
        <p:spPr>
          <a:xfrm>
            <a:off x="6309360" y="3657600"/>
            <a:ext cx="420624" cy="420624"/>
          </a:xfrm>
          <a:prstGeom prst="ellipse">
            <a:avLst/>
          </a:prstGeom>
          <a:solidFill>
            <a:srgbClr val="F15D23"/>
          </a:solidFill>
          <a:ln w="12700">
            <a:solidFill>
              <a:srgbClr val="F15D23"/>
            </a:solidFill>
            <a:prstDash val="solid"/>
          </a:ln>
        </p:spPr>
      </p:sp>
      <p:sp>
        <p:nvSpPr>
          <p:cNvPr id="20" name="Text 18"/>
          <p:cNvSpPr/>
          <p:nvPr/>
        </p:nvSpPr>
        <p:spPr>
          <a:xfrm>
            <a:off x="6309360" y="36576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912864" y="363931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Scale-down blocks on policy</a:t>
            </a:r>
            <a:endParaRPr lang="en-US" sz="1500" dirty="0"/>
          </a:p>
        </p:txBody>
      </p:sp>
      <p:sp>
        <p:nvSpPr>
          <p:cNvPr id="22" name="Text 20"/>
          <p:cNvSpPr/>
          <p:nvPr/>
        </p:nvSpPr>
        <p:spPr>
          <a:xfrm>
            <a:off x="6912864" y="3931920"/>
            <a:ext cx="4745736" cy="128016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Scale-down requires all vSAN objects to use policies compatible with the remaining host count and RAID requirements.</a:t>
            </a:r>
            <a:endParaRPr lang="en-US" sz="1250" dirty="0"/>
          </a:p>
        </p:txBody>
      </p:sp>
      <p:sp>
        <p:nvSpPr>
          <p:cNvPr id="23" name="Shape 21"/>
          <p:cNvSpPr/>
          <p:nvPr/>
        </p:nvSpPr>
        <p:spPr>
          <a:xfrm>
            <a:off x="548640" y="5440680"/>
            <a:ext cx="11064240" cy="685800"/>
          </a:xfrm>
          <a:prstGeom prst="roundRect">
            <a:avLst>
              <a:gd name="adj" fmla="val 8000"/>
            </a:avLst>
          </a:prstGeom>
          <a:solidFill>
            <a:srgbClr val="EBEDED"/>
          </a:solidFill>
          <a:ln w="12700">
            <a:solidFill>
              <a:srgbClr val="EBEDED"/>
            </a:solidFill>
            <a:prstDash val="solid"/>
          </a:ln>
        </p:spPr>
      </p:sp>
      <p:sp>
        <p:nvSpPr>
          <p:cNvPr id="24" name="Shape 22"/>
          <p:cNvSpPr/>
          <p:nvPr/>
        </p:nvSpPr>
        <p:spPr>
          <a:xfrm>
            <a:off x="804672" y="5591556"/>
            <a:ext cx="384048" cy="384048"/>
          </a:xfrm>
          <a:prstGeom prst="ellipse">
            <a:avLst/>
          </a:prstGeom>
          <a:solidFill>
            <a:srgbClr val="00B3E2"/>
          </a:solidFill>
          <a:ln w="12700">
            <a:solidFill>
              <a:srgbClr val="00B3E2"/>
            </a:solidFill>
            <a:prstDash val="solid"/>
          </a:ln>
        </p:spPr>
      </p:sp>
      <p:sp>
        <p:nvSpPr>
          <p:cNvPr id="25" name="Text 23"/>
          <p:cNvSpPr/>
          <p:nvPr/>
        </p:nvSpPr>
        <p:spPr>
          <a:xfrm>
            <a:off x="804672" y="55915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26" name="Text 24"/>
          <p:cNvSpPr/>
          <p:nvPr/>
        </p:nvSpPr>
        <p:spPr>
          <a:xfrm>
            <a:off x="1389888" y="5586984"/>
            <a:ext cx="9966960" cy="393192"/>
          </a:xfrm>
          <a:prstGeom prst="rect">
            <a:avLst/>
          </a:prstGeom>
          <a:noFill/>
          <a:ln/>
        </p:spPr>
        <p:txBody>
          <a:bodyPr wrap="square" lIns="0" tIns="0" rIns="0" bIns="0" rtlCol="0" anchor="ctr"/>
          <a:lstStyle/>
          <a:p>
            <a:pPr indent="0" marL="0">
              <a:lnSpc>
                <a:spcPts val="1700"/>
              </a:lnSpc>
              <a:buNone/>
            </a:pPr>
            <a:r>
              <a:rPr lang="en-US" sz="1300" dirty="0">
                <a:solidFill>
                  <a:srgbClr val="3E3E4B"/>
                </a:solidFill>
                <a:latin typeface="Calibri" pitchFamily="34" charset="0"/>
                <a:ea typeface="Calibri" pitchFamily="34" charset="-122"/>
                <a:cs typeface="Calibri" pitchFamily="34" charset="-120"/>
              </a:rPr>
              <a:t>Add a policy review to your cluster scale-out and scale-in runbooks. It is the single most common gap in AVS operations.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00B3E2"/>
          </a:solidFill>
          <a:ln w="12700">
            <a:solidFill>
              <a:srgbClr val="00B3E2"/>
            </a:solidFill>
            <a:prstDash val="solid"/>
          </a:ln>
        </p:spPr>
      </p:sp>
      <p:sp>
        <p:nvSpPr>
          <p:cNvPr id="3" name="Text 1"/>
          <p:cNvSpPr/>
          <p:nvPr/>
        </p:nvSpPr>
        <p:spPr>
          <a:xfrm>
            <a:off x="82296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2</a:t>
            </a:r>
            <a:endParaRPr lang="en-US" sz="4600" dirty="0"/>
          </a:p>
        </p:txBody>
      </p:sp>
      <p:sp>
        <p:nvSpPr>
          <p:cNvPr id="4" name="Text 2"/>
          <p:cNvSpPr/>
          <p:nvPr/>
        </p:nvSpPr>
        <p:spPr>
          <a:xfrm>
            <a:off x="2606040" y="2377440"/>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Optimize before you expand</a:t>
            </a:r>
            <a:endParaRPr lang="en-US" sz="3400" dirty="0"/>
          </a:p>
        </p:txBody>
      </p:sp>
      <p:sp>
        <p:nvSpPr>
          <p:cNvPr id="5" name="Text 3"/>
          <p:cNvSpPr/>
          <p:nvPr/>
        </p:nvSpPr>
        <p:spPr>
          <a:xfrm>
            <a:off x="2651760" y="3200400"/>
            <a:ext cx="8686800" cy="548640"/>
          </a:xfrm>
          <a:prstGeom prst="rect">
            <a:avLst/>
          </a:prstGeom>
          <a:noFill/>
          <a:ln/>
        </p:spPr>
        <p:txBody>
          <a:bodyPr wrap="square" lIns="0" tIns="0" rIns="0" bIns="0" rtlCol="0" anchor="ctr"/>
          <a:lstStyle/>
          <a:p>
            <a:pPr indent="0" marL="0">
              <a:buNone/>
            </a:pPr>
            <a:r>
              <a:rPr lang="en-US" sz="1500" dirty="0">
                <a:solidFill>
                  <a:srgbClr val="B2E8F6"/>
                </a:solidFill>
                <a:latin typeface="Calibri" pitchFamily="34" charset="0"/>
                <a:ea typeface="Calibri" pitchFamily="34" charset="-122"/>
                <a:cs typeface="Calibri" pitchFamily="34" charset="-120"/>
              </a:rPr>
              <a:t>Four ways to recover capacity you have already paid for</a:t>
            </a:r>
            <a:endParaRPr lang="en-US" sz="1500" dirty="0"/>
          </a:p>
        </p:txBody>
      </p:sp>
      <p:sp>
        <p:nvSpPr>
          <p:cNvPr id="6" name="Text 4"/>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9A9AA8"/>
                </a:solidFill>
                <a:latin typeface="Calibri" pitchFamily="34" charset="0"/>
                <a:ea typeface="Calibri" pitchFamily="34" charset="-122"/>
                <a:cs typeface="Calibri" pitchFamily="34" charset="-120"/>
              </a:rPr>
              <a:t>Quisitive  |  Scaling AVS Storage Without New Nodes</a:t>
            </a:r>
            <a:endParaRPr lang="en-US" sz="900" dirty="0"/>
          </a:p>
        </p:txBody>
      </p:sp>
      <p:sp>
        <p:nvSpPr>
          <p:cNvPr id="7" name="Text 5"/>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ASSESSMENT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Review the storage configuration first</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Five checks that take hours and can save an entire host purchase.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548640" y="1783080"/>
            <a:ext cx="7863840" cy="621792"/>
          </a:xfrm>
          <a:prstGeom prst="roundRect">
            <a:avLst>
              <a:gd name="adj" fmla="val 7353"/>
            </a:avLst>
          </a:prstGeom>
          <a:solidFill>
            <a:srgbClr val="E5F7FC"/>
          </a:solidFill>
          <a:ln w="12700">
            <a:solidFill>
              <a:srgbClr val="E5F7FC"/>
            </a:solidFill>
            <a:prstDash val="solid"/>
          </a:ln>
        </p:spPr>
      </p:sp>
      <p:sp>
        <p:nvSpPr>
          <p:cNvPr id="8" name="Shape 6"/>
          <p:cNvSpPr/>
          <p:nvPr/>
        </p:nvSpPr>
        <p:spPr>
          <a:xfrm>
            <a:off x="777240" y="1920240"/>
            <a:ext cx="347472" cy="347472"/>
          </a:xfrm>
          <a:prstGeom prst="ellipse">
            <a:avLst/>
          </a:prstGeom>
          <a:solidFill>
            <a:srgbClr val="00B3E2"/>
          </a:solidFill>
          <a:ln w="12700">
            <a:solidFill>
              <a:srgbClr val="00B3E2"/>
            </a:solidFill>
            <a:prstDash val="solid"/>
          </a:ln>
        </p:spPr>
      </p:sp>
      <p:sp>
        <p:nvSpPr>
          <p:cNvPr id="9" name="Text 7"/>
          <p:cNvSpPr/>
          <p:nvPr/>
        </p:nvSpPr>
        <p:spPr>
          <a:xfrm>
            <a:off x="777240" y="1920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298448" y="1783080"/>
            <a:ext cx="6949440" cy="621792"/>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Confirm the vSAN architecture, host type, raw capacity, and assigned storage policies.</a:t>
            </a:r>
            <a:endParaRPr lang="en-US" sz="1350" dirty="0"/>
          </a:p>
        </p:txBody>
      </p:sp>
      <p:sp>
        <p:nvSpPr>
          <p:cNvPr id="11" name="Shape 9"/>
          <p:cNvSpPr/>
          <p:nvPr/>
        </p:nvSpPr>
        <p:spPr>
          <a:xfrm>
            <a:off x="548640" y="2532888"/>
            <a:ext cx="7863840" cy="621792"/>
          </a:xfrm>
          <a:prstGeom prst="roundRect">
            <a:avLst>
              <a:gd name="adj" fmla="val 7353"/>
            </a:avLst>
          </a:prstGeom>
          <a:solidFill>
            <a:srgbClr val="EBEDED"/>
          </a:solidFill>
          <a:ln w="12700">
            <a:solidFill>
              <a:srgbClr val="EBEDED"/>
            </a:solidFill>
            <a:prstDash val="solid"/>
          </a:ln>
        </p:spPr>
      </p:sp>
      <p:sp>
        <p:nvSpPr>
          <p:cNvPr id="12" name="Shape 10"/>
          <p:cNvSpPr/>
          <p:nvPr/>
        </p:nvSpPr>
        <p:spPr>
          <a:xfrm>
            <a:off x="777240" y="2670048"/>
            <a:ext cx="347472" cy="347472"/>
          </a:xfrm>
          <a:prstGeom prst="ellipse">
            <a:avLst/>
          </a:prstGeom>
          <a:solidFill>
            <a:srgbClr val="00B3E2"/>
          </a:solidFill>
          <a:ln w="12700">
            <a:solidFill>
              <a:srgbClr val="00B3E2"/>
            </a:solidFill>
            <a:prstDash val="solid"/>
          </a:ln>
        </p:spPr>
      </p:sp>
      <p:sp>
        <p:nvSpPr>
          <p:cNvPr id="13" name="Text 11"/>
          <p:cNvSpPr/>
          <p:nvPr/>
        </p:nvSpPr>
        <p:spPr>
          <a:xfrm>
            <a:off x="777240" y="26700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298448" y="2532888"/>
            <a:ext cx="6949440" cy="621792"/>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Review whether deduplication and compression are appropriate for the workload profile.</a:t>
            </a:r>
            <a:endParaRPr lang="en-US" sz="1350" dirty="0"/>
          </a:p>
        </p:txBody>
      </p:sp>
      <p:sp>
        <p:nvSpPr>
          <p:cNvPr id="15" name="Shape 13"/>
          <p:cNvSpPr/>
          <p:nvPr/>
        </p:nvSpPr>
        <p:spPr>
          <a:xfrm>
            <a:off x="548640" y="3282696"/>
            <a:ext cx="7863840" cy="621792"/>
          </a:xfrm>
          <a:prstGeom prst="roundRect">
            <a:avLst>
              <a:gd name="adj" fmla="val 7353"/>
            </a:avLst>
          </a:prstGeom>
          <a:solidFill>
            <a:srgbClr val="E5F7FC"/>
          </a:solidFill>
          <a:ln w="12700">
            <a:solidFill>
              <a:srgbClr val="E5F7FC"/>
            </a:solidFill>
            <a:prstDash val="solid"/>
          </a:ln>
        </p:spPr>
      </p:sp>
      <p:sp>
        <p:nvSpPr>
          <p:cNvPr id="16" name="Shape 14"/>
          <p:cNvSpPr/>
          <p:nvPr/>
        </p:nvSpPr>
        <p:spPr>
          <a:xfrm>
            <a:off x="777240" y="3419856"/>
            <a:ext cx="347472" cy="347472"/>
          </a:xfrm>
          <a:prstGeom prst="ellipse">
            <a:avLst/>
          </a:prstGeom>
          <a:solidFill>
            <a:srgbClr val="00B3E2"/>
          </a:solidFill>
          <a:ln w="12700">
            <a:solidFill>
              <a:srgbClr val="00B3E2"/>
            </a:solidFill>
            <a:prstDash val="solid"/>
          </a:ln>
        </p:spPr>
      </p:sp>
      <p:sp>
        <p:nvSpPr>
          <p:cNvPr id="17" name="Text 15"/>
          <p:cNvSpPr/>
          <p:nvPr/>
        </p:nvSpPr>
        <p:spPr>
          <a:xfrm>
            <a:off x="777240" y="34198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298448" y="3282696"/>
            <a:ext cx="6949440" cy="621792"/>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Check whether TRIM/UNMAP is enabled and whether the VMs meet its prerequisites.</a:t>
            </a:r>
            <a:endParaRPr lang="en-US" sz="1350" dirty="0"/>
          </a:p>
        </p:txBody>
      </p:sp>
      <p:sp>
        <p:nvSpPr>
          <p:cNvPr id="19" name="Shape 17"/>
          <p:cNvSpPr/>
          <p:nvPr/>
        </p:nvSpPr>
        <p:spPr>
          <a:xfrm>
            <a:off x="548640" y="4032504"/>
            <a:ext cx="7863840" cy="621792"/>
          </a:xfrm>
          <a:prstGeom prst="roundRect">
            <a:avLst>
              <a:gd name="adj" fmla="val 7353"/>
            </a:avLst>
          </a:prstGeom>
          <a:solidFill>
            <a:srgbClr val="EBEDED"/>
          </a:solidFill>
          <a:ln w="12700">
            <a:solidFill>
              <a:srgbClr val="EBEDED"/>
            </a:solidFill>
            <a:prstDash val="solid"/>
          </a:ln>
        </p:spPr>
      </p:sp>
      <p:sp>
        <p:nvSpPr>
          <p:cNvPr id="20" name="Shape 18"/>
          <p:cNvSpPr/>
          <p:nvPr/>
        </p:nvSpPr>
        <p:spPr>
          <a:xfrm>
            <a:off x="777240" y="4169664"/>
            <a:ext cx="347472" cy="347472"/>
          </a:xfrm>
          <a:prstGeom prst="ellipse">
            <a:avLst/>
          </a:prstGeom>
          <a:solidFill>
            <a:srgbClr val="00B3E2"/>
          </a:solidFill>
          <a:ln w="12700">
            <a:solidFill>
              <a:srgbClr val="00B3E2"/>
            </a:solidFill>
            <a:prstDash val="solid"/>
          </a:ln>
        </p:spPr>
      </p:sp>
      <p:sp>
        <p:nvSpPr>
          <p:cNvPr id="21" name="Text 19"/>
          <p:cNvSpPr/>
          <p:nvPr/>
        </p:nvSpPr>
        <p:spPr>
          <a:xfrm>
            <a:off x="777240" y="41696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298448" y="4032504"/>
            <a:ext cx="6949440" cy="621792"/>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Scan for unassociated vSAN objects that consume capacity or block cluster operations.</a:t>
            </a:r>
            <a:endParaRPr lang="en-US" sz="1350" dirty="0"/>
          </a:p>
        </p:txBody>
      </p:sp>
      <p:sp>
        <p:nvSpPr>
          <p:cNvPr id="23" name="Shape 21"/>
          <p:cNvSpPr/>
          <p:nvPr/>
        </p:nvSpPr>
        <p:spPr>
          <a:xfrm>
            <a:off x="548640" y="4782312"/>
            <a:ext cx="7863840" cy="621792"/>
          </a:xfrm>
          <a:prstGeom prst="roundRect">
            <a:avLst>
              <a:gd name="adj" fmla="val 7353"/>
            </a:avLst>
          </a:prstGeom>
          <a:solidFill>
            <a:srgbClr val="E5F7FC"/>
          </a:solidFill>
          <a:ln w="12700">
            <a:solidFill>
              <a:srgbClr val="E5F7FC"/>
            </a:solidFill>
            <a:prstDash val="solid"/>
          </a:ln>
        </p:spPr>
      </p:sp>
      <p:sp>
        <p:nvSpPr>
          <p:cNvPr id="24" name="Shape 22"/>
          <p:cNvSpPr/>
          <p:nvPr/>
        </p:nvSpPr>
        <p:spPr>
          <a:xfrm>
            <a:off x="777240" y="4919472"/>
            <a:ext cx="347472" cy="347472"/>
          </a:xfrm>
          <a:prstGeom prst="ellipse">
            <a:avLst/>
          </a:prstGeom>
          <a:solidFill>
            <a:srgbClr val="00B3E2"/>
          </a:solidFill>
          <a:ln w="12700">
            <a:solidFill>
              <a:srgbClr val="00B3E2"/>
            </a:solidFill>
            <a:prstDash val="solid"/>
          </a:ln>
        </p:spPr>
      </p:sp>
      <p:sp>
        <p:nvSpPr>
          <p:cNvPr id="25" name="Text 23"/>
          <p:cNvSpPr/>
          <p:nvPr/>
        </p:nvSpPr>
        <p:spPr>
          <a:xfrm>
            <a:off x="777240" y="491947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1298448" y="4782312"/>
            <a:ext cx="6949440" cy="621792"/>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Track datastore capacity with Azure Monitor and AVS alerts.</a:t>
            </a:r>
            <a:endParaRPr lang="en-US" sz="1350" dirty="0"/>
          </a:p>
        </p:txBody>
      </p:sp>
      <p:sp>
        <p:nvSpPr>
          <p:cNvPr id="27" name="Shape 25"/>
          <p:cNvSpPr/>
          <p:nvPr/>
        </p:nvSpPr>
        <p:spPr>
          <a:xfrm>
            <a:off x="8686800" y="1783080"/>
            <a:ext cx="2926080" cy="1783080"/>
          </a:xfrm>
          <a:prstGeom prst="roundRect">
            <a:avLst>
              <a:gd name="adj" fmla="val 3077"/>
            </a:avLst>
          </a:prstGeom>
          <a:solidFill>
            <a:srgbClr val="3E3E4B"/>
          </a:solidFill>
          <a:ln w="12700">
            <a:solidFill>
              <a:srgbClr val="3E3E4B"/>
            </a:solidFill>
            <a:prstDash val="solid"/>
          </a:ln>
        </p:spPr>
      </p:sp>
      <p:sp>
        <p:nvSpPr>
          <p:cNvPr id="28" name="Text 26"/>
          <p:cNvSpPr/>
          <p:nvPr/>
        </p:nvSpPr>
        <p:spPr>
          <a:xfrm>
            <a:off x="8869680" y="1984248"/>
            <a:ext cx="2560320" cy="777240"/>
          </a:xfrm>
          <a:prstGeom prst="rect">
            <a:avLst/>
          </a:prstGeom>
          <a:noFill/>
          <a:ln/>
        </p:spPr>
        <p:txBody>
          <a:bodyPr wrap="square" lIns="0" tIns="0" rIns="0" bIns="0" rtlCol="0" anchor="ctr"/>
          <a:lstStyle/>
          <a:p>
            <a:pPr algn="ctr" indent="0" marL="0">
              <a:buNone/>
            </a:pPr>
            <a:r>
              <a:rPr lang="en-US" sz="4000" b="1" dirty="0">
                <a:solidFill>
                  <a:srgbClr val="00B3E2"/>
                </a:solidFill>
                <a:latin typeface="Calibri" pitchFamily="34" charset="0"/>
                <a:ea typeface="Calibri" pitchFamily="34" charset="-122"/>
                <a:cs typeface="Calibri" pitchFamily="34" charset="-120"/>
              </a:rPr>
              <a:t>75%</a:t>
            </a:r>
            <a:endParaRPr lang="en-US" sz="4000" dirty="0"/>
          </a:p>
        </p:txBody>
      </p:sp>
      <p:sp>
        <p:nvSpPr>
          <p:cNvPr id="29" name="Text 27"/>
          <p:cNvSpPr/>
          <p:nvPr/>
        </p:nvSpPr>
        <p:spPr>
          <a:xfrm>
            <a:off x="8887968" y="2770632"/>
            <a:ext cx="2523744" cy="68580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Microsoft documents alerts when datastore capacity consumption exceeds this threshold</a:t>
            </a:r>
            <a:endParaRPr lang="en-US" sz="1200" dirty="0"/>
          </a:p>
        </p:txBody>
      </p:sp>
      <p:sp>
        <p:nvSpPr>
          <p:cNvPr id="30" name="Shape 28"/>
          <p:cNvSpPr/>
          <p:nvPr/>
        </p:nvSpPr>
        <p:spPr>
          <a:xfrm>
            <a:off x="8686800" y="3749040"/>
            <a:ext cx="2926080" cy="1737360"/>
          </a:xfrm>
          <a:prstGeom prst="roundRect">
            <a:avLst>
              <a:gd name="adj" fmla="val 3158"/>
            </a:avLst>
          </a:prstGeom>
          <a:solidFill>
            <a:srgbClr val="E2F2E8"/>
          </a:solidFill>
          <a:ln w="12700">
            <a:solidFill>
              <a:srgbClr val="E2F2E8"/>
            </a:solidFill>
            <a:prstDash val="solid"/>
          </a:ln>
        </p:spPr>
      </p:sp>
      <p:sp>
        <p:nvSpPr>
          <p:cNvPr id="31" name="Text 29"/>
          <p:cNvSpPr/>
          <p:nvPr/>
        </p:nvSpPr>
        <p:spPr>
          <a:xfrm>
            <a:off x="8942832" y="3931920"/>
            <a:ext cx="2414016" cy="219456"/>
          </a:xfrm>
          <a:prstGeom prst="rect">
            <a:avLst/>
          </a:prstGeom>
          <a:noFill/>
          <a:ln/>
        </p:spPr>
        <p:txBody>
          <a:bodyPr wrap="square" lIns="0" tIns="0" rIns="0" bIns="0" rtlCol="0" anchor="ctr"/>
          <a:lstStyle/>
          <a:p>
            <a:pPr indent="0" marL="0">
              <a:buNone/>
            </a:pPr>
            <a:r>
              <a:rPr lang="en-US" sz="950" b="1" spc="120" kern="0" dirty="0">
                <a:solidFill>
                  <a:srgbClr val="00AD93"/>
                </a:solidFill>
                <a:latin typeface="Calibri" pitchFamily="34" charset="0"/>
                <a:ea typeface="Calibri" pitchFamily="34" charset="-122"/>
                <a:cs typeface="Calibri" pitchFamily="34" charset="-120"/>
              </a:rPr>
              <a:t>RESERVE</a:t>
            </a:r>
            <a:endParaRPr lang="en-US" sz="950" dirty="0"/>
          </a:p>
        </p:txBody>
      </p:sp>
      <p:sp>
        <p:nvSpPr>
          <p:cNvPr id="32" name="Text 30"/>
          <p:cNvSpPr/>
          <p:nvPr/>
        </p:nvSpPr>
        <p:spPr>
          <a:xfrm>
            <a:off x="8942832" y="4206240"/>
            <a:ext cx="241401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Keep headroom</a:t>
            </a:r>
            <a:endParaRPr lang="en-US" sz="1500" dirty="0"/>
          </a:p>
        </p:txBody>
      </p:sp>
      <p:sp>
        <p:nvSpPr>
          <p:cNvPr id="33" name="Text 31"/>
          <p:cNvSpPr/>
          <p:nvPr/>
        </p:nvSpPr>
        <p:spPr>
          <a:xfrm>
            <a:off x="8942832" y="4572000"/>
            <a:ext cx="2414016" cy="7680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Maintain operational reserve. Several optimization actions themselves require free space to complete.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SPACE EFFICIENCY</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Deduplication and compression: the trade</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On by default in OSA. That default is not always the right answer.</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18</a:t>
            </a:r>
            <a:endParaRPr lang="en-US" sz="900" dirty="0"/>
          </a:p>
        </p:txBody>
      </p:sp>
      <p:sp>
        <p:nvSpPr>
          <p:cNvPr id="7" name="Shape 5"/>
          <p:cNvSpPr/>
          <p:nvPr/>
        </p:nvSpPr>
        <p:spPr>
          <a:xfrm>
            <a:off x="548640" y="1783080"/>
            <a:ext cx="5486400" cy="1920240"/>
          </a:xfrm>
          <a:prstGeom prst="roundRect">
            <a:avLst>
              <a:gd name="adj" fmla="val 2857"/>
            </a:avLst>
          </a:prstGeom>
          <a:solidFill>
            <a:srgbClr val="E5F7FC"/>
          </a:solidFill>
          <a:ln w="12700">
            <a:solidFill>
              <a:srgbClr val="E5F7FC"/>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HOW IT WORKS</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Dedup first, then compression</a:t>
            </a:r>
            <a:endParaRPr lang="en-US" sz="1500" dirty="0"/>
          </a:p>
        </p:txBody>
      </p:sp>
      <p:sp>
        <p:nvSpPr>
          <p:cNvPr id="10" name="Text 8"/>
          <p:cNvSpPr/>
          <p:nvPr/>
        </p:nvSpPr>
        <p:spPr>
          <a:xfrm>
            <a:off x="804672" y="2606040"/>
            <a:ext cx="4974336" cy="95097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OSA clusters default to deduplication and compression. vSAN applies deduplication first and compression afterward, as data moves from cache to capacity.</a:t>
            </a:r>
            <a:endParaRPr lang="en-US" sz="1300" dirty="0"/>
          </a:p>
        </p:txBody>
      </p:sp>
      <p:sp>
        <p:nvSpPr>
          <p:cNvPr id="11" name="Shape 9"/>
          <p:cNvSpPr/>
          <p:nvPr/>
        </p:nvSpPr>
        <p:spPr>
          <a:xfrm>
            <a:off x="6217920" y="1783080"/>
            <a:ext cx="5394960" cy="1920240"/>
          </a:xfrm>
          <a:prstGeom prst="roundRect">
            <a:avLst>
              <a:gd name="adj" fmla="val 2857"/>
            </a:avLst>
          </a:prstGeom>
          <a:solidFill>
            <a:srgbClr val="EBEDED"/>
          </a:solidFill>
          <a:ln w="12700">
            <a:solidFill>
              <a:srgbClr val="EBEDED"/>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WHERE THE COST LANDS</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CPU and latency</a:t>
            </a:r>
            <a:endParaRPr lang="en-US" sz="1500" dirty="0"/>
          </a:p>
        </p:txBody>
      </p:sp>
      <p:sp>
        <p:nvSpPr>
          <p:cNvPr id="14" name="Text 12"/>
          <p:cNvSpPr/>
          <p:nvPr/>
        </p:nvSpPr>
        <p:spPr>
          <a:xfrm>
            <a:off x="6473952" y="2606040"/>
            <a:ext cx="4882896" cy="95097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Block hashing and index lookups add overhead on the write path. The benefit is highest where many VMs share identical operating-system blocks.</a:t>
            </a:r>
            <a:endParaRPr lang="en-US" sz="1300" dirty="0"/>
          </a:p>
        </p:txBody>
      </p:sp>
      <p:sp>
        <p:nvSpPr>
          <p:cNvPr id="15" name="Shape 13"/>
          <p:cNvSpPr/>
          <p:nvPr/>
        </p:nvSpPr>
        <p:spPr>
          <a:xfrm>
            <a:off x="548640" y="3886200"/>
            <a:ext cx="3520440" cy="1600200"/>
          </a:xfrm>
          <a:prstGeom prst="roundRect">
            <a:avLst>
              <a:gd name="adj" fmla="val 3429"/>
            </a:avLst>
          </a:prstGeom>
          <a:solidFill>
            <a:srgbClr val="3E3E4B"/>
          </a:solidFill>
          <a:ln w="12700">
            <a:solidFill>
              <a:srgbClr val="3E3E4B"/>
            </a:solidFill>
            <a:prstDash val="solid"/>
          </a:ln>
        </p:spPr>
      </p:sp>
      <p:sp>
        <p:nvSpPr>
          <p:cNvPr id="16" name="Text 14"/>
          <p:cNvSpPr/>
          <p:nvPr/>
        </p:nvSpPr>
        <p:spPr>
          <a:xfrm>
            <a:off x="731520" y="4087368"/>
            <a:ext cx="3154680" cy="777240"/>
          </a:xfrm>
          <a:prstGeom prst="rect">
            <a:avLst/>
          </a:prstGeom>
          <a:noFill/>
          <a:ln/>
        </p:spPr>
        <p:txBody>
          <a:bodyPr wrap="square" lIns="0" tIns="0" rIns="0" bIns="0" rtlCol="0" anchor="ctr"/>
          <a:lstStyle/>
          <a:p>
            <a:pPr algn="ctr" indent="0" marL="0">
              <a:buNone/>
            </a:pPr>
            <a:r>
              <a:rPr lang="en-US" sz="3000" b="1" dirty="0">
                <a:solidFill>
                  <a:srgbClr val="00B3E2"/>
                </a:solidFill>
                <a:latin typeface="Calibri" pitchFamily="34" charset="0"/>
                <a:ea typeface="Calibri" pitchFamily="34" charset="-122"/>
                <a:cs typeface="Calibri" pitchFamily="34" charset="-120"/>
              </a:rPr>
              <a:t>Up to 2x</a:t>
            </a:r>
            <a:endParaRPr lang="en-US" sz="3000" dirty="0"/>
          </a:p>
        </p:txBody>
      </p:sp>
      <p:sp>
        <p:nvSpPr>
          <p:cNvPr id="17" name="Text 15"/>
          <p:cNvSpPr/>
          <p:nvPr/>
        </p:nvSpPr>
        <p:spPr>
          <a:xfrm>
            <a:off x="749808" y="4873752"/>
            <a:ext cx="3118104" cy="50292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Documented VM performance improvement from disabling deduplication for I/O-intensive VMs</a:t>
            </a:r>
            <a:endParaRPr lang="en-US" sz="1200" dirty="0"/>
          </a:p>
        </p:txBody>
      </p:sp>
      <p:sp>
        <p:nvSpPr>
          <p:cNvPr id="18" name="Shape 16"/>
          <p:cNvSpPr/>
          <p:nvPr/>
        </p:nvSpPr>
        <p:spPr>
          <a:xfrm>
            <a:off x="4315968" y="3886200"/>
            <a:ext cx="3520440" cy="1600200"/>
          </a:xfrm>
          <a:prstGeom prst="roundRect">
            <a:avLst>
              <a:gd name="adj" fmla="val 3429"/>
            </a:avLst>
          </a:prstGeom>
          <a:solidFill>
            <a:srgbClr val="E2F2E8"/>
          </a:solidFill>
          <a:ln w="12700">
            <a:solidFill>
              <a:srgbClr val="E2F2E8"/>
            </a:solidFill>
            <a:prstDash val="solid"/>
          </a:ln>
        </p:spPr>
      </p:sp>
      <p:sp>
        <p:nvSpPr>
          <p:cNvPr id="19" name="Text 17"/>
          <p:cNvSpPr/>
          <p:nvPr/>
        </p:nvSpPr>
        <p:spPr>
          <a:xfrm>
            <a:off x="4572000" y="4069080"/>
            <a:ext cx="3008376" cy="219456"/>
          </a:xfrm>
          <a:prstGeom prst="rect">
            <a:avLst/>
          </a:prstGeom>
          <a:noFill/>
          <a:ln/>
        </p:spPr>
        <p:txBody>
          <a:bodyPr wrap="square" lIns="0" tIns="0" rIns="0" bIns="0" rtlCol="0" anchor="ctr"/>
          <a:lstStyle/>
          <a:p>
            <a:pPr indent="0" marL="0">
              <a:buNone/>
            </a:pPr>
            <a:r>
              <a:rPr lang="en-US" sz="950" b="1" spc="120" kern="0" dirty="0">
                <a:solidFill>
                  <a:srgbClr val="00AD93"/>
                </a:solidFill>
                <a:latin typeface="Calibri" pitchFamily="34" charset="0"/>
                <a:ea typeface="Calibri" pitchFamily="34" charset="-122"/>
                <a:cs typeface="Calibri" pitchFamily="34" charset="-120"/>
              </a:rPr>
              <a:t>MIDDLE SETTING</a:t>
            </a:r>
            <a:endParaRPr lang="en-US" sz="950" dirty="0"/>
          </a:p>
        </p:txBody>
      </p:sp>
      <p:sp>
        <p:nvSpPr>
          <p:cNvPr id="20" name="Text 18"/>
          <p:cNvSpPr/>
          <p:nvPr/>
        </p:nvSpPr>
        <p:spPr>
          <a:xfrm>
            <a:off x="4572000" y="4343400"/>
            <a:ext cx="30083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Compression only</a:t>
            </a:r>
            <a:endParaRPr lang="en-US" sz="1500" dirty="0"/>
          </a:p>
        </p:txBody>
      </p:sp>
      <p:sp>
        <p:nvSpPr>
          <p:cNvPr id="21" name="Text 19"/>
          <p:cNvSpPr/>
          <p:nvPr/>
        </p:nvSpPr>
        <p:spPr>
          <a:xfrm>
            <a:off x="4572000" y="4709160"/>
            <a:ext cx="3008376" cy="6309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Documented as only slightly better performing than dedup plus compression.</a:t>
            </a:r>
            <a:endParaRPr lang="en-US" sz="1250" dirty="0"/>
          </a:p>
        </p:txBody>
      </p:sp>
      <p:sp>
        <p:nvSpPr>
          <p:cNvPr id="22" name="Shape 20"/>
          <p:cNvSpPr/>
          <p:nvPr/>
        </p:nvSpPr>
        <p:spPr>
          <a:xfrm>
            <a:off x="8083296" y="3886200"/>
            <a:ext cx="3529584" cy="1600200"/>
          </a:xfrm>
          <a:prstGeom prst="roundRect">
            <a:avLst>
              <a:gd name="adj" fmla="val 3429"/>
            </a:avLst>
          </a:prstGeom>
          <a:solidFill>
            <a:srgbClr val="FDF3E0"/>
          </a:solidFill>
          <a:ln w="12700">
            <a:solidFill>
              <a:srgbClr val="FDF3E0"/>
            </a:solidFill>
            <a:prstDash val="solid"/>
          </a:ln>
        </p:spPr>
      </p:sp>
      <p:sp>
        <p:nvSpPr>
          <p:cNvPr id="23" name="Text 21"/>
          <p:cNvSpPr/>
          <p:nvPr/>
        </p:nvSpPr>
        <p:spPr>
          <a:xfrm>
            <a:off x="8339328" y="4069080"/>
            <a:ext cx="3017520"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MAXIMUM PERFORMANCE</a:t>
            </a:r>
            <a:endParaRPr lang="en-US" sz="950" dirty="0"/>
          </a:p>
        </p:txBody>
      </p:sp>
      <p:sp>
        <p:nvSpPr>
          <p:cNvPr id="24" name="Text 22"/>
          <p:cNvSpPr/>
          <p:nvPr/>
        </p:nvSpPr>
        <p:spPr>
          <a:xfrm>
            <a:off x="8339328" y="4343400"/>
            <a:ext cx="3017520"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Disable both</a:t>
            </a:r>
            <a:endParaRPr lang="en-US" sz="1500" dirty="0"/>
          </a:p>
        </p:txBody>
      </p:sp>
      <p:sp>
        <p:nvSpPr>
          <p:cNvPr id="25" name="Text 23"/>
          <p:cNvSpPr/>
          <p:nvPr/>
        </p:nvSpPr>
        <p:spPr>
          <a:xfrm>
            <a:off x="8339328" y="4709160"/>
            <a:ext cx="3017520" cy="6309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Greatest performance gain, at the cost of space efficiency. Test against the workload.</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CHANGE MANAGEMENT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Disabling deduplication is maintenance, not a toggle</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Set-vSANCompressDedupe triggers a resynchronization and a disk reformat.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48640" y="1783080"/>
            <a:ext cx="5486400" cy="2103120"/>
          </a:xfrm>
          <a:prstGeom prst="roundRect">
            <a:avLst>
              <a:gd name="adj" fmla="val 2609"/>
            </a:avLst>
          </a:prstGeom>
          <a:solidFill>
            <a:srgbClr val="3E3E4B"/>
          </a:solidFill>
          <a:ln w="12700">
            <a:solidFill>
              <a:srgbClr val="3E3E4B"/>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RUN COMMAND</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Set-vSANCompressDedupe</a:t>
            </a:r>
            <a:endParaRPr lang="en-US" sz="1700" dirty="0"/>
          </a:p>
        </p:txBody>
      </p:sp>
      <p:sp>
        <p:nvSpPr>
          <p:cNvPr id="10" name="Text 8"/>
          <p:cNvSpPr/>
          <p:nvPr/>
        </p:nvSpPr>
        <p:spPr>
          <a:xfrm>
            <a:off x="822960" y="2606040"/>
            <a:ext cx="4937760" cy="113385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Compression true, deduplication false = compression only</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Both false = all space-efficiency processing disabled</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Enabling deduplication implicitly enables compression</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Run Commands execute serially in the order submitted</a:t>
            </a:r>
            <a:endParaRPr lang="en-US" sz="1250" dirty="0"/>
          </a:p>
        </p:txBody>
      </p:sp>
      <p:sp>
        <p:nvSpPr>
          <p:cNvPr id="11" name="Shape 9"/>
          <p:cNvSpPr/>
          <p:nvPr/>
        </p:nvSpPr>
        <p:spPr>
          <a:xfrm>
            <a:off x="6217920" y="1783080"/>
            <a:ext cx="5394960" cy="2103120"/>
          </a:xfrm>
          <a:prstGeom prst="roundRect">
            <a:avLst>
              <a:gd name="adj" fmla="val 2609"/>
            </a:avLst>
          </a:prstGeom>
          <a:solidFill>
            <a:srgbClr val="FDE8E0"/>
          </a:solidFill>
          <a:ln w="12700">
            <a:solidFill>
              <a:srgbClr val="FDE8E0"/>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F15D23"/>
                </a:solidFill>
                <a:latin typeface="Calibri" pitchFamily="34" charset="0"/>
                <a:ea typeface="Calibri" pitchFamily="34" charset="-122"/>
                <a:cs typeface="Calibri" pitchFamily="34" charset="-120"/>
              </a:rPr>
              <a:t>WHAT HAPPENS</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Resync and reformat</a:t>
            </a:r>
            <a:endParaRPr lang="en-US" sz="1500" dirty="0"/>
          </a:p>
        </p:txBody>
      </p:sp>
      <p:sp>
        <p:nvSpPr>
          <p:cNvPr id="14" name="Text 12"/>
          <p:cNvSpPr/>
          <p:nvPr/>
        </p:nvSpPr>
        <p:spPr>
          <a:xfrm>
            <a:off x="6473952" y="2606040"/>
            <a:ext cx="4882896" cy="113385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Changing the space-efficiency model causes a vSAN resynchronization. Disks are reformatted during the transition and performance degrades while the change is in progress.</a:t>
            </a:r>
            <a:endParaRPr lang="en-US" sz="1300" dirty="0"/>
          </a:p>
        </p:txBody>
      </p:sp>
      <p:sp>
        <p:nvSpPr>
          <p:cNvPr id="15" name="Text 13"/>
          <p:cNvSpPr/>
          <p:nvPr/>
        </p:nvSpPr>
        <p:spPr>
          <a:xfrm>
            <a:off x="548640" y="406908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Before you run it</a:t>
            </a:r>
            <a:endParaRPr lang="en-US" sz="1700" dirty="0"/>
          </a:p>
        </p:txBody>
      </p:sp>
      <p:sp>
        <p:nvSpPr>
          <p:cNvPr id="16" name="Shape 14"/>
          <p:cNvSpPr/>
          <p:nvPr/>
        </p:nvSpPr>
        <p:spPr>
          <a:xfrm>
            <a:off x="548640" y="4480560"/>
            <a:ext cx="3520440" cy="1188720"/>
          </a:xfrm>
          <a:prstGeom prst="roundRect">
            <a:avLst>
              <a:gd name="adj" fmla="val 4615"/>
            </a:avLst>
          </a:prstGeom>
          <a:solidFill>
            <a:srgbClr val="E5F7FC"/>
          </a:solidFill>
          <a:ln w="12700">
            <a:solidFill>
              <a:srgbClr val="E5F7FC"/>
            </a:solidFill>
            <a:prstDash val="solid"/>
          </a:ln>
        </p:spPr>
      </p:sp>
      <p:sp>
        <p:nvSpPr>
          <p:cNvPr id="17" name="Text 15"/>
          <p:cNvSpPr/>
          <p:nvPr/>
        </p:nvSpPr>
        <p:spPr>
          <a:xfrm>
            <a:off x="804672" y="4663440"/>
            <a:ext cx="3008376" cy="310896"/>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25% free space</a:t>
            </a:r>
            <a:endParaRPr lang="en-US" sz="1600" dirty="0"/>
          </a:p>
        </p:txBody>
      </p:sp>
      <p:sp>
        <p:nvSpPr>
          <p:cNvPr id="18" name="Text 16"/>
          <p:cNvSpPr/>
          <p:nvPr/>
        </p:nvSpPr>
        <p:spPr>
          <a:xfrm>
            <a:off x="804672" y="5029200"/>
            <a:ext cx="3008376"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Microsoft recommends at least this much available before changing configuration.</a:t>
            </a:r>
            <a:endParaRPr lang="en-US" sz="1200" dirty="0"/>
          </a:p>
        </p:txBody>
      </p:sp>
      <p:sp>
        <p:nvSpPr>
          <p:cNvPr id="19" name="Shape 17"/>
          <p:cNvSpPr/>
          <p:nvPr/>
        </p:nvSpPr>
        <p:spPr>
          <a:xfrm>
            <a:off x="4315968" y="4480560"/>
            <a:ext cx="3520440" cy="1188720"/>
          </a:xfrm>
          <a:prstGeom prst="roundRect">
            <a:avLst>
              <a:gd name="adj" fmla="val 4615"/>
            </a:avLst>
          </a:prstGeom>
          <a:solidFill>
            <a:srgbClr val="E5F7FC"/>
          </a:solidFill>
          <a:ln w="12700">
            <a:solidFill>
              <a:srgbClr val="E5F7FC"/>
            </a:solidFill>
            <a:prstDash val="solid"/>
          </a:ln>
        </p:spPr>
      </p:sp>
      <p:sp>
        <p:nvSpPr>
          <p:cNvPr id="20" name="Text 18"/>
          <p:cNvSpPr/>
          <p:nvPr/>
        </p:nvSpPr>
        <p:spPr>
          <a:xfrm>
            <a:off x="4572000" y="4663440"/>
            <a:ext cx="3008376" cy="310896"/>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Validate health</a:t>
            </a:r>
            <a:endParaRPr lang="en-US" sz="1600" dirty="0"/>
          </a:p>
        </p:txBody>
      </p:sp>
      <p:sp>
        <p:nvSpPr>
          <p:cNvPr id="21" name="Text 19"/>
          <p:cNvSpPr/>
          <p:nvPr/>
        </p:nvSpPr>
        <p:spPr>
          <a:xfrm>
            <a:off x="4572000" y="5029200"/>
            <a:ext cx="3008376"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Check free space, resync state, datastore health, and workload latency.</a:t>
            </a:r>
            <a:endParaRPr lang="en-US" sz="1200" dirty="0"/>
          </a:p>
        </p:txBody>
      </p:sp>
      <p:sp>
        <p:nvSpPr>
          <p:cNvPr id="22" name="Shape 20"/>
          <p:cNvSpPr/>
          <p:nvPr/>
        </p:nvSpPr>
        <p:spPr>
          <a:xfrm>
            <a:off x="8083296" y="4480560"/>
            <a:ext cx="3529584" cy="1188720"/>
          </a:xfrm>
          <a:prstGeom prst="roundRect">
            <a:avLst>
              <a:gd name="adj" fmla="val 4615"/>
            </a:avLst>
          </a:prstGeom>
          <a:solidFill>
            <a:srgbClr val="E5F7FC"/>
          </a:solidFill>
          <a:ln w="12700">
            <a:solidFill>
              <a:srgbClr val="E5F7FC"/>
            </a:solidFill>
            <a:prstDash val="solid"/>
          </a:ln>
        </p:spPr>
      </p:sp>
      <p:sp>
        <p:nvSpPr>
          <p:cNvPr id="23" name="Text 21"/>
          <p:cNvSpPr/>
          <p:nvPr/>
        </p:nvSpPr>
        <p:spPr>
          <a:xfrm>
            <a:off x="8339328" y="4663440"/>
            <a:ext cx="3017520" cy="310896"/>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Schedule a window</a:t>
            </a:r>
            <a:endParaRPr lang="en-US" sz="1600" dirty="0"/>
          </a:p>
        </p:txBody>
      </p:sp>
      <p:sp>
        <p:nvSpPr>
          <p:cNvPr id="24" name="Text 22"/>
          <p:cNvSpPr/>
          <p:nvPr/>
        </p:nvSpPr>
        <p:spPr>
          <a:xfrm>
            <a:off x="8339328" y="5029200"/>
            <a:ext cx="3017520"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Monitor latency during the change. Treat it as a storage maintenance activity.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RECLAMATION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TRIM and SCSI UNMAP</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Guests delete files. Without UNMAP, the datastore never hears about it.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548640" y="1783080"/>
            <a:ext cx="5486400" cy="1965960"/>
          </a:xfrm>
          <a:prstGeom prst="roundRect">
            <a:avLst>
              <a:gd name="adj" fmla="val 2791"/>
            </a:avLst>
          </a:prstGeom>
          <a:solidFill>
            <a:srgbClr val="EBEDED"/>
          </a:solidFill>
          <a:ln w="12700">
            <a:solidFill>
              <a:srgbClr val="EBEDED"/>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THE PROBLEM</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Deleted does not mean reclaimed</a:t>
            </a:r>
            <a:endParaRPr lang="en-US" sz="1500" dirty="0"/>
          </a:p>
        </p:txBody>
      </p:sp>
      <p:sp>
        <p:nvSpPr>
          <p:cNvPr id="10" name="Text 8"/>
          <p:cNvSpPr/>
          <p:nvPr/>
        </p:nvSpPr>
        <p:spPr>
          <a:xfrm>
            <a:off x="804672" y="2606040"/>
            <a:ext cx="4974336" cy="99669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The guest can mark blocks free without the hypervisor immediately reclaiming the corresponding physical storage. Capacity reports stay high after large deletions.</a:t>
            </a:r>
            <a:endParaRPr lang="en-US" sz="1300" dirty="0"/>
          </a:p>
        </p:txBody>
      </p:sp>
      <p:sp>
        <p:nvSpPr>
          <p:cNvPr id="11" name="Shape 9"/>
          <p:cNvSpPr/>
          <p:nvPr/>
        </p:nvSpPr>
        <p:spPr>
          <a:xfrm>
            <a:off x="6217920" y="1783080"/>
            <a:ext cx="5394960" cy="1965960"/>
          </a:xfrm>
          <a:prstGeom prst="roundRect">
            <a:avLst>
              <a:gd name="adj" fmla="val 2791"/>
            </a:avLst>
          </a:prstGeom>
          <a:solidFill>
            <a:srgbClr val="E5F7FC"/>
          </a:solidFill>
          <a:ln w="12700">
            <a:solidFill>
              <a:srgbClr val="E5F7FC"/>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THE MECHANISM</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TRIM/UNMAP</a:t>
            </a:r>
            <a:endParaRPr lang="en-US" sz="1500" dirty="0"/>
          </a:p>
        </p:txBody>
      </p:sp>
      <p:sp>
        <p:nvSpPr>
          <p:cNvPr id="14" name="Text 12"/>
          <p:cNvSpPr/>
          <p:nvPr/>
        </p:nvSpPr>
        <p:spPr>
          <a:xfrm>
            <a:off x="6473952" y="2606040"/>
            <a:ext cx="4882896" cy="99669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Allows the guest and the virtual storage stack to communicate that blocks can be reclaimed. OSA clusters have it disabled by default.</a:t>
            </a:r>
            <a:endParaRPr lang="en-US" sz="1300" dirty="0"/>
          </a:p>
        </p:txBody>
      </p:sp>
      <p:sp>
        <p:nvSpPr>
          <p:cNvPr id="15" name="Shape 13"/>
          <p:cNvSpPr/>
          <p:nvPr/>
        </p:nvSpPr>
        <p:spPr>
          <a:xfrm>
            <a:off x="548640" y="3931920"/>
            <a:ext cx="5486400" cy="1554480"/>
          </a:xfrm>
          <a:prstGeom prst="roundRect">
            <a:avLst>
              <a:gd name="adj" fmla="val 3529"/>
            </a:avLst>
          </a:prstGeom>
          <a:solidFill>
            <a:srgbClr val="3E3E4B"/>
          </a:solidFill>
          <a:ln w="12700">
            <a:solidFill>
              <a:srgbClr val="3E3E4B"/>
            </a:solidFill>
            <a:prstDash val="solid"/>
          </a:ln>
        </p:spPr>
      </p:sp>
      <p:sp>
        <p:nvSpPr>
          <p:cNvPr id="16" name="Text 14"/>
          <p:cNvSpPr/>
          <p:nvPr/>
        </p:nvSpPr>
        <p:spPr>
          <a:xfrm>
            <a:off x="804672" y="4114800"/>
            <a:ext cx="49743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ENABLEMENT</a:t>
            </a:r>
            <a:endParaRPr lang="en-US" sz="950" dirty="0"/>
          </a:p>
        </p:txBody>
      </p:sp>
      <p:sp>
        <p:nvSpPr>
          <p:cNvPr id="17" name="Text 15"/>
          <p:cNvSpPr/>
          <p:nvPr/>
        </p:nvSpPr>
        <p:spPr>
          <a:xfrm>
            <a:off x="804672" y="438912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Set-AVSVSANClusterUNMAPTRIM</a:t>
            </a:r>
            <a:endParaRPr lang="en-US" sz="1500" dirty="0"/>
          </a:p>
        </p:txBody>
      </p:sp>
      <p:sp>
        <p:nvSpPr>
          <p:cNvPr id="18" name="Text 16"/>
          <p:cNvSpPr/>
          <p:nvPr/>
        </p:nvSpPr>
        <p:spPr>
          <a:xfrm>
            <a:off x="804672" y="4754880"/>
            <a:ext cx="4974336" cy="585216"/>
          </a:xfrm>
          <a:prstGeom prst="rect">
            <a:avLst/>
          </a:prstGeom>
          <a:noFill/>
          <a:ln/>
        </p:spPr>
        <p:txBody>
          <a:bodyPr wrap="square" lIns="0" tIns="0" rIns="0" bIns="0" rtlCol="0" anchor="t"/>
          <a:lstStyle/>
          <a:p>
            <a:pPr indent="0" marL="0">
              <a:lnSpc>
                <a:spcPts val="1650"/>
              </a:lnSpc>
              <a:buNone/>
            </a:pPr>
            <a:r>
              <a:rPr lang="en-US" sz="1250" dirty="0">
                <a:solidFill>
                  <a:srgbClr val="D9D9E0"/>
                </a:solidFill>
                <a:latin typeface="Calibri" pitchFamily="34" charset="0"/>
                <a:ea typeface="Calibri" pitchFamily="34" charset="-122"/>
                <a:cs typeface="Calibri" pitchFamily="34" charset="-120"/>
              </a:rPr>
              <a:t>Run Command package used to enable or disable the feature at cluster level. A VM-level setting acts as a stop switch where an individual VM must be excluded.</a:t>
            </a:r>
            <a:endParaRPr lang="en-US" sz="1250" dirty="0"/>
          </a:p>
        </p:txBody>
      </p:sp>
      <p:sp>
        <p:nvSpPr>
          <p:cNvPr id="19" name="Shape 17"/>
          <p:cNvSpPr/>
          <p:nvPr/>
        </p:nvSpPr>
        <p:spPr>
          <a:xfrm>
            <a:off x="6217920" y="3931920"/>
            <a:ext cx="5394960" cy="1554480"/>
          </a:xfrm>
          <a:prstGeom prst="roundRect">
            <a:avLst>
              <a:gd name="adj" fmla="val 3529"/>
            </a:avLst>
          </a:prstGeom>
          <a:solidFill>
            <a:srgbClr val="FDF3E0"/>
          </a:solidFill>
          <a:ln w="12700">
            <a:solidFill>
              <a:srgbClr val="FDF3E0"/>
            </a:solidFill>
            <a:prstDash val="solid"/>
          </a:ln>
        </p:spPr>
      </p:sp>
      <p:sp>
        <p:nvSpPr>
          <p:cNvPr id="20" name="Text 18"/>
          <p:cNvSpPr/>
          <p:nvPr/>
        </p:nvSpPr>
        <p:spPr>
          <a:xfrm>
            <a:off x="6473952" y="4114800"/>
            <a:ext cx="488289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WARNING</a:t>
            </a:r>
            <a:endParaRPr lang="en-US" sz="950" dirty="0"/>
          </a:p>
        </p:txBody>
      </p:sp>
      <p:sp>
        <p:nvSpPr>
          <p:cNvPr id="21" name="Text 19"/>
          <p:cNvSpPr/>
          <p:nvPr/>
        </p:nvSpPr>
        <p:spPr>
          <a:xfrm>
            <a:off x="6473952" y="438912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Performance impact is documented</a:t>
            </a:r>
            <a:endParaRPr lang="en-US" sz="1500" dirty="0"/>
          </a:p>
        </p:txBody>
      </p:sp>
      <p:sp>
        <p:nvSpPr>
          <p:cNvPr id="22" name="Text 20"/>
          <p:cNvSpPr/>
          <p:nvPr/>
        </p:nvSpPr>
        <p:spPr>
          <a:xfrm>
            <a:off x="6473952" y="4754880"/>
            <a:ext cx="4882896" cy="58521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Microsoft warns that enabling TRIM/UNMAP can negatively affect performance. Monitor after enablement.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ROLLOUT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TRIM/UNMAP prerequisites and the power-cycle trap</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Cluster-level enablement alone changes nothing for a running VM.</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548640" y="1783080"/>
            <a:ext cx="3520440" cy="1417320"/>
          </a:xfrm>
          <a:prstGeom prst="roundRect">
            <a:avLst>
              <a:gd name="adj" fmla="val 3871"/>
            </a:avLst>
          </a:prstGeom>
          <a:solidFill>
            <a:srgbClr val="E5F7FC"/>
          </a:solidFill>
          <a:ln w="12700">
            <a:solidFill>
              <a:srgbClr val="E5F7FC"/>
            </a:solidFill>
            <a:prstDash val="solid"/>
          </a:ln>
        </p:spPr>
      </p:sp>
      <p:sp>
        <p:nvSpPr>
          <p:cNvPr id="8" name="Text 6"/>
          <p:cNvSpPr/>
          <p:nvPr/>
        </p:nvSpPr>
        <p:spPr>
          <a:xfrm>
            <a:off x="804672" y="19659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Thin provisioned</a:t>
            </a:r>
            <a:endParaRPr lang="en-US" sz="1450" dirty="0"/>
          </a:p>
        </p:txBody>
      </p:sp>
      <p:sp>
        <p:nvSpPr>
          <p:cNvPr id="9" name="Text 7"/>
          <p:cNvSpPr/>
          <p:nvPr/>
        </p:nvSpPr>
        <p:spPr>
          <a:xfrm>
            <a:off x="804672" y="2331720"/>
            <a:ext cx="300837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guest operating system must recognize the virtual disk as thin provisioned.</a:t>
            </a:r>
            <a:endParaRPr lang="en-US" sz="1250" dirty="0"/>
          </a:p>
        </p:txBody>
      </p:sp>
      <p:sp>
        <p:nvSpPr>
          <p:cNvPr id="10" name="Shape 8"/>
          <p:cNvSpPr/>
          <p:nvPr/>
        </p:nvSpPr>
        <p:spPr>
          <a:xfrm>
            <a:off x="4325112" y="1783080"/>
            <a:ext cx="3520440" cy="1417320"/>
          </a:xfrm>
          <a:prstGeom prst="roundRect">
            <a:avLst>
              <a:gd name="adj" fmla="val 3871"/>
            </a:avLst>
          </a:prstGeom>
          <a:solidFill>
            <a:srgbClr val="E5F7FC"/>
          </a:solidFill>
          <a:ln w="12700">
            <a:solidFill>
              <a:srgbClr val="E5F7FC"/>
            </a:solidFill>
            <a:prstDash val="solid"/>
          </a:ln>
        </p:spPr>
      </p:sp>
      <p:sp>
        <p:nvSpPr>
          <p:cNvPr id="11" name="Text 9"/>
          <p:cNvSpPr/>
          <p:nvPr/>
        </p:nvSpPr>
        <p:spPr>
          <a:xfrm>
            <a:off x="4581144" y="19659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Windows: hardware v11+</a:t>
            </a:r>
            <a:endParaRPr lang="en-US" sz="1450" dirty="0"/>
          </a:p>
        </p:txBody>
      </p:sp>
      <p:sp>
        <p:nvSpPr>
          <p:cNvPr id="12" name="Text 10"/>
          <p:cNvSpPr/>
          <p:nvPr/>
        </p:nvSpPr>
        <p:spPr>
          <a:xfrm>
            <a:off x="4581144" y="2331720"/>
            <a:ext cx="300837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VM hardware version 11 or later is required for Windows guests.</a:t>
            </a:r>
            <a:endParaRPr lang="en-US" sz="1250" dirty="0"/>
          </a:p>
        </p:txBody>
      </p:sp>
      <p:sp>
        <p:nvSpPr>
          <p:cNvPr id="13" name="Shape 11"/>
          <p:cNvSpPr/>
          <p:nvPr/>
        </p:nvSpPr>
        <p:spPr>
          <a:xfrm>
            <a:off x="8101584" y="1783080"/>
            <a:ext cx="3520440" cy="1417320"/>
          </a:xfrm>
          <a:prstGeom prst="roundRect">
            <a:avLst>
              <a:gd name="adj" fmla="val 3871"/>
            </a:avLst>
          </a:prstGeom>
          <a:solidFill>
            <a:srgbClr val="E5F7FC"/>
          </a:solidFill>
          <a:ln w="12700">
            <a:solidFill>
              <a:srgbClr val="E5F7FC"/>
            </a:solidFill>
            <a:prstDash val="solid"/>
          </a:ln>
        </p:spPr>
      </p:sp>
      <p:sp>
        <p:nvSpPr>
          <p:cNvPr id="14" name="Text 12"/>
          <p:cNvSpPr/>
          <p:nvPr/>
        </p:nvSpPr>
        <p:spPr>
          <a:xfrm>
            <a:off x="8357616" y="19659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Linux: hardware v13+</a:t>
            </a:r>
            <a:endParaRPr lang="en-US" sz="1450" dirty="0"/>
          </a:p>
        </p:txBody>
      </p:sp>
      <p:sp>
        <p:nvSpPr>
          <p:cNvPr id="15" name="Text 13"/>
          <p:cNvSpPr/>
          <p:nvPr/>
        </p:nvSpPr>
        <p:spPr>
          <a:xfrm>
            <a:off x="8357616" y="2331720"/>
            <a:ext cx="3008376" cy="72237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VM hardware version 13 or later is required for Linux guests.</a:t>
            </a:r>
            <a:endParaRPr lang="en-US" sz="1250" dirty="0"/>
          </a:p>
        </p:txBody>
      </p:sp>
      <p:sp>
        <p:nvSpPr>
          <p:cNvPr id="16" name="Shape 14"/>
          <p:cNvSpPr/>
          <p:nvPr/>
        </p:nvSpPr>
        <p:spPr>
          <a:xfrm>
            <a:off x="548640" y="3383280"/>
            <a:ext cx="11064240" cy="1143000"/>
          </a:xfrm>
          <a:prstGeom prst="roundRect">
            <a:avLst>
              <a:gd name="adj" fmla="val 4800"/>
            </a:avLst>
          </a:prstGeom>
          <a:solidFill>
            <a:srgbClr val="FDE8E0"/>
          </a:solidFill>
          <a:ln w="12700">
            <a:solidFill>
              <a:srgbClr val="FDE8E0"/>
            </a:solidFill>
            <a:prstDash val="solid"/>
          </a:ln>
        </p:spPr>
      </p:sp>
      <p:sp>
        <p:nvSpPr>
          <p:cNvPr id="17" name="Shape 15"/>
          <p:cNvSpPr/>
          <p:nvPr/>
        </p:nvSpPr>
        <p:spPr>
          <a:xfrm>
            <a:off x="868680" y="3675888"/>
            <a:ext cx="548640" cy="548640"/>
          </a:xfrm>
          <a:prstGeom prst="ellipse">
            <a:avLst/>
          </a:prstGeom>
          <a:solidFill>
            <a:srgbClr val="F15D23"/>
          </a:solidFill>
          <a:ln w="12700">
            <a:solidFill>
              <a:srgbClr val="F15D23"/>
            </a:solidFill>
            <a:prstDash val="solid"/>
          </a:ln>
        </p:spPr>
      </p:sp>
      <p:sp>
        <p:nvSpPr>
          <p:cNvPr id="18" name="Text 16"/>
          <p:cNvSpPr/>
          <p:nvPr/>
        </p:nvSpPr>
        <p:spPr>
          <a:xfrm>
            <a:off x="868680" y="36758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1645920" y="3547872"/>
            <a:ext cx="9692640" cy="822960"/>
          </a:xfrm>
          <a:prstGeom prst="rect">
            <a:avLst/>
          </a:prstGeom>
          <a:noFill/>
          <a:ln/>
        </p:spPr>
        <p:txBody>
          <a:bodyPr wrap="square" lIns="0" tIns="0" rIns="0" bIns="0" rtlCol="0" anchor="ctr"/>
          <a:lstStyle/>
          <a:p>
            <a:pPr indent="0" marL="0">
              <a:lnSpc>
                <a:spcPts val="2000"/>
              </a:lnSpc>
              <a:buNone/>
            </a:pPr>
            <a:r>
              <a:rPr lang="en-US" sz="1450" dirty="0">
                <a:solidFill>
                  <a:srgbClr val="3E3E4B"/>
                </a:solidFill>
                <a:latin typeface="Calibri" pitchFamily="34" charset="0"/>
                <a:ea typeface="Calibri" pitchFamily="34" charset="-122"/>
                <a:cs typeface="Calibri" pitchFamily="34" charset="-120"/>
              </a:rPr>
              <a:t>After cluster-level enablement, each affected VM must be powered off and powered back on. A guest restart is not sufficient. VMX changes for the per-VM stop switch also require a restart.</a:t>
            </a:r>
            <a:endParaRPr lang="en-US" sz="1450" dirty="0"/>
          </a:p>
        </p:txBody>
      </p:sp>
      <p:sp>
        <p:nvSpPr>
          <p:cNvPr id="20" name="Text 18"/>
          <p:cNvSpPr/>
          <p:nvPr/>
        </p:nvSpPr>
        <p:spPr>
          <a:xfrm>
            <a:off x="548640" y="4663440"/>
            <a:ext cx="11064240" cy="29260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Deployment planning</a:t>
            </a:r>
            <a:endParaRPr lang="en-US" sz="1600" dirty="0"/>
          </a:p>
        </p:txBody>
      </p:sp>
      <p:sp>
        <p:nvSpPr>
          <p:cNvPr id="21" name="Text 19"/>
          <p:cNvSpPr/>
          <p:nvPr/>
        </p:nvSpPr>
        <p:spPr>
          <a:xfrm>
            <a:off x="566928" y="5029200"/>
            <a:ext cx="10972800" cy="10972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Inventory VM hardware versions and thin-provisioning status before rollout.</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Schedule full VM power cycles rather than relying on operating-system reboots, then confirm reclaimed capacity appears.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ORPHANS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Unassociated vSAN objects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Storage objects with no active VM or namespace behind them.</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48640" y="1783080"/>
            <a:ext cx="5486400" cy="2057400"/>
          </a:xfrm>
          <a:prstGeom prst="roundRect">
            <a:avLst>
              <a:gd name="adj" fmla="val 2667"/>
            </a:avLst>
          </a:prstGeom>
          <a:solidFill>
            <a:srgbClr val="EBEDED"/>
          </a:solidFill>
          <a:ln w="12700">
            <a:solidFill>
              <a:srgbClr val="EBEDED"/>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WHERE THEY COME FROM</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Interrupted work leaves residue</a:t>
            </a:r>
            <a:endParaRPr lang="en-US" sz="1500" dirty="0"/>
          </a:p>
        </p:txBody>
      </p:sp>
      <p:sp>
        <p:nvSpPr>
          <p:cNvPr id="10" name="Text 8"/>
          <p:cNvSpPr/>
          <p:nvPr/>
        </p:nvSpPr>
        <p:spPr>
          <a:xfrm>
            <a:off x="822960" y="2606040"/>
            <a:ext cx="4937760" cy="108813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VM deletion</a:t>
            </a:r>
            <a:endParaRPr lang="en-US" sz="1300" dirty="0"/>
          </a:p>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Interrupted operations</a:t>
            </a:r>
            <a:endParaRPr lang="en-US" sz="1300" dirty="0"/>
          </a:p>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Policy mismatches</a:t>
            </a:r>
            <a:endParaRPr lang="en-US" sz="1300" dirty="0"/>
          </a:p>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Failed workflows and API operations</a:t>
            </a:r>
            <a:endParaRPr lang="en-US" sz="1300" dirty="0"/>
          </a:p>
        </p:txBody>
      </p:sp>
      <p:sp>
        <p:nvSpPr>
          <p:cNvPr id="11" name="Shape 9"/>
          <p:cNvSpPr/>
          <p:nvPr/>
        </p:nvSpPr>
        <p:spPr>
          <a:xfrm>
            <a:off x="6217920" y="1783080"/>
            <a:ext cx="5394960" cy="2057400"/>
          </a:xfrm>
          <a:prstGeom prst="roundRect">
            <a:avLst>
              <a:gd name="adj" fmla="val 2667"/>
            </a:avLst>
          </a:prstGeom>
          <a:solidFill>
            <a:srgbClr val="FDF3E0"/>
          </a:solidFill>
          <a:ln w="12700">
            <a:solidFill>
              <a:srgbClr val="FDF3E0"/>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WHY THEY MATTER</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They cost capacity and block operations</a:t>
            </a:r>
            <a:endParaRPr lang="en-US" sz="1500" dirty="0"/>
          </a:p>
        </p:txBody>
      </p:sp>
      <p:sp>
        <p:nvSpPr>
          <p:cNvPr id="14" name="Text 12"/>
          <p:cNvSpPr/>
          <p:nvPr/>
        </p:nvSpPr>
        <p:spPr>
          <a:xfrm>
            <a:off x="6473952" y="2606040"/>
            <a:ext cx="4882896" cy="108813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Unassociated objects consume capacity and can block cluster operations until they are resolved.</a:t>
            </a:r>
            <a:endParaRPr lang="en-US" sz="1300" dirty="0"/>
          </a:p>
        </p:txBody>
      </p:sp>
      <p:sp>
        <p:nvSpPr>
          <p:cNvPr id="15" name="Text 13"/>
          <p:cNvSpPr/>
          <p:nvPr/>
        </p:nvSpPr>
        <p:spPr>
          <a:xfrm>
            <a:off x="548640" y="402336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Discovery</a:t>
            </a:r>
            <a:endParaRPr lang="en-US" sz="1700" dirty="0"/>
          </a:p>
        </p:txBody>
      </p:sp>
      <p:sp>
        <p:nvSpPr>
          <p:cNvPr id="16" name="Shape 14"/>
          <p:cNvSpPr/>
          <p:nvPr/>
        </p:nvSpPr>
        <p:spPr>
          <a:xfrm>
            <a:off x="548640" y="4434840"/>
            <a:ext cx="5486400" cy="1234440"/>
          </a:xfrm>
          <a:prstGeom prst="roundRect">
            <a:avLst>
              <a:gd name="adj" fmla="val 4444"/>
            </a:avLst>
          </a:prstGeom>
          <a:solidFill>
            <a:srgbClr val="3E3E4B"/>
          </a:solidFill>
          <a:ln w="12700">
            <a:solidFill>
              <a:srgbClr val="3E3E4B"/>
            </a:solidFill>
            <a:prstDash val="solid"/>
          </a:ln>
        </p:spPr>
      </p:sp>
      <p:sp>
        <p:nvSpPr>
          <p:cNvPr id="17" name="Text 15"/>
          <p:cNvSpPr/>
          <p:nvPr/>
        </p:nvSpPr>
        <p:spPr>
          <a:xfrm>
            <a:off x="804672" y="4617720"/>
            <a:ext cx="497433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Get-UnassociatedVsanObjectsWithPolicy</a:t>
            </a:r>
            <a:endParaRPr lang="en-US" sz="1400" dirty="0"/>
          </a:p>
        </p:txBody>
      </p:sp>
      <p:sp>
        <p:nvSpPr>
          <p:cNvPr id="18" name="Text 16"/>
          <p:cNvSpPr/>
          <p:nvPr/>
        </p:nvSpPr>
        <p:spPr>
          <a:xfrm>
            <a:off x="804672" y="4983480"/>
            <a:ext cx="4974336" cy="539496"/>
          </a:xfrm>
          <a:prstGeom prst="rect">
            <a:avLst/>
          </a:prstGeom>
          <a:noFill/>
          <a:ln/>
        </p:spPr>
        <p:txBody>
          <a:bodyPr wrap="square" lIns="0" tIns="0" rIns="0" bIns="0" rtlCol="0" anchor="t"/>
          <a:lstStyle/>
          <a:p>
            <a:pPr indent="0" marL="0">
              <a:lnSpc>
                <a:spcPts val="1600"/>
              </a:lnSpc>
              <a:buNone/>
            </a:pPr>
            <a:r>
              <a:rPr lang="en-US" sz="1200" dirty="0">
                <a:solidFill>
                  <a:srgbClr val="D9D9E0"/>
                </a:solidFill>
                <a:latin typeface="Calibri" pitchFamily="34" charset="0"/>
                <a:ea typeface="Calibri" pitchFamily="34" charset="-122"/>
                <a:cs typeface="Calibri" pitchFamily="34" charset="-120"/>
              </a:rPr>
              <a:t>From the latest Microsoft.AVS.Management Run Command package. Supply an exact storage-policy name and the cluster name.</a:t>
            </a:r>
            <a:endParaRPr lang="en-US" sz="1200" dirty="0"/>
          </a:p>
        </p:txBody>
      </p:sp>
      <p:sp>
        <p:nvSpPr>
          <p:cNvPr id="19" name="Shape 17"/>
          <p:cNvSpPr/>
          <p:nvPr/>
        </p:nvSpPr>
        <p:spPr>
          <a:xfrm>
            <a:off x="6217920" y="4434840"/>
            <a:ext cx="5394960" cy="1234440"/>
          </a:xfrm>
          <a:prstGeom prst="roundRect">
            <a:avLst>
              <a:gd name="adj" fmla="val 4444"/>
            </a:avLst>
          </a:prstGeom>
          <a:solidFill>
            <a:srgbClr val="E5F7FC"/>
          </a:solidFill>
          <a:ln w="12700">
            <a:solidFill>
              <a:srgbClr val="E5F7FC"/>
            </a:solidFill>
            <a:prstDash val="solid"/>
          </a:ln>
        </p:spPr>
      </p:sp>
      <p:sp>
        <p:nvSpPr>
          <p:cNvPr id="20" name="Text 18"/>
          <p:cNvSpPr/>
          <p:nvPr/>
        </p:nvSpPr>
        <p:spPr>
          <a:xfrm>
            <a:off x="6473952" y="4617720"/>
            <a:ext cx="4882896" cy="310896"/>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Update-StoragePolicyOfUnassociatedVsanObjects</a:t>
            </a:r>
            <a:endParaRPr lang="en-US" sz="1300" dirty="0"/>
          </a:p>
        </p:txBody>
      </p:sp>
      <p:sp>
        <p:nvSpPr>
          <p:cNvPr id="21" name="Text 19"/>
          <p:cNvSpPr/>
          <p:nvPr/>
        </p:nvSpPr>
        <p:spPr>
          <a:xfrm>
            <a:off x="6473952" y="4983480"/>
            <a:ext cx="4882896" cy="53949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Changes the storage policy of unassociated objects. Output identifies objects by UUID, not by friendly VM filename.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IRREVERSIBLE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Deleting unassociated objects safely</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Remove-AvsUnassociatedObject permanently removes the object. There is no undo.</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548640" y="1828800"/>
            <a:ext cx="420624" cy="420624"/>
          </a:xfrm>
          <a:prstGeom prst="ellipse">
            <a:avLst/>
          </a:prstGeom>
          <a:solidFill>
            <a:srgbClr val="00B3E2"/>
          </a:solidFill>
          <a:ln w="12700">
            <a:solidFill>
              <a:srgbClr val="00B3E2"/>
            </a:solidFill>
            <a:prstDash val="solid"/>
          </a:ln>
        </p:spPr>
      </p:sp>
      <p:sp>
        <p:nvSpPr>
          <p:cNvPr id="8" name="Text 6"/>
          <p:cNvSpPr/>
          <p:nvPr/>
        </p:nvSpPr>
        <p:spPr>
          <a:xfrm>
            <a:off x="548640"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52144" y="181051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Verify ownership</a:t>
            </a:r>
            <a:endParaRPr lang="en-US" sz="1500" dirty="0"/>
          </a:p>
        </p:txBody>
      </p:sp>
      <p:sp>
        <p:nvSpPr>
          <p:cNvPr id="10" name="Text 8"/>
          <p:cNvSpPr/>
          <p:nvPr/>
        </p:nvSpPr>
        <p:spPr>
          <a:xfrm>
            <a:off x="1152144" y="2103120"/>
            <a:ext cx="4745736" cy="123444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Confirm the object is not required by a workload, a management VM, or a system component.</a:t>
            </a:r>
            <a:endParaRPr lang="en-US" sz="1250" dirty="0"/>
          </a:p>
        </p:txBody>
      </p:sp>
      <p:sp>
        <p:nvSpPr>
          <p:cNvPr id="11" name="Shape 9"/>
          <p:cNvSpPr/>
          <p:nvPr/>
        </p:nvSpPr>
        <p:spPr>
          <a:xfrm>
            <a:off x="6309360" y="1828800"/>
            <a:ext cx="420624" cy="420624"/>
          </a:xfrm>
          <a:prstGeom prst="ellipse">
            <a:avLst/>
          </a:prstGeom>
          <a:solidFill>
            <a:srgbClr val="00B3E2"/>
          </a:solidFill>
          <a:ln w="12700">
            <a:solidFill>
              <a:srgbClr val="00B3E2"/>
            </a:solidFill>
            <a:prstDash val="solid"/>
          </a:ln>
        </p:spPr>
      </p:sp>
      <p:sp>
        <p:nvSpPr>
          <p:cNvPr id="12" name="Text 10"/>
          <p:cNvSpPr/>
          <p:nvPr/>
        </p:nvSpPr>
        <p:spPr>
          <a:xfrm>
            <a:off x="6309360"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912864" y="181051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Check the risk list</a:t>
            </a:r>
            <a:endParaRPr lang="en-US" sz="1500" dirty="0"/>
          </a:p>
        </p:txBody>
      </p:sp>
      <p:sp>
        <p:nvSpPr>
          <p:cNvPr id="14" name="Text 12"/>
          <p:cNvSpPr/>
          <p:nvPr/>
        </p:nvSpPr>
        <p:spPr>
          <a:xfrm>
            <a:off x="6912864" y="2103120"/>
            <a:ext cx="4745736" cy="123444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Microsoft specifically warns about objects related to vCenter, NSX, HCX, SRM, backup, and replication components.</a:t>
            </a:r>
            <a:endParaRPr lang="en-US" sz="1250" dirty="0"/>
          </a:p>
        </p:txBody>
      </p:sp>
      <p:sp>
        <p:nvSpPr>
          <p:cNvPr id="15" name="Shape 13"/>
          <p:cNvSpPr/>
          <p:nvPr/>
        </p:nvSpPr>
        <p:spPr>
          <a:xfrm>
            <a:off x="548640" y="3611880"/>
            <a:ext cx="420624" cy="420624"/>
          </a:xfrm>
          <a:prstGeom prst="ellipse">
            <a:avLst/>
          </a:prstGeom>
          <a:solidFill>
            <a:srgbClr val="00B3E2"/>
          </a:solidFill>
          <a:ln w="12700">
            <a:solidFill>
              <a:srgbClr val="00B3E2"/>
            </a:solidFill>
            <a:prstDash val="solid"/>
          </a:ln>
        </p:spPr>
      </p:sp>
      <p:sp>
        <p:nvSpPr>
          <p:cNvPr id="16" name="Text 14"/>
          <p:cNvSpPr/>
          <p:nvPr/>
        </p:nvSpPr>
        <p:spPr>
          <a:xfrm>
            <a:off x="548640" y="36118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152144" y="359359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Delete one at a time</a:t>
            </a:r>
            <a:endParaRPr lang="en-US" sz="1500" dirty="0"/>
          </a:p>
        </p:txBody>
      </p:sp>
      <p:sp>
        <p:nvSpPr>
          <p:cNvPr id="18" name="Text 16"/>
          <p:cNvSpPr/>
          <p:nvPr/>
        </p:nvSpPr>
        <p:spPr>
          <a:xfrm>
            <a:off x="1152144" y="3886200"/>
            <a:ext cx="4745736" cy="123444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Supply the UUID and cluster name. Deleting objects individually minimizes blast radius.</a:t>
            </a:r>
            <a:endParaRPr lang="en-US" sz="1250" dirty="0"/>
          </a:p>
        </p:txBody>
      </p:sp>
      <p:sp>
        <p:nvSpPr>
          <p:cNvPr id="19" name="Shape 17"/>
          <p:cNvSpPr/>
          <p:nvPr/>
        </p:nvSpPr>
        <p:spPr>
          <a:xfrm>
            <a:off x="6309360" y="3611880"/>
            <a:ext cx="420624" cy="420624"/>
          </a:xfrm>
          <a:prstGeom prst="ellipse">
            <a:avLst/>
          </a:prstGeom>
          <a:solidFill>
            <a:srgbClr val="F15D23"/>
          </a:solidFill>
          <a:ln w="12700">
            <a:solidFill>
              <a:srgbClr val="F15D23"/>
            </a:solidFill>
            <a:prstDash val="solid"/>
          </a:ln>
        </p:spPr>
      </p:sp>
      <p:sp>
        <p:nvSpPr>
          <p:cNvPr id="20" name="Text 18"/>
          <p:cNvSpPr/>
          <p:nvPr/>
        </p:nvSpPr>
        <p:spPr>
          <a:xfrm>
            <a:off x="6309360" y="36118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912864" y="3593592"/>
            <a:ext cx="4745736"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When in doubt, stop</a:t>
            </a:r>
            <a:endParaRPr lang="en-US" sz="1500" dirty="0"/>
          </a:p>
        </p:txBody>
      </p:sp>
      <p:sp>
        <p:nvSpPr>
          <p:cNvPr id="22" name="Text 20"/>
          <p:cNvSpPr/>
          <p:nvPr/>
        </p:nvSpPr>
        <p:spPr>
          <a:xfrm>
            <a:off x="6912864" y="3886200"/>
            <a:ext cx="4745736" cy="1234440"/>
          </a:xfrm>
          <a:prstGeom prst="rect">
            <a:avLst/>
          </a:prstGeom>
          <a:noFill/>
          <a:ln/>
        </p:spPr>
        <p:txBody>
          <a:bodyPr wrap="square" lIns="0" tIns="0" rIns="0" bIns="0" rtlCol="0" anchor="t"/>
          <a:lstStyle/>
          <a:p>
            <a:pPr indent="0" marL="0">
              <a:lnSpc>
                <a:spcPts val="1600"/>
              </a:lnSpc>
              <a:buNone/>
            </a:pPr>
            <a:r>
              <a:rPr lang="en-US" sz="1250" dirty="0">
                <a:solidFill>
                  <a:srgbClr val="4A4A57"/>
                </a:solidFill>
                <a:latin typeface="Calibri" pitchFamily="34" charset="0"/>
                <a:ea typeface="Calibri" pitchFamily="34" charset="-122"/>
                <a:cs typeface="Calibri" pitchFamily="34" charset="-120"/>
              </a:rPr>
              <a:t>If ownership cannot be determined, do not delete the object until it has been investigated.</a:t>
            </a:r>
            <a:endParaRPr lang="en-US" sz="1250" dirty="0"/>
          </a:p>
        </p:txBody>
      </p:sp>
      <p:sp>
        <p:nvSpPr>
          <p:cNvPr id="23" name="Shape 21"/>
          <p:cNvSpPr/>
          <p:nvPr/>
        </p:nvSpPr>
        <p:spPr>
          <a:xfrm>
            <a:off x="548640" y="5349240"/>
            <a:ext cx="11064240" cy="777240"/>
          </a:xfrm>
          <a:prstGeom prst="roundRect">
            <a:avLst>
              <a:gd name="adj" fmla="val 7059"/>
            </a:avLst>
          </a:prstGeom>
          <a:solidFill>
            <a:srgbClr val="FDE8E0"/>
          </a:solidFill>
          <a:ln w="12700">
            <a:solidFill>
              <a:srgbClr val="FDE8E0"/>
            </a:solidFill>
            <a:prstDash val="solid"/>
          </a:ln>
        </p:spPr>
      </p:sp>
      <p:sp>
        <p:nvSpPr>
          <p:cNvPr id="24" name="Shape 22"/>
          <p:cNvSpPr/>
          <p:nvPr/>
        </p:nvSpPr>
        <p:spPr>
          <a:xfrm>
            <a:off x="804672" y="5545836"/>
            <a:ext cx="384048" cy="384048"/>
          </a:xfrm>
          <a:prstGeom prst="ellipse">
            <a:avLst/>
          </a:prstGeom>
          <a:solidFill>
            <a:srgbClr val="F15D23"/>
          </a:solidFill>
          <a:ln w="12700">
            <a:solidFill>
              <a:srgbClr val="F15D23"/>
            </a:solidFill>
            <a:prstDash val="solid"/>
          </a:ln>
        </p:spPr>
      </p:sp>
      <p:sp>
        <p:nvSpPr>
          <p:cNvPr id="25" name="Text 23"/>
          <p:cNvSpPr/>
          <p:nvPr/>
        </p:nvSpPr>
        <p:spPr>
          <a:xfrm>
            <a:off x="804672" y="55458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1389888" y="5495544"/>
            <a:ext cx="9966960" cy="48463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Deletion is irreversible and permanently removes the object. Treat it as a change-controlled activity with a named approver.</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00B3E2"/>
          </a:solidFill>
          <a:ln w="12700">
            <a:solidFill>
              <a:srgbClr val="00B3E2"/>
            </a:solidFill>
            <a:prstDash val="solid"/>
          </a:ln>
        </p:spPr>
      </p:sp>
      <p:sp>
        <p:nvSpPr>
          <p:cNvPr id="3" name="Text 1"/>
          <p:cNvSpPr/>
          <p:nvPr/>
        </p:nvSpPr>
        <p:spPr>
          <a:xfrm>
            <a:off x="82296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3</a:t>
            </a:r>
            <a:endParaRPr lang="en-US" sz="4600" dirty="0"/>
          </a:p>
        </p:txBody>
      </p:sp>
      <p:sp>
        <p:nvSpPr>
          <p:cNvPr id="4" name="Text 2"/>
          <p:cNvSpPr/>
          <p:nvPr/>
        </p:nvSpPr>
        <p:spPr>
          <a:xfrm>
            <a:off x="2606040" y="2377440"/>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Decouple storage from compute</a:t>
            </a:r>
            <a:endParaRPr lang="en-US" sz="3400" dirty="0"/>
          </a:p>
        </p:txBody>
      </p:sp>
      <p:sp>
        <p:nvSpPr>
          <p:cNvPr id="5" name="Text 3"/>
          <p:cNvSpPr/>
          <p:nvPr/>
        </p:nvSpPr>
        <p:spPr>
          <a:xfrm>
            <a:off x="2651760" y="3200400"/>
            <a:ext cx="8686800" cy="548640"/>
          </a:xfrm>
          <a:prstGeom prst="rect">
            <a:avLst/>
          </a:prstGeom>
          <a:noFill/>
          <a:ln/>
        </p:spPr>
        <p:txBody>
          <a:bodyPr wrap="square" lIns="0" tIns="0" rIns="0" bIns="0" rtlCol="0" anchor="ctr"/>
          <a:lstStyle/>
          <a:p>
            <a:pPr indent="0" marL="0">
              <a:buNone/>
            </a:pPr>
            <a:r>
              <a:rPr lang="en-US" sz="1500" dirty="0">
                <a:solidFill>
                  <a:srgbClr val="B2E8F6"/>
                </a:solidFill>
                <a:latin typeface="Calibri" pitchFamily="34" charset="0"/>
                <a:ea typeface="Calibri" pitchFamily="34" charset="-122"/>
                <a:cs typeface="Calibri" pitchFamily="34" charset="-120"/>
              </a:rPr>
              <a:t>External datastores: Elastic SAN, Azure NetApp Files, and Pure Storage</a:t>
            </a:r>
            <a:endParaRPr lang="en-US" sz="1500" dirty="0"/>
          </a:p>
        </p:txBody>
      </p:sp>
      <p:sp>
        <p:nvSpPr>
          <p:cNvPr id="6" name="Text 4"/>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9A9AA8"/>
                </a:solidFill>
                <a:latin typeface="Calibri" pitchFamily="34" charset="0"/>
                <a:ea typeface="Calibri" pitchFamily="34" charset="-122"/>
                <a:cs typeface="Calibri" pitchFamily="34" charset="-120"/>
              </a:rPr>
              <a:t>Quisitive  |  Scaling AVS Storage Without New Nodes</a:t>
            </a:r>
            <a:endParaRPr lang="en-US" sz="900" dirty="0"/>
          </a:p>
        </p:txBody>
      </p:sp>
      <p:sp>
        <p:nvSpPr>
          <p:cNvPr id="7" name="Text 5"/>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THE DECISION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Add hosts, or scale storage independently</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Both are supported. The right answer depends on which resource is actually growing.</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548640" y="1783080"/>
            <a:ext cx="5440680" cy="3383280"/>
          </a:xfrm>
          <a:prstGeom prst="roundRect">
            <a:avLst>
              <a:gd name="adj" fmla="val 1622"/>
            </a:avLst>
          </a:prstGeom>
          <a:solidFill>
            <a:srgbClr val="EBEDED"/>
          </a:solidFill>
          <a:ln w="12700">
            <a:solidFill>
              <a:srgbClr val="EBEDED"/>
            </a:solidFill>
            <a:prstDash val="solid"/>
          </a:ln>
        </p:spPr>
      </p:sp>
      <p:sp>
        <p:nvSpPr>
          <p:cNvPr id="8" name="Text 6"/>
          <p:cNvSpPr/>
          <p:nvPr/>
        </p:nvSpPr>
        <p:spPr>
          <a:xfrm>
            <a:off x="841248" y="1965960"/>
            <a:ext cx="4846320" cy="365760"/>
          </a:xfrm>
          <a:prstGeom prst="rect">
            <a:avLst/>
          </a:prstGeom>
          <a:noFill/>
          <a:ln/>
        </p:spPr>
        <p:txBody>
          <a:bodyPr wrap="square" lIns="0" tIns="0" rIns="0" bIns="0" rtlCol="0" anchor="ctr"/>
          <a:lstStyle/>
          <a:p>
            <a:pPr indent="0" marL="0">
              <a:buNone/>
            </a:pPr>
            <a:r>
              <a:rPr lang="en-US" sz="2000" b="1" dirty="0">
                <a:solidFill>
                  <a:srgbClr val="3E3E4B"/>
                </a:solidFill>
                <a:latin typeface="Calibri" pitchFamily="34" charset="0"/>
                <a:ea typeface="Calibri" pitchFamily="34" charset="-122"/>
                <a:cs typeface="Calibri" pitchFamily="34" charset="-120"/>
              </a:rPr>
              <a:t>Native scale-out</a:t>
            </a:r>
            <a:endParaRPr lang="en-US" sz="2000" dirty="0"/>
          </a:p>
        </p:txBody>
      </p:sp>
      <p:sp>
        <p:nvSpPr>
          <p:cNvPr id="9" name="Text 7"/>
          <p:cNvSpPr/>
          <p:nvPr/>
        </p:nvSpPr>
        <p:spPr>
          <a:xfrm>
            <a:off x="841248" y="2359152"/>
            <a:ext cx="4846320" cy="274320"/>
          </a:xfrm>
          <a:prstGeom prst="rect">
            <a:avLst/>
          </a:prstGeom>
          <a:noFill/>
          <a:ln/>
        </p:spPr>
        <p:txBody>
          <a:bodyPr wrap="square" lIns="0" tIns="0" rIns="0" bIns="0" rtlCol="0" anchor="ctr"/>
          <a:lstStyle/>
          <a:p>
            <a:pPr indent="0" marL="0">
              <a:buNone/>
            </a:pPr>
            <a:r>
              <a:rPr lang="en-US" sz="1250" dirty="0">
                <a:solidFill>
                  <a:srgbClr val="6E6E7A"/>
                </a:solidFill>
                <a:latin typeface="Calibri" pitchFamily="34" charset="0"/>
                <a:ea typeface="Calibri" pitchFamily="34" charset="-122"/>
                <a:cs typeface="Calibri" pitchFamily="34" charset="-120"/>
              </a:rPr>
              <a:t>3 to 16 hosts per cluster</a:t>
            </a:r>
            <a:endParaRPr lang="en-US" sz="1250" dirty="0"/>
          </a:p>
        </p:txBody>
      </p:sp>
      <p:sp>
        <p:nvSpPr>
          <p:cNvPr id="10" name="Text 8"/>
          <p:cNvSpPr/>
          <p:nvPr/>
        </p:nvSpPr>
        <p:spPr>
          <a:xfrm>
            <a:off x="859536" y="2743200"/>
            <a:ext cx="4846320" cy="21945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An AVS cluster supports a minimum of three and a maximum of sixteen ESXi hosts.</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Adding hosts expands native compute and vSAN capacity together.</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Appropriate when compute and storage demand are increasing at similar rates.</a:t>
            </a:r>
            <a:endParaRPr lang="en-US" sz="1350" dirty="0"/>
          </a:p>
        </p:txBody>
      </p:sp>
      <p:sp>
        <p:nvSpPr>
          <p:cNvPr id="11" name="Shape 9"/>
          <p:cNvSpPr/>
          <p:nvPr/>
        </p:nvSpPr>
        <p:spPr>
          <a:xfrm>
            <a:off x="6172200" y="1783080"/>
            <a:ext cx="5440680" cy="3383280"/>
          </a:xfrm>
          <a:prstGeom prst="roundRect">
            <a:avLst>
              <a:gd name="adj" fmla="val 1622"/>
            </a:avLst>
          </a:prstGeom>
          <a:solidFill>
            <a:srgbClr val="3E3E4B"/>
          </a:solidFill>
          <a:ln w="12700">
            <a:solidFill>
              <a:srgbClr val="3E3E4B"/>
            </a:solidFill>
            <a:prstDash val="solid"/>
          </a:ln>
        </p:spPr>
      </p:sp>
      <p:sp>
        <p:nvSpPr>
          <p:cNvPr id="12" name="Text 10"/>
          <p:cNvSpPr/>
          <p:nvPr/>
        </p:nvSpPr>
        <p:spPr>
          <a:xfrm>
            <a:off x="6464808" y="1965960"/>
            <a:ext cx="484632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Independent storage scale</a:t>
            </a:r>
            <a:endParaRPr lang="en-US" sz="2000" dirty="0"/>
          </a:p>
        </p:txBody>
      </p:sp>
      <p:sp>
        <p:nvSpPr>
          <p:cNvPr id="13" name="Text 11"/>
          <p:cNvSpPr/>
          <p:nvPr/>
        </p:nvSpPr>
        <p:spPr>
          <a:xfrm>
            <a:off x="6464808" y="2359152"/>
            <a:ext cx="4846320" cy="274320"/>
          </a:xfrm>
          <a:prstGeom prst="rect">
            <a:avLst/>
          </a:prstGeom>
          <a:noFill/>
          <a:ln/>
        </p:spPr>
        <p:txBody>
          <a:bodyPr wrap="square" lIns="0" tIns="0" rIns="0" bIns="0" rtlCol="0" anchor="ctr"/>
          <a:lstStyle/>
          <a:p>
            <a:pPr indent="0" marL="0">
              <a:buNone/>
            </a:pPr>
            <a:r>
              <a:rPr lang="en-US" sz="1250" dirty="0">
                <a:solidFill>
                  <a:srgbClr val="B2E8F6"/>
                </a:solidFill>
                <a:latin typeface="Calibri" pitchFamily="34" charset="0"/>
                <a:ea typeface="Calibri" pitchFamily="34" charset="-122"/>
                <a:cs typeface="Calibri" pitchFamily="34" charset="-120"/>
              </a:rPr>
              <a:t>External datastores attached to the cluster</a:t>
            </a:r>
            <a:endParaRPr lang="en-US" sz="1250" dirty="0"/>
          </a:p>
        </p:txBody>
      </p:sp>
      <p:sp>
        <p:nvSpPr>
          <p:cNvPr id="14" name="Text 12"/>
          <p:cNvSpPr/>
          <p:nvPr/>
        </p:nvSpPr>
        <p:spPr>
          <a:xfrm>
            <a:off x="6483096" y="2743200"/>
            <a:ext cx="4846320" cy="21945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E4E4EA"/>
                </a:solidFill>
                <a:latin typeface="Calibri" pitchFamily="34" charset="0"/>
                <a:ea typeface="Calibri" pitchFamily="34" charset="-122"/>
                <a:cs typeface="Calibri" pitchFamily="34" charset="-120"/>
              </a:rPr>
              <a:t>Azure NetApp Files and Azure Elastic SAN expand datastore capacity without scaling the cluster.</a:t>
            </a:r>
            <a:endParaRPr lang="en-US" sz="1350" dirty="0"/>
          </a:p>
          <a:p>
            <a:pPr marL="342900" indent="-342900">
              <a:spcAft>
                <a:spcPts val="900"/>
              </a:spcAft>
              <a:buSzPct val="100000"/>
              <a:buChar char="•"/>
            </a:pPr>
            <a:r>
              <a:rPr lang="en-US" sz="1350" dirty="0">
                <a:solidFill>
                  <a:srgbClr val="E4E4EA"/>
                </a:solidFill>
                <a:latin typeface="Calibri" pitchFamily="34" charset="0"/>
                <a:ea typeface="Calibri" pitchFamily="34" charset="-122"/>
                <a:cs typeface="Calibri" pitchFamily="34" charset="-120"/>
              </a:rPr>
              <a:t>Pure Storage options also decouple compute from storage.</a:t>
            </a:r>
            <a:endParaRPr lang="en-US" sz="1350" dirty="0"/>
          </a:p>
          <a:p>
            <a:pPr marL="342900" indent="-342900">
              <a:spcAft>
                <a:spcPts val="900"/>
              </a:spcAft>
              <a:buSzPct val="100000"/>
              <a:buChar char="•"/>
            </a:pPr>
            <a:r>
              <a:rPr lang="en-US" sz="1350" dirty="0">
                <a:solidFill>
                  <a:srgbClr val="E4E4EA"/>
                </a:solidFill>
                <a:latin typeface="Calibri" pitchFamily="34" charset="0"/>
                <a:ea typeface="Calibri" pitchFamily="34" charset="-122"/>
                <a:cs typeface="Calibri" pitchFamily="34" charset="-120"/>
              </a:rPr>
              <a:t>Suited to environments where storage growth materially exceeds CPU and memory growth.</a:t>
            </a:r>
            <a:endParaRPr lang="en-US" sz="1350" dirty="0"/>
          </a:p>
        </p:txBody>
      </p:sp>
      <p:sp>
        <p:nvSpPr>
          <p:cNvPr id="15" name="Shape 13"/>
          <p:cNvSpPr/>
          <p:nvPr/>
        </p:nvSpPr>
        <p:spPr>
          <a:xfrm>
            <a:off x="548640" y="5349240"/>
            <a:ext cx="11064240" cy="777240"/>
          </a:xfrm>
          <a:prstGeom prst="roundRect">
            <a:avLst>
              <a:gd name="adj" fmla="val 7059"/>
            </a:avLst>
          </a:prstGeom>
          <a:solidFill>
            <a:srgbClr val="E5F7FC"/>
          </a:solidFill>
          <a:ln w="12700">
            <a:solidFill>
              <a:srgbClr val="E5F7FC"/>
            </a:solidFill>
            <a:prstDash val="solid"/>
          </a:ln>
        </p:spPr>
      </p:sp>
      <p:sp>
        <p:nvSpPr>
          <p:cNvPr id="16" name="Shape 14"/>
          <p:cNvSpPr/>
          <p:nvPr/>
        </p:nvSpPr>
        <p:spPr>
          <a:xfrm>
            <a:off x="804672" y="5545836"/>
            <a:ext cx="384048" cy="384048"/>
          </a:xfrm>
          <a:prstGeom prst="ellipse">
            <a:avLst/>
          </a:prstGeom>
          <a:solidFill>
            <a:srgbClr val="00B3E2"/>
          </a:solidFill>
          <a:ln w="12700">
            <a:solidFill>
              <a:srgbClr val="00B3E2"/>
            </a:solidFill>
            <a:prstDash val="solid"/>
          </a:ln>
        </p:spPr>
      </p:sp>
      <p:sp>
        <p:nvSpPr>
          <p:cNvPr id="17" name="Text 15"/>
          <p:cNvSpPr/>
          <p:nvPr/>
        </p:nvSpPr>
        <p:spPr>
          <a:xfrm>
            <a:off x="804672" y="55458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18" name="Text 16"/>
          <p:cNvSpPr/>
          <p:nvPr/>
        </p:nvSpPr>
        <p:spPr>
          <a:xfrm>
            <a:off x="1389888" y="5495544"/>
            <a:ext cx="9966960" cy="48463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The question is not which is better. It is which resource is actually constrained, and whether the other one is worth paying for.</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THE MENU</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Four supported external storage categories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Each has different performance, availability, protocol, and operating characteristics.</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548640" y="1783080"/>
            <a:ext cx="2606040" cy="3017520"/>
          </a:xfrm>
          <a:prstGeom prst="roundRect">
            <a:avLst>
              <a:gd name="adj" fmla="val 2105"/>
            </a:avLst>
          </a:prstGeom>
          <a:solidFill>
            <a:srgbClr val="E5F7FC"/>
          </a:solidFill>
          <a:ln w="12700">
            <a:solidFill>
              <a:srgbClr val="E5F7FC"/>
            </a:solidFill>
            <a:prstDash val="solid"/>
          </a:ln>
        </p:spPr>
      </p:sp>
      <p:sp>
        <p:nvSpPr>
          <p:cNvPr id="8" name="Text 6"/>
          <p:cNvSpPr/>
          <p:nvPr/>
        </p:nvSpPr>
        <p:spPr>
          <a:xfrm>
            <a:off x="804672" y="1965960"/>
            <a:ext cx="20939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NFS</a:t>
            </a:r>
            <a:endParaRPr lang="en-US" sz="950" dirty="0"/>
          </a:p>
        </p:txBody>
      </p:sp>
      <p:sp>
        <p:nvSpPr>
          <p:cNvPr id="9" name="Text 7"/>
          <p:cNvSpPr/>
          <p:nvPr/>
        </p:nvSpPr>
        <p:spPr>
          <a:xfrm>
            <a:off x="804672" y="2240280"/>
            <a:ext cx="2093976" cy="68580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Azure NetApp Files</a:t>
            </a:r>
            <a:endParaRPr lang="en-US" sz="1500" dirty="0"/>
          </a:p>
        </p:txBody>
      </p:sp>
      <p:sp>
        <p:nvSpPr>
          <p:cNvPr id="10" name="Text 8"/>
          <p:cNvSpPr/>
          <p:nvPr/>
        </p:nvSpPr>
        <p:spPr>
          <a:xfrm>
            <a:off x="804672" y="2980944"/>
            <a:ext cx="2093976" cy="1673352"/>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Azure-native file storage backed by NetApp bare-metal all-flash systems. Mounted as NFS datastores.</a:t>
            </a:r>
            <a:endParaRPr lang="en-US" sz="1250" dirty="0"/>
          </a:p>
        </p:txBody>
      </p:sp>
      <p:sp>
        <p:nvSpPr>
          <p:cNvPr id="11" name="Shape 9"/>
          <p:cNvSpPr/>
          <p:nvPr/>
        </p:nvSpPr>
        <p:spPr>
          <a:xfrm>
            <a:off x="3383280" y="1783080"/>
            <a:ext cx="2606040" cy="3017520"/>
          </a:xfrm>
          <a:prstGeom prst="roundRect">
            <a:avLst>
              <a:gd name="adj" fmla="val 2105"/>
            </a:avLst>
          </a:prstGeom>
          <a:solidFill>
            <a:srgbClr val="B2E8F6"/>
          </a:solidFill>
          <a:ln w="12700">
            <a:solidFill>
              <a:srgbClr val="B2E8F6"/>
            </a:solidFill>
            <a:prstDash val="solid"/>
          </a:ln>
        </p:spPr>
      </p:sp>
      <p:sp>
        <p:nvSpPr>
          <p:cNvPr id="12" name="Text 10"/>
          <p:cNvSpPr/>
          <p:nvPr/>
        </p:nvSpPr>
        <p:spPr>
          <a:xfrm>
            <a:off x="3639312" y="1965960"/>
            <a:ext cx="20939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ISCSI</a:t>
            </a:r>
            <a:endParaRPr lang="en-US" sz="950" dirty="0"/>
          </a:p>
        </p:txBody>
      </p:sp>
      <p:sp>
        <p:nvSpPr>
          <p:cNvPr id="13" name="Text 11"/>
          <p:cNvSpPr/>
          <p:nvPr/>
        </p:nvSpPr>
        <p:spPr>
          <a:xfrm>
            <a:off x="3639312" y="2240280"/>
            <a:ext cx="2093976" cy="68580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Azure Elastic SAN</a:t>
            </a:r>
            <a:endParaRPr lang="en-US" sz="1500" dirty="0"/>
          </a:p>
        </p:txBody>
      </p:sp>
      <p:sp>
        <p:nvSpPr>
          <p:cNvPr id="14" name="Text 12"/>
          <p:cNvSpPr/>
          <p:nvPr/>
        </p:nvSpPr>
        <p:spPr>
          <a:xfrm>
            <a:off x="3639312" y="2980944"/>
            <a:ext cx="2093976" cy="1673352"/>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Azure-native block storage. Volumes are formatted as VMFS datastores and attached to selected clusters.</a:t>
            </a:r>
            <a:endParaRPr lang="en-US" sz="1250" dirty="0"/>
          </a:p>
        </p:txBody>
      </p:sp>
      <p:sp>
        <p:nvSpPr>
          <p:cNvPr id="15" name="Shape 13"/>
          <p:cNvSpPr/>
          <p:nvPr/>
        </p:nvSpPr>
        <p:spPr>
          <a:xfrm>
            <a:off x="6217920" y="1783080"/>
            <a:ext cx="2606040" cy="3017520"/>
          </a:xfrm>
          <a:prstGeom prst="roundRect">
            <a:avLst>
              <a:gd name="adj" fmla="val 2105"/>
            </a:avLst>
          </a:prstGeom>
          <a:solidFill>
            <a:srgbClr val="E2F2E8"/>
          </a:solidFill>
          <a:ln w="12700">
            <a:solidFill>
              <a:srgbClr val="E2F2E8"/>
            </a:solidFill>
            <a:prstDash val="solid"/>
          </a:ln>
        </p:spPr>
      </p:sp>
      <p:sp>
        <p:nvSpPr>
          <p:cNvPr id="16" name="Text 14"/>
          <p:cNvSpPr/>
          <p:nvPr/>
        </p:nvSpPr>
        <p:spPr>
          <a:xfrm>
            <a:off x="6473952" y="1965960"/>
            <a:ext cx="20939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VMFS OR VVOLS</a:t>
            </a:r>
            <a:endParaRPr lang="en-US" sz="950" dirty="0"/>
          </a:p>
        </p:txBody>
      </p:sp>
      <p:sp>
        <p:nvSpPr>
          <p:cNvPr id="17" name="Text 15"/>
          <p:cNvSpPr/>
          <p:nvPr/>
        </p:nvSpPr>
        <p:spPr>
          <a:xfrm>
            <a:off x="6473952" y="2240280"/>
            <a:ext cx="2093976" cy="68580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Pure Storage Cloud Dedicated</a:t>
            </a:r>
            <a:endParaRPr lang="en-US" sz="1500" dirty="0"/>
          </a:p>
        </p:txBody>
      </p:sp>
      <p:sp>
        <p:nvSpPr>
          <p:cNvPr id="18" name="Text 16"/>
          <p:cNvSpPr/>
          <p:nvPr/>
        </p:nvSpPr>
        <p:spPr>
          <a:xfrm>
            <a:off x="6473952" y="2980944"/>
            <a:ext cx="2093976" cy="1673352"/>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Purity operating environment running on Azure virtual machines. Successor name to Pure Cloud Block Store.</a:t>
            </a:r>
            <a:endParaRPr lang="en-US" sz="1250" dirty="0"/>
          </a:p>
        </p:txBody>
      </p:sp>
      <p:sp>
        <p:nvSpPr>
          <p:cNvPr id="19" name="Shape 17"/>
          <p:cNvSpPr/>
          <p:nvPr/>
        </p:nvSpPr>
        <p:spPr>
          <a:xfrm>
            <a:off x="9052560" y="1783080"/>
            <a:ext cx="2606040" cy="3017520"/>
          </a:xfrm>
          <a:prstGeom prst="roundRect">
            <a:avLst>
              <a:gd name="adj" fmla="val 2105"/>
            </a:avLst>
          </a:prstGeom>
          <a:solidFill>
            <a:srgbClr val="D3EDF1"/>
          </a:solidFill>
          <a:ln w="12700">
            <a:solidFill>
              <a:srgbClr val="D3EDF1"/>
            </a:solidFill>
            <a:prstDash val="solid"/>
          </a:ln>
        </p:spPr>
      </p:sp>
      <p:sp>
        <p:nvSpPr>
          <p:cNvPr id="20" name="Text 18"/>
          <p:cNvSpPr/>
          <p:nvPr/>
        </p:nvSpPr>
        <p:spPr>
          <a:xfrm>
            <a:off x="9308592" y="1965960"/>
            <a:ext cx="20939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ISCSI VVOLS</a:t>
            </a:r>
            <a:endParaRPr lang="en-US" sz="950" dirty="0"/>
          </a:p>
        </p:txBody>
      </p:sp>
      <p:sp>
        <p:nvSpPr>
          <p:cNvPr id="21" name="Text 19"/>
          <p:cNvSpPr/>
          <p:nvPr/>
        </p:nvSpPr>
        <p:spPr>
          <a:xfrm>
            <a:off x="9308592" y="2240280"/>
            <a:ext cx="2093976" cy="68580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Pure Storage Cloud Azure Native</a:t>
            </a:r>
            <a:endParaRPr lang="en-US" sz="1500" dirty="0"/>
          </a:p>
        </p:txBody>
      </p:sp>
      <p:sp>
        <p:nvSpPr>
          <p:cNvPr id="22" name="Text 20"/>
          <p:cNvSpPr/>
          <p:nvPr/>
        </p:nvSpPr>
        <p:spPr>
          <a:xfrm>
            <a:off x="9308592" y="2980944"/>
            <a:ext cx="2093976" cy="1673352"/>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Software-defined, Azure-native block storage integration with elastic capacity and flexible performance.</a:t>
            </a:r>
            <a:endParaRPr lang="en-US" sz="1250" dirty="0"/>
          </a:p>
        </p:txBody>
      </p:sp>
      <p:sp>
        <p:nvSpPr>
          <p:cNvPr id="23" name="Shape 21"/>
          <p:cNvSpPr/>
          <p:nvPr/>
        </p:nvSpPr>
        <p:spPr>
          <a:xfrm>
            <a:off x="548640" y="5029200"/>
            <a:ext cx="11064240" cy="914400"/>
          </a:xfrm>
          <a:prstGeom prst="roundRect">
            <a:avLst>
              <a:gd name="adj" fmla="val 6000"/>
            </a:avLst>
          </a:prstGeom>
          <a:solidFill>
            <a:srgbClr val="EBEDED"/>
          </a:solidFill>
          <a:ln w="12700">
            <a:solidFill>
              <a:srgbClr val="EBEDED"/>
            </a:solidFill>
            <a:prstDash val="solid"/>
          </a:ln>
        </p:spPr>
      </p:sp>
      <p:sp>
        <p:nvSpPr>
          <p:cNvPr id="24" name="Shape 22"/>
          <p:cNvSpPr/>
          <p:nvPr/>
        </p:nvSpPr>
        <p:spPr>
          <a:xfrm>
            <a:off x="804672" y="5294376"/>
            <a:ext cx="384048" cy="384048"/>
          </a:xfrm>
          <a:prstGeom prst="ellipse">
            <a:avLst/>
          </a:prstGeom>
          <a:solidFill>
            <a:srgbClr val="00B3E2"/>
          </a:solidFill>
          <a:ln w="12700">
            <a:solidFill>
              <a:srgbClr val="00B3E2"/>
            </a:solidFill>
            <a:prstDash val="solid"/>
          </a:ln>
        </p:spPr>
      </p:sp>
      <p:sp>
        <p:nvSpPr>
          <p:cNvPr id="25" name="Text 23"/>
          <p:cNvSpPr/>
          <p:nvPr/>
        </p:nvSpPr>
        <p:spPr>
          <a:xfrm>
            <a:off x="804672" y="52943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26" name="Text 24"/>
          <p:cNvSpPr/>
          <p:nvPr/>
        </p:nvSpPr>
        <p:spPr>
          <a:xfrm>
            <a:off x="1389888" y="5175504"/>
            <a:ext cx="9966960" cy="62179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Selection principle: place each VM on the platform that matches its performance, availability, protocol, protection, and operational requirements. Include recovery capability and tooling, not only capacity and price.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AZURE ELASTIC SAN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Block storage attached as VMFS datastores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iSCSI volumes presented to ESXi, expanding capacity without adding AVS hosts.</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27</a:t>
            </a:r>
            <a:endParaRPr lang="en-US" sz="900" dirty="0"/>
          </a:p>
        </p:txBody>
      </p:sp>
      <p:sp>
        <p:nvSpPr>
          <p:cNvPr id="7" name="Text 5"/>
          <p:cNvSpPr/>
          <p:nvPr/>
        </p:nvSpPr>
        <p:spPr>
          <a:xfrm>
            <a:off x="548640" y="1783080"/>
            <a:ext cx="5669280" cy="22860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AVS supports attaching Elastic SAN volumes as persistent iSCSI datastores.</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Volumes are formatted as VMFS and attached to selected clusters.</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Block storage presents storage to ESXi rather than exposing an NFS directory tree.</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External VMFS storage allows datastore expansion without adding AVS hosts.</a:t>
            </a:r>
            <a:endParaRPr lang="en-US" sz="1400" dirty="0"/>
          </a:p>
        </p:txBody>
      </p:sp>
      <p:sp>
        <p:nvSpPr>
          <p:cNvPr id="8" name="Shape 6"/>
          <p:cNvSpPr/>
          <p:nvPr/>
        </p:nvSpPr>
        <p:spPr>
          <a:xfrm>
            <a:off x="6492240" y="1783080"/>
            <a:ext cx="5120640" cy="2286000"/>
          </a:xfrm>
          <a:prstGeom prst="roundRect">
            <a:avLst>
              <a:gd name="adj" fmla="val 2400"/>
            </a:avLst>
          </a:prstGeom>
          <a:solidFill>
            <a:srgbClr val="E5F7FC"/>
          </a:solidFill>
          <a:ln w="12700">
            <a:solidFill>
              <a:srgbClr val="E5F7FC"/>
            </a:solidFill>
            <a:prstDash val="solid"/>
          </a:ln>
        </p:spPr>
      </p:sp>
      <p:sp>
        <p:nvSpPr>
          <p:cNvPr id="9" name="Text 7"/>
          <p:cNvSpPr/>
          <p:nvPr/>
        </p:nvSpPr>
        <p:spPr>
          <a:xfrm>
            <a:off x="6748272" y="1965960"/>
            <a:ext cx="46085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SUPPORTED HOSTS</a:t>
            </a:r>
            <a:endParaRPr lang="en-US" sz="950" dirty="0"/>
          </a:p>
        </p:txBody>
      </p:sp>
      <p:sp>
        <p:nvSpPr>
          <p:cNvPr id="10" name="Text 8"/>
          <p:cNvSpPr/>
          <p:nvPr/>
        </p:nvSpPr>
        <p:spPr>
          <a:xfrm>
            <a:off x="6748272" y="2240280"/>
            <a:ext cx="46085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Gen 1 and Gen 2</a:t>
            </a:r>
            <a:endParaRPr lang="en-US" sz="1500" dirty="0"/>
          </a:p>
        </p:txBody>
      </p:sp>
      <p:sp>
        <p:nvSpPr>
          <p:cNvPr id="11" name="Text 9"/>
          <p:cNvSpPr/>
          <p:nvPr/>
        </p:nvSpPr>
        <p:spPr>
          <a:xfrm>
            <a:off x="6748272" y="2606040"/>
            <a:ext cx="4608576" cy="131673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Gen 1: AV36, AV36P, AV48, AV52, and AV64.</a:t>
            </a:r>
            <a:endParaRPr lang="en-US" sz="1300" dirty="0"/>
          </a:p>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Gen 2: AV64.</a:t>
            </a:r>
            <a:endParaRPr lang="en-US" sz="1300" dirty="0"/>
          </a:p>
        </p:txBody>
      </p:sp>
      <p:sp>
        <p:nvSpPr>
          <p:cNvPr id="12" name="Text 10"/>
          <p:cNvSpPr/>
          <p:nvPr/>
        </p:nvSpPr>
        <p:spPr>
          <a:xfrm>
            <a:off x="548640" y="425196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Deployment prerequisites</a:t>
            </a:r>
            <a:endParaRPr lang="en-US" sz="1700" dirty="0"/>
          </a:p>
        </p:txBody>
      </p:sp>
      <p:sp>
        <p:nvSpPr>
          <p:cNvPr id="13" name="Shape 11"/>
          <p:cNvSpPr/>
          <p:nvPr/>
        </p:nvSpPr>
        <p:spPr>
          <a:xfrm>
            <a:off x="548640" y="4663440"/>
            <a:ext cx="2606040" cy="1234440"/>
          </a:xfrm>
          <a:prstGeom prst="roundRect">
            <a:avLst>
              <a:gd name="adj" fmla="val 4444"/>
            </a:avLst>
          </a:prstGeom>
          <a:solidFill>
            <a:srgbClr val="EBEDED"/>
          </a:solidFill>
          <a:ln w="12700">
            <a:solidFill>
              <a:srgbClr val="EBEDED"/>
            </a:solidFill>
            <a:prstDash val="solid"/>
          </a:ln>
        </p:spPr>
      </p:sp>
      <p:sp>
        <p:nvSpPr>
          <p:cNvPr id="14" name="Text 12"/>
          <p:cNvSpPr/>
          <p:nvPr/>
        </p:nvSpPr>
        <p:spPr>
          <a:xfrm>
            <a:off x="804672" y="4846320"/>
            <a:ext cx="20939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Region and zone</a:t>
            </a:r>
            <a:endParaRPr lang="en-US" sz="1350" dirty="0"/>
          </a:p>
        </p:txBody>
      </p:sp>
      <p:sp>
        <p:nvSpPr>
          <p:cNvPr id="15" name="Text 13"/>
          <p:cNvSpPr/>
          <p:nvPr/>
        </p:nvSpPr>
        <p:spPr>
          <a:xfrm>
            <a:off x="804672" y="5212080"/>
            <a:ext cx="2093976" cy="5394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Deploy in a supported region and in the same availability zone as the AVS private cloud.</a:t>
            </a:r>
            <a:endParaRPr lang="en-US" sz="1150" dirty="0"/>
          </a:p>
        </p:txBody>
      </p:sp>
      <p:sp>
        <p:nvSpPr>
          <p:cNvPr id="16" name="Shape 14"/>
          <p:cNvSpPr/>
          <p:nvPr/>
        </p:nvSpPr>
        <p:spPr>
          <a:xfrm>
            <a:off x="3383280" y="4663440"/>
            <a:ext cx="2606040" cy="1234440"/>
          </a:xfrm>
          <a:prstGeom prst="roundRect">
            <a:avLst>
              <a:gd name="adj" fmla="val 4444"/>
            </a:avLst>
          </a:prstGeom>
          <a:solidFill>
            <a:srgbClr val="EBEDED"/>
          </a:solidFill>
          <a:ln w="12700">
            <a:solidFill>
              <a:srgbClr val="EBEDED"/>
            </a:solidFill>
            <a:prstDash val="solid"/>
          </a:ln>
        </p:spPr>
      </p:sp>
      <p:sp>
        <p:nvSpPr>
          <p:cNvPr id="17" name="Text 15"/>
          <p:cNvSpPr/>
          <p:nvPr/>
        </p:nvSpPr>
        <p:spPr>
          <a:xfrm>
            <a:off x="3639312" y="4846320"/>
            <a:ext cx="20939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16 TiB base size</a:t>
            </a:r>
            <a:endParaRPr lang="en-US" sz="1350" dirty="0"/>
          </a:p>
        </p:txBody>
      </p:sp>
      <p:sp>
        <p:nvSpPr>
          <p:cNvPr id="18" name="Text 16"/>
          <p:cNvSpPr/>
          <p:nvPr/>
        </p:nvSpPr>
        <p:spPr>
          <a:xfrm>
            <a:off x="3639312" y="5212080"/>
            <a:ext cx="2093976" cy="5394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Create the Elastic SAN with at least a 16 TiB base size.</a:t>
            </a:r>
            <a:endParaRPr lang="en-US" sz="1150" dirty="0"/>
          </a:p>
        </p:txBody>
      </p:sp>
      <p:sp>
        <p:nvSpPr>
          <p:cNvPr id="19" name="Shape 17"/>
          <p:cNvSpPr/>
          <p:nvPr/>
        </p:nvSpPr>
        <p:spPr>
          <a:xfrm>
            <a:off x="6217920" y="4663440"/>
            <a:ext cx="2606040" cy="1234440"/>
          </a:xfrm>
          <a:prstGeom prst="roundRect">
            <a:avLst>
              <a:gd name="adj" fmla="val 4444"/>
            </a:avLst>
          </a:prstGeom>
          <a:solidFill>
            <a:srgbClr val="EBEDED"/>
          </a:solidFill>
          <a:ln w="12700">
            <a:solidFill>
              <a:srgbClr val="EBEDED"/>
            </a:solidFill>
            <a:prstDash val="solid"/>
          </a:ln>
        </p:spPr>
      </p:sp>
      <p:sp>
        <p:nvSpPr>
          <p:cNvPr id="20" name="Text 18"/>
          <p:cNvSpPr/>
          <p:nvPr/>
        </p:nvSpPr>
        <p:spPr>
          <a:xfrm>
            <a:off x="6473952" y="4846320"/>
            <a:ext cx="20939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Disable CRC protection</a:t>
            </a:r>
            <a:endParaRPr lang="en-US" sz="1350" dirty="0"/>
          </a:p>
        </p:txBody>
      </p:sp>
      <p:sp>
        <p:nvSpPr>
          <p:cNvPr id="21" name="Text 19"/>
          <p:cNvSpPr/>
          <p:nvPr/>
        </p:nvSpPr>
        <p:spPr>
          <a:xfrm>
            <a:off x="6473952" y="5212080"/>
            <a:ext cx="2093976" cy="5394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Cyclic-redundancy-check protection on the volume group is not supported for AVS.</a:t>
            </a:r>
            <a:endParaRPr lang="en-US" sz="1150" dirty="0"/>
          </a:p>
        </p:txBody>
      </p:sp>
      <p:sp>
        <p:nvSpPr>
          <p:cNvPr id="22" name="Shape 20"/>
          <p:cNvSpPr/>
          <p:nvPr/>
        </p:nvSpPr>
        <p:spPr>
          <a:xfrm>
            <a:off x="9052560" y="4663440"/>
            <a:ext cx="2606040" cy="1234440"/>
          </a:xfrm>
          <a:prstGeom prst="roundRect">
            <a:avLst>
              <a:gd name="adj" fmla="val 4444"/>
            </a:avLst>
          </a:prstGeom>
          <a:solidFill>
            <a:srgbClr val="EBEDED"/>
          </a:solidFill>
          <a:ln w="12700">
            <a:solidFill>
              <a:srgbClr val="EBEDED"/>
            </a:solidFill>
            <a:prstDash val="solid"/>
          </a:ln>
        </p:spPr>
      </p:sp>
      <p:sp>
        <p:nvSpPr>
          <p:cNvPr id="23" name="Text 21"/>
          <p:cNvSpPr/>
          <p:nvPr/>
        </p:nvSpPr>
        <p:spPr>
          <a:xfrm>
            <a:off x="9308592" y="4846320"/>
            <a:ext cx="20939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RBAC</a:t>
            </a:r>
            <a:endParaRPr lang="en-US" sz="1350" dirty="0"/>
          </a:p>
        </p:txBody>
      </p:sp>
      <p:sp>
        <p:nvSpPr>
          <p:cNvPr id="24" name="Text 22"/>
          <p:cNvSpPr/>
          <p:nvPr/>
        </p:nvSpPr>
        <p:spPr>
          <a:xfrm>
            <a:off x="9308592" y="5212080"/>
            <a:ext cx="2093976" cy="5394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Confirm the required permissions across both AVS and Elastic SAN resources.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NETWORKING</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Address space, private endpoints, and MPIO</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Gen 1 requires a dedicated address block that cannot be edited later without support.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48640" y="1783080"/>
            <a:ext cx="5486400" cy="2423160"/>
          </a:xfrm>
          <a:prstGeom prst="roundRect">
            <a:avLst>
              <a:gd name="adj" fmla="val 2264"/>
            </a:avLst>
          </a:prstGeom>
          <a:solidFill>
            <a:srgbClr val="3E3E4B"/>
          </a:solidFill>
          <a:ln w="12700">
            <a:solidFill>
              <a:srgbClr val="3E3E4B"/>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GEN 1 REQUIREMENT</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A dedicated /24 for external storage</a:t>
            </a:r>
            <a:endParaRPr lang="en-US" sz="1600" dirty="0"/>
          </a:p>
        </p:txBody>
      </p:sp>
      <p:sp>
        <p:nvSpPr>
          <p:cNvPr id="10" name="Text 8"/>
          <p:cNvSpPr/>
          <p:nvPr/>
        </p:nvSpPr>
        <p:spPr>
          <a:xfrm>
            <a:off x="822960" y="2606040"/>
            <a:ext cx="4937760" cy="14538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Cannot overlap the AVS /22, connected VNets, or on-premises networks</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Normally drawn from RFC 1918 ranges; other ranges require a support request</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Enables multipathing from ESXi hosts to the storage target</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Cannot be edited after configuration without a support request</a:t>
            </a:r>
            <a:endParaRPr lang="en-US" sz="1250" dirty="0"/>
          </a:p>
        </p:txBody>
      </p:sp>
      <p:sp>
        <p:nvSpPr>
          <p:cNvPr id="11" name="Shape 9"/>
          <p:cNvSpPr/>
          <p:nvPr/>
        </p:nvSpPr>
        <p:spPr>
          <a:xfrm>
            <a:off x="6217920" y="1783080"/>
            <a:ext cx="5394960" cy="2423160"/>
          </a:xfrm>
          <a:prstGeom prst="roundRect">
            <a:avLst>
              <a:gd name="adj" fmla="val 2264"/>
            </a:avLst>
          </a:prstGeom>
          <a:solidFill>
            <a:srgbClr val="E5F7FC"/>
          </a:solidFill>
          <a:ln w="12700">
            <a:solidFill>
              <a:srgbClr val="E5F7FC"/>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SESSIONS AND PATHS</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Design for parallelism and resilience</a:t>
            </a:r>
            <a:endParaRPr lang="en-US" sz="1600" dirty="0"/>
          </a:p>
        </p:txBody>
      </p:sp>
      <p:sp>
        <p:nvSpPr>
          <p:cNvPr id="14" name="Text 12"/>
          <p:cNvSpPr/>
          <p:nvPr/>
        </p:nvSpPr>
        <p:spPr>
          <a:xfrm>
            <a:off x="6492240" y="2606040"/>
            <a:ext cx="4846320" cy="14538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Multiple private endpoints and sessions are recommended for Gen 1</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Multiple sessions reduce the effect of a single disconnect and help balance traffic</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Round-robin path selection and queue depth are general MPIO context</a:t>
            </a:r>
            <a:endParaRPr lang="en-US" sz="1250" dirty="0"/>
          </a:p>
        </p:txBody>
      </p:sp>
      <p:sp>
        <p:nvSpPr>
          <p:cNvPr id="15" name="Shape 13"/>
          <p:cNvSpPr/>
          <p:nvPr/>
        </p:nvSpPr>
        <p:spPr>
          <a:xfrm>
            <a:off x="548640" y="4389120"/>
            <a:ext cx="11064240" cy="1097280"/>
          </a:xfrm>
          <a:prstGeom prst="roundRect">
            <a:avLst>
              <a:gd name="adj" fmla="val 5000"/>
            </a:avLst>
          </a:prstGeom>
          <a:solidFill>
            <a:srgbClr val="FDE8E0"/>
          </a:solidFill>
          <a:ln w="12700">
            <a:solidFill>
              <a:srgbClr val="FDE8E0"/>
            </a:solidFill>
            <a:prstDash val="solid"/>
          </a:ln>
        </p:spPr>
      </p:sp>
      <p:sp>
        <p:nvSpPr>
          <p:cNvPr id="16" name="Shape 14"/>
          <p:cNvSpPr/>
          <p:nvPr/>
        </p:nvSpPr>
        <p:spPr>
          <a:xfrm>
            <a:off x="804672" y="4745736"/>
            <a:ext cx="384048" cy="384048"/>
          </a:xfrm>
          <a:prstGeom prst="ellipse">
            <a:avLst/>
          </a:prstGeom>
          <a:solidFill>
            <a:srgbClr val="F15D23"/>
          </a:solidFill>
          <a:ln w="12700">
            <a:solidFill>
              <a:srgbClr val="F15D23"/>
            </a:solidFill>
            <a:prstDash val="solid"/>
          </a:ln>
        </p:spPr>
      </p:sp>
      <p:sp>
        <p:nvSpPr>
          <p:cNvPr id="17" name="Text 15"/>
          <p:cNvSpPr/>
          <p:nvPr/>
        </p:nvSpPr>
        <p:spPr>
          <a:xfrm>
            <a:off x="804672" y="47457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89888" y="4535424"/>
            <a:ext cx="9966960" cy="804672"/>
          </a:xfrm>
          <a:prstGeom prst="rect">
            <a:avLst/>
          </a:prstGeom>
          <a:noFill/>
          <a:ln/>
        </p:spPr>
        <p:txBody>
          <a:bodyPr wrap="square" lIns="0" tIns="0" rIns="0" bIns="0" rtlCol="0" anchor="ctr"/>
          <a:lstStyle/>
          <a:p>
            <a:pPr indent="0" marL="0">
              <a:lnSpc>
                <a:spcPts val="1700"/>
              </a:lnSpc>
              <a:buNone/>
            </a:pPr>
            <a:r>
              <a:rPr lang="en-US" sz="1400" dirty="0">
                <a:solidFill>
                  <a:srgbClr val="3E3E4B"/>
                </a:solidFill>
                <a:latin typeface="Calibri" pitchFamily="34" charset="0"/>
                <a:ea typeface="Calibri" pitchFamily="34" charset="-122"/>
                <a:cs typeface="Calibri" pitchFamily="34" charset="-120"/>
              </a:rPr>
              <a:t>Configure all private endpoints before attaching the datastore. Adding endpoints later requires detaching and reconnecting the datastore, which is disruptive to the workloads on it.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HARD CEILING</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The 128-connection limit is a design constraint</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Hosts multiplied by sessions per host, counted across every cluster attached to the datastore.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29</a:t>
            </a:r>
            <a:endParaRPr lang="en-US" sz="900" dirty="0"/>
          </a:p>
        </p:txBody>
      </p:sp>
      <p:graphicFrame>
        <p:nvGraphicFramePr>
          <p:cNvPr id="7" name="Chart 0" descr=""/>
          <p:cNvGraphicFramePr/>
          <p:nvPr/>
        </p:nvGraphicFramePr>
        <p:xfrm>
          <a:off x="548640" y="1783080"/>
          <a:ext cx="6400800" cy="35661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223760" y="1783080"/>
            <a:ext cx="4389120" cy="1600200"/>
          </a:xfrm>
          <a:prstGeom prst="roundRect">
            <a:avLst>
              <a:gd name="adj" fmla="val 3429"/>
            </a:avLst>
          </a:prstGeom>
          <a:solidFill>
            <a:srgbClr val="FDE8E0"/>
          </a:solidFill>
          <a:ln w="12700">
            <a:solidFill>
              <a:srgbClr val="FDE8E0"/>
            </a:solidFill>
            <a:prstDash val="solid"/>
          </a:ln>
        </p:spPr>
      </p:sp>
      <p:sp>
        <p:nvSpPr>
          <p:cNvPr id="9" name="Text 6"/>
          <p:cNvSpPr/>
          <p:nvPr/>
        </p:nvSpPr>
        <p:spPr>
          <a:xfrm>
            <a:off x="7479792" y="1965960"/>
            <a:ext cx="3877056" cy="219456"/>
          </a:xfrm>
          <a:prstGeom prst="rect">
            <a:avLst/>
          </a:prstGeom>
          <a:noFill/>
          <a:ln/>
        </p:spPr>
        <p:txBody>
          <a:bodyPr wrap="square" lIns="0" tIns="0" rIns="0" bIns="0" rtlCol="0" anchor="ctr"/>
          <a:lstStyle/>
          <a:p>
            <a:pPr indent="0" marL="0">
              <a:buNone/>
            </a:pPr>
            <a:r>
              <a:rPr lang="en-US" sz="950" b="1" spc="120" kern="0" dirty="0">
                <a:solidFill>
                  <a:srgbClr val="F15D23"/>
                </a:solidFill>
                <a:latin typeface="Calibri" pitchFamily="34" charset="0"/>
                <a:ea typeface="Calibri" pitchFamily="34" charset="-122"/>
                <a:cs typeface="Calibri" pitchFamily="34" charset="-120"/>
              </a:rPr>
              <a:t>AT THE CEILING</a:t>
            </a:r>
            <a:endParaRPr lang="en-US" sz="950" dirty="0"/>
          </a:p>
        </p:txBody>
      </p:sp>
      <p:sp>
        <p:nvSpPr>
          <p:cNvPr id="10" name="Text 7"/>
          <p:cNvSpPr/>
          <p:nvPr/>
        </p:nvSpPr>
        <p:spPr>
          <a:xfrm>
            <a:off x="7479792" y="2240280"/>
            <a:ext cx="387705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No room for maintenance</a:t>
            </a:r>
            <a:endParaRPr lang="en-US" sz="1500" dirty="0"/>
          </a:p>
        </p:txBody>
      </p:sp>
      <p:sp>
        <p:nvSpPr>
          <p:cNvPr id="11" name="Text 8"/>
          <p:cNvSpPr/>
          <p:nvPr/>
        </p:nvSpPr>
        <p:spPr>
          <a:xfrm>
            <a:off x="7479792" y="2606040"/>
            <a:ext cx="3877056" cy="63093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At 128 connections an additional maintenance host cannot attach to the datastore, which can block maintenance workflows.</a:t>
            </a:r>
            <a:endParaRPr lang="en-US" sz="1250" dirty="0"/>
          </a:p>
        </p:txBody>
      </p:sp>
      <p:sp>
        <p:nvSpPr>
          <p:cNvPr id="12" name="Shape 9"/>
          <p:cNvSpPr/>
          <p:nvPr/>
        </p:nvSpPr>
        <p:spPr>
          <a:xfrm>
            <a:off x="7223760" y="3566160"/>
            <a:ext cx="4389120" cy="1783080"/>
          </a:xfrm>
          <a:prstGeom prst="roundRect">
            <a:avLst>
              <a:gd name="adj" fmla="val 3077"/>
            </a:avLst>
          </a:prstGeom>
          <a:solidFill>
            <a:srgbClr val="E2F2E8"/>
          </a:solidFill>
          <a:ln w="12700">
            <a:solidFill>
              <a:srgbClr val="E2F2E8"/>
            </a:solidFill>
            <a:prstDash val="solid"/>
          </a:ln>
        </p:spPr>
      </p:sp>
      <p:sp>
        <p:nvSpPr>
          <p:cNvPr id="13" name="Text 10"/>
          <p:cNvSpPr/>
          <p:nvPr/>
        </p:nvSpPr>
        <p:spPr>
          <a:xfrm>
            <a:off x="7479792" y="3749040"/>
            <a:ext cx="3877056" cy="219456"/>
          </a:xfrm>
          <a:prstGeom prst="rect">
            <a:avLst/>
          </a:prstGeom>
          <a:noFill/>
          <a:ln/>
        </p:spPr>
        <p:txBody>
          <a:bodyPr wrap="square" lIns="0" tIns="0" rIns="0" bIns="0" rtlCol="0" anchor="ctr"/>
          <a:lstStyle/>
          <a:p>
            <a:pPr indent="0" marL="0">
              <a:buNone/>
            </a:pPr>
            <a:r>
              <a:rPr lang="en-US" sz="950" b="1" spc="120" kern="0" dirty="0">
                <a:solidFill>
                  <a:srgbClr val="00AD93"/>
                </a:solidFill>
                <a:latin typeface="Calibri" pitchFamily="34" charset="0"/>
                <a:ea typeface="Calibri" pitchFamily="34" charset="-122"/>
                <a:cs typeface="Calibri" pitchFamily="34" charset="-120"/>
              </a:rPr>
              <a:t>RECOMMENDED HEADROOM</a:t>
            </a:r>
            <a:endParaRPr lang="en-US" sz="950" dirty="0"/>
          </a:p>
        </p:txBody>
      </p:sp>
      <p:sp>
        <p:nvSpPr>
          <p:cNvPr id="14" name="Text 11"/>
          <p:cNvSpPr/>
          <p:nvPr/>
        </p:nvSpPr>
        <p:spPr>
          <a:xfrm>
            <a:off x="7479792" y="4023360"/>
            <a:ext cx="387705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Leave sessions in reserve</a:t>
            </a:r>
            <a:endParaRPr lang="en-US" sz="1500" dirty="0"/>
          </a:p>
        </p:txBody>
      </p:sp>
      <p:sp>
        <p:nvSpPr>
          <p:cNvPr id="15" name="Text 12"/>
          <p:cNvSpPr/>
          <p:nvPr/>
        </p:nvSpPr>
        <p:spPr>
          <a:xfrm>
            <a:off x="7479792" y="4389120"/>
            <a:ext cx="3877056" cy="81381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For a 16-host AV36, AV36P, or AV52 cluster: six sessions over three private endpoints, using 96 connections and leaving 32 free. For AV64: seven sessions over seven private endpoints.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CONNECTIVITY</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Elastic SAN on Gen 1 versus Gen 2</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The path to the private endpoint is the architectural difference.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548640" y="1783080"/>
            <a:ext cx="5440680" cy="3749040"/>
          </a:xfrm>
          <a:prstGeom prst="roundRect">
            <a:avLst>
              <a:gd name="adj" fmla="val 1463"/>
            </a:avLst>
          </a:prstGeom>
          <a:solidFill>
            <a:srgbClr val="EBEDED"/>
          </a:solidFill>
          <a:ln w="12700">
            <a:solidFill>
              <a:srgbClr val="EBEDED"/>
            </a:solidFill>
            <a:prstDash val="solid"/>
          </a:ln>
        </p:spPr>
      </p:sp>
      <p:sp>
        <p:nvSpPr>
          <p:cNvPr id="8" name="Text 6"/>
          <p:cNvSpPr/>
          <p:nvPr/>
        </p:nvSpPr>
        <p:spPr>
          <a:xfrm>
            <a:off x="841248" y="1965960"/>
            <a:ext cx="4846320" cy="365760"/>
          </a:xfrm>
          <a:prstGeom prst="rect">
            <a:avLst/>
          </a:prstGeom>
          <a:noFill/>
          <a:ln/>
        </p:spPr>
        <p:txBody>
          <a:bodyPr wrap="square" lIns="0" tIns="0" rIns="0" bIns="0" rtlCol="0" anchor="ctr"/>
          <a:lstStyle/>
          <a:p>
            <a:pPr indent="0" marL="0">
              <a:buNone/>
            </a:pPr>
            <a:r>
              <a:rPr lang="en-US" sz="2000" b="1" dirty="0">
                <a:solidFill>
                  <a:srgbClr val="3E3E4B"/>
                </a:solidFill>
                <a:latin typeface="Calibri" pitchFamily="34" charset="0"/>
                <a:ea typeface="Calibri" pitchFamily="34" charset="-122"/>
                <a:cs typeface="Calibri" pitchFamily="34" charset="-120"/>
              </a:rPr>
              <a:t>Gen 1</a:t>
            </a:r>
            <a:endParaRPr lang="en-US" sz="2000" dirty="0"/>
          </a:p>
        </p:txBody>
      </p:sp>
      <p:sp>
        <p:nvSpPr>
          <p:cNvPr id="9" name="Text 7"/>
          <p:cNvSpPr/>
          <p:nvPr/>
        </p:nvSpPr>
        <p:spPr>
          <a:xfrm>
            <a:off x="841248" y="2359152"/>
            <a:ext cx="4846320" cy="274320"/>
          </a:xfrm>
          <a:prstGeom prst="rect">
            <a:avLst/>
          </a:prstGeom>
          <a:noFill/>
          <a:ln/>
        </p:spPr>
        <p:txBody>
          <a:bodyPr wrap="square" lIns="0" tIns="0" rIns="0" bIns="0" rtlCol="0" anchor="ctr"/>
          <a:lstStyle/>
          <a:p>
            <a:pPr indent="0" marL="0">
              <a:buNone/>
            </a:pPr>
            <a:r>
              <a:rPr lang="en-US" sz="1250" dirty="0">
                <a:solidFill>
                  <a:srgbClr val="6E6E7A"/>
                </a:solidFill>
                <a:latin typeface="Calibri" pitchFamily="34" charset="0"/>
                <a:ea typeface="Calibri" pitchFamily="34" charset="-122"/>
                <a:cs typeface="Calibri" pitchFamily="34" charset="-120"/>
              </a:rPr>
              <a:t>Via ExpressRoute virtual network gateway</a:t>
            </a:r>
            <a:endParaRPr lang="en-US" sz="1250" dirty="0"/>
          </a:p>
        </p:txBody>
      </p:sp>
      <p:sp>
        <p:nvSpPr>
          <p:cNvPr id="10" name="Text 8"/>
          <p:cNvSpPr/>
          <p:nvPr/>
        </p:nvSpPr>
        <p:spPr>
          <a:xfrm>
            <a:off x="859536" y="2743200"/>
            <a:ext cx="4846320" cy="26060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Reaches Elastic SAN private endpoints through an ExpressRoute gateway.</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Gateway throughput must be sized for the SAN workload.</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Current example: one UltraPerformance gateway supports 1,280 Mbps, and one fully utilized datastore can consume it.</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Multiple gateways may be required.</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Gateway maintenance can cause brief connectivity interruptions as sessions reconnect.</a:t>
            </a:r>
            <a:endParaRPr lang="en-US" sz="1300" dirty="0"/>
          </a:p>
        </p:txBody>
      </p:sp>
      <p:sp>
        <p:nvSpPr>
          <p:cNvPr id="11" name="Shape 9"/>
          <p:cNvSpPr/>
          <p:nvPr/>
        </p:nvSpPr>
        <p:spPr>
          <a:xfrm>
            <a:off x="6172200" y="1783080"/>
            <a:ext cx="5440680" cy="3749040"/>
          </a:xfrm>
          <a:prstGeom prst="roundRect">
            <a:avLst>
              <a:gd name="adj" fmla="val 1463"/>
            </a:avLst>
          </a:prstGeom>
          <a:solidFill>
            <a:srgbClr val="3E3E4B"/>
          </a:solidFill>
          <a:ln w="12700">
            <a:solidFill>
              <a:srgbClr val="3E3E4B"/>
            </a:solidFill>
            <a:prstDash val="solid"/>
          </a:ln>
        </p:spPr>
      </p:sp>
      <p:sp>
        <p:nvSpPr>
          <p:cNvPr id="12" name="Text 10"/>
          <p:cNvSpPr/>
          <p:nvPr/>
        </p:nvSpPr>
        <p:spPr>
          <a:xfrm>
            <a:off x="6464808" y="1965960"/>
            <a:ext cx="484632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Gen 2</a:t>
            </a:r>
            <a:endParaRPr lang="en-US" sz="2000" dirty="0"/>
          </a:p>
        </p:txBody>
      </p:sp>
      <p:sp>
        <p:nvSpPr>
          <p:cNvPr id="13" name="Text 11"/>
          <p:cNvSpPr/>
          <p:nvPr/>
        </p:nvSpPr>
        <p:spPr>
          <a:xfrm>
            <a:off x="6464808" y="2359152"/>
            <a:ext cx="4846320" cy="274320"/>
          </a:xfrm>
          <a:prstGeom prst="rect">
            <a:avLst/>
          </a:prstGeom>
          <a:noFill/>
          <a:ln/>
        </p:spPr>
        <p:txBody>
          <a:bodyPr wrap="square" lIns="0" tIns="0" rIns="0" bIns="0" rtlCol="0" anchor="ctr"/>
          <a:lstStyle/>
          <a:p>
            <a:pPr indent="0" marL="0">
              <a:buNone/>
            </a:pPr>
            <a:r>
              <a:rPr lang="en-US" sz="1250" dirty="0">
                <a:solidFill>
                  <a:srgbClr val="B2E8F6"/>
                </a:solidFill>
                <a:latin typeface="Calibri" pitchFamily="34" charset="0"/>
                <a:ea typeface="Calibri" pitchFamily="34" charset="-122"/>
                <a:cs typeface="Calibri" pitchFamily="34" charset="-120"/>
              </a:rPr>
              <a:t>Via private-cloud connectivity</a:t>
            </a:r>
            <a:endParaRPr lang="en-US" sz="1250" dirty="0"/>
          </a:p>
        </p:txBody>
      </p:sp>
      <p:sp>
        <p:nvSpPr>
          <p:cNvPr id="14" name="Text 12"/>
          <p:cNvSpPr/>
          <p:nvPr/>
        </p:nvSpPr>
        <p:spPr>
          <a:xfrm>
            <a:off x="6483096" y="2743200"/>
            <a:ext cx="4846320" cy="26060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Deployed inside an Azure virtual network; ExpressRoute is not required for this integration.</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Uses private-cloud connectivity to the Elastic SAN private endpoint.</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A single private endpoint is sufficient because Gen 2 clones iSCSI sessions.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Removes the gateway as a throughput bottleneck.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OPERATIONS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Performance expectations and All Paths Down</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Benchmark carefully, and teach the operations team to read APD events correctly.</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548640" y="1783080"/>
            <a:ext cx="5486400" cy="2194560"/>
          </a:xfrm>
          <a:prstGeom prst="roundRect">
            <a:avLst>
              <a:gd name="adj" fmla="val 2500"/>
            </a:avLst>
          </a:prstGeom>
          <a:solidFill>
            <a:srgbClr val="FDF3E0"/>
          </a:solidFill>
          <a:ln w="12700">
            <a:solidFill>
              <a:srgbClr val="FDF3E0"/>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BENCHMARK CAUTION</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Validate against your own configuration</a:t>
            </a:r>
            <a:endParaRPr lang="en-US" sz="1500" dirty="0"/>
          </a:p>
        </p:txBody>
      </p:sp>
      <p:sp>
        <p:nvSpPr>
          <p:cNvPr id="10" name="Text 8"/>
          <p:cNvSpPr/>
          <p:nvPr/>
        </p:nvSpPr>
        <p:spPr>
          <a:xfrm>
            <a:off x="804672" y="2606040"/>
            <a:ext cx="4974336" cy="12252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Session figures of roughly 100,000 IOPS on a 4 KB mixed test and over 1,600 MB/s on a 1 MB sequential read do not match published values on the current integration page. Use the Elastic SAN performance documentation and test the deployed configuration.</a:t>
            </a:r>
            <a:endParaRPr lang="en-US" sz="1250" dirty="0"/>
          </a:p>
        </p:txBody>
      </p:sp>
      <p:sp>
        <p:nvSpPr>
          <p:cNvPr id="11" name="Shape 9"/>
          <p:cNvSpPr/>
          <p:nvPr/>
        </p:nvSpPr>
        <p:spPr>
          <a:xfrm>
            <a:off x="6217920" y="1783080"/>
            <a:ext cx="5394960" cy="2194560"/>
          </a:xfrm>
          <a:prstGeom prst="roundRect">
            <a:avLst>
              <a:gd name="adj" fmla="val 2500"/>
            </a:avLst>
          </a:prstGeom>
          <a:solidFill>
            <a:srgbClr val="E5F7FC"/>
          </a:solidFill>
          <a:ln w="12700">
            <a:solidFill>
              <a:srgbClr val="E5F7FC"/>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WHAT SHAPES THROUGHPUT</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Three inputs</a:t>
            </a:r>
            <a:endParaRPr lang="en-US" sz="1500" dirty="0"/>
          </a:p>
        </p:txBody>
      </p:sp>
      <p:sp>
        <p:nvSpPr>
          <p:cNvPr id="14" name="Text 12"/>
          <p:cNvSpPr/>
          <p:nvPr/>
        </p:nvSpPr>
        <p:spPr>
          <a:xfrm>
            <a:off x="6492240" y="2606040"/>
            <a:ext cx="4846320" cy="122529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Gateway throughput on Gen 1</a:t>
            </a:r>
            <a:endParaRPr lang="en-US" sz="1300" dirty="0"/>
          </a:p>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Number of configured sessions</a:t>
            </a:r>
            <a:endParaRPr lang="en-US" sz="1300" dirty="0"/>
          </a:p>
          <a:p>
            <a:pPr marL="342900" indent="-342900">
              <a:spcAft>
                <a:spcPts val="500"/>
              </a:spcAft>
              <a:buSzPct val="100000"/>
              <a:buChar char="•"/>
            </a:pPr>
            <a:r>
              <a:rPr lang="en-US" sz="1300" dirty="0">
                <a:solidFill>
                  <a:srgbClr val="4A4A57"/>
                </a:solidFill>
                <a:latin typeface="Calibri" pitchFamily="34" charset="0"/>
                <a:ea typeface="Calibri" pitchFamily="34" charset="-122"/>
                <a:cs typeface="Calibri" pitchFamily="34" charset="-120"/>
              </a:rPr>
              <a:t>Number of private endpoints</a:t>
            </a:r>
            <a:endParaRPr lang="en-US" sz="1300" dirty="0"/>
          </a:p>
        </p:txBody>
      </p:sp>
      <p:sp>
        <p:nvSpPr>
          <p:cNvPr id="15" name="Text 13"/>
          <p:cNvSpPr/>
          <p:nvPr/>
        </p:nvSpPr>
        <p:spPr>
          <a:xfrm>
            <a:off x="548640" y="416052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All Paths Down events</a:t>
            </a:r>
            <a:endParaRPr lang="en-US" sz="1700" dirty="0"/>
          </a:p>
        </p:txBody>
      </p:sp>
      <p:sp>
        <p:nvSpPr>
          <p:cNvPr id="16" name="Shape 14"/>
          <p:cNvSpPr/>
          <p:nvPr/>
        </p:nvSpPr>
        <p:spPr>
          <a:xfrm>
            <a:off x="548640" y="4572000"/>
            <a:ext cx="3520440" cy="1280160"/>
          </a:xfrm>
          <a:prstGeom prst="roundRect">
            <a:avLst>
              <a:gd name="adj" fmla="val 4286"/>
            </a:avLst>
          </a:prstGeom>
          <a:solidFill>
            <a:srgbClr val="EBEDED"/>
          </a:solidFill>
          <a:ln w="12700">
            <a:solidFill>
              <a:srgbClr val="EBEDED"/>
            </a:solidFill>
            <a:prstDash val="solid"/>
          </a:ln>
        </p:spPr>
      </p:sp>
      <p:sp>
        <p:nvSpPr>
          <p:cNvPr id="17" name="Text 15"/>
          <p:cNvSpPr/>
          <p:nvPr/>
        </p:nvSpPr>
        <p:spPr>
          <a:xfrm>
            <a:off x="804672" y="4754880"/>
            <a:ext cx="30083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What triggers them</a:t>
            </a:r>
            <a:endParaRPr lang="en-US" sz="1350" dirty="0"/>
          </a:p>
        </p:txBody>
      </p:sp>
      <p:sp>
        <p:nvSpPr>
          <p:cNvPr id="18" name="Text 16"/>
          <p:cNvSpPr/>
          <p:nvPr/>
        </p:nvSpPr>
        <p:spPr>
          <a:xfrm>
            <a:off x="804672" y="5120640"/>
            <a:ext cx="3008376" cy="58521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Session disconnects can appear as APD events in vCenter and ESXi logs.</a:t>
            </a:r>
            <a:endParaRPr lang="en-US" sz="1200" dirty="0"/>
          </a:p>
        </p:txBody>
      </p:sp>
      <p:sp>
        <p:nvSpPr>
          <p:cNvPr id="19" name="Shape 17"/>
          <p:cNvSpPr/>
          <p:nvPr/>
        </p:nvSpPr>
        <p:spPr>
          <a:xfrm>
            <a:off x="4325112" y="4572000"/>
            <a:ext cx="3520440" cy="1280160"/>
          </a:xfrm>
          <a:prstGeom prst="roundRect">
            <a:avLst>
              <a:gd name="adj" fmla="val 4286"/>
            </a:avLst>
          </a:prstGeom>
          <a:solidFill>
            <a:srgbClr val="EBEDED"/>
          </a:solidFill>
          <a:ln w="12700">
            <a:solidFill>
              <a:srgbClr val="EBEDED"/>
            </a:solidFill>
            <a:prstDash val="solid"/>
          </a:ln>
        </p:spPr>
      </p:sp>
      <p:sp>
        <p:nvSpPr>
          <p:cNvPr id="20" name="Text 18"/>
          <p:cNvSpPr/>
          <p:nvPr/>
        </p:nvSpPr>
        <p:spPr>
          <a:xfrm>
            <a:off x="4581144" y="4754880"/>
            <a:ext cx="30083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What reduces them</a:t>
            </a:r>
            <a:endParaRPr lang="en-US" sz="1350" dirty="0"/>
          </a:p>
        </p:txBody>
      </p:sp>
      <p:sp>
        <p:nvSpPr>
          <p:cNvPr id="21" name="Text 19"/>
          <p:cNvSpPr/>
          <p:nvPr/>
        </p:nvSpPr>
        <p:spPr>
          <a:xfrm>
            <a:off x="4581144" y="5120640"/>
            <a:ext cx="3008376" cy="58521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Multiple sessions reduce the effect of a single disconnect while connections re-establish.</a:t>
            </a:r>
            <a:endParaRPr lang="en-US" sz="1200" dirty="0"/>
          </a:p>
        </p:txBody>
      </p:sp>
      <p:sp>
        <p:nvSpPr>
          <p:cNvPr id="22" name="Shape 20"/>
          <p:cNvSpPr/>
          <p:nvPr/>
        </p:nvSpPr>
        <p:spPr>
          <a:xfrm>
            <a:off x="8101584" y="4572000"/>
            <a:ext cx="3520440" cy="1280160"/>
          </a:xfrm>
          <a:prstGeom prst="roundRect">
            <a:avLst>
              <a:gd name="adj" fmla="val 4286"/>
            </a:avLst>
          </a:prstGeom>
          <a:solidFill>
            <a:srgbClr val="EBEDED"/>
          </a:solidFill>
          <a:ln w="12700">
            <a:solidFill>
              <a:srgbClr val="EBEDED"/>
            </a:solidFill>
            <a:prstDash val="solid"/>
          </a:ln>
        </p:spPr>
      </p:sp>
      <p:sp>
        <p:nvSpPr>
          <p:cNvPr id="23" name="Text 21"/>
          <p:cNvSpPr/>
          <p:nvPr/>
        </p:nvSpPr>
        <p:spPr>
          <a:xfrm>
            <a:off x="8357616" y="4754880"/>
            <a:ext cx="3008376" cy="310896"/>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How to interpret them</a:t>
            </a:r>
            <a:endParaRPr lang="en-US" sz="1350" dirty="0"/>
          </a:p>
        </p:txBody>
      </p:sp>
      <p:sp>
        <p:nvSpPr>
          <p:cNvPr id="24" name="Text 22"/>
          <p:cNvSpPr/>
          <p:nvPr/>
        </p:nvSpPr>
        <p:spPr>
          <a:xfrm>
            <a:off x="8357616" y="5120640"/>
            <a:ext cx="3008376" cy="58521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Gen 1 gateway maintenance can cause intermittent connectivity. Distinguish transient APD from sustained unavailability.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AZURE NETAPP FILES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NFS datastores from a first-party Azure service</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Bare-metal all-flash performance, attached without adding AVS compute.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1783080"/>
            <a:ext cx="5760720" cy="26517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Azure-native, first-party, enterprise-class file-storage service.</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In-Azure bare-metal all-flash performance with submillisecond latency for the Standard, Premium, Ultra, and Flexible service levels.</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AVS mounts ANF volumes as NFS datastores.</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Traffic travels from the ESXi VMkernel port directly to the NFS mount over the Azure network.</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Expands storage without adding AVS compute hosts.</a:t>
            </a:r>
            <a:endParaRPr lang="en-US" sz="1400" dirty="0"/>
          </a:p>
        </p:txBody>
      </p:sp>
      <p:sp>
        <p:nvSpPr>
          <p:cNvPr id="8" name="Shape 6"/>
          <p:cNvSpPr/>
          <p:nvPr/>
        </p:nvSpPr>
        <p:spPr>
          <a:xfrm>
            <a:off x="6583680" y="1783080"/>
            <a:ext cx="5029200" cy="2651760"/>
          </a:xfrm>
          <a:prstGeom prst="roundRect">
            <a:avLst>
              <a:gd name="adj" fmla="val 2069"/>
            </a:avLst>
          </a:prstGeom>
          <a:solidFill>
            <a:srgbClr val="E5F7FC"/>
          </a:solidFill>
          <a:ln w="12700">
            <a:solidFill>
              <a:srgbClr val="E5F7FC"/>
            </a:solidFill>
            <a:prstDash val="solid"/>
          </a:ln>
        </p:spPr>
      </p:sp>
      <p:sp>
        <p:nvSpPr>
          <p:cNvPr id="9" name="Text 7"/>
          <p:cNvSpPr/>
          <p:nvPr/>
        </p:nvSpPr>
        <p:spPr>
          <a:xfrm>
            <a:off x="6839712" y="1965960"/>
            <a:ext cx="45171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ATTACHMENT</a:t>
            </a:r>
            <a:endParaRPr lang="en-US" sz="950" dirty="0"/>
          </a:p>
        </p:txBody>
      </p:sp>
      <p:sp>
        <p:nvSpPr>
          <p:cNvPr id="10" name="Text 8"/>
          <p:cNvSpPr/>
          <p:nvPr/>
        </p:nvSpPr>
        <p:spPr>
          <a:xfrm>
            <a:off x="6839712" y="2240280"/>
            <a:ext cx="45171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Connect Azure NetApp Files volume</a:t>
            </a:r>
            <a:endParaRPr lang="en-US" sz="1500" dirty="0"/>
          </a:p>
        </p:txBody>
      </p:sp>
      <p:sp>
        <p:nvSpPr>
          <p:cNvPr id="11" name="Text 9"/>
          <p:cNvSpPr/>
          <p:nvPr/>
        </p:nvSpPr>
        <p:spPr>
          <a:xfrm>
            <a:off x="6858000" y="2606040"/>
            <a:ext cx="4480560" cy="168249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Create an ANF NFS volume meeting the AVS prerequisites</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In the private cloud, select subscription, account, capacity pool, and volume</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Azure configures the datastore association and ESXi access</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Permissions are required across both AVS and ANF resources</a:t>
            </a:r>
            <a:endParaRPr lang="en-US" sz="1200" dirty="0"/>
          </a:p>
        </p:txBody>
      </p:sp>
      <p:sp>
        <p:nvSpPr>
          <p:cNvPr id="12" name="Shape 10"/>
          <p:cNvSpPr/>
          <p:nvPr/>
        </p:nvSpPr>
        <p:spPr>
          <a:xfrm>
            <a:off x="548640" y="4663440"/>
            <a:ext cx="11064240" cy="914400"/>
          </a:xfrm>
          <a:prstGeom prst="roundRect">
            <a:avLst>
              <a:gd name="adj" fmla="val 6000"/>
            </a:avLst>
          </a:prstGeom>
          <a:solidFill>
            <a:srgbClr val="E2F2E8"/>
          </a:solidFill>
          <a:ln w="12700">
            <a:solidFill>
              <a:srgbClr val="E2F2E8"/>
            </a:solidFill>
            <a:prstDash val="solid"/>
          </a:ln>
        </p:spPr>
      </p:sp>
      <p:sp>
        <p:nvSpPr>
          <p:cNvPr id="13" name="Shape 11"/>
          <p:cNvSpPr/>
          <p:nvPr/>
        </p:nvSpPr>
        <p:spPr>
          <a:xfrm>
            <a:off x="804672" y="4928616"/>
            <a:ext cx="384048" cy="384048"/>
          </a:xfrm>
          <a:prstGeom prst="ellipse">
            <a:avLst/>
          </a:prstGeom>
          <a:solidFill>
            <a:srgbClr val="00AD93"/>
          </a:solidFill>
          <a:ln w="12700">
            <a:solidFill>
              <a:srgbClr val="00AD93"/>
            </a:solidFill>
            <a:prstDash val="solid"/>
          </a:ln>
        </p:spPr>
      </p:sp>
      <p:sp>
        <p:nvSpPr>
          <p:cNvPr id="14" name="Text 12"/>
          <p:cNvSpPr/>
          <p:nvPr/>
        </p:nvSpPr>
        <p:spPr>
          <a:xfrm>
            <a:off x="804672" y="4928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389888" y="4809744"/>
            <a:ext cx="9966960" cy="62179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This is the shortest path from a capacity problem to a solution: a datastore appears in vCenter, and Storage vMotion does the rest.</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SCALE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ANF datastore scale and measured performance</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Performance scales with host count and datastore count because both add network flows.</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33</a:t>
            </a:r>
            <a:endParaRPr lang="en-US" sz="900" dirty="0"/>
          </a:p>
        </p:txBody>
      </p:sp>
      <p:sp>
        <p:nvSpPr>
          <p:cNvPr id="7" name="Shape 5"/>
          <p:cNvSpPr/>
          <p:nvPr/>
        </p:nvSpPr>
        <p:spPr>
          <a:xfrm>
            <a:off x="548640" y="1737360"/>
            <a:ext cx="3520440" cy="1783080"/>
          </a:xfrm>
          <a:prstGeom prst="roundRect">
            <a:avLst>
              <a:gd name="adj" fmla="val 3077"/>
            </a:avLst>
          </a:prstGeom>
          <a:solidFill>
            <a:srgbClr val="3E3E4B"/>
          </a:solidFill>
          <a:ln w="12700">
            <a:solidFill>
              <a:srgbClr val="3E3E4B"/>
            </a:solidFill>
            <a:prstDash val="solid"/>
          </a:ln>
        </p:spPr>
      </p:sp>
      <p:sp>
        <p:nvSpPr>
          <p:cNvPr id="8" name="Text 6"/>
          <p:cNvSpPr/>
          <p:nvPr/>
        </p:nvSpPr>
        <p:spPr>
          <a:xfrm>
            <a:off x="731520" y="1938528"/>
            <a:ext cx="3154680" cy="777240"/>
          </a:xfrm>
          <a:prstGeom prst="rect">
            <a:avLst/>
          </a:prstGeom>
          <a:noFill/>
          <a:ln/>
        </p:spPr>
        <p:txBody>
          <a:bodyPr wrap="square" lIns="0" tIns="0" rIns="0" bIns="0" rtlCol="0" anchor="ctr"/>
          <a:lstStyle/>
          <a:p>
            <a:pPr algn="ctr" indent="0" marL="0">
              <a:buNone/>
            </a:pPr>
            <a:r>
              <a:rPr lang="en-US" sz="3200" b="1" dirty="0">
                <a:solidFill>
                  <a:srgbClr val="00B3E2"/>
                </a:solidFill>
                <a:latin typeface="Calibri" pitchFamily="34" charset="0"/>
                <a:ea typeface="Calibri" pitchFamily="34" charset="-122"/>
                <a:cs typeface="Calibri" pitchFamily="34" charset="-120"/>
              </a:rPr>
              <a:t>10,500+</a:t>
            </a:r>
            <a:endParaRPr lang="en-US" sz="3200" dirty="0"/>
          </a:p>
        </p:txBody>
      </p:sp>
      <p:sp>
        <p:nvSpPr>
          <p:cNvPr id="9" name="Text 7"/>
          <p:cNvSpPr/>
          <p:nvPr/>
        </p:nvSpPr>
        <p:spPr>
          <a:xfrm>
            <a:off x="749808" y="2724912"/>
            <a:ext cx="3118104" cy="68580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MiB/s exceeded in Microsoft testing with four ESXi hosts and one ANF capacity pool</a:t>
            </a:r>
            <a:endParaRPr lang="en-US" sz="1200" dirty="0"/>
          </a:p>
        </p:txBody>
      </p:sp>
      <p:sp>
        <p:nvSpPr>
          <p:cNvPr id="10" name="Shape 8"/>
          <p:cNvSpPr/>
          <p:nvPr/>
        </p:nvSpPr>
        <p:spPr>
          <a:xfrm>
            <a:off x="4315968" y="1737360"/>
            <a:ext cx="3520440" cy="1783080"/>
          </a:xfrm>
          <a:prstGeom prst="roundRect">
            <a:avLst>
              <a:gd name="adj" fmla="val 3077"/>
            </a:avLst>
          </a:prstGeom>
          <a:solidFill>
            <a:srgbClr val="3E3E4B"/>
          </a:solidFill>
          <a:ln w="12700">
            <a:solidFill>
              <a:srgbClr val="3E3E4B"/>
            </a:solidFill>
            <a:prstDash val="solid"/>
          </a:ln>
        </p:spPr>
      </p:sp>
      <p:sp>
        <p:nvSpPr>
          <p:cNvPr id="11" name="Text 9"/>
          <p:cNvSpPr/>
          <p:nvPr/>
        </p:nvSpPr>
        <p:spPr>
          <a:xfrm>
            <a:off x="4498848" y="1938528"/>
            <a:ext cx="3154680" cy="777240"/>
          </a:xfrm>
          <a:prstGeom prst="rect">
            <a:avLst/>
          </a:prstGeom>
          <a:noFill/>
          <a:ln/>
        </p:spPr>
        <p:txBody>
          <a:bodyPr wrap="square" lIns="0" tIns="0" rIns="0" bIns="0" rtlCol="0" anchor="ctr"/>
          <a:lstStyle/>
          <a:p>
            <a:pPr algn="ctr" indent="0" marL="0">
              <a:buNone/>
            </a:pPr>
            <a:r>
              <a:rPr lang="en-US" sz="3200" b="1" dirty="0">
                <a:solidFill>
                  <a:srgbClr val="00B3E2"/>
                </a:solidFill>
                <a:latin typeface="Calibri" pitchFamily="34" charset="0"/>
                <a:ea typeface="Calibri" pitchFamily="34" charset="-122"/>
                <a:cs typeface="Calibri" pitchFamily="34" charset="-120"/>
              </a:rPr>
              <a:t>585,000</a:t>
            </a:r>
            <a:endParaRPr lang="en-US" sz="3200" dirty="0"/>
          </a:p>
        </p:txBody>
      </p:sp>
      <p:sp>
        <p:nvSpPr>
          <p:cNvPr id="12" name="Text 10"/>
          <p:cNvSpPr/>
          <p:nvPr/>
        </p:nvSpPr>
        <p:spPr>
          <a:xfrm>
            <a:off x="4517136" y="2724912"/>
            <a:ext cx="3118104" cy="68580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IOPS exceeded in the same documented multi-host test</a:t>
            </a:r>
            <a:endParaRPr lang="en-US" sz="1200" dirty="0"/>
          </a:p>
        </p:txBody>
      </p:sp>
      <p:sp>
        <p:nvSpPr>
          <p:cNvPr id="13" name="Shape 11"/>
          <p:cNvSpPr/>
          <p:nvPr/>
        </p:nvSpPr>
        <p:spPr>
          <a:xfrm>
            <a:off x="8083296" y="1737360"/>
            <a:ext cx="3529584" cy="1783080"/>
          </a:xfrm>
          <a:prstGeom prst="roundRect">
            <a:avLst>
              <a:gd name="adj" fmla="val 3077"/>
            </a:avLst>
          </a:prstGeom>
          <a:solidFill>
            <a:srgbClr val="3E3E4B"/>
          </a:solidFill>
          <a:ln w="12700">
            <a:solidFill>
              <a:srgbClr val="3E3E4B"/>
            </a:solidFill>
            <a:prstDash val="solid"/>
          </a:ln>
        </p:spPr>
      </p:sp>
      <p:sp>
        <p:nvSpPr>
          <p:cNvPr id="14" name="Text 12"/>
          <p:cNvSpPr/>
          <p:nvPr/>
        </p:nvSpPr>
        <p:spPr>
          <a:xfrm>
            <a:off x="8266176" y="1938528"/>
            <a:ext cx="3163824" cy="777240"/>
          </a:xfrm>
          <a:prstGeom prst="rect">
            <a:avLst/>
          </a:prstGeom>
          <a:noFill/>
          <a:ln/>
        </p:spPr>
        <p:txBody>
          <a:bodyPr wrap="square" lIns="0" tIns="0" rIns="0" bIns="0" rtlCol="0" anchor="ctr"/>
          <a:lstStyle/>
          <a:p>
            <a:pPr algn="ctr" indent="0" marL="0">
              <a:buNone/>
            </a:pPr>
            <a:r>
              <a:rPr lang="en-US" sz="3200" b="1" dirty="0">
                <a:solidFill>
                  <a:srgbClr val="2DCCD3"/>
                </a:solidFill>
                <a:latin typeface="Calibri" pitchFamily="34" charset="0"/>
                <a:ea typeface="Calibri" pitchFamily="34" charset="-122"/>
                <a:cs typeface="Calibri" pitchFamily="34" charset="-120"/>
              </a:rPr>
              <a:t>64</a:t>
            </a:r>
            <a:endParaRPr lang="en-US" sz="3200" dirty="0"/>
          </a:p>
        </p:txBody>
      </p:sp>
      <p:sp>
        <p:nvSpPr>
          <p:cNvPr id="15" name="Text 13"/>
          <p:cNvSpPr/>
          <p:nvPr/>
        </p:nvSpPr>
        <p:spPr>
          <a:xfrm>
            <a:off x="8284464" y="2724912"/>
            <a:ext cx="3127248" cy="68580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ANF datastores supported per cluster when scaling with nconnect=4</a:t>
            </a:r>
            <a:endParaRPr lang="en-US" sz="1200" dirty="0"/>
          </a:p>
        </p:txBody>
      </p:sp>
      <p:sp>
        <p:nvSpPr>
          <p:cNvPr id="16" name="Shape 14"/>
          <p:cNvSpPr/>
          <p:nvPr/>
        </p:nvSpPr>
        <p:spPr>
          <a:xfrm>
            <a:off x="548640" y="3749040"/>
            <a:ext cx="3520440" cy="1691640"/>
          </a:xfrm>
          <a:prstGeom prst="roundRect">
            <a:avLst>
              <a:gd name="adj" fmla="val 3243"/>
            </a:avLst>
          </a:prstGeom>
          <a:solidFill>
            <a:srgbClr val="E5F7FC"/>
          </a:solidFill>
          <a:ln w="12700">
            <a:solidFill>
              <a:srgbClr val="E5F7FC"/>
            </a:solidFill>
            <a:prstDash val="solid"/>
          </a:ln>
        </p:spPr>
      </p:sp>
      <p:sp>
        <p:nvSpPr>
          <p:cNvPr id="17" name="Text 15"/>
          <p:cNvSpPr/>
          <p:nvPr/>
        </p:nvSpPr>
        <p:spPr>
          <a:xfrm>
            <a:off x="804672" y="393192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Single datastore</a:t>
            </a:r>
            <a:endParaRPr lang="en-US" sz="1450" dirty="0"/>
          </a:p>
        </p:txBody>
      </p:sp>
      <p:sp>
        <p:nvSpPr>
          <p:cNvPr id="18" name="Text 16"/>
          <p:cNvSpPr/>
          <p:nvPr/>
        </p:nvSpPr>
        <p:spPr>
          <a:xfrm>
            <a:off x="804672" y="4297680"/>
            <a:ext cx="3008376" cy="9966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One datastore across four hosts exceeded 5,000 MiB/s in the published test.</a:t>
            </a:r>
            <a:endParaRPr lang="en-US" sz="1250" dirty="0"/>
          </a:p>
        </p:txBody>
      </p:sp>
      <p:sp>
        <p:nvSpPr>
          <p:cNvPr id="19" name="Shape 17"/>
          <p:cNvSpPr/>
          <p:nvPr/>
        </p:nvSpPr>
        <p:spPr>
          <a:xfrm>
            <a:off x="4325112" y="3749040"/>
            <a:ext cx="3520440" cy="1691640"/>
          </a:xfrm>
          <a:prstGeom prst="roundRect">
            <a:avLst>
              <a:gd name="adj" fmla="val 3243"/>
            </a:avLst>
          </a:prstGeom>
          <a:solidFill>
            <a:srgbClr val="E5F7FC"/>
          </a:solidFill>
          <a:ln w="12700">
            <a:solidFill>
              <a:srgbClr val="E5F7FC"/>
            </a:solidFill>
            <a:prstDash val="solid"/>
          </a:ln>
        </p:spPr>
      </p:sp>
      <p:sp>
        <p:nvSpPr>
          <p:cNvPr id="20" name="Text 18"/>
          <p:cNvSpPr/>
          <p:nvPr/>
        </p:nvSpPr>
        <p:spPr>
          <a:xfrm>
            <a:off x="4581144" y="393192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Start with four</a:t>
            </a:r>
            <a:endParaRPr lang="en-US" sz="1450" dirty="0"/>
          </a:p>
        </p:txBody>
      </p:sp>
      <p:sp>
        <p:nvSpPr>
          <p:cNvPr id="21" name="Text 19"/>
          <p:cNvSpPr/>
          <p:nvPr/>
        </p:nvSpPr>
        <p:spPr>
          <a:xfrm>
            <a:off x="4581144" y="4297680"/>
            <a:ext cx="3008376" cy="9966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Where one datastore is insufficient, Microsoft recommends starting with at least four datastores.</a:t>
            </a:r>
            <a:endParaRPr lang="en-US" sz="1250" dirty="0"/>
          </a:p>
        </p:txBody>
      </p:sp>
      <p:sp>
        <p:nvSpPr>
          <p:cNvPr id="22" name="Shape 20"/>
          <p:cNvSpPr/>
          <p:nvPr/>
        </p:nvSpPr>
        <p:spPr>
          <a:xfrm>
            <a:off x="8101584" y="3749040"/>
            <a:ext cx="3520440" cy="1691640"/>
          </a:xfrm>
          <a:prstGeom prst="roundRect">
            <a:avLst>
              <a:gd name="adj" fmla="val 3243"/>
            </a:avLst>
          </a:prstGeom>
          <a:solidFill>
            <a:srgbClr val="FDF3E0"/>
          </a:solidFill>
          <a:ln w="12700">
            <a:solidFill>
              <a:srgbClr val="FDF3E0"/>
            </a:solidFill>
            <a:prstDash val="solid"/>
          </a:ln>
        </p:spPr>
      </p:sp>
      <p:sp>
        <p:nvSpPr>
          <p:cNvPr id="23" name="Text 21"/>
          <p:cNvSpPr/>
          <p:nvPr/>
        </p:nvSpPr>
        <p:spPr>
          <a:xfrm>
            <a:off x="8357616" y="393192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Striping caveat</a:t>
            </a:r>
            <a:endParaRPr lang="en-US" sz="1450" dirty="0"/>
          </a:p>
        </p:txBody>
      </p:sp>
      <p:sp>
        <p:nvSpPr>
          <p:cNvPr id="24" name="Text 22"/>
          <p:cNvSpPr/>
          <p:nvPr/>
        </p:nvSpPr>
        <p:spPr>
          <a:xfrm>
            <a:off x="8357616" y="4297680"/>
            <a:ext cx="3008376" cy="9966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File systems can stripe across VMDKs on multiple datastores, provided backup and DR products preserve consistency across all disks.</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THROUGHPUT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nconnect=4 removes the single-flow bottleneck</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Historically one TCP connection per NFS datastore per host. Now four.</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48640" y="1783080"/>
            <a:ext cx="5394960" cy="2103120"/>
          </a:xfrm>
          <a:prstGeom prst="roundRect">
            <a:avLst>
              <a:gd name="adj" fmla="val 2609"/>
            </a:avLst>
          </a:prstGeom>
          <a:solidFill>
            <a:srgbClr val="EBEDED"/>
          </a:solidFill>
          <a:ln w="12700">
            <a:solidFill>
              <a:srgbClr val="EBEDED"/>
            </a:solidFill>
            <a:prstDash val="solid"/>
          </a:ln>
        </p:spPr>
      </p:sp>
      <p:sp>
        <p:nvSpPr>
          <p:cNvPr id="8" name="Text 6"/>
          <p:cNvSpPr/>
          <p:nvPr/>
        </p:nvSpPr>
        <p:spPr>
          <a:xfrm>
            <a:off x="804672" y="1965960"/>
            <a:ext cx="488289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BEFORE</a:t>
            </a:r>
            <a:endParaRPr lang="en-US" sz="950" dirty="0"/>
          </a:p>
        </p:txBody>
      </p:sp>
      <p:sp>
        <p:nvSpPr>
          <p:cNvPr id="9" name="Text 7"/>
          <p:cNvSpPr/>
          <p:nvPr/>
        </p:nvSpPr>
        <p:spPr>
          <a:xfrm>
            <a:off x="80467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One flow per datastore, per host</a:t>
            </a:r>
            <a:endParaRPr lang="en-US" sz="1500" dirty="0"/>
          </a:p>
        </p:txBody>
      </p:sp>
      <p:sp>
        <p:nvSpPr>
          <p:cNvPr id="10" name="Text 8"/>
          <p:cNvSpPr/>
          <p:nvPr/>
        </p:nvSpPr>
        <p:spPr>
          <a:xfrm>
            <a:off x="804672" y="2606040"/>
            <a:ext cx="4882896" cy="113385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An AVS host established a single TCP connection per NFS datastore, equivalent to nconnect=1. That single flow could become a throughput or IOPS bottleneck. Spreading workloads across datastores helped only because it created more flows.</a:t>
            </a:r>
            <a:endParaRPr lang="en-US" sz="1250" dirty="0"/>
          </a:p>
        </p:txBody>
      </p:sp>
      <p:sp>
        <p:nvSpPr>
          <p:cNvPr id="11" name="Shape 9"/>
          <p:cNvSpPr/>
          <p:nvPr/>
        </p:nvSpPr>
        <p:spPr>
          <a:xfrm>
            <a:off x="6217920" y="1783080"/>
            <a:ext cx="5394960" cy="2103120"/>
          </a:xfrm>
          <a:prstGeom prst="roundRect">
            <a:avLst>
              <a:gd name="adj" fmla="val 2609"/>
            </a:avLst>
          </a:prstGeom>
          <a:solidFill>
            <a:srgbClr val="E5F7FC"/>
          </a:solidFill>
          <a:ln w="12700">
            <a:solidFill>
              <a:srgbClr val="E5F7FC"/>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NOW</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Four parallel connections</a:t>
            </a:r>
            <a:endParaRPr lang="en-US" sz="1500" dirty="0"/>
          </a:p>
        </p:txBody>
      </p:sp>
      <p:sp>
        <p:nvSpPr>
          <p:cNvPr id="14" name="Text 12"/>
          <p:cNvSpPr/>
          <p:nvPr/>
        </p:nvSpPr>
        <p:spPr>
          <a:xfrm>
            <a:off x="6473952" y="2606040"/>
            <a:ext cx="4882896" cy="113385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nconnect=4 opens four parallel TCP connections per NFS datastore on each host, improving aggregate throughput and IOPS through network parallelism.</a:t>
            </a:r>
            <a:endParaRPr lang="en-US" sz="1250" dirty="0"/>
          </a:p>
        </p:txBody>
      </p:sp>
      <p:sp>
        <p:nvSpPr>
          <p:cNvPr id="15" name="Shape 13"/>
          <p:cNvSpPr/>
          <p:nvPr/>
        </p:nvSpPr>
        <p:spPr>
          <a:xfrm>
            <a:off x="548640" y="4069080"/>
            <a:ext cx="2606040" cy="1188720"/>
          </a:xfrm>
          <a:prstGeom prst="roundRect">
            <a:avLst>
              <a:gd name="adj" fmla="val 4615"/>
            </a:avLst>
          </a:prstGeom>
          <a:solidFill>
            <a:srgbClr val="E2F2E8"/>
          </a:solidFill>
          <a:ln w="12700">
            <a:solidFill>
              <a:srgbClr val="E2F2E8"/>
            </a:solidFill>
            <a:prstDash val="solid"/>
          </a:ln>
        </p:spPr>
      </p:sp>
      <p:sp>
        <p:nvSpPr>
          <p:cNvPr id="16" name="Text 14"/>
          <p:cNvSpPr/>
          <p:nvPr/>
        </p:nvSpPr>
        <p:spPr>
          <a:xfrm>
            <a:off x="804672" y="4251960"/>
            <a:ext cx="2093976"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Fixed at four</a:t>
            </a:r>
            <a:endParaRPr lang="en-US" sz="1400" dirty="0"/>
          </a:p>
        </p:txBody>
      </p:sp>
      <p:sp>
        <p:nvSpPr>
          <p:cNvPr id="17" name="Text 15"/>
          <p:cNvSpPr/>
          <p:nvPr/>
        </p:nvSpPr>
        <p:spPr>
          <a:xfrm>
            <a:off x="804672" y="4617720"/>
            <a:ext cx="2093976"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The value cannot be customized.</a:t>
            </a:r>
            <a:endParaRPr lang="en-US" sz="1200" dirty="0"/>
          </a:p>
        </p:txBody>
      </p:sp>
      <p:sp>
        <p:nvSpPr>
          <p:cNvPr id="18" name="Shape 16"/>
          <p:cNvSpPr/>
          <p:nvPr/>
        </p:nvSpPr>
        <p:spPr>
          <a:xfrm>
            <a:off x="3383280" y="4069080"/>
            <a:ext cx="2606040" cy="1188720"/>
          </a:xfrm>
          <a:prstGeom prst="roundRect">
            <a:avLst>
              <a:gd name="adj" fmla="val 4615"/>
            </a:avLst>
          </a:prstGeom>
          <a:solidFill>
            <a:srgbClr val="E2F2E8"/>
          </a:solidFill>
          <a:ln w="12700">
            <a:solidFill>
              <a:srgbClr val="E2F2E8"/>
            </a:solidFill>
            <a:prstDash val="solid"/>
          </a:ln>
        </p:spPr>
      </p:sp>
      <p:sp>
        <p:nvSpPr>
          <p:cNvPr id="19" name="Text 17"/>
          <p:cNvSpPr/>
          <p:nvPr/>
        </p:nvSpPr>
        <p:spPr>
          <a:xfrm>
            <a:off x="3639312" y="4251960"/>
            <a:ext cx="2093976"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Gen 1 and Gen 2</a:t>
            </a:r>
            <a:endParaRPr lang="en-US" sz="1400" dirty="0"/>
          </a:p>
        </p:txBody>
      </p:sp>
      <p:sp>
        <p:nvSpPr>
          <p:cNvPr id="20" name="Text 18"/>
          <p:cNvSpPr/>
          <p:nvPr/>
        </p:nvSpPr>
        <p:spPr>
          <a:xfrm>
            <a:off x="3639312" y="4617720"/>
            <a:ext cx="2093976"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Supported on both generations.</a:t>
            </a:r>
            <a:endParaRPr lang="en-US" sz="1200" dirty="0"/>
          </a:p>
        </p:txBody>
      </p:sp>
      <p:sp>
        <p:nvSpPr>
          <p:cNvPr id="21" name="Shape 19"/>
          <p:cNvSpPr/>
          <p:nvPr/>
        </p:nvSpPr>
        <p:spPr>
          <a:xfrm>
            <a:off x="6217920" y="4069080"/>
            <a:ext cx="2606040" cy="1188720"/>
          </a:xfrm>
          <a:prstGeom prst="roundRect">
            <a:avLst>
              <a:gd name="adj" fmla="val 4615"/>
            </a:avLst>
          </a:prstGeom>
          <a:solidFill>
            <a:srgbClr val="E2F2E8"/>
          </a:solidFill>
          <a:ln w="12700">
            <a:solidFill>
              <a:srgbClr val="E2F2E8"/>
            </a:solidFill>
            <a:prstDash val="solid"/>
          </a:ln>
        </p:spPr>
      </p:sp>
      <p:sp>
        <p:nvSpPr>
          <p:cNvPr id="22" name="Text 20"/>
          <p:cNvSpPr/>
          <p:nvPr/>
        </p:nvSpPr>
        <p:spPr>
          <a:xfrm>
            <a:off x="6473952" y="4251960"/>
            <a:ext cx="2093976"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Non-disruptive</a:t>
            </a:r>
            <a:endParaRPr lang="en-US" sz="1400" dirty="0"/>
          </a:p>
        </p:txBody>
      </p:sp>
      <p:sp>
        <p:nvSpPr>
          <p:cNvPr id="23" name="Text 21"/>
          <p:cNvSpPr/>
          <p:nvPr/>
        </p:nvSpPr>
        <p:spPr>
          <a:xfrm>
            <a:off x="6473952" y="4617720"/>
            <a:ext cx="2093976"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Enablement is documented as non-disruptive to active workloads.</a:t>
            </a:r>
            <a:endParaRPr lang="en-US" sz="1200" dirty="0"/>
          </a:p>
        </p:txBody>
      </p:sp>
      <p:sp>
        <p:nvSpPr>
          <p:cNvPr id="24" name="Shape 22"/>
          <p:cNvSpPr/>
          <p:nvPr/>
        </p:nvSpPr>
        <p:spPr>
          <a:xfrm>
            <a:off x="9052560" y="4069080"/>
            <a:ext cx="2606040" cy="1188720"/>
          </a:xfrm>
          <a:prstGeom prst="roundRect">
            <a:avLst>
              <a:gd name="adj" fmla="val 4615"/>
            </a:avLst>
          </a:prstGeom>
          <a:solidFill>
            <a:srgbClr val="E2F2E8"/>
          </a:solidFill>
          <a:ln w="12700">
            <a:solidFill>
              <a:srgbClr val="E2F2E8"/>
            </a:solidFill>
            <a:prstDash val="solid"/>
          </a:ln>
        </p:spPr>
      </p:sp>
      <p:sp>
        <p:nvSpPr>
          <p:cNvPr id="25" name="Text 23"/>
          <p:cNvSpPr/>
          <p:nvPr/>
        </p:nvSpPr>
        <p:spPr>
          <a:xfrm>
            <a:off x="9308592" y="4251960"/>
            <a:ext cx="2093976" cy="310896"/>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Reversible</a:t>
            </a:r>
            <a:endParaRPr lang="en-US" sz="1400" dirty="0"/>
          </a:p>
        </p:txBody>
      </p:sp>
      <p:sp>
        <p:nvSpPr>
          <p:cNvPr id="26" name="Text 24"/>
          <p:cNvSpPr/>
          <p:nvPr/>
        </p:nvSpPr>
        <p:spPr>
          <a:xfrm>
            <a:off x="9308592" y="4617720"/>
            <a:ext cx="2093976" cy="493776"/>
          </a:xfrm>
          <a:prstGeom prst="rect">
            <a:avLst/>
          </a:prstGeom>
          <a:noFill/>
          <a:ln/>
        </p:spPr>
        <p:txBody>
          <a:bodyPr wrap="square" lIns="0" tIns="0" rIns="0" bIns="0" rtlCol="0" anchor="t"/>
          <a:lstStyle/>
          <a:p>
            <a:pPr indent="0" marL="0">
              <a:lnSpc>
                <a:spcPts val="1600"/>
              </a:lnSpc>
              <a:buNone/>
            </a:pPr>
            <a:r>
              <a:rPr lang="en-US" sz="1200" dirty="0">
                <a:solidFill>
                  <a:srgbClr val="4A4A57"/>
                </a:solidFill>
                <a:latin typeface="Calibri" pitchFamily="34" charset="0"/>
                <a:ea typeface="Calibri" pitchFamily="34" charset="-122"/>
                <a:cs typeface="Calibri" pitchFamily="34" charset="-120"/>
              </a:rPr>
              <a:t>Can be disabled to return to nconnect=1.</a:t>
            </a:r>
            <a:endParaRPr lang="en-US" sz="1200" dirty="0"/>
          </a:p>
        </p:txBody>
      </p:sp>
      <p:sp>
        <p:nvSpPr>
          <p:cNvPr id="27" name="Shape 25"/>
          <p:cNvSpPr/>
          <p:nvPr/>
        </p:nvSpPr>
        <p:spPr>
          <a:xfrm>
            <a:off x="548640" y="5440680"/>
            <a:ext cx="11064240" cy="685800"/>
          </a:xfrm>
          <a:prstGeom prst="roundRect">
            <a:avLst>
              <a:gd name="adj" fmla="val 8000"/>
            </a:avLst>
          </a:prstGeom>
          <a:solidFill>
            <a:srgbClr val="FDF3E0"/>
          </a:solidFill>
          <a:ln w="12700">
            <a:solidFill>
              <a:srgbClr val="FDF3E0"/>
            </a:solidFill>
            <a:prstDash val="solid"/>
          </a:ln>
        </p:spPr>
      </p:sp>
      <p:sp>
        <p:nvSpPr>
          <p:cNvPr id="28" name="Shape 26"/>
          <p:cNvSpPr/>
          <p:nvPr/>
        </p:nvSpPr>
        <p:spPr>
          <a:xfrm>
            <a:off x="804672" y="5591556"/>
            <a:ext cx="384048" cy="384048"/>
          </a:xfrm>
          <a:prstGeom prst="ellipse">
            <a:avLst/>
          </a:prstGeom>
          <a:solidFill>
            <a:srgbClr val="FAC458"/>
          </a:solidFill>
          <a:ln w="12700">
            <a:solidFill>
              <a:srgbClr val="FAC458"/>
            </a:solidFill>
            <a:prstDash val="solid"/>
          </a:ln>
        </p:spPr>
      </p:sp>
      <p:sp>
        <p:nvSpPr>
          <p:cNvPr id="29" name="Text 27"/>
          <p:cNvSpPr/>
          <p:nvPr/>
        </p:nvSpPr>
        <p:spPr>
          <a:xfrm>
            <a:off x="804672" y="55915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8"/>
          <p:cNvSpPr/>
          <p:nvPr/>
        </p:nvSpPr>
        <p:spPr>
          <a:xfrm>
            <a:off x="1389888" y="5586984"/>
            <a:ext cx="9966960" cy="393192"/>
          </a:xfrm>
          <a:prstGeom prst="rect">
            <a:avLst/>
          </a:prstGeom>
          <a:noFill/>
          <a:ln/>
        </p:spPr>
        <p:txBody>
          <a:bodyPr wrap="square" lIns="0" tIns="0" rIns="0" bIns="0" rtlCol="0" anchor="ctr"/>
          <a:lstStyle/>
          <a:p>
            <a:pPr indent="0" marL="0">
              <a:lnSpc>
                <a:spcPts val="1700"/>
              </a:lnSpc>
              <a:buNone/>
            </a:pPr>
            <a:r>
              <a:rPr lang="en-US" sz="1300" dirty="0">
                <a:solidFill>
                  <a:srgbClr val="3E3E4B"/>
                </a:solidFill>
                <a:latin typeface="Calibri" pitchFamily="34" charset="0"/>
                <a:ea typeface="Calibri" pitchFamily="34" charset="-122"/>
                <a:cs typeface="Calibri" pitchFamily="34" charset="-120"/>
              </a:rPr>
              <a:t>The support-ticket requirement described in older session material is not stated in the current Microsoft Learn article.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COST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ANF Cool Access: tiering inactive blocks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Real savings for genuinely inactive data. Real latency risk for everything else.</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35</a:t>
            </a:r>
            <a:endParaRPr lang="en-US" sz="900" dirty="0"/>
          </a:p>
        </p:txBody>
      </p:sp>
      <p:sp>
        <p:nvSpPr>
          <p:cNvPr id="7" name="Shape 5"/>
          <p:cNvSpPr/>
          <p:nvPr/>
        </p:nvSpPr>
        <p:spPr>
          <a:xfrm>
            <a:off x="548640" y="1783080"/>
            <a:ext cx="5486400" cy="2286000"/>
          </a:xfrm>
          <a:prstGeom prst="roundRect">
            <a:avLst>
              <a:gd name="adj" fmla="val 2400"/>
            </a:avLst>
          </a:prstGeom>
          <a:solidFill>
            <a:srgbClr val="E5F7FC"/>
          </a:solidFill>
          <a:ln w="12700">
            <a:solidFill>
              <a:srgbClr val="E5F7FC"/>
            </a:solidFill>
            <a:prstDash val="solid"/>
          </a:ln>
        </p:spPr>
      </p:sp>
      <p:sp>
        <p:nvSpPr>
          <p:cNvPr id="8" name="Text 6"/>
          <p:cNvSpPr/>
          <p:nvPr/>
        </p:nvSpPr>
        <p:spPr>
          <a:xfrm>
            <a:off x="804672" y="1965960"/>
            <a:ext cx="497433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HOW IT WORKS</a:t>
            </a:r>
            <a:endParaRPr lang="en-US" sz="950" dirty="0"/>
          </a:p>
        </p:txBody>
      </p:sp>
      <p:sp>
        <p:nvSpPr>
          <p:cNvPr id="9" name="Text 7"/>
          <p:cNvSpPr/>
          <p:nvPr/>
        </p:nvSpPr>
        <p:spPr>
          <a:xfrm>
            <a:off x="804672" y="2240280"/>
            <a:ext cx="497433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Volume-level tiering</a:t>
            </a:r>
            <a:endParaRPr lang="en-US" sz="1500" dirty="0"/>
          </a:p>
        </p:txBody>
      </p:sp>
      <p:sp>
        <p:nvSpPr>
          <p:cNvPr id="10" name="Text 8"/>
          <p:cNvSpPr/>
          <p:nvPr/>
        </p:nvSpPr>
        <p:spPr>
          <a:xfrm>
            <a:off x="822960" y="2606040"/>
            <a:ext cx="4937760" cy="131673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Moves inactive blocks from the hot tier to lower-cost Azure storage</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Applies at volume level within a Cool Access-enabled capacity pool</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A coolness period determines when blocks become eligible</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Auto tiers file-system and snapshot data; SnapshotOnly limits tiering to snapshots</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Retrieval policies determine whether read data returns to the hot tier</a:t>
            </a:r>
            <a:endParaRPr lang="en-US" sz="1200" dirty="0"/>
          </a:p>
        </p:txBody>
      </p:sp>
      <p:sp>
        <p:nvSpPr>
          <p:cNvPr id="11" name="Shape 9"/>
          <p:cNvSpPr/>
          <p:nvPr/>
        </p:nvSpPr>
        <p:spPr>
          <a:xfrm>
            <a:off x="6217920" y="1783080"/>
            <a:ext cx="5394960" cy="2286000"/>
          </a:xfrm>
          <a:prstGeom prst="roundRect">
            <a:avLst>
              <a:gd name="adj" fmla="val 2400"/>
            </a:avLst>
          </a:prstGeom>
          <a:solidFill>
            <a:srgbClr val="FDF3E0"/>
          </a:solidFill>
          <a:ln w="12700">
            <a:solidFill>
              <a:srgbClr val="FDF3E0"/>
            </a:solidFill>
            <a:prstDash val="solid"/>
          </a:ln>
        </p:spPr>
      </p:sp>
      <p:sp>
        <p:nvSpPr>
          <p:cNvPr id="12" name="Text 10"/>
          <p:cNvSpPr/>
          <p:nvPr/>
        </p:nvSpPr>
        <p:spPr>
          <a:xfrm>
            <a:off x="6473952" y="1965960"/>
            <a:ext cx="4882896" cy="219456"/>
          </a:xfrm>
          <a:prstGeom prst="rect">
            <a:avLst/>
          </a:prstGeom>
          <a:noFill/>
          <a:ln/>
        </p:spPr>
        <p:txBody>
          <a:bodyPr wrap="square" lIns="0" tIns="0" rIns="0" bIns="0" rtlCol="0" anchor="ctr"/>
          <a:lstStyle/>
          <a:p>
            <a:pPr indent="0" marL="0">
              <a:buNone/>
            </a:pPr>
            <a:r>
              <a:rPr lang="en-US" sz="950" b="1" spc="120" kern="0" dirty="0">
                <a:solidFill>
                  <a:srgbClr val="B07A10"/>
                </a:solidFill>
                <a:latin typeface="Calibri" pitchFamily="34" charset="0"/>
                <a:ea typeface="Calibri" pitchFamily="34" charset="-122"/>
                <a:cs typeface="Calibri" pitchFamily="34" charset="-120"/>
              </a:rPr>
              <a:t>PERFORMANCE CONSIDERATIONS</a:t>
            </a:r>
            <a:endParaRPr lang="en-US" sz="950" dirty="0"/>
          </a:p>
        </p:txBody>
      </p:sp>
      <p:sp>
        <p:nvSpPr>
          <p:cNvPr id="13" name="Text 11"/>
          <p:cNvSpPr/>
          <p:nvPr/>
        </p:nvSpPr>
        <p:spPr>
          <a:xfrm>
            <a:off x="6473952" y="2240280"/>
            <a:ext cx="488289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Latency is not guaranteed</a:t>
            </a:r>
            <a:endParaRPr lang="en-US" sz="1500" dirty="0"/>
          </a:p>
        </p:txBody>
      </p:sp>
      <p:sp>
        <p:nvSpPr>
          <p:cNvPr id="14" name="Text 12"/>
          <p:cNvSpPr/>
          <p:nvPr/>
        </p:nvSpPr>
        <p:spPr>
          <a:xfrm>
            <a:off x="6492240" y="2606040"/>
            <a:ext cx="4846320" cy="131673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Accessing cool-tier data introduces additional latency</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Random reads are especially sensitive</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Microsoft does not guarantee a maximum client-workload latency across service levels</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Sequential scanners such as antivirus can unintentionally retrieve cold data</a:t>
            </a:r>
            <a:endParaRPr lang="en-US" sz="1200" dirty="0"/>
          </a:p>
        </p:txBody>
      </p:sp>
      <p:sp>
        <p:nvSpPr>
          <p:cNvPr id="15" name="Shape 13"/>
          <p:cNvSpPr/>
          <p:nvPr/>
        </p:nvSpPr>
        <p:spPr>
          <a:xfrm>
            <a:off x="548640" y="4251960"/>
            <a:ext cx="5486400" cy="1417320"/>
          </a:xfrm>
          <a:prstGeom prst="roundRect">
            <a:avLst>
              <a:gd name="adj" fmla="val 3871"/>
            </a:avLst>
          </a:prstGeom>
          <a:solidFill>
            <a:srgbClr val="E2F2E8"/>
          </a:solidFill>
          <a:ln w="12700">
            <a:solidFill>
              <a:srgbClr val="E2F2E8"/>
            </a:solidFill>
            <a:prstDash val="solid"/>
          </a:ln>
        </p:spPr>
      </p:sp>
      <p:sp>
        <p:nvSpPr>
          <p:cNvPr id="16" name="Text 14"/>
          <p:cNvSpPr/>
          <p:nvPr/>
        </p:nvSpPr>
        <p:spPr>
          <a:xfrm>
            <a:off x="804672" y="4434840"/>
            <a:ext cx="4974336" cy="219456"/>
          </a:xfrm>
          <a:prstGeom prst="rect">
            <a:avLst/>
          </a:prstGeom>
          <a:noFill/>
          <a:ln/>
        </p:spPr>
        <p:txBody>
          <a:bodyPr wrap="square" lIns="0" tIns="0" rIns="0" bIns="0" rtlCol="0" anchor="ctr"/>
          <a:lstStyle/>
          <a:p>
            <a:pPr indent="0" marL="0">
              <a:buNone/>
            </a:pPr>
            <a:r>
              <a:rPr lang="en-US" sz="950" b="1" spc="120" kern="0" dirty="0">
                <a:solidFill>
                  <a:srgbClr val="00AD93"/>
                </a:solidFill>
                <a:latin typeface="Calibri" pitchFamily="34" charset="0"/>
                <a:ea typeface="Calibri" pitchFamily="34" charset="-122"/>
                <a:cs typeface="Calibri" pitchFamily="34" charset="-120"/>
              </a:rPr>
              <a:t>GOOD CANDIDATES</a:t>
            </a:r>
            <a:endParaRPr lang="en-US" sz="950" dirty="0"/>
          </a:p>
        </p:txBody>
      </p:sp>
      <p:sp>
        <p:nvSpPr>
          <p:cNvPr id="17" name="Text 15"/>
          <p:cNvSpPr/>
          <p:nvPr/>
        </p:nvSpPr>
        <p:spPr>
          <a:xfrm>
            <a:off x="804672" y="4709160"/>
            <a:ext cx="4974336" cy="658368"/>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Archive, old datasets, inactive project data, templates, snapshots</a:t>
            </a:r>
            <a:endParaRPr lang="en-US" sz="1400" dirty="0"/>
          </a:p>
        </p:txBody>
      </p:sp>
      <p:sp>
        <p:nvSpPr>
          <p:cNvPr id="18" name="Text 16"/>
          <p:cNvSpPr/>
          <p:nvPr/>
        </p:nvSpPr>
        <p:spPr>
          <a:xfrm>
            <a:off x="804672" y="5422392"/>
            <a:ext cx="4974336" cy="100584"/>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Data whose retrieval latency is acceptable.</a:t>
            </a:r>
            <a:endParaRPr lang="en-US" sz="1250" dirty="0"/>
          </a:p>
        </p:txBody>
      </p:sp>
      <p:sp>
        <p:nvSpPr>
          <p:cNvPr id="19" name="Shape 17"/>
          <p:cNvSpPr/>
          <p:nvPr/>
        </p:nvSpPr>
        <p:spPr>
          <a:xfrm>
            <a:off x="6217920" y="4251960"/>
            <a:ext cx="5394960" cy="1417320"/>
          </a:xfrm>
          <a:prstGeom prst="roundRect">
            <a:avLst>
              <a:gd name="adj" fmla="val 3871"/>
            </a:avLst>
          </a:prstGeom>
          <a:solidFill>
            <a:srgbClr val="FDE8E0"/>
          </a:solidFill>
          <a:ln w="12700">
            <a:solidFill>
              <a:srgbClr val="FDE8E0"/>
            </a:solidFill>
            <a:prstDash val="solid"/>
          </a:ln>
        </p:spPr>
      </p:sp>
      <p:sp>
        <p:nvSpPr>
          <p:cNvPr id="20" name="Text 18"/>
          <p:cNvSpPr/>
          <p:nvPr/>
        </p:nvSpPr>
        <p:spPr>
          <a:xfrm>
            <a:off x="6473952" y="4434840"/>
            <a:ext cx="4882896" cy="219456"/>
          </a:xfrm>
          <a:prstGeom prst="rect">
            <a:avLst/>
          </a:prstGeom>
          <a:noFill/>
          <a:ln/>
        </p:spPr>
        <p:txBody>
          <a:bodyPr wrap="square" lIns="0" tIns="0" rIns="0" bIns="0" rtlCol="0" anchor="ctr"/>
          <a:lstStyle/>
          <a:p>
            <a:pPr indent="0" marL="0">
              <a:buNone/>
            </a:pPr>
            <a:r>
              <a:rPr lang="en-US" sz="950" b="1" spc="120" kern="0" dirty="0">
                <a:solidFill>
                  <a:srgbClr val="F15D23"/>
                </a:solidFill>
                <a:latin typeface="Calibri" pitchFamily="34" charset="0"/>
                <a:ea typeface="Calibri" pitchFamily="34" charset="-122"/>
                <a:cs typeface="Calibri" pitchFamily="34" charset="-120"/>
              </a:rPr>
              <a:t>KEEP OFF COOL ACCESS</a:t>
            </a:r>
            <a:endParaRPr lang="en-US" sz="950" dirty="0"/>
          </a:p>
        </p:txBody>
      </p:sp>
      <p:sp>
        <p:nvSpPr>
          <p:cNvPr id="21" name="Text 19"/>
          <p:cNvSpPr/>
          <p:nvPr/>
        </p:nvSpPr>
        <p:spPr>
          <a:xfrm>
            <a:off x="6473952" y="4709160"/>
            <a:ext cx="4882896" cy="658368"/>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Production databases and OS boot disks</a:t>
            </a:r>
            <a:endParaRPr lang="en-US" sz="1400" dirty="0"/>
          </a:p>
        </p:txBody>
      </p:sp>
      <p:sp>
        <p:nvSpPr>
          <p:cNvPr id="22" name="Text 20"/>
          <p:cNvSpPr/>
          <p:nvPr/>
        </p:nvSpPr>
        <p:spPr>
          <a:xfrm>
            <a:off x="6473952" y="5422392"/>
            <a:ext cx="4882896" cy="100584"/>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Unpredictable retrieval latency can harm transactional workloads. Evaluate access patterns and retrieval charges first.</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ELASTICITY</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Dynamic service-level changes, and the step people forget</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Move a volume between capacity pools without migration or interruption.</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36</a:t>
            </a:r>
            <a:endParaRPr lang="en-US" sz="900" dirty="0"/>
          </a:p>
        </p:txBody>
      </p:sp>
      <p:sp>
        <p:nvSpPr>
          <p:cNvPr id="7" name="Text 5"/>
          <p:cNvSpPr/>
          <p:nvPr/>
        </p:nvSpPr>
        <p:spPr>
          <a:xfrm>
            <a:off x="548640" y="1783080"/>
            <a:ext cx="5577840"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ANF supports Standard, Premium, Ultra, Flexible, and an Elastic service level.</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Standard, Premium, and Ultra provide increasing throughput per provisioned capacity under auto QoS.</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Service level is associated with the capacity pool containing the volume.</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Move a volume to another capacity pool in the same NetApp account to change its level: no data migration, no interruption.</a:t>
            </a:r>
            <a:endParaRPr lang="en-US" sz="1350" dirty="0"/>
          </a:p>
          <a:p>
            <a:pPr marL="342900" indent="-342900">
              <a:spcAft>
                <a:spcPts val="900"/>
              </a:spcAft>
              <a:buSzPct val="100000"/>
              <a:buChar char="•"/>
            </a:pPr>
            <a:r>
              <a:rPr lang="en-US" sz="1350" dirty="0">
                <a:solidFill>
                  <a:srgbClr val="4A4A57"/>
                </a:solidFill>
                <a:latin typeface="Calibri" pitchFamily="34" charset="0"/>
                <a:ea typeface="Calibri" pitchFamily="34" charset="-122"/>
                <a:cs typeface="Calibri" pitchFamily="34" charset="-120"/>
              </a:rPr>
              <a:t>The AVS datastore stays mounted; IP address and mount path do not change.</a:t>
            </a:r>
            <a:endParaRPr lang="en-US" sz="1350" dirty="0"/>
          </a:p>
        </p:txBody>
      </p:sp>
      <p:sp>
        <p:nvSpPr>
          <p:cNvPr id="8" name="Shape 6"/>
          <p:cNvSpPr/>
          <p:nvPr/>
        </p:nvSpPr>
        <p:spPr>
          <a:xfrm>
            <a:off x="6400800" y="1783080"/>
            <a:ext cx="5212080" cy="2286000"/>
          </a:xfrm>
          <a:prstGeom prst="roundRect">
            <a:avLst>
              <a:gd name="adj" fmla="val 2400"/>
            </a:avLst>
          </a:prstGeom>
          <a:solidFill>
            <a:srgbClr val="E2F2E8"/>
          </a:solidFill>
          <a:ln w="12700">
            <a:solidFill>
              <a:srgbClr val="E2F2E8"/>
            </a:solidFill>
            <a:prstDash val="solid"/>
          </a:ln>
        </p:spPr>
      </p:sp>
      <p:sp>
        <p:nvSpPr>
          <p:cNvPr id="9" name="Text 7"/>
          <p:cNvSpPr/>
          <p:nvPr/>
        </p:nvSpPr>
        <p:spPr>
          <a:xfrm>
            <a:off x="6656832" y="1965960"/>
            <a:ext cx="4700016" cy="219456"/>
          </a:xfrm>
          <a:prstGeom prst="rect">
            <a:avLst/>
          </a:prstGeom>
          <a:noFill/>
          <a:ln/>
        </p:spPr>
        <p:txBody>
          <a:bodyPr wrap="square" lIns="0" tIns="0" rIns="0" bIns="0" rtlCol="0" anchor="ctr"/>
          <a:lstStyle/>
          <a:p>
            <a:pPr indent="0" marL="0">
              <a:buNone/>
            </a:pPr>
            <a:r>
              <a:rPr lang="en-US" sz="950" b="1" spc="120" kern="0" dirty="0">
                <a:solidFill>
                  <a:srgbClr val="00AD93"/>
                </a:solidFill>
                <a:latin typeface="Calibri" pitchFamily="34" charset="0"/>
                <a:ea typeface="Calibri" pitchFamily="34" charset="-122"/>
                <a:cs typeface="Calibri" pitchFamily="34" charset="-120"/>
              </a:rPr>
              <a:t>THE USE CASE</a:t>
            </a:r>
            <a:endParaRPr lang="en-US" sz="950" dirty="0"/>
          </a:p>
        </p:txBody>
      </p:sp>
      <p:sp>
        <p:nvSpPr>
          <p:cNvPr id="10" name="Text 8"/>
          <p:cNvSpPr/>
          <p:nvPr/>
        </p:nvSpPr>
        <p:spPr>
          <a:xfrm>
            <a:off x="6656832" y="2240280"/>
            <a:ext cx="4700016" cy="310896"/>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Buy performance only when you need it</a:t>
            </a:r>
            <a:endParaRPr lang="en-US" sz="1600" dirty="0"/>
          </a:p>
        </p:txBody>
      </p:sp>
      <p:sp>
        <p:nvSpPr>
          <p:cNvPr id="11" name="Text 9"/>
          <p:cNvSpPr/>
          <p:nvPr/>
        </p:nvSpPr>
        <p:spPr>
          <a:xfrm>
            <a:off x="6656832" y="2606040"/>
            <a:ext cx="4700016" cy="1316736"/>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Raise the service level for a quarter-end or migration peak, then drop back to a lower-cost level afterwards.</a:t>
            </a:r>
            <a:endParaRPr lang="en-US" sz="1300" dirty="0"/>
          </a:p>
        </p:txBody>
      </p:sp>
      <p:sp>
        <p:nvSpPr>
          <p:cNvPr id="12" name="Shape 10"/>
          <p:cNvSpPr/>
          <p:nvPr/>
        </p:nvSpPr>
        <p:spPr>
          <a:xfrm>
            <a:off x="548640" y="4251960"/>
            <a:ext cx="11064240" cy="1600200"/>
          </a:xfrm>
          <a:prstGeom prst="roundRect">
            <a:avLst>
              <a:gd name="adj" fmla="val 3429"/>
            </a:avLst>
          </a:prstGeom>
          <a:solidFill>
            <a:srgbClr val="FDE8E0"/>
          </a:solidFill>
          <a:ln w="12700">
            <a:solidFill>
              <a:srgbClr val="FDE8E0"/>
            </a:solidFill>
            <a:prstDash val="solid"/>
          </a:ln>
        </p:spPr>
      </p:sp>
      <p:sp>
        <p:nvSpPr>
          <p:cNvPr id="13" name="Shape 11"/>
          <p:cNvSpPr/>
          <p:nvPr/>
        </p:nvSpPr>
        <p:spPr>
          <a:xfrm>
            <a:off x="868680" y="4754880"/>
            <a:ext cx="548640" cy="548640"/>
          </a:xfrm>
          <a:prstGeom prst="ellipse">
            <a:avLst/>
          </a:prstGeom>
          <a:solidFill>
            <a:srgbClr val="F15D23"/>
          </a:solidFill>
          <a:ln w="12700">
            <a:solidFill>
              <a:srgbClr val="F15D23"/>
            </a:solidFill>
            <a:prstDash val="solid"/>
          </a:ln>
        </p:spPr>
      </p:sp>
      <p:sp>
        <p:nvSpPr>
          <p:cNvPr id="14" name="Text 12"/>
          <p:cNvSpPr/>
          <p:nvPr/>
        </p:nvSpPr>
        <p:spPr>
          <a:xfrm>
            <a:off x="868680" y="47548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1645920" y="4434840"/>
            <a:ext cx="9692640" cy="3200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Resynchronize the AVS metadata afterwards</a:t>
            </a:r>
            <a:endParaRPr lang="en-US" sz="1500" dirty="0"/>
          </a:p>
        </p:txBody>
      </p:sp>
      <p:sp>
        <p:nvSpPr>
          <p:cNvPr id="16" name="Text 14"/>
          <p:cNvSpPr/>
          <p:nvPr/>
        </p:nvSpPr>
        <p:spPr>
          <a:xfrm>
            <a:off x="1645920" y="4773168"/>
            <a:ext cx="9692640" cy="960120"/>
          </a:xfrm>
          <a:prstGeom prst="rect">
            <a:avLst/>
          </a:prstGeom>
          <a:noFill/>
          <a:ln/>
        </p:spPr>
        <p:txBody>
          <a:bodyPr wrap="square" lIns="0" tIns="0" rIns="0" bIns="0" rtlCol="0" anchor="ctr"/>
          <a:lstStyle/>
          <a:p>
            <a:pPr indent="0" marL="0">
              <a:lnSpc>
                <a:spcPts val="1600"/>
              </a:lnSpc>
              <a:buNone/>
            </a:pPr>
            <a:r>
              <a:rPr lang="en-US" sz="1250" dirty="0">
                <a:solidFill>
                  <a:srgbClr val="3E3E4B"/>
                </a:solidFill>
                <a:latin typeface="Calibri" pitchFamily="34" charset="0"/>
                <a:ea typeface="Calibri" pitchFamily="34" charset="-122"/>
                <a:cs typeface="Calibri" pitchFamily="34" charset="-120"/>
              </a:rPr>
              <a:t>Moving the volume changes its Azure resource ID, which leaves the AVS datastore association pointing at the old resource. Rerun az vmware datastore netapp-volume create for the existing datastore with the new resource ID. Datastore name, resource group, cluster, and private-cloud parameters must match exactly. The remapping corrects metadata without unmounting or disrupting the datastore.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00B3E2"/>
          </a:solidFill>
          <a:ln w="12700">
            <a:solidFill>
              <a:srgbClr val="00B3E2"/>
            </a:solidFill>
            <a:prstDash val="solid"/>
          </a:ln>
        </p:spPr>
      </p:sp>
      <p:sp>
        <p:nvSpPr>
          <p:cNvPr id="3" name="Text 1"/>
          <p:cNvSpPr/>
          <p:nvPr/>
        </p:nvSpPr>
        <p:spPr>
          <a:xfrm>
            <a:off x="82296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4</a:t>
            </a:r>
            <a:endParaRPr lang="en-US" sz="4600" dirty="0"/>
          </a:p>
        </p:txBody>
      </p:sp>
      <p:sp>
        <p:nvSpPr>
          <p:cNvPr id="4" name="Text 2"/>
          <p:cNvSpPr/>
          <p:nvPr/>
        </p:nvSpPr>
        <p:spPr>
          <a:xfrm>
            <a:off x="2606040" y="2377440"/>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Protect what you moved</a:t>
            </a:r>
            <a:endParaRPr lang="en-US" sz="3400" dirty="0"/>
          </a:p>
        </p:txBody>
      </p:sp>
      <p:sp>
        <p:nvSpPr>
          <p:cNvPr id="5" name="Text 3"/>
          <p:cNvSpPr/>
          <p:nvPr/>
        </p:nvSpPr>
        <p:spPr>
          <a:xfrm>
            <a:off x="2651760" y="3200400"/>
            <a:ext cx="8686800" cy="548640"/>
          </a:xfrm>
          <a:prstGeom prst="rect">
            <a:avLst/>
          </a:prstGeom>
          <a:noFill/>
          <a:ln/>
        </p:spPr>
        <p:txBody>
          <a:bodyPr wrap="square" lIns="0" tIns="0" rIns="0" bIns="0" rtlCol="0" anchor="ctr"/>
          <a:lstStyle/>
          <a:p>
            <a:pPr indent="0" marL="0">
              <a:buNone/>
            </a:pPr>
            <a:r>
              <a:rPr lang="en-US" sz="1500" dirty="0">
                <a:solidFill>
                  <a:srgbClr val="B2E8F6"/>
                </a:solidFill>
                <a:latin typeface="Calibri" pitchFamily="34" charset="0"/>
                <a:ea typeface="Calibri" pitchFamily="34" charset="-122"/>
                <a:cs typeface="Calibri" pitchFamily="34" charset="-120"/>
              </a:rPr>
              <a:t>Cloud Backup for Virtual Machines, consistency options, and restore limits</a:t>
            </a:r>
            <a:endParaRPr lang="en-US" sz="1500" dirty="0"/>
          </a:p>
        </p:txBody>
      </p:sp>
      <p:sp>
        <p:nvSpPr>
          <p:cNvPr id="6" name="Text 4"/>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9A9AA8"/>
                </a:solidFill>
                <a:latin typeface="Calibri" pitchFamily="34" charset="0"/>
                <a:ea typeface="Calibri" pitchFamily="34" charset="-122"/>
                <a:cs typeface="Calibri" pitchFamily="34" charset="-120"/>
              </a:rPr>
              <a:t>Quisitive  |  Scaling AVS Storage Without New Nodes</a:t>
            </a:r>
            <a:endParaRPr lang="en-US" sz="900" dirty="0"/>
          </a:p>
        </p:txBody>
      </p:sp>
      <p:sp>
        <p:nvSpPr>
          <p:cNvPr id="7" name="Text 5"/>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PROTECTION</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Cloud Backup for Virtual Machines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An AVS plug-in for protecting ANF datastores and the VMs stored on them.</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38</a:t>
            </a:r>
            <a:endParaRPr lang="en-US" sz="900" dirty="0"/>
          </a:p>
        </p:txBody>
      </p:sp>
      <p:sp>
        <p:nvSpPr>
          <p:cNvPr id="7" name="Shape 5"/>
          <p:cNvSpPr/>
          <p:nvPr/>
        </p:nvSpPr>
        <p:spPr>
          <a:xfrm>
            <a:off x="548640" y="1783080"/>
            <a:ext cx="3520440" cy="1691640"/>
          </a:xfrm>
          <a:prstGeom prst="roundRect">
            <a:avLst>
              <a:gd name="adj" fmla="val 3243"/>
            </a:avLst>
          </a:prstGeom>
          <a:solidFill>
            <a:srgbClr val="E5F7FC"/>
          </a:solidFill>
          <a:ln w="12700">
            <a:solidFill>
              <a:srgbClr val="E5F7FC"/>
            </a:solidFill>
            <a:prstDash val="solid"/>
          </a:ln>
        </p:spPr>
      </p:sp>
      <p:sp>
        <p:nvSpPr>
          <p:cNvPr id="8" name="Text 6"/>
          <p:cNvSpPr/>
          <p:nvPr/>
        </p:nvSpPr>
        <p:spPr>
          <a:xfrm>
            <a:off x="804672" y="19659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Deployed by Run Command</a:t>
            </a:r>
            <a:endParaRPr lang="en-US" sz="1450" dirty="0"/>
          </a:p>
        </p:txBody>
      </p:sp>
      <p:sp>
        <p:nvSpPr>
          <p:cNvPr id="9" name="Text 7"/>
          <p:cNvSpPr/>
          <p:nvPr/>
        </p:nvSpPr>
        <p:spPr>
          <a:xfrm>
            <a:off x="804672" y="2331720"/>
            <a:ext cx="3008376" cy="9966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Installs a virtual appliance in the AVS environment and integrates with the vSphere client.</a:t>
            </a:r>
            <a:endParaRPr lang="en-US" sz="1250" dirty="0"/>
          </a:p>
        </p:txBody>
      </p:sp>
      <p:sp>
        <p:nvSpPr>
          <p:cNvPr id="10" name="Shape 8"/>
          <p:cNvSpPr/>
          <p:nvPr/>
        </p:nvSpPr>
        <p:spPr>
          <a:xfrm>
            <a:off x="4325112" y="1783080"/>
            <a:ext cx="3520440" cy="1691640"/>
          </a:xfrm>
          <a:prstGeom prst="roundRect">
            <a:avLst>
              <a:gd name="adj" fmla="val 3243"/>
            </a:avLst>
          </a:prstGeom>
          <a:solidFill>
            <a:srgbClr val="E5F7FC"/>
          </a:solidFill>
          <a:ln w="12700">
            <a:solidFill>
              <a:srgbClr val="E5F7FC"/>
            </a:solidFill>
            <a:prstDash val="solid"/>
          </a:ln>
        </p:spPr>
      </p:sp>
      <p:sp>
        <p:nvSpPr>
          <p:cNvPr id="11" name="Text 9"/>
          <p:cNvSpPr/>
          <p:nvPr/>
        </p:nvSpPr>
        <p:spPr>
          <a:xfrm>
            <a:off x="4581144" y="19659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What it protects</a:t>
            </a:r>
            <a:endParaRPr lang="en-US" sz="1450" dirty="0"/>
          </a:p>
        </p:txBody>
      </p:sp>
      <p:sp>
        <p:nvSpPr>
          <p:cNvPr id="12" name="Text 10"/>
          <p:cNvSpPr/>
          <p:nvPr/>
        </p:nvSpPr>
        <p:spPr>
          <a:xfrm>
            <a:off x="4581144" y="2331720"/>
            <a:ext cx="3008376" cy="9966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Supports VM-consistent snapshots and rapid restore of VMs and VMDKs on ANF datastores.</a:t>
            </a:r>
            <a:endParaRPr lang="en-US" sz="1250" dirty="0"/>
          </a:p>
        </p:txBody>
      </p:sp>
      <p:sp>
        <p:nvSpPr>
          <p:cNvPr id="13" name="Shape 11"/>
          <p:cNvSpPr/>
          <p:nvPr/>
        </p:nvSpPr>
        <p:spPr>
          <a:xfrm>
            <a:off x="8101584" y="1783080"/>
            <a:ext cx="3520440" cy="1691640"/>
          </a:xfrm>
          <a:prstGeom prst="roundRect">
            <a:avLst>
              <a:gd name="adj" fmla="val 3243"/>
            </a:avLst>
          </a:prstGeom>
          <a:solidFill>
            <a:srgbClr val="E5F7FC"/>
          </a:solidFill>
          <a:ln w="12700">
            <a:solidFill>
              <a:srgbClr val="E5F7FC"/>
            </a:solidFill>
            <a:prstDash val="solid"/>
          </a:ln>
        </p:spPr>
      </p:sp>
      <p:sp>
        <p:nvSpPr>
          <p:cNvPr id="14" name="Text 12"/>
          <p:cNvSpPr/>
          <p:nvPr/>
        </p:nvSpPr>
        <p:spPr>
          <a:xfrm>
            <a:off x="8357616" y="196596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Connectivity</a:t>
            </a:r>
            <a:endParaRPr lang="en-US" sz="1450" dirty="0"/>
          </a:p>
        </p:txBody>
      </p:sp>
      <p:sp>
        <p:nvSpPr>
          <p:cNvPr id="15" name="Text 13"/>
          <p:cNvSpPr/>
          <p:nvPr/>
        </p:nvSpPr>
        <p:spPr>
          <a:xfrm>
            <a:off x="8357616" y="2331720"/>
            <a:ext cx="3008376" cy="996696"/>
          </a:xfrm>
          <a:prstGeom prst="rect">
            <a:avLst/>
          </a:prstGeom>
          <a:noFill/>
          <a:ln/>
        </p:spPr>
        <p:txBody>
          <a:bodyPr wrap="square" lIns="0" tIns="0" rIns="0" bIns="0" rtlCol="0" anchor="t"/>
          <a:lstStyle/>
          <a:p>
            <a:pPr indent="0" marL="0">
              <a:lnSpc>
                <a:spcPts val="1650"/>
              </a:lnSpc>
              <a:buNone/>
            </a:pPr>
            <a:r>
              <a:rPr lang="en-US" sz="1250" dirty="0">
                <a:solidFill>
                  <a:srgbClr val="4A4A57"/>
                </a:solidFill>
                <a:latin typeface="Calibri" pitchFamily="34" charset="0"/>
                <a:ea typeface="Calibri" pitchFamily="34" charset="-122"/>
                <a:cs typeface="Calibri" pitchFamily="34" charset="-120"/>
              </a:rPr>
              <a:t>The appliance requires HTTPS outbound connectivity to interact with Azure REST APIs.</a:t>
            </a:r>
            <a:endParaRPr lang="en-US" sz="1250" dirty="0"/>
          </a:p>
        </p:txBody>
      </p:sp>
      <p:sp>
        <p:nvSpPr>
          <p:cNvPr id="16" name="Text 14"/>
          <p:cNvSpPr/>
          <p:nvPr/>
        </p:nvSpPr>
        <p:spPr>
          <a:xfrm>
            <a:off x="548640" y="3703320"/>
            <a:ext cx="11064240"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Building the backup configuration</a:t>
            </a:r>
            <a:endParaRPr lang="en-US" sz="1700" dirty="0"/>
          </a:p>
        </p:txBody>
      </p:sp>
      <p:sp>
        <p:nvSpPr>
          <p:cNvPr id="17" name="Shape 15"/>
          <p:cNvSpPr/>
          <p:nvPr/>
        </p:nvSpPr>
        <p:spPr>
          <a:xfrm>
            <a:off x="548640" y="4114800"/>
            <a:ext cx="365760" cy="365760"/>
          </a:xfrm>
          <a:prstGeom prst="ellipse">
            <a:avLst/>
          </a:prstGeom>
          <a:solidFill>
            <a:srgbClr val="00B3E2"/>
          </a:solidFill>
          <a:ln w="12700">
            <a:solidFill>
              <a:srgbClr val="00B3E2"/>
            </a:solidFill>
            <a:prstDash val="solid"/>
          </a:ln>
        </p:spPr>
      </p:sp>
      <p:sp>
        <p:nvSpPr>
          <p:cNvPr id="18" name="Text 16"/>
          <p:cNvSpPr/>
          <p:nvPr/>
        </p:nvSpPr>
        <p:spPr>
          <a:xfrm>
            <a:off x="548640" y="4114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p:cNvSpPr/>
          <p:nvPr/>
        </p:nvSpPr>
        <p:spPr>
          <a:xfrm>
            <a:off x="1051560" y="4114800"/>
            <a:ext cx="7315200" cy="3657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Add the subscription and ANF account to the plug-in.</a:t>
            </a:r>
            <a:endParaRPr lang="en-US" sz="1350" dirty="0"/>
          </a:p>
        </p:txBody>
      </p:sp>
      <p:sp>
        <p:nvSpPr>
          <p:cNvPr id="20" name="Shape 18"/>
          <p:cNvSpPr/>
          <p:nvPr/>
        </p:nvSpPr>
        <p:spPr>
          <a:xfrm>
            <a:off x="548640" y="4617720"/>
            <a:ext cx="365760" cy="365760"/>
          </a:xfrm>
          <a:prstGeom prst="ellipse">
            <a:avLst/>
          </a:prstGeom>
          <a:solidFill>
            <a:srgbClr val="00B3E2"/>
          </a:solidFill>
          <a:ln w="12700">
            <a:solidFill>
              <a:srgbClr val="00B3E2"/>
            </a:solidFill>
            <a:prstDash val="solid"/>
          </a:ln>
        </p:spPr>
      </p:sp>
      <p:sp>
        <p:nvSpPr>
          <p:cNvPr id="21" name="Text 19"/>
          <p:cNvSpPr/>
          <p:nvPr/>
        </p:nvSpPr>
        <p:spPr>
          <a:xfrm>
            <a:off x="548640" y="4617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p:nvPr/>
        </p:nvSpPr>
        <p:spPr>
          <a:xfrm>
            <a:off x="1051560" y="4617720"/>
            <a:ext cx="7315200" cy="3657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Create a backup policy with retention and frequency settings.</a:t>
            </a:r>
            <a:endParaRPr lang="en-US" sz="1350" dirty="0"/>
          </a:p>
        </p:txBody>
      </p:sp>
      <p:sp>
        <p:nvSpPr>
          <p:cNvPr id="23" name="Shape 21"/>
          <p:cNvSpPr/>
          <p:nvPr/>
        </p:nvSpPr>
        <p:spPr>
          <a:xfrm>
            <a:off x="548640" y="5120640"/>
            <a:ext cx="365760" cy="365760"/>
          </a:xfrm>
          <a:prstGeom prst="ellipse">
            <a:avLst/>
          </a:prstGeom>
          <a:solidFill>
            <a:srgbClr val="00B3E2"/>
          </a:solidFill>
          <a:ln w="12700">
            <a:solidFill>
              <a:srgbClr val="00B3E2"/>
            </a:solidFill>
            <a:prstDash val="solid"/>
          </a:ln>
        </p:spPr>
      </p:sp>
      <p:sp>
        <p:nvSpPr>
          <p:cNvPr id="24" name="Text 22"/>
          <p:cNvSpPr/>
          <p:nvPr/>
        </p:nvSpPr>
        <p:spPr>
          <a:xfrm>
            <a:off x="548640" y="5120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51560" y="5120640"/>
            <a:ext cx="7315200" cy="3657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Create resource groups containing the VMs or datastores to protect.</a:t>
            </a:r>
            <a:endParaRPr lang="en-US" sz="1350" dirty="0"/>
          </a:p>
        </p:txBody>
      </p:sp>
      <p:sp>
        <p:nvSpPr>
          <p:cNvPr id="26" name="Shape 24"/>
          <p:cNvSpPr/>
          <p:nvPr/>
        </p:nvSpPr>
        <p:spPr>
          <a:xfrm>
            <a:off x="548640" y="5623560"/>
            <a:ext cx="365760" cy="365760"/>
          </a:xfrm>
          <a:prstGeom prst="ellipse">
            <a:avLst/>
          </a:prstGeom>
          <a:solidFill>
            <a:srgbClr val="2DCCD3"/>
          </a:solidFill>
          <a:ln w="12700">
            <a:solidFill>
              <a:srgbClr val="2DCCD3"/>
            </a:solidFill>
            <a:prstDash val="solid"/>
          </a:ln>
        </p:spPr>
      </p:sp>
      <p:sp>
        <p:nvSpPr>
          <p:cNvPr id="27" name="Text 25"/>
          <p:cNvSpPr/>
          <p:nvPr/>
        </p:nvSpPr>
        <p:spPr>
          <a:xfrm>
            <a:off x="548640" y="5623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1051560" y="5623560"/>
            <a:ext cx="7315200" cy="3657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Remember: the policy defines frequency, the resource group defines the schedule.</a:t>
            </a:r>
            <a:endParaRPr lang="en-US" sz="1350" dirty="0"/>
          </a:p>
        </p:txBody>
      </p:sp>
      <p:sp>
        <p:nvSpPr>
          <p:cNvPr id="29" name="Shape 27"/>
          <p:cNvSpPr/>
          <p:nvPr/>
        </p:nvSpPr>
        <p:spPr>
          <a:xfrm>
            <a:off x="8686800" y="4023360"/>
            <a:ext cx="2926080" cy="1554480"/>
          </a:xfrm>
          <a:prstGeom prst="roundRect">
            <a:avLst>
              <a:gd name="adj" fmla="val 3529"/>
            </a:avLst>
          </a:prstGeom>
          <a:solidFill>
            <a:srgbClr val="3E3E4B"/>
          </a:solidFill>
          <a:ln w="12700">
            <a:solidFill>
              <a:srgbClr val="3E3E4B"/>
            </a:solidFill>
            <a:prstDash val="solid"/>
          </a:ln>
        </p:spPr>
      </p:sp>
      <p:sp>
        <p:nvSpPr>
          <p:cNvPr id="30" name="Text 28"/>
          <p:cNvSpPr/>
          <p:nvPr/>
        </p:nvSpPr>
        <p:spPr>
          <a:xfrm>
            <a:off x="8869680" y="4224528"/>
            <a:ext cx="2560320" cy="777240"/>
          </a:xfrm>
          <a:prstGeom prst="rect">
            <a:avLst/>
          </a:prstGeom>
          <a:noFill/>
          <a:ln/>
        </p:spPr>
        <p:txBody>
          <a:bodyPr wrap="square" lIns="0" tIns="0" rIns="0" bIns="0" rtlCol="0" anchor="ctr"/>
          <a:lstStyle/>
          <a:p>
            <a:pPr algn="ctr" indent="0" marL="0">
              <a:buNone/>
            </a:pPr>
            <a:r>
              <a:rPr lang="en-US" sz="3400" b="1" dirty="0">
                <a:solidFill>
                  <a:srgbClr val="00B3E2"/>
                </a:solidFill>
                <a:latin typeface="Calibri" pitchFamily="34" charset="0"/>
                <a:ea typeface="Calibri" pitchFamily="34" charset="-122"/>
                <a:cs typeface="Calibri" pitchFamily="34" charset="-120"/>
              </a:rPr>
              <a:t>255</a:t>
            </a:r>
            <a:endParaRPr lang="en-US" sz="3400" dirty="0"/>
          </a:p>
        </p:txBody>
      </p:sp>
      <p:sp>
        <p:nvSpPr>
          <p:cNvPr id="31" name="Text 29"/>
          <p:cNvSpPr/>
          <p:nvPr/>
        </p:nvSpPr>
        <p:spPr>
          <a:xfrm>
            <a:off x="8887968" y="5010912"/>
            <a:ext cx="2523744" cy="457200"/>
          </a:xfrm>
          <a:prstGeom prst="rect">
            <a:avLst/>
          </a:prstGeom>
          <a:noFill/>
          <a:ln/>
        </p:spPr>
        <p:txBody>
          <a:bodyPr wrap="square" lIns="0" tIns="0" rIns="0" bIns="0" rtlCol="0" anchor="ctr"/>
          <a:lstStyle/>
          <a:p>
            <a:pPr algn="ctr" indent="0" marL="0">
              <a:lnSpc>
                <a:spcPts val="1500"/>
              </a:lnSpc>
              <a:buNone/>
            </a:pPr>
            <a:r>
              <a:rPr lang="en-US" sz="1200" dirty="0">
                <a:solidFill>
                  <a:srgbClr val="D9D9E0"/>
                </a:solidFill>
                <a:latin typeface="Calibri" pitchFamily="34" charset="0"/>
                <a:ea typeface="Calibri" pitchFamily="34" charset="-122"/>
                <a:cs typeface="Calibri" pitchFamily="34" charset="-120"/>
              </a:rPr>
              <a:t>Maximum documented retention count, in backups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CONSISTENCY</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Crash-consistent versus VM-consistent</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VM consistency is an option with a cost, and it does not capture guest memory.</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39</a:t>
            </a:r>
            <a:endParaRPr lang="en-US" sz="900" dirty="0"/>
          </a:p>
        </p:txBody>
      </p:sp>
      <p:sp>
        <p:nvSpPr>
          <p:cNvPr id="7" name="Shape 5"/>
          <p:cNvSpPr/>
          <p:nvPr/>
        </p:nvSpPr>
        <p:spPr>
          <a:xfrm>
            <a:off x="548640" y="1783080"/>
            <a:ext cx="5440680" cy="2743200"/>
          </a:xfrm>
          <a:prstGeom prst="roundRect">
            <a:avLst>
              <a:gd name="adj" fmla="val 2000"/>
            </a:avLst>
          </a:prstGeom>
          <a:solidFill>
            <a:srgbClr val="EBEDED"/>
          </a:solidFill>
          <a:ln w="12700">
            <a:solidFill>
              <a:srgbClr val="EBEDED"/>
            </a:solidFill>
            <a:prstDash val="solid"/>
          </a:ln>
        </p:spPr>
      </p:sp>
      <p:sp>
        <p:nvSpPr>
          <p:cNvPr id="8" name="Text 6"/>
          <p:cNvSpPr/>
          <p:nvPr/>
        </p:nvSpPr>
        <p:spPr>
          <a:xfrm>
            <a:off x="804672" y="1965960"/>
            <a:ext cx="4928616" cy="219456"/>
          </a:xfrm>
          <a:prstGeom prst="rect">
            <a:avLst/>
          </a:prstGeom>
          <a:noFill/>
          <a:ln/>
        </p:spPr>
        <p:txBody>
          <a:bodyPr wrap="square" lIns="0" tIns="0" rIns="0" bIns="0" rtlCol="0" anchor="ctr"/>
          <a:lstStyle/>
          <a:p>
            <a:pPr indent="0" marL="0">
              <a:buNone/>
            </a:pPr>
            <a:r>
              <a:rPr lang="en-US" sz="950" b="1" spc="120" kern="0" dirty="0">
                <a:solidFill>
                  <a:srgbClr val="6E6E7A"/>
                </a:solidFill>
                <a:latin typeface="Calibri" pitchFamily="34" charset="0"/>
                <a:ea typeface="Calibri" pitchFamily="34" charset="-122"/>
                <a:cs typeface="Calibri" pitchFamily="34" charset="-120"/>
              </a:rPr>
              <a:t>DEFAULT BEHAVIOUR</a:t>
            </a:r>
            <a:endParaRPr lang="en-US" sz="950" dirty="0"/>
          </a:p>
        </p:txBody>
      </p:sp>
      <p:sp>
        <p:nvSpPr>
          <p:cNvPr id="9" name="Text 7"/>
          <p:cNvSpPr/>
          <p:nvPr/>
        </p:nvSpPr>
        <p:spPr>
          <a:xfrm>
            <a:off x="804672" y="2240280"/>
            <a:ext cx="4928616" cy="36576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Crash-consistent</a:t>
            </a:r>
            <a:endParaRPr lang="en-US" sz="1800" dirty="0"/>
          </a:p>
        </p:txBody>
      </p:sp>
      <p:sp>
        <p:nvSpPr>
          <p:cNvPr id="10" name="Text 8"/>
          <p:cNvSpPr/>
          <p:nvPr/>
        </p:nvSpPr>
        <p:spPr>
          <a:xfrm>
            <a:off x="804672" y="2660904"/>
            <a:ext cx="4928616" cy="1719072"/>
          </a:xfrm>
          <a:prstGeom prst="rect">
            <a:avLst/>
          </a:prstGeom>
          <a:noFill/>
          <a:ln/>
        </p:spPr>
        <p:txBody>
          <a:bodyPr wrap="square" lIns="0" tIns="0" rIns="0" bIns="0" rtlCol="0" anchor="t"/>
          <a:lstStyle/>
          <a:p>
            <a:pPr indent="0" marL="0">
              <a:lnSpc>
                <a:spcPts val="1700"/>
              </a:lnSpc>
              <a:buNone/>
            </a:pPr>
            <a:r>
              <a:rPr lang="en-US" sz="1300" dirty="0">
                <a:solidFill>
                  <a:srgbClr val="4A4A57"/>
                </a:solidFill>
                <a:latin typeface="Calibri" pitchFamily="34" charset="0"/>
                <a:ea typeface="Calibri" pitchFamily="34" charset="-122"/>
                <a:cs typeface="Calibri" pitchFamily="34" charset="-120"/>
              </a:rPr>
              <a:t>The storage snapshot is taken without pausing the VM. Faster, cheaper, and adequate for many workloads, but the guest is captured mid-flight.</a:t>
            </a:r>
            <a:endParaRPr lang="en-US" sz="1300" dirty="0"/>
          </a:p>
        </p:txBody>
      </p:sp>
      <p:sp>
        <p:nvSpPr>
          <p:cNvPr id="11" name="Shape 9"/>
          <p:cNvSpPr/>
          <p:nvPr/>
        </p:nvSpPr>
        <p:spPr>
          <a:xfrm>
            <a:off x="6172200" y="1783080"/>
            <a:ext cx="5440680" cy="2743200"/>
          </a:xfrm>
          <a:prstGeom prst="roundRect">
            <a:avLst>
              <a:gd name="adj" fmla="val 2000"/>
            </a:avLst>
          </a:prstGeom>
          <a:solidFill>
            <a:srgbClr val="E5F7FC"/>
          </a:solidFill>
          <a:ln w="12700">
            <a:solidFill>
              <a:srgbClr val="E5F7FC"/>
            </a:solidFill>
            <a:prstDash val="solid"/>
          </a:ln>
        </p:spPr>
      </p:sp>
      <p:sp>
        <p:nvSpPr>
          <p:cNvPr id="12" name="Text 10"/>
          <p:cNvSpPr/>
          <p:nvPr/>
        </p:nvSpPr>
        <p:spPr>
          <a:xfrm>
            <a:off x="6428232" y="1965960"/>
            <a:ext cx="49286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SELECTED OPTION</a:t>
            </a:r>
            <a:endParaRPr lang="en-US" sz="950" dirty="0"/>
          </a:p>
        </p:txBody>
      </p:sp>
      <p:sp>
        <p:nvSpPr>
          <p:cNvPr id="13" name="Text 11"/>
          <p:cNvSpPr/>
          <p:nvPr/>
        </p:nvSpPr>
        <p:spPr>
          <a:xfrm>
            <a:off x="6428232" y="2240280"/>
            <a:ext cx="4928616" cy="36576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VM-consistent</a:t>
            </a:r>
            <a:endParaRPr lang="en-US" sz="1800" dirty="0"/>
          </a:p>
        </p:txBody>
      </p:sp>
      <p:sp>
        <p:nvSpPr>
          <p:cNvPr id="14" name="Text 12"/>
          <p:cNvSpPr/>
          <p:nvPr/>
        </p:nvSpPr>
        <p:spPr>
          <a:xfrm>
            <a:off x="6446520" y="2660904"/>
            <a:ext cx="4892040" cy="171907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Pauses VMs and creates a VMware snapshot each time the backup runs</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Cloud Backup then performs the ANF backup and VM operations resume</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Takes longer and requires more temporary storage</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VM guest memory is not included</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If a VM cannot be paused, the backup can complete with a warning and be marked not VM-consistent</a:t>
            </a:r>
            <a:endParaRPr lang="en-US" sz="1200" dirty="0"/>
          </a:p>
        </p:txBody>
      </p:sp>
      <p:sp>
        <p:nvSpPr>
          <p:cNvPr id="15" name="Shape 13"/>
          <p:cNvSpPr/>
          <p:nvPr/>
        </p:nvSpPr>
        <p:spPr>
          <a:xfrm>
            <a:off x="548640" y="4709160"/>
            <a:ext cx="11064240" cy="1051560"/>
          </a:xfrm>
          <a:prstGeom prst="roundRect">
            <a:avLst>
              <a:gd name="adj" fmla="val 5217"/>
            </a:avLst>
          </a:prstGeom>
          <a:solidFill>
            <a:srgbClr val="E2F2E8"/>
          </a:solidFill>
          <a:ln w="12700">
            <a:solidFill>
              <a:srgbClr val="E2F2E8"/>
            </a:solidFill>
            <a:prstDash val="solid"/>
          </a:ln>
        </p:spPr>
      </p:sp>
      <p:sp>
        <p:nvSpPr>
          <p:cNvPr id="16" name="Shape 14"/>
          <p:cNvSpPr/>
          <p:nvPr/>
        </p:nvSpPr>
        <p:spPr>
          <a:xfrm>
            <a:off x="804672" y="5042916"/>
            <a:ext cx="384048" cy="384048"/>
          </a:xfrm>
          <a:prstGeom prst="ellipse">
            <a:avLst/>
          </a:prstGeom>
          <a:solidFill>
            <a:srgbClr val="00AD93"/>
          </a:solidFill>
          <a:ln w="12700">
            <a:solidFill>
              <a:srgbClr val="00AD93"/>
            </a:solidFill>
            <a:prstDash val="solid"/>
          </a:ln>
        </p:spPr>
      </p:sp>
      <p:sp>
        <p:nvSpPr>
          <p:cNvPr id="17" name="Text 15"/>
          <p:cNvSpPr/>
          <p:nvPr/>
        </p:nvSpPr>
        <p:spPr>
          <a:xfrm>
            <a:off x="804672" y="50429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89888" y="4855464"/>
            <a:ext cx="9966960" cy="75895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Database owners should separately validate application-level support and recovery behaviour for their engine. Storage-level consistency is not the same as application consistency.</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RECOVERY</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VM and VMDK restore</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Know the restore paths before you need them.</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40</a:t>
            </a:r>
            <a:endParaRPr lang="en-US" sz="900" dirty="0"/>
          </a:p>
        </p:txBody>
      </p:sp>
      <p:sp>
        <p:nvSpPr>
          <p:cNvPr id="7" name="Text 5"/>
          <p:cNvSpPr/>
          <p:nvPr/>
        </p:nvSpPr>
        <p:spPr>
          <a:xfrm>
            <a:off x="548640" y="1783080"/>
            <a:ext cx="5669280" cy="23774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Cloud Backup can restore VMs and VM disks from ANF-based recovery points.</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Backups can be mounted to the original ESXi host or a compatible alternate host.</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VMDKs can be attached and detached through the Cloud Backup interface.</a:t>
            </a:r>
            <a:endParaRPr lang="en-US" sz="1400" dirty="0"/>
          </a:p>
          <a:p>
            <a:pPr marL="342900" indent="-342900">
              <a:spcAft>
                <a:spcPts val="900"/>
              </a:spcAft>
              <a:buSzPct val="100000"/>
              <a:buChar char="•"/>
            </a:pPr>
            <a:r>
              <a:rPr lang="en-US" sz="1400" dirty="0">
                <a:solidFill>
                  <a:srgbClr val="4A4A57"/>
                </a:solidFill>
                <a:latin typeface="Calibri" pitchFamily="34" charset="0"/>
                <a:ea typeface="Calibri" pitchFamily="34" charset="-122"/>
                <a:cs typeface="Calibri" pitchFamily="34" charset="-120"/>
              </a:rPr>
              <a:t>Linux file recovery requires attaching a VMDK and manually restoring files, because guest file restore does not support Linux.</a:t>
            </a:r>
            <a:endParaRPr lang="en-US" sz="1400" dirty="0"/>
          </a:p>
        </p:txBody>
      </p:sp>
      <p:sp>
        <p:nvSpPr>
          <p:cNvPr id="8" name="Shape 6"/>
          <p:cNvSpPr/>
          <p:nvPr/>
        </p:nvSpPr>
        <p:spPr>
          <a:xfrm>
            <a:off x="6492240" y="1783080"/>
            <a:ext cx="5120640" cy="2377440"/>
          </a:xfrm>
          <a:prstGeom prst="roundRect">
            <a:avLst>
              <a:gd name="adj" fmla="val 2308"/>
            </a:avLst>
          </a:prstGeom>
          <a:solidFill>
            <a:srgbClr val="E5F7FC"/>
          </a:solidFill>
          <a:ln w="12700">
            <a:solidFill>
              <a:srgbClr val="E5F7FC"/>
            </a:solidFill>
            <a:prstDash val="solid"/>
          </a:ln>
        </p:spPr>
      </p:sp>
      <p:sp>
        <p:nvSpPr>
          <p:cNvPr id="9" name="Text 7"/>
          <p:cNvSpPr/>
          <p:nvPr/>
        </p:nvSpPr>
        <p:spPr>
          <a:xfrm>
            <a:off x="6748272" y="1965960"/>
            <a:ext cx="460857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RECOVERY PLANNING</a:t>
            </a:r>
            <a:endParaRPr lang="en-US" sz="950" dirty="0"/>
          </a:p>
        </p:txBody>
      </p:sp>
      <p:sp>
        <p:nvSpPr>
          <p:cNvPr id="10" name="Text 8"/>
          <p:cNvSpPr/>
          <p:nvPr/>
        </p:nvSpPr>
        <p:spPr>
          <a:xfrm>
            <a:off x="6748272" y="2240280"/>
            <a:ext cx="4608576" cy="310896"/>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Three things to verify in advance</a:t>
            </a:r>
            <a:endParaRPr lang="en-US" sz="1500" dirty="0"/>
          </a:p>
        </p:txBody>
      </p:sp>
      <p:sp>
        <p:nvSpPr>
          <p:cNvPr id="11" name="Text 9"/>
          <p:cNvSpPr/>
          <p:nvPr/>
        </p:nvSpPr>
        <p:spPr>
          <a:xfrm>
            <a:off x="6766560" y="2606040"/>
            <a:ext cx="4572000" cy="1408176"/>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Test whole-VM, VMDK, and guest-file procedures before an incident</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Verify target hosts, datastores, credentials, and proxy VMs meet documented prerequisites</a:t>
            </a:r>
            <a:endParaRPr lang="en-US" sz="1200" dirty="0"/>
          </a:p>
          <a:p>
            <a:pPr marL="342900" indent="-342900">
              <a:spcAft>
                <a:spcPts val="500"/>
              </a:spcAft>
              <a:buSzPct val="100000"/>
              <a:buChar char="•"/>
            </a:pPr>
            <a:r>
              <a:rPr lang="en-US" sz="1200" dirty="0">
                <a:solidFill>
                  <a:srgbClr val="4A4A57"/>
                </a:solidFill>
                <a:latin typeface="Calibri" pitchFamily="34" charset="0"/>
                <a:ea typeface="Calibri" pitchFamily="34" charset="-122"/>
                <a:cs typeface="Calibri" pitchFamily="34" charset="-120"/>
              </a:rPr>
              <a:t>Document expected restore locations and alternate-location restrictions in the runbook</a:t>
            </a:r>
            <a:endParaRPr lang="en-US" sz="1200" dirty="0"/>
          </a:p>
        </p:txBody>
      </p:sp>
      <p:sp>
        <p:nvSpPr>
          <p:cNvPr id="12" name="Shape 10"/>
          <p:cNvSpPr/>
          <p:nvPr/>
        </p:nvSpPr>
        <p:spPr>
          <a:xfrm>
            <a:off x="548640" y="4389120"/>
            <a:ext cx="11064240" cy="1005840"/>
          </a:xfrm>
          <a:prstGeom prst="roundRect">
            <a:avLst>
              <a:gd name="adj" fmla="val 5455"/>
            </a:avLst>
          </a:prstGeom>
          <a:solidFill>
            <a:srgbClr val="EBEDED"/>
          </a:solidFill>
          <a:ln w="12700">
            <a:solidFill>
              <a:srgbClr val="EBEDED"/>
            </a:solidFill>
            <a:prstDash val="solid"/>
          </a:ln>
        </p:spPr>
      </p:sp>
      <p:sp>
        <p:nvSpPr>
          <p:cNvPr id="13" name="Shape 11"/>
          <p:cNvSpPr/>
          <p:nvPr/>
        </p:nvSpPr>
        <p:spPr>
          <a:xfrm>
            <a:off x="804672" y="4700016"/>
            <a:ext cx="384048" cy="384048"/>
          </a:xfrm>
          <a:prstGeom prst="ellipse">
            <a:avLst/>
          </a:prstGeom>
          <a:solidFill>
            <a:srgbClr val="00B3E2"/>
          </a:solidFill>
          <a:ln w="12700">
            <a:solidFill>
              <a:srgbClr val="00B3E2"/>
            </a:solidFill>
            <a:prstDash val="solid"/>
          </a:ln>
        </p:spPr>
      </p:sp>
      <p:sp>
        <p:nvSpPr>
          <p:cNvPr id="14" name="Text 12"/>
          <p:cNvSpPr/>
          <p:nvPr/>
        </p:nvSpPr>
        <p:spPr>
          <a:xfrm>
            <a:off x="804672" y="47000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389888" y="4535424"/>
            <a:ext cx="9966960" cy="71323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Storage selection should include recovery capabilities and operational tooling, not only capacity and price. The restore path is part of the platform decision.</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CONSTRAINTS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600" b="1" dirty="0">
                <a:solidFill>
                  <a:srgbClr val="3E3E4B"/>
                </a:solidFill>
                <a:latin typeface="Calibri" pitchFamily="34" charset="0"/>
                <a:ea typeface="Calibri" pitchFamily="34" charset="-122"/>
                <a:cs typeface="Calibri" pitchFamily="34" charset="-120"/>
              </a:rPr>
              <a:t>Guest file restore has sharp edges</a:t>
            </a:r>
            <a:endParaRPr lang="en-US" sz="26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Six limitations that shape your recovery runbook.</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41</a:t>
            </a:r>
            <a:endParaRPr lang="en-US" sz="900" dirty="0"/>
          </a:p>
        </p:txBody>
      </p:sp>
      <p:sp>
        <p:nvSpPr>
          <p:cNvPr id="7" name="Shape 5"/>
          <p:cNvSpPr/>
          <p:nvPr/>
        </p:nvSpPr>
        <p:spPr>
          <a:xfrm>
            <a:off x="548640" y="1645920"/>
            <a:ext cx="3520440" cy="1920240"/>
          </a:xfrm>
          <a:prstGeom prst="roundRect">
            <a:avLst>
              <a:gd name="adj" fmla="val 2857"/>
            </a:avLst>
          </a:prstGeom>
          <a:solidFill>
            <a:srgbClr val="E5F7FC"/>
          </a:solidFill>
          <a:ln w="12700">
            <a:solidFill>
              <a:srgbClr val="E5F7FC"/>
            </a:solidFill>
            <a:prstDash val="solid"/>
          </a:ln>
        </p:spPr>
      </p:sp>
      <p:sp>
        <p:nvSpPr>
          <p:cNvPr id="8" name="Text 6"/>
          <p:cNvSpPr/>
          <p:nvPr/>
        </p:nvSpPr>
        <p:spPr>
          <a:xfrm>
            <a:off x="804672" y="182880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Windows only</a:t>
            </a:r>
            <a:endParaRPr lang="en-US" sz="1450" dirty="0"/>
          </a:p>
        </p:txBody>
      </p:sp>
      <p:sp>
        <p:nvSpPr>
          <p:cNvPr id="9" name="Text 7"/>
          <p:cNvSpPr/>
          <p:nvPr/>
        </p:nvSpPr>
        <p:spPr>
          <a:xfrm>
            <a:off x="804672" y="2194560"/>
            <a:ext cx="3008376" cy="12252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Supports a Windows guest OS, Windows Server 2008 R2 or later, with VMware Tools installed and running. Linux is not supported directly.</a:t>
            </a:r>
            <a:endParaRPr lang="en-US" sz="1150" dirty="0"/>
          </a:p>
        </p:txBody>
      </p:sp>
      <p:sp>
        <p:nvSpPr>
          <p:cNvPr id="10" name="Shape 8"/>
          <p:cNvSpPr/>
          <p:nvPr/>
        </p:nvSpPr>
        <p:spPr>
          <a:xfrm>
            <a:off x="4325112" y="1645920"/>
            <a:ext cx="3520440" cy="1920240"/>
          </a:xfrm>
          <a:prstGeom prst="roundRect">
            <a:avLst>
              <a:gd name="adj" fmla="val 2857"/>
            </a:avLst>
          </a:prstGeom>
          <a:solidFill>
            <a:srgbClr val="E5F7FC"/>
          </a:solidFill>
          <a:ln w="12700">
            <a:solidFill>
              <a:srgbClr val="E5F7FC"/>
            </a:solidFill>
            <a:prstDash val="solid"/>
          </a:ln>
        </p:spPr>
      </p:sp>
      <p:sp>
        <p:nvSpPr>
          <p:cNvPr id="11" name="Text 9"/>
          <p:cNvSpPr/>
          <p:nvPr/>
        </p:nvSpPr>
        <p:spPr>
          <a:xfrm>
            <a:off x="4581144" y="182880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The Administrator account</a:t>
            </a:r>
            <a:endParaRPr lang="en-US" sz="1450" dirty="0"/>
          </a:p>
        </p:txBody>
      </p:sp>
      <p:sp>
        <p:nvSpPr>
          <p:cNvPr id="12" name="Text 10"/>
          <p:cNvSpPr/>
          <p:nvPr/>
        </p:nvSpPr>
        <p:spPr>
          <a:xfrm>
            <a:off x="4581144" y="2194560"/>
            <a:ext cx="3008376" cy="12252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With UAC enabled, the credential must be the built-in domain or local account named Administrator. Another account in the Administrators group will not work unless UAC is disabled.</a:t>
            </a:r>
            <a:endParaRPr lang="en-US" sz="1150" dirty="0"/>
          </a:p>
        </p:txBody>
      </p:sp>
      <p:sp>
        <p:nvSpPr>
          <p:cNvPr id="13" name="Shape 11"/>
          <p:cNvSpPr/>
          <p:nvPr/>
        </p:nvSpPr>
        <p:spPr>
          <a:xfrm>
            <a:off x="8101584" y="1645920"/>
            <a:ext cx="3520440" cy="1920240"/>
          </a:xfrm>
          <a:prstGeom prst="roundRect">
            <a:avLst>
              <a:gd name="adj" fmla="val 2857"/>
            </a:avLst>
          </a:prstGeom>
          <a:solidFill>
            <a:srgbClr val="E5F7FC"/>
          </a:solidFill>
          <a:ln w="12700">
            <a:solidFill>
              <a:srgbClr val="E5F7FC"/>
            </a:solidFill>
            <a:prstDash val="solid"/>
          </a:ln>
        </p:spPr>
      </p:sp>
      <p:sp>
        <p:nvSpPr>
          <p:cNvPr id="14" name="Text 12"/>
          <p:cNvSpPr/>
          <p:nvPr/>
        </p:nvSpPr>
        <p:spPr>
          <a:xfrm>
            <a:off x="8357616" y="182880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24-hour session</a:t>
            </a:r>
            <a:endParaRPr lang="en-US" sz="1450" dirty="0"/>
          </a:p>
        </p:txBody>
      </p:sp>
      <p:sp>
        <p:nvSpPr>
          <p:cNvPr id="15" name="Text 13"/>
          <p:cNvSpPr/>
          <p:nvPr/>
        </p:nvSpPr>
        <p:spPr>
          <a:xfrm>
            <a:off x="8357616" y="2194560"/>
            <a:ext cx="3008376" cy="12252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The attached VMDK is available for 24 hours by default, then automatically detached. Sessions can be extended in 24-hour increments but consume substantial resources.</a:t>
            </a:r>
            <a:endParaRPr lang="en-US" sz="1150" dirty="0"/>
          </a:p>
        </p:txBody>
      </p:sp>
      <p:sp>
        <p:nvSpPr>
          <p:cNvPr id="16" name="Shape 14"/>
          <p:cNvSpPr/>
          <p:nvPr/>
        </p:nvSpPr>
        <p:spPr>
          <a:xfrm>
            <a:off x="548640" y="3794760"/>
            <a:ext cx="3520440" cy="1920240"/>
          </a:xfrm>
          <a:prstGeom prst="roundRect">
            <a:avLst>
              <a:gd name="adj" fmla="val 2857"/>
            </a:avLst>
          </a:prstGeom>
          <a:solidFill>
            <a:srgbClr val="EBEDED"/>
          </a:solidFill>
          <a:ln w="12700">
            <a:solidFill>
              <a:srgbClr val="EBEDED"/>
            </a:solidFill>
            <a:prstDash val="solid"/>
          </a:ln>
        </p:spPr>
      </p:sp>
      <p:sp>
        <p:nvSpPr>
          <p:cNvPr id="17" name="Text 15"/>
          <p:cNvSpPr/>
          <p:nvPr/>
        </p:nvSpPr>
        <p:spPr>
          <a:xfrm>
            <a:off x="804672" y="397764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One operation at a time</a:t>
            </a:r>
            <a:endParaRPr lang="en-US" sz="1450" dirty="0"/>
          </a:p>
        </p:txBody>
      </p:sp>
      <p:sp>
        <p:nvSpPr>
          <p:cNvPr id="18" name="Text 16"/>
          <p:cNvSpPr/>
          <p:nvPr/>
        </p:nvSpPr>
        <p:spPr>
          <a:xfrm>
            <a:off x="804672" y="4343400"/>
            <a:ext cx="3008376" cy="12252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Only one attach or restore operation can run at a time on a VM. Sessions can be deleted manually once recovery is complete.</a:t>
            </a:r>
            <a:endParaRPr lang="en-US" sz="1150" dirty="0"/>
          </a:p>
        </p:txBody>
      </p:sp>
      <p:sp>
        <p:nvSpPr>
          <p:cNvPr id="19" name="Shape 17"/>
          <p:cNvSpPr/>
          <p:nvPr/>
        </p:nvSpPr>
        <p:spPr>
          <a:xfrm>
            <a:off x="4325112" y="3794760"/>
            <a:ext cx="3520440" cy="1920240"/>
          </a:xfrm>
          <a:prstGeom prst="roundRect">
            <a:avLst>
              <a:gd name="adj" fmla="val 2857"/>
            </a:avLst>
          </a:prstGeom>
          <a:solidFill>
            <a:srgbClr val="EBEDED"/>
          </a:solidFill>
          <a:ln w="12700">
            <a:solidFill>
              <a:srgbClr val="EBEDED"/>
            </a:solidFill>
            <a:prstDash val="solid"/>
          </a:ln>
        </p:spPr>
      </p:sp>
      <p:sp>
        <p:nvSpPr>
          <p:cNvPr id="20" name="Text 18"/>
          <p:cNvSpPr/>
          <p:nvPr/>
        </p:nvSpPr>
        <p:spPr>
          <a:xfrm>
            <a:off x="4581144" y="397764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Filesystem limits</a:t>
            </a:r>
            <a:endParaRPr lang="en-US" sz="1450" dirty="0"/>
          </a:p>
        </p:txBody>
      </p:sp>
      <p:sp>
        <p:nvSpPr>
          <p:cNvPr id="21" name="Text 19"/>
          <p:cNvSpPr/>
          <p:nvPr/>
        </p:nvSpPr>
        <p:spPr>
          <a:xfrm>
            <a:off x="4581144" y="4343400"/>
            <a:ext cx="3008376" cy="12252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Dynamic disks are unsupported. Encrypted attributes are not retained. NTFS security descriptors are not copied to FAT. Hidden and system attributes are not preserved.</a:t>
            </a:r>
            <a:endParaRPr lang="en-US" sz="1150" dirty="0"/>
          </a:p>
        </p:txBody>
      </p:sp>
      <p:sp>
        <p:nvSpPr>
          <p:cNvPr id="22" name="Shape 20"/>
          <p:cNvSpPr/>
          <p:nvPr/>
        </p:nvSpPr>
        <p:spPr>
          <a:xfrm>
            <a:off x="8101584" y="3794760"/>
            <a:ext cx="3520440" cy="1920240"/>
          </a:xfrm>
          <a:prstGeom prst="roundRect">
            <a:avLst>
              <a:gd name="adj" fmla="val 2857"/>
            </a:avLst>
          </a:prstGeom>
          <a:solidFill>
            <a:srgbClr val="EBEDED"/>
          </a:solidFill>
          <a:ln w="12700">
            <a:solidFill>
              <a:srgbClr val="EBEDED"/>
            </a:solidFill>
            <a:prstDash val="solid"/>
          </a:ln>
        </p:spPr>
      </p:sp>
      <p:sp>
        <p:nvSpPr>
          <p:cNvPr id="23" name="Text 21"/>
          <p:cNvSpPr/>
          <p:nvPr/>
        </p:nvSpPr>
        <p:spPr>
          <a:xfrm>
            <a:off x="8357616" y="3977640"/>
            <a:ext cx="3008376" cy="310896"/>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No indexed search</a:t>
            </a:r>
            <a:endParaRPr lang="en-US" sz="1450" dirty="0"/>
          </a:p>
        </p:txBody>
      </p:sp>
      <p:sp>
        <p:nvSpPr>
          <p:cNvPr id="24" name="Text 22"/>
          <p:cNvSpPr/>
          <p:nvPr/>
        </p:nvSpPr>
        <p:spPr>
          <a:xfrm>
            <a:off x="8357616" y="4343400"/>
            <a:ext cx="3008376" cy="1225296"/>
          </a:xfrm>
          <a:prstGeom prst="rect">
            <a:avLst/>
          </a:prstGeom>
          <a:noFill/>
          <a:ln/>
        </p:spPr>
        <p:txBody>
          <a:bodyPr wrap="square" lIns="0" tIns="0" rIns="0" bIns="0" rtlCol="0" anchor="t"/>
          <a:lstStyle/>
          <a:p>
            <a:pPr indent="0" marL="0">
              <a:lnSpc>
                <a:spcPts val="1550"/>
              </a:lnSpc>
              <a:buNone/>
            </a:pPr>
            <a:r>
              <a:rPr lang="en-US" sz="1150" dirty="0">
                <a:solidFill>
                  <a:srgbClr val="4A4A57"/>
                </a:solidFill>
                <a:latin typeface="Calibri" pitchFamily="34" charset="0"/>
                <a:ea typeface="Calibri" pitchFamily="34" charset="-122"/>
                <a:cs typeface="Calibri" pitchFamily="34" charset="-120"/>
              </a:rPr>
              <a:t>You must know the snapshot, VMDK, and path. Case-sensitive expression filters apply only to the displayed directory listing, and browsing incurs latency.</a:t>
            </a:r>
            <a:endParaRPr lang="en-US" sz="1150" dirty="0"/>
          </a:p>
        </p:txBody>
      </p:sp>
      <p:sp>
        <p:nvSpPr>
          <p:cNvPr id="25" name="Shape 23"/>
          <p:cNvSpPr/>
          <p:nvPr/>
        </p:nvSpPr>
        <p:spPr>
          <a:xfrm>
            <a:off x="548640" y="5715000"/>
            <a:ext cx="11064240" cy="548640"/>
          </a:xfrm>
          <a:prstGeom prst="roundRect">
            <a:avLst>
              <a:gd name="adj" fmla="val 10000"/>
            </a:avLst>
          </a:prstGeom>
          <a:solidFill>
            <a:srgbClr val="FDF3E0"/>
          </a:solidFill>
          <a:ln w="12700">
            <a:solidFill>
              <a:srgbClr val="FDF3E0"/>
            </a:solidFill>
            <a:prstDash val="solid"/>
          </a:ln>
        </p:spPr>
      </p:sp>
      <p:sp>
        <p:nvSpPr>
          <p:cNvPr id="26" name="Shape 24"/>
          <p:cNvSpPr/>
          <p:nvPr/>
        </p:nvSpPr>
        <p:spPr>
          <a:xfrm>
            <a:off x="804672" y="5797296"/>
            <a:ext cx="384048" cy="384048"/>
          </a:xfrm>
          <a:prstGeom prst="ellipse">
            <a:avLst/>
          </a:prstGeom>
          <a:solidFill>
            <a:srgbClr val="FAC458"/>
          </a:solidFill>
          <a:ln w="12700">
            <a:solidFill>
              <a:srgbClr val="FAC458"/>
            </a:solidFill>
            <a:prstDash val="solid"/>
          </a:ln>
        </p:spPr>
      </p:sp>
      <p:sp>
        <p:nvSpPr>
          <p:cNvPr id="27" name="Text 25"/>
          <p:cNvSpPr/>
          <p:nvPr/>
        </p:nvSpPr>
        <p:spPr>
          <a:xfrm>
            <a:off x="804672" y="57972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1389888" y="5861304"/>
            <a:ext cx="9966960" cy="256032"/>
          </a:xfrm>
          <a:prstGeom prst="rect">
            <a:avLst/>
          </a:prstGeom>
          <a:noFill/>
          <a:ln/>
        </p:spPr>
        <p:txBody>
          <a:bodyPr wrap="square" lIns="0" tIns="0" rIns="0" bIns="0" rtlCol="0" anchor="ctr"/>
          <a:lstStyle/>
          <a:p>
            <a:pPr indent="0" marL="0">
              <a:lnSpc>
                <a:spcPts val="1700"/>
              </a:lnSpc>
              <a:buNone/>
            </a:pPr>
            <a:r>
              <a:rPr lang="en-US" sz="1250" dirty="0">
                <a:solidFill>
                  <a:srgbClr val="3E3E4B"/>
                </a:solidFill>
                <a:latin typeface="Calibri" pitchFamily="34" charset="0"/>
                <a:ea typeface="Calibri" pitchFamily="34" charset="-122"/>
                <a:cs typeface="Calibri" pitchFamily="34" charset="-120"/>
              </a:rPr>
              <a:t>Record important file paths in recovery documentation, and restore the directory rather than a nested file when the hierarchy matters.</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PARTNER PLATFORMS</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Pure Storage options for AVS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Two supported deployment models, both scaling block storage independently.</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42</a:t>
            </a:r>
            <a:endParaRPr lang="en-US" sz="900" dirty="0"/>
          </a:p>
        </p:txBody>
      </p:sp>
      <p:sp>
        <p:nvSpPr>
          <p:cNvPr id="7" name="Shape 5"/>
          <p:cNvSpPr/>
          <p:nvPr/>
        </p:nvSpPr>
        <p:spPr>
          <a:xfrm>
            <a:off x="548640" y="1783080"/>
            <a:ext cx="5440680" cy="3108960"/>
          </a:xfrm>
          <a:prstGeom prst="roundRect">
            <a:avLst>
              <a:gd name="adj" fmla="val 1765"/>
            </a:avLst>
          </a:prstGeom>
          <a:solidFill>
            <a:srgbClr val="E5F7FC"/>
          </a:solidFill>
          <a:ln w="12700">
            <a:solidFill>
              <a:srgbClr val="E5F7FC"/>
            </a:solidFill>
            <a:prstDash val="solid"/>
          </a:ln>
        </p:spPr>
      </p:sp>
      <p:sp>
        <p:nvSpPr>
          <p:cNvPr id="8" name="Text 6"/>
          <p:cNvSpPr/>
          <p:nvPr/>
        </p:nvSpPr>
        <p:spPr>
          <a:xfrm>
            <a:off x="804672" y="1965960"/>
            <a:ext cx="49286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PURE STORAGE CLOUD DEDICATED</a:t>
            </a:r>
            <a:endParaRPr lang="en-US" sz="950" dirty="0"/>
          </a:p>
        </p:txBody>
      </p:sp>
      <p:sp>
        <p:nvSpPr>
          <p:cNvPr id="9" name="Text 7"/>
          <p:cNvSpPr/>
          <p:nvPr/>
        </p:nvSpPr>
        <p:spPr>
          <a:xfrm>
            <a:off x="804672" y="2240280"/>
            <a:ext cx="4928616"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Purity on Azure virtual machines</a:t>
            </a:r>
            <a:endParaRPr lang="en-US" sz="1700" dirty="0"/>
          </a:p>
        </p:txBody>
      </p:sp>
      <p:sp>
        <p:nvSpPr>
          <p:cNvPr id="10" name="Text 8"/>
          <p:cNvSpPr/>
          <p:nvPr/>
        </p:nvSpPr>
        <p:spPr>
          <a:xfrm>
            <a:off x="822960" y="2606040"/>
            <a:ext cx="4892040" cy="21396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The renamed successor to Pure Cloud Block Store</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Provides external block storage to AVS without compute scale-out</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Supports VMFS or vVols datastores, snapshots, replication, deduplication, and compression</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Pure Storage manages onboarding and support</a:t>
            </a:r>
            <a:endParaRPr lang="en-US" sz="1250" dirty="0"/>
          </a:p>
        </p:txBody>
      </p:sp>
      <p:sp>
        <p:nvSpPr>
          <p:cNvPr id="11" name="Shape 9"/>
          <p:cNvSpPr/>
          <p:nvPr/>
        </p:nvSpPr>
        <p:spPr>
          <a:xfrm>
            <a:off x="6172200" y="1783080"/>
            <a:ext cx="5440680" cy="3108960"/>
          </a:xfrm>
          <a:prstGeom prst="roundRect">
            <a:avLst>
              <a:gd name="adj" fmla="val 1765"/>
            </a:avLst>
          </a:prstGeom>
          <a:solidFill>
            <a:srgbClr val="E2F2E8"/>
          </a:solidFill>
          <a:ln w="12700">
            <a:solidFill>
              <a:srgbClr val="E2F2E8"/>
            </a:solidFill>
            <a:prstDash val="solid"/>
          </a:ln>
        </p:spPr>
      </p:sp>
      <p:sp>
        <p:nvSpPr>
          <p:cNvPr id="12" name="Text 10"/>
          <p:cNvSpPr/>
          <p:nvPr/>
        </p:nvSpPr>
        <p:spPr>
          <a:xfrm>
            <a:off x="6428232" y="1965960"/>
            <a:ext cx="4928616" cy="219456"/>
          </a:xfrm>
          <a:prstGeom prst="rect">
            <a:avLst/>
          </a:prstGeom>
          <a:noFill/>
          <a:ln/>
        </p:spPr>
        <p:txBody>
          <a:bodyPr wrap="square" lIns="0" tIns="0" rIns="0" bIns="0" rtlCol="0" anchor="ctr"/>
          <a:lstStyle/>
          <a:p>
            <a:pPr indent="0" marL="0">
              <a:buNone/>
            </a:pPr>
            <a:r>
              <a:rPr lang="en-US" sz="950" b="1" spc="120" kern="0" dirty="0">
                <a:solidFill>
                  <a:srgbClr val="00AD93"/>
                </a:solidFill>
                <a:latin typeface="Calibri" pitchFamily="34" charset="0"/>
                <a:ea typeface="Calibri" pitchFamily="34" charset="-122"/>
                <a:cs typeface="Calibri" pitchFamily="34" charset="-120"/>
              </a:rPr>
              <a:t>PURE STORAGE CLOUD AZURE NATIVE</a:t>
            </a:r>
            <a:endParaRPr lang="en-US" sz="950" dirty="0"/>
          </a:p>
        </p:txBody>
      </p:sp>
      <p:sp>
        <p:nvSpPr>
          <p:cNvPr id="13" name="Text 11"/>
          <p:cNvSpPr/>
          <p:nvPr/>
        </p:nvSpPr>
        <p:spPr>
          <a:xfrm>
            <a:off x="6428232" y="2240280"/>
            <a:ext cx="4928616"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iSCSI-based vVols, Azure-native</a:t>
            </a:r>
            <a:endParaRPr lang="en-US" sz="1700" dirty="0"/>
          </a:p>
        </p:txBody>
      </p:sp>
      <p:sp>
        <p:nvSpPr>
          <p:cNvPr id="14" name="Text 12"/>
          <p:cNvSpPr/>
          <p:nvPr/>
        </p:nvSpPr>
        <p:spPr>
          <a:xfrm>
            <a:off x="6446520" y="2606040"/>
            <a:ext cx="4892040" cy="21396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Software-defined Azure-native integration for flexible block storage</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Elastic capacity, flexible performance, thin provisioning, and snapshots</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Independent compute and storage scaling</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Pure Storage manages onboarding and product support</a:t>
            </a:r>
            <a:endParaRPr lang="en-US" sz="1250" dirty="0"/>
          </a:p>
        </p:txBody>
      </p:sp>
      <p:sp>
        <p:nvSpPr>
          <p:cNvPr id="15" name="Shape 13"/>
          <p:cNvSpPr/>
          <p:nvPr/>
        </p:nvSpPr>
        <p:spPr>
          <a:xfrm>
            <a:off x="548640" y="5074920"/>
            <a:ext cx="11064240" cy="868680"/>
          </a:xfrm>
          <a:prstGeom prst="roundRect">
            <a:avLst>
              <a:gd name="adj" fmla="val 6316"/>
            </a:avLst>
          </a:prstGeom>
          <a:solidFill>
            <a:srgbClr val="EBEDED"/>
          </a:solidFill>
          <a:ln w="12700">
            <a:solidFill>
              <a:srgbClr val="EBEDED"/>
            </a:solidFill>
            <a:prstDash val="solid"/>
          </a:ln>
        </p:spPr>
      </p:sp>
      <p:sp>
        <p:nvSpPr>
          <p:cNvPr id="16" name="Shape 14"/>
          <p:cNvSpPr/>
          <p:nvPr/>
        </p:nvSpPr>
        <p:spPr>
          <a:xfrm>
            <a:off x="804672" y="5317236"/>
            <a:ext cx="384048" cy="384048"/>
          </a:xfrm>
          <a:prstGeom prst="ellipse">
            <a:avLst/>
          </a:prstGeom>
          <a:solidFill>
            <a:srgbClr val="00B3E2"/>
          </a:solidFill>
          <a:ln w="12700">
            <a:solidFill>
              <a:srgbClr val="00B3E2"/>
            </a:solidFill>
            <a:prstDash val="solid"/>
          </a:ln>
        </p:spPr>
      </p:sp>
      <p:sp>
        <p:nvSpPr>
          <p:cNvPr id="17" name="Text 15"/>
          <p:cNvSpPr/>
          <p:nvPr/>
        </p:nvSpPr>
        <p:spPr>
          <a:xfrm>
            <a:off x="804672" y="53172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18" name="Text 16"/>
          <p:cNvSpPr/>
          <p:nvPr/>
        </p:nvSpPr>
        <p:spPr>
          <a:xfrm>
            <a:off x="1389888" y="5221224"/>
            <a:ext cx="9966960" cy="57607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Choose Pure when the organization already standardizes on Purity, values VAAI offload, and is prepared to work with Pure Storage for onboarding and support.</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WHY IT CAN BE WORTH IT</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VAAI offload and operational continuity</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Two arguments that are about operations, not capacity.</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43</a:t>
            </a:r>
            <a:endParaRPr lang="en-US" sz="900" dirty="0"/>
          </a:p>
        </p:txBody>
      </p:sp>
      <p:sp>
        <p:nvSpPr>
          <p:cNvPr id="7" name="Shape 5"/>
          <p:cNvSpPr/>
          <p:nvPr/>
        </p:nvSpPr>
        <p:spPr>
          <a:xfrm>
            <a:off x="548640" y="1783080"/>
            <a:ext cx="5440680" cy="2651760"/>
          </a:xfrm>
          <a:prstGeom prst="roundRect">
            <a:avLst>
              <a:gd name="adj" fmla="val 2069"/>
            </a:avLst>
          </a:prstGeom>
          <a:solidFill>
            <a:srgbClr val="3E3E4B"/>
          </a:solidFill>
          <a:ln w="12700">
            <a:solidFill>
              <a:srgbClr val="3E3E4B"/>
            </a:solidFill>
            <a:prstDash val="solid"/>
          </a:ln>
        </p:spPr>
      </p:sp>
      <p:sp>
        <p:nvSpPr>
          <p:cNvPr id="8" name="Text 6"/>
          <p:cNvSpPr/>
          <p:nvPr/>
        </p:nvSpPr>
        <p:spPr>
          <a:xfrm>
            <a:off x="804672" y="1965960"/>
            <a:ext cx="49286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VAAI OFFLOAD</a:t>
            </a:r>
            <a:endParaRPr lang="en-US" sz="950" dirty="0"/>
          </a:p>
        </p:txBody>
      </p:sp>
      <p:sp>
        <p:nvSpPr>
          <p:cNvPr id="9" name="Text 7"/>
          <p:cNvSpPr/>
          <p:nvPr/>
        </p:nvSpPr>
        <p:spPr>
          <a:xfrm>
            <a:off x="804672" y="2240280"/>
            <a:ext cx="4928616"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Let the array do the work</a:t>
            </a:r>
            <a:endParaRPr lang="en-US" sz="1700" dirty="0"/>
          </a:p>
        </p:txBody>
      </p:sp>
      <p:sp>
        <p:nvSpPr>
          <p:cNvPr id="10" name="Text 8"/>
          <p:cNvSpPr/>
          <p:nvPr/>
        </p:nvSpPr>
        <p:spPr>
          <a:xfrm>
            <a:off x="822960" y="2606040"/>
            <a:ext cx="4892040" cy="16824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Pure Storage Cloud Azure Native uses vSphere Storage APIs for Array Integration</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ESXi offloads selected storage tasks, including cloning and zeroing, to the storage system</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Offload frees host resources and improves storage-operation performance</a:t>
            </a:r>
            <a:endParaRPr lang="en-US" sz="1250" dirty="0"/>
          </a:p>
          <a:p>
            <a:pPr marL="342900" indent="-342900">
              <a:spcAft>
                <a:spcPts val="500"/>
              </a:spcAft>
              <a:buSzPct val="100000"/>
              <a:buChar char="•"/>
            </a:pPr>
            <a:r>
              <a:rPr lang="en-US" sz="1250" dirty="0">
                <a:solidFill>
                  <a:srgbClr val="D9D9E0"/>
                </a:solidFill>
                <a:latin typeface="Calibri" pitchFamily="34" charset="0"/>
                <a:ea typeface="Calibri" pitchFamily="34" charset="-122"/>
                <a:cs typeface="Calibri" pitchFamily="34" charset="-120"/>
              </a:rPr>
              <a:t>A built-in vSphere plug-in reduces connection-configuration complexity</a:t>
            </a:r>
            <a:endParaRPr lang="en-US" sz="1250" dirty="0"/>
          </a:p>
        </p:txBody>
      </p:sp>
      <p:sp>
        <p:nvSpPr>
          <p:cNvPr id="11" name="Shape 9"/>
          <p:cNvSpPr/>
          <p:nvPr/>
        </p:nvSpPr>
        <p:spPr>
          <a:xfrm>
            <a:off x="6172200" y="1783080"/>
            <a:ext cx="5440680" cy="2651760"/>
          </a:xfrm>
          <a:prstGeom prst="roundRect">
            <a:avLst>
              <a:gd name="adj" fmla="val 2069"/>
            </a:avLst>
          </a:prstGeom>
          <a:solidFill>
            <a:srgbClr val="E5F7FC"/>
          </a:solidFill>
          <a:ln w="12700">
            <a:solidFill>
              <a:srgbClr val="E5F7FC"/>
            </a:solidFill>
            <a:prstDash val="solid"/>
          </a:ln>
        </p:spPr>
      </p:sp>
      <p:sp>
        <p:nvSpPr>
          <p:cNvPr id="12" name="Text 10"/>
          <p:cNvSpPr/>
          <p:nvPr/>
        </p:nvSpPr>
        <p:spPr>
          <a:xfrm>
            <a:off x="6428232" y="1965960"/>
            <a:ext cx="4928616" cy="219456"/>
          </a:xfrm>
          <a:prstGeom prst="rect">
            <a:avLst/>
          </a:prstGeom>
          <a:noFill/>
          <a:ln/>
        </p:spPr>
        <p:txBody>
          <a:bodyPr wrap="square" lIns="0" tIns="0" rIns="0" bIns="0" rtlCol="0" anchor="ctr"/>
          <a:lstStyle/>
          <a:p>
            <a:pPr indent="0" marL="0">
              <a:buNone/>
            </a:pPr>
            <a:r>
              <a:rPr lang="en-US" sz="950" b="1" spc="120" kern="0" dirty="0">
                <a:solidFill>
                  <a:srgbClr val="00B3E2"/>
                </a:solidFill>
                <a:latin typeface="Calibri" pitchFamily="34" charset="0"/>
                <a:ea typeface="Calibri" pitchFamily="34" charset="-122"/>
                <a:cs typeface="Calibri" pitchFamily="34" charset="-120"/>
              </a:rPr>
              <a:t>BRING WHAT YOU KNOW</a:t>
            </a:r>
            <a:endParaRPr lang="en-US" sz="950" dirty="0"/>
          </a:p>
        </p:txBody>
      </p:sp>
      <p:sp>
        <p:nvSpPr>
          <p:cNvPr id="13" name="Text 11"/>
          <p:cNvSpPr/>
          <p:nvPr/>
        </p:nvSpPr>
        <p:spPr>
          <a:xfrm>
            <a:off x="6428232" y="2240280"/>
            <a:ext cx="4928616" cy="310896"/>
          </a:xfrm>
          <a:prstGeom prst="rect">
            <a:avLst/>
          </a:prstGeom>
          <a:noFill/>
          <a:ln/>
        </p:spPr>
        <p:txBody>
          <a:bodyPr wrap="square" lIns="0" tIns="0" rIns="0" bIns="0" rtlCol="0" anchor="ctr"/>
          <a:lstStyle/>
          <a:p>
            <a:pPr indent="0" marL="0">
              <a:buNone/>
            </a:pPr>
            <a:r>
              <a:rPr lang="en-US" sz="1700" b="1" dirty="0">
                <a:solidFill>
                  <a:srgbClr val="3E3E4B"/>
                </a:solidFill>
                <a:latin typeface="Calibri" pitchFamily="34" charset="0"/>
                <a:ea typeface="Calibri" pitchFamily="34" charset="-122"/>
                <a:cs typeface="Calibri" pitchFamily="34" charset="-120"/>
              </a:rPr>
              <a:t>Operational continuity</a:t>
            </a:r>
            <a:endParaRPr lang="en-US" sz="1700" dirty="0"/>
          </a:p>
        </p:txBody>
      </p:sp>
      <p:sp>
        <p:nvSpPr>
          <p:cNvPr id="14" name="Text 12"/>
          <p:cNvSpPr/>
          <p:nvPr/>
        </p:nvSpPr>
        <p:spPr>
          <a:xfrm>
            <a:off x="6446520" y="2606040"/>
            <a:ext cx="4892040" cy="16824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Familiar Purity management for teams already running Pure Storage</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Existing snapshot, replication, deduplication, and compression practices carry over</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AVS retains vCenter, vSphere, NSX, vSAN, and HCX management models</a:t>
            </a:r>
            <a:endParaRPr lang="en-US" sz="1250" dirty="0"/>
          </a:p>
          <a:p>
            <a:pPr marL="342900" indent="-342900">
              <a:spcAft>
                <a:spcPts val="500"/>
              </a:spcAft>
              <a:buSzPct val="100000"/>
              <a:buChar char="•"/>
            </a:pPr>
            <a:r>
              <a:rPr lang="en-US" sz="1250" dirty="0">
                <a:solidFill>
                  <a:srgbClr val="4A4A57"/>
                </a:solidFill>
                <a:latin typeface="Calibri" pitchFamily="34" charset="0"/>
                <a:ea typeface="Calibri" pitchFamily="34" charset="-122"/>
                <a:cs typeface="Calibri" pitchFamily="34" charset="-120"/>
              </a:rPr>
              <a:t>Reduces the need to redesign every process during a migration</a:t>
            </a:r>
            <a:endParaRPr lang="en-US" sz="1250" dirty="0"/>
          </a:p>
        </p:txBody>
      </p:sp>
      <p:sp>
        <p:nvSpPr>
          <p:cNvPr id="15" name="Shape 13"/>
          <p:cNvSpPr/>
          <p:nvPr/>
        </p:nvSpPr>
        <p:spPr>
          <a:xfrm>
            <a:off x="548640" y="4663440"/>
            <a:ext cx="11064240" cy="1051560"/>
          </a:xfrm>
          <a:prstGeom prst="roundRect">
            <a:avLst>
              <a:gd name="adj" fmla="val 5217"/>
            </a:avLst>
          </a:prstGeom>
          <a:solidFill>
            <a:srgbClr val="EBEDED"/>
          </a:solidFill>
          <a:ln w="12700">
            <a:solidFill>
              <a:srgbClr val="EBEDED"/>
            </a:solidFill>
            <a:prstDash val="solid"/>
          </a:ln>
        </p:spPr>
      </p:sp>
      <p:sp>
        <p:nvSpPr>
          <p:cNvPr id="16" name="Shape 14"/>
          <p:cNvSpPr/>
          <p:nvPr/>
        </p:nvSpPr>
        <p:spPr>
          <a:xfrm>
            <a:off x="804672" y="4997196"/>
            <a:ext cx="384048" cy="384048"/>
          </a:xfrm>
          <a:prstGeom prst="ellipse">
            <a:avLst/>
          </a:prstGeom>
          <a:solidFill>
            <a:srgbClr val="2DCCD3"/>
          </a:solidFill>
          <a:ln w="12700">
            <a:solidFill>
              <a:srgbClr val="2DCCD3"/>
            </a:solidFill>
            <a:prstDash val="solid"/>
          </a:ln>
        </p:spPr>
      </p:sp>
      <p:sp>
        <p:nvSpPr>
          <p:cNvPr id="17" name="Text 15"/>
          <p:cNvSpPr/>
          <p:nvPr/>
        </p:nvSpPr>
        <p:spPr>
          <a:xfrm>
            <a:off x="804672" y="49971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18" name="Text 16"/>
          <p:cNvSpPr/>
          <p:nvPr/>
        </p:nvSpPr>
        <p:spPr>
          <a:xfrm>
            <a:off x="1389888" y="4809744"/>
            <a:ext cx="9966960" cy="75895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Without offload, a 2 TB clone can require ESXi to read and rewrite every block, consuming host CPU, memory, and network bandwidth. VAAI sends an array-side command instead.</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DECIDE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Strategic decision framework</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Match the platform to the constraint, then confirm the recovery model.</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44</a:t>
            </a:r>
            <a:endParaRPr lang="en-US" sz="900" dirty="0"/>
          </a:p>
        </p:txBody>
      </p:sp>
      <p:sp>
        <p:nvSpPr>
          <p:cNvPr id="7" name="Shape 5"/>
          <p:cNvSpPr/>
          <p:nvPr/>
        </p:nvSpPr>
        <p:spPr>
          <a:xfrm>
            <a:off x="548640" y="1737360"/>
            <a:ext cx="2606040" cy="3291840"/>
          </a:xfrm>
          <a:prstGeom prst="roundRect">
            <a:avLst>
              <a:gd name="adj" fmla="val 2105"/>
            </a:avLst>
          </a:prstGeom>
          <a:solidFill>
            <a:srgbClr val="E5F7FC"/>
          </a:solidFill>
          <a:ln w="12700">
            <a:solidFill>
              <a:srgbClr val="E5F7FC"/>
            </a:solidFill>
            <a:prstDash val="solid"/>
          </a:ln>
        </p:spPr>
      </p:sp>
      <p:sp>
        <p:nvSpPr>
          <p:cNvPr id="8" name="Text 6"/>
          <p:cNvSpPr/>
          <p:nvPr/>
        </p:nvSpPr>
        <p:spPr>
          <a:xfrm>
            <a:off x="804672" y="1920240"/>
            <a:ext cx="2093976"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Stay on native vSAN</a:t>
            </a:r>
            <a:endParaRPr lang="en-US" sz="1500" dirty="0"/>
          </a:p>
        </p:txBody>
      </p:sp>
      <p:sp>
        <p:nvSpPr>
          <p:cNvPr id="9" name="Text 7"/>
          <p:cNvSpPr/>
          <p:nvPr/>
        </p:nvSpPr>
        <p:spPr>
          <a:xfrm>
            <a:off x="822960" y="2523744"/>
            <a:ext cx="2057400" cy="23591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Compute and storage are growing together</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Workloads fit capacity, performance, resilience, and host-count limits</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Operational simplicity outweighs independent scaling</a:t>
            </a:r>
            <a:endParaRPr lang="en-US" sz="1150" dirty="0"/>
          </a:p>
        </p:txBody>
      </p:sp>
      <p:sp>
        <p:nvSpPr>
          <p:cNvPr id="10" name="Shape 8"/>
          <p:cNvSpPr/>
          <p:nvPr/>
        </p:nvSpPr>
        <p:spPr>
          <a:xfrm>
            <a:off x="3383280" y="1737360"/>
            <a:ext cx="2606040" cy="3291840"/>
          </a:xfrm>
          <a:prstGeom prst="roundRect">
            <a:avLst>
              <a:gd name="adj" fmla="val 2105"/>
            </a:avLst>
          </a:prstGeom>
          <a:solidFill>
            <a:srgbClr val="B2E8F6"/>
          </a:solidFill>
          <a:ln w="12700">
            <a:solidFill>
              <a:srgbClr val="B2E8F6"/>
            </a:solidFill>
            <a:prstDash val="solid"/>
          </a:ln>
        </p:spPr>
      </p:sp>
      <p:sp>
        <p:nvSpPr>
          <p:cNvPr id="11" name="Text 9"/>
          <p:cNvSpPr/>
          <p:nvPr/>
        </p:nvSpPr>
        <p:spPr>
          <a:xfrm>
            <a:off x="3639312" y="1920240"/>
            <a:ext cx="2093976"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Choose Elastic SAN</a:t>
            </a:r>
            <a:endParaRPr lang="en-US" sz="1500" dirty="0"/>
          </a:p>
        </p:txBody>
      </p:sp>
      <p:sp>
        <p:nvSpPr>
          <p:cNvPr id="12" name="Text 10"/>
          <p:cNvSpPr/>
          <p:nvPr/>
        </p:nvSpPr>
        <p:spPr>
          <a:xfrm>
            <a:off x="3657600" y="2523744"/>
            <a:ext cx="2057400" cy="23591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VMFS-backed iSCSI block storage is required</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Independent expansion beats adding compute nodes</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The team can operate private endpoints, sessions, MPIO, and connection headroom</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Gateway or private-cloud connectivity has been evaluated</a:t>
            </a:r>
            <a:endParaRPr lang="en-US" sz="1150" dirty="0"/>
          </a:p>
        </p:txBody>
      </p:sp>
      <p:sp>
        <p:nvSpPr>
          <p:cNvPr id="13" name="Shape 11"/>
          <p:cNvSpPr/>
          <p:nvPr/>
        </p:nvSpPr>
        <p:spPr>
          <a:xfrm>
            <a:off x="6217920" y="1737360"/>
            <a:ext cx="2606040" cy="3291840"/>
          </a:xfrm>
          <a:prstGeom prst="roundRect">
            <a:avLst>
              <a:gd name="adj" fmla="val 2105"/>
            </a:avLst>
          </a:prstGeom>
          <a:solidFill>
            <a:srgbClr val="E2F2E8"/>
          </a:solidFill>
          <a:ln w="12700">
            <a:solidFill>
              <a:srgbClr val="E2F2E8"/>
            </a:solidFill>
            <a:prstDash val="solid"/>
          </a:ln>
        </p:spPr>
      </p:sp>
      <p:sp>
        <p:nvSpPr>
          <p:cNvPr id="14" name="Text 12"/>
          <p:cNvSpPr/>
          <p:nvPr/>
        </p:nvSpPr>
        <p:spPr>
          <a:xfrm>
            <a:off x="6473952" y="1920240"/>
            <a:ext cx="2093976"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Choose Azure NetApp Files</a:t>
            </a:r>
            <a:endParaRPr lang="en-US" sz="1500" dirty="0"/>
          </a:p>
        </p:txBody>
      </p:sp>
      <p:sp>
        <p:nvSpPr>
          <p:cNvPr id="15" name="Text 13"/>
          <p:cNvSpPr/>
          <p:nvPr/>
        </p:nvSpPr>
        <p:spPr>
          <a:xfrm>
            <a:off x="6492240" y="2523744"/>
            <a:ext cx="2057400" cy="23591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NFS datastores and Azure-native file storage are preferred</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Submillisecond flash performance and dynamic service levels are valuable</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nconnect=4 or multiple datastores meet the performance need</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Cool Access can reduce cost for genuinely inactive data</a:t>
            </a:r>
            <a:endParaRPr lang="en-US" sz="1150" dirty="0"/>
          </a:p>
        </p:txBody>
      </p:sp>
      <p:sp>
        <p:nvSpPr>
          <p:cNvPr id="16" name="Shape 14"/>
          <p:cNvSpPr/>
          <p:nvPr/>
        </p:nvSpPr>
        <p:spPr>
          <a:xfrm>
            <a:off x="9052560" y="1737360"/>
            <a:ext cx="2606040" cy="3291840"/>
          </a:xfrm>
          <a:prstGeom prst="roundRect">
            <a:avLst>
              <a:gd name="adj" fmla="val 2105"/>
            </a:avLst>
          </a:prstGeom>
          <a:solidFill>
            <a:srgbClr val="D3EDF1"/>
          </a:solidFill>
          <a:ln w="12700">
            <a:solidFill>
              <a:srgbClr val="D3EDF1"/>
            </a:solidFill>
            <a:prstDash val="solid"/>
          </a:ln>
        </p:spPr>
      </p:sp>
      <p:sp>
        <p:nvSpPr>
          <p:cNvPr id="17" name="Text 15"/>
          <p:cNvSpPr/>
          <p:nvPr/>
        </p:nvSpPr>
        <p:spPr>
          <a:xfrm>
            <a:off x="9308592" y="1920240"/>
            <a:ext cx="2093976"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Choose Pure Storage</a:t>
            </a:r>
            <a:endParaRPr lang="en-US" sz="1500" dirty="0"/>
          </a:p>
        </p:txBody>
      </p:sp>
      <p:sp>
        <p:nvSpPr>
          <p:cNvPr id="18" name="Text 16"/>
          <p:cNvSpPr/>
          <p:nvPr/>
        </p:nvSpPr>
        <p:spPr>
          <a:xfrm>
            <a:off x="9326880" y="2523744"/>
            <a:ext cx="2057400" cy="23591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The organization standardizes on Purity</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VAAI offload for cloning and zeroing is valuable</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Independent block scaling and Pure data services are required</a:t>
            </a:r>
            <a:endParaRPr lang="en-US" sz="1150" dirty="0"/>
          </a:p>
          <a:p>
            <a:pPr marL="342900" indent="-342900">
              <a:spcAft>
                <a:spcPts val="500"/>
              </a:spcAft>
              <a:buSzPct val="100000"/>
              <a:buChar char="•"/>
            </a:pPr>
            <a:r>
              <a:rPr lang="en-US" sz="1150" dirty="0">
                <a:solidFill>
                  <a:srgbClr val="4A4A57"/>
                </a:solidFill>
                <a:latin typeface="Calibri" pitchFamily="34" charset="0"/>
                <a:ea typeface="Calibri" pitchFamily="34" charset="-122"/>
                <a:cs typeface="Calibri" pitchFamily="34" charset="-120"/>
              </a:rPr>
              <a:t>The organization will work with Pure for onboarding and support</a:t>
            </a:r>
            <a:endParaRPr lang="en-US" sz="1150" dirty="0"/>
          </a:p>
        </p:txBody>
      </p:sp>
      <p:sp>
        <p:nvSpPr>
          <p:cNvPr id="19" name="Shape 17"/>
          <p:cNvSpPr/>
          <p:nvPr/>
        </p:nvSpPr>
        <p:spPr>
          <a:xfrm>
            <a:off x="548640" y="5212080"/>
            <a:ext cx="11064240" cy="868680"/>
          </a:xfrm>
          <a:prstGeom prst="roundRect">
            <a:avLst>
              <a:gd name="adj" fmla="val 6316"/>
            </a:avLst>
          </a:prstGeom>
          <a:solidFill>
            <a:srgbClr val="EBEDED"/>
          </a:solidFill>
          <a:ln w="12700">
            <a:solidFill>
              <a:srgbClr val="EBEDED"/>
            </a:solidFill>
            <a:prstDash val="solid"/>
          </a:ln>
        </p:spPr>
      </p:sp>
      <p:sp>
        <p:nvSpPr>
          <p:cNvPr id="20" name="Shape 18"/>
          <p:cNvSpPr/>
          <p:nvPr/>
        </p:nvSpPr>
        <p:spPr>
          <a:xfrm>
            <a:off x="804672" y="5454396"/>
            <a:ext cx="384048" cy="384048"/>
          </a:xfrm>
          <a:prstGeom prst="ellipse">
            <a:avLst/>
          </a:prstGeom>
          <a:solidFill>
            <a:srgbClr val="00B3E2"/>
          </a:solidFill>
          <a:ln w="12700">
            <a:solidFill>
              <a:srgbClr val="00B3E2"/>
            </a:solidFill>
            <a:prstDash val="solid"/>
          </a:ln>
        </p:spPr>
      </p:sp>
      <p:sp>
        <p:nvSpPr>
          <p:cNvPr id="21" name="Text 19"/>
          <p:cNvSpPr/>
          <p:nvPr/>
        </p:nvSpPr>
        <p:spPr>
          <a:xfrm>
            <a:off x="804672" y="54543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p>
        </p:txBody>
      </p:sp>
      <p:sp>
        <p:nvSpPr>
          <p:cNvPr id="22" name="Text 20"/>
          <p:cNvSpPr/>
          <p:nvPr/>
        </p:nvSpPr>
        <p:spPr>
          <a:xfrm>
            <a:off x="1389888" y="5358384"/>
            <a:ext cx="9966960" cy="576072"/>
          </a:xfrm>
          <a:prstGeom prst="rect">
            <a:avLst/>
          </a:prstGeom>
          <a:noFill/>
          <a:ln/>
        </p:spPr>
        <p:txBody>
          <a:bodyPr wrap="square" lIns="0" tIns="0" rIns="0" bIns="0" rtlCol="0" anchor="ctr"/>
          <a:lstStyle/>
          <a:p>
            <a:pPr indent="0" marL="0">
              <a:lnSpc>
                <a:spcPts val="1700"/>
              </a:lnSpc>
              <a:buNone/>
            </a:pPr>
            <a:r>
              <a:rPr lang="en-US" sz="1350" dirty="0">
                <a:solidFill>
                  <a:srgbClr val="3E3E4B"/>
                </a:solidFill>
                <a:latin typeface="Calibri" pitchFamily="34" charset="0"/>
                <a:ea typeface="Calibri" pitchFamily="34" charset="-122"/>
                <a:cs typeface="Calibri" pitchFamily="34" charset="-120"/>
              </a:rPr>
              <a:t>Before committing: determine whether crash-consistent, VM-consistent, or application-level protection is required, and verify full VM, VMDK, and guest-file restore procedures.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515600" cy="256032"/>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CLOSE</a:t>
            </a:r>
            <a:endParaRPr lang="en-US" sz="110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3000" b="1" dirty="0">
                <a:solidFill>
                  <a:srgbClr val="3E3E4B"/>
                </a:solidFill>
                <a:latin typeface="Calibri" pitchFamily="34" charset="0"/>
                <a:ea typeface="Calibri" pitchFamily="34" charset="-122"/>
                <a:cs typeface="Calibri" pitchFamily="34" charset="-120"/>
              </a:rPr>
              <a:t>Operational takeaways</a:t>
            </a:r>
            <a:endParaRPr lang="en-US" sz="3000" dirty="0"/>
          </a:p>
        </p:txBody>
      </p:sp>
      <p:sp>
        <p:nvSpPr>
          <p:cNvPr id="4" name="Text 2"/>
          <p:cNvSpPr/>
          <p:nvPr/>
        </p:nvSpPr>
        <p:spPr>
          <a:xfrm>
            <a:off x="548640" y="1170432"/>
            <a:ext cx="11064240" cy="310896"/>
          </a:xfrm>
          <a:prstGeom prst="rect">
            <a:avLst/>
          </a:prstGeom>
          <a:noFill/>
          <a:ln/>
        </p:spPr>
        <p:txBody>
          <a:bodyPr wrap="square" lIns="0" tIns="0" rIns="0" bIns="0" rtlCol="0" anchor="ctr"/>
          <a:lstStyle/>
          <a:p>
            <a:pPr indent="0" marL="0">
              <a:buNone/>
            </a:pPr>
            <a:r>
              <a:rPr lang="en-US" sz="1400" dirty="0">
                <a:solidFill>
                  <a:srgbClr val="6E6E7A"/>
                </a:solidFill>
                <a:latin typeface="Calibri" pitchFamily="34" charset="0"/>
                <a:ea typeface="Calibri" pitchFamily="34" charset="-122"/>
                <a:cs typeface="Calibri" pitchFamily="34" charset="-120"/>
              </a:rPr>
              <a:t>The rules worth carrying into every AVS storage engagement.</a:t>
            </a:r>
            <a:endParaRPr lang="en-US" sz="1400" dirty="0"/>
          </a:p>
        </p:txBody>
      </p:sp>
      <p:sp>
        <p:nvSpPr>
          <p:cNvPr id="5" name="Text 3"/>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6E6E7A"/>
                </a:solidFill>
                <a:latin typeface="Calibri" pitchFamily="34" charset="0"/>
                <a:ea typeface="Calibri" pitchFamily="34" charset="-122"/>
                <a:cs typeface="Calibri" pitchFamily="34" charset="-120"/>
              </a:rPr>
              <a:t>Quisitive  |  Scaling AVS Storage Without New Nodes</a:t>
            </a:r>
            <a:endParaRPr lang="en-US" sz="900" dirty="0"/>
          </a:p>
        </p:txBody>
      </p:sp>
      <p:sp>
        <p:nvSpPr>
          <p:cNvPr id="6" name="Text 4"/>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6E6E7A"/>
                </a:solidFill>
                <a:latin typeface="Calibri" pitchFamily="34" charset="0"/>
                <a:ea typeface="Calibri" pitchFamily="34" charset="-122"/>
                <a:cs typeface="Calibri" pitchFamily="34" charset="-120"/>
              </a:rPr>
              <a:t>45</a:t>
            </a:r>
            <a:endParaRPr lang="en-US" sz="900" dirty="0"/>
          </a:p>
        </p:txBody>
      </p:sp>
      <p:sp>
        <p:nvSpPr>
          <p:cNvPr id="7" name="Shape 5"/>
          <p:cNvSpPr/>
          <p:nvPr/>
        </p:nvSpPr>
        <p:spPr>
          <a:xfrm>
            <a:off x="548640" y="1737360"/>
            <a:ext cx="5440680" cy="3977640"/>
          </a:xfrm>
          <a:prstGeom prst="roundRect">
            <a:avLst>
              <a:gd name="adj" fmla="val 1379"/>
            </a:avLst>
          </a:prstGeom>
          <a:solidFill>
            <a:srgbClr val="E5F7FC"/>
          </a:solidFill>
          <a:ln w="12700">
            <a:solidFill>
              <a:srgbClr val="E5F7FC"/>
            </a:solidFill>
            <a:prstDash val="solid"/>
          </a:ln>
        </p:spPr>
      </p:sp>
      <p:sp>
        <p:nvSpPr>
          <p:cNvPr id="8" name="Text 6"/>
          <p:cNvSpPr/>
          <p:nvPr/>
        </p:nvSpPr>
        <p:spPr>
          <a:xfrm>
            <a:off x="868680" y="1965960"/>
            <a:ext cx="4846320" cy="35661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Treat AVS storage as dedicated infrastructure with explicit physical, policy, networking, and service limits.</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Never rename AVS clusters or datastores.</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Reassess VM storage policies whenever cluster size changes, and apply them explicitly to existing objects.</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Use deduplication only when its capacity benefit justifies its workload overhead, and keep 25% free before changing it.</a:t>
            </a:r>
            <a:endParaRPr lang="en-US" sz="1300" dirty="0"/>
          </a:p>
          <a:p>
            <a:pPr marL="342900" indent="-342900">
              <a:spcAft>
                <a:spcPts val="900"/>
              </a:spcAft>
              <a:buSzPct val="100000"/>
              <a:buChar char="•"/>
            </a:pPr>
            <a:r>
              <a:rPr lang="en-US" sz="1300" dirty="0">
                <a:solidFill>
                  <a:srgbClr val="4A4A57"/>
                </a:solidFill>
                <a:latin typeface="Calibri" pitchFamily="34" charset="0"/>
                <a:ea typeface="Calibri" pitchFamily="34" charset="-122"/>
                <a:cs typeface="Calibri" pitchFamily="34" charset="-120"/>
              </a:rPr>
              <a:t>Enable TRIM/UNMAP only after verifying thin disks, guest support, and the required full VM power cycle.</a:t>
            </a:r>
            <a:endParaRPr lang="en-US" sz="1300" dirty="0"/>
          </a:p>
        </p:txBody>
      </p:sp>
      <p:sp>
        <p:nvSpPr>
          <p:cNvPr id="9" name="Shape 7"/>
          <p:cNvSpPr/>
          <p:nvPr/>
        </p:nvSpPr>
        <p:spPr>
          <a:xfrm>
            <a:off x="6172200" y="1737360"/>
            <a:ext cx="5440680" cy="3977640"/>
          </a:xfrm>
          <a:prstGeom prst="roundRect">
            <a:avLst>
              <a:gd name="adj" fmla="val 1379"/>
            </a:avLst>
          </a:prstGeom>
          <a:solidFill>
            <a:srgbClr val="3E3E4B"/>
          </a:solidFill>
          <a:ln w="12700">
            <a:solidFill>
              <a:srgbClr val="3E3E4B"/>
            </a:solidFill>
            <a:prstDash val="solid"/>
          </a:ln>
        </p:spPr>
      </p:sp>
      <p:sp>
        <p:nvSpPr>
          <p:cNvPr id="10" name="Text 8"/>
          <p:cNvSpPr/>
          <p:nvPr/>
        </p:nvSpPr>
        <p:spPr>
          <a:xfrm>
            <a:off x="6492240" y="1965960"/>
            <a:ext cx="4846320" cy="35661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Treat unassociated-object deletion as irreversible and one object at a time.</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For Elastic SAN, calculate hosts, sessions, clusters, and maintenance headroom against the 128-connection limit.</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Use nconnect=4 and multiple ANF datastores when one NFS flow is not enough, and resync metadata after a service-level change.</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Vault and test the Administrator credential, and record file paths, before relying on guest file restore.</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Choose storage on workload performance, availability, protection, and operating model, not capacity alone.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822960" y="640080"/>
            <a:ext cx="10515600" cy="274320"/>
          </a:xfrm>
          <a:prstGeom prst="rect">
            <a:avLst/>
          </a:prstGeom>
          <a:noFill/>
          <a:ln/>
        </p:spPr>
        <p:txBody>
          <a:bodyPr wrap="square" lIns="0" tIns="0" rIns="0" bIns="0" rtlCol="0" anchor="ctr"/>
          <a:lstStyle/>
          <a:p>
            <a:pPr indent="0" marL="0">
              <a:buNone/>
            </a:pPr>
            <a:r>
              <a:rPr lang="en-US" sz="1100" b="1" spc="160" kern="0" dirty="0">
                <a:solidFill>
                  <a:srgbClr val="00B3E2"/>
                </a:solidFill>
                <a:latin typeface="Calibri" pitchFamily="34" charset="0"/>
                <a:ea typeface="Calibri" pitchFamily="34" charset="-122"/>
                <a:cs typeface="Calibri" pitchFamily="34" charset="-120"/>
              </a:rPr>
              <a:t>PRIMARY REFERENCES</a:t>
            </a:r>
            <a:endParaRPr lang="en-US" sz="1100" dirty="0"/>
          </a:p>
        </p:txBody>
      </p:sp>
      <p:sp>
        <p:nvSpPr>
          <p:cNvPr id="3" name="Text 1"/>
          <p:cNvSpPr/>
          <p:nvPr/>
        </p:nvSpPr>
        <p:spPr>
          <a:xfrm>
            <a:off x="822960" y="960120"/>
            <a:ext cx="10515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Everything here traces to Microsoft Learn</a:t>
            </a:r>
            <a:endParaRPr lang="en-US" sz="2800" dirty="0"/>
          </a:p>
        </p:txBody>
      </p:sp>
      <p:sp>
        <p:nvSpPr>
          <p:cNvPr id="4" name="Text 2"/>
          <p:cNvSpPr/>
          <p:nvPr/>
        </p:nvSpPr>
        <p:spPr>
          <a:xfrm>
            <a:off x="868680" y="1828800"/>
            <a:ext cx="5120640" cy="36576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Azure VMware Solution private-cloud and cluster concepts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Azure VMware Solution storage concepts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Configure a storage policy</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Configure VMware vSAN (OSA)</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Scale clusters in a private cloud</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External storage solutions overview</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Use Azure VMware Solution with Azure Elastic SAN</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Attach Azure NetApp Files datastores to AVS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Azure VMware Solution Generation 2 introduction</a:t>
            </a:r>
            <a:endParaRPr lang="en-US" sz="1300" dirty="0"/>
          </a:p>
        </p:txBody>
      </p:sp>
      <p:sp>
        <p:nvSpPr>
          <p:cNvPr id="5" name="Text 3"/>
          <p:cNvSpPr/>
          <p:nvPr/>
        </p:nvSpPr>
        <p:spPr>
          <a:xfrm>
            <a:off x="6355080" y="1828800"/>
            <a:ext cx="5120640" cy="36576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ANF datastore performance considerations for AVS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Manage Azure NetApp Files Cool Access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Dynamically change an ANF volume service level</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Install Cloud Backup for Virtual Machines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Back up ANF datastores and VMs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Restore VMs using Cloud Backup</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Restore guest files and folders</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Configure Pure Cloud Block Store</a:t>
            </a:r>
            <a:endParaRPr lang="en-US" sz="1300" dirty="0"/>
          </a:p>
          <a:p>
            <a:pPr marL="342900" indent="-342900">
              <a:spcAft>
                <a:spcPts val="900"/>
              </a:spcAft>
              <a:buSzPct val="100000"/>
              <a:buChar char="•"/>
            </a:pPr>
            <a:r>
              <a:rPr lang="en-US" sz="1300" dirty="0">
                <a:solidFill>
                  <a:srgbClr val="E4E4EA"/>
                </a:solidFill>
                <a:latin typeface="Calibri" pitchFamily="34" charset="0"/>
                <a:ea typeface="Calibri" pitchFamily="34" charset="-122"/>
                <a:cs typeface="Calibri" pitchFamily="34" charset="-120"/>
              </a:rPr>
              <a:t>Configure Azure Native Pure Storage Cloud</a:t>
            </a:r>
            <a:endParaRPr lang="en-US" sz="1300" dirty="0"/>
          </a:p>
        </p:txBody>
      </p:sp>
      <p:sp>
        <p:nvSpPr>
          <p:cNvPr id="6" name="Text 4"/>
          <p:cNvSpPr/>
          <p:nvPr/>
        </p:nvSpPr>
        <p:spPr>
          <a:xfrm>
            <a:off x="868680" y="5623560"/>
            <a:ext cx="10607040" cy="457200"/>
          </a:xfrm>
          <a:prstGeom prst="rect">
            <a:avLst/>
          </a:prstGeom>
          <a:noFill/>
          <a:ln/>
        </p:spPr>
        <p:txBody>
          <a:bodyPr wrap="square" lIns="0" tIns="0" rIns="0" bIns="0" rtlCol="0" anchor="ctr"/>
          <a:lstStyle/>
          <a:p>
            <a:pPr indent="0" marL="0">
              <a:buNone/>
            </a:pPr>
            <a:r>
              <a:rPr lang="en-US" sz="1150" i="1" dirty="0">
                <a:solidFill>
                  <a:srgbClr val="9A9AA8"/>
                </a:solidFill>
                <a:latin typeface="Calibri" pitchFamily="34" charset="0"/>
                <a:ea typeface="Calibri" pitchFamily="34" charset="-122"/>
                <a:cs typeface="Calibri" pitchFamily="34" charset="-120"/>
              </a:rPr>
              <a:t>Items described in this deck as session explanations, analogies, or architectural inferences are not stated in AVS documentation and are labelled as such.</a:t>
            </a:r>
            <a:endParaRPr lang="en-US" sz="1150" dirty="0"/>
          </a:p>
        </p:txBody>
      </p:sp>
      <p:sp>
        <p:nvSpPr>
          <p:cNvPr id="7" name="Text 5"/>
          <p:cNvSpPr/>
          <p:nvPr/>
        </p:nvSpPr>
        <p:spPr>
          <a:xfrm>
            <a:off x="548640" y="6355080"/>
            <a:ext cx="7315200" cy="274320"/>
          </a:xfrm>
          <a:prstGeom prst="rect">
            <a:avLst/>
          </a:prstGeom>
          <a:noFill/>
          <a:ln/>
        </p:spPr>
        <p:txBody>
          <a:bodyPr wrap="square" lIns="0" tIns="0" rIns="0" bIns="0" rtlCol="0" anchor="ctr"/>
          <a:lstStyle/>
          <a:p>
            <a:pPr algn="l" indent="0" marL="0">
              <a:buNone/>
            </a:pPr>
            <a:r>
              <a:rPr lang="en-US" sz="900" dirty="0">
                <a:solidFill>
                  <a:srgbClr val="9A9AA8"/>
                </a:solidFill>
                <a:latin typeface="Calibri" pitchFamily="34" charset="0"/>
                <a:ea typeface="Calibri" pitchFamily="34" charset="-122"/>
                <a:cs typeface="Calibri" pitchFamily="34" charset="-120"/>
              </a:rPr>
              <a:t>Quisitive  |  Scaling AVS Storage Without New Nodes</a:t>
            </a:r>
            <a:endParaRPr lang="en-US" sz="900" dirty="0"/>
          </a:p>
        </p:txBody>
      </p:sp>
      <p:sp>
        <p:nvSpPr>
          <p:cNvPr id="8" name="Text 6"/>
          <p:cNvSpPr/>
          <p:nvPr/>
        </p:nvSpPr>
        <p:spPr>
          <a:xfrm>
            <a:off x="10972800" y="6355080"/>
            <a:ext cx="667512" cy="274320"/>
          </a:xfrm>
          <a:prstGeom prst="rect">
            <a:avLst/>
          </a:prstGeom>
          <a:noFill/>
          <a:ln/>
        </p:spPr>
        <p:txBody>
          <a:bodyPr wrap="square" lIns="0" tIns="0" rIns="0" bIns="0"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2026-07-24T17:51:45Z</dcterms:created>
  <dcterms:modified xsi:type="dcterms:W3CDTF">2026-07-24T17:51:45Z</dcterms:modified>
</cp:coreProperties>
</file>