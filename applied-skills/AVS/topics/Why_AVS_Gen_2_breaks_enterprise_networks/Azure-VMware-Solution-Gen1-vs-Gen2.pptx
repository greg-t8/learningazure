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2.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E3E4B"/>
                </a:solidFill>
                <a:latin typeface="Arial"/>
              </a:defRPr>
            </a:pPr>
            <a:r>
              <a:rPr sz="1300" b="0" i="0" u="none" strike="noStrike">
                <a:solidFill>
                  <a:srgbClr val="3E3E4B"/>
                </a:solidFill>
                <a:latin typeface="Arial"/>
              </a:rPr>
              <a:t>/28 slice capacity by cluster size</a:t>
            </a:r>
          </a:p>
        </c:rich>
      </c:tx>
      <c:layout/>
      <c:overlay val="0"/>
    </c:title>
    <c:autoTitleDeleted val="0"/>
    <c:plotArea>
      <c:layout/>
      <c:barChart>
        <c:barDir val="col"/>
        <c:grouping val="clustered"/>
        <c:varyColors val="0"/>
        <c:ser>
          <c:idx val="0"/>
          <c:order val="0"/>
          <c:tx>
            <c:strRef>
              <c:f>Sheet1!$B$1</c:f>
              <c:strCache>
                <c:ptCount val="1"/>
                <c:pt idx="0">
                  <c:v>/28 capacity</c:v>
                </c:pt>
              </c:strCache>
            </c:strRef>
          </c:tx>
          <c:spPr>
            <a:solidFill>
              <a:srgbClr val="00B3E2"/>
            </a:solidFill>
            <a:effectLst/>
          </c:spPr>
          <c:invertIfNegative val="0"/>
          <c:dLbls>
            <c:numFmt formatCode="#,##0" sourceLinked="0"/>
            <c:txPr>
              <a:bodyPr/>
              <a:lstStyle/>
              <a:p>
                <a:pPr>
                  <a:defRPr b="0" i="0" strike="noStrike" sz="1200" u="none">
                    <a:solidFill>
                      <a:srgbClr val="3E3E4B"/>
                    </a:solidFill>
                    <a:latin typeface="Calibri"/>
                  </a:defRPr>
                </a:pPr>
              </a:p>
            </c:txPr>
            <c:showLegendKey val="0"/>
            <c:showVal val="1"/>
            <c:showCatName val="0"/>
            <c:showSerName val="0"/>
            <c:showPercent val="0"/>
            <c:showBubbleSize val="0"/>
            <c:showLeaderLines val="0"/>
          </c:dLbls>
          <c:dPt>
            <c:idx val="0"/>
            <c:invertIfNegative val="0"/>
            <c:bubble3D val="0"/>
            <c:spPr>
              <a:solidFill>
                <a:srgbClr val="00B3E2"/>
              </a:solidFill>
              <a:effectLst/>
            </c:spPr>
          </c:dPt>
          <c:dPt>
            <c:idx val="1"/>
            <c:invertIfNegative val="0"/>
            <c:bubble3D val="0"/>
            <c:spPr>
              <a:solidFill>
                <a:srgbClr val="00B3E2"/>
              </a:solidFill>
              <a:effectLst/>
            </c:spPr>
          </c:dPt>
          <c:cat>
            <c:multiLvlStrRef>
              <c:f>Sheet1!$A$2:$A$3</c:f>
              <c:multiLvlStrCache>
                <c:ptCount val="2"/>
                <c:lvl>
                  <c:pt idx="0">
                    <c:v>Three-node private cloud</c:v>
                  </c:pt>
                  <c:pt idx="1">
                    <c:v>Four-node private cloud</c:v>
                  </c:pt>
                </c:lvl>
              </c:multiLvlStrCache>
            </c:multiLvlStrRef>
          </c:cat>
          <c:val>
            <c:numRef>
              <c:f>Sheet1!$B$2:$B$3</c:f>
              <c:numCache>
                <c:formatCode>General</c:formatCode>
                <c:ptCount val="2"/>
                <c:pt idx="0">
                  <c:v>4096</c:v>
                </c:pt>
                <c:pt idx="1">
                  <c:v>6144</c:v>
                </c:pt>
              </c:numCache>
            </c:numRef>
          </c:val>
        </c:ser>
        <c:dLbls>
          <c:numFmt formatCode="#,##0" sourceLinked="0"/>
          <c:txPr>
            <a:bodyPr/>
            <a:lstStyle/>
            <a:p>
              <a:pPr>
                <a:defRPr b="0" i="0" strike="noStrike" sz="1200" u="none">
                  <a:solidFill>
                    <a:srgbClr val="3E3E4B"/>
                  </a:solidFill>
                  <a:latin typeface="Calibri"/>
                </a:defRPr>
              </a:pPr>
            </a:p>
          </c:txPr>
          <c:showLegendKey val="0"/>
          <c:showVal val="1"/>
          <c:showCatName val="0"/>
          <c:showSerName val="0"/>
          <c:showPercent val="0"/>
          <c:showBubbleSize val="0"/>
          <c:showLeaderLines val="0"/>
        </c:dLbls>
        <c:gapWidth val="1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E3E4B"/>
                </a:solidFill>
                <a:latin typeface="Calibri"/>
              </a:defRPr>
            </a:pPr>
            <a:endParaRPr lang="en-US"/>
          </a:p>
        </c:txPr>
        <c:crossAx val="2094734552"/>
        <c:crosses val="autoZero"/>
        <c:auto val="1"/>
        <c:lblAlgn val="ctr"/>
        <c:noMultiLvlLbl val="1"/>
      </c:catAx>
      <c:valAx>
        <c:axId val="2094734552"/>
        <c:scaling>
          <c:orientation val="minMax"/>
          <c:max val="7000"/>
        </c:scaling>
        <c:delete val="0"/>
        <c:axPos val="l"/>
        <c:majorGridlines>
          <c:spPr>
            <a:ln w="6350" cap="flat">
              <a:solidFill>
                <a:srgbClr val="DDE2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7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E3E4B"/>
                </a:solidFill>
                <a:latin typeface="Arial"/>
              </a:defRPr>
            </a:pPr>
            <a:r>
              <a:rPr sz="1300" b="0" i="0" u="none" strike="noStrike">
                <a:solidFill>
                  <a:srgbClr val="3E3E4B"/>
                </a:solidFill>
                <a:latin typeface="Arial"/>
              </a:rPr>
              <a:t>1,000-prefix VNet route budget</a:t>
            </a:r>
          </a:p>
        </c:rich>
      </c:tx>
      <c:layout/>
      <c:overlay val="0"/>
    </c:title>
    <c:autoTitleDeleted val="0"/>
    <c:plotArea>
      <c:layout/>
      <c:doughnutChart>
        <c:varyColors val="1"/>
        <c:ser>
          <c:idx val="0"/>
          <c:order val="0"/>
          <c:tx>
            <c:strRef>
              <c:f>Sheet1!$B$1</c:f>
              <c:strCache>
                <c:ptCount val="1"/>
                <c:pt idx="0">
                  <c:v>Route budget</c:v>
                </c:pt>
              </c:strCache>
            </c:strRef>
          </c:tx>
          <c:spPr>
            <a:solidFill>
              <a:schemeClr val="accent1"/>
            </a:solidFill>
            <a:ln w="9525" cap="flat">
              <a:solidFill>
                <a:srgbClr val="F9F9F9"/>
              </a:solidFill>
              <a:prstDash val="solid"/>
              <a:round/>
            </a:ln>
            <a:effectLst/>
          </c:spPr>
          <c:dPt>
            <c:idx val="0"/>
            <c:bubble3D val="0"/>
            <c:spPr>
              <a:solidFill>
                <a:srgbClr val="F15D23"/>
              </a:solidFill>
              <a:effectLst/>
            </c:spPr>
          </c:dPt>
          <c:dPt>
            <c:idx val="1"/>
            <c:bubble3D val="0"/>
            <c:spPr>
              <a:solidFill>
                <a:srgbClr val="00B3E2"/>
              </a:solidFill>
              <a:effectLst/>
            </c:spPr>
          </c:dPt>
          <c:dLbls>
            <c:dLbl>
              <c:idx val="0"/>
              <c:numFmt formatCode="General" sourceLinked="0"/>
              <c:spPr/>
              <c:txPr>
                <a:bodyPr/>
                <a:lstStyle/>
                <a:p>
                  <a:pPr>
                    <a:defRPr sz="1300" b="1" i="0" u="none" strike="noStrike">
                      <a:solidFill>
                        <a:srgbClr val="FFFFFF"/>
                      </a:solidFill>
                      <a:latin typeface="Calibri"/>
                    </a:defRPr>
                  </a:pPr>
                </a:p>
              </c:txPr>
              <c:showLegendKey val="0"/>
              <c:showVal val="1"/>
              <c:showCatName val="0"/>
              <c:showSerName val="0"/>
              <c:showPercent val="0"/>
              <c:showBubbleSize val="0"/>
            </c:dLbl>
            <c:dLbl>
              <c:idx val="1"/>
              <c:numFmt formatCode="General" sourceLinked="0"/>
              <c:spPr/>
              <c:txPr>
                <a:bodyPr/>
                <a:lstStyle/>
                <a:p>
                  <a:pPr>
                    <a:defRPr sz="1300" b="1" i="0" u="none" strike="noStrike">
                      <a:solidFill>
                        <a:srgbClr val="FFFFFF"/>
                      </a:solidFill>
                      <a:latin typeface="Calibri"/>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Consumed by MON /32 routes</c:v>
                </c:pt>
                <c:pt idx="1">
                  <c:v>Remaining capacity</c:v>
                </c:pt>
              </c:strCache>
            </c:strRef>
          </c:cat>
          <c:val>
            <c:numRef>
              <c:f>Sheet1!$B$2:$B$3</c:f>
              <c:numCache>
                <c:ptCount val="2"/>
                <c:pt idx="0">
                  <c:v>800</c:v>
                </c:pt>
                <c:pt idx="1">
                  <c:v>200</c:v>
                </c:pt>
              </c:numCache>
            </c:numRef>
          </c:val>
        </c:ser>
        <c:firstSliceAng val="0"/>
        <c:holeSize val="55"/>
      </c:doughnutChart>
      <c:spPr>
        <a:noFill/>
        <a:ln>
          <a:noFill/>
        </a:ln>
        <a:effectLst/>
      </c:spPr>
    </c:plotArea>
    <c:legend>
      <c:legendPos val="b"/>
      <c:overlay val="0"/>
      <c:txPr>
        <a:bodyPr/>
        <a:lstStyle/>
        <a:p>
          <a:pPr>
            <a:defRPr sz="1100">
              <a:solidFill>
                <a:srgbClr val="3E3E4B"/>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of this briefing: establish that the Gen 1 / Gen 2 decision is an architecture decision, not a hardware refresh. Every claim traceable to Microsoft Learn is cited in the source guide; items flagged for validation are marked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sections. Sections 3 and 4 carry the highest project risk: route scale and migration sequencing are where Gen 2 deployments most often fail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reset expectations with application owners. The migration avoids code change, not design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framing sentence: the selected generation determines hardware platform, storage architecture, connectivity model, route-scale limits, migration behavior, availability design, security integration, and operational procedures.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two bottom rows first: primary advantage and primary risk. Those two rows drive most client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most common client question: what does my team actually have to do differently on day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the hardware conversation is where cost sensitivity usually surfaces.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AV48 is the Gen 1 host that already uses ESA. That matters: ESA is not exclusively a Gen 2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bullet is the one finance stakeholders react to. Gen 2 networking is only available with the premium 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boot-storm example is the clearest illustration of why the storage architecture, not the core count, is often the deciding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Escalate this early. A quota delay on AV64 can move an entire migration wave by a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Destaging is the mechanism to explain. Most sustained-write performance complaints on OSA trace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bottleneck does not disappear; it moves to other system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Useful handout slide for storage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section that most often changes the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ExpressRoute here is Microsoft-managed for the AVS side; the customer still owns gateway and BGP configuration on the Azure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hairpin is the operative concept: internal cloud traffic depends on a perimeter.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simplification is real. The cost is that route limits, deployment permanence, and managed security behavior now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/22 is a hard floor. Address planning has to happen before the private cloud is created, because the block cannot be changed afterward.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 this evidence before the audit, not during it. Packet-level testing is the defensible artifact.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flag for validation: confirm current support for resource-group moves, subscription moves, and tenant transfers before relying on this constraint being permanent.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in the networking section. Both numbers must be modeled at peak migration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client to name their largest flat segment. Most enterprise estates have at least one /16 or /22 that nobody has recalculated.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Scaling out for route capacity is a legitimate design lever, but only for ledger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as a spreadsheet artifact, not a slide. It is the network team's acceptance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 is a transition mechanism, not a permanent routing architecture. Say that explicitly to migration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scenario to narrate: a department migrates successfully over a weekend; a later wave hits the limit and new workloads lose routing or fail provisioning.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team and migration team must share one route-capacity model. This is a governance point, not a technical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the pipe may be wide, but the toll booth processing each vehicle still creates a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Compliance stakeholders should be in the room for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hosts minimum plus a witness. Cost is the main objection; quantify it against the RPO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Recovery is a VM restart, not a restore. That distinction is what justifies the host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state as a universal rule that every Gen 2 deployment is single-zone. Check the region and host-type mapping table for the specific target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failure the client is actually insuring against. Most answer 'all of them' until this table is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Fault domains are the answer to 'what does Gen 2 give me instead of a stretched cluster?' The answer is: less, and at a different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the fault-domain check to the standard scale-in runbook. Repeated 409s usually mean the operator is retrying the same invalid 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validate: whether added AV64 clusters in an existing Gen 1 private cloud use all Gen 2 networking characteristics.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direction that matters operationally is the return trip. Most teams only discover the constraint when they need to move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mission-critical risk is the outage: for patient, trading, or database systems, the required cold-migration downtime may simply be unacceptable.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the conversation back to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each line as met, not met, or unknown. The unknowns are the real project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clients photograph. Keep it clean and let it stand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Items 5 through 8 are the ones most often skipped, and they are the ones that cause late-stage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running project checklist. Each group maps to a named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requirement question, not the product question: which constraints is this organization prepared to manage?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E3E4B"/>
        </a:solidFill>
      </p:bgPr>
    </p:bg>
    <p:spTree>
      <p:nvGrpSpPr>
        <p:cNvPr id="1" name=""/>
        <p:cNvGrpSpPr/>
        <p:nvPr/>
      </p:nvGrpSpPr>
      <p:grpSpPr>
        <a:xfrm>
          <a:off x="0" y="0"/>
          <a:ext cx="0" cy="0"/>
          <a:chOff x="0" y="0"/>
          <a:chExt cx="0" cy="0"/>
        </a:xfrm>
      </p:grpSpPr>
      <p:sp>
        <p:nvSpPr>
          <p:cNvPr id="2" name="Shape 0"/>
          <p:cNvSpPr/>
          <p:nvPr/>
        </p:nvSpPr>
        <p:spPr>
          <a:xfrm>
            <a:off x="8778240" y="-1371600"/>
            <a:ext cx="5120640" cy="5120640"/>
          </a:xfrm>
          <a:prstGeom prst="ellipse">
            <a:avLst/>
          </a:prstGeom>
          <a:solidFill>
            <a:srgbClr val="4A4A58"/>
          </a:solidFill>
          <a:ln/>
        </p:spPr>
      </p:sp>
      <p:sp>
        <p:nvSpPr>
          <p:cNvPr id="3" name="Shape 1"/>
          <p:cNvSpPr/>
          <p:nvPr/>
        </p:nvSpPr>
        <p:spPr>
          <a:xfrm>
            <a:off x="10149840" y="3291840"/>
            <a:ext cx="2926080" cy="2926080"/>
          </a:xfrm>
          <a:prstGeom prst="ellipse">
            <a:avLst/>
          </a:prstGeom>
          <a:solidFill>
            <a:srgbClr val="4A4A58"/>
          </a:solidFill>
          <a:ln/>
        </p:spPr>
      </p:sp>
      <p:sp>
        <p:nvSpPr>
          <p:cNvPr id="4" name="Shape 2"/>
          <p:cNvSpPr/>
          <p:nvPr/>
        </p:nvSpPr>
        <p:spPr>
          <a:xfrm>
            <a:off x="9966960" y="274320"/>
            <a:ext cx="1371600" cy="1371600"/>
          </a:xfrm>
          <a:prstGeom prst="ellipse">
            <a:avLst/>
          </a:prstGeom>
          <a:solidFill>
            <a:srgbClr val="00B3E2"/>
          </a:solidFill>
          <a:ln/>
        </p:spPr>
      </p:sp>
      <p:sp>
        <p:nvSpPr>
          <p:cNvPr id="5" name="Text 3"/>
          <p:cNvSpPr/>
          <p:nvPr/>
        </p:nvSpPr>
        <p:spPr>
          <a:xfrm>
            <a:off x="548640" y="1371600"/>
            <a:ext cx="8229600" cy="274320"/>
          </a:xfrm>
          <a:prstGeom prst="rect">
            <a:avLst/>
          </a:prstGeom>
          <a:noFill/>
          <a:ln/>
        </p:spPr>
        <p:txBody>
          <a:bodyPr wrap="square" lIns="0" tIns="0" rIns="0" bIns="0" rtlCol="0" anchor="ctr"/>
          <a:lstStyle/>
          <a:p>
            <a:pPr indent="0" marL="0">
              <a:buNone/>
            </a:pPr>
            <a:r>
              <a:rPr lang="en-US" sz="1150" b="1" spc="160" kern="0" dirty="0">
                <a:solidFill>
                  <a:srgbClr val="00B3E2"/>
                </a:solidFill>
                <a:latin typeface="Arial" pitchFamily="34" charset="0"/>
                <a:ea typeface="Arial" pitchFamily="34" charset="-122"/>
                <a:cs typeface="Arial" pitchFamily="34" charset="-120"/>
              </a:rPr>
              <a:t>AZURE INFRASTRUCTURE  |  ARCHITECTURE BRIEFING</a:t>
            </a:r>
            <a:endParaRPr lang="en-US" sz="1150" dirty="0"/>
          </a:p>
        </p:txBody>
      </p:sp>
      <p:sp>
        <p:nvSpPr>
          <p:cNvPr id="6" name="Text 4"/>
          <p:cNvSpPr/>
          <p:nvPr/>
        </p:nvSpPr>
        <p:spPr>
          <a:xfrm>
            <a:off x="548640" y="1828800"/>
            <a:ext cx="8412480" cy="77724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Azure VMware Solution</a:t>
            </a:r>
            <a:endParaRPr lang="en-US" sz="4200" dirty="0"/>
          </a:p>
        </p:txBody>
      </p:sp>
      <p:sp>
        <p:nvSpPr>
          <p:cNvPr id="7" name="Text 5"/>
          <p:cNvSpPr/>
          <p:nvPr/>
        </p:nvSpPr>
        <p:spPr>
          <a:xfrm>
            <a:off x="548640" y="2606040"/>
            <a:ext cx="8412480" cy="777240"/>
          </a:xfrm>
          <a:prstGeom prst="rect">
            <a:avLst/>
          </a:prstGeom>
          <a:noFill/>
          <a:ln/>
        </p:spPr>
        <p:txBody>
          <a:bodyPr wrap="square" lIns="0" tIns="0" rIns="0" bIns="0" rtlCol="0" anchor="ctr"/>
          <a:lstStyle/>
          <a:p>
            <a:pPr indent="0" marL="0">
              <a:buNone/>
            </a:pPr>
            <a:r>
              <a:rPr lang="en-US" sz="4200" b="1" dirty="0">
                <a:solidFill>
                  <a:srgbClr val="00B3E2"/>
                </a:solidFill>
                <a:latin typeface="Arial" pitchFamily="34" charset="0"/>
                <a:ea typeface="Arial" pitchFamily="34" charset="-122"/>
                <a:cs typeface="Arial" pitchFamily="34" charset="-120"/>
              </a:rPr>
              <a:t>Generation 1 vs. Generation 2</a:t>
            </a:r>
            <a:endParaRPr lang="en-US" sz="4200" dirty="0"/>
          </a:p>
        </p:txBody>
      </p:sp>
      <p:sp>
        <p:nvSpPr>
          <p:cNvPr id="8" name="Text 6"/>
          <p:cNvSpPr/>
          <p:nvPr/>
        </p:nvSpPr>
        <p:spPr>
          <a:xfrm>
            <a:off x="548640" y="3520440"/>
            <a:ext cx="7863840" cy="411480"/>
          </a:xfrm>
          <a:prstGeom prst="rect">
            <a:avLst/>
          </a:prstGeom>
          <a:noFill/>
          <a:ln/>
        </p:spPr>
        <p:txBody>
          <a:bodyPr wrap="square" lIns="0" tIns="0" rIns="0" bIns="0" rtlCol="0" anchor="ctr"/>
          <a:lstStyle/>
          <a:p>
            <a:pPr indent="0" marL="0">
              <a:buNone/>
            </a:pPr>
            <a:r>
              <a:rPr lang="en-US" sz="1500" dirty="0">
                <a:solidFill>
                  <a:srgbClr val="B2E8F6"/>
                </a:solidFill>
                <a:latin typeface="Calibri" pitchFamily="34" charset="0"/>
                <a:ea typeface="Calibri" pitchFamily="34" charset="-122"/>
                <a:cs typeface="Calibri" pitchFamily="34" charset="-120"/>
              </a:rPr>
              <a:t>Architecture, networking, migration, resilience, and operational constraints</a:t>
            </a:r>
            <a:endParaRPr lang="en-US" sz="1500" dirty="0"/>
          </a:p>
        </p:txBody>
      </p:sp>
      <p:sp>
        <p:nvSpPr>
          <p:cNvPr id="9" name="Shape 7"/>
          <p:cNvSpPr/>
          <p:nvPr/>
        </p:nvSpPr>
        <p:spPr>
          <a:xfrm>
            <a:off x="548640" y="4160520"/>
            <a:ext cx="1188720" cy="45720"/>
          </a:xfrm>
          <a:prstGeom prst="roundRect">
            <a:avLst>
              <a:gd name="adj" fmla="val 40000"/>
            </a:avLst>
          </a:prstGeom>
          <a:solidFill>
            <a:srgbClr val="00B3E2"/>
          </a:solidFill>
          <a:ln/>
        </p:spPr>
      </p:sp>
      <p:sp>
        <p:nvSpPr>
          <p:cNvPr id="10" name="Text 8"/>
          <p:cNvSpPr/>
          <p:nvPr/>
        </p:nvSpPr>
        <p:spPr>
          <a:xfrm>
            <a:off x="548640" y="4434840"/>
            <a:ext cx="7680960" cy="731520"/>
          </a:xfrm>
          <a:prstGeom prst="rect">
            <a:avLst/>
          </a:prstGeom>
          <a:noFill/>
          <a:ln/>
        </p:spPr>
        <p:txBody>
          <a:bodyPr wrap="square" lIns="0" tIns="0" rIns="0" bIns="0" rtlCol="0" anchor="ctr"/>
          <a:lstStyle/>
          <a:p>
            <a:pPr indent="0" marL="0">
              <a:lnSpc>
                <a:spcPts val="1700"/>
              </a:lnSpc>
              <a:buNone/>
            </a:pPr>
            <a:r>
              <a:rPr lang="en-US" sz="1150" dirty="0">
                <a:solidFill>
                  <a:srgbClr val="DDE2E2"/>
                </a:solidFill>
                <a:latin typeface="Calibri" pitchFamily="34" charset="0"/>
                <a:ea typeface="Calibri" pitchFamily="34" charset="-122"/>
                <a:cs typeface="Calibri" pitchFamily="34" charset="-120"/>
              </a:rPr>
              <a:t>Prepared for infrastructure architecture, network, and migration planning teams.</a:t>
            </a:r>
            <a:endParaRPr lang="en-US" sz="1150" dirty="0"/>
          </a:p>
          <a:p>
            <a:pPr indent="0" marL="0">
              <a:lnSpc>
                <a:spcPts val="1700"/>
              </a:lnSpc>
              <a:buNone/>
            </a:pPr>
            <a:r>
              <a:rPr lang="en-US" sz="1150" dirty="0">
                <a:solidFill>
                  <a:srgbClr val="DDE2E2"/>
                </a:solidFill>
                <a:latin typeface="Calibri" pitchFamily="34" charset="0"/>
                <a:ea typeface="Calibri" pitchFamily="34" charset="-122"/>
                <a:cs typeface="Calibri" pitchFamily="34" charset="-120"/>
              </a:rPr>
              <a:t>All platform limits and specifications require validation against current Microsoft documentation.</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CONTENTS</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What this briefing covers</a:t>
            </a:r>
            <a:endParaRPr lang="en-US" sz="2800" dirty="0"/>
          </a:p>
        </p:txBody>
      </p:sp>
      <p:sp>
        <p:nvSpPr>
          <p:cNvPr id="4" name="Shape 2"/>
          <p:cNvSpPr/>
          <p:nvPr/>
        </p:nvSpPr>
        <p:spPr>
          <a:xfrm>
            <a:off x="548640" y="1417320"/>
            <a:ext cx="3575304" cy="2103120"/>
          </a:xfrm>
          <a:prstGeom prst="roundRect">
            <a:avLst>
              <a:gd name="adj" fmla="val 3913"/>
            </a:avLst>
          </a:prstGeom>
          <a:solidFill>
            <a:srgbClr val="E5F7FC"/>
          </a:solidFill>
          <a:ln/>
        </p:spPr>
      </p:sp>
      <p:sp>
        <p:nvSpPr>
          <p:cNvPr id="5" name="Text 3"/>
          <p:cNvSpPr/>
          <p:nvPr/>
        </p:nvSpPr>
        <p:spPr>
          <a:xfrm>
            <a:off x="804672" y="1618488"/>
            <a:ext cx="1097280" cy="457200"/>
          </a:xfrm>
          <a:prstGeom prst="rect">
            <a:avLst/>
          </a:prstGeom>
          <a:noFill/>
          <a:ln/>
        </p:spPr>
        <p:txBody>
          <a:bodyPr wrap="square" lIns="0" tIns="0" rIns="0" bIns="0" rtlCol="0" anchor="ctr"/>
          <a:lstStyle/>
          <a:p>
            <a:pPr indent="0" marL="0">
              <a:buNone/>
            </a:pPr>
            <a:r>
              <a:rPr lang="en-US" sz="2600" b="1" dirty="0">
                <a:solidFill>
                  <a:srgbClr val="00B3E2"/>
                </a:solidFill>
                <a:latin typeface="Arial" pitchFamily="34" charset="0"/>
                <a:ea typeface="Arial" pitchFamily="34" charset="-122"/>
                <a:cs typeface="Arial" pitchFamily="34" charset="-120"/>
              </a:rPr>
              <a:t>01</a:t>
            </a:r>
            <a:endParaRPr lang="en-US" sz="2600" dirty="0"/>
          </a:p>
        </p:txBody>
      </p:sp>
      <p:sp>
        <p:nvSpPr>
          <p:cNvPr id="6" name="Text 4"/>
          <p:cNvSpPr/>
          <p:nvPr/>
        </p:nvSpPr>
        <p:spPr>
          <a:xfrm>
            <a:off x="804672" y="2167128"/>
            <a:ext cx="3063240" cy="457200"/>
          </a:xfrm>
          <a:prstGeom prst="rect">
            <a:avLst/>
          </a:prstGeom>
          <a:noFill/>
          <a:ln/>
        </p:spPr>
        <p:txBody>
          <a:bodyPr wrap="square" lIns="0" tIns="0" rIns="0" bIns="0" rtlCol="0" anchor="t"/>
          <a:lstStyle/>
          <a:p>
            <a:pPr indent="0" marL="0">
              <a:buNone/>
            </a:pPr>
            <a:r>
              <a:rPr lang="en-US" sz="1500" b="1" dirty="0">
                <a:solidFill>
                  <a:srgbClr val="3E3E4B"/>
                </a:solidFill>
                <a:latin typeface="Arial" pitchFamily="34" charset="0"/>
                <a:ea typeface="Arial" pitchFamily="34" charset="-122"/>
                <a:cs typeface="Arial" pitchFamily="34" charset="-120"/>
              </a:rPr>
              <a:t>Architectural decision</a:t>
            </a:r>
            <a:endParaRPr lang="en-US" sz="1500" dirty="0"/>
          </a:p>
        </p:txBody>
      </p:sp>
      <p:sp>
        <p:nvSpPr>
          <p:cNvPr id="7" name="Text 5"/>
          <p:cNvSpPr/>
          <p:nvPr/>
        </p:nvSpPr>
        <p:spPr>
          <a:xfrm>
            <a:off x="804672" y="2624328"/>
            <a:ext cx="3063240" cy="777240"/>
          </a:xfrm>
          <a:prstGeom prst="rect">
            <a:avLst/>
          </a:prstGeom>
          <a:noFill/>
          <a:ln/>
        </p:spPr>
        <p:txBody>
          <a:bodyPr wrap="square" lIns="0" tIns="0" rIns="0" bIns="0" rtlCol="0" anchor="t"/>
          <a:lstStyle/>
          <a:p>
            <a:pPr indent="0" marL="0">
              <a:lnSpc>
                <a:spcPts val="1500"/>
              </a:lnSpc>
              <a:buNone/>
            </a:pPr>
            <a:r>
              <a:rPr lang="en-US" sz="1150" dirty="0">
                <a:solidFill>
                  <a:srgbClr val="3E3E4B"/>
                </a:solidFill>
                <a:latin typeface="Calibri" pitchFamily="34" charset="0"/>
                <a:ea typeface="Calibri" pitchFamily="34" charset="-122"/>
                <a:cs typeface="Calibri" pitchFamily="34" charset="-120"/>
              </a:rPr>
              <a:t>Why the generation choice drives hardware, network, and resilience design.</a:t>
            </a:r>
            <a:endParaRPr lang="en-US" sz="1150" dirty="0"/>
          </a:p>
        </p:txBody>
      </p:sp>
      <p:sp>
        <p:nvSpPr>
          <p:cNvPr id="8" name="Shape 6"/>
          <p:cNvSpPr/>
          <p:nvPr/>
        </p:nvSpPr>
        <p:spPr>
          <a:xfrm>
            <a:off x="4306824" y="1417320"/>
            <a:ext cx="3575304" cy="2103120"/>
          </a:xfrm>
          <a:prstGeom prst="roundRect">
            <a:avLst>
              <a:gd name="adj" fmla="val 3913"/>
            </a:avLst>
          </a:prstGeom>
          <a:solidFill>
            <a:srgbClr val="E5F7FC"/>
          </a:solidFill>
          <a:ln/>
        </p:spPr>
      </p:sp>
      <p:sp>
        <p:nvSpPr>
          <p:cNvPr id="9" name="Text 7"/>
          <p:cNvSpPr/>
          <p:nvPr/>
        </p:nvSpPr>
        <p:spPr>
          <a:xfrm>
            <a:off x="4562856" y="1618488"/>
            <a:ext cx="1097280" cy="457200"/>
          </a:xfrm>
          <a:prstGeom prst="rect">
            <a:avLst/>
          </a:prstGeom>
          <a:noFill/>
          <a:ln/>
        </p:spPr>
        <p:txBody>
          <a:bodyPr wrap="square" lIns="0" tIns="0" rIns="0" bIns="0" rtlCol="0" anchor="ctr"/>
          <a:lstStyle/>
          <a:p>
            <a:pPr indent="0" marL="0">
              <a:buNone/>
            </a:pPr>
            <a:r>
              <a:rPr lang="en-US" sz="2600" b="1" dirty="0">
                <a:solidFill>
                  <a:srgbClr val="00B3E2"/>
                </a:solidFill>
                <a:latin typeface="Arial" pitchFamily="34" charset="0"/>
                <a:ea typeface="Arial" pitchFamily="34" charset="-122"/>
                <a:cs typeface="Arial" pitchFamily="34" charset="-120"/>
              </a:rPr>
              <a:t>02</a:t>
            </a:r>
            <a:endParaRPr lang="en-US" sz="2600" dirty="0"/>
          </a:p>
        </p:txBody>
      </p:sp>
      <p:sp>
        <p:nvSpPr>
          <p:cNvPr id="10" name="Text 8"/>
          <p:cNvSpPr/>
          <p:nvPr/>
        </p:nvSpPr>
        <p:spPr>
          <a:xfrm>
            <a:off x="4562856" y="2167128"/>
            <a:ext cx="3063240" cy="457200"/>
          </a:xfrm>
          <a:prstGeom prst="rect">
            <a:avLst/>
          </a:prstGeom>
          <a:noFill/>
          <a:ln/>
        </p:spPr>
        <p:txBody>
          <a:bodyPr wrap="square" lIns="0" tIns="0" rIns="0" bIns="0" rtlCol="0" anchor="t"/>
          <a:lstStyle/>
          <a:p>
            <a:pPr indent="0" marL="0">
              <a:buNone/>
            </a:pPr>
            <a:r>
              <a:rPr lang="en-US" sz="1500" b="1" dirty="0">
                <a:solidFill>
                  <a:srgbClr val="3E3E4B"/>
                </a:solidFill>
                <a:latin typeface="Arial" pitchFamily="34" charset="0"/>
                <a:ea typeface="Arial" pitchFamily="34" charset="-122"/>
                <a:cs typeface="Arial" pitchFamily="34" charset="-120"/>
              </a:rPr>
              <a:t>Hardware and storage</a:t>
            </a:r>
            <a:endParaRPr lang="en-US" sz="1500" dirty="0"/>
          </a:p>
        </p:txBody>
      </p:sp>
      <p:sp>
        <p:nvSpPr>
          <p:cNvPr id="11" name="Text 9"/>
          <p:cNvSpPr/>
          <p:nvPr/>
        </p:nvSpPr>
        <p:spPr>
          <a:xfrm>
            <a:off x="4562856" y="2624328"/>
            <a:ext cx="3063240" cy="777240"/>
          </a:xfrm>
          <a:prstGeom prst="rect">
            <a:avLst/>
          </a:prstGeom>
          <a:noFill/>
          <a:ln/>
        </p:spPr>
        <p:txBody>
          <a:bodyPr wrap="square" lIns="0" tIns="0" rIns="0" bIns="0" rtlCol="0" anchor="t"/>
          <a:lstStyle/>
          <a:p>
            <a:pPr indent="0" marL="0">
              <a:lnSpc>
                <a:spcPts val="1500"/>
              </a:lnSpc>
              <a:buNone/>
            </a:pPr>
            <a:r>
              <a:rPr lang="en-US" sz="1150" dirty="0">
                <a:solidFill>
                  <a:srgbClr val="3E3E4B"/>
                </a:solidFill>
                <a:latin typeface="Calibri" pitchFamily="34" charset="0"/>
                <a:ea typeface="Calibri" pitchFamily="34" charset="-122"/>
                <a:cs typeface="Calibri" pitchFamily="34" charset="-120"/>
              </a:rPr>
              <a:t>Host profiles, AV64 characteristics, and the vSAN OSA to ESA shift.</a:t>
            </a:r>
            <a:endParaRPr lang="en-US" sz="1150" dirty="0"/>
          </a:p>
        </p:txBody>
      </p:sp>
      <p:sp>
        <p:nvSpPr>
          <p:cNvPr id="12" name="Shape 10"/>
          <p:cNvSpPr/>
          <p:nvPr/>
        </p:nvSpPr>
        <p:spPr>
          <a:xfrm>
            <a:off x="8065008" y="1417320"/>
            <a:ext cx="3575304" cy="2103120"/>
          </a:xfrm>
          <a:prstGeom prst="roundRect">
            <a:avLst>
              <a:gd name="adj" fmla="val 3913"/>
            </a:avLst>
          </a:prstGeom>
          <a:solidFill>
            <a:srgbClr val="E5F7FC"/>
          </a:solidFill>
          <a:ln/>
        </p:spPr>
      </p:sp>
      <p:sp>
        <p:nvSpPr>
          <p:cNvPr id="13" name="Text 11"/>
          <p:cNvSpPr/>
          <p:nvPr/>
        </p:nvSpPr>
        <p:spPr>
          <a:xfrm>
            <a:off x="8321040" y="1618488"/>
            <a:ext cx="1097280" cy="457200"/>
          </a:xfrm>
          <a:prstGeom prst="rect">
            <a:avLst/>
          </a:prstGeom>
          <a:noFill/>
          <a:ln/>
        </p:spPr>
        <p:txBody>
          <a:bodyPr wrap="square" lIns="0" tIns="0" rIns="0" bIns="0" rtlCol="0" anchor="ctr"/>
          <a:lstStyle/>
          <a:p>
            <a:pPr indent="0" marL="0">
              <a:buNone/>
            </a:pPr>
            <a:r>
              <a:rPr lang="en-US" sz="2600" b="1" dirty="0">
                <a:solidFill>
                  <a:srgbClr val="00B3E2"/>
                </a:solidFill>
                <a:latin typeface="Arial" pitchFamily="34" charset="0"/>
                <a:ea typeface="Arial" pitchFamily="34" charset="-122"/>
                <a:cs typeface="Arial" pitchFamily="34" charset="-120"/>
              </a:rPr>
              <a:t>03</a:t>
            </a:r>
            <a:endParaRPr lang="en-US" sz="2600" dirty="0"/>
          </a:p>
        </p:txBody>
      </p:sp>
      <p:sp>
        <p:nvSpPr>
          <p:cNvPr id="14" name="Text 12"/>
          <p:cNvSpPr/>
          <p:nvPr/>
        </p:nvSpPr>
        <p:spPr>
          <a:xfrm>
            <a:off x="8321040" y="2167128"/>
            <a:ext cx="3063240" cy="457200"/>
          </a:xfrm>
          <a:prstGeom prst="rect">
            <a:avLst/>
          </a:prstGeom>
          <a:noFill/>
          <a:ln/>
        </p:spPr>
        <p:txBody>
          <a:bodyPr wrap="square" lIns="0" tIns="0" rIns="0" bIns="0" rtlCol="0" anchor="t"/>
          <a:lstStyle/>
          <a:p>
            <a:pPr indent="0" marL="0">
              <a:buNone/>
            </a:pPr>
            <a:r>
              <a:rPr lang="en-US" sz="1500" b="1" dirty="0">
                <a:solidFill>
                  <a:srgbClr val="3E3E4B"/>
                </a:solidFill>
                <a:latin typeface="Arial" pitchFamily="34" charset="0"/>
                <a:ea typeface="Arial" pitchFamily="34" charset="-122"/>
                <a:cs typeface="Arial" pitchFamily="34" charset="-120"/>
              </a:rPr>
              <a:t>Networking</a:t>
            </a:r>
            <a:endParaRPr lang="en-US" sz="1500" dirty="0"/>
          </a:p>
        </p:txBody>
      </p:sp>
      <p:sp>
        <p:nvSpPr>
          <p:cNvPr id="15" name="Text 13"/>
          <p:cNvSpPr/>
          <p:nvPr/>
        </p:nvSpPr>
        <p:spPr>
          <a:xfrm>
            <a:off x="8321040" y="2624328"/>
            <a:ext cx="3063240" cy="777240"/>
          </a:xfrm>
          <a:prstGeom prst="rect">
            <a:avLst/>
          </a:prstGeom>
          <a:noFill/>
          <a:ln/>
        </p:spPr>
        <p:txBody>
          <a:bodyPr wrap="square" lIns="0" tIns="0" rIns="0" bIns="0" rtlCol="0" anchor="t"/>
          <a:lstStyle/>
          <a:p>
            <a:pPr indent="0" marL="0">
              <a:lnSpc>
                <a:spcPts val="1500"/>
              </a:lnSpc>
              <a:buNone/>
            </a:pPr>
            <a:r>
              <a:rPr lang="en-US" sz="1150" dirty="0">
                <a:solidFill>
                  <a:srgbClr val="3E3E4B"/>
                </a:solidFill>
                <a:latin typeface="Calibri" pitchFamily="34" charset="0"/>
                <a:ea typeface="Calibri" pitchFamily="34" charset="-122"/>
                <a:cs typeface="Calibri" pitchFamily="34" charset="-120"/>
              </a:rPr>
              <a:t>Gen 1 ExpressRoute adjacency versus Gen 2 VNet injection and route limits.</a:t>
            </a:r>
            <a:endParaRPr lang="en-US" sz="1150" dirty="0"/>
          </a:p>
        </p:txBody>
      </p:sp>
      <p:sp>
        <p:nvSpPr>
          <p:cNvPr id="16" name="Shape 14"/>
          <p:cNvSpPr/>
          <p:nvPr/>
        </p:nvSpPr>
        <p:spPr>
          <a:xfrm>
            <a:off x="548640" y="3749040"/>
            <a:ext cx="3575304" cy="2103120"/>
          </a:xfrm>
          <a:prstGeom prst="roundRect">
            <a:avLst>
              <a:gd name="adj" fmla="val 3913"/>
            </a:avLst>
          </a:prstGeom>
          <a:solidFill>
            <a:srgbClr val="EBEDED"/>
          </a:solidFill>
          <a:ln/>
        </p:spPr>
      </p:sp>
      <p:sp>
        <p:nvSpPr>
          <p:cNvPr id="17" name="Text 15"/>
          <p:cNvSpPr/>
          <p:nvPr/>
        </p:nvSpPr>
        <p:spPr>
          <a:xfrm>
            <a:off x="804672" y="3950208"/>
            <a:ext cx="1097280" cy="457200"/>
          </a:xfrm>
          <a:prstGeom prst="rect">
            <a:avLst/>
          </a:prstGeom>
          <a:noFill/>
          <a:ln/>
        </p:spPr>
        <p:txBody>
          <a:bodyPr wrap="square" lIns="0" tIns="0" rIns="0" bIns="0" rtlCol="0" anchor="ctr"/>
          <a:lstStyle/>
          <a:p>
            <a:pPr indent="0" marL="0">
              <a:buNone/>
            </a:pPr>
            <a:r>
              <a:rPr lang="en-US" sz="2600" b="1" dirty="0">
                <a:solidFill>
                  <a:srgbClr val="00B3E2"/>
                </a:solidFill>
                <a:latin typeface="Arial" pitchFamily="34" charset="0"/>
                <a:ea typeface="Arial" pitchFamily="34" charset="-122"/>
                <a:cs typeface="Arial" pitchFamily="34" charset="-120"/>
              </a:rPr>
              <a:t>04</a:t>
            </a:r>
            <a:endParaRPr lang="en-US" sz="2600" dirty="0"/>
          </a:p>
        </p:txBody>
      </p:sp>
      <p:sp>
        <p:nvSpPr>
          <p:cNvPr id="18" name="Text 16"/>
          <p:cNvSpPr/>
          <p:nvPr/>
        </p:nvSpPr>
        <p:spPr>
          <a:xfrm>
            <a:off x="804672" y="4498848"/>
            <a:ext cx="3063240" cy="457200"/>
          </a:xfrm>
          <a:prstGeom prst="rect">
            <a:avLst/>
          </a:prstGeom>
          <a:noFill/>
          <a:ln/>
        </p:spPr>
        <p:txBody>
          <a:bodyPr wrap="square" lIns="0" tIns="0" rIns="0" bIns="0" rtlCol="0" anchor="t"/>
          <a:lstStyle/>
          <a:p>
            <a:pPr indent="0" marL="0">
              <a:buNone/>
            </a:pPr>
            <a:r>
              <a:rPr lang="en-US" sz="1500" b="1" dirty="0">
                <a:solidFill>
                  <a:srgbClr val="3E3E4B"/>
                </a:solidFill>
                <a:latin typeface="Arial" pitchFamily="34" charset="0"/>
                <a:ea typeface="Arial" pitchFamily="34" charset="-122"/>
                <a:cs typeface="Arial" pitchFamily="34" charset="-120"/>
              </a:rPr>
              <a:t>Migration</a:t>
            </a:r>
            <a:endParaRPr lang="en-US" sz="1500" dirty="0"/>
          </a:p>
        </p:txBody>
      </p:sp>
      <p:sp>
        <p:nvSpPr>
          <p:cNvPr id="19" name="Text 17"/>
          <p:cNvSpPr/>
          <p:nvPr/>
        </p:nvSpPr>
        <p:spPr>
          <a:xfrm>
            <a:off x="804672" y="4956048"/>
            <a:ext cx="3063240" cy="777240"/>
          </a:xfrm>
          <a:prstGeom prst="rect">
            <a:avLst/>
          </a:prstGeom>
          <a:noFill/>
          <a:ln/>
        </p:spPr>
        <p:txBody>
          <a:bodyPr wrap="square" lIns="0" tIns="0" rIns="0" bIns="0" rtlCol="0" anchor="t"/>
          <a:lstStyle/>
          <a:p>
            <a:pPr indent="0" marL="0">
              <a:lnSpc>
                <a:spcPts val="1500"/>
              </a:lnSpc>
              <a:buNone/>
            </a:pPr>
            <a:r>
              <a:rPr lang="en-US" sz="1150" dirty="0">
                <a:solidFill>
                  <a:srgbClr val="3E3E4B"/>
                </a:solidFill>
                <a:latin typeface="Calibri" pitchFamily="34" charset="0"/>
                <a:ea typeface="Calibri" pitchFamily="34" charset="-122"/>
                <a:cs typeface="Calibri" pitchFamily="34" charset="-120"/>
              </a:rPr>
              <a:t>HCX Mobility Optimized Networking, route budgets, and data-transfer performance.</a:t>
            </a:r>
            <a:endParaRPr lang="en-US" sz="1150" dirty="0"/>
          </a:p>
        </p:txBody>
      </p:sp>
      <p:sp>
        <p:nvSpPr>
          <p:cNvPr id="20" name="Shape 18"/>
          <p:cNvSpPr/>
          <p:nvPr/>
        </p:nvSpPr>
        <p:spPr>
          <a:xfrm>
            <a:off x="4306824" y="3749040"/>
            <a:ext cx="3575304" cy="2103120"/>
          </a:xfrm>
          <a:prstGeom prst="roundRect">
            <a:avLst>
              <a:gd name="adj" fmla="val 3913"/>
            </a:avLst>
          </a:prstGeom>
          <a:solidFill>
            <a:srgbClr val="EBEDED"/>
          </a:solidFill>
          <a:ln/>
        </p:spPr>
      </p:sp>
      <p:sp>
        <p:nvSpPr>
          <p:cNvPr id="21" name="Text 19"/>
          <p:cNvSpPr/>
          <p:nvPr/>
        </p:nvSpPr>
        <p:spPr>
          <a:xfrm>
            <a:off x="4562856" y="3950208"/>
            <a:ext cx="1097280" cy="457200"/>
          </a:xfrm>
          <a:prstGeom prst="rect">
            <a:avLst/>
          </a:prstGeom>
          <a:noFill/>
          <a:ln/>
        </p:spPr>
        <p:txBody>
          <a:bodyPr wrap="square" lIns="0" tIns="0" rIns="0" bIns="0" rtlCol="0" anchor="ctr"/>
          <a:lstStyle/>
          <a:p>
            <a:pPr indent="0" marL="0">
              <a:buNone/>
            </a:pPr>
            <a:r>
              <a:rPr lang="en-US" sz="2600" b="1" dirty="0">
                <a:solidFill>
                  <a:srgbClr val="00B3E2"/>
                </a:solidFill>
                <a:latin typeface="Arial" pitchFamily="34" charset="0"/>
                <a:ea typeface="Arial" pitchFamily="34" charset="-122"/>
                <a:cs typeface="Arial" pitchFamily="34" charset="-120"/>
              </a:rPr>
              <a:t>05</a:t>
            </a:r>
            <a:endParaRPr lang="en-US" sz="2600" dirty="0"/>
          </a:p>
        </p:txBody>
      </p:sp>
      <p:sp>
        <p:nvSpPr>
          <p:cNvPr id="22" name="Text 20"/>
          <p:cNvSpPr/>
          <p:nvPr/>
        </p:nvSpPr>
        <p:spPr>
          <a:xfrm>
            <a:off x="4562856" y="4498848"/>
            <a:ext cx="3063240" cy="457200"/>
          </a:xfrm>
          <a:prstGeom prst="rect">
            <a:avLst/>
          </a:prstGeom>
          <a:noFill/>
          <a:ln/>
        </p:spPr>
        <p:txBody>
          <a:bodyPr wrap="square" lIns="0" tIns="0" rIns="0" bIns="0" rtlCol="0" anchor="t"/>
          <a:lstStyle/>
          <a:p>
            <a:pPr indent="0" marL="0">
              <a:buNone/>
            </a:pPr>
            <a:r>
              <a:rPr lang="en-US" sz="1500" b="1" dirty="0">
                <a:solidFill>
                  <a:srgbClr val="3E3E4B"/>
                </a:solidFill>
                <a:latin typeface="Arial" pitchFamily="34" charset="0"/>
                <a:ea typeface="Arial" pitchFamily="34" charset="-122"/>
                <a:cs typeface="Arial" pitchFamily="34" charset="-120"/>
              </a:rPr>
              <a:t>Resilience</a:t>
            </a:r>
            <a:endParaRPr lang="en-US" sz="1500" dirty="0"/>
          </a:p>
        </p:txBody>
      </p:sp>
      <p:sp>
        <p:nvSpPr>
          <p:cNvPr id="23" name="Text 21"/>
          <p:cNvSpPr/>
          <p:nvPr/>
        </p:nvSpPr>
        <p:spPr>
          <a:xfrm>
            <a:off x="4562856" y="4956048"/>
            <a:ext cx="3063240" cy="777240"/>
          </a:xfrm>
          <a:prstGeom prst="rect">
            <a:avLst/>
          </a:prstGeom>
          <a:noFill/>
          <a:ln/>
        </p:spPr>
        <p:txBody>
          <a:bodyPr wrap="square" lIns="0" tIns="0" rIns="0" bIns="0" rtlCol="0" anchor="t"/>
          <a:lstStyle/>
          <a:p>
            <a:pPr indent="0" marL="0">
              <a:lnSpc>
                <a:spcPts val="1500"/>
              </a:lnSpc>
              <a:buNone/>
            </a:pPr>
            <a:r>
              <a:rPr lang="en-US" sz="1150" dirty="0">
                <a:solidFill>
                  <a:srgbClr val="3E3E4B"/>
                </a:solidFill>
                <a:latin typeface="Calibri" pitchFamily="34" charset="0"/>
                <a:ea typeface="Calibri" pitchFamily="34" charset="-122"/>
                <a:cs typeface="Calibri" pitchFamily="34" charset="-120"/>
              </a:rPr>
              <a:t>Stretched clusters, fault domains, and cross-region disaster recovery.</a:t>
            </a:r>
            <a:endParaRPr lang="en-US" sz="1150" dirty="0"/>
          </a:p>
        </p:txBody>
      </p:sp>
      <p:sp>
        <p:nvSpPr>
          <p:cNvPr id="24" name="Shape 22"/>
          <p:cNvSpPr/>
          <p:nvPr/>
        </p:nvSpPr>
        <p:spPr>
          <a:xfrm>
            <a:off x="8065008" y="3749040"/>
            <a:ext cx="3575304" cy="2103120"/>
          </a:xfrm>
          <a:prstGeom prst="roundRect">
            <a:avLst>
              <a:gd name="adj" fmla="val 3913"/>
            </a:avLst>
          </a:prstGeom>
          <a:solidFill>
            <a:srgbClr val="EBEDED"/>
          </a:solidFill>
          <a:ln/>
        </p:spPr>
      </p:sp>
      <p:sp>
        <p:nvSpPr>
          <p:cNvPr id="25" name="Text 23"/>
          <p:cNvSpPr/>
          <p:nvPr/>
        </p:nvSpPr>
        <p:spPr>
          <a:xfrm>
            <a:off x="8321040" y="3950208"/>
            <a:ext cx="1097280" cy="457200"/>
          </a:xfrm>
          <a:prstGeom prst="rect">
            <a:avLst/>
          </a:prstGeom>
          <a:noFill/>
          <a:ln/>
        </p:spPr>
        <p:txBody>
          <a:bodyPr wrap="square" lIns="0" tIns="0" rIns="0" bIns="0" rtlCol="0" anchor="ctr"/>
          <a:lstStyle/>
          <a:p>
            <a:pPr indent="0" marL="0">
              <a:buNone/>
            </a:pPr>
            <a:r>
              <a:rPr lang="en-US" sz="2600" b="1" dirty="0">
                <a:solidFill>
                  <a:srgbClr val="00B3E2"/>
                </a:solidFill>
                <a:latin typeface="Arial" pitchFamily="34" charset="0"/>
                <a:ea typeface="Arial" pitchFamily="34" charset="-122"/>
                <a:cs typeface="Arial" pitchFamily="34" charset="-120"/>
              </a:rPr>
              <a:t>06</a:t>
            </a:r>
            <a:endParaRPr lang="en-US" sz="2600" dirty="0"/>
          </a:p>
        </p:txBody>
      </p:sp>
      <p:sp>
        <p:nvSpPr>
          <p:cNvPr id="26" name="Text 24"/>
          <p:cNvSpPr/>
          <p:nvPr/>
        </p:nvSpPr>
        <p:spPr>
          <a:xfrm>
            <a:off x="8321040" y="4498848"/>
            <a:ext cx="3063240" cy="457200"/>
          </a:xfrm>
          <a:prstGeom prst="rect">
            <a:avLst/>
          </a:prstGeom>
          <a:noFill/>
          <a:ln/>
        </p:spPr>
        <p:txBody>
          <a:bodyPr wrap="square" lIns="0" tIns="0" rIns="0" bIns="0" rtlCol="0" anchor="t"/>
          <a:lstStyle/>
          <a:p>
            <a:pPr indent="0" marL="0">
              <a:buNone/>
            </a:pPr>
            <a:r>
              <a:rPr lang="en-US" sz="1500" b="1" dirty="0">
                <a:solidFill>
                  <a:srgbClr val="3E3E4B"/>
                </a:solidFill>
                <a:latin typeface="Arial" pitchFamily="34" charset="0"/>
                <a:ea typeface="Arial" pitchFamily="34" charset="-122"/>
                <a:cs typeface="Arial" pitchFamily="34" charset="-120"/>
              </a:rPr>
              <a:t>Decision framework</a:t>
            </a:r>
            <a:endParaRPr lang="en-US" sz="1500" dirty="0"/>
          </a:p>
        </p:txBody>
      </p:sp>
      <p:sp>
        <p:nvSpPr>
          <p:cNvPr id="27" name="Text 25"/>
          <p:cNvSpPr/>
          <p:nvPr/>
        </p:nvSpPr>
        <p:spPr>
          <a:xfrm>
            <a:off x="8321040" y="4956048"/>
            <a:ext cx="3063240" cy="777240"/>
          </a:xfrm>
          <a:prstGeom prst="rect">
            <a:avLst/>
          </a:prstGeom>
          <a:noFill/>
          <a:ln/>
        </p:spPr>
        <p:txBody>
          <a:bodyPr wrap="square" lIns="0" tIns="0" rIns="0" bIns="0" rtlCol="0" anchor="t"/>
          <a:lstStyle/>
          <a:p>
            <a:pPr indent="0" marL="0">
              <a:lnSpc>
                <a:spcPts val="1500"/>
              </a:lnSpc>
              <a:buNone/>
            </a:pPr>
            <a:r>
              <a:rPr lang="en-US" sz="1150" dirty="0">
                <a:solidFill>
                  <a:srgbClr val="3E3E4B"/>
                </a:solidFill>
                <a:latin typeface="Calibri" pitchFamily="34" charset="0"/>
                <a:ea typeface="Calibri" pitchFamily="34" charset="-122"/>
                <a:cs typeface="Calibri" pitchFamily="34" charset="-120"/>
              </a:rPr>
              <a:t>Conditions favoring each generation, plus preselection calculations.</a:t>
            </a:r>
            <a:endParaRPr lang="en-US" sz="1150" dirty="0"/>
          </a:p>
        </p:txBody>
      </p:sp>
      <p:sp>
        <p:nvSpPr>
          <p:cNvPr id="28" name="Text 26"/>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Azure VMware Solution: Generation 1 vs. Generation 2</a:t>
            </a:r>
            <a:endParaRPr lang="en-US" sz="950" dirty="0"/>
          </a:p>
        </p:txBody>
      </p:sp>
      <p:sp>
        <p:nvSpPr>
          <p:cNvPr id="29" name="Text 27"/>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1</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1. PURPOSE</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Why organizations select AVS</a:t>
            </a:r>
            <a:endParaRPr lang="en-US" sz="2800" dirty="0"/>
          </a:p>
        </p:txBody>
      </p:sp>
      <p:sp>
        <p:nvSpPr>
          <p:cNvPr id="4" name="Text 2"/>
          <p:cNvSpPr/>
          <p:nvPr/>
        </p:nvSpPr>
        <p:spPr>
          <a:xfrm>
            <a:off x="548640" y="1234440"/>
            <a:ext cx="11091672" cy="457200"/>
          </a:xfrm>
          <a:prstGeom prst="rect">
            <a:avLst/>
          </a:prstGeom>
          <a:noFill/>
          <a:ln/>
        </p:spPr>
        <p:txBody>
          <a:bodyPr wrap="square" lIns="0" tIns="0" rIns="0" bIns="0" rtlCol="0" anchor="ctr"/>
          <a:lstStyle/>
          <a:p>
            <a:pPr indent="0" marL="0">
              <a:lnSpc>
                <a:spcPts val="1800"/>
              </a:lnSpc>
              <a:buNone/>
            </a:pPr>
            <a:r>
              <a:rPr lang="en-US" sz="1300" dirty="0">
                <a:solidFill>
                  <a:srgbClr val="3E3E4B"/>
                </a:solidFill>
                <a:latin typeface="Calibri" pitchFamily="34" charset="0"/>
                <a:ea typeface="Calibri" pitchFamily="34" charset="-122"/>
                <a:cs typeface="Calibri" pitchFamily="34" charset="-120"/>
              </a:rPr>
              <a:t>AVS runs a VMware software-defined data center on dedicated bare-metal hardware inside Azure data centers. It is positioned for enterprises with large VMware estates, legacy applications, and fragile network dependencies.</a:t>
            </a:r>
            <a:endParaRPr lang="en-US" sz="1300" dirty="0"/>
          </a:p>
        </p:txBody>
      </p:sp>
      <p:sp>
        <p:nvSpPr>
          <p:cNvPr id="5" name="Shape 3"/>
          <p:cNvSpPr/>
          <p:nvPr/>
        </p:nvSpPr>
        <p:spPr>
          <a:xfrm>
            <a:off x="548640" y="1828800"/>
            <a:ext cx="5408676" cy="3566160"/>
          </a:xfrm>
          <a:prstGeom prst="roundRect">
            <a:avLst>
              <a:gd name="adj" fmla="val 2308"/>
            </a:avLst>
          </a:prstGeom>
          <a:solidFill>
            <a:srgbClr val="E5F7FC"/>
          </a:solidFill>
          <a:ln/>
        </p:spPr>
      </p:sp>
      <p:sp>
        <p:nvSpPr>
          <p:cNvPr id="6" name="Shape 4"/>
          <p:cNvSpPr/>
          <p:nvPr/>
        </p:nvSpPr>
        <p:spPr>
          <a:xfrm>
            <a:off x="548640" y="1828800"/>
            <a:ext cx="5408676" cy="502920"/>
          </a:xfrm>
          <a:prstGeom prst="roundRect">
            <a:avLst>
              <a:gd name="adj" fmla="val 16364"/>
            </a:avLst>
          </a:prstGeom>
          <a:solidFill>
            <a:srgbClr val="00B3E2"/>
          </a:solidFill>
          <a:ln/>
        </p:spPr>
      </p:sp>
      <p:sp>
        <p:nvSpPr>
          <p:cNvPr id="7" name="Text 5"/>
          <p:cNvSpPr/>
          <p:nvPr/>
        </p:nvSpPr>
        <p:spPr>
          <a:xfrm>
            <a:off x="777240" y="1920240"/>
            <a:ext cx="4951476" cy="274320"/>
          </a:xfrm>
          <a:prstGeom prst="rect">
            <a:avLst/>
          </a:prstGeom>
          <a:noFill/>
          <a:ln/>
        </p:spPr>
        <p:txBody>
          <a:bodyPr wrap="square" lIns="0" tIns="0" rIns="0" bIns="0" rtlCol="0" anchor="ctr"/>
          <a:lstStyle/>
          <a:p>
            <a:pPr indent="0" marL="0">
              <a:buNone/>
            </a:pPr>
            <a:r>
              <a:rPr lang="en-US" sz="1500" b="1" dirty="0">
                <a:solidFill>
                  <a:srgbClr val="3E3E4B"/>
                </a:solidFill>
                <a:latin typeface="Arial" pitchFamily="34" charset="0"/>
                <a:ea typeface="Arial" pitchFamily="34" charset="-122"/>
                <a:cs typeface="Arial" pitchFamily="34" charset="-120"/>
              </a:rPr>
              <a:t>AVS lift-and-shift path</a:t>
            </a:r>
            <a:endParaRPr lang="en-US" sz="1500" dirty="0"/>
          </a:p>
        </p:txBody>
      </p:sp>
      <p:sp>
        <p:nvSpPr>
          <p:cNvPr id="8" name="Text 6"/>
          <p:cNvSpPr/>
          <p:nvPr/>
        </p:nvSpPr>
        <p:spPr>
          <a:xfrm>
            <a:off x="777240" y="2542032"/>
            <a:ext cx="4951476" cy="2743200"/>
          </a:xfrm>
          <a:prstGeom prst="rect">
            <a:avLst/>
          </a:prstGeom>
          <a:noFill/>
          <a:ln/>
        </p:spPr>
        <p:txBody>
          <a:bodyPr wrap="square" lIns="0" tIns="0" rIns="0" bIns="0" rtlCol="0" anchor="t"/>
          <a:lstStyle/>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Dedicated bare-metal servers running a VMware stack comparable to the existing estate.</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vSphere, vSAN, and NSX remain the core technologies.</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Virtual machines move without first rewriting applications for native cloud platforms.</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Operations teams continue to manage workloads through vCenter and familiar VMware tooling.</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Existing network dependencies can be preserved temporarily through network-extension tools.</a:t>
            </a:r>
            <a:endParaRPr lang="en-US" sz="1250" dirty="0"/>
          </a:p>
        </p:txBody>
      </p:sp>
      <p:sp>
        <p:nvSpPr>
          <p:cNvPr id="9" name="Shape 7"/>
          <p:cNvSpPr/>
          <p:nvPr/>
        </p:nvSpPr>
        <p:spPr>
          <a:xfrm>
            <a:off x="6231636" y="1828800"/>
            <a:ext cx="5408676" cy="3566160"/>
          </a:xfrm>
          <a:prstGeom prst="roundRect">
            <a:avLst>
              <a:gd name="adj" fmla="val 2308"/>
            </a:avLst>
          </a:prstGeom>
          <a:solidFill>
            <a:srgbClr val="EBEDED"/>
          </a:solidFill>
          <a:ln/>
        </p:spPr>
      </p:sp>
      <p:sp>
        <p:nvSpPr>
          <p:cNvPr id="10" name="Shape 8"/>
          <p:cNvSpPr/>
          <p:nvPr/>
        </p:nvSpPr>
        <p:spPr>
          <a:xfrm>
            <a:off x="6231636" y="1828800"/>
            <a:ext cx="5408676" cy="502920"/>
          </a:xfrm>
          <a:prstGeom prst="roundRect">
            <a:avLst>
              <a:gd name="adj" fmla="val 16364"/>
            </a:avLst>
          </a:prstGeom>
          <a:solidFill>
            <a:srgbClr val="3E3E4B"/>
          </a:solidFill>
          <a:ln/>
        </p:spPr>
      </p:sp>
      <p:sp>
        <p:nvSpPr>
          <p:cNvPr id="11" name="Text 9"/>
          <p:cNvSpPr/>
          <p:nvPr/>
        </p:nvSpPr>
        <p:spPr>
          <a:xfrm>
            <a:off x="6460236" y="1920240"/>
            <a:ext cx="4951476" cy="27432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Conventional cloud-native migration</a:t>
            </a:r>
            <a:endParaRPr lang="en-US" sz="1500" dirty="0"/>
          </a:p>
        </p:txBody>
      </p:sp>
      <p:sp>
        <p:nvSpPr>
          <p:cNvPr id="12" name="Text 10"/>
          <p:cNvSpPr/>
          <p:nvPr/>
        </p:nvSpPr>
        <p:spPr>
          <a:xfrm>
            <a:off x="6460236" y="2542032"/>
            <a:ext cx="4951476" cy="2743200"/>
          </a:xfrm>
          <a:prstGeom prst="rect">
            <a:avLst/>
          </a:prstGeom>
          <a:noFill/>
          <a:ln/>
        </p:spPr>
        <p:txBody>
          <a:bodyPr wrap="square" lIns="0" tIns="0" rIns="0" bIns="0" rtlCol="0" anchor="t"/>
          <a:lstStyle/>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Application refactoring, code changes, and microservices adoption.</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Extensive retesting and changes to network dependencies.</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For estates of thousands of VMs and decades of legacy code, a potentially multiyear and multimillion-dollar undertaking.</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AVS is intended to bypass much of that application-level reengineering.</a:t>
            </a:r>
            <a:endParaRPr lang="en-US" sz="1250" dirty="0"/>
          </a:p>
        </p:txBody>
      </p:sp>
      <p:sp>
        <p:nvSpPr>
          <p:cNvPr id="13" name="Shape 11"/>
          <p:cNvSpPr/>
          <p:nvPr/>
        </p:nvSpPr>
        <p:spPr>
          <a:xfrm>
            <a:off x="548640" y="5623560"/>
            <a:ext cx="11091672" cy="548640"/>
          </a:xfrm>
          <a:prstGeom prst="roundRect">
            <a:avLst>
              <a:gd name="adj" fmla="val 15000"/>
            </a:avLst>
          </a:prstGeom>
          <a:solidFill>
            <a:srgbClr val="EBEDED"/>
          </a:solidFill>
          <a:ln/>
        </p:spPr>
      </p:sp>
      <p:sp>
        <p:nvSpPr>
          <p:cNvPr id="14" name="Text 12"/>
          <p:cNvSpPr/>
          <p:nvPr/>
        </p:nvSpPr>
        <p:spPr>
          <a:xfrm>
            <a:off x="731520" y="5623560"/>
            <a:ext cx="10725912" cy="548640"/>
          </a:xfrm>
          <a:prstGeom prst="rect">
            <a:avLst/>
          </a:prstGeom>
          <a:noFill/>
          <a:ln/>
        </p:spPr>
        <p:txBody>
          <a:bodyPr wrap="square" lIns="0" tIns="0" rIns="0" bIns="0" rtlCol="0" anchor="ctr"/>
          <a:lstStyle/>
          <a:p>
            <a:pPr indent="0" marL="0">
              <a:buNone/>
            </a:pPr>
            <a:r>
              <a:rPr lang="en-US" sz="1100" b="1" dirty="0">
                <a:solidFill>
                  <a:srgbClr val="00B3E2"/>
                </a:solidFill>
                <a:latin typeface="Arial" pitchFamily="34" charset="0"/>
                <a:ea typeface="Arial" pitchFamily="34" charset="-122"/>
                <a:cs typeface="Arial" pitchFamily="34" charset="-120"/>
              </a:rPr>
              <a:t>Takeaway   </a:t>
            </a:r>
            <a:pPr indent="0" marL="0">
              <a:buNone/>
            </a:pPr>
            <a:r>
              <a:rPr lang="en-US" sz="1200" dirty="0">
                <a:solidFill>
                  <a:srgbClr val="3E3E4B"/>
                </a:solidFill>
                <a:latin typeface="Calibri" pitchFamily="34" charset="0"/>
                <a:ea typeface="Calibri" pitchFamily="34" charset="-122"/>
                <a:cs typeface="Calibri" pitchFamily="34" charset="-120"/>
              </a:rPr>
              <a:t>AVS reduces application transformation work. It does not eliminate infrastructure architecture; it relocates that architecture into a managed environment with specific constraints.</a:t>
            </a:r>
            <a:endParaRPr lang="en-US" sz="1100" dirty="0"/>
          </a:p>
        </p:txBody>
      </p:sp>
      <p:sp>
        <p:nvSpPr>
          <p:cNvPr id="15" name="Text 13"/>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1. Purpose and architectural decision</a:t>
            </a:r>
            <a:endParaRPr lang="en-US" sz="950" dirty="0"/>
          </a:p>
        </p:txBody>
      </p:sp>
      <p:sp>
        <p:nvSpPr>
          <p:cNvPr id="16" name="Text 14"/>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1. PURPOSE</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A structural redesign, not a product upgrade</a:t>
            </a:r>
            <a:endParaRPr lang="en-US" sz="2800" dirty="0"/>
          </a:p>
        </p:txBody>
      </p:sp>
      <p:sp>
        <p:nvSpPr>
          <p:cNvPr id="4" name="Shape 2"/>
          <p:cNvSpPr/>
          <p:nvPr/>
        </p:nvSpPr>
        <p:spPr>
          <a:xfrm>
            <a:off x="548640" y="1325880"/>
            <a:ext cx="5408676" cy="3657600"/>
          </a:xfrm>
          <a:prstGeom prst="roundRect">
            <a:avLst>
              <a:gd name="adj" fmla="val 2250"/>
            </a:avLst>
          </a:prstGeom>
          <a:solidFill>
            <a:srgbClr val="EBEDED"/>
          </a:solidFill>
          <a:ln/>
        </p:spPr>
      </p:sp>
      <p:sp>
        <p:nvSpPr>
          <p:cNvPr id="5" name="Shape 3"/>
          <p:cNvSpPr/>
          <p:nvPr/>
        </p:nvSpPr>
        <p:spPr>
          <a:xfrm>
            <a:off x="548640" y="1325880"/>
            <a:ext cx="5408676" cy="566928"/>
          </a:xfrm>
          <a:prstGeom prst="roundRect">
            <a:avLst>
              <a:gd name="adj" fmla="val 14516"/>
            </a:avLst>
          </a:prstGeom>
          <a:solidFill>
            <a:srgbClr val="3E3E4B"/>
          </a:solidFill>
          <a:ln/>
        </p:spPr>
      </p:sp>
      <p:sp>
        <p:nvSpPr>
          <p:cNvPr id="6" name="Text 4"/>
          <p:cNvSpPr/>
          <p:nvPr/>
        </p:nvSpPr>
        <p:spPr>
          <a:xfrm>
            <a:off x="777240" y="1444752"/>
            <a:ext cx="4951476" cy="27432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Generation 1</a:t>
            </a:r>
            <a:endParaRPr lang="en-US" sz="1700" dirty="0"/>
          </a:p>
        </p:txBody>
      </p:sp>
      <p:sp>
        <p:nvSpPr>
          <p:cNvPr id="7" name="Text 5"/>
          <p:cNvSpPr/>
          <p:nvPr/>
        </p:nvSpPr>
        <p:spPr>
          <a:xfrm>
            <a:off x="777240" y="2011680"/>
            <a:ext cx="4951476" cy="274320"/>
          </a:xfrm>
          <a:prstGeom prst="rect">
            <a:avLst/>
          </a:prstGeom>
          <a:noFill/>
          <a:ln/>
        </p:spPr>
        <p:txBody>
          <a:bodyPr wrap="square" lIns="0" tIns="0" rIns="0" bIns="0" rtlCol="0" anchor="ctr"/>
          <a:lstStyle/>
          <a:p>
            <a:pPr indent="0" marL="0">
              <a:buNone/>
            </a:pPr>
            <a:r>
              <a:rPr lang="en-US" sz="1200" i="1" dirty="0">
                <a:solidFill>
                  <a:srgbClr val="6B6B78"/>
                </a:solidFill>
                <a:latin typeface="Calibri" pitchFamily="34" charset="0"/>
                <a:ea typeface="Calibri" pitchFamily="34" charset="-122"/>
                <a:cs typeface="Calibri" pitchFamily="34" charset="-120"/>
              </a:rPr>
              <a:t>Original AVS architecture</a:t>
            </a:r>
            <a:endParaRPr lang="en-US" sz="1200" dirty="0"/>
          </a:p>
        </p:txBody>
      </p:sp>
      <p:sp>
        <p:nvSpPr>
          <p:cNvPr id="8" name="Text 6"/>
          <p:cNvSpPr/>
          <p:nvPr/>
        </p:nvSpPr>
        <p:spPr>
          <a:xfrm>
            <a:off x="777240" y="2359152"/>
            <a:ext cx="4951476" cy="2468880"/>
          </a:xfrm>
          <a:prstGeom prst="rect">
            <a:avLst/>
          </a:prstGeom>
          <a:noFill/>
          <a:ln/>
        </p:spPr>
        <p:txBody>
          <a:bodyPr wrap="square" lIns="0" tIns="0" rIns="0" bIns="0" rtlCol="0" anchor="t"/>
          <a:lstStyle/>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Isolated VMware environment connected to Azure networking through Microsoft-managed ExpressRoute infrastructure.</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Supports several host profiles (AV36, AV36P, AV52, AV48).</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Greater flexibility for complex routing designs.</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Supports multi-zone stretched-cluster topologies.</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Host placement across racks is managed by Azure and largely hidden from the customer.</a:t>
            </a:r>
            <a:endParaRPr lang="en-US" sz="1250" dirty="0"/>
          </a:p>
        </p:txBody>
      </p:sp>
      <p:sp>
        <p:nvSpPr>
          <p:cNvPr id="9" name="Shape 7"/>
          <p:cNvSpPr/>
          <p:nvPr/>
        </p:nvSpPr>
        <p:spPr>
          <a:xfrm>
            <a:off x="6231636" y="1325880"/>
            <a:ext cx="5408676" cy="3657600"/>
          </a:xfrm>
          <a:prstGeom prst="roundRect">
            <a:avLst>
              <a:gd name="adj" fmla="val 2250"/>
            </a:avLst>
          </a:prstGeom>
          <a:solidFill>
            <a:srgbClr val="E5F7FC"/>
          </a:solidFill>
          <a:ln/>
        </p:spPr>
      </p:sp>
      <p:sp>
        <p:nvSpPr>
          <p:cNvPr id="10" name="Shape 8"/>
          <p:cNvSpPr/>
          <p:nvPr/>
        </p:nvSpPr>
        <p:spPr>
          <a:xfrm>
            <a:off x="6231636" y="1325880"/>
            <a:ext cx="5408676" cy="566928"/>
          </a:xfrm>
          <a:prstGeom prst="roundRect">
            <a:avLst>
              <a:gd name="adj" fmla="val 14516"/>
            </a:avLst>
          </a:prstGeom>
          <a:solidFill>
            <a:srgbClr val="00B3E2"/>
          </a:solidFill>
          <a:ln/>
        </p:spPr>
      </p:sp>
      <p:sp>
        <p:nvSpPr>
          <p:cNvPr id="11" name="Text 9"/>
          <p:cNvSpPr/>
          <p:nvPr/>
        </p:nvSpPr>
        <p:spPr>
          <a:xfrm>
            <a:off x="6460236" y="1444752"/>
            <a:ext cx="4951476" cy="274320"/>
          </a:xfrm>
          <a:prstGeom prst="rect">
            <a:avLst/>
          </a:prstGeom>
          <a:noFill/>
          <a:ln/>
        </p:spPr>
        <p:txBody>
          <a:bodyPr wrap="square" lIns="0" tIns="0" rIns="0" bIns="0" rtlCol="0" anchor="ctr"/>
          <a:lstStyle/>
          <a:p>
            <a:pPr indent="0" marL="0">
              <a:buNone/>
            </a:pPr>
            <a:r>
              <a:rPr lang="en-US" sz="1700" b="1" dirty="0">
                <a:solidFill>
                  <a:srgbClr val="3E3E4B"/>
                </a:solidFill>
                <a:latin typeface="Arial" pitchFamily="34" charset="0"/>
                <a:ea typeface="Arial" pitchFamily="34" charset="-122"/>
                <a:cs typeface="Arial" pitchFamily="34" charset="-120"/>
              </a:rPr>
              <a:t>Generation 2</a:t>
            </a:r>
            <a:endParaRPr lang="en-US" sz="1700" dirty="0"/>
          </a:p>
        </p:txBody>
      </p:sp>
      <p:sp>
        <p:nvSpPr>
          <p:cNvPr id="12" name="Text 10"/>
          <p:cNvSpPr/>
          <p:nvPr/>
        </p:nvSpPr>
        <p:spPr>
          <a:xfrm>
            <a:off x="6460236" y="2011680"/>
            <a:ext cx="4951476" cy="274320"/>
          </a:xfrm>
          <a:prstGeom prst="rect">
            <a:avLst/>
          </a:prstGeom>
          <a:noFill/>
          <a:ln/>
        </p:spPr>
        <p:txBody>
          <a:bodyPr wrap="square" lIns="0" tIns="0" rIns="0" bIns="0" rtlCol="0" anchor="ctr"/>
          <a:lstStyle/>
          <a:p>
            <a:pPr indent="0" marL="0">
              <a:buNone/>
            </a:pPr>
            <a:r>
              <a:rPr lang="en-US" sz="1200" i="1" dirty="0">
                <a:solidFill>
                  <a:srgbClr val="6B6B78"/>
                </a:solidFill>
                <a:latin typeface="Calibri" pitchFamily="34" charset="0"/>
                <a:ea typeface="Calibri" pitchFamily="34" charset="-122"/>
                <a:cs typeface="Calibri" pitchFamily="34" charset="-120"/>
              </a:rPr>
              <a:t>Structural redesign of the platform</a:t>
            </a:r>
            <a:endParaRPr lang="en-US" sz="1200" dirty="0"/>
          </a:p>
        </p:txBody>
      </p:sp>
      <p:sp>
        <p:nvSpPr>
          <p:cNvPr id="13" name="Text 11"/>
          <p:cNvSpPr/>
          <p:nvPr/>
        </p:nvSpPr>
        <p:spPr>
          <a:xfrm>
            <a:off x="6460236" y="2359152"/>
            <a:ext cx="4951476" cy="2468880"/>
          </a:xfrm>
          <a:prstGeom prst="rect">
            <a:avLst/>
          </a:prstGeom>
          <a:noFill/>
          <a:ln/>
        </p:spPr>
        <p:txBody>
          <a:bodyPr wrap="square" lIns="0" tIns="0" rIns="0" bIns="0" rtlCol="0" anchor="t"/>
          <a:lstStyle/>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The AVS private cloud is injected directly into an Azure virtual network.</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Tied to the AV64 hardware profile and Azure Boost architecture.</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Direct Azure integration, with vSAN Express Storage Architecture.</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Subject to Azure-native networking limits and placement constraints.</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Explicit vSAN fault domains replace hidden rack placement.</a:t>
            </a:r>
            <a:endParaRPr lang="en-US" sz="1250" dirty="0"/>
          </a:p>
        </p:txBody>
      </p:sp>
      <p:sp>
        <p:nvSpPr>
          <p:cNvPr id="14" name="Shape 12"/>
          <p:cNvSpPr/>
          <p:nvPr/>
        </p:nvSpPr>
        <p:spPr>
          <a:xfrm>
            <a:off x="548640" y="5166360"/>
            <a:ext cx="11091672" cy="1097280"/>
          </a:xfrm>
          <a:prstGeom prst="roundRect">
            <a:avLst>
              <a:gd name="adj" fmla="val 7500"/>
            </a:avLst>
          </a:prstGeom>
          <a:solidFill>
            <a:srgbClr val="E2F2E8"/>
          </a:solidFill>
          <a:ln/>
        </p:spPr>
      </p:sp>
      <p:sp>
        <p:nvSpPr>
          <p:cNvPr id="15" name="Text 13"/>
          <p:cNvSpPr/>
          <p:nvPr/>
        </p:nvSpPr>
        <p:spPr>
          <a:xfrm>
            <a:off x="804672" y="5257800"/>
            <a:ext cx="10579608" cy="914400"/>
          </a:xfrm>
          <a:prstGeom prst="rect">
            <a:avLst/>
          </a:prstGeom>
          <a:noFill/>
          <a:ln/>
        </p:spPr>
        <p:txBody>
          <a:bodyPr wrap="square" lIns="0" tIns="0" rIns="0" bIns="0" rtlCol="0" anchor="t"/>
          <a:lstStyle/>
          <a:p>
            <a:pPr indent="0" marL="0">
              <a:lnSpc>
                <a:spcPts val="1700"/>
              </a:lnSpc>
              <a:buNone/>
            </a:pPr>
            <a:r>
              <a:rPr lang="en-US" sz="1150" b="1" dirty="0">
                <a:solidFill>
                  <a:srgbClr val="00AD93"/>
                </a:solidFill>
                <a:latin typeface="Arial" pitchFamily="34" charset="0"/>
                <a:ea typeface="Arial" pitchFamily="34" charset="-122"/>
                <a:cs typeface="Arial" pitchFamily="34" charset="-120"/>
              </a:rPr>
              <a:t>Analogy
</a:t>
            </a:r>
            <a:endParaRPr lang="en-US" sz="1150" dirty="0"/>
          </a:p>
          <a:p>
            <a:pPr indent="0" marL="0">
              <a:lnSpc>
                <a:spcPts val="1700"/>
              </a:lnSpc>
              <a:buNone/>
            </a:pPr>
            <a:r>
              <a:rPr lang="en-US" sz="1250" dirty="0">
                <a:solidFill>
                  <a:srgbClr val="3E3E4B"/>
                </a:solidFill>
                <a:latin typeface="Calibri" pitchFamily="34" charset="0"/>
                <a:ea typeface="Calibri" pitchFamily="34" charset="-122"/>
                <a:cs typeface="Calibri" pitchFamily="34" charset="-120"/>
              </a:rPr>
              <a:t>Generation 1 is a secure private estate in the country that needs a dedicated highway to reach the city. Generation 2 places the same estate inside the city grid: services are immediately accessible, but zoning laws and traffic limits become mandatory.</a:t>
            </a:r>
            <a:endParaRPr lang="en-US" sz="1150" dirty="0"/>
          </a:p>
        </p:txBody>
      </p:sp>
      <p:sp>
        <p:nvSpPr>
          <p:cNvPr id="16" name="Text 14"/>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1. Purpose and architectural decision</a:t>
            </a:r>
            <a:endParaRPr lang="en-US" sz="950" dirty="0"/>
          </a:p>
        </p:txBody>
      </p:sp>
      <p:sp>
        <p:nvSpPr>
          <p:cNvPr id="17" name="Text 15"/>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1. PURPOSE</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High-level comparison</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2743200"/>
                <a:gridCol w="4174236"/>
                <a:gridCol w="4174236"/>
              </a:tblGrid>
              <a:tr h="365760">
                <a:tc>
                  <a:txBody>
                    <a:bodyPr/>
                    <a:lstStyle/>
                    <a:p>
                      <a:pPr indent="0" marL="0">
                        <a:buNone/>
                      </a:pPr>
                      <a:r>
                        <a:rPr lang="en-US" sz="1150" b="1" dirty="0">
                          <a:solidFill>
                            <a:srgbClr val="FFFFFF"/>
                          </a:solidFill>
                          <a:latin typeface="Arial" pitchFamily="34" charset="0"/>
                          <a:ea typeface="Arial" pitchFamily="34" charset="-122"/>
                          <a:cs typeface="Arial" pitchFamily="34" charset="-120"/>
                        </a:rPr>
                        <a:t>Design area</a:t>
                      </a:r>
                      <a:endParaRPr lang="en-US" sz="1150" dirty="0">
                        <a:latin typeface="Arial" charset="0"/>
                        <a:ea typeface="Arial" charset="0"/>
                        <a:cs typeface="Arial"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3E3E4B"/>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Generation 1</a:t>
                      </a:r>
                      <a:endParaRPr lang="en-US" sz="1150" dirty="0">
                        <a:latin typeface="Arial" charset="0"/>
                        <a:ea typeface="Arial" charset="0"/>
                        <a:cs typeface="Arial"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3E3E4B"/>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Generation 2</a:t>
                      </a:r>
                      <a:endParaRPr lang="en-US" sz="1150" dirty="0">
                        <a:latin typeface="Arial" charset="0"/>
                        <a:ea typeface="Arial" charset="0"/>
                        <a:cs typeface="Arial"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3E3E4B"/>
                    </a:solidFill>
                  </a:tcPr>
                </a:tc>
              </a:tr>
              <a:tr h="365760">
                <a:tc>
                  <a:txBody>
                    <a:bodyPr/>
                    <a:lstStyle/>
                    <a:p>
                      <a:pPr indent="0" marL="0">
                        <a:buNone/>
                      </a:pPr>
                      <a:r>
                        <a:rPr lang="en-US" sz="1100" b="1" dirty="0">
                          <a:solidFill>
                            <a:srgbClr val="3E3E4B"/>
                          </a:solidFill>
                          <a:latin typeface="Calibri" pitchFamily="34" charset="0"/>
                          <a:ea typeface="Calibri" pitchFamily="34" charset="-122"/>
                          <a:cs typeface="Calibri" pitchFamily="34" charset="-120"/>
                        </a:rPr>
                        <a:t>Azure integration</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100" dirty="0">
                          <a:solidFill>
                            <a:srgbClr val="3E3E4B"/>
                          </a:solidFill>
                          <a:latin typeface="Calibri" pitchFamily="34" charset="0"/>
                          <a:ea typeface="Calibri" pitchFamily="34" charset="-122"/>
                          <a:cs typeface="Calibri" pitchFamily="34" charset="-120"/>
                        </a:rPr>
                        <a:t>Logically isolated from Azure virtual networks</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100" dirty="0">
                          <a:solidFill>
                            <a:srgbClr val="3E3E4B"/>
                          </a:solidFill>
                          <a:latin typeface="Calibri" pitchFamily="34" charset="0"/>
                          <a:ea typeface="Calibri" pitchFamily="34" charset="-122"/>
                          <a:cs typeface="Calibri" pitchFamily="34" charset="-120"/>
                        </a:rPr>
                        <a:t>Injected directly into an Azure virtual network</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3E3E4B"/>
                          </a:solidFill>
                          <a:latin typeface="Calibri" pitchFamily="34" charset="0"/>
                          <a:ea typeface="Calibri" pitchFamily="34" charset="-122"/>
                          <a:cs typeface="Calibri" pitchFamily="34" charset="-120"/>
                        </a:rPr>
                        <a:t>Primary internal connectivity</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100" dirty="0">
                          <a:solidFill>
                            <a:srgbClr val="3E3E4B"/>
                          </a:solidFill>
                          <a:latin typeface="Calibri" pitchFamily="34" charset="0"/>
                          <a:ea typeface="Calibri" pitchFamily="34" charset="-122"/>
                          <a:cs typeface="Calibri" pitchFamily="34" charset="-120"/>
                        </a:rPr>
                        <a:t>Microsoft-managed ExpressRoute</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100" dirty="0">
                          <a:solidFill>
                            <a:srgbClr val="3E3E4B"/>
                          </a:solidFill>
                          <a:latin typeface="Calibri" pitchFamily="34" charset="0"/>
                          <a:ea typeface="Calibri" pitchFamily="34" charset="-122"/>
                          <a:cs typeface="Calibri" pitchFamily="34" charset="-120"/>
                        </a:rPr>
                        <a:t>Native VNet connectivity and VNet peering</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r>
              <a:tr h="365760">
                <a:tc>
                  <a:txBody>
                    <a:bodyPr/>
                    <a:lstStyle/>
                    <a:p>
                      <a:pPr indent="0" marL="0">
                        <a:buNone/>
                      </a:pPr>
                      <a:r>
                        <a:rPr lang="en-US" sz="1100" b="1" dirty="0">
                          <a:solidFill>
                            <a:srgbClr val="3E3E4B"/>
                          </a:solidFill>
                          <a:latin typeface="Calibri" pitchFamily="34" charset="0"/>
                          <a:ea typeface="Calibri" pitchFamily="34" charset="-122"/>
                          <a:cs typeface="Calibri" pitchFamily="34" charset="-120"/>
                        </a:rPr>
                        <a:t>Hardware flexibility</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100" dirty="0">
                          <a:solidFill>
                            <a:srgbClr val="3E3E4B"/>
                          </a:solidFill>
                          <a:latin typeface="Calibri" pitchFamily="34" charset="0"/>
                          <a:ea typeface="Calibri" pitchFamily="34" charset="-122"/>
                          <a:cs typeface="Calibri" pitchFamily="34" charset="-120"/>
                        </a:rPr>
                        <a:t>Multiple host profiles</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100" dirty="0">
                          <a:solidFill>
                            <a:srgbClr val="3E3E4B"/>
                          </a:solidFill>
                          <a:latin typeface="Calibri" pitchFamily="34" charset="0"/>
                          <a:ea typeface="Calibri" pitchFamily="34" charset="-122"/>
                          <a:cs typeface="Calibri" pitchFamily="34" charset="-120"/>
                        </a:rPr>
                        <a:t>Tied to AV64</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3E3E4B"/>
                          </a:solidFill>
                          <a:latin typeface="Calibri" pitchFamily="34" charset="0"/>
                          <a:ea typeface="Calibri" pitchFamily="34" charset="-122"/>
                          <a:cs typeface="Calibri" pitchFamily="34" charset="-120"/>
                        </a:rPr>
                        <a:t>Storage architecture</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100" dirty="0">
                          <a:solidFill>
                            <a:srgbClr val="3E3E4B"/>
                          </a:solidFill>
                          <a:latin typeface="Calibri" pitchFamily="34" charset="0"/>
                          <a:ea typeface="Calibri" pitchFamily="34" charset="-122"/>
                          <a:cs typeface="Calibri" pitchFamily="34" charset="-120"/>
                        </a:rPr>
                        <a:t>Primarily vSAN OSA; AV48 uses ESA</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100" dirty="0">
                          <a:solidFill>
                            <a:srgbClr val="3E3E4B"/>
                          </a:solidFill>
                          <a:latin typeface="Calibri" pitchFamily="34" charset="0"/>
                          <a:ea typeface="Calibri" pitchFamily="34" charset="-122"/>
                          <a:cs typeface="Calibri" pitchFamily="34" charset="-120"/>
                        </a:rPr>
                        <a:t>vSAN Express Storage Architecture</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r>
              <a:tr h="365760">
                <a:tc>
                  <a:txBody>
                    <a:bodyPr/>
                    <a:lstStyle/>
                    <a:p>
                      <a:pPr indent="0" marL="0">
                        <a:buNone/>
                      </a:pPr>
                      <a:r>
                        <a:rPr lang="en-US" sz="1100" b="1" dirty="0">
                          <a:solidFill>
                            <a:srgbClr val="3E3E4B"/>
                          </a:solidFill>
                          <a:latin typeface="Calibri" pitchFamily="34" charset="0"/>
                          <a:ea typeface="Calibri" pitchFamily="34" charset="-122"/>
                          <a:cs typeface="Calibri" pitchFamily="34" charset="-120"/>
                        </a:rPr>
                        <a:t>Route-scale exposure</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100" dirty="0">
                          <a:solidFill>
                            <a:srgbClr val="3E3E4B"/>
                          </a:solidFill>
                          <a:latin typeface="Calibri" pitchFamily="34" charset="0"/>
                          <a:ea typeface="Calibri" pitchFamily="34" charset="-122"/>
                          <a:cs typeface="Calibri" pitchFamily="34" charset="-120"/>
                        </a:rPr>
                        <a:t>ExpressRoute and NSX routing model</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100" dirty="0">
                          <a:solidFill>
                            <a:srgbClr val="3E3E4B"/>
                          </a:solidFill>
                          <a:latin typeface="Calibri" pitchFamily="34" charset="0"/>
                          <a:ea typeface="Calibri" pitchFamily="34" charset="-122"/>
                          <a:cs typeface="Calibri" pitchFamily="34" charset="-120"/>
                        </a:rPr>
                        <a:t>Azure VNet and T0 NIC route limits</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3E3E4B"/>
                          </a:solidFill>
                          <a:latin typeface="Calibri" pitchFamily="34" charset="0"/>
                          <a:ea typeface="Calibri" pitchFamily="34" charset="-122"/>
                          <a:cs typeface="Calibri" pitchFamily="34" charset="-120"/>
                        </a:rPr>
                        <a:t>Multi-zone stretched cluster</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100" dirty="0">
                          <a:solidFill>
                            <a:srgbClr val="3E3E4B"/>
                          </a:solidFill>
                          <a:latin typeface="Calibri" pitchFamily="34" charset="0"/>
                          <a:ea typeface="Calibri" pitchFamily="34" charset="-122"/>
                          <a:cs typeface="Calibri" pitchFamily="34" charset="-120"/>
                        </a:rPr>
                        <a:t>Supported for specified Gen 1 profiles</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100" dirty="0">
                          <a:solidFill>
                            <a:srgbClr val="3E3E4B"/>
                          </a:solidFill>
                          <a:latin typeface="Calibri" pitchFamily="34" charset="0"/>
                          <a:ea typeface="Calibri" pitchFamily="34" charset="-122"/>
                          <a:cs typeface="Calibri" pitchFamily="34" charset="-120"/>
                        </a:rPr>
                        <a:t>Not supported in the source material</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r>
              <a:tr h="365760">
                <a:tc>
                  <a:txBody>
                    <a:bodyPr/>
                    <a:lstStyle/>
                    <a:p>
                      <a:pPr indent="0" marL="0">
                        <a:buNone/>
                      </a:pPr>
                      <a:r>
                        <a:rPr lang="en-US" sz="1100" b="1" dirty="0">
                          <a:solidFill>
                            <a:srgbClr val="3E3E4B"/>
                          </a:solidFill>
                          <a:latin typeface="Calibri" pitchFamily="34" charset="0"/>
                          <a:ea typeface="Calibri" pitchFamily="34" charset="-122"/>
                          <a:cs typeface="Calibri" pitchFamily="34" charset="-120"/>
                        </a:rPr>
                        <a:t>Local rack resilience</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100" dirty="0">
                          <a:solidFill>
                            <a:srgbClr val="3E3E4B"/>
                          </a:solidFill>
                          <a:latin typeface="Calibri" pitchFamily="34" charset="0"/>
                          <a:ea typeface="Calibri" pitchFamily="34" charset="-122"/>
                          <a:cs typeface="Calibri" pitchFamily="34" charset="-120"/>
                        </a:rPr>
                        <a:t>Managed placement largely hidden from the customer</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100" dirty="0">
                          <a:solidFill>
                            <a:srgbClr val="3E3E4B"/>
                          </a:solidFill>
                          <a:latin typeface="Calibri" pitchFamily="34" charset="0"/>
                          <a:ea typeface="Calibri" pitchFamily="34" charset="-122"/>
                          <a:cs typeface="Calibri" pitchFamily="34" charset="-120"/>
                        </a:rPr>
                        <a:t>Explicit vSAN fault domains</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3E3E4B"/>
                          </a:solidFill>
                          <a:latin typeface="Calibri" pitchFamily="34" charset="0"/>
                          <a:ea typeface="Calibri" pitchFamily="34" charset="-122"/>
                          <a:cs typeface="Calibri" pitchFamily="34" charset="-120"/>
                        </a:rPr>
                        <a:t>Deployment mobility</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100" dirty="0">
                          <a:solidFill>
                            <a:srgbClr val="3E3E4B"/>
                          </a:solidFill>
                          <a:latin typeface="Calibri" pitchFamily="34" charset="0"/>
                          <a:ea typeface="Calibri" pitchFamily="34" charset="-122"/>
                          <a:cs typeface="Calibri" pitchFamily="34" charset="-120"/>
                        </a:rPr>
                        <a:t>Loosely coupled compared with Generation 2</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100" dirty="0">
                          <a:solidFill>
                            <a:srgbClr val="3E3E4B"/>
                          </a:solidFill>
                          <a:latin typeface="Calibri" pitchFamily="34" charset="0"/>
                          <a:ea typeface="Calibri" pitchFamily="34" charset="-122"/>
                          <a:cs typeface="Calibri" pitchFamily="34" charset="-120"/>
                        </a:rPr>
                        <a:t>Private cloud and host VNet permanently associated</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r>
              <a:tr h="365760">
                <a:tc>
                  <a:txBody>
                    <a:bodyPr/>
                    <a:lstStyle/>
                    <a:p>
                      <a:pPr indent="0" marL="0">
                        <a:buNone/>
                      </a:pPr>
                      <a:r>
                        <a:rPr lang="en-US" sz="1100" b="1" dirty="0">
                          <a:solidFill>
                            <a:srgbClr val="3E3E4B"/>
                          </a:solidFill>
                          <a:latin typeface="Calibri" pitchFamily="34" charset="0"/>
                          <a:ea typeface="Calibri" pitchFamily="34" charset="-122"/>
                          <a:cs typeface="Calibri" pitchFamily="34" charset="-120"/>
                        </a:rPr>
                        <a:t>Primary advantage</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100" dirty="0">
                          <a:solidFill>
                            <a:srgbClr val="3E3E4B"/>
                          </a:solidFill>
                          <a:latin typeface="Calibri" pitchFamily="34" charset="0"/>
                          <a:ea typeface="Calibri" pitchFamily="34" charset="-122"/>
                          <a:cs typeface="Calibri" pitchFamily="34" charset="-120"/>
                        </a:rPr>
                        <a:t>Established routing flexibility and multi-zone resilience</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100" dirty="0">
                          <a:solidFill>
                            <a:srgbClr val="3E3E4B"/>
                          </a:solidFill>
                          <a:latin typeface="Calibri" pitchFamily="34" charset="0"/>
                          <a:ea typeface="Calibri" pitchFamily="34" charset="-122"/>
                          <a:cs typeface="Calibri" pitchFamily="34" charset="-120"/>
                        </a:rPr>
                        <a:t>Native Azure integration and high-performance hardware</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3E3E4B"/>
                          </a:solidFill>
                          <a:latin typeface="Calibri" pitchFamily="34" charset="0"/>
                          <a:ea typeface="Calibri" pitchFamily="34" charset="-122"/>
                          <a:cs typeface="Calibri" pitchFamily="34" charset="-120"/>
                        </a:rPr>
                        <a:t>Primary risk</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100" dirty="0">
                          <a:solidFill>
                            <a:srgbClr val="3E3E4B"/>
                          </a:solidFill>
                          <a:latin typeface="Calibri" pitchFamily="34" charset="0"/>
                          <a:ea typeface="Calibri" pitchFamily="34" charset="-122"/>
                          <a:cs typeface="Calibri" pitchFamily="34" charset="-120"/>
                        </a:rPr>
                        <a:t>Connectivity complexity and ExpressRoute overhead</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100" dirty="0">
                          <a:solidFill>
                            <a:srgbClr val="3E3E4B"/>
                          </a:solidFill>
                          <a:latin typeface="Calibri" pitchFamily="34" charset="0"/>
                          <a:ea typeface="Calibri" pitchFamily="34" charset="-122"/>
                          <a:cs typeface="Calibri" pitchFamily="34" charset="-120"/>
                        </a:rPr>
                        <a:t>Rigid route, placement, and operational constraints</a:t>
                      </a:r>
                      <a:endParaRPr lang="en-US" sz="11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r>
            </a:tbl>
          </a:graphicData>
        </a:graphic>
      </p:graphicFrame>
      <p:sp>
        <p:nvSpPr>
          <p:cNvPr id="5" name="Shape 2"/>
          <p:cNvSpPr/>
          <p:nvPr/>
        </p:nvSpPr>
        <p:spPr>
          <a:xfrm>
            <a:off x="548640" y="5760720"/>
            <a:ext cx="11091672" cy="548640"/>
          </a:xfrm>
          <a:prstGeom prst="roundRect">
            <a:avLst>
              <a:gd name="adj" fmla="val 15000"/>
            </a:avLst>
          </a:prstGeom>
          <a:solidFill>
            <a:srgbClr val="EBEDED"/>
          </a:solidFill>
          <a:ln/>
        </p:spPr>
      </p:sp>
      <p:sp>
        <p:nvSpPr>
          <p:cNvPr id="6" name="Text 3"/>
          <p:cNvSpPr/>
          <p:nvPr/>
        </p:nvSpPr>
        <p:spPr>
          <a:xfrm>
            <a:off x="731520" y="5760720"/>
            <a:ext cx="10725912" cy="548640"/>
          </a:xfrm>
          <a:prstGeom prst="rect">
            <a:avLst/>
          </a:prstGeom>
          <a:noFill/>
          <a:ln/>
        </p:spPr>
        <p:txBody>
          <a:bodyPr wrap="square" lIns="0" tIns="0" rIns="0" bIns="0" rtlCol="0" anchor="ctr"/>
          <a:lstStyle/>
          <a:p>
            <a:pPr indent="0" marL="0">
              <a:buNone/>
            </a:pPr>
            <a:r>
              <a:rPr lang="en-US" sz="1100" b="1" dirty="0">
                <a:solidFill>
                  <a:srgbClr val="00B3E2"/>
                </a:solidFill>
                <a:latin typeface="Arial" pitchFamily="34" charset="0"/>
                <a:ea typeface="Arial" pitchFamily="34" charset="-122"/>
                <a:cs typeface="Arial" pitchFamily="34" charset="-120"/>
              </a:rPr>
              <a:t>Takeaway   </a:t>
            </a:r>
            <a:pPr indent="0" marL="0">
              <a:buNone/>
            </a:pPr>
            <a:r>
              <a:rPr lang="en-US" sz="1200" dirty="0">
                <a:solidFill>
                  <a:srgbClr val="3E3E4B"/>
                </a:solidFill>
                <a:latin typeface="Calibri" pitchFamily="34" charset="0"/>
                <a:ea typeface="Calibri" pitchFamily="34" charset="-122"/>
                <a:cs typeface="Calibri" pitchFamily="34" charset="-120"/>
              </a:rPr>
              <a:t>Generation 2 should not be selected because its hardware is newer. Match the generation to application performance, network scale, migration method, availability requirements, and governance.</a:t>
            </a:r>
            <a:endParaRPr lang="en-US" sz="1100" dirty="0"/>
          </a:p>
        </p:txBody>
      </p:sp>
      <p:sp>
        <p:nvSpPr>
          <p:cNvPr id="7" name="Text 4"/>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1. Purpose and architectural decision</a:t>
            </a:r>
            <a:endParaRPr lang="en-US" sz="950" dirty="0"/>
          </a:p>
        </p:txBody>
      </p:sp>
      <p:sp>
        <p:nvSpPr>
          <p:cNvPr id="8" name="Text 5"/>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2. OPERATING MODEL</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What stays the same, and what does not</a:t>
            </a:r>
            <a:endParaRPr lang="en-US" sz="2800" dirty="0"/>
          </a:p>
        </p:txBody>
      </p:sp>
      <p:sp>
        <p:nvSpPr>
          <p:cNvPr id="4" name="Shape 2"/>
          <p:cNvSpPr/>
          <p:nvPr/>
        </p:nvSpPr>
        <p:spPr>
          <a:xfrm>
            <a:off x="548640" y="1371600"/>
            <a:ext cx="11091672" cy="914400"/>
          </a:xfrm>
          <a:prstGeom prst="roundRect">
            <a:avLst>
              <a:gd name="adj" fmla="val 9000"/>
            </a:avLst>
          </a:prstGeom>
          <a:solidFill>
            <a:srgbClr val="E5F7FC"/>
          </a:solidFill>
          <a:ln/>
        </p:spPr>
      </p:sp>
      <p:sp>
        <p:nvSpPr>
          <p:cNvPr id="5" name="Shape 3"/>
          <p:cNvSpPr/>
          <p:nvPr/>
        </p:nvSpPr>
        <p:spPr>
          <a:xfrm>
            <a:off x="822960" y="1645920"/>
            <a:ext cx="365760" cy="365760"/>
          </a:xfrm>
          <a:prstGeom prst="ellipse">
            <a:avLst/>
          </a:prstGeom>
          <a:solidFill>
            <a:srgbClr val="00B3E2"/>
          </a:solidFill>
          <a:ln/>
        </p:spPr>
      </p:sp>
      <p:sp>
        <p:nvSpPr>
          <p:cNvPr id="6" name="Text 4"/>
          <p:cNvSpPr/>
          <p:nvPr/>
        </p:nvSpPr>
        <p:spPr>
          <a:xfrm>
            <a:off x="822960" y="1645920"/>
            <a:ext cx="365760" cy="365760"/>
          </a:xfrm>
          <a:prstGeom prst="rect">
            <a:avLst/>
          </a:prstGeom>
          <a:noFill/>
          <a:ln/>
        </p:spPr>
        <p:txBody>
          <a:bodyPr wrap="square" lIns="0" tIns="0" rIns="0" bIns="0" rtlCol="0" anchor="ctr"/>
          <a:lstStyle/>
          <a:p>
            <a:pPr algn="ctr" indent="0" marL="0">
              <a:buNone/>
            </a:pPr>
            <a:r>
              <a:rPr lang="en-US" sz="1400" b="1" dirty="0">
                <a:solidFill>
                  <a:srgbClr val="3E3E4B"/>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417320" y="1499616"/>
            <a:ext cx="2834640" cy="329184"/>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Bare-metal deployment</a:t>
            </a:r>
            <a:endParaRPr lang="en-US" sz="1400" dirty="0"/>
          </a:p>
        </p:txBody>
      </p:sp>
      <p:sp>
        <p:nvSpPr>
          <p:cNvPr id="8" name="Text 6"/>
          <p:cNvSpPr/>
          <p:nvPr/>
        </p:nvSpPr>
        <p:spPr>
          <a:xfrm>
            <a:off x="4343400" y="1499616"/>
            <a:ext cx="6976872" cy="685800"/>
          </a:xfrm>
          <a:prstGeom prst="rect">
            <a:avLst/>
          </a:prstGeom>
          <a:noFill/>
          <a:ln/>
        </p:spPr>
        <p:txBody>
          <a:bodyPr wrap="square" lIns="0" tIns="0" rIns="0" bIns="0" rtlCol="0" anchor="ctr"/>
          <a:lstStyle/>
          <a:p>
            <a:pPr indent="0" marL="0">
              <a:lnSpc>
                <a:spcPts val="1700"/>
              </a:lnSpc>
              <a:buNone/>
            </a:pPr>
            <a:r>
              <a:rPr lang="en-US" sz="1250" dirty="0">
                <a:solidFill>
                  <a:srgbClr val="3E3E4B"/>
                </a:solidFill>
                <a:latin typeface="Calibri" pitchFamily="34" charset="0"/>
                <a:ea typeface="Calibri" pitchFamily="34" charset="-122"/>
                <a:cs typeface="Calibri" pitchFamily="34" charset="-120"/>
              </a:rPr>
              <a:t>The VMware hypervisor is installed on dedicated physical servers, not nested inside ordinary Azure virtual machines.</a:t>
            </a:r>
            <a:endParaRPr lang="en-US" sz="1250" dirty="0"/>
          </a:p>
        </p:txBody>
      </p:sp>
      <p:sp>
        <p:nvSpPr>
          <p:cNvPr id="9" name="Shape 7"/>
          <p:cNvSpPr/>
          <p:nvPr/>
        </p:nvSpPr>
        <p:spPr>
          <a:xfrm>
            <a:off x="548640" y="2423160"/>
            <a:ext cx="11091672" cy="914400"/>
          </a:xfrm>
          <a:prstGeom prst="roundRect">
            <a:avLst>
              <a:gd name="adj" fmla="val 9000"/>
            </a:avLst>
          </a:prstGeom>
          <a:solidFill>
            <a:srgbClr val="EBEDED"/>
          </a:solidFill>
          <a:ln/>
        </p:spPr>
      </p:sp>
      <p:sp>
        <p:nvSpPr>
          <p:cNvPr id="10" name="Shape 8"/>
          <p:cNvSpPr/>
          <p:nvPr/>
        </p:nvSpPr>
        <p:spPr>
          <a:xfrm>
            <a:off x="822960" y="2697480"/>
            <a:ext cx="365760" cy="365760"/>
          </a:xfrm>
          <a:prstGeom prst="ellipse">
            <a:avLst/>
          </a:prstGeom>
          <a:solidFill>
            <a:srgbClr val="00B3E2"/>
          </a:solidFill>
          <a:ln/>
        </p:spPr>
      </p:sp>
      <p:sp>
        <p:nvSpPr>
          <p:cNvPr id="11" name="Text 9"/>
          <p:cNvSpPr/>
          <p:nvPr/>
        </p:nvSpPr>
        <p:spPr>
          <a:xfrm>
            <a:off x="822960" y="2697480"/>
            <a:ext cx="365760" cy="365760"/>
          </a:xfrm>
          <a:prstGeom prst="rect">
            <a:avLst/>
          </a:prstGeom>
          <a:noFill/>
          <a:ln/>
        </p:spPr>
        <p:txBody>
          <a:bodyPr wrap="square" lIns="0" tIns="0" rIns="0" bIns="0" rtlCol="0" anchor="ctr"/>
          <a:lstStyle/>
          <a:p>
            <a:pPr algn="ctr" indent="0" marL="0">
              <a:buNone/>
            </a:pPr>
            <a:r>
              <a:rPr lang="en-US" sz="1400" b="1" dirty="0">
                <a:solidFill>
                  <a:srgbClr val="3E3E4B"/>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1417320" y="2551176"/>
            <a:ext cx="2834640" cy="329184"/>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Operational continuity</a:t>
            </a:r>
            <a:endParaRPr lang="en-US" sz="1400" dirty="0"/>
          </a:p>
        </p:txBody>
      </p:sp>
      <p:sp>
        <p:nvSpPr>
          <p:cNvPr id="13" name="Text 11"/>
          <p:cNvSpPr/>
          <p:nvPr/>
        </p:nvSpPr>
        <p:spPr>
          <a:xfrm>
            <a:off x="4343400" y="2551176"/>
            <a:ext cx="6976872" cy="685800"/>
          </a:xfrm>
          <a:prstGeom prst="rect">
            <a:avLst/>
          </a:prstGeom>
          <a:noFill/>
          <a:ln/>
        </p:spPr>
        <p:txBody>
          <a:bodyPr wrap="square" lIns="0" tIns="0" rIns="0" bIns="0" rtlCol="0" anchor="ctr"/>
          <a:lstStyle/>
          <a:p>
            <a:pPr indent="0" marL="0">
              <a:lnSpc>
                <a:spcPts val="1700"/>
              </a:lnSpc>
              <a:buNone/>
            </a:pPr>
            <a:r>
              <a:rPr lang="en-US" sz="1250" dirty="0">
                <a:solidFill>
                  <a:srgbClr val="3E3E4B"/>
                </a:solidFill>
                <a:latin typeface="Calibri" pitchFamily="34" charset="0"/>
                <a:ea typeface="Calibri" pitchFamily="34" charset="-122"/>
                <a:cs typeface="Calibri" pitchFamily="34" charset="-120"/>
              </a:rPr>
              <a:t>The environment appears as another VMware cluster managed through vCenter. Workloads move using VMware mobility technologies rather than format conversion.</a:t>
            </a:r>
            <a:endParaRPr lang="en-US" sz="1250" dirty="0"/>
          </a:p>
        </p:txBody>
      </p:sp>
      <p:sp>
        <p:nvSpPr>
          <p:cNvPr id="14" name="Shape 12"/>
          <p:cNvSpPr/>
          <p:nvPr/>
        </p:nvSpPr>
        <p:spPr>
          <a:xfrm>
            <a:off x="548640" y="3474720"/>
            <a:ext cx="11091672" cy="914400"/>
          </a:xfrm>
          <a:prstGeom prst="roundRect">
            <a:avLst>
              <a:gd name="adj" fmla="val 9000"/>
            </a:avLst>
          </a:prstGeom>
          <a:solidFill>
            <a:srgbClr val="E5F7FC"/>
          </a:solidFill>
          <a:ln/>
        </p:spPr>
      </p:sp>
      <p:sp>
        <p:nvSpPr>
          <p:cNvPr id="15" name="Shape 13"/>
          <p:cNvSpPr/>
          <p:nvPr/>
        </p:nvSpPr>
        <p:spPr>
          <a:xfrm>
            <a:off x="822960" y="3749040"/>
            <a:ext cx="365760" cy="365760"/>
          </a:xfrm>
          <a:prstGeom prst="ellipse">
            <a:avLst/>
          </a:prstGeom>
          <a:solidFill>
            <a:srgbClr val="00B3E2"/>
          </a:solidFill>
          <a:ln/>
        </p:spPr>
      </p:sp>
      <p:sp>
        <p:nvSpPr>
          <p:cNvPr id="16" name="Text 14"/>
          <p:cNvSpPr/>
          <p:nvPr/>
        </p:nvSpPr>
        <p:spPr>
          <a:xfrm>
            <a:off x="822960" y="3749040"/>
            <a:ext cx="365760" cy="365760"/>
          </a:xfrm>
          <a:prstGeom prst="rect">
            <a:avLst/>
          </a:prstGeom>
          <a:noFill/>
          <a:ln/>
        </p:spPr>
        <p:txBody>
          <a:bodyPr wrap="square" lIns="0" tIns="0" rIns="0" bIns="0" rtlCol="0" anchor="ctr"/>
          <a:lstStyle/>
          <a:p>
            <a:pPr algn="ctr" indent="0" marL="0">
              <a:buNone/>
            </a:pPr>
            <a:r>
              <a:rPr lang="en-US" sz="1400" b="1" dirty="0">
                <a:solidFill>
                  <a:srgbClr val="3E3E4B"/>
                </a:solidFill>
                <a:latin typeface="Arial" pitchFamily="34" charset="0"/>
                <a:ea typeface="Arial" pitchFamily="34" charset="-122"/>
                <a:cs typeface="Arial" pitchFamily="34" charset="-120"/>
              </a:rPr>
              <a:t>3</a:t>
            </a:r>
            <a:endParaRPr lang="en-US" sz="1400" dirty="0"/>
          </a:p>
        </p:txBody>
      </p:sp>
      <p:sp>
        <p:nvSpPr>
          <p:cNvPr id="17" name="Text 15"/>
          <p:cNvSpPr/>
          <p:nvPr/>
        </p:nvSpPr>
        <p:spPr>
          <a:xfrm>
            <a:off x="1417320" y="3602736"/>
            <a:ext cx="2834640" cy="329184"/>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Application continuity</a:t>
            </a:r>
            <a:endParaRPr lang="en-US" sz="1400" dirty="0"/>
          </a:p>
        </p:txBody>
      </p:sp>
      <p:sp>
        <p:nvSpPr>
          <p:cNvPr id="18" name="Text 16"/>
          <p:cNvSpPr/>
          <p:nvPr/>
        </p:nvSpPr>
        <p:spPr>
          <a:xfrm>
            <a:off x="4343400" y="3602736"/>
            <a:ext cx="6976872" cy="685800"/>
          </a:xfrm>
          <a:prstGeom prst="rect">
            <a:avLst/>
          </a:prstGeom>
          <a:noFill/>
          <a:ln/>
        </p:spPr>
        <p:txBody>
          <a:bodyPr wrap="square" lIns="0" tIns="0" rIns="0" bIns="0" rtlCol="0" anchor="ctr"/>
          <a:lstStyle/>
          <a:p>
            <a:pPr indent="0" marL="0">
              <a:lnSpc>
                <a:spcPts val="1700"/>
              </a:lnSpc>
              <a:buNone/>
            </a:pPr>
            <a:r>
              <a:rPr lang="en-US" sz="1250" dirty="0">
                <a:solidFill>
                  <a:srgbClr val="3E3E4B"/>
                </a:solidFill>
                <a:latin typeface="Calibri" pitchFamily="34" charset="0"/>
                <a:ea typeface="Calibri" pitchFamily="34" charset="-122"/>
                <a:cs typeface="Calibri" pitchFamily="34" charset="-120"/>
              </a:rPr>
              <a:t>A VM continues running its existing operating system and application stack after migration. No inherent code rewrite is required.</a:t>
            </a:r>
            <a:endParaRPr lang="en-US" sz="1250" dirty="0"/>
          </a:p>
        </p:txBody>
      </p:sp>
      <p:sp>
        <p:nvSpPr>
          <p:cNvPr id="19" name="Shape 17"/>
          <p:cNvSpPr/>
          <p:nvPr/>
        </p:nvSpPr>
        <p:spPr>
          <a:xfrm>
            <a:off x="548640" y="4526280"/>
            <a:ext cx="11091672" cy="914400"/>
          </a:xfrm>
          <a:prstGeom prst="roundRect">
            <a:avLst>
              <a:gd name="adj" fmla="val 9000"/>
            </a:avLst>
          </a:prstGeom>
          <a:solidFill>
            <a:srgbClr val="EBEDED"/>
          </a:solidFill>
          <a:ln/>
        </p:spPr>
      </p:sp>
      <p:sp>
        <p:nvSpPr>
          <p:cNvPr id="20" name="Shape 18"/>
          <p:cNvSpPr/>
          <p:nvPr/>
        </p:nvSpPr>
        <p:spPr>
          <a:xfrm>
            <a:off x="822960" y="4800600"/>
            <a:ext cx="365760" cy="365760"/>
          </a:xfrm>
          <a:prstGeom prst="ellipse">
            <a:avLst/>
          </a:prstGeom>
          <a:solidFill>
            <a:srgbClr val="00B3E2"/>
          </a:solidFill>
          <a:ln/>
        </p:spPr>
      </p:sp>
      <p:sp>
        <p:nvSpPr>
          <p:cNvPr id="21" name="Text 19"/>
          <p:cNvSpPr/>
          <p:nvPr/>
        </p:nvSpPr>
        <p:spPr>
          <a:xfrm>
            <a:off x="822960" y="4800600"/>
            <a:ext cx="365760" cy="365760"/>
          </a:xfrm>
          <a:prstGeom prst="rect">
            <a:avLst/>
          </a:prstGeom>
          <a:noFill/>
          <a:ln/>
        </p:spPr>
        <p:txBody>
          <a:bodyPr wrap="square" lIns="0" tIns="0" rIns="0" bIns="0" rtlCol="0" anchor="ctr"/>
          <a:lstStyle/>
          <a:p>
            <a:pPr algn="ctr" indent="0" marL="0">
              <a:buNone/>
            </a:pPr>
            <a:r>
              <a:rPr lang="en-US" sz="1400" b="1" dirty="0">
                <a:solidFill>
                  <a:srgbClr val="3E3E4B"/>
                </a:solidFill>
                <a:latin typeface="Arial" pitchFamily="34" charset="0"/>
                <a:ea typeface="Arial" pitchFamily="34" charset="-122"/>
                <a:cs typeface="Arial" pitchFamily="34" charset="-120"/>
              </a:rPr>
              <a:t>4</a:t>
            </a:r>
            <a:endParaRPr lang="en-US" sz="1400" dirty="0"/>
          </a:p>
        </p:txBody>
      </p:sp>
      <p:sp>
        <p:nvSpPr>
          <p:cNvPr id="22" name="Text 20"/>
          <p:cNvSpPr/>
          <p:nvPr/>
        </p:nvSpPr>
        <p:spPr>
          <a:xfrm>
            <a:off x="1417320" y="4654296"/>
            <a:ext cx="2834640" cy="329184"/>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Architectural consequence</a:t>
            </a:r>
            <a:endParaRPr lang="en-US" sz="1400" dirty="0"/>
          </a:p>
        </p:txBody>
      </p:sp>
      <p:sp>
        <p:nvSpPr>
          <p:cNvPr id="23" name="Text 21"/>
          <p:cNvSpPr/>
          <p:nvPr/>
        </p:nvSpPr>
        <p:spPr>
          <a:xfrm>
            <a:off x="4343400" y="4654296"/>
            <a:ext cx="6976872" cy="685800"/>
          </a:xfrm>
          <a:prstGeom prst="rect">
            <a:avLst/>
          </a:prstGeom>
          <a:noFill/>
          <a:ln/>
        </p:spPr>
        <p:txBody>
          <a:bodyPr wrap="square" lIns="0" tIns="0" rIns="0" bIns="0" rtlCol="0" anchor="ctr"/>
          <a:lstStyle/>
          <a:p>
            <a:pPr indent="0" marL="0">
              <a:lnSpc>
                <a:spcPts val="1700"/>
              </a:lnSpc>
              <a:buNone/>
            </a:pPr>
            <a:r>
              <a:rPr lang="en-US" sz="1250" dirty="0">
                <a:solidFill>
                  <a:srgbClr val="3E3E4B"/>
                </a:solidFill>
                <a:latin typeface="Calibri" pitchFamily="34" charset="0"/>
                <a:ea typeface="Calibri" pitchFamily="34" charset="-122"/>
                <a:cs typeface="Calibri" pitchFamily="34" charset="-120"/>
              </a:rPr>
              <a:t>Physical host characteristics, vSAN behavior, network routes, failure domains, and CPU compatibility all still require design attention.</a:t>
            </a:r>
            <a:endParaRPr lang="en-US" sz="1250" dirty="0"/>
          </a:p>
        </p:txBody>
      </p:sp>
      <p:sp>
        <p:nvSpPr>
          <p:cNvPr id="24" name="Shape 22"/>
          <p:cNvSpPr/>
          <p:nvPr/>
        </p:nvSpPr>
        <p:spPr>
          <a:xfrm>
            <a:off x="548640" y="5715000"/>
            <a:ext cx="11091672" cy="548640"/>
          </a:xfrm>
          <a:prstGeom prst="roundRect">
            <a:avLst>
              <a:gd name="adj" fmla="val 15000"/>
            </a:avLst>
          </a:prstGeom>
          <a:solidFill>
            <a:srgbClr val="EBEDED"/>
          </a:solidFill>
          <a:ln/>
        </p:spPr>
      </p:sp>
      <p:sp>
        <p:nvSpPr>
          <p:cNvPr id="25" name="Text 23"/>
          <p:cNvSpPr/>
          <p:nvPr/>
        </p:nvSpPr>
        <p:spPr>
          <a:xfrm>
            <a:off x="731520" y="5715000"/>
            <a:ext cx="10725912" cy="548640"/>
          </a:xfrm>
          <a:prstGeom prst="rect">
            <a:avLst/>
          </a:prstGeom>
          <a:noFill/>
          <a:ln/>
        </p:spPr>
        <p:txBody>
          <a:bodyPr wrap="square" lIns="0" tIns="0" rIns="0" bIns="0" rtlCol="0" anchor="ctr"/>
          <a:lstStyle/>
          <a:p>
            <a:pPr indent="0" marL="0">
              <a:buNone/>
            </a:pPr>
            <a:r>
              <a:rPr lang="en-US" sz="1100" b="1" dirty="0">
                <a:solidFill>
                  <a:srgbClr val="00B3E2"/>
                </a:solidFill>
                <a:latin typeface="Arial" pitchFamily="34" charset="0"/>
                <a:ea typeface="Arial" pitchFamily="34" charset="-122"/>
                <a:cs typeface="Arial" pitchFamily="34" charset="-120"/>
              </a:rPr>
              <a:t>Takeaway   </a:t>
            </a:r>
            <a:pPr indent="0" marL="0">
              <a:buNone/>
            </a:pPr>
            <a:r>
              <a:rPr lang="en-US" sz="1200" dirty="0">
                <a:solidFill>
                  <a:srgbClr val="3E3E4B"/>
                </a:solidFill>
                <a:latin typeface="Calibri" pitchFamily="34" charset="0"/>
                <a:ea typeface="Calibri" pitchFamily="34" charset="-122"/>
                <a:cs typeface="Calibri" pitchFamily="34" charset="-120"/>
              </a:rPr>
              <a:t>AVS shifts infrastructure architecture into a managed environment with defined hardware and software-defined constraints. It does not remove the need for that architecture.</a:t>
            </a:r>
            <a:endParaRPr lang="en-US" sz="1100" dirty="0"/>
          </a:p>
        </p:txBody>
      </p:sp>
      <p:sp>
        <p:nvSpPr>
          <p:cNvPr id="26" name="Text 24"/>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2. AVS operating model</a:t>
            </a:r>
            <a:endParaRPr lang="en-US" sz="950" dirty="0"/>
          </a:p>
        </p:txBody>
      </p:sp>
      <p:sp>
        <p:nvSpPr>
          <p:cNvPr id="27" name="Text 25"/>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3E3E4B"/>
        </a:solidFill>
      </p:bgPr>
    </p:bg>
    <p:spTree>
      <p:nvGrpSpPr>
        <p:cNvPr id="1" name=""/>
        <p:cNvGrpSpPr/>
        <p:nvPr/>
      </p:nvGrpSpPr>
      <p:grpSpPr>
        <a:xfrm>
          <a:off x="0" y="0"/>
          <a:ext cx="0" cy="0"/>
          <a:chOff x="0" y="0"/>
          <a:chExt cx="0" cy="0"/>
        </a:xfrm>
      </p:grpSpPr>
      <p:sp>
        <p:nvSpPr>
          <p:cNvPr id="2" name="Text 0"/>
          <p:cNvSpPr/>
          <p:nvPr/>
        </p:nvSpPr>
        <p:spPr>
          <a:xfrm>
            <a:off x="548640" y="1828800"/>
            <a:ext cx="2194560" cy="1371600"/>
          </a:xfrm>
          <a:prstGeom prst="rect">
            <a:avLst/>
          </a:prstGeom>
          <a:noFill/>
          <a:ln/>
        </p:spPr>
        <p:txBody>
          <a:bodyPr wrap="square" lIns="0" tIns="0" rIns="0" bIns="0" rtlCol="0" anchor="ctr"/>
          <a:lstStyle/>
          <a:p>
            <a:pPr indent="0" marL="0">
              <a:buNone/>
            </a:pPr>
            <a:r>
              <a:rPr lang="en-US" sz="10000" b="1" dirty="0">
                <a:solidFill>
                  <a:srgbClr val="00B3E2"/>
                </a:solidFill>
                <a:latin typeface="Arial" pitchFamily="34" charset="0"/>
                <a:ea typeface="Arial" pitchFamily="34" charset="-122"/>
                <a:cs typeface="Arial" pitchFamily="34" charset="-120"/>
              </a:rPr>
              <a:t>02</a:t>
            </a:r>
            <a:endParaRPr lang="en-US" sz="10000" dirty="0"/>
          </a:p>
        </p:txBody>
      </p:sp>
      <p:sp>
        <p:nvSpPr>
          <p:cNvPr id="3" name="Text 1"/>
          <p:cNvSpPr/>
          <p:nvPr/>
        </p:nvSpPr>
        <p:spPr>
          <a:xfrm>
            <a:off x="2468880" y="1920240"/>
            <a:ext cx="9171432" cy="77724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Hardware and storage</a:t>
            </a:r>
            <a:endParaRPr lang="en-US" sz="3400" dirty="0"/>
          </a:p>
        </p:txBody>
      </p:sp>
      <p:sp>
        <p:nvSpPr>
          <p:cNvPr id="4" name="Text 2"/>
          <p:cNvSpPr/>
          <p:nvPr/>
        </p:nvSpPr>
        <p:spPr>
          <a:xfrm>
            <a:off x="2468880" y="2743200"/>
            <a:ext cx="8897112" cy="914400"/>
          </a:xfrm>
          <a:prstGeom prst="rect">
            <a:avLst/>
          </a:prstGeom>
          <a:noFill/>
          <a:ln/>
        </p:spPr>
        <p:txBody>
          <a:bodyPr wrap="square" lIns="0" tIns="0" rIns="0" bIns="0" rtlCol="0" anchor="t"/>
          <a:lstStyle/>
          <a:p>
            <a:pPr indent="0" marL="0">
              <a:lnSpc>
                <a:spcPts val="2000"/>
              </a:lnSpc>
              <a:buNone/>
            </a:pPr>
            <a:r>
              <a:rPr lang="en-US" sz="1400" dirty="0">
                <a:solidFill>
                  <a:srgbClr val="B2E8F6"/>
                </a:solidFill>
                <a:latin typeface="Calibri" pitchFamily="34" charset="0"/>
                <a:ea typeface="Calibri" pitchFamily="34" charset="-122"/>
                <a:cs typeface="Calibri" pitchFamily="34" charset="-120"/>
              </a:rPr>
              <a:t>Host profiles determine available CPU, memory, storage architecture, and workload density. Generation 1 supports multiple hardware generations; Generation 2 is tied to AV64 and vSAN Express Storage Architecture.</a:t>
            </a:r>
            <a:endParaRPr lang="en-US" sz="1400" dirty="0"/>
          </a:p>
        </p:txBody>
      </p:sp>
      <p:sp>
        <p:nvSpPr>
          <p:cNvPr id="5" name="Shape 3"/>
          <p:cNvSpPr/>
          <p:nvPr/>
        </p:nvSpPr>
        <p:spPr>
          <a:xfrm>
            <a:off x="2514600" y="2697480"/>
            <a:ext cx="1005840" cy="45720"/>
          </a:xfrm>
          <a:prstGeom prst="roundRect">
            <a:avLst>
              <a:gd name="adj" fmla="val 40000"/>
            </a:avLst>
          </a:prstGeom>
          <a:solidFill>
            <a:srgbClr val="00B3E2"/>
          </a:solidFill>
          <a:ln/>
        </p:spPr>
      </p:sp>
      <p:sp>
        <p:nvSpPr>
          <p:cNvPr id="6" name="Text 4"/>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Section</a:t>
            </a:r>
            <a:endParaRPr lang="en-US" sz="950" dirty="0"/>
          </a:p>
        </p:txBody>
      </p:sp>
      <p:sp>
        <p:nvSpPr>
          <p:cNvPr id="7" name="Text 5"/>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3. HARDWARE PROFILES</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Host profiles and compute characteristics</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868680"/>
                <a:gridCol w="3063240"/>
                <a:gridCol w="914400"/>
                <a:gridCol w="1417320"/>
                <a:gridCol w="2743200"/>
                <a:gridCol w="2084832"/>
              </a:tblGrid>
              <a:tr h="566928">
                <a:tc>
                  <a:txBody>
                    <a:bodyPr/>
                    <a:lstStyle/>
                    <a:p>
                      <a:pPr indent="0" marL="0">
                        <a:buNone/>
                      </a:pPr>
                      <a:r>
                        <a:rPr lang="en-US" sz="1100" b="1" dirty="0">
                          <a:solidFill>
                            <a:srgbClr val="FFFFFF"/>
                          </a:solidFill>
                          <a:latin typeface="Arial" pitchFamily="34" charset="0"/>
                          <a:ea typeface="Arial" pitchFamily="34" charset="-122"/>
                          <a:cs typeface="Arial" pitchFamily="34" charset="-120"/>
                        </a:rPr>
                        <a:t>Host</a:t>
                      </a:r>
                      <a:endParaRPr lang="en-US" sz="1100" dirty="0">
                        <a:latin typeface="Arial" charset="0"/>
                        <a:ea typeface="Arial" charset="0"/>
                        <a:cs typeface="Arial"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3E3E4B"/>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Processor and cores</a:t>
                      </a:r>
                      <a:endParaRPr lang="en-US" sz="1100" dirty="0">
                        <a:latin typeface="Arial" charset="0"/>
                        <a:ea typeface="Arial" charset="0"/>
                        <a:cs typeface="Arial"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3E3E4B"/>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Memory</a:t>
                      </a:r>
                      <a:endParaRPr lang="en-US" sz="1100" dirty="0">
                        <a:latin typeface="Arial" charset="0"/>
                        <a:ea typeface="Arial" charset="0"/>
                        <a:cs typeface="Arial"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3E3E4B"/>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vSAN</a:t>
                      </a:r>
                      <a:endParaRPr lang="en-US" sz="1100" dirty="0">
                        <a:latin typeface="Arial" charset="0"/>
                        <a:ea typeface="Arial" charset="0"/>
                        <a:cs typeface="Arial"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3E3E4B"/>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Local storage</a:t>
                      </a:r>
                      <a:endParaRPr lang="en-US" sz="1100" dirty="0">
                        <a:latin typeface="Arial" charset="0"/>
                        <a:ea typeface="Arial" charset="0"/>
                        <a:cs typeface="Arial"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3E3E4B"/>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Positioning</a:t>
                      </a:r>
                      <a:endParaRPr lang="en-US" sz="1100" dirty="0">
                        <a:latin typeface="Arial" charset="0"/>
                        <a:ea typeface="Arial" charset="0"/>
                        <a:cs typeface="Arial"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3E3E4B"/>
                    </a:solidFill>
                  </a:tcPr>
                </a:tc>
              </a:tr>
              <a:tr h="566928">
                <a:tc>
                  <a:txBody>
                    <a:bodyPr/>
                    <a:lstStyle/>
                    <a:p>
                      <a:pPr indent="0" marL="0">
                        <a:buNone/>
                      </a:pPr>
                      <a:r>
                        <a:rPr lang="en-US" sz="1050" b="1" dirty="0">
                          <a:solidFill>
                            <a:srgbClr val="3E3E4B"/>
                          </a:solidFill>
                          <a:latin typeface="Calibri" pitchFamily="34" charset="0"/>
                          <a:ea typeface="Calibri" pitchFamily="34" charset="-122"/>
                          <a:cs typeface="Calibri" pitchFamily="34" charset="-120"/>
                        </a:rPr>
                        <a:t>AV36</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050" dirty="0">
                          <a:solidFill>
                            <a:srgbClr val="3E3E4B"/>
                          </a:solidFill>
                          <a:latin typeface="Calibri" pitchFamily="34" charset="0"/>
                          <a:ea typeface="Calibri" pitchFamily="34" charset="-122"/>
                          <a:cs typeface="Calibri" pitchFamily="34" charset="-120"/>
                        </a:rPr>
                        <a:t>2x Xeon Gold 6140 (Skylake), 36 physical / 72 logical</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050" dirty="0">
                          <a:solidFill>
                            <a:srgbClr val="3E3E4B"/>
                          </a:solidFill>
                          <a:latin typeface="Calibri" pitchFamily="34" charset="0"/>
                          <a:ea typeface="Calibri" pitchFamily="34" charset="-122"/>
                          <a:cs typeface="Calibri" pitchFamily="34" charset="-120"/>
                        </a:rPr>
                        <a:t>576 GB</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050" dirty="0">
                          <a:solidFill>
                            <a:srgbClr val="3E3E4B"/>
                          </a:solidFill>
                          <a:latin typeface="Calibri" pitchFamily="34" charset="0"/>
                          <a:ea typeface="Calibri" pitchFamily="34" charset="-122"/>
                          <a:cs typeface="Calibri" pitchFamily="34" charset="-120"/>
                        </a:rPr>
                        <a:t>OSA</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050" dirty="0">
                          <a:solidFill>
                            <a:srgbClr val="3E3E4B"/>
                          </a:solidFill>
                          <a:latin typeface="Calibri" pitchFamily="34" charset="0"/>
                          <a:ea typeface="Calibri" pitchFamily="34" charset="-122"/>
                          <a:cs typeface="Calibri" pitchFamily="34" charset="-120"/>
                        </a:rPr>
                        <a:t>3.2 TB NVMe cache; 15.20 TB SSD capacity</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050" dirty="0">
                          <a:solidFill>
                            <a:srgbClr val="3E3E4B"/>
                          </a:solidFill>
                          <a:latin typeface="Calibri" pitchFamily="34" charset="0"/>
                          <a:ea typeface="Calibri" pitchFamily="34" charset="-122"/>
                          <a:cs typeface="Calibri" pitchFamily="34" charset="-120"/>
                        </a:rPr>
                        <a:t>Established general-purpose Gen 1 host</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3E3E4B"/>
                          </a:solidFill>
                          <a:latin typeface="Calibri" pitchFamily="34" charset="0"/>
                          <a:ea typeface="Calibri" pitchFamily="34" charset="-122"/>
                          <a:cs typeface="Calibri" pitchFamily="34" charset="-120"/>
                        </a:rPr>
                        <a:t>AV36P</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050" dirty="0">
                          <a:solidFill>
                            <a:srgbClr val="3E3E4B"/>
                          </a:solidFill>
                          <a:latin typeface="Calibri" pitchFamily="34" charset="0"/>
                          <a:ea typeface="Calibri" pitchFamily="34" charset="-122"/>
                          <a:cs typeface="Calibri" pitchFamily="34" charset="-120"/>
                        </a:rPr>
                        <a:t>2x Xeon Gold 6240 (Cascade Lake), 36 physical / 72 logical</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050" dirty="0">
                          <a:solidFill>
                            <a:srgbClr val="3E3E4B"/>
                          </a:solidFill>
                          <a:latin typeface="Calibri" pitchFamily="34" charset="0"/>
                          <a:ea typeface="Calibri" pitchFamily="34" charset="-122"/>
                          <a:cs typeface="Calibri" pitchFamily="34" charset="-120"/>
                        </a:rPr>
                        <a:t>768 GB</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050" dirty="0">
                          <a:solidFill>
                            <a:srgbClr val="3E3E4B"/>
                          </a:solidFill>
                          <a:latin typeface="Calibri" pitchFamily="34" charset="0"/>
                          <a:ea typeface="Calibri" pitchFamily="34" charset="-122"/>
                          <a:cs typeface="Calibri" pitchFamily="34" charset="-120"/>
                        </a:rPr>
                        <a:t>OSA</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050" dirty="0">
                          <a:solidFill>
                            <a:srgbClr val="3E3E4B"/>
                          </a:solidFill>
                          <a:latin typeface="Calibri" pitchFamily="34" charset="0"/>
                          <a:ea typeface="Calibri" pitchFamily="34" charset="-122"/>
                          <a:cs typeface="Calibri" pitchFamily="34" charset="-120"/>
                        </a:rPr>
                        <a:t>1.5 TB Intel cache; 19.20 TB NVMe capacity</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050" dirty="0">
                          <a:solidFill>
                            <a:srgbClr val="3E3E4B"/>
                          </a:solidFill>
                          <a:latin typeface="Calibri" pitchFamily="34" charset="0"/>
                          <a:ea typeface="Calibri" pitchFamily="34" charset="-122"/>
                          <a:cs typeface="Calibri" pitchFamily="34" charset="-120"/>
                        </a:rPr>
                        <a:t>Memory- and storage-oriented Gen 1 host</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r>
              <a:tr h="566928">
                <a:tc>
                  <a:txBody>
                    <a:bodyPr/>
                    <a:lstStyle/>
                    <a:p>
                      <a:pPr indent="0" marL="0">
                        <a:buNone/>
                      </a:pPr>
                      <a:r>
                        <a:rPr lang="en-US" sz="1050" b="1" dirty="0">
                          <a:solidFill>
                            <a:srgbClr val="3E3E4B"/>
                          </a:solidFill>
                          <a:latin typeface="Calibri" pitchFamily="34" charset="0"/>
                          <a:ea typeface="Calibri" pitchFamily="34" charset="-122"/>
                          <a:cs typeface="Calibri" pitchFamily="34" charset="-120"/>
                        </a:rPr>
                        <a:t>AV52</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050" dirty="0">
                          <a:solidFill>
                            <a:srgbClr val="3E3E4B"/>
                          </a:solidFill>
                          <a:latin typeface="Calibri" pitchFamily="34" charset="0"/>
                          <a:ea typeface="Calibri" pitchFamily="34" charset="-122"/>
                          <a:cs typeface="Calibri" pitchFamily="34" charset="-120"/>
                        </a:rPr>
                        <a:t>2x Xeon Platinum 8270 (Cascade Lake), 52 physical / 104 logical</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050" dirty="0">
                          <a:solidFill>
                            <a:srgbClr val="3E3E4B"/>
                          </a:solidFill>
                          <a:latin typeface="Calibri" pitchFamily="34" charset="0"/>
                          <a:ea typeface="Calibri" pitchFamily="34" charset="-122"/>
                          <a:cs typeface="Calibri" pitchFamily="34" charset="-120"/>
                        </a:rPr>
                        <a:t>1,536 GB</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050" dirty="0">
                          <a:solidFill>
                            <a:srgbClr val="3E3E4B"/>
                          </a:solidFill>
                          <a:latin typeface="Calibri" pitchFamily="34" charset="0"/>
                          <a:ea typeface="Calibri" pitchFamily="34" charset="-122"/>
                          <a:cs typeface="Calibri" pitchFamily="34" charset="-120"/>
                        </a:rPr>
                        <a:t>OSA</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050" dirty="0">
                          <a:solidFill>
                            <a:srgbClr val="3E3E4B"/>
                          </a:solidFill>
                          <a:latin typeface="Calibri" pitchFamily="34" charset="0"/>
                          <a:ea typeface="Calibri" pitchFamily="34" charset="-122"/>
                          <a:cs typeface="Calibri" pitchFamily="34" charset="-120"/>
                        </a:rPr>
                        <a:t>1.5 TB Intel cache; 38.40 TB NVMe capacity</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050" dirty="0">
                          <a:solidFill>
                            <a:srgbClr val="3E3E4B"/>
                          </a:solidFill>
                          <a:latin typeface="Calibri" pitchFamily="34" charset="0"/>
                          <a:ea typeface="Calibri" pitchFamily="34" charset="-122"/>
                          <a:cs typeface="Calibri" pitchFamily="34" charset="-120"/>
                        </a:rPr>
                        <a:t>Memory-intensive workloads</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3E3E4B"/>
                          </a:solidFill>
                          <a:latin typeface="Calibri" pitchFamily="34" charset="0"/>
                          <a:ea typeface="Calibri" pitchFamily="34" charset="-122"/>
                          <a:cs typeface="Calibri" pitchFamily="34" charset="-120"/>
                        </a:rPr>
                        <a:t>AV48</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050" dirty="0">
                          <a:solidFill>
                            <a:srgbClr val="3E3E4B"/>
                          </a:solidFill>
                          <a:latin typeface="Calibri" pitchFamily="34" charset="0"/>
                          <a:ea typeface="Calibri" pitchFamily="34" charset="-122"/>
                          <a:cs typeface="Calibri" pitchFamily="34" charset="-120"/>
                        </a:rPr>
                        <a:t>2x Xeon Gold 6442Y (Sapphire Rapids), 48 physical / 96 logical</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050" dirty="0">
                          <a:solidFill>
                            <a:srgbClr val="3E3E4B"/>
                          </a:solidFill>
                          <a:latin typeface="Calibri" pitchFamily="34" charset="0"/>
                          <a:ea typeface="Calibri" pitchFamily="34" charset="-122"/>
                          <a:cs typeface="Calibri" pitchFamily="34" charset="-120"/>
                        </a:rPr>
                        <a:t>1,024 GB</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050" dirty="0">
                          <a:solidFill>
                            <a:srgbClr val="3E3E4B"/>
                          </a:solidFill>
                          <a:latin typeface="Calibri" pitchFamily="34" charset="0"/>
                          <a:ea typeface="Calibri" pitchFamily="34" charset="-122"/>
                          <a:cs typeface="Calibri" pitchFamily="34" charset="-120"/>
                        </a:rPr>
                        <a:t>ESA</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050" dirty="0">
                          <a:solidFill>
                            <a:srgbClr val="3E3E4B"/>
                          </a:solidFill>
                          <a:latin typeface="Calibri" pitchFamily="34" charset="0"/>
                          <a:ea typeface="Calibri" pitchFamily="34" charset="-122"/>
                          <a:cs typeface="Calibri" pitchFamily="34" charset="-120"/>
                        </a:rPr>
                        <a:t>No dedicated cache tier; 25.6 TB NVMe capacity</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050" dirty="0">
                          <a:solidFill>
                            <a:srgbClr val="3E3E4B"/>
                          </a:solidFill>
                          <a:latin typeface="Calibri" pitchFamily="34" charset="0"/>
                          <a:ea typeface="Calibri" pitchFamily="34" charset="-122"/>
                          <a:cs typeface="Calibri" pitchFamily="34" charset="-120"/>
                        </a:rPr>
                        <a:t>Newer Gen 1 ESA platform</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r>
              <a:tr h="566928">
                <a:tc>
                  <a:txBody>
                    <a:bodyPr/>
                    <a:lstStyle/>
                    <a:p>
                      <a:pPr indent="0" marL="0">
                        <a:buNone/>
                      </a:pPr>
                      <a:r>
                        <a:rPr lang="en-US" sz="1050" b="1" dirty="0">
                          <a:solidFill>
                            <a:srgbClr val="3E3E4B"/>
                          </a:solidFill>
                          <a:latin typeface="Calibri" pitchFamily="34" charset="0"/>
                          <a:ea typeface="Calibri" pitchFamily="34" charset="-122"/>
                          <a:cs typeface="Calibri" pitchFamily="34" charset="-120"/>
                        </a:rPr>
                        <a:t>AV64</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050" dirty="0">
                          <a:solidFill>
                            <a:srgbClr val="3E3E4B"/>
                          </a:solidFill>
                          <a:latin typeface="Calibri" pitchFamily="34" charset="0"/>
                          <a:ea typeface="Calibri" pitchFamily="34" charset="-122"/>
                          <a:cs typeface="Calibri" pitchFamily="34" charset="-120"/>
                        </a:rPr>
                        <a:t>2x Xeon Platinum 8370C (Ice Lake), 64 physical / 128 logical</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050" dirty="0">
                          <a:solidFill>
                            <a:srgbClr val="3E3E4B"/>
                          </a:solidFill>
                          <a:latin typeface="Calibri" pitchFamily="34" charset="0"/>
                          <a:ea typeface="Calibri" pitchFamily="34" charset="-122"/>
                          <a:cs typeface="Calibri" pitchFamily="34" charset="-120"/>
                        </a:rPr>
                        <a:t>1,024 GB</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050" dirty="0">
                          <a:solidFill>
                            <a:srgbClr val="3E3E4B"/>
                          </a:solidFill>
                          <a:latin typeface="Calibri" pitchFamily="34" charset="0"/>
                          <a:ea typeface="Calibri" pitchFamily="34" charset="-122"/>
                          <a:cs typeface="Calibri" pitchFamily="34" charset="-120"/>
                        </a:rPr>
                        <a:t>OSA (Gen 1 expansion) / ESA (Gen 2)</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050" dirty="0">
                          <a:solidFill>
                            <a:srgbClr val="3E3E4B"/>
                          </a:solidFill>
                          <a:latin typeface="Calibri" pitchFamily="34" charset="0"/>
                          <a:ea typeface="Calibri" pitchFamily="34" charset="-122"/>
                          <a:cs typeface="Calibri" pitchFamily="34" charset="-120"/>
                        </a:rPr>
                        <a:t>3.84 TB cache + 15.36 TB (OSA); 19.25 TB (ESA)</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050" dirty="0">
                          <a:solidFill>
                            <a:srgbClr val="3E3E4B"/>
                          </a:solidFill>
                          <a:latin typeface="Calibri" pitchFamily="34" charset="0"/>
                          <a:ea typeface="Calibri" pitchFamily="34" charset="-122"/>
                          <a:cs typeface="Calibri" pitchFamily="34" charset="-120"/>
                        </a:rPr>
                        <a:t>Generation 2 compute and storage platform</a:t>
                      </a:r>
                      <a:endParaRPr lang="en-US" sz="10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074920"/>
            <a:ext cx="11091672" cy="566928"/>
          </a:xfrm>
          <a:prstGeom prst="roundRect">
            <a:avLst>
              <a:gd name="adj" fmla="val 14516"/>
            </a:avLst>
          </a:prstGeom>
          <a:solidFill>
            <a:srgbClr val="E5F7FC"/>
          </a:solidFill>
          <a:ln/>
        </p:spPr>
      </p:sp>
      <p:sp>
        <p:nvSpPr>
          <p:cNvPr id="6" name="Text 3"/>
          <p:cNvSpPr/>
          <p:nvPr/>
        </p:nvSpPr>
        <p:spPr>
          <a:xfrm>
            <a:off x="777240" y="5074920"/>
            <a:ext cx="10634472" cy="566928"/>
          </a:xfrm>
          <a:prstGeom prst="rect">
            <a:avLst/>
          </a:prstGeom>
          <a:noFill/>
          <a:ln/>
        </p:spPr>
        <p:txBody>
          <a:bodyPr wrap="square" lIns="0" tIns="0" rIns="0" bIns="0" rtlCol="0" anchor="ctr"/>
          <a:lstStyle/>
          <a:p>
            <a:pPr indent="0" marL="0">
              <a:buNone/>
            </a:pPr>
            <a:r>
              <a:rPr lang="en-US" sz="1200" dirty="0">
                <a:solidFill>
                  <a:srgbClr val="3E3E4B"/>
                </a:solidFill>
                <a:latin typeface="Calibri" pitchFamily="34" charset="0"/>
                <a:ea typeface="Calibri" pitchFamily="34" charset="-122"/>
                <a:cs typeface="Calibri" pitchFamily="34" charset="-120"/>
              </a:rPr>
              <a:t>Microsoft documents 100-Gbps network-interface throughput for all listed AVS host types.</a:t>
            </a:r>
            <a:endParaRPr lang="en-US" sz="1200" dirty="0"/>
          </a:p>
        </p:txBody>
      </p:sp>
      <p:sp>
        <p:nvSpPr>
          <p:cNvPr id="7" name="Shape 4"/>
          <p:cNvSpPr/>
          <p:nvPr/>
        </p:nvSpPr>
        <p:spPr>
          <a:xfrm>
            <a:off x="548640" y="5779008"/>
            <a:ext cx="11091672" cy="502920"/>
          </a:xfrm>
          <a:prstGeom prst="roundRect">
            <a:avLst>
              <a:gd name="adj" fmla="val 16364"/>
            </a:avLst>
          </a:prstGeom>
          <a:solidFill>
            <a:srgbClr val="FAC458"/>
          </a:solidFill>
          <a:ln/>
        </p:spPr>
      </p:sp>
      <p:sp>
        <p:nvSpPr>
          <p:cNvPr id="8" name="Text 5"/>
          <p:cNvSpPr/>
          <p:nvPr/>
        </p:nvSpPr>
        <p:spPr>
          <a:xfrm>
            <a:off x="777240" y="5779008"/>
            <a:ext cx="10634472" cy="502920"/>
          </a:xfrm>
          <a:prstGeom prst="rect">
            <a:avLst/>
          </a:prstGeom>
          <a:noFill/>
          <a:ln/>
        </p:spPr>
        <p:txBody>
          <a:bodyPr wrap="square" lIns="0" tIns="0" rIns="0" bIns="0" rtlCol="0" anchor="ctr"/>
          <a:lstStyle/>
          <a:p>
            <a:pPr indent="0" marL="0">
              <a:buNone/>
            </a:pPr>
            <a:r>
              <a:rPr lang="en-US" sz="1100" b="1" dirty="0">
                <a:solidFill>
                  <a:srgbClr val="3E3E4B"/>
                </a:solidFill>
                <a:latin typeface="Arial" pitchFamily="34" charset="0"/>
                <a:ea typeface="Arial" pitchFamily="34" charset="-122"/>
                <a:cs typeface="Arial" pitchFamily="34" charset="-120"/>
              </a:rPr>
              <a:t>Validate:  </a:t>
            </a:r>
            <a:pPr indent="0" marL="0">
              <a:buNone/>
            </a:pPr>
            <a:r>
              <a:rPr lang="en-US" sz="1150" dirty="0">
                <a:solidFill>
                  <a:srgbClr val="3E3E4B"/>
                </a:solidFill>
                <a:latin typeface="Calibri" pitchFamily="34" charset="0"/>
                <a:ea typeface="Calibri" pitchFamily="34" charset="-122"/>
                <a:cs typeface="Calibri" pitchFamily="34" charset="-120"/>
              </a:rPr>
              <a:t>Specifications, regional availability, and generation assignments change over time. Confirm all host-profile values before procurement.</a:t>
            </a:r>
            <a:endParaRPr lang="en-US" sz="1100" dirty="0"/>
          </a:p>
        </p:txBody>
      </p:sp>
      <p:sp>
        <p:nvSpPr>
          <p:cNvPr id="9" name="Text 6"/>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3. Hardware profiles and compute characteristics</a:t>
            </a:r>
            <a:endParaRPr lang="en-US" sz="950" dirty="0"/>
          </a:p>
        </p:txBody>
      </p:sp>
      <p:sp>
        <p:nvSpPr>
          <p:cNvPr id="10" name="Text 7"/>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3.3 AV64</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The Generation 2 host at a glance</a:t>
            </a:r>
            <a:endParaRPr lang="en-US" sz="2800" dirty="0"/>
          </a:p>
        </p:txBody>
      </p:sp>
      <p:sp>
        <p:nvSpPr>
          <p:cNvPr id="4" name="Shape 2"/>
          <p:cNvSpPr/>
          <p:nvPr/>
        </p:nvSpPr>
        <p:spPr>
          <a:xfrm>
            <a:off x="548640" y="1325880"/>
            <a:ext cx="2608326" cy="1371600"/>
          </a:xfrm>
          <a:prstGeom prst="roundRect">
            <a:avLst>
              <a:gd name="adj" fmla="val 6000"/>
            </a:avLst>
          </a:prstGeom>
          <a:solidFill>
            <a:srgbClr val="E5F7FC"/>
          </a:solidFill>
          <a:ln/>
        </p:spPr>
      </p:sp>
      <p:sp>
        <p:nvSpPr>
          <p:cNvPr id="5" name="Text 3"/>
          <p:cNvSpPr/>
          <p:nvPr/>
        </p:nvSpPr>
        <p:spPr>
          <a:xfrm>
            <a:off x="658368" y="1490472"/>
            <a:ext cx="2388870" cy="658368"/>
          </a:xfrm>
          <a:prstGeom prst="rect">
            <a:avLst/>
          </a:prstGeom>
          <a:noFill/>
          <a:ln/>
        </p:spPr>
        <p:txBody>
          <a:bodyPr wrap="square" lIns="0" tIns="0" rIns="0" bIns="0" rtlCol="0" anchor="ctr"/>
          <a:lstStyle/>
          <a:p>
            <a:pPr algn="ctr" indent="0" marL="0">
              <a:buNone/>
            </a:pPr>
            <a:r>
              <a:rPr lang="en-US" sz="3400" b="1" dirty="0">
                <a:solidFill>
                  <a:srgbClr val="00B3E2"/>
                </a:solidFill>
                <a:latin typeface="Arial" pitchFamily="34" charset="0"/>
                <a:ea typeface="Arial" pitchFamily="34" charset="-122"/>
                <a:cs typeface="Arial" pitchFamily="34" charset="-120"/>
              </a:rPr>
              <a:t>64</a:t>
            </a:r>
            <a:endParaRPr lang="en-US" sz="3400" dirty="0"/>
          </a:p>
        </p:txBody>
      </p:sp>
      <p:sp>
        <p:nvSpPr>
          <p:cNvPr id="6" name="Text 4"/>
          <p:cNvSpPr/>
          <p:nvPr/>
        </p:nvSpPr>
        <p:spPr>
          <a:xfrm>
            <a:off x="658368" y="2148840"/>
            <a:ext cx="2388870" cy="438912"/>
          </a:xfrm>
          <a:prstGeom prst="rect">
            <a:avLst/>
          </a:prstGeom>
          <a:noFill/>
          <a:ln/>
        </p:spPr>
        <p:txBody>
          <a:bodyPr wrap="square" lIns="0" tIns="0" rIns="0" bIns="0" rtlCol="0" anchor="t"/>
          <a:lstStyle/>
          <a:p>
            <a:pPr algn="ctr" indent="0" marL="0">
              <a:buNone/>
            </a:pPr>
            <a:r>
              <a:rPr lang="en-US" sz="1150" dirty="0">
                <a:solidFill>
                  <a:srgbClr val="3E3E4B"/>
                </a:solidFill>
                <a:latin typeface="Calibri" pitchFamily="34" charset="0"/>
                <a:ea typeface="Calibri" pitchFamily="34" charset="-122"/>
                <a:cs typeface="Calibri" pitchFamily="34" charset="-120"/>
              </a:rPr>
              <a:t>Physical cores per node</a:t>
            </a:r>
            <a:endParaRPr lang="en-US" sz="1150" dirty="0"/>
          </a:p>
          <a:p>
            <a:pPr algn="ctr" indent="0" marL="0">
              <a:buNone/>
            </a:pPr>
            <a:r>
              <a:rPr lang="en-US" sz="1150" dirty="0">
                <a:solidFill>
                  <a:srgbClr val="3E3E4B"/>
                </a:solidFill>
                <a:latin typeface="Calibri" pitchFamily="34" charset="0"/>
                <a:ea typeface="Calibri" pitchFamily="34" charset="-122"/>
                <a:cs typeface="Calibri" pitchFamily="34" charset="-120"/>
              </a:rPr>
              <a:t>(128 logical with hyper-threading)</a:t>
            </a:r>
            <a:endParaRPr lang="en-US" sz="1150" dirty="0"/>
          </a:p>
        </p:txBody>
      </p:sp>
      <p:sp>
        <p:nvSpPr>
          <p:cNvPr id="7" name="Shape 5"/>
          <p:cNvSpPr/>
          <p:nvPr/>
        </p:nvSpPr>
        <p:spPr>
          <a:xfrm>
            <a:off x="3376422" y="1325880"/>
            <a:ext cx="2608326" cy="1371600"/>
          </a:xfrm>
          <a:prstGeom prst="roundRect">
            <a:avLst>
              <a:gd name="adj" fmla="val 6000"/>
            </a:avLst>
          </a:prstGeom>
          <a:solidFill>
            <a:srgbClr val="E5F7FC"/>
          </a:solidFill>
          <a:ln/>
        </p:spPr>
      </p:sp>
      <p:sp>
        <p:nvSpPr>
          <p:cNvPr id="8" name="Text 6"/>
          <p:cNvSpPr/>
          <p:nvPr/>
        </p:nvSpPr>
        <p:spPr>
          <a:xfrm>
            <a:off x="3486150" y="1490472"/>
            <a:ext cx="2388870" cy="658368"/>
          </a:xfrm>
          <a:prstGeom prst="rect">
            <a:avLst/>
          </a:prstGeom>
          <a:noFill/>
          <a:ln/>
        </p:spPr>
        <p:txBody>
          <a:bodyPr wrap="square" lIns="0" tIns="0" rIns="0" bIns="0" rtlCol="0" anchor="ctr"/>
          <a:lstStyle/>
          <a:p>
            <a:pPr algn="ctr" indent="0" marL="0">
              <a:buNone/>
            </a:pPr>
            <a:r>
              <a:rPr lang="en-US" sz="3400" b="1" dirty="0">
                <a:solidFill>
                  <a:srgbClr val="00B3E2"/>
                </a:solidFill>
                <a:latin typeface="Arial" pitchFamily="34" charset="0"/>
                <a:ea typeface="Arial" pitchFamily="34" charset="-122"/>
                <a:cs typeface="Arial" pitchFamily="34" charset="-120"/>
              </a:rPr>
              <a:t>1 TB</a:t>
            </a:r>
            <a:endParaRPr lang="en-US" sz="3400" dirty="0"/>
          </a:p>
        </p:txBody>
      </p:sp>
      <p:sp>
        <p:nvSpPr>
          <p:cNvPr id="9" name="Text 7"/>
          <p:cNvSpPr/>
          <p:nvPr/>
        </p:nvSpPr>
        <p:spPr>
          <a:xfrm>
            <a:off x="3486150" y="2148840"/>
            <a:ext cx="2388870" cy="438912"/>
          </a:xfrm>
          <a:prstGeom prst="rect">
            <a:avLst/>
          </a:prstGeom>
          <a:noFill/>
          <a:ln/>
        </p:spPr>
        <p:txBody>
          <a:bodyPr wrap="square" lIns="0" tIns="0" rIns="0" bIns="0" rtlCol="0" anchor="t"/>
          <a:lstStyle/>
          <a:p>
            <a:pPr algn="ctr" indent="0" marL="0">
              <a:buNone/>
            </a:pPr>
            <a:r>
              <a:rPr lang="en-US" sz="1150" dirty="0">
                <a:solidFill>
                  <a:srgbClr val="3E3E4B"/>
                </a:solidFill>
                <a:latin typeface="Calibri" pitchFamily="34" charset="0"/>
                <a:ea typeface="Calibri" pitchFamily="34" charset="-122"/>
                <a:cs typeface="Calibri" pitchFamily="34" charset="-120"/>
              </a:rPr>
              <a:t>RAM per node</a:t>
            </a:r>
            <a:endParaRPr lang="en-US" sz="1150" dirty="0"/>
          </a:p>
        </p:txBody>
      </p:sp>
      <p:sp>
        <p:nvSpPr>
          <p:cNvPr id="10" name="Shape 8"/>
          <p:cNvSpPr/>
          <p:nvPr/>
        </p:nvSpPr>
        <p:spPr>
          <a:xfrm>
            <a:off x="6204204" y="1325880"/>
            <a:ext cx="2608326" cy="1371600"/>
          </a:xfrm>
          <a:prstGeom prst="roundRect">
            <a:avLst>
              <a:gd name="adj" fmla="val 6000"/>
            </a:avLst>
          </a:prstGeom>
          <a:solidFill>
            <a:srgbClr val="E5F7FC"/>
          </a:solidFill>
          <a:ln/>
        </p:spPr>
      </p:sp>
      <p:sp>
        <p:nvSpPr>
          <p:cNvPr id="11" name="Text 9"/>
          <p:cNvSpPr/>
          <p:nvPr/>
        </p:nvSpPr>
        <p:spPr>
          <a:xfrm>
            <a:off x="6313932" y="1490472"/>
            <a:ext cx="2388870" cy="658368"/>
          </a:xfrm>
          <a:prstGeom prst="rect">
            <a:avLst/>
          </a:prstGeom>
          <a:noFill/>
          <a:ln/>
        </p:spPr>
        <p:txBody>
          <a:bodyPr wrap="square" lIns="0" tIns="0" rIns="0" bIns="0" rtlCol="0" anchor="ctr"/>
          <a:lstStyle/>
          <a:p>
            <a:pPr algn="ctr" indent="0" marL="0">
              <a:buNone/>
            </a:pPr>
            <a:r>
              <a:rPr lang="en-US" sz="3400" b="1" dirty="0">
                <a:solidFill>
                  <a:srgbClr val="00B3E2"/>
                </a:solidFill>
                <a:latin typeface="Arial" pitchFamily="34" charset="0"/>
                <a:ea typeface="Arial" pitchFamily="34" charset="-122"/>
                <a:cs typeface="Arial" pitchFamily="34" charset="-120"/>
              </a:rPr>
              <a:t>19.25 TB</a:t>
            </a:r>
            <a:endParaRPr lang="en-US" sz="3400" dirty="0"/>
          </a:p>
        </p:txBody>
      </p:sp>
      <p:sp>
        <p:nvSpPr>
          <p:cNvPr id="12" name="Text 10"/>
          <p:cNvSpPr/>
          <p:nvPr/>
        </p:nvSpPr>
        <p:spPr>
          <a:xfrm>
            <a:off x="6313932" y="2148840"/>
            <a:ext cx="2388870" cy="438912"/>
          </a:xfrm>
          <a:prstGeom prst="rect">
            <a:avLst/>
          </a:prstGeom>
          <a:noFill/>
          <a:ln/>
        </p:spPr>
        <p:txBody>
          <a:bodyPr wrap="square" lIns="0" tIns="0" rIns="0" bIns="0" rtlCol="0" anchor="t"/>
          <a:lstStyle/>
          <a:p>
            <a:pPr algn="ctr" indent="0" marL="0">
              <a:buNone/>
            </a:pPr>
            <a:r>
              <a:rPr lang="en-US" sz="1150" dirty="0">
                <a:solidFill>
                  <a:srgbClr val="3E3E4B"/>
                </a:solidFill>
                <a:latin typeface="Calibri" pitchFamily="34" charset="0"/>
                <a:ea typeface="Calibri" pitchFamily="34" charset="-122"/>
                <a:cs typeface="Calibri" pitchFamily="34" charset="-120"/>
              </a:rPr>
              <a:t>NVMe capacity, Gen 2 ESA</a:t>
            </a:r>
            <a:endParaRPr lang="en-US" sz="1150" dirty="0"/>
          </a:p>
          <a:p>
            <a:pPr algn="ctr" indent="0" marL="0">
              <a:buNone/>
            </a:pPr>
            <a:r>
              <a:rPr lang="en-US" sz="1150" dirty="0">
                <a:solidFill>
                  <a:srgbClr val="3E3E4B"/>
                </a:solidFill>
                <a:latin typeface="Calibri" pitchFamily="34" charset="0"/>
                <a:ea typeface="Calibri" pitchFamily="34" charset="-122"/>
                <a:cs typeface="Calibri" pitchFamily="34" charset="-120"/>
              </a:rPr>
              <a:t>(no separate cache tier)</a:t>
            </a:r>
            <a:endParaRPr lang="en-US" sz="1150" dirty="0"/>
          </a:p>
        </p:txBody>
      </p:sp>
      <p:sp>
        <p:nvSpPr>
          <p:cNvPr id="13" name="Shape 11"/>
          <p:cNvSpPr/>
          <p:nvPr/>
        </p:nvSpPr>
        <p:spPr>
          <a:xfrm>
            <a:off x="9031986" y="1325880"/>
            <a:ext cx="2608326" cy="1371600"/>
          </a:xfrm>
          <a:prstGeom prst="roundRect">
            <a:avLst>
              <a:gd name="adj" fmla="val 6000"/>
            </a:avLst>
          </a:prstGeom>
          <a:solidFill>
            <a:srgbClr val="E5F7FC"/>
          </a:solidFill>
          <a:ln/>
        </p:spPr>
      </p:sp>
      <p:sp>
        <p:nvSpPr>
          <p:cNvPr id="14" name="Text 12"/>
          <p:cNvSpPr/>
          <p:nvPr/>
        </p:nvSpPr>
        <p:spPr>
          <a:xfrm>
            <a:off x="9141714" y="1490472"/>
            <a:ext cx="2388870" cy="658368"/>
          </a:xfrm>
          <a:prstGeom prst="rect">
            <a:avLst/>
          </a:prstGeom>
          <a:noFill/>
          <a:ln/>
        </p:spPr>
        <p:txBody>
          <a:bodyPr wrap="square" lIns="0" tIns="0" rIns="0" bIns="0" rtlCol="0" anchor="ctr"/>
          <a:lstStyle/>
          <a:p>
            <a:pPr algn="ctr" indent="0" marL="0">
              <a:buNone/>
            </a:pPr>
            <a:r>
              <a:rPr lang="en-US" sz="3400" b="1" dirty="0">
                <a:solidFill>
                  <a:srgbClr val="00B3E2"/>
                </a:solidFill>
                <a:latin typeface="Arial" pitchFamily="34" charset="0"/>
                <a:ea typeface="Arial" pitchFamily="34" charset="-122"/>
                <a:cs typeface="Arial" pitchFamily="34" charset="-120"/>
              </a:rPr>
              <a:t>100 Gbps</a:t>
            </a:r>
            <a:endParaRPr lang="en-US" sz="3400" dirty="0"/>
          </a:p>
        </p:txBody>
      </p:sp>
      <p:sp>
        <p:nvSpPr>
          <p:cNvPr id="15" name="Text 13"/>
          <p:cNvSpPr/>
          <p:nvPr/>
        </p:nvSpPr>
        <p:spPr>
          <a:xfrm>
            <a:off x="9141714" y="2148840"/>
            <a:ext cx="2388870" cy="438912"/>
          </a:xfrm>
          <a:prstGeom prst="rect">
            <a:avLst/>
          </a:prstGeom>
          <a:noFill/>
          <a:ln/>
        </p:spPr>
        <p:txBody>
          <a:bodyPr wrap="square" lIns="0" tIns="0" rIns="0" bIns="0" rtlCol="0" anchor="t"/>
          <a:lstStyle/>
          <a:p>
            <a:pPr algn="ctr" indent="0" marL="0">
              <a:buNone/>
            </a:pPr>
            <a:r>
              <a:rPr lang="en-US" sz="1150" dirty="0">
                <a:solidFill>
                  <a:srgbClr val="3E3E4B"/>
                </a:solidFill>
                <a:latin typeface="Calibri" pitchFamily="34" charset="0"/>
                <a:ea typeface="Calibri" pitchFamily="34" charset="-122"/>
                <a:cs typeface="Calibri" pitchFamily="34" charset="-120"/>
              </a:rPr>
              <a:t>Network-interface throughput</a:t>
            </a:r>
            <a:endParaRPr lang="en-US" sz="1150" dirty="0"/>
          </a:p>
        </p:txBody>
      </p:sp>
      <p:sp>
        <p:nvSpPr>
          <p:cNvPr id="16" name="Shape 14"/>
          <p:cNvSpPr/>
          <p:nvPr/>
        </p:nvSpPr>
        <p:spPr>
          <a:xfrm>
            <a:off x="548640" y="2926080"/>
            <a:ext cx="11091672" cy="1417320"/>
          </a:xfrm>
          <a:prstGeom prst="roundRect">
            <a:avLst>
              <a:gd name="adj" fmla="val 5806"/>
            </a:avLst>
          </a:prstGeom>
          <a:solidFill>
            <a:srgbClr val="EBEDED"/>
          </a:solidFill>
          <a:ln/>
        </p:spPr>
      </p:sp>
      <p:sp>
        <p:nvSpPr>
          <p:cNvPr id="17" name="Text 15"/>
          <p:cNvSpPr/>
          <p:nvPr/>
        </p:nvSpPr>
        <p:spPr>
          <a:xfrm>
            <a:off x="804672" y="3063240"/>
            <a:ext cx="5486400"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Processor and storage detail</a:t>
            </a:r>
            <a:endParaRPr lang="en-US" sz="1400" dirty="0"/>
          </a:p>
        </p:txBody>
      </p:sp>
      <p:sp>
        <p:nvSpPr>
          <p:cNvPr id="18" name="Text 16"/>
          <p:cNvSpPr/>
          <p:nvPr/>
        </p:nvSpPr>
        <p:spPr>
          <a:xfrm>
            <a:off x="804672" y="3456432"/>
            <a:ext cx="10579608" cy="822960"/>
          </a:xfrm>
          <a:prstGeom prst="rect">
            <a:avLst/>
          </a:prstGeom>
          <a:noFill/>
          <a:ln/>
        </p:spPr>
        <p:txBody>
          <a:bodyPr wrap="square" lIns="0" tIns="0" rIns="0" bIns="0" rtlCol="0" anchor="t"/>
          <a:lstStyle/>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Dual Intel Xeon Platinum 8370C processors based on the Ice Lake architecture.</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Two documented storage layouts: 15.36 TB NVMe capacity with a 3.84 TB NVMe cache for OSA, and 19.25 TB NVMe capacity with no separate cache tier for Gen 2 ESA.</a:t>
            </a:r>
            <a:endParaRPr lang="en-US" sz="1250" dirty="0"/>
          </a:p>
        </p:txBody>
      </p:sp>
      <p:sp>
        <p:nvSpPr>
          <p:cNvPr id="19" name="Shape 17"/>
          <p:cNvSpPr/>
          <p:nvPr/>
        </p:nvSpPr>
        <p:spPr>
          <a:xfrm>
            <a:off x="548640" y="4526280"/>
            <a:ext cx="11091672" cy="1600200"/>
          </a:xfrm>
          <a:prstGeom prst="roundRect">
            <a:avLst>
              <a:gd name="adj" fmla="val 5143"/>
            </a:avLst>
          </a:prstGeom>
          <a:solidFill>
            <a:srgbClr val="E5F7FC"/>
          </a:solidFill>
          <a:ln/>
        </p:spPr>
      </p:sp>
      <p:sp>
        <p:nvSpPr>
          <p:cNvPr id="20" name="Text 18"/>
          <p:cNvSpPr/>
          <p:nvPr/>
        </p:nvSpPr>
        <p:spPr>
          <a:xfrm>
            <a:off x="804672" y="4663440"/>
            <a:ext cx="7315200"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Generation dependency: the commercial consequence</a:t>
            </a:r>
            <a:endParaRPr lang="en-US" sz="1400" dirty="0"/>
          </a:p>
        </p:txBody>
      </p:sp>
      <p:sp>
        <p:nvSpPr>
          <p:cNvPr id="21" name="Text 19"/>
          <p:cNvSpPr/>
          <p:nvPr/>
        </p:nvSpPr>
        <p:spPr>
          <a:xfrm>
            <a:off x="804672" y="5047488"/>
            <a:ext cx="10579608" cy="1005840"/>
          </a:xfrm>
          <a:prstGeom prst="rect">
            <a:avLst/>
          </a:prstGeom>
          <a:noFill/>
          <a:ln/>
        </p:spPr>
        <p:txBody>
          <a:bodyPr wrap="square" lIns="0" tIns="0" rIns="0" bIns="0" rtlCol="0" anchor="t"/>
          <a:lstStyle/>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Microsoft documents Gen 2 private clouds as using the AV64 SKU and a virtual-network attachment model.</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Generation 2 networking cannot be applied to an AV36 or other lower-cost Generation 1 node.</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An organization must purchase AV64 capacity even when its workloads do not need the full processor, memory, storage, or network capability.</a:t>
            </a:r>
            <a:endParaRPr lang="en-US" sz="1250" dirty="0"/>
          </a:p>
        </p:txBody>
      </p:sp>
      <p:sp>
        <p:nvSpPr>
          <p:cNvPr id="22" name="Text 20"/>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3.3 AV64 Generation 2 host</a:t>
            </a:r>
            <a:endParaRPr lang="en-US" sz="950" dirty="0"/>
          </a:p>
        </p:txBody>
      </p:sp>
      <p:sp>
        <p:nvSpPr>
          <p:cNvPr id="23" name="Text 21"/>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3.4 WORKLOAD FIT</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Where AV64 earns its cost, and where it does not</a:t>
            </a:r>
            <a:endParaRPr lang="en-US" sz="2800" dirty="0"/>
          </a:p>
        </p:txBody>
      </p:sp>
      <p:sp>
        <p:nvSpPr>
          <p:cNvPr id="4" name="Shape 2"/>
          <p:cNvSpPr/>
          <p:nvPr/>
        </p:nvSpPr>
        <p:spPr>
          <a:xfrm>
            <a:off x="548640" y="1325880"/>
            <a:ext cx="5408676" cy="2926080"/>
          </a:xfrm>
          <a:prstGeom prst="roundRect">
            <a:avLst>
              <a:gd name="adj" fmla="val 2813"/>
            </a:avLst>
          </a:prstGeom>
          <a:solidFill>
            <a:srgbClr val="E2F2E8"/>
          </a:solidFill>
          <a:ln/>
        </p:spPr>
      </p:sp>
      <p:sp>
        <p:nvSpPr>
          <p:cNvPr id="5" name="Shape 3"/>
          <p:cNvSpPr/>
          <p:nvPr/>
        </p:nvSpPr>
        <p:spPr>
          <a:xfrm>
            <a:off x="804672" y="1536192"/>
            <a:ext cx="329184" cy="329184"/>
          </a:xfrm>
          <a:prstGeom prst="ellipse">
            <a:avLst/>
          </a:prstGeom>
          <a:solidFill>
            <a:srgbClr val="00AD93"/>
          </a:solidFill>
          <a:ln/>
        </p:spPr>
      </p:sp>
      <p:sp>
        <p:nvSpPr>
          <p:cNvPr id="6" name="Text 4"/>
          <p:cNvSpPr/>
          <p:nvPr/>
        </p:nvSpPr>
        <p:spPr>
          <a:xfrm>
            <a:off x="804672" y="1536192"/>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7" name="Text 5"/>
          <p:cNvSpPr/>
          <p:nvPr/>
        </p:nvSpPr>
        <p:spPr>
          <a:xfrm>
            <a:off x="1261872" y="1554480"/>
            <a:ext cx="4494276" cy="274320"/>
          </a:xfrm>
          <a:prstGeom prst="rect">
            <a:avLst/>
          </a:prstGeom>
          <a:noFill/>
          <a:ln/>
        </p:spPr>
        <p:txBody>
          <a:bodyPr wrap="square" lIns="0" tIns="0" rIns="0" bIns="0" rtlCol="0" anchor="ctr"/>
          <a:lstStyle/>
          <a:p>
            <a:pPr indent="0" marL="0">
              <a:buNone/>
            </a:pPr>
            <a:r>
              <a:rPr lang="en-US" sz="1500" b="1" dirty="0">
                <a:solidFill>
                  <a:srgbClr val="3E3E4B"/>
                </a:solidFill>
                <a:latin typeface="Arial" pitchFamily="34" charset="0"/>
                <a:ea typeface="Arial" pitchFamily="34" charset="-122"/>
                <a:cs typeface="Arial" pitchFamily="34" charset="-120"/>
              </a:rPr>
              <a:t>Strong AV64 candidates</a:t>
            </a:r>
            <a:endParaRPr lang="en-US" sz="1500" dirty="0"/>
          </a:p>
        </p:txBody>
      </p:sp>
      <p:sp>
        <p:nvSpPr>
          <p:cNvPr id="8" name="Text 6"/>
          <p:cNvSpPr/>
          <p:nvPr/>
        </p:nvSpPr>
        <p:spPr>
          <a:xfrm>
            <a:off x="804672" y="2057400"/>
            <a:ext cx="4896612" cy="2011680"/>
          </a:xfrm>
          <a:prstGeom prst="rect">
            <a:avLst/>
          </a:prstGeom>
          <a:noFill/>
          <a:ln/>
        </p:spPr>
        <p:txBody>
          <a:bodyPr wrap="square" lIns="0" tIns="0" rIns="0" bIns="0" rtlCol="0" anchor="t"/>
          <a:lstStyle/>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Highly transactional SQL databases.</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Latency-sensitive trading or analytics platforms.</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Applications with large east-west traffic volumes.</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Large virtual desktop infrastructure deployments.</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Workloads with sustained high storage I/O requirements.</a:t>
            </a:r>
            <a:endParaRPr lang="en-US" sz="1250" dirty="0"/>
          </a:p>
        </p:txBody>
      </p:sp>
      <p:sp>
        <p:nvSpPr>
          <p:cNvPr id="9" name="Shape 7"/>
          <p:cNvSpPr/>
          <p:nvPr/>
        </p:nvSpPr>
        <p:spPr>
          <a:xfrm>
            <a:off x="6231636" y="1325880"/>
            <a:ext cx="5408676" cy="2926080"/>
          </a:xfrm>
          <a:prstGeom prst="roundRect">
            <a:avLst>
              <a:gd name="adj" fmla="val 2813"/>
            </a:avLst>
          </a:prstGeom>
          <a:solidFill>
            <a:srgbClr val="EBEDED"/>
          </a:solidFill>
          <a:ln/>
        </p:spPr>
      </p:sp>
      <p:sp>
        <p:nvSpPr>
          <p:cNvPr id="10" name="Shape 8"/>
          <p:cNvSpPr/>
          <p:nvPr/>
        </p:nvSpPr>
        <p:spPr>
          <a:xfrm>
            <a:off x="6487668" y="1536192"/>
            <a:ext cx="329184" cy="329184"/>
          </a:xfrm>
          <a:prstGeom prst="ellipse">
            <a:avLst/>
          </a:prstGeom>
          <a:solidFill>
            <a:srgbClr val="F15D23"/>
          </a:solidFill>
          <a:ln/>
        </p:spPr>
      </p:sp>
      <p:sp>
        <p:nvSpPr>
          <p:cNvPr id="11" name="Text 9"/>
          <p:cNvSpPr/>
          <p:nvPr/>
        </p:nvSpPr>
        <p:spPr>
          <a:xfrm>
            <a:off x="6487668" y="1536192"/>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2" name="Text 10"/>
          <p:cNvSpPr/>
          <p:nvPr/>
        </p:nvSpPr>
        <p:spPr>
          <a:xfrm>
            <a:off x="6944868" y="1554480"/>
            <a:ext cx="4494276" cy="274320"/>
          </a:xfrm>
          <a:prstGeom prst="rect">
            <a:avLst/>
          </a:prstGeom>
          <a:noFill/>
          <a:ln/>
        </p:spPr>
        <p:txBody>
          <a:bodyPr wrap="square" lIns="0" tIns="0" rIns="0" bIns="0" rtlCol="0" anchor="ctr"/>
          <a:lstStyle/>
          <a:p>
            <a:pPr indent="0" marL="0">
              <a:buNone/>
            </a:pPr>
            <a:r>
              <a:rPr lang="en-US" sz="1500" b="1" dirty="0">
                <a:solidFill>
                  <a:srgbClr val="3E3E4B"/>
                </a:solidFill>
                <a:latin typeface="Arial" pitchFamily="34" charset="0"/>
                <a:ea typeface="Arial" pitchFamily="34" charset="-122"/>
                <a:cs typeface="Arial" pitchFamily="34" charset="-120"/>
              </a:rPr>
              <a:t>Likely overprovisioning</a:t>
            </a:r>
            <a:endParaRPr lang="en-US" sz="1500" dirty="0"/>
          </a:p>
        </p:txBody>
      </p:sp>
      <p:sp>
        <p:nvSpPr>
          <p:cNvPr id="13" name="Text 11"/>
          <p:cNvSpPr/>
          <p:nvPr/>
        </p:nvSpPr>
        <p:spPr>
          <a:xfrm>
            <a:off x="6487668" y="2057400"/>
            <a:ext cx="4896612" cy="2011680"/>
          </a:xfrm>
          <a:prstGeom prst="rect">
            <a:avLst/>
          </a:prstGeom>
          <a:noFill/>
          <a:ln/>
        </p:spPr>
        <p:txBody>
          <a:bodyPr wrap="square" lIns="0" tIns="0" rIns="0" bIns="0" rtlCol="0" anchor="t"/>
          <a:lstStyle/>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Standard domain controllers and legacy file servers.</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Ordinary intranet applications.</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Low-intensity line-of-business systems.</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In these cases the organization pays for processing and storage capability its applications cannot consume.</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A lower-cost Generation 1 host provides a better cost-to-performance ratio.</a:t>
            </a:r>
            <a:endParaRPr lang="en-US" sz="1250" dirty="0"/>
          </a:p>
        </p:txBody>
      </p:sp>
      <p:sp>
        <p:nvSpPr>
          <p:cNvPr id="14" name="Shape 12"/>
          <p:cNvSpPr/>
          <p:nvPr/>
        </p:nvSpPr>
        <p:spPr>
          <a:xfrm>
            <a:off x="548640" y="4434840"/>
            <a:ext cx="11091672" cy="1188720"/>
          </a:xfrm>
          <a:prstGeom prst="roundRect">
            <a:avLst>
              <a:gd name="adj" fmla="val 6923"/>
            </a:avLst>
          </a:prstGeom>
          <a:solidFill>
            <a:srgbClr val="E5F7FC"/>
          </a:solidFill>
          <a:ln/>
        </p:spPr>
      </p:sp>
      <p:sp>
        <p:nvSpPr>
          <p:cNvPr id="15" name="Text 13"/>
          <p:cNvSpPr/>
          <p:nvPr/>
        </p:nvSpPr>
        <p:spPr>
          <a:xfrm>
            <a:off x="804672" y="4553712"/>
            <a:ext cx="7315200" cy="274320"/>
          </a:xfrm>
          <a:prstGeom prst="rect">
            <a:avLst/>
          </a:prstGeom>
          <a:noFill/>
          <a:ln/>
        </p:spPr>
        <p:txBody>
          <a:bodyPr wrap="square" lIns="0" tIns="0" rIns="0" bIns="0" rtlCol="0" anchor="ctr"/>
          <a:lstStyle/>
          <a:p>
            <a:pPr indent="0" marL="0">
              <a:buNone/>
            </a:pPr>
            <a:r>
              <a:rPr lang="en-US" sz="1400" b="1" dirty="0">
                <a:solidFill>
                  <a:srgbClr val="00B3E2"/>
                </a:solidFill>
                <a:latin typeface="Arial" pitchFamily="34" charset="0"/>
                <a:ea typeface="Arial" pitchFamily="34" charset="-122"/>
                <a:cs typeface="Arial" pitchFamily="34" charset="-120"/>
              </a:rPr>
              <a:t>Worked example: VDI boot storm</a:t>
            </a:r>
            <a:endParaRPr lang="en-US" sz="1400" dirty="0"/>
          </a:p>
        </p:txBody>
      </p:sp>
      <p:sp>
        <p:nvSpPr>
          <p:cNvPr id="16" name="Text 14"/>
          <p:cNvSpPr/>
          <p:nvPr/>
        </p:nvSpPr>
        <p:spPr>
          <a:xfrm>
            <a:off x="804672" y="4892040"/>
            <a:ext cx="10579608" cy="640080"/>
          </a:xfrm>
          <a:prstGeom prst="rect">
            <a:avLst/>
          </a:prstGeom>
          <a:noFill/>
          <a:ln/>
        </p:spPr>
        <p:txBody>
          <a:bodyPr wrap="square" lIns="0" tIns="0" rIns="0" bIns="0" rtlCol="0" anchor="t"/>
          <a:lstStyle/>
          <a:p>
            <a:pPr indent="0" marL="0">
              <a:lnSpc>
                <a:spcPts val="1700"/>
              </a:lnSpc>
              <a:buNone/>
            </a:pPr>
            <a:r>
              <a:rPr lang="en-US" sz="1250" dirty="0">
                <a:solidFill>
                  <a:srgbClr val="3E3E4B"/>
                </a:solidFill>
                <a:latin typeface="Calibri" pitchFamily="34" charset="0"/>
                <a:ea typeface="Calibri" pitchFamily="34" charset="-122"/>
                <a:cs typeface="Calibri" pitchFamily="34" charset="-120"/>
              </a:rPr>
              <a:t>A virtual desktop environment in which 5,000 users start desktops at 8:00 a.m. creates a concentrated burst of read and write operations. An OSA cache tier could become saturated under this pattern. AV64 with NVMe and ESA is better able to absorb the burst.</a:t>
            </a:r>
            <a:endParaRPr lang="en-US" sz="1250" dirty="0"/>
          </a:p>
        </p:txBody>
      </p:sp>
      <p:sp>
        <p:nvSpPr>
          <p:cNvPr id="17" name="Shape 15"/>
          <p:cNvSpPr/>
          <p:nvPr/>
        </p:nvSpPr>
        <p:spPr>
          <a:xfrm>
            <a:off x="548640" y="5760720"/>
            <a:ext cx="11091672" cy="548640"/>
          </a:xfrm>
          <a:prstGeom prst="roundRect">
            <a:avLst>
              <a:gd name="adj" fmla="val 15000"/>
            </a:avLst>
          </a:prstGeom>
          <a:solidFill>
            <a:srgbClr val="EBEDED"/>
          </a:solidFill>
          <a:ln/>
        </p:spPr>
      </p:sp>
      <p:sp>
        <p:nvSpPr>
          <p:cNvPr id="18" name="Text 16"/>
          <p:cNvSpPr/>
          <p:nvPr/>
        </p:nvSpPr>
        <p:spPr>
          <a:xfrm>
            <a:off x="731520" y="5760720"/>
            <a:ext cx="10725912" cy="548640"/>
          </a:xfrm>
          <a:prstGeom prst="rect">
            <a:avLst/>
          </a:prstGeom>
          <a:noFill/>
          <a:ln/>
        </p:spPr>
        <p:txBody>
          <a:bodyPr wrap="square" lIns="0" tIns="0" rIns="0" bIns="0" rtlCol="0" anchor="ctr"/>
          <a:lstStyle/>
          <a:p>
            <a:pPr indent="0" marL="0">
              <a:buNone/>
            </a:pPr>
            <a:r>
              <a:rPr lang="en-US" sz="1100" b="1" dirty="0">
                <a:solidFill>
                  <a:srgbClr val="00B3E2"/>
                </a:solidFill>
                <a:latin typeface="Arial" pitchFamily="34" charset="0"/>
                <a:ea typeface="Arial" pitchFamily="34" charset="-122"/>
                <a:cs typeface="Arial" pitchFamily="34" charset="-120"/>
              </a:rPr>
              <a:t>Takeaway   </a:t>
            </a:r>
            <a:pPr indent="0" marL="0">
              <a:buNone/>
            </a:pPr>
            <a:r>
              <a:rPr lang="en-US" sz="1200" dirty="0">
                <a:solidFill>
                  <a:srgbClr val="3E3E4B"/>
                </a:solidFill>
                <a:latin typeface="Calibri" pitchFamily="34" charset="0"/>
                <a:ea typeface="Calibri" pitchFamily="34" charset="-122"/>
                <a:cs typeface="Calibri" pitchFamily="34" charset="-120"/>
              </a:rPr>
              <a:t>Generation 2 is a fixed premium platform. Its value depends on whether the workload can use the performance and whether the hardware can be obtained in the required region.</a:t>
            </a:r>
            <a:endParaRPr lang="en-US" sz="1100" dirty="0"/>
          </a:p>
        </p:txBody>
      </p:sp>
      <p:sp>
        <p:nvSpPr>
          <p:cNvPr id="19" name="Text 17"/>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3.4 Workload fit</a:t>
            </a:r>
            <a:endParaRPr lang="en-US" sz="950" dirty="0"/>
          </a:p>
        </p:txBody>
      </p:sp>
      <p:sp>
        <p:nvSpPr>
          <p:cNvPr id="20" name="Text 18"/>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3.5 CAPACITY AND QUOTA</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AV64 availability is a schedule dependency</a:t>
            </a:r>
            <a:endParaRPr lang="en-US" sz="2800" dirty="0"/>
          </a:p>
        </p:txBody>
      </p:sp>
      <p:sp>
        <p:nvSpPr>
          <p:cNvPr id="4" name="Shape 2"/>
          <p:cNvSpPr/>
          <p:nvPr/>
        </p:nvSpPr>
        <p:spPr>
          <a:xfrm>
            <a:off x="548640" y="1371600"/>
            <a:ext cx="11091672" cy="1024128"/>
          </a:xfrm>
          <a:prstGeom prst="roundRect">
            <a:avLst>
              <a:gd name="adj" fmla="val 8036"/>
            </a:avLst>
          </a:prstGeom>
          <a:solidFill>
            <a:srgbClr val="E5F7FC"/>
          </a:solidFill>
          <a:ln/>
        </p:spPr>
      </p:sp>
      <p:sp>
        <p:nvSpPr>
          <p:cNvPr id="5" name="Shape 3"/>
          <p:cNvSpPr/>
          <p:nvPr/>
        </p:nvSpPr>
        <p:spPr>
          <a:xfrm>
            <a:off x="841248" y="1700784"/>
            <a:ext cx="384048" cy="384048"/>
          </a:xfrm>
          <a:prstGeom prst="ellipse">
            <a:avLst/>
          </a:prstGeom>
          <a:solidFill>
            <a:srgbClr val="00B3E2"/>
          </a:solidFill>
          <a:ln/>
        </p:spPr>
      </p:sp>
      <p:sp>
        <p:nvSpPr>
          <p:cNvPr id="6" name="Text 4"/>
          <p:cNvSpPr/>
          <p:nvPr/>
        </p:nvSpPr>
        <p:spPr>
          <a:xfrm>
            <a:off x="841248" y="1700784"/>
            <a:ext cx="384048" cy="384048"/>
          </a:xfrm>
          <a:prstGeom prst="rect">
            <a:avLst/>
          </a:prstGeom>
          <a:noFill/>
          <a:ln/>
        </p:spPr>
        <p:txBody>
          <a:bodyPr wrap="square" lIns="0" tIns="0" rIns="0" bIns="0" rtlCol="0" anchor="ctr"/>
          <a:lstStyle/>
          <a:p>
            <a:pPr algn="ctr" indent="0" marL="0">
              <a:buNone/>
            </a:pPr>
            <a:r>
              <a:rPr lang="en-US" sz="1500" b="1" dirty="0">
                <a:solidFill>
                  <a:srgbClr val="3E3E4B"/>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63040" y="1517904"/>
            <a:ext cx="2926080" cy="365760"/>
          </a:xfrm>
          <a:prstGeom prst="rect">
            <a:avLst/>
          </a:prstGeom>
          <a:noFill/>
          <a:ln/>
        </p:spPr>
        <p:txBody>
          <a:bodyPr wrap="square" lIns="0" tIns="0" rIns="0" bIns="0" rtlCol="0" anchor="ctr"/>
          <a:lstStyle/>
          <a:p>
            <a:pPr indent="0" marL="0">
              <a:buNone/>
            </a:pPr>
            <a:r>
              <a:rPr lang="en-US" sz="1500" b="1" dirty="0">
                <a:solidFill>
                  <a:srgbClr val="3E3E4B"/>
                </a:solidFill>
                <a:latin typeface="Arial" pitchFamily="34" charset="0"/>
                <a:ea typeface="Arial" pitchFamily="34" charset="-122"/>
                <a:cs typeface="Arial" pitchFamily="34" charset="-120"/>
              </a:rPr>
              <a:t>Regional dependency</a:t>
            </a:r>
            <a:endParaRPr lang="en-US" sz="1500" dirty="0"/>
          </a:p>
        </p:txBody>
      </p:sp>
      <p:sp>
        <p:nvSpPr>
          <p:cNvPr id="8" name="Text 6"/>
          <p:cNvSpPr/>
          <p:nvPr/>
        </p:nvSpPr>
        <p:spPr>
          <a:xfrm>
            <a:off x="4480560" y="1517904"/>
            <a:ext cx="6839712" cy="777240"/>
          </a:xfrm>
          <a:prstGeom prst="rect">
            <a:avLst/>
          </a:prstGeom>
          <a:noFill/>
          <a:ln/>
        </p:spPr>
        <p:txBody>
          <a:bodyPr wrap="square" lIns="0" tIns="0" rIns="0" bIns="0" rtlCol="0" anchor="ctr"/>
          <a:lstStyle/>
          <a:p>
            <a:pPr indent="0" marL="0">
              <a:lnSpc>
                <a:spcPts val="1700"/>
              </a:lnSpc>
              <a:buNone/>
            </a:pPr>
            <a:r>
              <a:rPr lang="en-US" sz="1250" dirty="0">
                <a:solidFill>
                  <a:srgbClr val="3E3E4B"/>
                </a:solidFill>
                <a:latin typeface="Calibri" pitchFamily="34" charset="0"/>
                <a:ea typeface="Calibri" pitchFamily="34" charset="-122"/>
                <a:cs typeface="Calibri" pitchFamily="34" charset="-120"/>
              </a:rPr>
              <a:t>AV64 capacity must exist in the target Azure region. Regional and availability-zone support is published in a current host-type mapping table and changes over time.</a:t>
            </a:r>
            <a:endParaRPr lang="en-US" sz="1250" dirty="0"/>
          </a:p>
        </p:txBody>
      </p:sp>
      <p:sp>
        <p:nvSpPr>
          <p:cNvPr id="9" name="Shape 7"/>
          <p:cNvSpPr/>
          <p:nvPr/>
        </p:nvSpPr>
        <p:spPr>
          <a:xfrm>
            <a:off x="548640" y="2560320"/>
            <a:ext cx="11091672" cy="1024128"/>
          </a:xfrm>
          <a:prstGeom prst="roundRect">
            <a:avLst>
              <a:gd name="adj" fmla="val 8036"/>
            </a:avLst>
          </a:prstGeom>
          <a:solidFill>
            <a:srgbClr val="E5F7FC"/>
          </a:solidFill>
          <a:ln/>
        </p:spPr>
      </p:sp>
      <p:sp>
        <p:nvSpPr>
          <p:cNvPr id="10" name="Shape 8"/>
          <p:cNvSpPr/>
          <p:nvPr/>
        </p:nvSpPr>
        <p:spPr>
          <a:xfrm>
            <a:off x="841248" y="2889504"/>
            <a:ext cx="384048" cy="384048"/>
          </a:xfrm>
          <a:prstGeom prst="ellipse">
            <a:avLst/>
          </a:prstGeom>
          <a:solidFill>
            <a:srgbClr val="00B3E2"/>
          </a:solidFill>
          <a:ln/>
        </p:spPr>
      </p:sp>
      <p:sp>
        <p:nvSpPr>
          <p:cNvPr id="11" name="Text 9"/>
          <p:cNvSpPr/>
          <p:nvPr/>
        </p:nvSpPr>
        <p:spPr>
          <a:xfrm>
            <a:off x="841248" y="2889504"/>
            <a:ext cx="384048" cy="384048"/>
          </a:xfrm>
          <a:prstGeom prst="rect">
            <a:avLst/>
          </a:prstGeom>
          <a:noFill/>
          <a:ln/>
        </p:spPr>
        <p:txBody>
          <a:bodyPr wrap="square" lIns="0" tIns="0" rIns="0" bIns="0" rtlCol="0" anchor="ctr"/>
          <a:lstStyle/>
          <a:p>
            <a:pPr algn="ctr" indent="0" marL="0">
              <a:buNone/>
            </a:pPr>
            <a:r>
              <a:rPr lang="en-US" sz="1500" b="1" dirty="0">
                <a:solidFill>
                  <a:srgbClr val="3E3E4B"/>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1463040" y="2706624"/>
            <a:ext cx="2926080" cy="365760"/>
          </a:xfrm>
          <a:prstGeom prst="rect">
            <a:avLst/>
          </a:prstGeom>
          <a:noFill/>
          <a:ln/>
        </p:spPr>
        <p:txBody>
          <a:bodyPr wrap="square" lIns="0" tIns="0" rIns="0" bIns="0" rtlCol="0" anchor="ctr"/>
          <a:lstStyle/>
          <a:p>
            <a:pPr indent="0" marL="0">
              <a:buNone/>
            </a:pPr>
            <a:r>
              <a:rPr lang="en-US" sz="1500" b="1" dirty="0">
                <a:solidFill>
                  <a:srgbClr val="3E3E4B"/>
                </a:solidFill>
                <a:latin typeface="Arial" pitchFamily="34" charset="0"/>
                <a:ea typeface="Arial" pitchFamily="34" charset="-122"/>
                <a:cs typeface="Arial" pitchFamily="34" charset="-120"/>
              </a:rPr>
              <a:t>Quota dependency</a:t>
            </a:r>
            <a:endParaRPr lang="en-US" sz="1500" dirty="0"/>
          </a:p>
        </p:txBody>
      </p:sp>
      <p:sp>
        <p:nvSpPr>
          <p:cNvPr id="13" name="Text 11"/>
          <p:cNvSpPr/>
          <p:nvPr/>
        </p:nvSpPr>
        <p:spPr>
          <a:xfrm>
            <a:off x="4480560" y="2706624"/>
            <a:ext cx="6839712" cy="777240"/>
          </a:xfrm>
          <a:prstGeom prst="rect">
            <a:avLst/>
          </a:prstGeom>
          <a:noFill/>
          <a:ln/>
        </p:spPr>
        <p:txBody>
          <a:bodyPr wrap="square" lIns="0" tIns="0" rIns="0" bIns="0" rtlCol="0" anchor="ctr"/>
          <a:lstStyle/>
          <a:p>
            <a:pPr indent="0" marL="0">
              <a:lnSpc>
                <a:spcPts val="1700"/>
              </a:lnSpc>
              <a:buNone/>
            </a:pPr>
            <a:r>
              <a:rPr lang="en-US" sz="1250" dirty="0">
                <a:solidFill>
                  <a:srgbClr val="3E3E4B"/>
                </a:solidFill>
                <a:latin typeface="Calibri" pitchFamily="34" charset="0"/>
                <a:ea typeface="Calibri" pitchFamily="34" charset="-122"/>
                <a:cs typeface="Calibri" pitchFamily="34" charset="-120"/>
              </a:rPr>
              <a:t>Microsoft quota approval must be obtained before relying on AV64 capacity. This is a lead-time item, not a deployment-day task.</a:t>
            </a:r>
            <a:endParaRPr lang="en-US" sz="1250" dirty="0"/>
          </a:p>
        </p:txBody>
      </p:sp>
      <p:sp>
        <p:nvSpPr>
          <p:cNvPr id="14" name="Shape 12"/>
          <p:cNvSpPr/>
          <p:nvPr/>
        </p:nvSpPr>
        <p:spPr>
          <a:xfrm>
            <a:off x="548640" y="3749040"/>
            <a:ext cx="11091672" cy="1024128"/>
          </a:xfrm>
          <a:prstGeom prst="roundRect">
            <a:avLst>
              <a:gd name="adj" fmla="val 8036"/>
            </a:avLst>
          </a:prstGeom>
          <a:solidFill>
            <a:srgbClr val="EBEDED"/>
          </a:solidFill>
          <a:ln/>
        </p:spPr>
      </p:sp>
      <p:sp>
        <p:nvSpPr>
          <p:cNvPr id="15" name="Shape 13"/>
          <p:cNvSpPr/>
          <p:nvPr/>
        </p:nvSpPr>
        <p:spPr>
          <a:xfrm>
            <a:off x="841248" y="4078224"/>
            <a:ext cx="384048" cy="384048"/>
          </a:xfrm>
          <a:prstGeom prst="ellipse">
            <a:avLst/>
          </a:prstGeom>
          <a:solidFill>
            <a:srgbClr val="F15D23"/>
          </a:solidFill>
          <a:ln/>
        </p:spPr>
      </p:sp>
      <p:sp>
        <p:nvSpPr>
          <p:cNvPr id="16" name="Text 14"/>
          <p:cNvSpPr/>
          <p:nvPr/>
        </p:nvSpPr>
        <p:spPr>
          <a:xfrm>
            <a:off x="841248" y="407822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p:nvPr/>
        </p:nvSpPr>
        <p:spPr>
          <a:xfrm>
            <a:off x="1463040" y="3895344"/>
            <a:ext cx="2926080" cy="365760"/>
          </a:xfrm>
          <a:prstGeom prst="rect">
            <a:avLst/>
          </a:prstGeom>
          <a:noFill/>
          <a:ln/>
        </p:spPr>
        <p:txBody>
          <a:bodyPr wrap="square" lIns="0" tIns="0" rIns="0" bIns="0" rtlCol="0" anchor="ctr"/>
          <a:lstStyle/>
          <a:p>
            <a:pPr indent="0" marL="0">
              <a:buNone/>
            </a:pPr>
            <a:r>
              <a:rPr lang="en-US" sz="1500" b="1" dirty="0">
                <a:solidFill>
                  <a:srgbClr val="3E3E4B"/>
                </a:solidFill>
                <a:latin typeface="Arial" pitchFamily="34" charset="0"/>
                <a:ea typeface="Arial" pitchFamily="34" charset="-122"/>
                <a:cs typeface="Arial" pitchFamily="34" charset="-120"/>
              </a:rPr>
              <a:t>Supply-chain risk</a:t>
            </a:r>
            <a:endParaRPr lang="en-US" sz="1500" dirty="0"/>
          </a:p>
        </p:txBody>
      </p:sp>
      <p:sp>
        <p:nvSpPr>
          <p:cNvPr id="18" name="Text 16"/>
          <p:cNvSpPr/>
          <p:nvPr/>
        </p:nvSpPr>
        <p:spPr>
          <a:xfrm>
            <a:off x="4480560" y="3895344"/>
            <a:ext cx="6839712" cy="777240"/>
          </a:xfrm>
          <a:prstGeom prst="rect">
            <a:avLst/>
          </a:prstGeom>
          <a:noFill/>
          <a:ln/>
        </p:spPr>
        <p:txBody>
          <a:bodyPr wrap="square" lIns="0" tIns="0" rIns="0" bIns="0" rtlCol="0" anchor="ctr"/>
          <a:lstStyle/>
          <a:p>
            <a:pPr indent="0" marL="0">
              <a:lnSpc>
                <a:spcPts val="1700"/>
              </a:lnSpc>
              <a:buNone/>
            </a:pPr>
            <a:r>
              <a:rPr lang="en-US" sz="1250" dirty="0">
                <a:solidFill>
                  <a:srgbClr val="3E3E4B"/>
                </a:solidFill>
                <a:latin typeface="Calibri" pitchFamily="34" charset="0"/>
                <a:ea typeface="Calibri" pitchFamily="34" charset="-122"/>
                <a:cs typeface="Calibri" pitchFamily="34" charset="-120"/>
              </a:rPr>
              <a:t>Hardware availability may not match Generation 1's geographic footprint. Treat regional coverage as a live question at every design review.</a:t>
            </a:r>
            <a:endParaRPr lang="en-US" sz="1250" dirty="0"/>
          </a:p>
        </p:txBody>
      </p:sp>
      <p:sp>
        <p:nvSpPr>
          <p:cNvPr id="19" name="Shape 17"/>
          <p:cNvSpPr/>
          <p:nvPr/>
        </p:nvSpPr>
        <p:spPr>
          <a:xfrm>
            <a:off x="548640" y="5029200"/>
            <a:ext cx="11091672" cy="1051560"/>
          </a:xfrm>
          <a:prstGeom prst="roundRect">
            <a:avLst>
              <a:gd name="adj" fmla="val 7826"/>
            </a:avLst>
          </a:prstGeom>
          <a:solidFill>
            <a:srgbClr val="3E3E4B"/>
          </a:solidFill>
          <a:ln/>
        </p:spPr>
      </p:sp>
      <p:sp>
        <p:nvSpPr>
          <p:cNvPr id="20" name="Text 18"/>
          <p:cNvSpPr/>
          <p:nvPr/>
        </p:nvSpPr>
        <p:spPr>
          <a:xfrm>
            <a:off x="822960" y="5138928"/>
            <a:ext cx="10543032" cy="868680"/>
          </a:xfrm>
          <a:prstGeom prst="rect">
            <a:avLst/>
          </a:prstGeom>
          <a:noFill/>
          <a:ln/>
        </p:spPr>
        <p:txBody>
          <a:bodyPr wrap="square" lIns="0" tIns="0" rIns="0" bIns="0" rtlCol="0" anchor="t"/>
          <a:lstStyle/>
          <a:p>
            <a:pPr indent="0" marL="0">
              <a:lnSpc>
                <a:spcPts val="1800"/>
              </a:lnSpc>
              <a:buNone/>
            </a:pPr>
            <a:r>
              <a:rPr lang="en-US" sz="1200" b="1" dirty="0">
                <a:solidFill>
                  <a:srgbClr val="00B3E2"/>
                </a:solidFill>
                <a:latin typeface="Arial" pitchFamily="34" charset="0"/>
                <a:ea typeface="Arial" pitchFamily="34" charset="-122"/>
                <a:cs typeface="Arial" pitchFamily="34" charset="-120"/>
              </a:rPr>
              <a:t>Operational recommendation
</a:t>
            </a:r>
            <a:endParaRPr lang="en-US" sz="1200" dirty="0"/>
          </a:p>
          <a:p>
            <a:pPr indent="0" marL="0">
              <a:lnSpc>
                <a:spcPts val="1800"/>
              </a:lnSpc>
              <a:buNone/>
            </a:pPr>
            <a:r>
              <a:rPr lang="en-US" sz="1300" dirty="0">
                <a:solidFill>
                  <a:srgbClr val="FFFFFF"/>
                </a:solidFill>
                <a:latin typeface="Calibri" pitchFamily="34" charset="0"/>
                <a:ea typeface="Calibri" pitchFamily="34" charset="-122"/>
                <a:cs typeface="Calibri" pitchFamily="34" charset="-120"/>
              </a:rPr>
              <a:t>Confirm region support, physical capacity, quota approval, required node count, and procurement lead time before making AV64 a dependency in a migration schedule.</a:t>
            </a:r>
            <a:endParaRPr lang="en-US" sz="1200" dirty="0"/>
          </a:p>
        </p:txBody>
      </p:sp>
      <p:sp>
        <p:nvSpPr>
          <p:cNvPr id="21" name="Text 19"/>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3.5 Regional capacity and quota</a:t>
            </a:r>
            <a:endParaRPr lang="en-US" sz="950" dirty="0"/>
          </a:p>
        </p:txBody>
      </p:sp>
      <p:sp>
        <p:nvSpPr>
          <p:cNvPr id="22" name="Text 20"/>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4.1 VSAN OSA</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Original Storage Architecture: cache and destage</a:t>
            </a:r>
            <a:endParaRPr lang="en-US" sz="2800" dirty="0"/>
          </a:p>
        </p:txBody>
      </p:sp>
      <p:sp>
        <p:nvSpPr>
          <p:cNvPr id="4" name="Text 2"/>
          <p:cNvSpPr/>
          <p:nvPr/>
        </p:nvSpPr>
        <p:spPr>
          <a:xfrm>
            <a:off x="548640" y="1207008"/>
            <a:ext cx="11091672" cy="292608"/>
          </a:xfrm>
          <a:prstGeom prst="rect">
            <a:avLst/>
          </a:prstGeom>
          <a:noFill/>
          <a:ln/>
        </p:spPr>
        <p:txBody>
          <a:bodyPr wrap="square" lIns="0" tIns="0" rIns="0" bIns="0" rtlCol="0" anchor="ctr"/>
          <a:lstStyle/>
          <a:p>
            <a:pPr indent="0" marL="0">
              <a:buNone/>
            </a:pPr>
            <a:r>
              <a:rPr lang="en-US" sz="1300" dirty="0">
                <a:solidFill>
                  <a:srgbClr val="3E3E4B"/>
                </a:solidFill>
                <a:latin typeface="Calibri" pitchFamily="34" charset="0"/>
                <a:ea typeface="Calibri" pitchFamily="34" charset="-122"/>
                <a:cs typeface="Calibri" pitchFamily="34" charset="-120"/>
              </a:rPr>
              <a:t>OSA organizes physical devices into disk groups. Each disk group contains a cache tier and a capacity tier.</a:t>
            </a:r>
            <a:endParaRPr lang="en-US" sz="1300" dirty="0"/>
          </a:p>
        </p:txBody>
      </p:sp>
      <p:sp>
        <p:nvSpPr>
          <p:cNvPr id="5" name="Shape 3"/>
          <p:cNvSpPr/>
          <p:nvPr/>
        </p:nvSpPr>
        <p:spPr>
          <a:xfrm>
            <a:off x="548640" y="1645920"/>
            <a:ext cx="5486400" cy="2880360"/>
          </a:xfrm>
          <a:prstGeom prst="roundRect">
            <a:avLst>
              <a:gd name="adj" fmla="val 2857"/>
            </a:avLst>
          </a:prstGeom>
          <a:solidFill>
            <a:srgbClr val="EBEDED"/>
          </a:solidFill>
          <a:ln/>
        </p:spPr>
      </p:sp>
      <p:sp>
        <p:nvSpPr>
          <p:cNvPr id="6" name="Text 4"/>
          <p:cNvSpPr/>
          <p:nvPr/>
        </p:nvSpPr>
        <p:spPr>
          <a:xfrm>
            <a:off x="804672" y="1783080"/>
            <a:ext cx="4937760"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Write path</a:t>
            </a:r>
            <a:endParaRPr lang="en-US" sz="1400" dirty="0"/>
          </a:p>
        </p:txBody>
      </p:sp>
      <p:sp>
        <p:nvSpPr>
          <p:cNvPr id="7" name="Shape 5"/>
          <p:cNvSpPr/>
          <p:nvPr/>
        </p:nvSpPr>
        <p:spPr>
          <a:xfrm>
            <a:off x="804672" y="2194560"/>
            <a:ext cx="310896" cy="310896"/>
          </a:xfrm>
          <a:prstGeom prst="ellipse">
            <a:avLst/>
          </a:prstGeom>
          <a:solidFill>
            <a:srgbClr val="00B3E2"/>
          </a:solidFill>
          <a:ln/>
        </p:spPr>
      </p:sp>
      <p:sp>
        <p:nvSpPr>
          <p:cNvPr id="8" name="Text 6"/>
          <p:cNvSpPr/>
          <p:nvPr/>
        </p:nvSpPr>
        <p:spPr>
          <a:xfrm>
            <a:off x="804672" y="2194560"/>
            <a:ext cx="310896" cy="310896"/>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1</a:t>
            </a:r>
            <a:endParaRPr lang="en-US" sz="1200" dirty="0"/>
          </a:p>
        </p:txBody>
      </p:sp>
      <p:sp>
        <p:nvSpPr>
          <p:cNvPr id="9" name="Text 7"/>
          <p:cNvSpPr/>
          <p:nvPr/>
        </p:nvSpPr>
        <p:spPr>
          <a:xfrm>
            <a:off x="1280160" y="2167128"/>
            <a:ext cx="4498848" cy="530352"/>
          </a:xfrm>
          <a:prstGeom prst="rect">
            <a:avLst/>
          </a:prstGeom>
          <a:noFill/>
          <a:ln/>
        </p:spPr>
        <p:txBody>
          <a:bodyPr wrap="square" lIns="0" tIns="0" rIns="0" bIns="0" rtlCol="0" anchor="t"/>
          <a:lstStyle/>
          <a:p>
            <a:pPr indent="0" marL="0">
              <a:lnSpc>
                <a:spcPts val="1500"/>
              </a:lnSpc>
              <a:buNone/>
            </a:pPr>
            <a:r>
              <a:rPr lang="en-US" sz="1250" dirty="0">
                <a:solidFill>
                  <a:srgbClr val="3E3E4B"/>
                </a:solidFill>
                <a:latin typeface="Calibri" pitchFamily="34" charset="0"/>
                <a:ea typeface="Calibri" pitchFamily="34" charset="-122"/>
                <a:cs typeface="Calibri" pitchFamily="34" charset="-120"/>
              </a:rPr>
              <a:t>A virtual machine issues a storage write.</a:t>
            </a:r>
            <a:endParaRPr lang="en-US" sz="1250" dirty="0"/>
          </a:p>
        </p:txBody>
      </p:sp>
      <p:sp>
        <p:nvSpPr>
          <p:cNvPr id="10" name="Shape 8"/>
          <p:cNvSpPr/>
          <p:nvPr/>
        </p:nvSpPr>
        <p:spPr>
          <a:xfrm>
            <a:off x="804672" y="2761488"/>
            <a:ext cx="310896" cy="310896"/>
          </a:xfrm>
          <a:prstGeom prst="ellipse">
            <a:avLst/>
          </a:prstGeom>
          <a:solidFill>
            <a:srgbClr val="00B3E2"/>
          </a:solidFill>
          <a:ln/>
        </p:spPr>
      </p:sp>
      <p:sp>
        <p:nvSpPr>
          <p:cNvPr id="11" name="Text 9"/>
          <p:cNvSpPr/>
          <p:nvPr/>
        </p:nvSpPr>
        <p:spPr>
          <a:xfrm>
            <a:off x="804672" y="2761488"/>
            <a:ext cx="310896" cy="310896"/>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2</a:t>
            </a:r>
            <a:endParaRPr lang="en-US" sz="1200" dirty="0"/>
          </a:p>
        </p:txBody>
      </p:sp>
      <p:sp>
        <p:nvSpPr>
          <p:cNvPr id="12" name="Text 10"/>
          <p:cNvSpPr/>
          <p:nvPr/>
        </p:nvSpPr>
        <p:spPr>
          <a:xfrm>
            <a:off x="1280160" y="2734056"/>
            <a:ext cx="4498848" cy="530352"/>
          </a:xfrm>
          <a:prstGeom prst="rect">
            <a:avLst/>
          </a:prstGeom>
          <a:noFill/>
          <a:ln/>
        </p:spPr>
        <p:txBody>
          <a:bodyPr wrap="square" lIns="0" tIns="0" rIns="0" bIns="0" rtlCol="0" anchor="t"/>
          <a:lstStyle/>
          <a:p>
            <a:pPr indent="0" marL="0">
              <a:lnSpc>
                <a:spcPts val="1500"/>
              </a:lnSpc>
              <a:buNone/>
            </a:pPr>
            <a:r>
              <a:rPr lang="en-US" sz="1250" dirty="0">
                <a:solidFill>
                  <a:srgbClr val="3E3E4B"/>
                </a:solidFill>
                <a:latin typeface="Calibri" pitchFamily="34" charset="0"/>
                <a:ea typeface="Calibri" pitchFamily="34" charset="-122"/>
                <a:cs typeface="Calibri" pitchFamily="34" charset="-120"/>
              </a:rPr>
              <a:t>The write enters a high-speed cache device.</a:t>
            </a:r>
            <a:endParaRPr lang="en-US" sz="1250" dirty="0"/>
          </a:p>
        </p:txBody>
      </p:sp>
      <p:sp>
        <p:nvSpPr>
          <p:cNvPr id="13" name="Shape 11"/>
          <p:cNvSpPr/>
          <p:nvPr/>
        </p:nvSpPr>
        <p:spPr>
          <a:xfrm>
            <a:off x="804672" y="3328416"/>
            <a:ext cx="310896" cy="310896"/>
          </a:xfrm>
          <a:prstGeom prst="ellipse">
            <a:avLst/>
          </a:prstGeom>
          <a:solidFill>
            <a:srgbClr val="00B3E2"/>
          </a:solidFill>
          <a:ln/>
        </p:spPr>
      </p:sp>
      <p:sp>
        <p:nvSpPr>
          <p:cNvPr id="14" name="Text 12"/>
          <p:cNvSpPr/>
          <p:nvPr/>
        </p:nvSpPr>
        <p:spPr>
          <a:xfrm>
            <a:off x="804672" y="3328416"/>
            <a:ext cx="310896" cy="310896"/>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3</a:t>
            </a:r>
            <a:endParaRPr lang="en-US" sz="1200" dirty="0"/>
          </a:p>
        </p:txBody>
      </p:sp>
      <p:sp>
        <p:nvSpPr>
          <p:cNvPr id="15" name="Text 13"/>
          <p:cNvSpPr/>
          <p:nvPr/>
        </p:nvSpPr>
        <p:spPr>
          <a:xfrm>
            <a:off x="1280160" y="3300984"/>
            <a:ext cx="4498848" cy="530352"/>
          </a:xfrm>
          <a:prstGeom prst="rect">
            <a:avLst/>
          </a:prstGeom>
          <a:noFill/>
          <a:ln/>
        </p:spPr>
        <p:txBody>
          <a:bodyPr wrap="square" lIns="0" tIns="0" rIns="0" bIns="0" rtlCol="0" anchor="t"/>
          <a:lstStyle/>
          <a:p>
            <a:pPr indent="0" marL="0">
              <a:lnSpc>
                <a:spcPts val="1500"/>
              </a:lnSpc>
              <a:buNone/>
            </a:pPr>
            <a:r>
              <a:rPr lang="en-US" sz="1250" dirty="0">
                <a:solidFill>
                  <a:srgbClr val="3E3E4B"/>
                </a:solidFill>
                <a:latin typeface="Calibri" pitchFamily="34" charset="0"/>
                <a:ea typeface="Calibri" pitchFamily="34" charset="-122"/>
                <a:cs typeface="Calibri" pitchFamily="34" charset="-120"/>
              </a:rPr>
              <a:t>vSAN acknowledges the protected write.</a:t>
            </a:r>
            <a:endParaRPr lang="en-US" sz="1250" dirty="0"/>
          </a:p>
        </p:txBody>
      </p:sp>
      <p:sp>
        <p:nvSpPr>
          <p:cNvPr id="16" name="Shape 14"/>
          <p:cNvSpPr/>
          <p:nvPr/>
        </p:nvSpPr>
        <p:spPr>
          <a:xfrm>
            <a:off x="804672" y="3895344"/>
            <a:ext cx="310896" cy="310896"/>
          </a:xfrm>
          <a:prstGeom prst="ellipse">
            <a:avLst/>
          </a:prstGeom>
          <a:solidFill>
            <a:srgbClr val="00B3E2"/>
          </a:solidFill>
          <a:ln/>
        </p:spPr>
      </p:sp>
      <p:sp>
        <p:nvSpPr>
          <p:cNvPr id="17" name="Text 15"/>
          <p:cNvSpPr/>
          <p:nvPr/>
        </p:nvSpPr>
        <p:spPr>
          <a:xfrm>
            <a:off x="804672" y="3895344"/>
            <a:ext cx="310896" cy="310896"/>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4</a:t>
            </a:r>
            <a:endParaRPr lang="en-US" sz="1200" dirty="0"/>
          </a:p>
        </p:txBody>
      </p:sp>
      <p:sp>
        <p:nvSpPr>
          <p:cNvPr id="18" name="Text 16"/>
          <p:cNvSpPr/>
          <p:nvPr/>
        </p:nvSpPr>
        <p:spPr>
          <a:xfrm>
            <a:off x="1280160" y="3867912"/>
            <a:ext cx="4498848" cy="530352"/>
          </a:xfrm>
          <a:prstGeom prst="rect">
            <a:avLst/>
          </a:prstGeom>
          <a:noFill/>
          <a:ln/>
        </p:spPr>
        <p:txBody>
          <a:bodyPr wrap="square" lIns="0" tIns="0" rIns="0" bIns="0" rtlCol="0" anchor="t"/>
          <a:lstStyle/>
          <a:p>
            <a:pPr indent="0" marL="0">
              <a:lnSpc>
                <a:spcPts val="1500"/>
              </a:lnSpc>
              <a:buNone/>
            </a:pPr>
            <a:r>
              <a:rPr lang="en-US" sz="1250" dirty="0">
                <a:solidFill>
                  <a:srgbClr val="3E3E4B"/>
                </a:solidFill>
                <a:latin typeface="Calibri" pitchFamily="34" charset="0"/>
                <a:ea typeface="Calibri" pitchFamily="34" charset="-122"/>
                <a:cs typeface="Calibri" pitchFamily="34" charset="-120"/>
              </a:rPr>
              <a:t>vSAN later destages the data from cache into the capacity devices.</a:t>
            </a:r>
            <a:endParaRPr lang="en-US" sz="1250" dirty="0"/>
          </a:p>
        </p:txBody>
      </p:sp>
      <p:sp>
        <p:nvSpPr>
          <p:cNvPr id="19" name="Shape 17"/>
          <p:cNvSpPr/>
          <p:nvPr/>
        </p:nvSpPr>
        <p:spPr>
          <a:xfrm>
            <a:off x="6309360" y="1645920"/>
            <a:ext cx="5330952" cy="2880360"/>
          </a:xfrm>
          <a:prstGeom prst="roundRect">
            <a:avLst>
              <a:gd name="adj" fmla="val 2857"/>
            </a:avLst>
          </a:prstGeom>
          <a:solidFill>
            <a:srgbClr val="E5F7FC"/>
          </a:solidFill>
          <a:ln/>
        </p:spPr>
      </p:sp>
      <p:sp>
        <p:nvSpPr>
          <p:cNvPr id="20" name="Text 18"/>
          <p:cNvSpPr/>
          <p:nvPr/>
        </p:nvSpPr>
        <p:spPr>
          <a:xfrm>
            <a:off x="6565392" y="1783080"/>
            <a:ext cx="4572000"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Why the design exists, and where it strains</a:t>
            </a:r>
            <a:endParaRPr lang="en-US" sz="1400" dirty="0"/>
          </a:p>
        </p:txBody>
      </p:sp>
      <p:sp>
        <p:nvSpPr>
          <p:cNvPr id="21" name="Text 19"/>
          <p:cNvSpPr/>
          <p:nvPr/>
        </p:nvSpPr>
        <p:spPr>
          <a:xfrm>
            <a:off x="6565392" y="2194560"/>
            <a:ext cx="4818888" cy="2194560"/>
          </a:xfrm>
          <a:prstGeom prst="rect">
            <a:avLst/>
          </a:prstGeom>
          <a:noFill/>
          <a:ln/>
        </p:spPr>
        <p:txBody>
          <a:bodyPr wrap="square" lIns="0" tIns="0" rIns="0" bIns="0" rtlCol="0" anchor="t"/>
          <a:lstStyle/>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The cache tier compensated for slower capacity media, including designs originating when spinning disks were common.</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The hypervisor must manage disk groups, decide when to destage, and move data between tiers.</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If incoming writes fill the cache faster than vSAN can destage them, performance can decline sharply.</a:t>
            </a:r>
            <a:endParaRPr lang="en-US" sz="1250" dirty="0"/>
          </a:p>
        </p:txBody>
      </p:sp>
      <p:sp>
        <p:nvSpPr>
          <p:cNvPr id="22" name="Shape 20"/>
          <p:cNvSpPr/>
          <p:nvPr/>
        </p:nvSpPr>
        <p:spPr>
          <a:xfrm>
            <a:off x="548640" y="4709160"/>
            <a:ext cx="11091672" cy="960120"/>
          </a:xfrm>
          <a:prstGeom prst="roundRect">
            <a:avLst>
              <a:gd name="adj" fmla="val 8571"/>
            </a:avLst>
          </a:prstGeom>
          <a:solidFill>
            <a:srgbClr val="FAC458"/>
          </a:solidFill>
          <a:ln/>
        </p:spPr>
      </p:sp>
      <p:sp>
        <p:nvSpPr>
          <p:cNvPr id="23" name="Text 21"/>
          <p:cNvSpPr/>
          <p:nvPr/>
        </p:nvSpPr>
        <p:spPr>
          <a:xfrm>
            <a:off x="804672" y="4800600"/>
            <a:ext cx="8229600"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Workloads that expose the limitation</a:t>
            </a:r>
            <a:endParaRPr lang="en-US" sz="1300" dirty="0"/>
          </a:p>
        </p:txBody>
      </p:sp>
      <p:sp>
        <p:nvSpPr>
          <p:cNvPr id="24" name="Text 22"/>
          <p:cNvSpPr/>
          <p:nvPr/>
        </p:nvSpPr>
        <p:spPr>
          <a:xfrm>
            <a:off x="804672" y="5120640"/>
            <a:ext cx="10579608" cy="457200"/>
          </a:xfrm>
          <a:prstGeom prst="rect">
            <a:avLst/>
          </a:prstGeom>
          <a:noFill/>
          <a:ln/>
        </p:spPr>
        <p:txBody>
          <a:bodyPr wrap="square" lIns="0" tIns="0" rIns="0" bIns="0" rtlCol="0" anchor="t"/>
          <a:lstStyle/>
          <a:p>
            <a:pPr indent="0" marL="0">
              <a:buNone/>
            </a:pPr>
            <a:r>
              <a:rPr lang="en-US" sz="1250" dirty="0">
                <a:solidFill>
                  <a:srgbClr val="3E3E4B"/>
                </a:solidFill>
                <a:latin typeface="Calibri" pitchFamily="34" charset="0"/>
                <a:ea typeface="Calibri" pitchFamily="34" charset="-122"/>
                <a:cs typeface="Calibri" pitchFamily="34" charset="-120"/>
              </a:rPr>
              <a:t>Large database operations   •   Bulk data ingestion   •   Large migration waves   •   VDI boot storms   •   Any workload with sustained writes rather than short bursts</a:t>
            </a:r>
            <a:endParaRPr lang="en-US" sz="1250" dirty="0"/>
          </a:p>
        </p:txBody>
      </p:sp>
      <p:sp>
        <p:nvSpPr>
          <p:cNvPr id="25" name="Shape 23"/>
          <p:cNvSpPr/>
          <p:nvPr/>
        </p:nvSpPr>
        <p:spPr>
          <a:xfrm>
            <a:off x="548640" y="5742432"/>
            <a:ext cx="11091672" cy="548640"/>
          </a:xfrm>
          <a:prstGeom prst="roundRect">
            <a:avLst>
              <a:gd name="adj" fmla="val 15000"/>
            </a:avLst>
          </a:prstGeom>
          <a:solidFill>
            <a:srgbClr val="EBEDED"/>
          </a:solidFill>
          <a:ln/>
        </p:spPr>
      </p:sp>
      <p:sp>
        <p:nvSpPr>
          <p:cNvPr id="26" name="Text 24"/>
          <p:cNvSpPr/>
          <p:nvPr/>
        </p:nvSpPr>
        <p:spPr>
          <a:xfrm>
            <a:off x="731520" y="5742432"/>
            <a:ext cx="10725912" cy="548640"/>
          </a:xfrm>
          <a:prstGeom prst="rect">
            <a:avLst/>
          </a:prstGeom>
          <a:noFill/>
          <a:ln/>
        </p:spPr>
        <p:txBody>
          <a:bodyPr wrap="square" lIns="0" tIns="0" rIns="0" bIns="0" rtlCol="0" anchor="ctr"/>
          <a:lstStyle/>
          <a:p>
            <a:pPr indent="0" marL="0">
              <a:buNone/>
            </a:pPr>
            <a:r>
              <a:rPr lang="en-US" sz="1100" b="1" dirty="0">
                <a:solidFill>
                  <a:srgbClr val="00B3E2"/>
                </a:solidFill>
                <a:latin typeface="Arial" pitchFamily="34" charset="0"/>
                <a:ea typeface="Arial" pitchFamily="34" charset="-122"/>
                <a:cs typeface="Arial" pitchFamily="34" charset="-120"/>
              </a:rPr>
              <a:t>Takeaway   </a:t>
            </a:r>
            <a:pPr indent="0" marL="0">
              <a:buNone/>
            </a:pPr>
            <a:r>
              <a:rPr lang="en-US" sz="1200" dirty="0">
                <a:solidFill>
                  <a:srgbClr val="3E3E4B"/>
                </a:solidFill>
                <a:latin typeface="Calibri" pitchFamily="34" charset="0"/>
                <a:ea typeface="Calibri" pitchFamily="34" charset="-122"/>
                <a:cs typeface="Calibri" pitchFamily="34" charset="-120"/>
              </a:rPr>
              <a:t>The cache tier is a fast lobby. Data enters quickly, but congestion develops when arrivals exceed the rate at which data can be moved into long-term rooms.</a:t>
            </a:r>
            <a:endParaRPr lang="en-US" sz="1100" dirty="0"/>
          </a:p>
        </p:txBody>
      </p:sp>
      <p:sp>
        <p:nvSpPr>
          <p:cNvPr id="27" name="Text 25"/>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4. vSAN storage architecture</a:t>
            </a:r>
            <a:endParaRPr lang="en-US" sz="950" dirty="0"/>
          </a:p>
        </p:txBody>
      </p:sp>
      <p:sp>
        <p:nvSpPr>
          <p:cNvPr id="28" name="Text 26"/>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4.2 VSAN ESA</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Express Storage Architecture: a single NVMe tier</a:t>
            </a:r>
            <a:endParaRPr lang="en-US" sz="2800" dirty="0"/>
          </a:p>
        </p:txBody>
      </p:sp>
      <p:sp>
        <p:nvSpPr>
          <p:cNvPr id="4" name="Text 2"/>
          <p:cNvSpPr/>
          <p:nvPr/>
        </p:nvSpPr>
        <p:spPr>
          <a:xfrm>
            <a:off x="548640" y="1207008"/>
            <a:ext cx="11091672" cy="292608"/>
          </a:xfrm>
          <a:prstGeom prst="rect">
            <a:avLst/>
          </a:prstGeom>
          <a:noFill/>
          <a:ln/>
        </p:spPr>
        <p:txBody>
          <a:bodyPr wrap="square" lIns="0" tIns="0" rIns="0" bIns="0" rtlCol="0" anchor="ctr"/>
          <a:lstStyle/>
          <a:p>
            <a:pPr indent="0" marL="0">
              <a:buNone/>
            </a:pPr>
            <a:r>
              <a:rPr lang="en-US" sz="1300" dirty="0">
                <a:solidFill>
                  <a:srgbClr val="3E3E4B"/>
                </a:solidFill>
                <a:latin typeface="Calibri" pitchFamily="34" charset="0"/>
                <a:ea typeface="Calibri" pitchFamily="34" charset="-122"/>
                <a:cs typeface="Calibri" pitchFamily="34" charset="-120"/>
              </a:rPr>
              <a:t>ESA removes the traditional disk-group and dedicated cache-tier structure. Data is written directly to the NVMe capacity pool.</a:t>
            </a:r>
            <a:endParaRPr lang="en-US" sz="1300" dirty="0"/>
          </a:p>
        </p:txBody>
      </p:sp>
      <p:sp>
        <p:nvSpPr>
          <p:cNvPr id="5" name="Shape 3"/>
          <p:cNvSpPr/>
          <p:nvPr/>
        </p:nvSpPr>
        <p:spPr>
          <a:xfrm>
            <a:off x="548640" y="1691640"/>
            <a:ext cx="3587496" cy="1783080"/>
          </a:xfrm>
          <a:prstGeom prst="roundRect">
            <a:avLst>
              <a:gd name="adj" fmla="val 4615"/>
            </a:avLst>
          </a:prstGeom>
          <a:solidFill>
            <a:srgbClr val="E5F7FC"/>
          </a:solidFill>
          <a:ln/>
        </p:spPr>
      </p:sp>
      <p:sp>
        <p:nvSpPr>
          <p:cNvPr id="6" name="Shape 4"/>
          <p:cNvSpPr/>
          <p:nvPr/>
        </p:nvSpPr>
        <p:spPr>
          <a:xfrm>
            <a:off x="786384" y="1874520"/>
            <a:ext cx="329184" cy="329184"/>
          </a:xfrm>
          <a:prstGeom prst="ellipse">
            <a:avLst/>
          </a:prstGeom>
          <a:solidFill>
            <a:srgbClr val="00B3E2"/>
          </a:solidFill>
          <a:ln/>
        </p:spPr>
      </p:sp>
      <p:sp>
        <p:nvSpPr>
          <p:cNvPr id="7" name="Text 5"/>
          <p:cNvSpPr/>
          <p:nvPr/>
        </p:nvSpPr>
        <p:spPr>
          <a:xfrm>
            <a:off x="786384" y="1874520"/>
            <a:ext cx="329184" cy="329184"/>
          </a:xfrm>
          <a:prstGeom prst="rect">
            <a:avLst/>
          </a:prstGeom>
          <a:noFill/>
          <a:ln/>
        </p:spPr>
        <p:txBody>
          <a:bodyPr wrap="square" lIns="0" tIns="0" rIns="0" bIns="0" rtlCol="0" anchor="ctr"/>
          <a:lstStyle/>
          <a:p>
            <a:pPr algn="ctr" indent="0" marL="0">
              <a:buNone/>
            </a:pPr>
            <a:r>
              <a:rPr lang="en-US" sz="1400" b="1" dirty="0">
                <a:solidFill>
                  <a:srgbClr val="3E3E4B"/>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1207008" y="1883664"/>
            <a:ext cx="2718816" cy="329184"/>
          </a:xfrm>
          <a:prstGeom prst="rect">
            <a:avLst/>
          </a:prstGeom>
          <a:noFill/>
          <a:ln/>
        </p:spPr>
        <p:txBody>
          <a:bodyPr wrap="square" lIns="0" tIns="0" rIns="0" bIns="0" rtlCol="0" anchor="ctr"/>
          <a:lstStyle/>
          <a:p>
            <a:pPr indent="0" marL="0">
              <a:buNone/>
            </a:pPr>
            <a:r>
              <a:rPr lang="en-US" sz="1350" b="1" dirty="0">
                <a:solidFill>
                  <a:srgbClr val="3E3E4B"/>
                </a:solidFill>
                <a:latin typeface="Arial" pitchFamily="34" charset="0"/>
                <a:ea typeface="Arial" pitchFamily="34" charset="-122"/>
                <a:cs typeface="Arial" pitchFamily="34" charset="-120"/>
              </a:rPr>
              <a:t>Single-tier behavior</a:t>
            </a:r>
            <a:endParaRPr lang="en-US" sz="1350" dirty="0"/>
          </a:p>
        </p:txBody>
      </p:sp>
      <p:sp>
        <p:nvSpPr>
          <p:cNvPr id="9" name="Text 7"/>
          <p:cNvSpPr/>
          <p:nvPr/>
        </p:nvSpPr>
        <p:spPr>
          <a:xfrm>
            <a:off x="786384" y="2331720"/>
            <a:ext cx="3112008" cy="1051560"/>
          </a:xfrm>
          <a:prstGeom prst="rect">
            <a:avLst/>
          </a:prstGeom>
          <a:noFill/>
          <a:ln/>
        </p:spPr>
        <p:txBody>
          <a:bodyPr wrap="square" lIns="0" tIns="0" rIns="0" bIns="0" rtlCol="0" anchor="t"/>
          <a:lstStyle/>
          <a:p>
            <a:pPr indent="0" marL="0">
              <a:lnSpc>
                <a:spcPts val="1600"/>
              </a:lnSpc>
              <a:buNone/>
            </a:pPr>
            <a:r>
              <a:rPr lang="en-US" sz="1200" dirty="0">
                <a:solidFill>
                  <a:srgbClr val="3E3E4B"/>
                </a:solidFill>
                <a:latin typeface="Calibri" pitchFamily="34" charset="0"/>
                <a:ea typeface="Calibri" pitchFamily="34" charset="-122"/>
                <a:cs typeface="Calibri" pitchFamily="34" charset="-120"/>
              </a:rPr>
              <a:t>Data is written directly to the NVMe capacity pool. There is no separate cache device to fill and drain.</a:t>
            </a:r>
            <a:endParaRPr lang="en-US" sz="1200" dirty="0"/>
          </a:p>
        </p:txBody>
      </p:sp>
      <p:sp>
        <p:nvSpPr>
          <p:cNvPr id="10" name="Shape 8"/>
          <p:cNvSpPr/>
          <p:nvPr/>
        </p:nvSpPr>
        <p:spPr>
          <a:xfrm>
            <a:off x="4300728" y="1691640"/>
            <a:ext cx="3587496" cy="1783080"/>
          </a:xfrm>
          <a:prstGeom prst="roundRect">
            <a:avLst>
              <a:gd name="adj" fmla="val 4615"/>
            </a:avLst>
          </a:prstGeom>
          <a:solidFill>
            <a:srgbClr val="E5F7FC"/>
          </a:solidFill>
          <a:ln/>
        </p:spPr>
      </p:sp>
      <p:sp>
        <p:nvSpPr>
          <p:cNvPr id="11" name="Shape 9"/>
          <p:cNvSpPr/>
          <p:nvPr/>
        </p:nvSpPr>
        <p:spPr>
          <a:xfrm>
            <a:off x="4538472" y="1874520"/>
            <a:ext cx="329184" cy="329184"/>
          </a:xfrm>
          <a:prstGeom prst="ellipse">
            <a:avLst/>
          </a:prstGeom>
          <a:solidFill>
            <a:srgbClr val="00B3E2"/>
          </a:solidFill>
          <a:ln/>
        </p:spPr>
      </p:sp>
      <p:sp>
        <p:nvSpPr>
          <p:cNvPr id="12" name="Text 10"/>
          <p:cNvSpPr/>
          <p:nvPr/>
        </p:nvSpPr>
        <p:spPr>
          <a:xfrm>
            <a:off x="4538472" y="1874520"/>
            <a:ext cx="329184" cy="329184"/>
          </a:xfrm>
          <a:prstGeom prst="rect">
            <a:avLst/>
          </a:prstGeom>
          <a:noFill/>
          <a:ln/>
        </p:spPr>
        <p:txBody>
          <a:bodyPr wrap="square" lIns="0" tIns="0" rIns="0" bIns="0" rtlCol="0" anchor="ctr"/>
          <a:lstStyle/>
          <a:p>
            <a:pPr algn="ctr" indent="0" marL="0">
              <a:buNone/>
            </a:pPr>
            <a:r>
              <a:rPr lang="en-US" sz="1400" b="1" dirty="0">
                <a:solidFill>
                  <a:srgbClr val="3E3E4B"/>
                </a:solidFill>
                <a:latin typeface="Arial" pitchFamily="34" charset="0"/>
                <a:ea typeface="Arial" pitchFamily="34" charset="-122"/>
                <a:cs typeface="Arial" pitchFamily="34" charset="-120"/>
              </a:rPr>
              <a:t>2</a:t>
            </a:r>
            <a:endParaRPr lang="en-US" sz="1400" dirty="0"/>
          </a:p>
        </p:txBody>
      </p:sp>
      <p:sp>
        <p:nvSpPr>
          <p:cNvPr id="13" name="Text 11"/>
          <p:cNvSpPr/>
          <p:nvPr/>
        </p:nvSpPr>
        <p:spPr>
          <a:xfrm>
            <a:off x="4959096" y="1883664"/>
            <a:ext cx="2718816" cy="329184"/>
          </a:xfrm>
          <a:prstGeom prst="rect">
            <a:avLst/>
          </a:prstGeom>
          <a:noFill/>
          <a:ln/>
        </p:spPr>
        <p:txBody>
          <a:bodyPr wrap="square" lIns="0" tIns="0" rIns="0" bIns="0" rtlCol="0" anchor="ctr"/>
          <a:lstStyle/>
          <a:p>
            <a:pPr indent="0" marL="0">
              <a:buNone/>
            </a:pPr>
            <a:r>
              <a:rPr lang="en-US" sz="1350" b="1" dirty="0">
                <a:solidFill>
                  <a:srgbClr val="3E3E4B"/>
                </a:solidFill>
                <a:latin typeface="Arial" pitchFamily="34" charset="0"/>
                <a:ea typeface="Arial" pitchFamily="34" charset="-122"/>
                <a:cs typeface="Arial" pitchFamily="34" charset="-120"/>
              </a:rPr>
              <a:t>Media dependency</a:t>
            </a:r>
            <a:endParaRPr lang="en-US" sz="1350" dirty="0"/>
          </a:p>
        </p:txBody>
      </p:sp>
      <p:sp>
        <p:nvSpPr>
          <p:cNvPr id="14" name="Text 12"/>
          <p:cNvSpPr/>
          <p:nvPr/>
        </p:nvSpPr>
        <p:spPr>
          <a:xfrm>
            <a:off x="4538472" y="2331720"/>
            <a:ext cx="3112008" cy="1051560"/>
          </a:xfrm>
          <a:prstGeom prst="rect">
            <a:avLst/>
          </a:prstGeom>
          <a:noFill/>
          <a:ln/>
        </p:spPr>
        <p:txBody>
          <a:bodyPr wrap="square" lIns="0" tIns="0" rIns="0" bIns="0" rtlCol="0" anchor="t"/>
          <a:lstStyle/>
          <a:p>
            <a:pPr indent="0" marL="0">
              <a:lnSpc>
                <a:spcPts val="1600"/>
              </a:lnSpc>
              <a:buNone/>
            </a:pPr>
            <a:r>
              <a:rPr lang="en-US" sz="1200" dirty="0">
                <a:solidFill>
                  <a:srgbClr val="3E3E4B"/>
                </a:solidFill>
                <a:latin typeface="Calibri" pitchFamily="34" charset="0"/>
                <a:ea typeface="Calibri" pitchFamily="34" charset="-122"/>
                <a:cs typeface="Calibri" pitchFamily="34" charset="-120"/>
              </a:rPr>
              <a:t>Modern NVMe devices have low enough latency and high enough throughput that a separate cache device would add unnecessary overhead.</a:t>
            </a:r>
            <a:endParaRPr lang="en-US" sz="1200" dirty="0"/>
          </a:p>
        </p:txBody>
      </p:sp>
      <p:sp>
        <p:nvSpPr>
          <p:cNvPr id="15" name="Shape 13"/>
          <p:cNvSpPr/>
          <p:nvPr/>
        </p:nvSpPr>
        <p:spPr>
          <a:xfrm>
            <a:off x="8052816" y="1691640"/>
            <a:ext cx="3587496" cy="1783080"/>
          </a:xfrm>
          <a:prstGeom prst="roundRect">
            <a:avLst>
              <a:gd name="adj" fmla="val 4615"/>
            </a:avLst>
          </a:prstGeom>
          <a:solidFill>
            <a:srgbClr val="E5F7FC"/>
          </a:solidFill>
          <a:ln/>
        </p:spPr>
      </p:sp>
      <p:sp>
        <p:nvSpPr>
          <p:cNvPr id="16" name="Shape 14"/>
          <p:cNvSpPr/>
          <p:nvPr/>
        </p:nvSpPr>
        <p:spPr>
          <a:xfrm>
            <a:off x="8290560" y="1874520"/>
            <a:ext cx="329184" cy="329184"/>
          </a:xfrm>
          <a:prstGeom prst="ellipse">
            <a:avLst/>
          </a:prstGeom>
          <a:solidFill>
            <a:srgbClr val="00B3E2"/>
          </a:solidFill>
          <a:ln/>
        </p:spPr>
      </p:sp>
      <p:sp>
        <p:nvSpPr>
          <p:cNvPr id="17" name="Text 15"/>
          <p:cNvSpPr/>
          <p:nvPr/>
        </p:nvSpPr>
        <p:spPr>
          <a:xfrm>
            <a:off x="8290560" y="1874520"/>
            <a:ext cx="329184" cy="329184"/>
          </a:xfrm>
          <a:prstGeom prst="rect">
            <a:avLst/>
          </a:prstGeom>
          <a:noFill/>
          <a:ln/>
        </p:spPr>
        <p:txBody>
          <a:bodyPr wrap="square" lIns="0" tIns="0" rIns="0" bIns="0" rtlCol="0" anchor="ctr"/>
          <a:lstStyle/>
          <a:p>
            <a:pPr algn="ctr" indent="0" marL="0">
              <a:buNone/>
            </a:pPr>
            <a:r>
              <a:rPr lang="en-US" sz="1400" b="1" dirty="0">
                <a:solidFill>
                  <a:srgbClr val="3E3E4B"/>
                </a:solidFill>
                <a:latin typeface="Arial" pitchFamily="34" charset="0"/>
                <a:ea typeface="Arial" pitchFamily="34" charset="-122"/>
                <a:cs typeface="Arial" pitchFamily="34" charset="-120"/>
              </a:rPr>
              <a:t>3</a:t>
            </a:r>
            <a:endParaRPr lang="en-US" sz="1400" dirty="0"/>
          </a:p>
        </p:txBody>
      </p:sp>
      <p:sp>
        <p:nvSpPr>
          <p:cNvPr id="18" name="Text 16"/>
          <p:cNvSpPr/>
          <p:nvPr/>
        </p:nvSpPr>
        <p:spPr>
          <a:xfrm>
            <a:off x="8711184" y="1883664"/>
            <a:ext cx="2718816" cy="329184"/>
          </a:xfrm>
          <a:prstGeom prst="rect">
            <a:avLst/>
          </a:prstGeom>
          <a:noFill/>
          <a:ln/>
        </p:spPr>
        <p:txBody>
          <a:bodyPr wrap="square" lIns="0" tIns="0" rIns="0" bIns="0" rtlCol="0" anchor="ctr"/>
          <a:lstStyle/>
          <a:p>
            <a:pPr indent="0" marL="0">
              <a:buNone/>
            </a:pPr>
            <a:r>
              <a:rPr lang="en-US" sz="1350" b="1" dirty="0">
                <a:solidFill>
                  <a:srgbClr val="3E3E4B"/>
                </a:solidFill>
                <a:latin typeface="Arial" pitchFamily="34" charset="0"/>
                <a:ea typeface="Arial" pitchFamily="34" charset="-122"/>
                <a:cs typeface="Arial" pitchFamily="34" charset="-120"/>
              </a:rPr>
              <a:t>Connection architecture</a:t>
            </a:r>
            <a:endParaRPr lang="en-US" sz="1350" dirty="0"/>
          </a:p>
        </p:txBody>
      </p:sp>
      <p:sp>
        <p:nvSpPr>
          <p:cNvPr id="19" name="Text 17"/>
          <p:cNvSpPr/>
          <p:nvPr/>
        </p:nvSpPr>
        <p:spPr>
          <a:xfrm>
            <a:off x="8290560" y="2331720"/>
            <a:ext cx="3112008" cy="1051560"/>
          </a:xfrm>
          <a:prstGeom prst="rect">
            <a:avLst/>
          </a:prstGeom>
          <a:noFill/>
          <a:ln/>
        </p:spPr>
        <p:txBody>
          <a:bodyPr wrap="square" lIns="0" tIns="0" rIns="0" bIns="0" rtlCol="0" anchor="t"/>
          <a:lstStyle/>
          <a:p>
            <a:pPr indent="0" marL="0">
              <a:lnSpc>
                <a:spcPts val="1600"/>
              </a:lnSpc>
              <a:buNone/>
            </a:pPr>
            <a:r>
              <a:rPr lang="en-US" sz="1200" dirty="0">
                <a:solidFill>
                  <a:srgbClr val="3E3E4B"/>
                </a:solidFill>
                <a:latin typeface="Calibri" pitchFamily="34" charset="0"/>
                <a:ea typeface="Calibri" pitchFamily="34" charset="-122"/>
                <a:cs typeface="Calibri" pitchFamily="34" charset="-120"/>
              </a:rPr>
              <a:t>NVMe devices connect directly through the PCI bus rather than relying on traditional legacy storage-controller paths.</a:t>
            </a:r>
            <a:endParaRPr lang="en-US" sz="1200" dirty="0"/>
          </a:p>
        </p:txBody>
      </p:sp>
      <p:sp>
        <p:nvSpPr>
          <p:cNvPr id="20" name="Shape 18"/>
          <p:cNvSpPr/>
          <p:nvPr/>
        </p:nvSpPr>
        <p:spPr>
          <a:xfrm>
            <a:off x="548640" y="3657600"/>
            <a:ext cx="5408676" cy="1234440"/>
          </a:xfrm>
          <a:prstGeom prst="roundRect">
            <a:avLst>
              <a:gd name="adj" fmla="val 6667"/>
            </a:avLst>
          </a:prstGeom>
          <a:solidFill>
            <a:srgbClr val="E2F2E8"/>
          </a:solidFill>
          <a:ln/>
        </p:spPr>
      </p:sp>
      <p:sp>
        <p:nvSpPr>
          <p:cNvPr id="21" name="Text 19"/>
          <p:cNvSpPr/>
          <p:nvPr/>
        </p:nvSpPr>
        <p:spPr>
          <a:xfrm>
            <a:off x="804672" y="3767328"/>
            <a:ext cx="4951476" cy="274320"/>
          </a:xfrm>
          <a:prstGeom prst="rect">
            <a:avLst/>
          </a:prstGeom>
          <a:noFill/>
          <a:ln/>
        </p:spPr>
        <p:txBody>
          <a:bodyPr wrap="square" lIns="0" tIns="0" rIns="0" bIns="0" rtlCol="0" anchor="ctr"/>
          <a:lstStyle/>
          <a:p>
            <a:pPr indent="0" marL="0">
              <a:buNone/>
            </a:pPr>
            <a:r>
              <a:rPr lang="en-US" sz="1400" b="1" dirty="0">
                <a:solidFill>
                  <a:srgbClr val="00AD93"/>
                </a:solidFill>
                <a:latin typeface="Arial" pitchFamily="34" charset="0"/>
                <a:ea typeface="Arial" pitchFamily="34" charset="-122"/>
                <a:cs typeface="Arial" pitchFamily="34" charset="-120"/>
              </a:rPr>
              <a:t>CPU benefit</a:t>
            </a:r>
            <a:endParaRPr lang="en-US" sz="1400" dirty="0"/>
          </a:p>
        </p:txBody>
      </p:sp>
      <p:sp>
        <p:nvSpPr>
          <p:cNvPr id="22" name="Text 20"/>
          <p:cNvSpPr/>
          <p:nvPr/>
        </p:nvSpPr>
        <p:spPr>
          <a:xfrm>
            <a:off x="804672" y="4114800"/>
            <a:ext cx="4896612" cy="685800"/>
          </a:xfrm>
          <a:prstGeom prst="rect">
            <a:avLst/>
          </a:prstGeom>
          <a:noFill/>
          <a:ln/>
        </p:spPr>
        <p:txBody>
          <a:bodyPr wrap="square" lIns="0" tIns="0" rIns="0" bIns="0" rtlCol="0" anchor="t"/>
          <a:lstStyle/>
          <a:p>
            <a:pPr indent="0" marL="0">
              <a:lnSpc>
                <a:spcPts val="1700"/>
              </a:lnSpc>
              <a:buNone/>
            </a:pPr>
            <a:r>
              <a:rPr lang="en-US" sz="1250" dirty="0">
                <a:solidFill>
                  <a:srgbClr val="3E3E4B"/>
                </a:solidFill>
                <a:latin typeface="Calibri" pitchFamily="34" charset="0"/>
                <a:ea typeface="Calibri" pitchFamily="34" charset="-122"/>
                <a:cs typeface="Calibri" pitchFamily="34" charset="-120"/>
              </a:rPr>
              <a:t>ESA eliminates much of the processing associated with cache management and destaging, returning that capacity to workloads.</a:t>
            </a:r>
            <a:endParaRPr lang="en-US" sz="1250" dirty="0"/>
          </a:p>
        </p:txBody>
      </p:sp>
      <p:sp>
        <p:nvSpPr>
          <p:cNvPr id="23" name="Shape 21"/>
          <p:cNvSpPr/>
          <p:nvPr/>
        </p:nvSpPr>
        <p:spPr>
          <a:xfrm>
            <a:off x="6231636" y="3657600"/>
            <a:ext cx="5408676" cy="1234440"/>
          </a:xfrm>
          <a:prstGeom prst="roundRect">
            <a:avLst>
              <a:gd name="adj" fmla="val 6667"/>
            </a:avLst>
          </a:prstGeom>
          <a:solidFill>
            <a:srgbClr val="E2F2E8"/>
          </a:solidFill>
          <a:ln/>
        </p:spPr>
      </p:sp>
      <p:sp>
        <p:nvSpPr>
          <p:cNvPr id="24" name="Text 22"/>
          <p:cNvSpPr/>
          <p:nvPr/>
        </p:nvSpPr>
        <p:spPr>
          <a:xfrm>
            <a:off x="6487668" y="3767328"/>
            <a:ext cx="4951476" cy="274320"/>
          </a:xfrm>
          <a:prstGeom prst="rect">
            <a:avLst/>
          </a:prstGeom>
          <a:noFill/>
          <a:ln/>
        </p:spPr>
        <p:txBody>
          <a:bodyPr wrap="square" lIns="0" tIns="0" rIns="0" bIns="0" rtlCol="0" anchor="ctr"/>
          <a:lstStyle/>
          <a:p>
            <a:pPr indent="0" marL="0">
              <a:buNone/>
            </a:pPr>
            <a:r>
              <a:rPr lang="en-US" sz="1400" b="1" dirty="0">
                <a:solidFill>
                  <a:srgbClr val="00AD93"/>
                </a:solidFill>
                <a:latin typeface="Arial" pitchFamily="34" charset="0"/>
                <a:ea typeface="Arial" pitchFamily="34" charset="-122"/>
                <a:cs typeface="Arial" pitchFamily="34" charset="-120"/>
              </a:rPr>
              <a:t>Performance benefit</a:t>
            </a:r>
            <a:endParaRPr lang="en-US" sz="1400" dirty="0"/>
          </a:p>
        </p:txBody>
      </p:sp>
      <p:sp>
        <p:nvSpPr>
          <p:cNvPr id="25" name="Text 23"/>
          <p:cNvSpPr/>
          <p:nvPr/>
        </p:nvSpPr>
        <p:spPr>
          <a:xfrm>
            <a:off x="6487668" y="4114800"/>
            <a:ext cx="4896612" cy="685800"/>
          </a:xfrm>
          <a:prstGeom prst="rect">
            <a:avLst/>
          </a:prstGeom>
          <a:noFill/>
          <a:ln/>
        </p:spPr>
        <p:txBody>
          <a:bodyPr wrap="square" lIns="0" tIns="0" rIns="0" bIns="0" rtlCol="0" anchor="t"/>
          <a:lstStyle/>
          <a:p>
            <a:pPr indent="0" marL="0">
              <a:lnSpc>
                <a:spcPts val="1700"/>
              </a:lnSpc>
              <a:buNone/>
            </a:pPr>
            <a:r>
              <a:rPr lang="en-US" sz="1250" dirty="0">
                <a:solidFill>
                  <a:srgbClr val="3E3E4B"/>
                </a:solidFill>
                <a:latin typeface="Calibri" pitchFamily="34" charset="0"/>
                <a:ea typeface="Calibri" pitchFamily="34" charset="-122"/>
                <a:cs typeface="Calibri" pitchFamily="34" charset="-120"/>
              </a:rPr>
              <a:t>The design is positioned for workloads requiring high throughput and low latency, including sustained write patterns.</a:t>
            </a:r>
            <a:endParaRPr lang="en-US" sz="1250" dirty="0"/>
          </a:p>
        </p:txBody>
      </p:sp>
      <p:sp>
        <p:nvSpPr>
          <p:cNvPr id="26" name="Shape 24"/>
          <p:cNvSpPr/>
          <p:nvPr/>
        </p:nvSpPr>
        <p:spPr>
          <a:xfrm>
            <a:off x="548640" y="5120640"/>
            <a:ext cx="11091672" cy="548640"/>
          </a:xfrm>
          <a:prstGeom prst="roundRect">
            <a:avLst>
              <a:gd name="adj" fmla="val 15000"/>
            </a:avLst>
          </a:prstGeom>
          <a:solidFill>
            <a:srgbClr val="EBEDED"/>
          </a:solidFill>
          <a:ln/>
        </p:spPr>
      </p:sp>
      <p:sp>
        <p:nvSpPr>
          <p:cNvPr id="27" name="Text 25"/>
          <p:cNvSpPr/>
          <p:nvPr/>
        </p:nvSpPr>
        <p:spPr>
          <a:xfrm>
            <a:off x="731520" y="5120640"/>
            <a:ext cx="10725912" cy="548640"/>
          </a:xfrm>
          <a:prstGeom prst="rect">
            <a:avLst/>
          </a:prstGeom>
          <a:noFill/>
          <a:ln/>
        </p:spPr>
        <p:txBody>
          <a:bodyPr wrap="square" lIns="0" tIns="0" rIns="0" bIns="0" rtlCol="0" anchor="ctr"/>
          <a:lstStyle/>
          <a:p>
            <a:pPr indent="0" marL="0">
              <a:buNone/>
            </a:pPr>
            <a:r>
              <a:rPr lang="en-US" sz="1100" b="1" dirty="0">
                <a:solidFill>
                  <a:srgbClr val="00B3E2"/>
                </a:solidFill>
                <a:latin typeface="Arial" pitchFamily="34" charset="0"/>
                <a:ea typeface="Arial" pitchFamily="34" charset="-122"/>
                <a:cs typeface="Arial" pitchFamily="34" charset="-120"/>
              </a:rPr>
              <a:t>Takeaway   </a:t>
            </a:r>
            <a:pPr indent="0" marL="0">
              <a:buNone/>
            </a:pPr>
            <a:r>
              <a:rPr lang="en-US" sz="1200" dirty="0">
                <a:solidFill>
                  <a:srgbClr val="3E3E4B"/>
                </a:solidFill>
                <a:latin typeface="Calibri" pitchFamily="34" charset="0"/>
                <a:ea typeface="Calibri" pitchFamily="34" charset="-122"/>
                <a:cs typeface="Calibri" pitchFamily="34" charset="-120"/>
              </a:rPr>
              <a:t>AV64's value is not limited to additional CPU cores. ESA changes the storage path and removes the cache-destaging behavior that constrains sustained write-heavy workloads.</a:t>
            </a:r>
            <a:endParaRPr lang="en-US" sz="1100" dirty="0"/>
          </a:p>
        </p:txBody>
      </p:sp>
      <p:sp>
        <p:nvSpPr>
          <p:cNvPr id="28" name="Text 26"/>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4. vSAN storage architecture</a:t>
            </a:r>
            <a:endParaRPr lang="en-US" sz="950" dirty="0"/>
          </a:p>
        </p:txBody>
      </p:sp>
      <p:sp>
        <p:nvSpPr>
          <p:cNvPr id="29" name="Text 27"/>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4.3 COMPARISON</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vSAN OSA and ESA side by side</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108960"/>
                <a:gridCol w="3991356"/>
                <a:gridCol w="3991356"/>
              </a:tblGrid>
              <a:tr h="438912">
                <a:tc>
                  <a:txBody>
                    <a:bodyPr/>
                    <a:lstStyle/>
                    <a:p>
                      <a:pPr indent="0" marL="0">
                        <a:buNone/>
                      </a:pPr>
                      <a:r>
                        <a:rPr lang="en-US" sz="1150" b="1" dirty="0">
                          <a:solidFill>
                            <a:srgbClr val="FFFFFF"/>
                          </a:solidFill>
                          <a:latin typeface="Arial" pitchFamily="34" charset="0"/>
                          <a:ea typeface="Arial" pitchFamily="34" charset="-122"/>
                          <a:cs typeface="Arial" pitchFamily="34" charset="-120"/>
                        </a:rPr>
                        <a:t>Characteristic</a:t>
                      </a:r>
                      <a:endParaRPr lang="en-US" sz="1150" dirty="0">
                        <a:latin typeface="Arial" charset="0"/>
                        <a:ea typeface="Arial" charset="0"/>
                        <a:cs typeface="Arial"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3E3E4B"/>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vSAN OSA</a:t>
                      </a:r>
                      <a:endParaRPr lang="en-US" sz="1150" dirty="0">
                        <a:latin typeface="Arial" charset="0"/>
                        <a:ea typeface="Arial" charset="0"/>
                        <a:cs typeface="Arial"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3E3E4B"/>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vSAN ESA</a:t>
                      </a:r>
                      <a:endParaRPr lang="en-US" sz="1150" dirty="0">
                        <a:latin typeface="Arial" charset="0"/>
                        <a:ea typeface="Arial" charset="0"/>
                        <a:cs typeface="Arial"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3E3E4B"/>
                    </a:solidFill>
                  </a:tcPr>
                </a:tc>
              </a:tr>
              <a:tr h="438912">
                <a:tc>
                  <a:txBody>
                    <a:bodyPr/>
                    <a:lstStyle/>
                    <a:p>
                      <a:pPr indent="0" marL="0">
                        <a:buNone/>
                      </a:pPr>
                      <a:r>
                        <a:rPr lang="en-US" sz="1200" b="1" dirty="0">
                          <a:solidFill>
                            <a:srgbClr val="3E3E4B"/>
                          </a:solidFill>
                          <a:latin typeface="Calibri" pitchFamily="34" charset="0"/>
                          <a:ea typeface="Calibri" pitchFamily="34" charset="-122"/>
                          <a:cs typeface="Calibri" pitchFamily="34" charset="-120"/>
                        </a:rPr>
                        <a:t>Device organization</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Disk groups</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Single storage pool</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3E3E4B"/>
                          </a:solidFill>
                          <a:latin typeface="Calibri" pitchFamily="34" charset="0"/>
                          <a:ea typeface="Calibri" pitchFamily="34" charset="-122"/>
                          <a:cs typeface="Calibri" pitchFamily="34" charset="-120"/>
                        </a:rPr>
                        <a:t>Cache tier</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Dedicated cache device</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No separate cache tier</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r>
              <a:tr h="438912">
                <a:tc>
                  <a:txBody>
                    <a:bodyPr/>
                    <a:lstStyle/>
                    <a:p>
                      <a:pPr indent="0" marL="0">
                        <a:buNone/>
                      </a:pPr>
                      <a:r>
                        <a:rPr lang="en-US" sz="1200" b="1" dirty="0">
                          <a:solidFill>
                            <a:srgbClr val="3E3E4B"/>
                          </a:solidFill>
                          <a:latin typeface="Calibri" pitchFamily="34" charset="0"/>
                          <a:ea typeface="Calibri" pitchFamily="34" charset="-122"/>
                          <a:cs typeface="Calibri" pitchFamily="34" charset="-120"/>
                        </a:rPr>
                        <a:t>Capacity tier</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Separate capacity devices</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Direct NVMe capacity</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3E3E4B"/>
                          </a:solidFill>
                          <a:latin typeface="Calibri" pitchFamily="34" charset="0"/>
                          <a:ea typeface="Calibri" pitchFamily="34" charset="-122"/>
                          <a:cs typeface="Calibri" pitchFamily="34" charset="-120"/>
                        </a:rPr>
                        <a:t>Write behavior</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Write to cache, then destage</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Write directly to NVMe pool</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r>
              <a:tr h="438912">
                <a:tc>
                  <a:txBody>
                    <a:bodyPr/>
                    <a:lstStyle/>
                    <a:p>
                      <a:pPr indent="0" marL="0">
                        <a:buNone/>
                      </a:pPr>
                      <a:r>
                        <a:rPr lang="en-US" sz="1200" b="1" dirty="0">
                          <a:solidFill>
                            <a:srgbClr val="3E3E4B"/>
                          </a:solidFill>
                          <a:latin typeface="Calibri" pitchFamily="34" charset="0"/>
                          <a:ea typeface="Calibri" pitchFamily="34" charset="-122"/>
                          <a:cs typeface="Calibri" pitchFamily="34" charset="-120"/>
                        </a:rPr>
                        <a:t>Main historical advantage</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Masks slower capacity media</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Optimized for modern NVMe</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3E3E4B"/>
                          </a:solidFill>
                          <a:latin typeface="Calibri" pitchFamily="34" charset="0"/>
                          <a:ea typeface="Calibri" pitchFamily="34" charset="-122"/>
                          <a:cs typeface="Calibri" pitchFamily="34" charset="-120"/>
                        </a:rPr>
                        <a:t>Main processing overhead</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Cache management and destaging</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Reduced cache-management overhead</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r>
              <a:tr h="438912">
                <a:tc>
                  <a:txBody>
                    <a:bodyPr/>
                    <a:lstStyle/>
                    <a:p>
                      <a:pPr indent="0" marL="0">
                        <a:buNone/>
                      </a:pPr>
                      <a:r>
                        <a:rPr lang="en-US" sz="1200" b="1" dirty="0">
                          <a:solidFill>
                            <a:srgbClr val="3E3E4B"/>
                          </a:solidFill>
                          <a:latin typeface="Calibri" pitchFamily="34" charset="0"/>
                          <a:ea typeface="Calibri" pitchFamily="34" charset="-122"/>
                          <a:cs typeface="Calibri" pitchFamily="34" charset="-120"/>
                        </a:rPr>
                        <a:t>Congestion risk</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Cache fills faster than destaging</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Bottleneck moves to other system components</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3E3E4B"/>
                          </a:solidFill>
                          <a:latin typeface="Calibri" pitchFamily="34" charset="0"/>
                          <a:ea typeface="Calibri" pitchFamily="34" charset="-122"/>
                          <a:cs typeface="Calibri" pitchFamily="34" charset="-120"/>
                        </a:rPr>
                        <a:t>Associated hosts</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AV36, AV36P, AV52</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AV48 and AV64 Generation 2</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r>
            </a:tbl>
          </a:graphicData>
        </a:graphic>
      </p:graphicFrame>
      <p:sp>
        <p:nvSpPr>
          <p:cNvPr id="5" name="Shape 2"/>
          <p:cNvSpPr/>
          <p:nvPr/>
        </p:nvSpPr>
        <p:spPr>
          <a:xfrm>
            <a:off x="548640" y="5212080"/>
            <a:ext cx="11091672" cy="548640"/>
          </a:xfrm>
          <a:prstGeom prst="roundRect">
            <a:avLst>
              <a:gd name="adj" fmla="val 15000"/>
            </a:avLst>
          </a:prstGeom>
          <a:solidFill>
            <a:srgbClr val="FAC458"/>
          </a:solidFill>
          <a:ln/>
        </p:spPr>
      </p:sp>
      <p:sp>
        <p:nvSpPr>
          <p:cNvPr id="6" name="Text 3"/>
          <p:cNvSpPr/>
          <p:nvPr/>
        </p:nvSpPr>
        <p:spPr>
          <a:xfrm>
            <a:off x="777240" y="5212080"/>
            <a:ext cx="10634472" cy="548640"/>
          </a:xfrm>
          <a:prstGeom prst="rect">
            <a:avLst/>
          </a:prstGeom>
          <a:noFill/>
          <a:ln/>
        </p:spPr>
        <p:txBody>
          <a:bodyPr wrap="square" lIns="0" tIns="0" rIns="0" bIns="0" rtlCol="0" anchor="ctr"/>
          <a:lstStyle/>
          <a:p>
            <a:pPr indent="0" marL="0">
              <a:buNone/>
            </a:pPr>
            <a:r>
              <a:rPr lang="en-US" sz="1100" b="1" dirty="0">
                <a:solidFill>
                  <a:srgbClr val="3E3E4B"/>
                </a:solidFill>
                <a:latin typeface="Arial" pitchFamily="34" charset="0"/>
                <a:ea typeface="Arial" pitchFamily="34" charset="-122"/>
                <a:cs typeface="Arial" pitchFamily="34" charset="-120"/>
              </a:rPr>
              <a:t>Validate:  </a:t>
            </a:r>
            <a:pPr indent="0" marL="0">
              <a:buNone/>
            </a:pPr>
            <a:r>
              <a:rPr lang="en-US" sz="1150" dirty="0">
                <a:solidFill>
                  <a:srgbClr val="3E3E4B"/>
                </a:solidFill>
                <a:latin typeface="Calibri" pitchFamily="34" charset="0"/>
                <a:ea typeface="Calibri" pitchFamily="34" charset="-122"/>
                <a:cs typeface="Calibri" pitchFamily="34" charset="-120"/>
              </a:rPr>
              <a:t>Confirm exact storage capacities, disk layouts, supported storage architectures, and host-generation associations in current product documentation.</a:t>
            </a:r>
            <a:endParaRPr lang="en-US" sz="1100" dirty="0"/>
          </a:p>
        </p:txBody>
      </p:sp>
      <p:sp>
        <p:nvSpPr>
          <p:cNvPr id="7" name="Text 4"/>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4.3 OSA and ESA comparison</a:t>
            </a:r>
            <a:endParaRPr lang="en-US" sz="950" dirty="0"/>
          </a:p>
        </p:txBody>
      </p:sp>
      <p:sp>
        <p:nvSpPr>
          <p:cNvPr id="8" name="Text 5"/>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E3E4B"/>
        </a:solidFill>
      </p:bgPr>
    </p:bg>
    <p:spTree>
      <p:nvGrpSpPr>
        <p:cNvPr id="1" name=""/>
        <p:cNvGrpSpPr/>
        <p:nvPr/>
      </p:nvGrpSpPr>
      <p:grpSpPr>
        <a:xfrm>
          <a:off x="0" y="0"/>
          <a:ext cx="0" cy="0"/>
          <a:chOff x="0" y="0"/>
          <a:chExt cx="0" cy="0"/>
        </a:xfrm>
      </p:grpSpPr>
      <p:sp>
        <p:nvSpPr>
          <p:cNvPr id="2" name="Text 0"/>
          <p:cNvSpPr/>
          <p:nvPr/>
        </p:nvSpPr>
        <p:spPr>
          <a:xfrm>
            <a:off x="548640" y="1828800"/>
            <a:ext cx="2194560" cy="1371600"/>
          </a:xfrm>
          <a:prstGeom prst="rect">
            <a:avLst/>
          </a:prstGeom>
          <a:noFill/>
          <a:ln/>
        </p:spPr>
        <p:txBody>
          <a:bodyPr wrap="square" lIns="0" tIns="0" rIns="0" bIns="0" rtlCol="0" anchor="ctr"/>
          <a:lstStyle/>
          <a:p>
            <a:pPr indent="0" marL="0">
              <a:buNone/>
            </a:pPr>
            <a:r>
              <a:rPr lang="en-US" sz="10000" b="1" dirty="0">
                <a:solidFill>
                  <a:srgbClr val="00B3E2"/>
                </a:solidFill>
                <a:latin typeface="Arial" pitchFamily="34" charset="0"/>
                <a:ea typeface="Arial" pitchFamily="34" charset="-122"/>
                <a:cs typeface="Arial" pitchFamily="34" charset="-120"/>
              </a:rPr>
              <a:t>03</a:t>
            </a:r>
            <a:endParaRPr lang="en-US" sz="10000" dirty="0"/>
          </a:p>
        </p:txBody>
      </p:sp>
      <p:sp>
        <p:nvSpPr>
          <p:cNvPr id="3" name="Text 1"/>
          <p:cNvSpPr/>
          <p:nvPr/>
        </p:nvSpPr>
        <p:spPr>
          <a:xfrm>
            <a:off x="2468880" y="1920240"/>
            <a:ext cx="9171432" cy="77724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Networking</a:t>
            </a:r>
            <a:endParaRPr lang="en-US" sz="3400" dirty="0"/>
          </a:p>
        </p:txBody>
      </p:sp>
      <p:sp>
        <p:nvSpPr>
          <p:cNvPr id="4" name="Text 2"/>
          <p:cNvSpPr/>
          <p:nvPr/>
        </p:nvSpPr>
        <p:spPr>
          <a:xfrm>
            <a:off x="2468880" y="2743200"/>
            <a:ext cx="8897112" cy="914400"/>
          </a:xfrm>
          <a:prstGeom prst="rect">
            <a:avLst/>
          </a:prstGeom>
          <a:noFill/>
          <a:ln/>
        </p:spPr>
        <p:txBody>
          <a:bodyPr wrap="square" lIns="0" tIns="0" rIns="0" bIns="0" rtlCol="0" anchor="t"/>
          <a:lstStyle/>
          <a:p>
            <a:pPr indent="0" marL="0">
              <a:lnSpc>
                <a:spcPts val="2000"/>
              </a:lnSpc>
              <a:buNone/>
            </a:pPr>
            <a:r>
              <a:rPr lang="en-US" sz="1400" dirty="0">
                <a:solidFill>
                  <a:srgbClr val="B2E8F6"/>
                </a:solidFill>
                <a:latin typeface="Calibri" pitchFamily="34" charset="0"/>
                <a:ea typeface="Calibri" pitchFamily="34" charset="-122"/>
                <a:cs typeface="Calibri" pitchFamily="34" charset="-120"/>
              </a:rPr>
              <a:t>Generation 1 places the private cloud adjacent to Azure and connects it through ExpressRoute. Generation 2 injects the private cloud into an Azure virtual network and inherits Azure-native route limits.</a:t>
            </a:r>
            <a:endParaRPr lang="en-US" sz="1400" dirty="0"/>
          </a:p>
        </p:txBody>
      </p:sp>
      <p:sp>
        <p:nvSpPr>
          <p:cNvPr id="5" name="Shape 3"/>
          <p:cNvSpPr/>
          <p:nvPr/>
        </p:nvSpPr>
        <p:spPr>
          <a:xfrm>
            <a:off x="2514600" y="2697480"/>
            <a:ext cx="1005840" cy="45720"/>
          </a:xfrm>
          <a:prstGeom prst="roundRect">
            <a:avLst>
              <a:gd name="adj" fmla="val 40000"/>
            </a:avLst>
          </a:prstGeom>
          <a:solidFill>
            <a:srgbClr val="00B3E2"/>
          </a:solidFill>
          <a:ln/>
        </p:spPr>
      </p:sp>
      <p:sp>
        <p:nvSpPr>
          <p:cNvPr id="6" name="Text 4"/>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Section</a:t>
            </a:r>
            <a:endParaRPr lang="en-US" sz="950" dirty="0"/>
          </a:p>
        </p:txBody>
      </p:sp>
      <p:sp>
        <p:nvSpPr>
          <p:cNvPr id="7" name="Text 5"/>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5. GENERATION 1 CONNECTIVITY</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ExpressRoute adjacency</a:t>
            </a:r>
            <a:endParaRPr lang="en-US" sz="2800" dirty="0"/>
          </a:p>
        </p:txBody>
      </p:sp>
      <p:sp>
        <p:nvSpPr>
          <p:cNvPr id="4" name="Shape 2"/>
          <p:cNvSpPr/>
          <p:nvPr/>
        </p:nvSpPr>
        <p:spPr>
          <a:xfrm>
            <a:off x="548640" y="1280160"/>
            <a:ext cx="6309360" cy="4206240"/>
          </a:xfrm>
          <a:prstGeom prst="roundRect">
            <a:avLst>
              <a:gd name="adj" fmla="val 1957"/>
            </a:avLst>
          </a:prstGeom>
          <a:solidFill>
            <a:srgbClr val="FFFFFF"/>
          </a:solidFill>
          <a:ln w="12700">
            <a:solidFill>
              <a:srgbClr val="DDE2E2"/>
            </a:solidFill>
            <a:prstDash val="solid"/>
          </a:ln>
        </p:spPr>
      </p:sp>
      <p:pic>
        <p:nvPicPr>
          <p:cNvPr id="5" name="Image 0" descr="/home/claude/src/images/gen1-on-premises-interconnectivity.png">    </p:cNvPr>
          <p:cNvPicPr>
            <a:picLocks noChangeAspect="1"/>
          </p:cNvPicPr>
          <p:nvPr/>
        </p:nvPicPr>
        <p:blipFill>
          <a:blip r:embed="rId1"/>
          <a:srcRect l="0" r="0" t="0" b="0"/>
          <a:stretch/>
        </p:blipFill>
        <p:spPr>
          <a:xfrm>
            <a:off x="658368" y="1389888"/>
            <a:ext cx="6089904" cy="3675888"/>
          </a:xfrm>
          <a:prstGeom prst="rect">
            <a:avLst/>
          </a:prstGeom>
        </p:spPr>
      </p:pic>
      <p:sp>
        <p:nvSpPr>
          <p:cNvPr id="6" name="Text 3"/>
          <p:cNvSpPr/>
          <p:nvPr/>
        </p:nvSpPr>
        <p:spPr>
          <a:xfrm>
            <a:off x="658368" y="5138928"/>
            <a:ext cx="6089904" cy="256032"/>
          </a:xfrm>
          <a:prstGeom prst="rect">
            <a:avLst/>
          </a:prstGeom>
          <a:noFill/>
          <a:ln/>
        </p:spPr>
        <p:txBody>
          <a:bodyPr wrap="square" lIns="0" tIns="0" rIns="0" bIns="0" rtlCol="0" anchor="ctr"/>
          <a:lstStyle/>
          <a:p>
            <a:pPr algn="ctr" indent="0" marL="0">
              <a:buNone/>
            </a:pPr>
            <a:r>
              <a:rPr lang="en-US" sz="900" i="1" dirty="0">
                <a:solidFill>
                  <a:srgbClr val="6B6B78"/>
                </a:solidFill>
                <a:latin typeface="Calibri" pitchFamily="34" charset="0"/>
                <a:ea typeface="Calibri" pitchFamily="34" charset="-122"/>
                <a:cs typeface="Calibri" pitchFamily="34" charset="-120"/>
              </a:rPr>
              <a:t>Source: Microsoft Learn, Azure VMware Solution networking and interconnectivity concepts</a:t>
            </a:r>
            <a:endParaRPr lang="en-US" sz="900" dirty="0"/>
          </a:p>
        </p:txBody>
      </p:sp>
      <p:sp>
        <p:nvSpPr>
          <p:cNvPr id="7" name="Shape 4"/>
          <p:cNvSpPr/>
          <p:nvPr/>
        </p:nvSpPr>
        <p:spPr>
          <a:xfrm>
            <a:off x="7086600" y="1280160"/>
            <a:ext cx="4553712" cy="1965960"/>
          </a:xfrm>
          <a:prstGeom prst="roundRect">
            <a:avLst>
              <a:gd name="adj" fmla="val 4186"/>
            </a:avLst>
          </a:prstGeom>
          <a:solidFill>
            <a:srgbClr val="EBEDED"/>
          </a:solidFill>
          <a:ln/>
        </p:spPr>
      </p:sp>
      <p:sp>
        <p:nvSpPr>
          <p:cNvPr id="8" name="Text 5"/>
          <p:cNvSpPr/>
          <p:nvPr/>
        </p:nvSpPr>
        <p:spPr>
          <a:xfrm>
            <a:off x="7324344" y="1389888"/>
            <a:ext cx="4096512"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Connectivity model</a:t>
            </a:r>
            <a:endParaRPr lang="en-US" sz="1400" dirty="0"/>
          </a:p>
        </p:txBody>
      </p:sp>
      <p:sp>
        <p:nvSpPr>
          <p:cNvPr id="9" name="Text 6"/>
          <p:cNvSpPr/>
          <p:nvPr/>
        </p:nvSpPr>
        <p:spPr>
          <a:xfrm>
            <a:off x="7324344" y="1783080"/>
            <a:ext cx="4078224" cy="1371600"/>
          </a:xfrm>
          <a:prstGeom prst="rect">
            <a:avLst/>
          </a:prstGeom>
          <a:noFill/>
          <a:ln/>
        </p:spPr>
        <p:txBody>
          <a:bodyPr wrap="square" lIns="0" tIns="0" rIns="0" bIns="0" rtlCol="0" anchor="t"/>
          <a:lstStyle/>
          <a:p>
            <a:pPr marL="177800" indent="-177800">
              <a:lnSpc>
                <a:spcPts val="1700"/>
              </a:lnSpc>
              <a:spcAft>
                <a:spcPts val="500"/>
              </a:spcAft>
              <a:buSzPct val="100000"/>
              <a:buChar char="•"/>
            </a:pPr>
            <a:r>
              <a:rPr lang="en-US" sz="1150" dirty="0">
                <a:solidFill>
                  <a:srgbClr val="3E3E4B"/>
                </a:solidFill>
                <a:latin typeface="Calibri" pitchFamily="34" charset="0"/>
                <a:ea typeface="Calibri" pitchFamily="34" charset="-122"/>
                <a:cs typeface="Calibri" pitchFamily="34" charset="-120"/>
              </a:rPr>
              <a:t>The AVS private cloud and Azure virtual networks do not occupy the same routing domain.</a:t>
            </a:r>
            <a:endParaRPr lang="en-US" sz="1150" dirty="0"/>
          </a:p>
          <a:p>
            <a:pPr marL="177800" indent="-177800">
              <a:lnSpc>
                <a:spcPts val="1700"/>
              </a:lnSpc>
              <a:spcAft>
                <a:spcPts val="500"/>
              </a:spcAft>
              <a:buSzPct val="100000"/>
              <a:buChar char="•"/>
            </a:pPr>
            <a:r>
              <a:rPr lang="en-US" sz="1150" dirty="0">
                <a:solidFill>
                  <a:srgbClr val="3E3E4B"/>
                </a:solidFill>
                <a:latin typeface="Calibri" pitchFamily="34" charset="0"/>
                <a:ea typeface="Calibri" pitchFamily="34" charset="-122"/>
                <a:cs typeface="Calibri" pitchFamily="34" charset="-120"/>
              </a:rPr>
              <a:t>Communication between Gen 1 AVS and Azure VNets uses ExpressRoute.</a:t>
            </a:r>
            <a:endParaRPr lang="en-US" sz="1150" dirty="0"/>
          </a:p>
          <a:p>
            <a:pPr marL="177800" indent="-177800">
              <a:lnSpc>
                <a:spcPts val="1700"/>
              </a:lnSpc>
              <a:spcAft>
                <a:spcPts val="500"/>
              </a:spcAft>
              <a:buSzPct val="100000"/>
              <a:buChar char="•"/>
            </a:pPr>
            <a:r>
              <a:rPr lang="en-US" sz="1150" dirty="0">
                <a:solidFill>
                  <a:srgbClr val="3E3E4B"/>
                </a:solidFill>
                <a:latin typeface="Calibri" pitchFamily="34" charset="0"/>
                <a:ea typeface="Calibri" pitchFamily="34" charset="-122"/>
                <a:cs typeface="Calibri" pitchFamily="34" charset="-120"/>
              </a:rPr>
              <a:t>ExpressRoute Global Reach connects AVS with on-premises networks.</a:t>
            </a:r>
            <a:endParaRPr lang="en-US" sz="1150" dirty="0"/>
          </a:p>
          <a:p>
            <a:pPr marL="177800" indent="-177800">
              <a:lnSpc>
                <a:spcPts val="1700"/>
              </a:lnSpc>
              <a:spcAft>
                <a:spcPts val="500"/>
              </a:spcAft>
              <a:buSzPct val="100000"/>
              <a:buChar char="•"/>
            </a:pPr>
            <a:r>
              <a:rPr lang="en-US" sz="1150" dirty="0">
                <a:solidFill>
                  <a:srgbClr val="3E3E4B"/>
                </a:solidFill>
                <a:latin typeface="Calibri" pitchFamily="34" charset="0"/>
                <a:ea typeface="Calibri" pitchFamily="34" charset="-122"/>
                <a:cs typeface="Calibri" pitchFamily="34" charset="-120"/>
              </a:rPr>
              <a:t>BGP exchanges routes between the domains.</a:t>
            </a:r>
            <a:endParaRPr lang="en-US" sz="1150" dirty="0"/>
          </a:p>
        </p:txBody>
      </p:sp>
      <p:sp>
        <p:nvSpPr>
          <p:cNvPr id="10" name="Shape 7"/>
          <p:cNvSpPr/>
          <p:nvPr/>
        </p:nvSpPr>
        <p:spPr>
          <a:xfrm>
            <a:off x="7086600" y="3383280"/>
            <a:ext cx="4553712" cy="2103120"/>
          </a:xfrm>
          <a:prstGeom prst="roundRect">
            <a:avLst>
              <a:gd name="adj" fmla="val 3913"/>
            </a:avLst>
          </a:prstGeom>
          <a:solidFill>
            <a:srgbClr val="E5F7FC"/>
          </a:solidFill>
          <a:ln/>
        </p:spPr>
      </p:sp>
      <p:sp>
        <p:nvSpPr>
          <p:cNvPr id="11" name="Text 8"/>
          <p:cNvSpPr/>
          <p:nvPr/>
        </p:nvSpPr>
        <p:spPr>
          <a:xfrm>
            <a:off x="7324344" y="3493008"/>
            <a:ext cx="4096512"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Components in the path</a:t>
            </a:r>
            <a:endParaRPr lang="en-US" sz="1400" dirty="0"/>
          </a:p>
        </p:txBody>
      </p:sp>
      <p:sp>
        <p:nvSpPr>
          <p:cNvPr id="12" name="Text 9"/>
          <p:cNvSpPr/>
          <p:nvPr/>
        </p:nvSpPr>
        <p:spPr>
          <a:xfrm>
            <a:off x="7324344" y="3886200"/>
            <a:ext cx="4078224" cy="1463040"/>
          </a:xfrm>
          <a:prstGeom prst="rect">
            <a:avLst/>
          </a:prstGeom>
          <a:noFill/>
          <a:ln/>
        </p:spPr>
        <p:txBody>
          <a:bodyPr wrap="square" lIns="0" tIns="0" rIns="0" bIns="0" rtlCol="0" anchor="t"/>
          <a:lstStyle/>
          <a:p>
            <a:pPr marL="177800" indent="-177800">
              <a:lnSpc>
                <a:spcPts val="1700"/>
              </a:lnSpc>
              <a:spcAft>
                <a:spcPts val="600"/>
              </a:spcAft>
              <a:buSzPct val="100000"/>
              <a:buChar char="•"/>
            </a:pPr>
            <a:r>
              <a:rPr lang="en-US" sz="1200" dirty="0">
                <a:solidFill>
                  <a:srgbClr val="3E3E4B"/>
                </a:solidFill>
                <a:latin typeface="Calibri" pitchFamily="34" charset="0"/>
                <a:ea typeface="Calibri" pitchFamily="34" charset="-122"/>
                <a:cs typeface="Calibri" pitchFamily="34" charset="-120"/>
              </a:rPr>
              <a:t>Microsoft Enterprise Edge devices</a:t>
            </a:r>
            <a:endParaRPr lang="en-US" sz="1200" dirty="0"/>
          </a:p>
          <a:p>
            <a:pPr marL="177800" indent="-177800">
              <a:lnSpc>
                <a:spcPts val="1700"/>
              </a:lnSpc>
              <a:spcAft>
                <a:spcPts val="600"/>
              </a:spcAft>
              <a:buSzPct val="100000"/>
              <a:buChar char="•"/>
            </a:pPr>
            <a:r>
              <a:rPr lang="en-US" sz="1200" dirty="0">
                <a:solidFill>
                  <a:srgbClr val="3E3E4B"/>
                </a:solidFill>
                <a:latin typeface="Calibri" pitchFamily="34" charset="0"/>
                <a:ea typeface="Calibri" pitchFamily="34" charset="-122"/>
                <a:cs typeface="Calibri" pitchFamily="34" charset="-120"/>
              </a:rPr>
              <a:t>ExpressRoute gateways</a:t>
            </a:r>
            <a:endParaRPr lang="en-US" sz="1200" dirty="0"/>
          </a:p>
          <a:p>
            <a:pPr marL="177800" indent="-177800">
              <a:lnSpc>
                <a:spcPts val="1700"/>
              </a:lnSpc>
              <a:spcAft>
                <a:spcPts val="600"/>
              </a:spcAft>
              <a:buSzPct val="100000"/>
              <a:buChar char="•"/>
            </a:pPr>
            <a:r>
              <a:rPr lang="en-US" sz="1200" dirty="0">
                <a:solidFill>
                  <a:srgbClr val="3E3E4B"/>
                </a:solidFill>
                <a:latin typeface="Calibri" pitchFamily="34" charset="0"/>
                <a:ea typeface="Calibri" pitchFamily="34" charset="-122"/>
                <a:cs typeface="Calibri" pitchFamily="34" charset="-120"/>
              </a:rPr>
              <a:t>Gateway subnets</a:t>
            </a:r>
            <a:endParaRPr lang="en-US" sz="1200" dirty="0"/>
          </a:p>
          <a:p>
            <a:pPr marL="177800" indent="-177800">
              <a:lnSpc>
                <a:spcPts val="1700"/>
              </a:lnSpc>
              <a:spcAft>
                <a:spcPts val="600"/>
              </a:spcAft>
              <a:buSzPct val="100000"/>
              <a:buChar char="•"/>
            </a:pPr>
            <a:r>
              <a:rPr lang="en-US" sz="1200" dirty="0">
                <a:solidFill>
                  <a:srgbClr val="3E3E4B"/>
                </a:solidFill>
                <a:latin typeface="Calibri" pitchFamily="34" charset="0"/>
                <a:ea typeface="Calibri" pitchFamily="34" charset="-122"/>
                <a:cs typeface="Calibri" pitchFamily="34" charset="-120"/>
              </a:rPr>
              <a:t>BGP peering sessions</a:t>
            </a:r>
            <a:endParaRPr lang="en-US" sz="1200" dirty="0"/>
          </a:p>
          <a:p>
            <a:pPr marL="177800" indent="-177800">
              <a:lnSpc>
                <a:spcPts val="1700"/>
              </a:lnSpc>
              <a:spcAft>
                <a:spcPts val="600"/>
              </a:spcAft>
              <a:buSzPct val="100000"/>
              <a:buChar char="•"/>
            </a:pPr>
            <a:r>
              <a:rPr lang="en-US" sz="1200" dirty="0">
                <a:solidFill>
                  <a:srgbClr val="3E3E4B"/>
                </a:solidFill>
                <a:latin typeface="Calibri" pitchFamily="34" charset="0"/>
                <a:ea typeface="Calibri" pitchFamily="34" charset="-122"/>
                <a:cs typeface="Calibri" pitchFamily="34" charset="-120"/>
              </a:rPr>
              <a:t>Firewalls and port rules</a:t>
            </a:r>
            <a:endParaRPr lang="en-US" sz="1200" dirty="0"/>
          </a:p>
        </p:txBody>
      </p:sp>
      <p:sp>
        <p:nvSpPr>
          <p:cNvPr id="13" name="Shape 10"/>
          <p:cNvSpPr/>
          <p:nvPr/>
        </p:nvSpPr>
        <p:spPr>
          <a:xfrm>
            <a:off x="548640" y="5669280"/>
            <a:ext cx="11091672" cy="548640"/>
          </a:xfrm>
          <a:prstGeom prst="roundRect">
            <a:avLst>
              <a:gd name="adj" fmla="val 15000"/>
            </a:avLst>
          </a:prstGeom>
          <a:solidFill>
            <a:srgbClr val="EBEDED"/>
          </a:solidFill>
          <a:ln/>
        </p:spPr>
      </p:sp>
      <p:sp>
        <p:nvSpPr>
          <p:cNvPr id="14" name="Text 11"/>
          <p:cNvSpPr/>
          <p:nvPr/>
        </p:nvSpPr>
        <p:spPr>
          <a:xfrm>
            <a:off x="731520" y="5669280"/>
            <a:ext cx="10725912" cy="548640"/>
          </a:xfrm>
          <a:prstGeom prst="rect">
            <a:avLst/>
          </a:prstGeom>
          <a:noFill/>
          <a:ln/>
        </p:spPr>
        <p:txBody>
          <a:bodyPr wrap="square" lIns="0" tIns="0" rIns="0" bIns="0" rtlCol="0" anchor="ctr"/>
          <a:lstStyle/>
          <a:p>
            <a:pPr indent="0" marL="0">
              <a:buNone/>
            </a:pPr>
            <a:r>
              <a:rPr lang="en-US" sz="1100" b="1" dirty="0">
                <a:solidFill>
                  <a:srgbClr val="00B3E2"/>
                </a:solidFill>
                <a:latin typeface="Arial" pitchFamily="34" charset="0"/>
                <a:ea typeface="Arial" pitchFamily="34" charset="-122"/>
                <a:cs typeface="Arial" pitchFamily="34" charset="-120"/>
              </a:rPr>
              <a:t>Takeaway   </a:t>
            </a:r>
            <a:pPr indent="0" marL="0">
              <a:buNone/>
            </a:pPr>
            <a:r>
              <a:rPr lang="en-US" sz="1200" dirty="0">
                <a:solidFill>
                  <a:srgbClr val="3E3E4B"/>
                </a:solidFill>
                <a:latin typeface="Calibri" pitchFamily="34" charset="0"/>
                <a:ea typeface="Calibri" pitchFamily="34" charset="-122"/>
                <a:cs typeface="Calibri" pitchFamily="34" charset="-120"/>
              </a:rPr>
              <a:t>Generation 1 keeps AVS logically separate from Azure VNets. Every internal Azure conversation crosses a perimeter designed to join two routing domains.</a:t>
            </a:r>
            <a:endParaRPr lang="en-US" sz="1100" dirty="0"/>
          </a:p>
        </p:txBody>
      </p:sp>
      <p:sp>
        <p:nvSpPr>
          <p:cNvPr id="15" name="Text 12"/>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5. Generation 1 connectivity architecture</a:t>
            </a:r>
            <a:endParaRPr lang="en-US" sz="950" dirty="0"/>
          </a:p>
        </p:txBody>
      </p:sp>
      <p:sp>
        <p:nvSpPr>
          <p:cNvPr id="16" name="Text 13"/>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5.2 PACKET PATH</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A web server in AVS querying Azure SQL</a:t>
            </a:r>
            <a:endParaRPr lang="en-US" sz="2800" dirty="0"/>
          </a:p>
        </p:txBody>
      </p:sp>
      <p:sp>
        <p:nvSpPr>
          <p:cNvPr id="4" name="Shape 2"/>
          <p:cNvSpPr/>
          <p:nvPr/>
        </p:nvSpPr>
        <p:spPr>
          <a:xfrm>
            <a:off x="548640" y="1280160"/>
            <a:ext cx="5029200" cy="3703320"/>
          </a:xfrm>
          <a:prstGeom prst="roundRect">
            <a:avLst>
              <a:gd name="adj" fmla="val 2222"/>
            </a:avLst>
          </a:prstGeom>
          <a:solidFill>
            <a:srgbClr val="EBEDED"/>
          </a:solidFill>
          <a:ln/>
        </p:spPr>
      </p:sp>
      <p:sp>
        <p:nvSpPr>
          <p:cNvPr id="5" name="Text 3"/>
          <p:cNvSpPr/>
          <p:nvPr/>
        </p:nvSpPr>
        <p:spPr>
          <a:xfrm>
            <a:off x="804672" y="1389888"/>
            <a:ext cx="4572000"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Hop sequence</a:t>
            </a:r>
            <a:endParaRPr lang="en-US" sz="1400" dirty="0"/>
          </a:p>
        </p:txBody>
      </p:sp>
      <p:sp>
        <p:nvSpPr>
          <p:cNvPr id="6" name="Shape 4"/>
          <p:cNvSpPr/>
          <p:nvPr/>
        </p:nvSpPr>
        <p:spPr>
          <a:xfrm>
            <a:off x="804672" y="1783080"/>
            <a:ext cx="292608" cy="292608"/>
          </a:xfrm>
          <a:prstGeom prst="ellipse">
            <a:avLst/>
          </a:prstGeom>
          <a:solidFill>
            <a:srgbClr val="00B3E2"/>
          </a:solidFill>
          <a:ln/>
        </p:spPr>
      </p:sp>
      <p:sp>
        <p:nvSpPr>
          <p:cNvPr id="7" name="Text 5"/>
          <p:cNvSpPr/>
          <p:nvPr/>
        </p:nvSpPr>
        <p:spPr>
          <a:xfrm>
            <a:off x="804672" y="1783080"/>
            <a:ext cx="292608" cy="292608"/>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1</a:t>
            </a:r>
            <a:endParaRPr lang="en-US" sz="1200" dirty="0"/>
          </a:p>
        </p:txBody>
      </p:sp>
      <p:sp>
        <p:nvSpPr>
          <p:cNvPr id="8" name="Text 6"/>
          <p:cNvSpPr/>
          <p:nvPr/>
        </p:nvSpPr>
        <p:spPr>
          <a:xfrm>
            <a:off x="1261872" y="1755648"/>
            <a:ext cx="4059936" cy="466344"/>
          </a:xfrm>
          <a:prstGeom prst="rect">
            <a:avLst/>
          </a:prstGeom>
          <a:noFill/>
          <a:ln/>
        </p:spPr>
        <p:txBody>
          <a:bodyPr wrap="square" lIns="0" tIns="0" rIns="0" bIns="0" rtlCol="0" anchor="t"/>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The packet leaves the VMware NSX network.</a:t>
            </a:r>
            <a:endParaRPr lang="en-US" sz="1200" dirty="0"/>
          </a:p>
        </p:txBody>
      </p:sp>
      <p:sp>
        <p:nvSpPr>
          <p:cNvPr id="9" name="Shape 7"/>
          <p:cNvSpPr/>
          <p:nvPr/>
        </p:nvSpPr>
        <p:spPr>
          <a:xfrm>
            <a:off x="804672" y="2286000"/>
            <a:ext cx="292608" cy="292608"/>
          </a:xfrm>
          <a:prstGeom prst="ellipse">
            <a:avLst/>
          </a:prstGeom>
          <a:solidFill>
            <a:srgbClr val="00B3E2"/>
          </a:solidFill>
          <a:ln/>
        </p:spPr>
      </p:sp>
      <p:sp>
        <p:nvSpPr>
          <p:cNvPr id="10" name="Text 8"/>
          <p:cNvSpPr/>
          <p:nvPr/>
        </p:nvSpPr>
        <p:spPr>
          <a:xfrm>
            <a:off x="804672" y="2286000"/>
            <a:ext cx="292608" cy="292608"/>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2</a:t>
            </a:r>
            <a:endParaRPr lang="en-US" sz="1200" dirty="0"/>
          </a:p>
        </p:txBody>
      </p:sp>
      <p:sp>
        <p:nvSpPr>
          <p:cNvPr id="11" name="Text 9"/>
          <p:cNvSpPr/>
          <p:nvPr/>
        </p:nvSpPr>
        <p:spPr>
          <a:xfrm>
            <a:off x="1261872" y="2258568"/>
            <a:ext cx="4059936" cy="466344"/>
          </a:xfrm>
          <a:prstGeom prst="rect">
            <a:avLst/>
          </a:prstGeom>
          <a:noFill/>
          <a:ln/>
        </p:spPr>
        <p:txBody>
          <a:bodyPr wrap="square" lIns="0" tIns="0" rIns="0" bIns="0" rtlCol="0" anchor="t"/>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It enters the ExpressRoute connectivity path.</a:t>
            </a:r>
            <a:endParaRPr lang="en-US" sz="1200" dirty="0"/>
          </a:p>
        </p:txBody>
      </p:sp>
      <p:sp>
        <p:nvSpPr>
          <p:cNvPr id="12" name="Shape 10"/>
          <p:cNvSpPr/>
          <p:nvPr/>
        </p:nvSpPr>
        <p:spPr>
          <a:xfrm>
            <a:off x="804672" y="2788920"/>
            <a:ext cx="292608" cy="292608"/>
          </a:xfrm>
          <a:prstGeom prst="ellipse">
            <a:avLst/>
          </a:prstGeom>
          <a:solidFill>
            <a:srgbClr val="00B3E2"/>
          </a:solidFill>
          <a:ln/>
        </p:spPr>
      </p:sp>
      <p:sp>
        <p:nvSpPr>
          <p:cNvPr id="13" name="Text 11"/>
          <p:cNvSpPr/>
          <p:nvPr/>
        </p:nvSpPr>
        <p:spPr>
          <a:xfrm>
            <a:off x="804672" y="2788920"/>
            <a:ext cx="292608" cy="292608"/>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3</a:t>
            </a:r>
            <a:endParaRPr lang="en-US" sz="1200" dirty="0"/>
          </a:p>
        </p:txBody>
      </p:sp>
      <p:sp>
        <p:nvSpPr>
          <p:cNvPr id="14" name="Text 12"/>
          <p:cNvSpPr/>
          <p:nvPr/>
        </p:nvSpPr>
        <p:spPr>
          <a:xfrm>
            <a:off x="1261872" y="2761488"/>
            <a:ext cx="4059936" cy="466344"/>
          </a:xfrm>
          <a:prstGeom prst="rect">
            <a:avLst/>
          </a:prstGeom>
          <a:noFill/>
          <a:ln/>
        </p:spPr>
        <p:txBody>
          <a:bodyPr wrap="square" lIns="0" tIns="0" rIns="0" bIns="0" rtlCol="0" anchor="t"/>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It reaches Microsoft Enterprise Edge routing infrastructure.</a:t>
            </a:r>
            <a:endParaRPr lang="en-US" sz="1200" dirty="0"/>
          </a:p>
        </p:txBody>
      </p:sp>
      <p:sp>
        <p:nvSpPr>
          <p:cNvPr id="15" name="Shape 13"/>
          <p:cNvSpPr/>
          <p:nvPr/>
        </p:nvSpPr>
        <p:spPr>
          <a:xfrm>
            <a:off x="804672" y="3291840"/>
            <a:ext cx="292608" cy="292608"/>
          </a:xfrm>
          <a:prstGeom prst="ellipse">
            <a:avLst/>
          </a:prstGeom>
          <a:solidFill>
            <a:srgbClr val="00B3E2"/>
          </a:solidFill>
          <a:ln/>
        </p:spPr>
      </p:sp>
      <p:sp>
        <p:nvSpPr>
          <p:cNvPr id="16" name="Text 14"/>
          <p:cNvSpPr/>
          <p:nvPr/>
        </p:nvSpPr>
        <p:spPr>
          <a:xfrm>
            <a:off x="804672" y="3291840"/>
            <a:ext cx="292608" cy="292608"/>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4</a:t>
            </a:r>
            <a:endParaRPr lang="en-US" sz="1200" dirty="0"/>
          </a:p>
        </p:txBody>
      </p:sp>
      <p:sp>
        <p:nvSpPr>
          <p:cNvPr id="17" name="Text 15"/>
          <p:cNvSpPr/>
          <p:nvPr/>
        </p:nvSpPr>
        <p:spPr>
          <a:xfrm>
            <a:off x="1261872" y="3264408"/>
            <a:ext cx="4059936" cy="466344"/>
          </a:xfrm>
          <a:prstGeom prst="rect">
            <a:avLst/>
          </a:prstGeom>
          <a:noFill/>
          <a:ln/>
        </p:spPr>
        <p:txBody>
          <a:bodyPr wrap="square" lIns="0" tIns="0" rIns="0" bIns="0" rtlCol="0" anchor="t"/>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It is routed into the Azure virtual network.</a:t>
            </a:r>
            <a:endParaRPr lang="en-US" sz="1200" dirty="0"/>
          </a:p>
        </p:txBody>
      </p:sp>
      <p:sp>
        <p:nvSpPr>
          <p:cNvPr id="18" name="Shape 16"/>
          <p:cNvSpPr/>
          <p:nvPr/>
        </p:nvSpPr>
        <p:spPr>
          <a:xfrm>
            <a:off x="804672" y="3794760"/>
            <a:ext cx="292608" cy="292608"/>
          </a:xfrm>
          <a:prstGeom prst="ellipse">
            <a:avLst/>
          </a:prstGeom>
          <a:solidFill>
            <a:srgbClr val="00B3E2"/>
          </a:solidFill>
          <a:ln/>
        </p:spPr>
      </p:sp>
      <p:sp>
        <p:nvSpPr>
          <p:cNvPr id="19" name="Text 17"/>
          <p:cNvSpPr/>
          <p:nvPr/>
        </p:nvSpPr>
        <p:spPr>
          <a:xfrm>
            <a:off x="804672" y="3794760"/>
            <a:ext cx="292608" cy="292608"/>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5</a:t>
            </a:r>
            <a:endParaRPr lang="en-US" sz="1200" dirty="0"/>
          </a:p>
        </p:txBody>
      </p:sp>
      <p:sp>
        <p:nvSpPr>
          <p:cNvPr id="20" name="Text 18"/>
          <p:cNvSpPr/>
          <p:nvPr/>
        </p:nvSpPr>
        <p:spPr>
          <a:xfrm>
            <a:off x="1261872" y="3767328"/>
            <a:ext cx="4059936" cy="466344"/>
          </a:xfrm>
          <a:prstGeom prst="rect">
            <a:avLst/>
          </a:prstGeom>
          <a:noFill/>
          <a:ln/>
        </p:spPr>
        <p:txBody>
          <a:bodyPr wrap="square" lIns="0" tIns="0" rIns="0" bIns="0" rtlCol="0" anchor="t"/>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It reaches the Azure SQL service.</a:t>
            </a:r>
            <a:endParaRPr lang="en-US" sz="1200" dirty="0"/>
          </a:p>
        </p:txBody>
      </p:sp>
      <p:sp>
        <p:nvSpPr>
          <p:cNvPr id="21" name="Shape 19"/>
          <p:cNvSpPr/>
          <p:nvPr/>
        </p:nvSpPr>
        <p:spPr>
          <a:xfrm>
            <a:off x="804672" y="4297680"/>
            <a:ext cx="292608" cy="292608"/>
          </a:xfrm>
          <a:prstGeom prst="ellipse">
            <a:avLst/>
          </a:prstGeom>
          <a:solidFill>
            <a:srgbClr val="00B3E2"/>
          </a:solidFill>
          <a:ln/>
        </p:spPr>
      </p:sp>
      <p:sp>
        <p:nvSpPr>
          <p:cNvPr id="22" name="Text 20"/>
          <p:cNvSpPr/>
          <p:nvPr/>
        </p:nvSpPr>
        <p:spPr>
          <a:xfrm>
            <a:off x="804672" y="4297680"/>
            <a:ext cx="292608" cy="292608"/>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6</a:t>
            </a:r>
            <a:endParaRPr lang="en-US" sz="1200" dirty="0"/>
          </a:p>
        </p:txBody>
      </p:sp>
      <p:sp>
        <p:nvSpPr>
          <p:cNvPr id="23" name="Text 21"/>
          <p:cNvSpPr/>
          <p:nvPr/>
        </p:nvSpPr>
        <p:spPr>
          <a:xfrm>
            <a:off x="1261872" y="4270248"/>
            <a:ext cx="4059936" cy="466344"/>
          </a:xfrm>
          <a:prstGeom prst="rect">
            <a:avLst/>
          </a:prstGeom>
          <a:noFill/>
          <a:ln/>
        </p:spPr>
        <p:txBody>
          <a:bodyPr wrap="square" lIns="0" tIns="0" rIns="0" bIns="0" rtlCol="0" anchor="t"/>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The response follows the reverse path.</a:t>
            </a:r>
            <a:endParaRPr lang="en-US" sz="1200" dirty="0"/>
          </a:p>
        </p:txBody>
      </p:sp>
      <p:sp>
        <p:nvSpPr>
          <p:cNvPr id="24" name="Shape 22"/>
          <p:cNvSpPr/>
          <p:nvPr/>
        </p:nvSpPr>
        <p:spPr>
          <a:xfrm>
            <a:off x="5852160" y="1280160"/>
            <a:ext cx="5788152" cy="2148840"/>
          </a:xfrm>
          <a:prstGeom prst="roundRect">
            <a:avLst>
              <a:gd name="adj" fmla="val 3830"/>
            </a:avLst>
          </a:prstGeom>
          <a:solidFill>
            <a:srgbClr val="E5F7FC"/>
          </a:solidFill>
          <a:ln/>
        </p:spPr>
      </p:sp>
      <p:sp>
        <p:nvSpPr>
          <p:cNvPr id="25" name="Shape 23"/>
          <p:cNvSpPr/>
          <p:nvPr/>
        </p:nvSpPr>
        <p:spPr>
          <a:xfrm>
            <a:off x="6089904" y="1463040"/>
            <a:ext cx="310896" cy="310896"/>
          </a:xfrm>
          <a:prstGeom prst="ellipse">
            <a:avLst/>
          </a:prstGeom>
          <a:solidFill>
            <a:srgbClr val="F15D23"/>
          </a:solidFill>
          <a:ln/>
        </p:spPr>
      </p:sp>
      <p:sp>
        <p:nvSpPr>
          <p:cNvPr id="26" name="Text 24"/>
          <p:cNvSpPr/>
          <p:nvPr/>
        </p:nvSpPr>
        <p:spPr>
          <a:xfrm>
            <a:off x="6089904" y="1463040"/>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7" name="Text 25"/>
          <p:cNvSpPr/>
          <p:nvPr/>
        </p:nvSpPr>
        <p:spPr>
          <a:xfrm>
            <a:off x="6510528" y="1481328"/>
            <a:ext cx="4873752"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Consequences</a:t>
            </a:r>
            <a:endParaRPr lang="en-US" sz="1400" dirty="0"/>
          </a:p>
        </p:txBody>
      </p:sp>
      <p:sp>
        <p:nvSpPr>
          <p:cNvPr id="28" name="Text 26"/>
          <p:cNvSpPr/>
          <p:nvPr/>
        </p:nvSpPr>
        <p:spPr>
          <a:xfrm>
            <a:off x="6089904" y="1874520"/>
            <a:ext cx="5312664" cy="1463040"/>
          </a:xfrm>
          <a:prstGeom prst="rect">
            <a:avLst/>
          </a:prstGeom>
          <a:noFill/>
          <a:ln/>
        </p:spPr>
        <p:txBody>
          <a:bodyPr wrap="square" lIns="0" tIns="0" rIns="0" bIns="0" rtlCol="0" anchor="t"/>
          <a:lstStyle/>
          <a:p>
            <a:pPr marL="177800" indent="-177800">
              <a:lnSpc>
                <a:spcPts val="1700"/>
              </a:lnSpc>
              <a:spcAft>
                <a:spcPts val="500"/>
              </a:spcAft>
              <a:buSzPct val="100000"/>
              <a:buChar char="•"/>
            </a:pPr>
            <a:r>
              <a:rPr lang="en-US" sz="1150" dirty="0">
                <a:solidFill>
                  <a:srgbClr val="3E3E4B"/>
                </a:solidFill>
                <a:latin typeface="Calibri" pitchFamily="34" charset="0"/>
                <a:ea typeface="Calibri" pitchFamily="34" charset="-122"/>
                <a:cs typeface="Calibri" pitchFamily="34" charset="-120"/>
              </a:rPr>
              <a:t>Hairpin behavior: even when hosts and services are physically close, logical separation forces traffic across ExpressRoute.</a:t>
            </a:r>
            <a:endParaRPr lang="en-US" sz="1150" dirty="0"/>
          </a:p>
          <a:p>
            <a:pPr marL="177800" indent="-177800">
              <a:lnSpc>
                <a:spcPts val="1700"/>
              </a:lnSpc>
              <a:spcAft>
                <a:spcPts val="500"/>
              </a:spcAft>
              <a:buSzPct val="100000"/>
              <a:buChar char="•"/>
            </a:pPr>
            <a:r>
              <a:rPr lang="en-US" sz="1150" dirty="0">
                <a:solidFill>
                  <a:srgbClr val="3E3E4B"/>
                </a:solidFill>
                <a:latin typeface="Calibri" pitchFamily="34" charset="0"/>
                <a:ea typeface="Calibri" pitchFamily="34" charset="-122"/>
                <a:cs typeface="Calibri" pitchFamily="34" charset="-120"/>
              </a:rPr>
              <a:t>Additional hops can increase latency.</a:t>
            </a:r>
            <a:endParaRPr lang="en-US" sz="1150" dirty="0"/>
          </a:p>
          <a:p>
            <a:pPr marL="177800" indent="-177800">
              <a:lnSpc>
                <a:spcPts val="1700"/>
              </a:lnSpc>
              <a:spcAft>
                <a:spcPts val="500"/>
              </a:spcAft>
              <a:buSzPct val="100000"/>
              <a:buChar char="•"/>
            </a:pPr>
            <a:r>
              <a:rPr lang="en-US" sz="1150" dirty="0">
                <a:solidFill>
                  <a:srgbClr val="3E3E4B"/>
                </a:solidFill>
                <a:latin typeface="Calibri" pitchFamily="34" charset="0"/>
                <a:ea typeface="Calibri" pitchFamily="34" charset="-122"/>
                <a:cs typeface="Calibri" pitchFamily="34" charset="-120"/>
              </a:rPr>
              <a:t>Gateway and BGP configuration create operational complexity and multiple points of misconfiguration.</a:t>
            </a:r>
            <a:endParaRPr lang="en-US" sz="1150" dirty="0"/>
          </a:p>
          <a:p>
            <a:pPr marL="177800" indent="-177800">
              <a:lnSpc>
                <a:spcPts val="1700"/>
              </a:lnSpc>
              <a:spcAft>
                <a:spcPts val="500"/>
              </a:spcAft>
              <a:buSzPct val="100000"/>
              <a:buChar char="•"/>
            </a:pPr>
            <a:r>
              <a:rPr lang="en-US" sz="1150" dirty="0">
                <a:solidFill>
                  <a:srgbClr val="3E3E4B"/>
                </a:solidFill>
                <a:latin typeface="Calibri" pitchFamily="34" charset="0"/>
                <a:ea typeface="Calibri" pitchFamily="34" charset="-122"/>
                <a:cs typeface="Calibri" pitchFamily="34" charset="-120"/>
              </a:rPr>
              <a:t>ExpressRoute gateway SKUs introduce additional cost.</a:t>
            </a:r>
            <a:endParaRPr lang="en-US" sz="1150" dirty="0"/>
          </a:p>
        </p:txBody>
      </p:sp>
      <p:sp>
        <p:nvSpPr>
          <p:cNvPr id="29" name="Shape 27"/>
          <p:cNvSpPr/>
          <p:nvPr/>
        </p:nvSpPr>
        <p:spPr>
          <a:xfrm>
            <a:off x="5852160" y="3566160"/>
            <a:ext cx="5788152" cy="1417320"/>
          </a:xfrm>
          <a:prstGeom prst="roundRect">
            <a:avLst>
              <a:gd name="adj" fmla="val 5806"/>
            </a:avLst>
          </a:prstGeom>
          <a:solidFill>
            <a:srgbClr val="E2F2E8"/>
          </a:solidFill>
          <a:ln/>
        </p:spPr>
      </p:sp>
      <p:sp>
        <p:nvSpPr>
          <p:cNvPr id="30" name="Shape 28"/>
          <p:cNvSpPr/>
          <p:nvPr/>
        </p:nvSpPr>
        <p:spPr>
          <a:xfrm>
            <a:off x="6089904" y="3749040"/>
            <a:ext cx="310896" cy="310896"/>
          </a:xfrm>
          <a:prstGeom prst="ellipse">
            <a:avLst/>
          </a:prstGeom>
          <a:solidFill>
            <a:srgbClr val="00AD93"/>
          </a:solidFill>
          <a:ln/>
        </p:spPr>
      </p:sp>
      <p:sp>
        <p:nvSpPr>
          <p:cNvPr id="31" name="Text 29"/>
          <p:cNvSpPr/>
          <p:nvPr/>
        </p:nvSpPr>
        <p:spPr>
          <a:xfrm>
            <a:off x="6089904" y="3749040"/>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32" name="Text 30"/>
          <p:cNvSpPr/>
          <p:nvPr/>
        </p:nvSpPr>
        <p:spPr>
          <a:xfrm>
            <a:off x="6510528" y="3767328"/>
            <a:ext cx="4873752"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Generation 1 strengths</a:t>
            </a:r>
            <a:endParaRPr lang="en-US" sz="1400" dirty="0"/>
          </a:p>
        </p:txBody>
      </p:sp>
      <p:sp>
        <p:nvSpPr>
          <p:cNvPr id="33" name="Text 31"/>
          <p:cNvSpPr/>
          <p:nvPr/>
        </p:nvSpPr>
        <p:spPr>
          <a:xfrm>
            <a:off x="6089904" y="4160520"/>
            <a:ext cx="5312664" cy="822960"/>
          </a:xfrm>
          <a:prstGeom prst="rect">
            <a:avLst/>
          </a:prstGeom>
          <a:noFill/>
          <a:ln/>
        </p:spPr>
        <p:txBody>
          <a:bodyPr wrap="square" lIns="0" tIns="0" rIns="0" bIns="0" rtlCol="0" anchor="t"/>
          <a:lstStyle/>
          <a:p>
            <a:pPr marL="177800" indent="-177800">
              <a:lnSpc>
                <a:spcPts val="1400"/>
              </a:lnSpc>
              <a:spcAft>
                <a:spcPts val="300"/>
              </a:spcAft>
              <a:buSzPct val="100000"/>
              <a:buChar char="•"/>
            </a:pPr>
            <a:r>
              <a:rPr lang="en-US" sz="1100" dirty="0">
                <a:solidFill>
                  <a:srgbClr val="3E3E4B"/>
                </a:solidFill>
                <a:latin typeface="Calibri" pitchFamily="34" charset="0"/>
                <a:ea typeface="Calibri" pitchFamily="34" charset="-122"/>
                <a:cs typeface="Calibri" pitchFamily="34" charset="-120"/>
              </a:rPr>
              <a:t>ExpressRoute is robust, mature, and suitable for enterprise connectivity.</a:t>
            </a:r>
            <a:endParaRPr lang="en-US" sz="1100" dirty="0"/>
          </a:p>
          <a:p>
            <a:pPr marL="177800" indent="-177800">
              <a:lnSpc>
                <a:spcPts val="1400"/>
              </a:lnSpc>
              <a:spcAft>
                <a:spcPts val="300"/>
              </a:spcAft>
              <a:buSzPct val="100000"/>
              <a:buChar char="•"/>
            </a:pPr>
            <a:r>
              <a:rPr lang="en-US" sz="1100" dirty="0">
                <a:solidFill>
                  <a:srgbClr val="3E3E4B"/>
                </a:solidFill>
                <a:latin typeface="Calibri" pitchFamily="34" charset="0"/>
                <a:ea typeface="Calibri" pitchFamily="34" charset="-122"/>
                <a:cs typeface="Calibri" pitchFamily="34" charset="-120"/>
              </a:rPr>
              <a:t>Architects retain a routing model less constrained by Gen 2 VNet-injection mechanics.</a:t>
            </a:r>
            <a:endParaRPr lang="en-US" sz="1100" dirty="0"/>
          </a:p>
          <a:p>
            <a:pPr marL="177800" indent="-177800">
              <a:lnSpc>
                <a:spcPts val="1400"/>
              </a:lnSpc>
              <a:spcAft>
                <a:spcPts val="300"/>
              </a:spcAft>
              <a:buSzPct val="100000"/>
              <a:buChar char="•"/>
            </a:pPr>
            <a:r>
              <a:rPr lang="en-US" sz="1100" dirty="0">
                <a:solidFill>
                  <a:srgbClr val="3E3E4B"/>
                </a:solidFill>
                <a:latin typeface="Calibri" pitchFamily="34" charset="0"/>
                <a:ea typeface="Calibri" pitchFamily="34" charset="-122"/>
                <a:cs typeface="Calibri" pitchFamily="34" charset="-120"/>
              </a:rPr>
              <a:t>Enterprises with mature ExpressRoute, firewall, and BGP architectures may avoid a large redesign.</a:t>
            </a:r>
            <a:endParaRPr lang="en-US" sz="1100" dirty="0"/>
          </a:p>
        </p:txBody>
      </p:sp>
      <p:sp>
        <p:nvSpPr>
          <p:cNvPr id="34" name="Shape 32"/>
          <p:cNvSpPr/>
          <p:nvPr/>
        </p:nvSpPr>
        <p:spPr>
          <a:xfrm>
            <a:off x="548640" y="5212080"/>
            <a:ext cx="11091672" cy="548640"/>
          </a:xfrm>
          <a:prstGeom prst="roundRect">
            <a:avLst>
              <a:gd name="adj" fmla="val 15000"/>
            </a:avLst>
          </a:prstGeom>
          <a:solidFill>
            <a:srgbClr val="EBEDED"/>
          </a:solidFill>
          <a:ln/>
        </p:spPr>
      </p:sp>
      <p:sp>
        <p:nvSpPr>
          <p:cNvPr id="35" name="Text 33"/>
          <p:cNvSpPr/>
          <p:nvPr/>
        </p:nvSpPr>
        <p:spPr>
          <a:xfrm>
            <a:off x="731520" y="5212080"/>
            <a:ext cx="10725912" cy="548640"/>
          </a:xfrm>
          <a:prstGeom prst="rect">
            <a:avLst/>
          </a:prstGeom>
          <a:noFill/>
          <a:ln/>
        </p:spPr>
        <p:txBody>
          <a:bodyPr wrap="square" lIns="0" tIns="0" rIns="0" bIns="0" rtlCol="0" anchor="ctr"/>
          <a:lstStyle/>
          <a:p>
            <a:pPr indent="0" marL="0">
              <a:buNone/>
            </a:pPr>
            <a:r>
              <a:rPr lang="en-US" sz="1100" b="1" dirty="0">
                <a:solidFill>
                  <a:srgbClr val="00B3E2"/>
                </a:solidFill>
                <a:latin typeface="Arial" pitchFamily="34" charset="0"/>
                <a:ea typeface="Arial" pitchFamily="34" charset="-122"/>
                <a:cs typeface="Arial" pitchFamily="34" charset="-120"/>
              </a:rPr>
              <a:t>Takeaway   </a:t>
            </a:r>
            <a:pPr indent="0" marL="0">
              <a:buNone/>
            </a:pPr>
            <a:r>
              <a:rPr lang="en-US" sz="1200" dirty="0">
                <a:solidFill>
                  <a:srgbClr val="3E3E4B"/>
                </a:solidFill>
                <a:latin typeface="Calibri" pitchFamily="34" charset="0"/>
                <a:ea typeface="Calibri" pitchFamily="34" charset="-122"/>
                <a:cs typeface="Calibri" pitchFamily="34" charset="-120"/>
              </a:rPr>
              <a:t>Generation 1 adds connectivity overhead, but the separation is valuable when an organization needs established ExpressRoute behavior or complex enterprise routing.</a:t>
            </a:r>
            <a:endParaRPr lang="en-US" sz="1100" dirty="0"/>
          </a:p>
        </p:txBody>
      </p:sp>
      <p:sp>
        <p:nvSpPr>
          <p:cNvPr id="36" name="Text 34"/>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5. Generation 1 connectivity architecture</a:t>
            </a:r>
            <a:endParaRPr lang="en-US" sz="950" dirty="0"/>
          </a:p>
        </p:txBody>
      </p:sp>
      <p:sp>
        <p:nvSpPr>
          <p:cNvPr id="37" name="Text 35"/>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6. GENERATION 2</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VNet injection replaces the ExpressRoute path</a:t>
            </a:r>
            <a:endParaRPr lang="en-US" sz="2800" dirty="0"/>
          </a:p>
        </p:txBody>
      </p:sp>
      <p:sp>
        <p:nvSpPr>
          <p:cNvPr id="4" name="Shape 2"/>
          <p:cNvSpPr/>
          <p:nvPr/>
        </p:nvSpPr>
        <p:spPr>
          <a:xfrm>
            <a:off x="548640" y="1280160"/>
            <a:ext cx="6035040" cy="2606040"/>
          </a:xfrm>
          <a:prstGeom prst="roundRect">
            <a:avLst>
              <a:gd name="adj" fmla="val 3158"/>
            </a:avLst>
          </a:prstGeom>
          <a:solidFill>
            <a:srgbClr val="FFFFFF"/>
          </a:solidFill>
          <a:ln w="12700">
            <a:solidFill>
              <a:srgbClr val="DDE2E2"/>
            </a:solidFill>
            <a:prstDash val="solid"/>
          </a:ln>
        </p:spPr>
      </p:sp>
      <p:pic>
        <p:nvPicPr>
          <p:cNvPr id="5" name="Image 0" descr="/home/claude/src/images/gen2-vnet-peering-connectivity.png">    </p:cNvPr>
          <p:cNvPicPr>
            <a:picLocks noChangeAspect="1"/>
          </p:cNvPicPr>
          <p:nvPr/>
        </p:nvPicPr>
        <p:blipFill>
          <a:blip r:embed="rId1"/>
          <a:srcRect l="0" r="0" t="0" b="0"/>
          <a:stretch/>
        </p:blipFill>
        <p:spPr>
          <a:xfrm>
            <a:off x="658368" y="1389888"/>
            <a:ext cx="5815584" cy="2075688"/>
          </a:xfrm>
          <a:prstGeom prst="rect">
            <a:avLst/>
          </a:prstGeom>
        </p:spPr>
      </p:pic>
      <p:sp>
        <p:nvSpPr>
          <p:cNvPr id="6" name="Text 3"/>
          <p:cNvSpPr/>
          <p:nvPr/>
        </p:nvSpPr>
        <p:spPr>
          <a:xfrm>
            <a:off x="658368" y="3538728"/>
            <a:ext cx="5815584" cy="256032"/>
          </a:xfrm>
          <a:prstGeom prst="rect">
            <a:avLst/>
          </a:prstGeom>
          <a:noFill/>
          <a:ln/>
        </p:spPr>
        <p:txBody>
          <a:bodyPr wrap="square" lIns="0" tIns="0" rIns="0" bIns="0" rtlCol="0" anchor="ctr"/>
          <a:lstStyle/>
          <a:p>
            <a:pPr algn="ctr" indent="0" marL="0">
              <a:buNone/>
            </a:pPr>
            <a:r>
              <a:rPr lang="en-US" sz="900" i="1" dirty="0">
                <a:solidFill>
                  <a:srgbClr val="6B6B78"/>
                </a:solidFill>
                <a:latin typeface="Calibri" pitchFamily="34" charset="0"/>
                <a:ea typeface="Calibri" pitchFamily="34" charset="-122"/>
                <a:cs typeface="Calibri" pitchFamily="34" charset="-120"/>
              </a:rPr>
              <a:t>Source: Microsoft Learn, Connectivity to an Azure Virtual Network</a:t>
            </a:r>
            <a:endParaRPr lang="en-US" sz="900" dirty="0"/>
          </a:p>
        </p:txBody>
      </p:sp>
      <p:sp>
        <p:nvSpPr>
          <p:cNvPr id="7" name="Shape 4"/>
          <p:cNvSpPr/>
          <p:nvPr/>
        </p:nvSpPr>
        <p:spPr>
          <a:xfrm>
            <a:off x="548640" y="4023360"/>
            <a:ext cx="6035040" cy="1508760"/>
          </a:xfrm>
          <a:prstGeom prst="roundRect">
            <a:avLst>
              <a:gd name="adj" fmla="val 5455"/>
            </a:avLst>
          </a:prstGeom>
          <a:solidFill>
            <a:srgbClr val="EBEDED"/>
          </a:solidFill>
          <a:ln/>
        </p:spPr>
      </p:sp>
      <p:sp>
        <p:nvSpPr>
          <p:cNvPr id="8" name="Text 5"/>
          <p:cNvSpPr/>
          <p:nvPr/>
        </p:nvSpPr>
        <p:spPr>
          <a:xfrm>
            <a:off x="786384" y="4133088"/>
            <a:ext cx="5577840"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How the model changes</a:t>
            </a:r>
            <a:endParaRPr lang="en-US" sz="1400" dirty="0"/>
          </a:p>
        </p:txBody>
      </p:sp>
      <p:sp>
        <p:nvSpPr>
          <p:cNvPr id="9" name="Text 6"/>
          <p:cNvSpPr/>
          <p:nvPr/>
        </p:nvSpPr>
        <p:spPr>
          <a:xfrm>
            <a:off x="786384" y="4480560"/>
            <a:ext cx="5559552" cy="1005840"/>
          </a:xfrm>
          <a:prstGeom prst="rect">
            <a:avLst/>
          </a:prstGeom>
          <a:noFill/>
          <a:ln/>
        </p:spPr>
        <p:txBody>
          <a:bodyPr wrap="square" lIns="0" tIns="0" rIns="0" bIns="0" rtlCol="0" anchor="t"/>
          <a:lstStyle/>
          <a:p>
            <a:pPr marL="177800" indent="-177800">
              <a:lnSpc>
                <a:spcPts val="1300"/>
              </a:lnSpc>
              <a:spcAft>
                <a:spcPts val="200"/>
              </a:spcAft>
              <a:buSzPct val="100000"/>
              <a:buChar char="•"/>
            </a:pPr>
            <a:r>
              <a:rPr lang="en-US" sz="1050" dirty="0">
                <a:solidFill>
                  <a:srgbClr val="3E3E4B"/>
                </a:solidFill>
                <a:latin typeface="Calibri" pitchFamily="34" charset="0"/>
                <a:ea typeface="Calibri" pitchFamily="34" charset="-122"/>
                <a:cs typeface="Calibri" pitchFamily="34" charset="-120"/>
              </a:rPr>
              <a:t>The AVS private cloud is injected into an Azure virtual network.</a:t>
            </a:r>
            <a:endParaRPr lang="en-US" sz="1050" dirty="0"/>
          </a:p>
          <a:p>
            <a:pPr marL="177800" indent="-177800">
              <a:lnSpc>
                <a:spcPts val="1300"/>
              </a:lnSpc>
              <a:spcAft>
                <a:spcPts val="200"/>
              </a:spcAft>
              <a:buSzPct val="100000"/>
              <a:buChar char="•"/>
            </a:pPr>
            <a:r>
              <a:rPr lang="en-US" sz="1050" dirty="0">
                <a:solidFill>
                  <a:srgbClr val="3E3E4B"/>
                </a:solidFill>
                <a:latin typeface="Calibri" pitchFamily="34" charset="0"/>
                <a:ea typeface="Calibri" pitchFamily="34" charset="-122"/>
                <a:cs typeface="Calibri" pitchFamily="34" charset="-120"/>
              </a:rPr>
              <a:t>ExpressRoute is no longer required for communication with native Azure services in connected VNets.</a:t>
            </a:r>
            <a:endParaRPr lang="en-US" sz="1050" dirty="0"/>
          </a:p>
          <a:p>
            <a:pPr marL="177800" indent="-177800">
              <a:lnSpc>
                <a:spcPts val="1300"/>
              </a:lnSpc>
              <a:spcAft>
                <a:spcPts val="200"/>
              </a:spcAft>
              <a:buSzPct val="100000"/>
              <a:buChar char="•"/>
            </a:pPr>
            <a:r>
              <a:rPr lang="en-US" sz="1050" dirty="0">
                <a:solidFill>
                  <a:srgbClr val="3E3E4B"/>
                </a:solidFill>
                <a:latin typeface="Calibri" pitchFamily="34" charset="0"/>
                <a:ea typeface="Calibri" pitchFamily="34" charset="-122"/>
                <a:cs typeface="Calibri" pitchFamily="34" charset="-120"/>
              </a:rPr>
              <a:t>Standard VNet peering connects the AVS host VNet to other Azure VNets.</a:t>
            </a:r>
            <a:endParaRPr lang="en-US" sz="1050" dirty="0"/>
          </a:p>
          <a:p>
            <a:pPr marL="177800" indent="-177800">
              <a:lnSpc>
                <a:spcPts val="1300"/>
              </a:lnSpc>
              <a:spcAft>
                <a:spcPts val="200"/>
              </a:spcAft>
              <a:buSzPct val="100000"/>
              <a:buChar char="•"/>
            </a:pPr>
            <a:r>
              <a:rPr lang="en-US" sz="1050" dirty="0">
                <a:solidFill>
                  <a:srgbClr val="3E3E4B"/>
                </a:solidFill>
                <a:latin typeface="Calibri" pitchFamily="34" charset="0"/>
                <a:ea typeface="Calibri" pitchFamily="34" charset="-122"/>
                <a:cs typeface="Calibri" pitchFamily="34" charset="-120"/>
              </a:rPr>
              <a:t>Packets traverse the Azure SDN backbone directly rather than hairpinning through a gateway.</a:t>
            </a:r>
            <a:endParaRPr lang="en-US" sz="1050" dirty="0"/>
          </a:p>
        </p:txBody>
      </p:sp>
      <p:sp>
        <p:nvSpPr>
          <p:cNvPr id="10" name="Shape 7"/>
          <p:cNvSpPr/>
          <p:nvPr/>
        </p:nvSpPr>
        <p:spPr>
          <a:xfrm>
            <a:off x="6812280" y="1280160"/>
            <a:ext cx="4828032" cy="2103120"/>
          </a:xfrm>
          <a:prstGeom prst="roundRect">
            <a:avLst>
              <a:gd name="adj" fmla="val 3913"/>
            </a:avLst>
          </a:prstGeom>
          <a:solidFill>
            <a:srgbClr val="E2F2E8"/>
          </a:solidFill>
          <a:ln/>
        </p:spPr>
      </p:sp>
      <p:sp>
        <p:nvSpPr>
          <p:cNvPr id="11" name="Text 8"/>
          <p:cNvSpPr/>
          <p:nvPr/>
        </p:nvSpPr>
        <p:spPr>
          <a:xfrm>
            <a:off x="7050024" y="1389888"/>
            <a:ext cx="4370832"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Operational benefits</a:t>
            </a:r>
            <a:endParaRPr lang="en-US" sz="1400" dirty="0"/>
          </a:p>
        </p:txBody>
      </p:sp>
      <p:sp>
        <p:nvSpPr>
          <p:cNvPr id="12" name="Text 9"/>
          <p:cNvSpPr/>
          <p:nvPr/>
        </p:nvSpPr>
        <p:spPr>
          <a:xfrm>
            <a:off x="7050024" y="1783080"/>
            <a:ext cx="4352544" cy="1508760"/>
          </a:xfrm>
          <a:prstGeom prst="rect">
            <a:avLst/>
          </a:prstGeom>
          <a:noFill/>
          <a:ln/>
        </p:spPr>
        <p:txBody>
          <a:bodyPr wrap="square" lIns="0" tIns="0" rIns="0" bIns="0" rtlCol="0" anchor="t"/>
          <a:lstStyle/>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Reduced ExpressRoute plumbing.</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Fewer customer-managed BGP peering sessions.</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Simpler routing tables.</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Potentially lower latency to Azure-native services.</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Avoids ExpressRoute gateway compute costs for applicable internal traffic.</a:t>
            </a:r>
            <a:endParaRPr lang="en-US" sz="1150" dirty="0"/>
          </a:p>
        </p:txBody>
      </p:sp>
      <p:sp>
        <p:nvSpPr>
          <p:cNvPr id="13" name="Shape 10"/>
          <p:cNvSpPr/>
          <p:nvPr/>
        </p:nvSpPr>
        <p:spPr>
          <a:xfrm>
            <a:off x="6812280" y="3520440"/>
            <a:ext cx="4828032" cy="2011680"/>
          </a:xfrm>
          <a:prstGeom prst="roundRect">
            <a:avLst>
              <a:gd name="adj" fmla="val 4091"/>
            </a:avLst>
          </a:prstGeom>
          <a:solidFill>
            <a:srgbClr val="E5F7FC"/>
          </a:solidFill>
          <a:ln/>
        </p:spPr>
      </p:sp>
      <p:sp>
        <p:nvSpPr>
          <p:cNvPr id="14" name="Text 11"/>
          <p:cNvSpPr/>
          <p:nvPr/>
        </p:nvSpPr>
        <p:spPr>
          <a:xfrm>
            <a:off x="7050024" y="3630168"/>
            <a:ext cx="4370832"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Security and platform integration</a:t>
            </a:r>
            <a:endParaRPr lang="en-US" sz="1400" dirty="0"/>
          </a:p>
        </p:txBody>
      </p:sp>
      <p:sp>
        <p:nvSpPr>
          <p:cNvPr id="15" name="Text 12"/>
          <p:cNvSpPr/>
          <p:nvPr/>
        </p:nvSpPr>
        <p:spPr>
          <a:xfrm>
            <a:off x="7050024" y="4023360"/>
            <a:ext cx="4352544" cy="1417320"/>
          </a:xfrm>
          <a:prstGeom prst="rect">
            <a:avLst/>
          </a:prstGeom>
          <a:noFill/>
          <a:ln/>
        </p:spPr>
        <p:txBody>
          <a:bodyPr wrap="square" lIns="0" tIns="0" rIns="0" bIns="0" rtlCol="0" anchor="t"/>
          <a:lstStyle/>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Workloads participate more directly in Azure-native networking and security services.</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Customer-managed NSGs apply to documented delegated Gen 2 subnets; Azure applies system-managed NSGs to critical management interfaces.</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Azure private DNS resolution integrates more directly.</a:t>
            </a:r>
            <a:endParaRPr lang="en-US" sz="1150" dirty="0"/>
          </a:p>
        </p:txBody>
      </p:sp>
      <p:sp>
        <p:nvSpPr>
          <p:cNvPr id="16" name="Shape 13"/>
          <p:cNvSpPr/>
          <p:nvPr/>
        </p:nvSpPr>
        <p:spPr>
          <a:xfrm>
            <a:off x="548640" y="5715000"/>
            <a:ext cx="11091672" cy="548640"/>
          </a:xfrm>
          <a:prstGeom prst="roundRect">
            <a:avLst>
              <a:gd name="adj" fmla="val 15000"/>
            </a:avLst>
          </a:prstGeom>
          <a:solidFill>
            <a:srgbClr val="EBEDED"/>
          </a:solidFill>
          <a:ln/>
        </p:spPr>
      </p:sp>
      <p:sp>
        <p:nvSpPr>
          <p:cNvPr id="17" name="Text 14"/>
          <p:cNvSpPr/>
          <p:nvPr/>
        </p:nvSpPr>
        <p:spPr>
          <a:xfrm>
            <a:off x="731520" y="5715000"/>
            <a:ext cx="10725912" cy="548640"/>
          </a:xfrm>
          <a:prstGeom prst="rect">
            <a:avLst/>
          </a:prstGeom>
          <a:noFill/>
          <a:ln/>
        </p:spPr>
        <p:txBody>
          <a:bodyPr wrap="square" lIns="0" tIns="0" rIns="0" bIns="0" rtlCol="0" anchor="ctr"/>
          <a:lstStyle/>
          <a:p>
            <a:pPr indent="0" marL="0">
              <a:buNone/>
            </a:pPr>
            <a:r>
              <a:rPr lang="en-US" sz="1100" b="1" dirty="0">
                <a:solidFill>
                  <a:srgbClr val="00B3E2"/>
                </a:solidFill>
                <a:latin typeface="Arial" pitchFamily="34" charset="0"/>
                <a:ea typeface="Arial" pitchFamily="34" charset="-122"/>
                <a:cs typeface="Arial" pitchFamily="34" charset="-120"/>
              </a:rPr>
              <a:t>Takeaway   </a:t>
            </a:r>
            <a:pPr indent="0" marL="0">
              <a:buNone/>
            </a:pPr>
            <a:r>
              <a:rPr lang="en-US" sz="1200" dirty="0">
                <a:solidFill>
                  <a:srgbClr val="3E3E4B"/>
                </a:solidFill>
                <a:latin typeface="Calibri" pitchFamily="34" charset="0"/>
                <a:ea typeface="Calibri" pitchFamily="34" charset="-122"/>
                <a:cs typeface="Calibri" pitchFamily="34" charset="-120"/>
              </a:rPr>
              <a:t>VNet injection reduces connectivity plumbing but transfers architectural control to Azure-native network behavior.</a:t>
            </a:r>
            <a:endParaRPr lang="en-US" sz="1100" dirty="0"/>
          </a:p>
        </p:txBody>
      </p:sp>
      <p:sp>
        <p:nvSpPr>
          <p:cNvPr id="18" name="Text 15"/>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6. Generation 2 VNet injection</a:t>
            </a:r>
            <a:endParaRPr lang="en-US" sz="950" dirty="0"/>
          </a:p>
        </p:txBody>
      </p:sp>
      <p:sp>
        <p:nvSpPr>
          <p:cNvPr id="19" name="Text 16"/>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17</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6.3 ADDRESS SPACE</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A minimum /22, subdivided by Azure</a:t>
            </a:r>
            <a:endParaRPr lang="en-US" sz="2800" dirty="0"/>
          </a:p>
        </p:txBody>
      </p:sp>
      <p:sp>
        <p:nvSpPr>
          <p:cNvPr id="4" name="Shape 2"/>
          <p:cNvSpPr/>
          <p:nvPr/>
        </p:nvSpPr>
        <p:spPr>
          <a:xfrm>
            <a:off x="548640" y="1298448"/>
            <a:ext cx="3200400" cy="2011680"/>
          </a:xfrm>
          <a:prstGeom prst="roundRect">
            <a:avLst>
              <a:gd name="adj" fmla="val 4091"/>
            </a:avLst>
          </a:prstGeom>
          <a:solidFill>
            <a:srgbClr val="00B3E2"/>
          </a:solidFill>
          <a:ln/>
        </p:spPr>
      </p:sp>
      <p:sp>
        <p:nvSpPr>
          <p:cNvPr id="5" name="Text 3"/>
          <p:cNvSpPr/>
          <p:nvPr/>
        </p:nvSpPr>
        <p:spPr>
          <a:xfrm>
            <a:off x="640080" y="1463040"/>
            <a:ext cx="3017520" cy="777240"/>
          </a:xfrm>
          <a:prstGeom prst="rect">
            <a:avLst/>
          </a:prstGeom>
          <a:noFill/>
          <a:ln/>
        </p:spPr>
        <p:txBody>
          <a:bodyPr wrap="square" lIns="0" tIns="0" rIns="0" bIns="0" rtlCol="0" anchor="ctr"/>
          <a:lstStyle/>
          <a:p>
            <a:pPr algn="ctr" indent="0" marL="0">
              <a:buNone/>
            </a:pPr>
            <a:r>
              <a:rPr lang="en-US" sz="4600" b="1" dirty="0">
                <a:solidFill>
                  <a:srgbClr val="3E3E4B"/>
                </a:solidFill>
                <a:latin typeface="Arial" pitchFamily="34" charset="0"/>
                <a:ea typeface="Arial" pitchFamily="34" charset="-122"/>
                <a:cs typeface="Arial" pitchFamily="34" charset="-120"/>
              </a:rPr>
              <a:t>/22</a:t>
            </a:r>
            <a:endParaRPr lang="en-US" sz="4600" dirty="0"/>
          </a:p>
        </p:txBody>
      </p:sp>
      <p:sp>
        <p:nvSpPr>
          <p:cNvPr id="6" name="Text 4"/>
          <p:cNvSpPr/>
          <p:nvPr/>
        </p:nvSpPr>
        <p:spPr>
          <a:xfrm>
            <a:off x="822960" y="2286000"/>
            <a:ext cx="2651760" cy="868680"/>
          </a:xfrm>
          <a:prstGeom prst="rect">
            <a:avLst/>
          </a:prstGeom>
          <a:noFill/>
          <a:ln/>
        </p:spPr>
        <p:txBody>
          <a:bodyPr wrap="square" lIns="0" tIns="0" rIns="0" bIns="0" rtlCol="0" anchor="t"/>
          <a:lstStyle/>
          <a:p>
            <a:pPr algn="ctr" indent="0" marL="0">
              <a:lnSpc>
                <a:spcPts val="1500"/>
              </a:lnSpc>
              <a:buNone/>
            </a:pPr>
            <a:r>
              <a:rPr lang="en-US" sz="1150" dirty="0">
                <a:solidFill>
                  <a:srgbClr val="3E3E4B"/>
                </a:solidFill>
                <a:latin typeface="Calibri" pitchFamily="34" charset="0"/>
                <a:ea typeface="Calibri" pitchFamily="34" charset="-122"/>
                <a:cs typeface="Calibri" pitchFamily="34" charset="-120"/>
              </a:rPr>
              <a:t>Minimum CIDR block required for a Gen 2 private cloud, containing 1,024 IP addresses.</a:t>
            </a:r>
            <a:endParaRPr lang="en-US" sz="1150" dirty="0"/>
          </a:p>
        </p:txBody>
      </p:sp>
      <p:sp>
        <p:nvSpPr>
          <p:cNvPr id="7" name="Shape 5"/>
          <p:cNvSpPr/>
          <p:nvPr/>
        </p:nvSpPr>
        <p:spPr>
          <a:xfrm>
            <a:off x="3977640" y="1298448"/>
            <a:ext cx="7662672" cy="2011680"/>
          </a:xfrm>
          <a:prstGeom prst="roundRect">
            <a:avLst>
              <a:gd name="adj" fmla="val 4091"/>
            </a:avLst>
          </a:prstGeom>
          <a:solidFill>
            <a:srgbClr val="EBEDED"/>
          </a:solidFill>
          <a:ln/>
        </p:spPr>
      </p:sp>
      <p:sp>
        <p:nvSpPr>
          <p:cNvPr id="8" name="Text 6"/>
          <p:cNvSpPr/>
          <p:nvPr/>
        </p:nvSpPr>
        <p:spPr>
          <a:xfrm>
            <a:off x="4233672" y="1417320"/>
            <a:ext cx="6400800"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How the block is used</a:t>
            </a:r>
            <a:endParaRPr lang="en-US" sz="1400" dirty="0"/>
          </a:p>
        </p:txBody>
      </p:sp>
      <p:sp>
        <p:nvSpPr>
          <p:cNvPr id="9" name="Text 7"/>
          <p:cNvSpPr/>
          <p:nvPr/>
        </p:nvSpPr>
        <p:spPr>
          <a:xfrm>
            <a:off x="4233672" y="1810512"/>
            <a:ext cx="7150608" cy="1417320"/>
          </a:xfrm>
          <a:prstGeom prst="rect">
            <a:avLst/>
          </a:prstGeom>
          <a:noFill/>
          <a:ln/>
        </p:spPr>
        <p:txBody>
          <a:bodyPr wrap="square" lIns="0" tIns="0" rIns="0" bIns="0" rtlCol="0" anchor="t"/>
          <a:lstStyle/>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Azure divides the block into read-only management and infrastructure subnets.</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The customer cannot modify these managed subnets.</a:t>
            </a:r>
            <a:endParaRPr lang="en-US" sz="1250" dirty="0"/>
          </a:p>
          <a:p>
            <a:pPr marL="177800" indent="-177800">
              <a:lnSpc>
                <a:spcPts val="1700"/>
              </a:lnSpc>
              <a:spcAft>
                <a:spcPts val="700"/>
              </a:spcAft>
              <a:buSzPct val="100000"/>
              <a:buChar char="•"/>
            </a:pPr>
            <a:r>
              <a:rPr lang="en-US" sz="1250" dirty="0">
                <a:solidFill>
                  <a:srgbClr val="3E3E4B"/>
                </a:solidFill>
                <a:latin typeface="Calibri" pitchFamily="34" charset="0"/>
                <a:ea typeface="Calibri" pitchFamily="34" charset="-122"/>
                <a:cs typeface="Calibri" pitchFamily="34" charset="-120"/>
              </a:rPr>
              <a:t>The managed gateway subnets translate between the VMware NSX overlay and the Azure underlay, carrying traffic between encapsulated VMware segments and Azure VNet resources.</a:t>
            </a:r>
            <a:endParaRPr lang="en-US" sz="1250" dirty="0"/>
          </a:p>
        </p:txBody>
      </p:sp>
      <p:sp>
        <p:nvSpPr>
          <p:cNvPr id="10" name="Shape 8"/>
          <p:cNvSpPr/>
          <p:nvPr/>
        </p:nvSpPr>
        <p:spPr>
          <a:xfrm>
            <a:off x="548640" y="3493008"/>
            <a:ext cx="11091672" cy="1874520"/>
          </a:xfrm>
          <a:prstGeom prst="roundRect">
            <a:avLst>
              <a:gd name="adj" fmla="val 4390"/>
            </a:avLst>
          </a:prstGeom>
          <a:solidFill>
            <a:srgbClr val="E5F7FC"/>
          </a:solidFill>
          <a:ln/>
        </p:spPr>
      </p:sp>
      <p:sp>
        <p:nvSpPr>
          <p:cNvPr id="11" name="Text 9"/>
          <p:cNvSpPr/>
          <p:nvPr/>
        </p:nvSpPr>
        <p:spPr>
          <a:xfrm>
            <a:off x="804672" y="3602736"/>
            <a:ext cx="8229600"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Documented system-created subnets</a:t>
            </a:r>
            <a:endParaRPr lang="en-US" sz="1400" dirty="0"/>
          </a:p>
        </p:txBody>
      </p:sp>
      <p:sp>
        <p:nvSpPr>
          <p:cNvPr id="12" name="Text 10"/>
          <p:cNvSpPr/>
          <p:nvPr/>
        </p:nvSpPr>
        <p:spPr>
          <a:xfrm>
            <a:off x="804672" y="3986784"/>
            <a:ext cx="3200400" cy="246888"/>
          </a:xfrm>
          <a:prstGeom prst="rect">
            <a:avLst/>
          </a:prstGeom>
          <a:noFill/>
          <a:ln/>
        </p:spPr>
        <p:txBody>
          <a:bodyPr wrap="square" lIns="0" tIns="0" rIns="0" bIns="0" rtlCol="0" anchor="ctr"/>
          <a:lstStyle/>
          <a:p>
            <a:pPr indent="0" marL="0">
              <a:buNone/>
            </a:pPr>
            <a:r>
              <a:rPr lang="en-US" sz="1050" b="1" dirty="0">
                <a:solidFill>
                  <a:srgbClr val="3E3E4B"/>
                </a:solidFill>
                <a:latin typeface="Courier New" pitchFamily="34" charset="0"/>
                <a:ea typeface="Courier New" pitchFamily="34" charset="-122"/>
                <a:cs typeface="Courier New" pitchFamily="34" charset="-120"/>
              </a:rPr>
              <a:t>avs-mgmt</a:t>
            </a:r>
            <a:endParaRPr lang="en-US" sz="1050" dirty="0"/>
          </a:p>
        </p:txBody>
      </p:sp>
      <p:sp>
        <p:nvSpPr>
          <p:cNvPr id="13" name="Text 11"/>
          <p:cNvSpPr/>
          <p:nvPr/>
        </p:nvSpPr>
        <p:spPr>
          <a:xfrm>
            <a:off x="4114800" y="3986784"/>
            <a:ext cx="7269480" cy="246888"/>
          </a:xfrm>
          <a:prstGeom prst="rect">
            <a:avLst/>
          </a:prstGeom>
          <a:noFill/>
          <a:ln/>
        </p:spPr>
        <p:txBody>
          <a:bodyPr wrap="square" lIns="0" tIns="0" rIns="0" bIns="0" rtlCol="0" anchor="ctr"/>
          <a:lstStyle/>
          <a:p>
            <a:pPr indent="0" marL="0">
              <a:buNone/>
            </a:pPr>
            <a:r>
              <a:rPr lang="en-US" sz="1100" dirty="0">
                <a:solidFill>
                  <a:srgbClr val="3E3E4B"/>
                </a:solidFill>
                <a:latin typeface="Calibri" pitchFamily="34" charset="0"/>
                <a:ea typeface="Calibri" pitchFamily="34" charset="-122"/>
                <a:cs typeface="Calibri" pitchFamily="34" charset="-120"/>
              </a:rPr>
              <a:t>Fronts management appliances including vCenter Server, NSX Manager, and HCX Cloud Manager.</a:t>
            </a:r>
            <a:endParaRPr lang="en-US" sz="1100" dirty="0"/>
          </a:p>
        </p:txBody>
      </p:sp>
      <p:sp>
        <p:nvSpPr>
          <p:cNvPr id="14" name="Text 12"/>
          <p:cNvSpPr/>
          <p:nvPr/>
        </p:nvSpPr>
        <p:spPr>
          <a:xfrm>
            <a:off x="804672" y="4251960"/>
            <a:ext cx="3200400" cy="246888"/>
          </a:xfrm>
          <a:prstGeom prst="rect">
            <a:avLst/>
          </a:prstGeom>
          <a:noFill/>
          <a:ln/>
        </p:spPr>
        <p:txBody>
          <a:bodyPr wrap="square" lIns="0" tIns="0" rIns="0" bIns="0" rtlCol="0" anchor="ctr"/>
          <a:lstStyle/>
          <a:p>
            <a:pPr indent="0" marL="0">
              <a:buNone/>
            </a:pPr>
            <a:r>
              <a:rPr lang="en-US" sz="1050" b="1" dirty="0">
                <a:solidFill>
                  <a:srgbClr val="3E3E4B"/>
                </a:solidFill>
                <a:latin typeface="Courier New" pitchFamily="34" charset="0"/>
                <a:ea typeface="Courier New" pitchFamily="34" charset="-122"/>
                <a:cs typeface="Courier New" pitchFamily="34" charset="-120"/>
              </a:rPr>
              <a:t>esx-vmotion-vmk2</a:t>
            </a:r>
            <a:endParaRPr lang="en-US" sz="1050" dirty="0"/>
          </a:p>
        </p:txBody>
      </p:sp>
      <p:sp>
        <p:nvSpPr>
          <p:cNvPr id="15" name="Text 13"/>
          <p:cNvSpPr/>
          <p:nvPr/>
        </p:nvSpPr>
        <p:spPr>
          <a:xfrm>
            <a:off x="4114800" y="4251960"/>
            <a:ext cx="7269480" cy="246888"/>
          </a:xfrm>
          <a:prstGeom prst="rect">
            <a:avLst/>
          </a:prstGeom>
          <a:noFill/>
          <a:ln/>
        </p:spPr>
        <p:txBody>
          <a:bodyPr wrap="square" lIns="0" tIns="0" rIns="0" bIns="0" rtlCol="0" anchor="ctr"/>
          <a:lstStyle/>
          <a:p>
            <a:pPr indent="0" marL="0">
              <a:buNone/>
            </a:pPr>
            <a:r>
              <a:rPr lang="en-US" sz="1100" dirty="0">
                <a:solidFill>
                  <a:srgbClr val="3E3E4B"/>
                </a:solidFill>
                <a:latin typeface="Calibri" pitchFamily="34" charset="0"/>
                <a:ea typeface="Calibri" pitchFamily="34" charset="-122"/>
                <a:cs typeface="Calibri" pitchFamily="34" charset="-120"/>
              </a:rPr>
              <a:t>Carries vMotion VMkernel traffic.</a:t>
            </a:r>
            <a:endParaRPr lang="en-US" sz="1100" dirty="0"/>
          </a:p>
        </p:txBody>
      </p:sp>
      <p:sp>
        <p:nvSpPr>
          <p:cNvPr id="16" name="Text 14"/>
          <p:cNvSpPr/>
          <p:nvPr/>
        </p:nvSpPr>
        <p:spPr>
          <a:xfrm>
            <a:off x="804672" y="4517136"/>
            <a:ext cx="3200400" cy="246888"/>
          </a:xfrm>
          <a:prstGeom prst="rect">
            <a:avLst/>
          </a:prstGeom>
          <a:noFill/>
          <a:ln/>
        </p:spPr>
        <p:txBody>
          <a:bodyPr wrap="square" lIns="0" tIns="0" rIns="0" bIns="0" rtlCol="0" anchor="ctr"/>
          <a:lstStyle/>
          <a:p>
            <a:pPr indent="0" marL="0">
              <a:buNone/>
            </a:pPr>
            <a:r>
              <a:rPr lang="en-US" sz="1050" b="1" dirty="0">
                <a:solidFill>
                  <a:srgbClr val="3E3E4B"/>
                </a:solidFill>
                <a:latin typeface="Courier New" pitchFamily="34" charset="0"/>
                <a:ea typeface="Courier New" pitchFamily="34" charset="-122"/>
                <a:cs typeface="Courier New" pitchFamily="34" charset="-120"/>
              </a:rPr>
              <a:t>avs-nsx-gw / avs-nsx-gw-1</a:t>
            </a:r>
            <a:endParaRPr lang="en-US" sz="1050" dirty="0"/>
          </a:p>
        </p:txBody>
      </p:sp>
      <p:sp>
        <p:nvSpPr>
          <p:cNvPr id="17" name="Text 15"/>
          <p:cNvSpPr/>
          <p:nvPr/>
        </p:nvSpPr>
        <p:spPr>
          <a:xfrm>
            <a:off x="4114800" y="4517136"/>
            <a:ext cx="7269480" cy="246888"/>
          </a:xfrm>
          <a:prstGeom prst="rect">
            <a:avLst/>
          </a:prstGeom>
          <a:noFill/>
          <a:ln/>
        </p:spPr>
        <p:txBody>
          <a:bodyPr wrap="square" lIns="0" tIns="0" rIns="0" bIns="0" rtlCol="0" anchor="ctr"/>
          <a:lstStyle/>
          <a:p>
            <a:pPr indent="0" marL="0">
              <a:buNone/>
            </a:pPr>
            <a:r>
              <a:rPr lang="en-US" sz="1100" dirty="0">
                <a:solidFill>
                  <a:srgbClr val="3E3E4B"/>
                </a:solidFill>
                <a:latin typeface="Calibri" pitchFamily="34" charset="0"/>
                <a:ea typeface="Calibri" pitchFamily="34" charset="-122"/>
                <a:cs typeface="Calibri" pitchFamily="34" charset="-120"/>
              </a:rPr>
              <a:t>Handle outbound traffic from AVS to the VNet and beyond.</a:t>
            </a:r>
            <a:endParaRPr lang="en-US" sz="1100" dirty="0"/>
          </a:p>
        </p:txBody>
      </p:sp>
      <p:sp>
        <p:nvSpPr>
          <p:cNvPr id="18" name="Text 16"/>
          <p:cNvSpPr/>
          <p:nvPr/>
        </p:nvSpPr>
        <p:spPr>
          <a:xfrm>
            <a:off x="804672" y="4782312"/>
            <a:ext cx="3200400" cy="246888"/>
          </a:xfrm>
          <a:prstGeom prst="rect">
            <a:avLst/>
          </a:prstGeom>
          <a:noFill/>
          <a:ln/>
        </p:spPr>
        <p:txBody>
          <a:bodyPr wrap="square" lIns="0" tIns="0" rIns="0" bIns="0" rtlCol="0" anchor="ctr"/>
          <a:lstStyle/>
          <a:p>
            <a:pPr indent="0" marL="0">
              <a:buNone/>
            </a:pPr>
            <a:r>
              <a:rPr lang="en-US" sz="1050" b="1" dirty="0">
                <a:solidFill>
                  <a:srgbClr val="3E3E4B"/>
                </a:solidFill>
                <a:latin typeface="Courier New" pitchFamily="34" charset="0"/>
                <a:ea typeface="Courier New" pitchFamily="34" charset="-122"/>
                <a:cs typeface="Courier New" pitchFamily="34" charset="-120"/>
              </a:rPr>
              <a:t>avs-network-infra-gw</a:t>
            </a:r>
            <a:endParaRPr lang="en-US" sz="1050" dirty="0"/>
          </a:p>
        </p:txBody>
      </p:sp>
      <p:sp>
        <p:nvSpPr>
          <p:cNvPr id="19" name="Text 17"/>
          <p:cNvSpPr/>
          <p:nvPr/>
        </p:nvSpPr>
        <p:spPr>
          <a:xfrm>
            <a:off x="4114800" y="4782312"/>
            <a:ext cx="7269480" cy="246888"/>
          </a:xfrm>
          <a:prstGeom prst="rect">
            <a:avLst/>
          </a:prstGeom>
          <a:noFill/>
          <a:ln/>
        </p:spPr>
        <p:txBody>
          <a:bodyPr wrap="square" lIns="0" tIns="0" rIns="0" bIns="0" rtlCol="0" anchor="ctr"/>
          <a:lstStyle/>
          <a:p>
            <a:pPr indent="0" marL="0">
              <a:buNone/>
            </a:pPr>
            <a:r>
              <a:rPr lang="en-US" sz="1100" dirty="0">
                <a:solidFill>
                  <a:srgbClr val="3E3E4B"/>
                </a:solidFill>
                <a:latin typeface="Calibri" pitchFamily="34" charset="0"/>
                <a:ea typeface="Calibri" pitchFamily="34" charset="-122"/>
                <a:cs typeface="Calibri" pitchFamily="34" charset="-120"/>
              </a:rPr>
              <a:t>Handles inbound traffic to NSX workloads; carries NSX segment prefixes as secondary IP configurations.</a:t>
            </a:r>
            <a:endParaRPr lang="en-US" sz="1100" dirty="0"/>
          </a:p>
        </p:txBody>
      </p:sp>
      <p:sp>
        <p:nvSpPr>
          <p:cNvPr id="20" name="Text 18"/>
          <p:cNvSpPr/>
          <p:nvPr/>
        </p:nvSpPr>
        <p:spPr>
          <a:xfrm>
            <a:off x="804672" y="5047488"/>
            <a:ext cx="3200400" cy="246888"/>
          </a:xfrm>
          <a:prstGeom prst="rect">
            <a:avLst/>
          </a:prstGeom>
          <a:noFill/>
          <a:ln/>
        </p:spPr>
        <p:txBody>
          <a:bodyPr wrap="square" lIns="0" tIns="0" rIns="0" bIns="0" rtlCol="0" anchor="ctr"/>
          <a:lstStyle/>
          <a:p>
            <a:pPr indent="0" marL="0">
              <a:buNone/>
            </a:pPr>
            <a:r>
              <a:rPr lang="en-US" sz="1050" b="1" dirty="0">
                <a:solidFill>
                  <a:srgbClr val="3E3E4B"/>
                </a:solidFill>
                <a:latin typeface="Courier New" pitchFamily="34" charset="0"/>
                <a:ea typeface="Courier New" pitchFamily="34" charset="-122"/>
                <a:cs typeface="Courier New" pitchFamily="34" charset="-120"/>
              </a:rPr>
              <a:t>avs-vnet-sync, avs-services, esx-mgmt-vmk1, esx-vsan-vmk3</a:t>
            </a:r>
            <a:endParaRPr lang="en-US" sz="1050" dirty="0"/>
          </a:p>
        </p:txBody>
      </p:sp>
      <p:sp>
        <p:nvSpPr>
          <p:cNvPr id="21" name="Text 19"/>
          <p:cNvSpPr/>
          <p:nvPr/>
        </p:nvSpPr>
        <p:spPr>
          <a:xfrm>
            <a:off x="4114800" y="5047488"/>
            <a:ext cx="7269480" cy="246888"/>
          </a:xfrm>
          <a:prstGeom prst="rect">
            <a:avLst/>
          </a:prstGeom>
          <a:noFill/>
          <a:ln/>
        </p:spPr>
        <p:txBody>
          <a:bodyPr wrap="square" lIns="0" tIns="0" rIns="0" bIns="0" rtlCol="0" anchor="ctr"/>
          <a:lstStyle/>
          <a:p>
            <a:pPr indent="0" marL="0">
              <a:buNone/>
            </a:pPr>
            <a:r>
              <a:rPr lang="en-US" sz="1100" dirty="0">
                <a:solidFill>
                  <a:srgbClr val="3E3E4B"/>
                </a:solidFill>
                <a:latin typeface="Calibri" pitchFamily="34" charset="0"/>
                <a:ea typeface="Calibri" pitchFamily="34" charset="-122"/>
                <a:cs typeface="Calibri" pitchFamily="34" charset="-120"/>
              </a:rPr>
              <a:t>Plus reserved ranges.</a:t>
            </a:r>
            <a:endParaRPr lang="en-US" sz="1100" dirty="0"/>
          </a:p>
        </p:txBody>
      </p:sp>
      <p:sp>
        <p:nvSpPr>
          <p:cNvPr id="22" name="Shape 20"/>
          <p:cNvSpPr/>
          <p:nvPr/>
        </p:nvSpPr>
        <p:spPr>
          <a:xfrm>
            <a:off x="548640" y="5532120"/>
            <a:ext cx="11091672" cy="731520"/>
          </a:xfrm>
          <a:prstGeom prst="roundRect">
            <a:avLst>
              <a:gd name="adj" fmla="val 11250"/>
            </a:avLst>
          </a:prstGeom>
          <a:solidFill>
            <a:srgbClr val="FAC458"/>
          </a:solidFill>
          <a:ln/>
        </p:spPr>
      </p:sp>
      <p:sp>
        <p:nvSpPr>
          <p:cNvPr id="23" name="Text 21"/>
          <p:cNvSpPr/>
          <p:nvPr/>
        </p:nvSpPr>
        <p:spPr>
          <a:xfrm>
            <a:off x="777240" y="5532120"/>
            <a:ext cx="10634472" cy="731520"/>
          </a:xfrm>
          <a:prstGeom prst="rect">
            <a:avLst/>
          </a:prstGeom>
          <a:noFill/>
          <a:ln/>
        </p:spPr>
        <p:txBody>
          <a:bodyPr wrap="square" lIns="0" tIns="0" rIns="0" bIns="0" rtlCol="0" anchor="ctr"/>
          <a:lstStyle/>
          <a:p>
            <a:pPr indent="0" marL="0">
              <a:buNone/>
            </a:pPr>
            <a:r>
              <a:rPr lang="en-US" sz="1100" b="1" dirty="0">
                <a:solidFill>
                  <a:srgbClr val="3E3E4B"/>
                </a:solidFill>
                <a:latin typeface="Arial" pitchFamily="34" charset="0"/>
                <a:ea typeface="Arial" pitchFamily="34" charset="-122"/>
                <a:cs typeface="Arial" pitchFamily="34" charset="-120"/>
              </a:rPr>
              <a:t>Validate:  </a:t>
            </a:r>
            <a:pPr indent="0" marL="0">
              <a:buNone/>
            </a:pPr>
            <a:r>
              <a:rPr lang="en-US" sz="1150" dirty="0">
                <a:solidFill>
                  <a:srgbClr val="3E3E4B"/>
                </a:solidFill>
                <a:latin typeface="Calibri" pitchFamily="34" charset="0"/>
                <a:ea typeface="Calibri" pitchFamily="34" charset="-122"/>
                <a:cs typeface="Calibri" pitchFamily="34" charset="-120"/>
              </a:rPr>
              <a:t>Microsoft distinguishes the initial Gen 2 architecture from the current architecture. UDR and NSG placement differs between them. Confirm which architecture a given private cloud uses before designing route tables.</a:t>
            </a:r>
            <a:endParaRPr lang="en-US" sz="1100" dirty="0"/>
          </a:p>
        </p:txBody>
      </p:sp>
      <p:sp>
        <p:nvSpPr>
          <p:cNvPr id="24" name="Text 22"/>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6.3 Deployment address space</a:t>
            </a:r>
            <a:endParaRPr lang="en-US" sz="950" dirty="0"/>
          </a:p>
        </p:txBody>
      </p:sp>
      <p:sp>
        <p:nvSpPr>
          <p:cNvPr id="25" name="Text 23"/>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18</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7. SYSTEM-MANAGED NSGS</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A control that enforces without appearing</a:t>
            </a:r>
            <a:endParaRPr lang="en-US" sz="2800" dirty="0"/>
          </a:p>
        </p:txBody>
      </p:sp>
      <p:sp>
        <p:nvSpPr>
          <p:cNvPr id="4" name="Shape 2"/>
          <p:cNvSpPr/>
          <p:nvPr/>
        </p:nvSpPr>
        <p:spPr>
          <a:xfrm>
            <a:off x="548640" y="1298448"/>
            <a:ext cx="11091672" cy="1051560"/>
          </a:xfrm>
          <a:prstGeom prst="roundRect">
            <a:avLst>
              <a:gd name="adj" fmla="val 7826"/>
            </a:avLst>
          </a:prstGeom>
          <a:solidFill>
            <a:srgbClr val="3E3E4B"/>
          </a:solidFill>
          <a:ln/>
        </p:spPr>
      </p:sp>
      <p:sp>
        <p:nvSpPr>
          <p:cNvPr id="5" name="Text 3"/>
          <p:cNvSpPr/>
          <p:nvPr/>
        </p:nvSpPr>
        <p:spPr>
          <a:xfrm>
            <a:off x="822960" y="1408176"/>
            <a:ext cx="10543032" cy="868680"/>
          </a:xfrm>
          <a:prstGeom prst="rect">
            <a:avLst/>
          </a:prstGeom>
          <a:noFill/>
          <a:ln/>
        </p:spPr>
        <p:txBody>
          <a:bodyPr wrap="square" lIns="0" tIns="0" rIns="0" bIns="0" rtlCol="0" anchor="t"/>
          <a:lstStyle/>
          <a:p>
            <a:pPr indent="0" marL="0">
              <a:lnSpc>
                <a:spcPts val="1800"/>
              </a:lnSpc>
              <a:buNone/>
            </a:pPr>
            <a:r>
              <a:rPr lang="en-US" sz="1200" b="1" dirty="0">
                <a:solidFill>
                  <a:srgbClr val="00B3E2"/>
                </a:solidFill>
                <a:latin typeface="Arial" pitchFamily="34" charset="0"/>
                <a:ea typeface="Arial" pitchFamily="34" charset="-122"/>
                <a:cs typeface="Arial" pitchFamily="34" charset="-120"/>
              </a:rPr>
              <a:t>The compliance problem
</a:t>
            </a:r>
            <a:endParaRPr lang="en-US" sz="1200" dirty="0"/>
          </a:p>
          <a:p>
            <a:pPr indent="0" marL="0">
              <a:lnSpc>
                <a:spcPts val="1800"/>
              </a:lnSpc>
              <a:buNone/>
            </a:pPr>
            <a:r>
              <a:rPr lang="en-US" sz="1300" dirty="0">
                <a:solidFill>
                  <a:srgbClr val="FFFFFF"/>
                </a:solidFill>
                <a:latin typeface="Calibri" pitchFamily="34" charset="0"/>
                <a:ea typeface="Calibri" pitchFamily="34" charset="-122"/>
                <a:cs typeface="Calibri" pitchFamily="34" charset="-120"/>
              </a:rPr>
              <a:t>Azure applies system-managed network security groups to critical Generation 2 interfaces. These controls can exist at the API or platform level without being rendered in the standard portal experience.</a:t>
            </a:r>
            <a:endParaRPr lang="en-US" sz="1200" dirty="0"/>
          </a:p>
        </p:txBody>
      </p:sp>
      <p:sp>
        <p:nvSpPr>
          <p:cNvPr id="6" name="Shape 4"/>
          <p:cNvSpPr/>
          <p:nvPr/>
        </p:nvSpPr>
        <p:spPr>
          <a:xfrm>
            <a:off x="548640" y="2560320"/>
            <a:ext cx="5408676" cy="2286000"/>
          </a:xfrm>
          <a:prstGeom prst="roundRect">
            <a:avLst>
              <a:gd name="adj" fmla="val 3600"/>
            </a:avLst>
          </a:prstGeom>
          <a:solidFill>
            <a:srgbClr val="E5F7FC"/>
          </a:solidFill>
          <a:ln/>
        </p:spPr>
      </p:sp>
      <p:sp>
        <p:nvSpPr>
          <p:cNvPr id="7" name="Text 5"/>
          <p:cNvSpPr/>
          <p:nvPr/>
        </p:nvSpPr>
        <p:spPr>
          <a:xfrm>
            <a:off x="804672" y="2670048"/>
            <a:ext cx="4951476"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Documented behavior</a:t>
            </a:r>
            <a:endParaRPr lang="en-US" sz="1400" dirty="0"/>
          </a:p>
        </p:txBody>
      </p:sp>
      <p:sp>
        <p:nvSpPr>
          <p:cNvPr id="8" name="Text 6"/>
          <p:cNvSpPr/>
          <p:nvPr/>
        </p:nvSpPr>
        <p:spPr>
          <a:xfrm>
            <a:off x="804672" y="3063240"/>
            <a:ext cx="4896612" cy="1691640"/>
          </a:xfrm>
          <a:prstGeom prst="rect">
            <a:avLst/>
          </a:prstGeom>
          <a:noFill/>
          <a:ln/>
        </p:spPr>
        <p:txBody>
          <a:bodyPr wrap="square" lIns="0" tIns="0" rIns="0" bIns="0" rtlCol="0" anchor="t"/>
          <a:lstStyle/>
          <a:p>
            <a:pPr marL="177800" indent="-177800">
              <a:lnSpc>
                <a:spcPts val="1700"/>
              </a:lnSpc>
              <a:spcAft>
                <a:spcPts val="500"/>
              </a:spcAft>
              <a:buSzPct val="100000"/>
              <a:buChar char="•"/>
            </a:pPr>
            <a:r>
              <a:rPr lang="en-US" sz="1200" dirty="0">
                <a:solidFill>
                  <a:srgbClr val="3E3E4B"/>
                </a:solidFill>
                <a:latin typeface="Calibri" pitchFamily="34" charset="0"/>
                <a:ea typeface="Calibri" pitchFamily="34" charset="-122"/>
                <a:cs typeface="Calibri" pitchFamily="34" charset="-120"/>
              </a:rPr>
              <a:t>Inbound internet traffic to management components such as vCenter is blocked by default.</a:t>
            </a:r>
            <a:endParaRPr lang="en-US" sz="1200" dirty="0"/>
          </a:p>
          <a:p>
            <a:pPr marL="177800" indent="-177800">
              <a:lnSpc>
                <a:spcPts val="1700"/>
              </a:lnSpc>
              <a:spcAft>
                <a:spcPts val="500"/>
              </a:spcAft>
              <a:buSzPct val="100000"/>
              <a:buChar char="•"/>
            </a:pPr>
            <a:r>
              <a:rPr lang="en-US" sz="1200" dirty="0">
                <a:solidFill>
                  <a:srgbClr val="3E3E4B"/>
                </a:solidFill>
                <a:latin typeface="Calibri" pitchFamily="34" charset="0"/>
                <a:ea typeface="Calibri" pitchFamily="34" charset="-122"/>
                <a:cs typeface="Calibri" pitchFamily="34" charset="-120"/>
              </a:rPr>
              <a:t>Azure applies system-managed NSGs to critical interfaces.</a:t>
            </a:r>
            <a:endParaRPr lang="en-US" sz="1200" dirty="0"/>
          </a:p>
          <a:p>
            <a:pPr marL="177800" indent="-177800">
              <a:lnSpc>
                <a:spcPts val="1700"/>
              </a:lnSpc>
              <a:spcAft>
                <a:spcPts val="500"/>
              </a:spcAft>
              <a:buSzPct val="100000"/>
              <a:buChar char="•"/>
            </a:pPr>
            <a:r>
              <a:rPr lang="en-US" sz="1200" dirty="0">
                <a:solidFill>
                  <a:srgbClr val="3E3E4B"/>
                </a:solidFill>
                <a:latin typeface="Calibri" pitchFamily="34" charset="0"/>
                <a:ea typeface="Calibri" pitchFamily="34" charset="-122"/>
                <a:cs typeface="Calibri" pitchFamily="34" charset="-120"/>
              </a:rPr>
              <a:t>The system-managed control still intercepts and drops unauthorized packets.</a:t>
            </a:r>
            <a:endParaRPr lang="en-US" sz="1200" dirty="0"/>
          </a:p>
          <a:p>
            <a:pPr marL="177800" indent="-177800">
              <a:lnSpc>
                <a:spcPts val="1700"/>
              </a:lnSpc>
              <a:spcAft>
                <a:spcPts val="500"/>
              </a:spcAft>
              <a:buSzPct val="100000"/>
              <a:buChar char="•"/>
            </a:pPr>
            <a:r>
              <a:rPr lang="en-US" sz="1200" dirty="0">
                <a:solidFill>
                  <a:srgbClr val="3E3E4B"/>
                </a:solidFill>
                <a:latin typeface="Calibri" pitchFamily="34" charset="0"/>
                <a:ea typeface="Calibri" pitchFamily="34" charset="-122"/>
                <a:cs typeface="Calibri" pitchFamily="34" charset="-120"/>
              </a:rPr>
              <a:t>Management access from on-premises or a jump host still requires explicit routing and allowed access paths.</a:t>
            </a:r>
            <a:endParaRPr lang="en-US" sz="1200" dirty="0"/>
          </a:p>
        </p:txBody>
      </p:sp>
      <p:sp>
        <p:nvSpPr>
          <p:cNvPr id="9" name="Shape 7"/>
          <p:cNvSpPr/>
          <p:nvPr/>
        </p:nvSpPr>
        <p:spPr>
          <a:xfrm>
            <a:off x="6231636" y="2560320"/>
            <a:ext cx="5408676" cy="2286000"/>
          </a:xfrm>
          <a:prstGeom prst="roundRect">
            <a:avLst>
              <a:gd name="adj" fmla="val 3600"/>
            </a:avLst>
          </a:prstGeom>
          <a:solidFill>
            <a:srgbClr val="EBEDED"/>
          </a:solidFill>
          <a:ln/>
        </p:spPr>
      </p:sp>
      <p:sp>
        <p:nvSpPr>
          <p:cNvPr id="10" name="Shape 8"/>
          <p:cNvSpPr/>
          <p:nvPr/>
        </p:nvSpPr>
        <p:spPr>
          <a:xfrm>
            <a:off x="6487668" y="2724912"/>
            <a:ext cx="310896" cy="310896"/>
          </a:xfrm>
          <a:prstGeom prst="ellipse">
            <a:avLst/>
          </a:prstGeom>
          <a:solidFill>
            <a:srgbClr val="F15D23"/>
          </a:solidFill>
          <a:ln/>
        </p:spPr>
      </p:sp>
      <p:sp>
        <p:nvSpPr>
          <p:cNvPr id="11" name="Text 9"/>
          <p:cNvSpPr/>
          <p:nvPr/>
        </p:nvSpPr>
        <p:spPr>
          <a:xfrm>
            <a:off x="6487668" y="2724912"/>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2" name="Text 10"/>
          <p:cNvSpPr/>
          <p:nvPr/>
        </p:nvSpPr>
        <p:spPr>
          <a:xfrm>
            <a:off x="6908292" y="2743200"/>
            <a:ext cx="4402836"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Where teams get this wrong</a:t>
            </a:r>
            <a:endParaRPr lang="en-US" sz="1400" dirty="0"/>
          </a:p>
        </p:txBody>
      </p:sp>
      <p:sp>
        <p:nvSpPr>
          <p:cNvPr id="13" name="Text 11"/>
          <p:cNvSpPr/>
          <p:nvPr/>
        </p:nvSpPr>
        <p:spPr>
          <a:xfrm>
            <a:off x="6487668" y="3154680"/>
            <a:ext cx="4622292" cy="1600200"/>
          </a:xfrm>
          <a:prstGeom prst="rect">
            <a:avLst/>
          </a:prstGeom>
          <a:noFill/>
          <a:ln/>
        </p:spPr>
        <p:txBody>
          <a:bodyPr wrap="square" lIns="0" tIns="0" rIns="0" bIns="0" rtlCol="0" anchor="t"/>
          <a:lstStyle/>
          <a:p>
            <a:pPr marL="177800" indent="-177800">
              <a:lnSpc>
                <a:spcPts val="1700"/>
              </a:lnSpc>
              <a:spcAft>
                <a:spcPts val="500"/>
              </a:spcAft>
              <a:buSzPct val="100000"/>
              <a:buChar char="•"/>
            </a:pPr>
            <a:r>
              <a:rPr lang="en-US" sz="1200" dirty="0">
                <a:solidFill>
                  <a:srgbClr val="3E3E4B"/>
                </a:solidFill>
                <a:latin typeface="Calibri" pitchFamily="34" charset="0"/>
                <a:ea typeface="Calibri" pitchFamily="34" charset="-122"/>
                <a:cs typeface="Calibri" pitchFamily="34" charset="-120"/>
              </a:rPr>
              <a:t>A vulnerability scanner may report that an interface is exposed or lacks an attached customer-visible NSG.</a:t>
            </a:r>
            <a:endParaRPr lang="en-US" sz="1200" dirty="0"/>
          </a:p>
          <a:p>
            <a:pPr marL="177800" indent="-177800">
              <a:lnSpc>
                <a:spcPts val="1700"/>
              </a:lnSpc>
              <a:spcAft>
                <a:spcPts val="500"/>
              </a:spcAft>
              <a:buSzPct val="100000"/>
              <a:buChar char="•"/>
            </a:pPr>
            <a:r>
              <a:rPr lang="en-US" sz="1200" dirty="0">
                <a:solidFill>
                  <a:srgbClr val="3E3E4B"/>
                </a:solidFill>
                <a:latin typeface="Calibri" pitchFamily="34" charset="0"/>
                <a:ea typeface="Calibri" pitchFamily="34" charset="-122"/>
                <a:cs typeface="Calibri" pitchFamily="34" charset="-120"/>
              </a:rPr>
              <a:t>Security and compliance teams may read the absence of a visible NSG as the absence of protection.</a:t>
            </a:r>
            <a:endParaRPr lang="en-US" sz="1200" dirty="0"/>
          </a:p>
          <a:p>
            <a:pPr marL="177800" indent="-177800">
              <a:lnSpc>
                <a:spcPts val="1700"/>
              </a:lnSpc>
              <a:spcAft>
                <a:spcPts val="500"/>
              </a:spcAft>
              <a:buSzPct val="100000"/>
              <a:buChar char="•"/>
            </a:pPr>
            <a:r>
              <a:rPr lang="en-US" sz="1200" dirty="0">
                <a:solidFill>
                  <a:srgbClr val="3E3E4B"/>
                </a:solidFill>
                <a:latin typeface="Calibri" pitchFamily="34" charset="0"/>
                <a:ea typeface="Calibri" pitchFamily="34" charset="-122"/>
                <a:cs typeface="Calibri" pitchFamily="34" charset="-120"/>
              </a:rPr>
              <a:t>Troubleshooting and compliance processes must distinguish configuration visibility from enforcement behavior.</a:t>
            </a:r>
            <a:endParaRPr lang="en-US" sz="1200" dirty="0"/>
          </a:p>
        </p:txBody>
      </p:sp>
      <p:sp>
        <p:nvSpPr>
          <p:cNvPr id="14" name="Shape 12"/>
          <p:cNvSpPr/>
          <p:nvPr/>
        </p:nvSpPr>
        <p:spPr>
          <a:xfrm>
            <a:off x="548640" y="5029200"/>
            <a:ext cx="11091672" cy="1234440"/>
          </a:xfrm>
          <a:prstGeom prst="roundRect">
            <a:avLst>
              <a:gd name="adj" fmla="val 6667"/>
            </a:avLst>
          </a:prstGeom>
          <a:solidFill>
            <a:srgbClr val="E2F2E8"/>
          </a:solidFill>
          <a:ln/>
        </p:spPr>
      </p:sp>
      <p:sp>
        <p:nvSpPr>
          <p:cNvPr id="15" name="Text 13"/>
          <p:cNvSpPr/>
          <p:nvPr/>
        </p:nvSpPr>
        <p:spPr>
          <a:xfrm>
            <a:off x="804672" y="5120640"/>
            <a:ext cx="8229600" cy="274320"/>
          </a:xfrm>
          <a:prstGeom prst="rect">
            <a:avLst/>
          </a:prstGeom>
          <a:noFill/>
          <a:ln/>
        </p:spPr>
        <p:txBody>
          <a:bodyPr wrap="square" lIns="0" tIns="0" rIns="0" bIns="0" rtlCol="0" anchor="ctr"/>
          <a:lstStyle/>
          <a:p>
            <a:pPr indent="0" marL="0">
              <a:buNone/>
            </a:pPr>
            <a:r>
              <a:rPr lang="en-US" sz="1350" b="1" dirty="0">
                <a:solidFill>
                  <a:srgbClr val="00AD93"/>
                </a:solidFill>
                <a:latin typeface="Arial" pitchFamily="34" charset="0"/>
                <a:ea typeface="Arial" pitchFamily="34" charset="-122"/>
                <a:cs typeface="Arial" pitchFamily="34" charset="-120"/>
              </a:rPr>
              <a:t>Validation procedure</a:t>
            </a:r>
            <a:endParaRPr lang="en-US" sz="1350" dirty="0"/>
          </a:p>
        </p:txBody>
      </p:sp>
      <p:sp>
        <p:nvSpPr>
          <p:cNvPr id="16" name="Text 14"/>
          <p:cNvSpPr/>
          <p:nvPr/>
        </p:nvSpPr>
        <p:spPr>
          <a:xfrm>
            <a:off x="804672" y="5440680"/>
            <a:ext cx="10579608" cy="749808"/>
          </a:xfrm>
          <a:prstGeom prst="rect">
            <a:avLst/>
          </a:prstGeom>
          <a:noFill/>
          <a:ln/>
        </p:spPr>
        <p:txBody>
          <a:bodyPr wrap="square" lIns="0" tIns="0" rIns="0" bIns="0" rtlCol="0" anchor="t"/>
          <a:lstStyle/>
          <a:p>
            <a:pPr indent="0" marL="0">
              <a:lnSpc>
                <a:spcPts val="1600"/>
              </a:lnSpc>
              <a:buNone/>
            </a:pPr>
            <a:r>
              <a:rPr lang="en-US" sz="1150" dirty="0">
                <a:solidFill>
                  <a:srgbClr val="3E3E4B"/>
                </a:solidFill>
                <a:latin typeface="Calibri" pitchFamily="34" charset="0"/>
                <a:ea typeface="Calibri" pitchFamily="34" charset="-122"/>
                <a:cs typeface="Calibri" pitchFamily="34" charset="-120"/>
              </a:rPr>
              <a:t>1. Identify the management endpoint.   2. Confirm the source network and intended route.   3. Review customer-visible NSGs and route tables.   4. Verify whether the endpoint is protected by platform-managed controls.   5. Test access from an authorized source.   6. Test from an unauthorized source.   7. Record the difference between portal visibility and observed packet behavior.   8. Escalate to Microsoft support when compliance evidence requires confirmation of hidden controls.</a:t>
            </a:r>
            <a:endParaRPr lang="en-US" sz="1150" dirty="0"/>
          </a:p>
        </p:txBody>
      </p:sp>
      <p:sp>
        <p:nvSpPr>
          <p:cNvPr id="17" name="Text 15"/>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7. System-managed network security groups</a:t>
            </a:r>
            <a:endParaRPr lang="en-US" sz="950" dirty="0"/>
          </a:p>
        </p:txBody>
      </p:sp>
      <p:sp>
        <p:nvSpPr>
          <p:cNvPr id="18" name="Text 16"/>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19</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8. DEPLOYMENT PERMANENCE</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Placement decisions are effectively final</a:t>
            </a:r>
            <a:endParaRPr lang="en-US" sz="2800" dirty="0"/>
          </a:p>
        </p:txBody>
      </p:sp>
      <p:sp>
        <p:nvSpPr>
          <p:cNvPr id="4" name="Shape 2"/>
          <p:cNvSpPr/>
          <p:nvPr/>
        </p:nvSpPr>
        <p:spPr>
          <a:xfrm>
            <a:off x="548640" y="1298448"/>
            <a:ext cx="5943600" cy="2331720"/>
          </a:xfrm>
          <a:prstGeom prst="roundRect">
            <a:avLst>
              <a:gd name="adj" fmla="val 3529"/>
            </a:avLst>
          </a:prstGeom>
          <a:solidFill>
            <a:srgbClr val="EBEDED"/>
          </a:solidFill>
          <a:ln/>
        </p:spPr>
      </p:sp>
      <p:sp>
        <p:nvSpPr>
          <p:cNvPr id="5" name="Shape 3"/>
          <p:cNvSpPr/>
          <p:nvPr/>
        </p:nvSpPr>
        <p:spPr>
          <a:xfrm>
            <a:off x="804672" y="1463040"/>
            <a:ext cx="329184" cy="329184"/>
          </a:xfrm>
          <a:prstGeom prst="ellipse">
            <a:avLst/>
          </a:prstGeom>
          <a:solidFill>
            <a:srgbClr val="F15D23"/>
          </a:solidFill>
          <a:ln/>
        </p:spPr>
      </p:sp>
      <p:sp>
        <p:nvSpPr>
          <p:cNvPr id="6" name="Text 4"/>
          <p:cNvSpPr/>
          <p:nvPr/>
        </p:nvSpPr>
        <p:spPr>
          <a:xfrm>
            <a:off x="804672" y="146304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7" name="Text 5"/>
          <p:cNvSpPr/>
          <p:nvPr/>
        </p:nvSpPr>
        <p:spPr>
          <a:xfrm>
            <a:off x="1243584" y="1481328"/>
            <a:ext cx="5120640" cy="274320"/>
          </a:xfrm>
          <a:prstGeom prst="rect">
            <a:avLst/>
          </a:prstGeom>
          <a:noFill/>
          <a:ln/>
        </p:spPr>
        <p:txBody>
          <a:bodyPr wrap="square" lIns="0" tIns="0" rIns="0" bIns="0" rtlCol="0" anchor="ctr"/>
          <a:lstStyle/>
          <a:p>
            <a:pPr indent="0" marL="0">
              <a:buNone/>
            </a:pPr>
            <a:r>
              <a:rPr lang="en-US" sz="1450" b="1" dirty="0">
                <a:solidFill>
                  <a:srgbClr val="3E3E4B"/>
                </a:solidFill>
                <a:latin typeface="Arial" pitchFamily="34" charset="0"/>
                <a:ea typeface="Arial" pitchFamily="34" charset="-122"/>
                <a:cs typeface="Arial" pitchFamily="34" charset="-120"/>
              </a:rPr>
              <a:t>The constraint</a:t>
            </a:r>
            <a:endParaRPr lang="en-US" sz="1450" dirty="0"/>
          </a:p>
        </p:txBody>
      </p:sp>
      <p:sp>
        <p:nvSpPr>
          <p:cNvPr id="8" name="Text 6"/>
          <p:cNvSpPr/>
          <p:nvPr/>
        </p:nvSpPr>
        <p:spPr>
          <a:xfrm>
            <a:off x="804672" y="1901952"/>
            <a:ext cx="5431536" cy="1645920"/>
          </a:xfrm>
          <a:prstGeom prst="rect">
            <a:avLst/>
          </a:prstGeom>
          <a:noFill/>
          <a:ln/>
        </p:spPr>
        <p:txBody>
          <a:bodyPr wrap="square" lIns="0" tIns="0" rIns="0" bIns="0" rtlCol="0" anchor="t"/>
          <a:lstStyle/>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A Generation 2 private cloud cannot be moved to another Azure resource group or tenant after creation.</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The private cloud and its host VNet are permanently associated.</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A merger, tenant consolidation, subscription redesign, or resource-group restructuring cannot be handled by moving the environment.</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The private cloud must be torn down and rebuilt in the required destination.</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A destructive rebuild requires workloads and data to be migrated or protected separately first.</a:t>
            </a:r>
            <a:endParaRPr lang="en-US" sz="1150" dirty="0"/>
          </a:p>
        </p:txBody>
      </p:sp>
      <p:sp>
        <p:nvSpPr>
          <p:cNvPr id="9" name="Shape 7"/>
          <p:cNvSpPr/>
          <p:nvPr/>
        </p:nvSpPr>
        <p:spPr>
          <a:xfrm>
            <a:off x="6720840" y="1298448"/>
            <a:ext cx="4919472" cy="2331720"/>
          </a:xfrm>
          <a:prstGeom prst="roundRect">
            <a:avLst>
              <a:gd name="adj" fmla="val 3529"/>
            </a:avLst>
          </a:prstGeom>
          <a:solidFill>
            <a:srgbClr val="E5F7FC"/>
          </a:solidFill>
          <a:ln/>
        </p:spPr>
      </p:sp>
      <p:sp>
        <p:nvSpPr>
          <p:cNvPr id="10" name="Text 8"/>
          <p:cNvSpPr/>
          <p:nvPr/>
        </p:nvSpPr>
        <p:spPr>
          <a:xfrm>
            <a:off x="6976872" y="1408176"/>
            <a:ext cx="4416552" cy="274320"/>
          </a:xfrm>
          <a:prstGeom prst="rect">
            <a:avLst/>
          </a:prstGeom>
          <a:noFill/>
          <a:ln/>
        </p:spPr>
        <p:txBody>
          <a:bodyPr wrap="square" lIns="0" tIns="0" rIns="0" bIns="0" rtlCol="0" anchor="ctr"/>
          <a:lstStyle/>
          <a:p>
            <a:pPr indent="0" marL="0">
              <a:buNone/>
            </a:pPr>
            <a:r>
              <a:rPr lang="en-US" sz="1450" b="1" dirty="0">
                <a:solidFill>
                  <a:srgbClr val="3E3E4B"/>
                </a:solidFill>
                <a:latin typeface="Arial" pitchFamily="34" charset="0"/>
                <a:ea typeface="Arial" pitchFamily="34" charset="-122"/>
                <a:cs typeface="Arial" pitchFamily="34" charset="-120"/>
              </a:rPr>
              <a:t>Governance implication</a:t>
            </a:r>
            <a:endParaRPr lang="en-US" sz="1450" dirty="0"/>
          </a:p>
        </p:txBody>
      </p:sp>
      <p:sp>
        <p:nvSpPr>
          <p:cNvPr id="11" name="Text 9"/>
          <p:cNvSpPr/>
          <p:nvPr/>
        </p:nvSpPr>
        <p:spPr>
          <a:xfrm>
            <a:off x="6976872" y="1783080"/>
            <a:ext cx="4407408" cy="1005840"/>
          </a:xfrm>
          <a:prstGeom prst="rect">
            <a:avLst/>
          </a:prstGeom>
          <a:noFill/>
          <a:ln/>
        </p:spPr>
        <p:txBody>
          <a:bodyPr wrap="square" lIns="0" tIns="0" rIns="0" bIns="0" rtlCol="0" anchor="t"/>
          <a:lstStyle/>
          <a:p>
            <a:pPr indent="0" marL="0">
              <a:lnSpc>
                <a:spcPts val="1700"/>
              </a:lnSpc>
              <a:buNone/>
            </a:pPr>
            <a:r>
              <a:rPr lang="en-US" sz="1250" dirty="0">
                <a:solidFill>
                  <a:srgbClr val="3E3E4B"/>
                </a:solidFill>
                <a:latin typeface="Calibri" pitchFamily="34" charset="0"/>
                <a:ea typeface="Calibri" pitchFamily="34" charset="-122"/>
                <a:cs typeface="Calibri" pitchFamily="34" charset="-120"/>
              </a:rPr>
              <a:t>Resource naming, subscription ownership, identity boundaries, VNet design, tenant placement, billing ownership, and long-term organizational structure must all be approved before deployment.</a:t>
            </a:r>
            <a:endParaRPr lang="en-US" sz="1250" dirty="0"/>
          </a:p>
        </p:txBody>
      </p:sp>
      <p:sp>
        <p:nvSpPr>
          <p:cNvPr id="12" name="Text 10"/>
          <p:cNvSpPr/>
          <p:nvPr/>
        </p:nvSpPr>
        <p:spPr>
          <a:xfrm>
            <a:off x="6976872" y="2834640"/>
            <a:ext cx="4407408" cy="731520"/>
          </a:xfrm>
          <a:prstGeom prst="rect">
            <a:avLst/>
          </a:prstGeom>
          <a:noFill/>
          <a:ln/>
        </p:spPr>
        <p:txBody>
          <a:bodyPr wrap="square" lIns="0" tIns="0" rIns="0" bIns="0" rtlCol="0" anchor="t"/>
          <a:lstStyle/>
          <a:p>
            <a:pPr indent="0" marL="0">
              <a:lnSpc>
                <a:spcPts val="1600"/>
              </a:lnSpc>
              <a:buNone/>
            </a:pPr>
            <a:r>
              <a:rPr lang="en-US" sz="1200" i="1" dirty="0">
                <a:solidFill>
                  <a:srgbClr val="6B6B78"/>
                </a:solidFill>
                <a:latin typeface="Calibri" pitchFamily="34" charset="0"/>
                <a:ea typeface="Calibri" pitchFamily="34" charset="-122"/>
                <a:cs typeface="Calibri" pitchFamily="34" charset="-120"/>
              </a:rPr>
              <a:t>A production environment mistakenly deployed into a resource group named like a temporary test environment stays associated with that resource group.</a:t>
            </a:r>
            <a:endParaRPr lang="en-US" sz="1200" dirty="0"/>
          </a:p>
        </p:txBody>
      </p:sp>
      <p:sp>
        <p:nvSpPr>
          <p:cNvPr id="13" name="Shape 11"/>
          <p:cNvSpPr/>
          <p:nvPr/>
        </p:nvSpPr>
        <p:spPr>
          <a:xfrm>
            <a:off x="548640" y="3794760"/>
            <a:ext cx="11091672" cy="1874520"/>
          </a:xfrm>
          <a:prstGeom prst="roundRect">
            <a:avLst>
              <a:gd name="adj" fmla="val 4390"/>
            </a:avLst>
          </a:prstGeom>
          <a:solidFill>
            <a:srgbClr val="E5F7FC"/>
          </a:solidFill>
          <a:ln/>
        </p:spPr>
      </p:sp>
      <p:sp>
        <p:nvSpPr>
          <p:cNvPr id="14" name="Text 12"/>
          <p:cNvSpPr/>
          <p:nvPr/>
        </p:nvSpPr>
        <p:spPr>
          <a:xfrm>
            <a:off x="804672" y="3904488"/>
            <a:ext cx="8229600"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Predeployment governance sequence</a:t>
            </a:r>
            <a:endParaRPr lang="en-US" sz="1400" dirty="0"/>
          </a:p>
        </p:txBody>
      </p:sp>
      <p:sp>
        <p:nvSpPr>
          <p:cNvPr id="15" name="Shape 13"/>
          <p:cNvSpPr/>
          <p:nvPr/>
        </p:nvSpPr>
        <p:spPr>
          <a:xfrm>
            <a:off x="804672" y="4279392"/>
            <a:ext cx="256032" cy="256032"/>
          </a:xfrm>
          <a:prstGeom prst="ellipse">
            <a:avLst/>
          </a:prstGeom>
          <a:solidFill>
            <a:srgbClr val="00B3E2"/>
          </a:solidFill>
          <a:ln/>
        </p:spPr>
      </p:sp>
      <p:sp>
        <p:nvSpPr>
          <p:cNvPr id="16" name="Text 14"/>
          <p:cNvSpPr/>
          <p:nvPr/>
        </p:nvSpPr>
        <p:spPr>
          <a:xfrm>
            <a:off x="804672" y="4279392"/>
            <a:ext cx="256032" cy="256032"/>
          </a:xfrm>
          <a:prstGeom prst="rect">
            <a:avLst/>
          </a:prstGeom>
          <a:noFill/>
          <a:ln/>
        </p:spPr>
        <p:txBody>
          <a:bodyPr wrap="square" lIns="0" tIns="0" rIns="0" bIns="0" rtlCol="0" anchor="ctr"/>
          <a:lstStyle/>
          <a:p>
            <a:pPr algn="ctr" indent="0" marL="0">
              <a:buNone/>
            </a:pPr>
            <a:r>
              <a:rPr lang="en-US" sz="1050" b="1" dirty="0">
                <a:solidFill>
                  <a:srgbClr val="3E3E4B"/>
                </a:solidFill>
                <a:latin typeface="Arial" pitchFamily="34" charset="0"/>
                <a:ea typeface="Arial" pitchFamily="34" charset="-122"/>
                <a:cs typeface="Arial" pitchFamily="34" charset="-120"/>
              </a:rPr>
              <a:t>1</a:t>
            </a:r>
            <a:endParaRPr lang="en-US" sz="1050" dirty="0"/>
          </a:p>
        </p:txBody>
      </p:sp>
      <p:sp>
        <p:nvSpPr>
          <p:cNvPr id="17" name="Text 15"/>
          <p:cNvSpPr/>
          <p:nvPr/>
        </p:nvSpPr>
        <p:spPr>
          <a:xfrm>
            <a:off x="1133856" y="4261104"/>
            <a:ext cx="3069336" cy="384048"/>
          </a:xfrm>
          <a:prstGeom prst="rect">
            <a:avLst/>
          </a:prstGeom>
          <a:noFill/>
          <a:ln/>
        </p:spPr>
        <p:txBody>
          <a:bodyPr wrap="square" lIns="0" tIns="0" rIns="0" bIns="0" rtlCol="0" anchor="t"/>
          <a:lstStyle/>
          <a:p>
            <a:pPr indent="0" marL="0">
              <a:lnSpc>
                <a:spcPts val="1300"/>
              </a:lnSpc>
              <a:buNone/>
            </a:pPr>
            <a:r>
              <a:rPr lang="en-US" sz="1050" dirty="0">
                <a:solidFill>
                  <a:srgbClr val="3E3E4B"/>
                </a:solidFill>
                <a:latin typeface="Calibri" pitchFamily="34" charset="0"/>
                <a:ea typeface="Calibri" pitchFamily="34" charset="-122"/>
                <a:cs typeface="Calibri" pitchFamily="34" charset="-120"/>
              </a:rPr>
              <a:t>Select the long-term Azure tenant.</a:t>
            </a:r>
            <a:endParaRPr lang="en-US" sz="1050" dirty="0"/>
          </a:p>
        </p:txBody>
      </p:sp>
      <p:sp>
        <p:nvSpPr>
          <p:cNvPr id="18" name="Shape 16"/>
          <p:cNvSpPr/>
          <p:nvPr/>
        </p:nvSpPr>
        <p:spPr>
          <a:xfrm>
            <a:off x="4331208" y="4279392"/>
            <a:ext cx="256032" cy="256032"/>
          </a:xfrm>
          <a:prstGeom prst="ellipse">
            <a:avLst/>
          </a:prstGeom>
          <a:solidFill>
            <a:srgbClr val="00B3E2"/>
          </a:solidFill>
          <a:ln/>
        </p:spPr>
      </p:sp>
      <p:sp>
        <p:nvSpPr>
          <p:cNvPr id="19" name="Text 17"/>
          <p:cNvSpPr/>
          <p:nvPr/>
        </p:nvSpPr>
        <p:spPr>
          <a:xfrm>
            <a:off x="4331208" y="4279392"/>
            <a:ext cx="256032" cy="256032"/>
          </a:xfrm>
          <a:prstGeom prst="rect">
            <a:avLst/>
          </a:prstGeom>
          <a:noFill/>
          <a:ln/>
        </p:spPr>
        <p:txBody>
          <a:bodyPr wrap="square" lIns="0" tIns="0" rIns="0" bIns="0" rtlCol="0" anchor="ctr"/>
          <a:lstStyle/>
          <a:p>
            <a:pPr algn="ctr" indent="0" marL="0">
              <a:buNone/>
            </a:pPr>
            <a:r>
              <a:rPr lang="en-US" sz="1050" b="1" dirty="0">
                <a:solidFill>
                  <a:srgbClr val="3E3E4B"/>
                </a:solidFill>
                <a:latin typeface="Arial" pitchFamily="34" charset="0"/>
                <a:ea typeface="Arial" pitchFamily="34" charset="-122"/>
                <a:cs typeface="Arial" pitchFamily="34" charset="-120"/>
              </a:rPr>
              <a:t>2</a:t>
            </a:r>
            <a:endParaRPr lang="en-US" sz="1050" dirty="0"/>
          </a:p>
        </p:txBody>
      </p:sp>
      <p:sp>
        <p:nvSpPr>
          <p:cNvPr id="20" name="Text 18"/>
          <p:cNvSpPr/>
          <p:nvPr/>
        </p:nvSpPr>
        <p:spPr>
          <a:xfrm>
            <a:off x="4660392" y="4261104"/>
            <a:ext cx="3069336" cy="384048"/>
          </a:xfrm>
          <a:prstGeom prst="rect">
            <a:avLst/>
          </a:prstGeom>
          <a:noFill/>
          <a:ln/>
        </p:spPr>
        <p:txBody>
          <a:bodyPr wrap="square" lIns="0" tIns="0" rIns="0" bIns="0" rtlCol="0" anchor="t"/>
          <a:lstStyle/>
          <a:p>
            <a:pPr indent="0" marL="0">
              <a:lnSpc>
                <a:spcPts val="1300"/>
              </a:lnSpc>
              <a:buNone/>
            </a:pPr>
            <a:r>
              <a:rPr lang="en-US" sz="1050" dirty="0">
                <a:solidFill>
                  <a:srgbClr val="3E3E4B"/>
                </a:solidFill>
                <a:latin typeface="Calibri" pitchFamily="34" charset="0"/>
                <a:ea typeface="Calibri" pitchFamily="34" charset="-122"/>
                <a:cs typeface="Calibri" pitchFamily="34" charset="-120"/>
              </a:rPr>
              <a:t>Select the subscription and billing owner.</a:t>
            </a:r>
            <a:endParaRPr lang="en-US" sz="1050" dirty="0"/>
          </a:p>
        </p:txBody>
      </p:sp>
      <p:sp>
        <p:nvSpPr>
          <p:cNvPr id="21" name="Shape 19"/>
          <p:cNvSpPr/>
          <p:nvPr/>
        </p:nvSpPr>
        <p:spPr>
          <a:xfrm>
            <a:off x="7857744" y="4279392"/>
            <a:ext cx="256032" cy="256032"/>
          </a:xfrm>
          <a:prstGeom prst="ellipse">
            <a:avLst/>
          </a:prstGeom>
          <a:solidFill>
            <a:srgbClr val="00B3E2"/>
          </a:solidFill>
          <a:ln/>
        </p:spPr>
      </p:sp>
      <p:sp>
        <p:nvSpPr>
          <p:cNvPr id="22" name="Text 20"/>
          <p:cNvSpPr/>
          <p:nvPr/>
        </p:nvSpPr>
        <p:spPr>
          <a:xfrm>
            <a:off x="7857744" y="4279392"/>
            <a:ext cx="256032" cy="256032"/>
          </a:xfrm>
          <a:prstGeom prst="rect">
            <a:avLst/>
          </a:prstGeom>
          <a:noFill/>
          <a:ln/>
        </p:spPr>
        <p:txBody>
          <a:bodyPr wrap="square" lIns="0" tIns="0" rIns="0" bIns="0" rtlCol="0" anchor="ctr"/>
          <a:lstStyle/>
          <a:p>
            <a:pPr algn="ctr" indent="0" marL="0">
              <a:buNone/>
            </a:pPr>
            <a:r>
              <a:rPr lang="en-US" sz="1050" b="1" dirty="0">
                <a:solidFill>
                  <a:srgbClr val="3E3E4B"/>
                </a:solidFill>
                <a:latin typeface="Arial" pitchFamily="34" charset="0"/>
                <a:ea typeface="Arial" pitchFamily="34" charset="-122"/>
                <a:cs typeface="Arial" pitchFamily="34" charset="-120"/>
              </a:rPr>
              <a:t>3</a:t>
            </a:r>
            <a:endParaRPr lang="en-US" sz="1050" dirty="0"/>
          </a:p>
        </p:txBody>
      </p:sp>
      <p:sp>
        <p:nvSpPr>
          <p:cNvPr id="23" name="Text 21"/>
          <p:cNvSpPr/>
          <p:nvPr/>
        </p:nvSpPr>
        <p:spPr>
          <a:xfrm>
            <a:off x="8186928" y="4261104"/>
            <a:ext cx="3069336" cy="384048"/>
          </a:xfrm>
          <a:prstGeom prst="rect">
            <a:avLst/>
          </a:prstGeom>
          <a:noFill/>
          <a:ln/>
        </p:spPr>
        <p:txBody>
          <a:bodyPr wrap="square" lIns="0" tIns="0" rIns="0" bIns="0" rtlCol="0" anchor="t"/>
          <a:lstStyle/>
          <a:p>
            <a:pPr indent="0" marL="0">
              <a:lnSpc>
                <a:spcPts val="1300"/>
              </a:lnSpc>
              <a:buNone/>
            </a:pPr>
            <a:r>
              <a:rPr lang="en-US" sz="1050" dirty="0">
                <a:solidFill>
                  <a:srgbClr val="3E3E4B"/>
                </a:solidFill>
                <a:latin typeface="Calibri" pitchFamily="34" charset="0"/>
                <a:ea typeface="Calibri" pitchFamily="34" charset="-122"/>
                <a:cs typeface="Calibri" pitchFamily="34" charset="-120"/>
              </a:rPr>
              <a:t>Define the permanent resource group and naming model.</a:t>
            </a:r>
            <a:endParaRPr lang="en-US" sz="1050" dirty="0"/>
          </a:p>
        </p:txBody>
      </p:sp>
      <p:sp>
        <p:nvSpPr>
          <p:cNvPr id="24" name="Shape 22"/>
          <p:cNvSpPr/>
          <p:nvPr/>
        </p:nvSpPr>
        <p:spPr>
          <a:xfrm>
            <a:off x="804672" y="4709160"/>
            <a:ext cx="256032" cy="256032"/>
          </a:xfrm>
          <a:prstGeom prst="ellipse">
            <a:avLst/>
          </a:prstGeom>
          <a:solidFill>
            <a:srgbClr val="00B3E2"/>
          </a:solidFill>
          <a:ln/>
        </p:spPr>
      </p:sp>
      <p:sp>
        <p:nvSpPr>
          <p:cNvPr id="25" name="Text 23"/>
          <p:cNvSpPr/>
          <p:nvPr/>
        </p:nvSpPr>
        <p:spPr>
          <a:xfrm>
            <a:off x="804672" y="4709160"/>
            <a:ext cx="256032" cy="256032"/>
          </a:xfrm>
          <a:prstGeom prst="rect">
            <a:avLst/>
          </a:prstGeom>
          <a:noFill/>
          <a:ln/>
        </p:spPr>
        <p:txBody>
          <a:bodyPr wrap="square" lIns="0" tIns="0" rIns="0" bIns="0" rtlCol="0" anchor="ctr"/>
          <a:lstStyle/>
          <a:p>
            <a:pPr algn="ctr" indent="0" marL="0">
              <a:buNone/>
            </a:pPr>
            <a:r>
              <a:rPr lang="en-US" sz="1050" b="1" dirty="0">
                <a:solidFill>
                  <a:srgbClr val="3E3E4B"/>
                </a:solidFill>
                <a:latin typeface="Arial" pitchFamily="34" charset="0"/>
                <a:ea typeface="Arial" pitchFamily="34" charset="-122"/>
                <a:cs typeface="Arial" pitchFamily="34" charset="-120"/>
              </a:rPr>
              <a:t>4</a:t>
            </a:r>
            <a:endParaRPr lang="en-US" sz="1050" dirty="0"/>
          </a:p>
        </p:txBody>
      </p:sp>
      <p:sp>
        <p:nvSpPr>
          <p:cNvPr id="26" name="Text 24"/>
          <p:cNvSpPr/>
          <p:nvPr/>
        </p:nvSpPr>
        <p:spPr>
          <a:xfrm>
            <a:off x="1133856" y="4690872"/>
            <a:ext cx="3069336" cy="384048"/>
          </a:xfrm>
          <a:prstGeom prst="rect">
            <a:avLst/>
          </a:prstGeom>
          <a:noFill/>
          <a:ln/>
        </p:spPr>
        <p:txBody>
          <a:bodyPr wrap="square" lIns="0" tIns="0" rIns="0" bIns="0" rtlCol="0" anchor="t"/>
          <a:lstStyle/>
          <a:p>
            <a:pPr indent="0" marL="0">
              <a:lnSpc>
                <a:spcPts val="1300"/>
              </a:lnSpc>
              <a:buNone/>
            </a:pPr>
            <a:r>
              <a:rPr lang="en-US" sz="1050" dirty="0">
                <a:solidFill>
                  <a:srgbClr val="3E3E4B"/>
                </a:solidFill>
                <a:latin typeface="Calibri" pitchFamily="34" charset="0"/>
                <a:ea typeface="Calibri" pitchFamily="34" charset="-122"/>
                <a:cs typeface="Calibri" pitchFamily="34" charset="-120"/>
              </a:rPr>
              <a:t>Design the host VNet and address space.</a:t>
            </a:r>
            <a:endParaRPr lang="en-US" sz="1050" dirty="0"/>
          </a:p>
        </p:txBody>
      </p:sp>
      <p:sp>
        <p:nvSpPr>
          <p:cNvPr id="27" name="Shape 25"/>
          <p:cNvSpPr/>
          <p:nvPr/>
        </p:nvSpPr>
        <p:spPr>
          <a:xfrm>
            <a:off x="4331208" y="4709160"/>
            <a:ext cx="256032" cy="256032"/>
          </a:xfrm>
          <a:prstGeom prst="ellipse">
            <a:avLst/>
          </a:prstGeom>
          <a:solidFill>
            <a:srgbClr val="00B3E2"/>
          </a:solidFill>
          <a:ln/>
        </p:spPr>
      </p:sp>
      <p:sp>
        <p:nvSpPr>
          <p:cNvPr id="28" name="Text 26"/>
          <p:cNvSpPr/>
          <p:nvPr/>
        </p:nvSpPr>
        <p:spPr>
          <a:xfrm>
            <a:off x="4331208" y="4709160"/>
            <a:ext cx="256032" cy="256032"/>
          </a:xfrm>
          <a:prstGeom prst="rect">
            <a:avLst/>
          </a:prstGeom>
          <a:noFill/>
          <a:ln/>
        </p:spPr>
        <p:txBody>
          <a:bodyPr wrap="square" lIns="0" tIns="0" rIns="0" bIns="0" rtlCol="0" anchor="ctr"/>
          <a:lstStyle/>
          <a:p>
            <a:pPr algn="ctr" indent="0" marL="0">
              <a:buNone/>
            </a:pPr>
            <a:r>
              <a:rPr lang="en-US" sz="1050" b="1" dirty="0">
                <a:solidFill>
                  <a:srgbClr val="3E3E4B"/>
                </a:solidFill>
                <a:latin typeface="Arial" pitchFamily="34" charset="0"/>
                <a:ea typeface="Arial" pitchFamily="34" charset="-122"/>
                <a:cs typeface="Arial" pitchFamily="34" charset="-120"/>
              </a:rPr>
              <a:t>5</a:t>
            </a:r>
            <a:endParaRPr lang="en-US" sz="1050" dirty="0"/>
          </a:p>
        </p:txBody>
      </p:sp>
      <p:sp>
        <p:nvSpPr>
          <p:cNvPr id="29" name="Text 27"/>
          <p:cNvSpPr/>
          <p:nvPr/>
        </p:nvSpPr>
        <p:spPr>
          <a:xfrm>
            <a:off x="4660392" y="4690872"/>
            <a:ext cx="3069336" cy="384048"/>
          </a:xfrm>
          <a:prstGeom prst="rect">
            <a:avLst/>
          </a:prstGeom>
          <a:noFill/>
          <a:ln/>
        </p:spPr>
        <p:txBody>
          <a:bodyPr wrap="square" lIns="0" tIns="0" rIns="0" bIns="0" rtlCol="0" anchor="t"/>
          <a:lstStyle/>
          <a:p>
            <a:pPr indent="0" marL="0">
              <a:lnSpc>
                <a:spcPts val="1300"/>
              </a:lnSpc>
              <a:buNone/>
            </a:pPr>
            <a:r>
              <a:rPr lang="en-US" sz="1050" dirty="0">
                <a:solidFill>
                  <a:srgbClr val="3E3E4B"/>
                </a:solidFill>
                <a:latin typeface="Calibri" pitchFamily="34" charset="0"/>
                <a:ea typeface="Calibri" pitchFamily="34" charset="-122"/>
                <a:cs typeface="Calibri" pitchFamily="34" charset="-120"/>
              </a:rPr>
              <a:t>Confirm peering, DNS, security, and routing dependencies.</a:t>
            </a:r>
            <a:endParaRPr lang="en-US" sz="1050" dirty="0"/>
          </a:p>
        </p:txBody>
      </p:sp>
      <p:sp>
        <p:nvSpPr>
          <p:cNvPr id="30" name="Shape 28"/>
          <p:cNvSpPr/>
          <p:nvPr/>
        </p:nvSpPr>
        <p:spPr>
          <a:xfrm>
            <a:off x="7857744" y="4709160"/>
            <a:ext cx="256032" cy="256032"/>
          </a:xfrm>
          <a:prstGeom prst="ellipse">
            <a:avLst/>
          </a:prstGeom>
          <a:solidFill>
            <a:srgbClr val="00B3E2"/>
          </a:solidFill>
          <a:ln/>
        </p:spPr>
      </p:sp>
      <p:sp>
        <p:nvSpPr>
          <p:cNvPr id="31" name="Text 29"/>
          <p:cNvSpPr/>
          <p:nvPr/>
        </p:nvSpPr>
        <p:spPr>
          <a:xfrm>
            <a:off x="7857744" y="4709160"/>
            <a:ext cx="256032" cy="256032"/>
          </a:xfrm>
          <a:prstGeom prst="rect">
            <a:avLst/>
          </a:prstGeom>
          <a:noFill/>
          <a:ln/>
        </p:spPr>
        <p:txBody>
          <a:bodyPr wrap="square" lIns="0" tIns="0" rIns="0" bIns="0" rtlCol="0" anchor="ctr"/>
          <a:lstStyle/>
          <a:p>
            <a:pPr algn="ctr" indent="0" marL="0">
              <a:buNone/>
            </a:pPr>
            <a:r>
              <a:rPr lang="en-US" sz="1050" b="1" dirty="0">
                <a:solidFill>
                  <a:srgbClr val="3E3E4B"/>
                </a:solidFill>
                <a:latin typeface="Arial" pitchFamily="34" charset="0"/>
                <a:ea typeface="Arial" pitchFamily="34" charset="-122"/>
                <a:cs typeface="Arial" pitchFamily="34" charset="-120"/>
              </a:rPr>
              <a:t>6</a:t>
            </a:r>
            <a:endParaRPr lang="en-US" sz="1050" dirty="0"/>
          </a:p>
        </p:txBody>
      </p:sp>
      <p:sp>
        <p:nvSpPr>
          <p:cNvPr id="32" name="Text 30"/>
          <p:cNvSpPr/>
          <p:nvPr/>
        </p:nvSpPr>
        <p:spPr>
          <a:xfrm>
            <a:off x="8186928" y="4690872"/>
            <a:ext cx="3069336" cy="384048"/>
          </a:xfrm>
          <a:prstGeom prst="rect">
            <a:avLst/>
          </a:prstGeom>
          <a:noFill/>
          <a:ln/>
        </p:spPr>
        <p:txBody>
          <a:bodyPr wrap="square" lIns="0" tIns="0" rIns="0" bIns="0" rtlCol="0" anchor="t"/>
          <a:lstStyle/>
          <a:p>
            <a:pPr indent="0" marL="0">
              <a:lnSpc>
                <a:spcPts val="1300"/>
              </a:lnSpc>
              <a:buNone/>
            </a:pPr>
            <a:r>
              <a:rPr lang="en-US" sz="1050" dirty="0">
                <a:solidFill>
                  <a:srgbClr val="3E3E4B"/>
                </a:solidFill>
                <a:latin typeface="Calibri" pitchFamily="34" charset="0"/>
                <a:ea typeface="Calibri" pitchFamily="34" charset="-122"/>
                <a:cs typeface="Calibri" pitchFamily="34" charset="-120"/>
              </a:rPr>
              <a:t>Confirm regional AV64 capacity and quota.</a:t>
            </a:r>
            <a:endParaRPr lang="en-US" sz="1050" dirty="0"/>
          </a:p>
        </p:txBody>
      </p:sp>
      <p:sp>
        <p:nvSpPr>
          <p:cNvPr id="33" name="Shape 31"/>
          <p:cNvSpPr/>
          <p:nvPr/>
        </p:nvSpPr>
        <p:spPr>
          <a:xfrm>
            <a:off x="804672" y="5138928"/>
            <a:ext cx="256032" cy="256032"/>
          </a:xfrm>
          <a:prstGeom prst="ellipse">
            <a:avLst/>
          </a:prstGeom>
          <a:solidFill>
            <a:srgbClr val="00B3E2"/>
          </a:solidFill>
          <a:ln/>
        </p:spPr>
      </p:sp>
      <p:sp>
        <p:nvSpPr>
          <p:cNvPr id="34" name="Text 32"/>
          <p:cNvSpPr/>
          <p:nvPr/>
        </p:nvSpPr>
        <p:spPr>
          <a:xfrm>
            <a:off x="804672" y="5138928"/>
            <a:ext cx="256032" cy="256032"/>
          </a:xfrm>
          <a:prstGeom prst="rect">
            <a:avLst/>
          </a:prstGeom>
          <a:noFill/>
          <a:ln/>
        </p:spPr>
        <p:txBody>
          <a:bodyPr wrap="square" lIns="0" tIns="0" rIns="0" bIns="0" rtlCol="0" anchor="ctr"/>
          <a:lstStyle/>
          <a:p>
            <a:pPr algn="ctr" indent="0" marL="0">
              <a:buNone/>
            </a:pPr>
            <a:r>
              <a:rPr lang="en-US" sz="1050" b="1" dirty="0">
                <a:solidFill>
                  <a:srgbClr val="3E3E4B"/>
                </a:solidFill>
                <a:latin typeface="Arial" pitchFamily="34" charset="0"/>
                <a:ea typeface="Arial" pitchFamily="34" charset="-122"/>
                <a:cs typeface="Arial" pitchFamily="34" charset="-120"/>
              </a:rPr>
              <a:t>7</a:t>
            </a:r>
            <a:endParaRPr lang="en-US" sz="1050" dirty="0"/>
          </a:p>
        </p:txBody>
      </p:sp>
      <p:sp>
        <p:nvSpPr>
          <p:cNvPr id="35" name="Text 33"/>
          <p:cNvSpPr/>
          <p:nvPr/>
        </p:nvSpPr>
        <p:spPr>
          <a:xfrm>
            <a:off x="1133856" y="5120640"/>
            <a:ext cx="3069336" cy="384048"/>
          </a:xfrm>
          <a:prstGeom prst="rect">
            <a:avLst/>
          </a:prstGeom>
          <a:noFill/>
          <a:ln/>
        </p:spPr>
        <p:txBody>
          <a:bodyPr wrap="square" lIns="0" tIns="0" rIns="0" bIns="0" rtlCol="0" anchor="t"/>
          <a:lstStyle/>
          <a:p>
            <a:pPr indent="0" marL="0">
              <a:lnSpc>
                <a:spcPts val="1300"/>
              </a:lnSpc>
              <a:buNone/>
            </a:pPr>
            <a:r>
              <a:rPr lang="en-US" sz="1050" dirty="0">
                <a:solidFill>
                  <a:srgbClr val="3E3E4B"/>
                </a:solidFill>
                <a:latin typeface="Calibri" pitchFamily="34" charset="0"/>
                <a:ea typeface="Calibri" pitchFamily="34" charset="-122"/>
                <a:cs typeface="Calibri" pitchFamily="34" charset="-120"/>
              </a:rPr>
              <a:t>Obtain architecture, security, finance, and operations approval.</a:t>
            </a:r>
            <a:endParaRPr lang="en-US" sz="1050" dirty="0"/>
          </a:p>
        </p:txBody>
      </p:sp>
      <p:sp>
        <p:nvSpPr>
          <p:cNvPr id="36" name="Shape 34"/>
          <p:cNvSpPr/>
          <p:nvPr/>
        </p:nvSpPr>
        <p:spPr>
          <a:xfrm>
            <a:off x="4331208" y="5138928"/>
            <a:ext cx="256032" cy="256032"/>
          </a:xfrm>
          <a:prstGeom prst="ellipse">
            <a:avLst/>
          </a:prstGeom>
          <a:solidFill>
            <a:srgbClr val="00B3E2"/>
          </a:solidFill>
          <a:ln/>
        </p:spPr>
      </p:sp>
      <p:sp>
        <p:nvSpPr>
          <p:cNvPr id="37" name="Text 35"/>
          <p:cNvSpPr/>
          <p:nvPr/>
        </p:nvSpPr>
        <p:spPr>
          <a:xfrm>
            <a:off x="4331208" y="5138928"/>
            <a:ext cx="256032" cy="256032"/>
          </a:xfrm>
          <a:prstGeom prst="rect">
            <a:avLst/>
          </a:prstGeom>
          <a:noFill/>
          <a:ln/>
        </p:spPr>
        <p:txBody>
          <a:bodyPr wrap="square" lIns="0" tIns="0" rIns="0" bIns="0" rtlCol="0" anchor="ctr"/>
          <a:lstStyle/>
          <a:p>
            <a:pPr algn="ctr" indent="0" marL="0">
              <a:buNone/>
            </a:pPr>
            <a:r>
              <a:rPr lang="en-US" sz="1050" b="1" dirty="0">
                <a:solidFill>
                  <a:srgbClr val="3E3E4B"/>
                </a:solidFill>
                <a:latin typeface="Arial" pitchFamily="34" charset="0"/>
                <a:ea typeface="Arial" pitchFamily="34" charset="-122"/>
                <a:cs typeface="Arial" pitchFamily="34" charset="-120"/>
              </a:rPr>
              <a:t>8</a:t>
            </a:r>
            <a:endParaRPr lang="en-US" sz="1050" dirty="0"/>
          </a:p>
        </p:txBody>
      </p:sp>
      <p:sp>
        <p:nvSpPr>
          <p:cNvPr id="38" name="Text 36"/>
          <p:cNvSpPr/>
          <p:nvPr/>
        </p:nvSpPr>
        <p:spPr>
          <a:xfrm>
            <a:off x="4660392" y="5120640"/>
            <a:ext cx="3069336" cy="384048"/>
          </a:xfrm>
          <a:prstGeom prst="rect">
            <a:avLst/>
          </a:prstGeom>
          <a:noFill/>
          <a:ln/>
        </p:spPr>
        <p:txBody>
          <a:bodyPr wrap="square" lIns="0" tIns="0" rIns="0" bIns="0" rtlCol="0" anchor="t"/>
          <a:lstStyle/>
          <a:p>
            <a:pPr indent="0" marL="0">
              <a:lnSpc>
                <a:spcPts val="1300"/>
              </a:lnSpc>
              <a:buNone/>
            </a:pPr>
            <a:r>
              <a:rPr lang="en-US" sz="1050" dirty="0">
                <a:solidFill>
                  <a:srgbClr val="3E3E4B"/>
                </a:solidFill>
                <a:latin typeface="Calibri" pitchFamily="34" charset="0"/>
                <a:ea typeface="Calibri" pitchFamily="34" charset="-122"/>
                <a:cs typeface="Calibri" pitchFamily="34" charset="-120"/>
              </a:rPr>
              <a:t>Record placement decisions as nontrivial-to-change dependencies.</a:t>
            </a:r>
            <a:endParaRPr lang="en-US" sz="1050" dirty="0"/>
          </a:p>
        </p:txBody>
      </p:sp>
      <p:sp>
        <p:nvSpPr>
          <p:cNvPr id="39" name="Shape 37"/>
          <p:cNvSpPr/>
          <p:nvPr/>
        </p:nvSpPr>
        <p:spPr>
          <a:xfrm>
            <a:off x="7857744" y="5138928"/>
            <a:ext cx="256032" cy="256032"/>
          </a:xfrm>
          <a:prstGeom prst="ellipse">
            <a:avLst/>
          </a:prstGeom>
          <a:solidFill>
            <a:srgbClr val="00B3E2"/>
          </a:solidFill>
          <a:ln/>
        </p:spPr>
      </p:sp>
      <p:sp>
        <p:nvSpPr>
          <p:cNvPr id="40" name="Text 38"/>
          <p:cNvSpPr/>
          <p:nvPr/>
        </p:nvSpPr>
        <p:spPr>
          <a:xfrm>
            <a:off x="7857744" y="5138928"/>
            <a:ext cx="256032" cy="256032"/>
          </a:xfrm>
          <a:prstGeom prst="rect">
            <a:avLst/>
          </a:prstGeom>
          <a:noFill/>
          <a:ln/>
        </p:spPr>
        <p:txBody>
          <a:bodyPr wrap="square" lIns="0" tIns="0" rIns="0" bIns="0" rtlCol="0" anchor="ctr"/>
          <a:lstStyle/>
          <a:p>
            <a:pPr algn="ctr" indent="0" marL="0">
              <a:buNone/>
            </a:pPr>
            <a:r>
              <a:rPr lang="en-US" sz="1050" b="1" dirty="0">
                <a:solidFill>
                  <a:srgbClr val="3E3E4B"/>
                </a:solidFill>
                <a:latin typeface="Arial" pitchFamily="34" charset="0"/>
                <a:ea typeface="Arial" pitchFamily="34" charset="-122"/>
                <a:cs typeface="Arial" pitchFamily="34" charset="-120"/>
              </a:rPr>
              <a:t>9</a:t>
            </a:r>
            <a:endParaRPr lang="en-US" sz="1050" dirty="0"/>
          </a:p>
        </p:txBody>
      </p:sp>
      <p:sp>
        <p:nvSpPr>
          <p:cNvPr id="41" name="Text 39"/>
          <p:cNvSpPr/>
          <p:nvPr/>
        </p:nvSpPr>
        <p:spPr>
          <a:xfrm>
            <a:off x="8186928" y="5120640"/>
            <a:ext cx="3069336" cy="384048"/>
          </a:xfrm>
          <a:prstGeom prst="rect">
            <a:avLst/>
          </a:prstGeom>
          <a:noFill/>
          <a:ln/>
        </p:spPr>
        <p:txBody>
          <a:bodyPr wrap="square" lIns="0" tIns="0" rIns="0" bIns="0" rtlCol="0" anchor="t"/>
          <a:lstStyle/>
          <a:p>
            <a:pPr indent="0" marL="0">
              <a:lnSpc>
                <a:spcPts val="1300"/>
              </a:lnSpc>
              <a:buNone/>
            </a:pPr>
            <a:r>
              <a:rPr lang="en-US" sz="1050" dirty="0">
                <a:solidFill>
                  <a:srgbClr val="3E3E4B"/>
                </a:solidFill>
                <a:latin typeface="Calibri" pitchFamily="34" charset="0"/>
                <a:ea typeface="Calibri" pitchFamily="34" charset="-122"/>
                <a:cs typeface="Calibri" pitchFamily="34" charset="-120"/>
              </a:rPr>
              <a:t>Deploy only after the target administrative boundary is final.</a:t>
            </a:r>
            <a:endParaRPr lang="en-US" sz="1050" dirty="0"/>
          </a:p>
        </p:txBody>
      </p:sp>
      <p:sp>
        <p:nvSpPr>
          <p:cNvPr id="42" name="Shape 40"/>
          <p:cNvSpPr/>
          <p:nvPr/>
        </p:nvSpPr>
        <p:spPr>
          <a:xfrm>
            <a:off x="548640" y="5806440"/>
            <a:ext cx="11091672" cy="548640"/>
          </a:xfrm>
          <a:prstGeom prst="roundRect">
            <a:avLst>
              <a:gd name="adj" fmla="val 15000"/>
            </a:avLst>
          </a:prstGeom>
          <a:solidFill>
            <a:srgbClr val="EBEDED"/>
          </a:solidFill>
          <a:ln/>
        </p:spPr>
      </p:sp>
      <p:sp>
        <p:nvSpPr>
          <p:cNvPr id="43" name="Text 41"/>
          <p:cNvSpPr/>
          <p:nvPr/>
        </p:nvSpPr>
        <p:spPr>
          <a:xfrm>
            <a:off x="731520" y="5806440"/>
            <a:ext cx="10725912" cy="548640"/>
          </a:xfrm>
          <a:prstGeom prst="rect">
            <a:avLst/>
          </a:prstGeom>
          <a:noFill/>
          <a:ln/>
        </p:spPr>
        <p:txBody>
          <a:bodyPr wrap="square" lIns="0" tIns="0" rIns="0" bIns="0" rtlCol="0" anchor="ctr"/>
          <a:lstStyle/>
          <a:p>
            <a:pPr indent="0" marL="0">
              <a:buNone/>
            </a:pPr>
            <a:r>
              <a:rPr lang="en-US" sz="1100" b="1" dirty="0">
                <a:solidFill>
                  <a:srgbClr val="00B3E2"/>
                </a:solidFill>
                <a:latin typeface="Arial" pitchFamily="34" charset="0"/>
                <a:ea typeface="Arial" pitchFamily="34" charset="-122"/>
                <a:cs typeface="Arial" pitchFamily="34" charset="-120"/>
              </a:rPr>
              <a:t>Takeaway   </a:t>
            </a:r>
            <a:pPr indent="0" marL="0">
              <a:buNone/>
            </a:pPr>
            <a:r>
              <a:rPr lang="en-US" sz="1200" dirty="0">
                <a:solidFill>
                  <a:srgbClr val="3E3E4B"/>
                </a:solidFill>
                <a:latin typeface="Calibri" pitchFamily="34" charset="0"/>
                <a:ea typeface="Calibri" pitchFamily="34" charset="-122"/>
                <a:cs typeface="Calibri" pitchFamily="34" charset="-120"/>
              </a:rPr>
              <a:t>Treat a Generation 2 deployment as a durable infrastructure placement decision, not an experimental resource that can be reorganized later.</a:t>
            </a:r>
            <a:endParaRPr lang="en-US" sz="1100" dirty="0"/>
          </a:p>
        </p:txBody>
      </p:sp>
      <p:sp>
        <p:nvSpPr>
          <p:cNvPr id="44" name="Text 42"/>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8. Deployment permanence and governance</a:t>
            </a:r>
            <a:endParaRPr lang="en-US" sz="950" dirty="0"/>
          </a:p>
        </p:txBody>
      </p:sp>
      <p:sp>
        <p:nvSpPr>
          <p:cNvPr id="45" name="Text 43"/>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20</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9. ROUTE-SCALE LIMITS</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Two separate limits must be calculated</a:t>
            </a:r>
            <a:endParaRPr lang="en-US" sz="2800" dirty="0"/>
          </a:p>
        </p:txBody>
      </p:sp>
      <p:sp>
        <p:nvSpPr>
          <p:cNvPr id="4" name="Shape 2"/>
          <p:cNvSpPr/>
          <p:nvPr/>
        </p:nvSpPr>
        <p:spPr>
          <a:xfrm>
            <a:off x="548640" y="1298448"/>
            <a:ext cx="5408676" cy="3566160"/>
          </a:xfrm>
          <a:prstGeom prst="roundRect">
            <a:avLst>
              <a:gd name="adj" fmla="val 2308"/>
            </a:avLst>
          </a:prstGeom>
          <a:solidFill>
            <a:srgbClr val="E5F7FC"/>
          </a:solidFill>
          <a:ln/>
        </p:spPr>
      </p:sp>
      <p:sp>
        <p:nvSpPr>
          <p:cNvPr id="5" name="Shape 3"/>
          <p:cNvSpPr/>
          <p:nvPr/>
        </p:nvSpPr>
        <p:spPr>
          <a:xfrm>
            <a:off x="548640" y="1298448"/>
            <a:ext cx="5408676" cy="502920"/>
          </a:xfrm>
          <a:prstGeom prst="roundRect">
            <a:avLst>
              <a:gd name="adj" fmla="val 16364"/>
            </a:avLst>
          </a:prstGeom>
          <a:solidFill>
            <a:srgbClr val="00B3E2"/>
          </a:solidFill>
          <a:ln/>
        </p:spPr>
      </p:sp>
      <p:sp>
        <p:nvSpPr>
          <p:cNvPr id="6" name="Text 4"/>
          <p:cNvSpPr/>
          <p:nvPr/>
        </p:nvSpPr>
        <p:spPr>
          <a:xfrm>
            <a:off x="786384" y="1389888"/>
            <a:ext cx="4951476" cy="274320"/>
          </a:xfrm>
          <a:prstGeom prst="rect">
            <a:avLst/>
          </a:prstGeom>
          <a:noFill/>
          <a:ln/>
        </p:spPr>
        <p:txBody>
          <a:bodyPr wrap="square" lIns="0" tIns="0" rIns="0" bIns="0" rtlCol="0" anchor="ctr"/>
          <a:lstStyle/>
          <a:p>
            <a:pPr indent="0" marL="0">
              <a:buNone/>
            </a:pPr>
            <a:r>
              <a:rPr lang="en-US" sz="1450" b="1" dirty="0">
                <a:solidFill>
                  <a:srgbClr val="3E3E4B"/>
                </a:solidFill>
                <a:latin typeface="Arial" pitchFamily="34" charset="0"/>
                <a:ea typeface="Arial" pitchFamily="34" charset="-122"/>
                <a:cs typeface="Arial" pitchFamily="34" charset="-120"/>
              </a:rPr>
              <a:t>Ledger 1: Azure VNet prefix limit</a:t>
            </a:r>
            <a:endParaRPr lang="en-US" sz="1450" dirty="0"/>
          </a:p>
        </p:txBody>
      </p:sp>
      <p:sp>
        <p:nvSpPr>
          <p:cNvPr id="7" name="Text 5"/>
          <p:cNvSpPr/>
          <p:nvPr/>
        </p:nvSpPr>
        <p:spPr>
          <a:xfrm>
            <a:off x="786384" y="1920240"/>
            <a:ext cx="4933188" cy="685800"/>
          </a:xfrm>
          <a:prstGeom prst="rect">
            <a:avLst/>
          </a:prstGeom>
          <a:noFill/>
          <a:ln/>
        </p:spPr>
        <p:txBody>
          <a:bodyPr wrap="square" lIns="0" tIns="0" rIns="0" bIns="0" rtlCol="0" anchor="ctr"/>
          <a:lstStyle/>
          <a:p>
            <a:pPr algn="ctr" indent="0" marL="0">
              <a:buNone/>
            </a:pPr>
            <a:r>
              <a:rPr lang="en-US" sz="4200" b="1" dirty="0">
                <a:solidFill>
                  <a:srgbClr val="00B3E2"/>
                </a:solidFill>
                <a:latin typeface="Arial" pitchFamily="34" charset="0"/>
                <a:ea typeface="Arial" pitchFamily="34" charset="-122"/>
                <a:cs typeface="Arial" pitchFamily="34" charset="-120"/>
              </a:rPr>
              <a:t>1,000</a:t>
            </a:r>
            <a:endParaRPr lang="en-US" sz="4200" dirty="0"/>
          </a:p>
        </p:txBody>
      </p:sp>
      <p:sp>
        <p:nvSpPr>
          <p:cNvPr id="8" name="Text 6"/>
          <p:cNvSpPr/>
          <p:nvPr/>
        </p:nvSpPr>
        <p:spPr>
          <a:xfrm>
            <a:off x="786384" y="2606040"/>
            <a:ext cx="4933188" cy="274320"/>
          </a:xfrm>
          <a:prstGeom prst="rect">
            <a:avLst/>
          </a:prstGeom>
          <a:noFill/>
          <a:ln/>
        </p:spPr>
        <p:txBody>
          <a:bodyPr wrap="square" lIns="0" tIns="0" rIns="0" bIns="0" rtlCol="0" anchor="ctr"/>
          <a:lstStyle/>
          <a:p>
            <a:pPr algn="ctr" indent="0" marL="0">
              <a:buNone/>
            </a:pPr>
            <a:r>
              <a:rPr lang="en-US" sz="1150" dirty="0">
                <a:solidFill>
                  <a:srgbClr val="3E3E4B"/>
                </a:solidFill>
                <a:latin typeface="Calibri" pitchFamily="34" charset="0"/>
                <a:ea typeface="Calibri" pitchFamily="34" charset="-122"/>
                <a:cs typeface="Calibri" pitchFamily="34" charset="-120"/>
              </a:rPr>
              <a:t>prefixes maximum in the Gen 2 virtual-network address space</a:t>
            </a:r>
            <a:endParaRPr lang="en-US" sz="1150" dirty="0"/>
          </a:p>
        </p:txBody>
      </p:sp>
      <p:sp>
        <p:nvSpPr>
          <p:cNvPr id="9" name="Text 7"/>
          <p:cNvSpPr/>
          <p:nvPr/>
        </p:nvSpPr>
        <p:spPr>
          <a:xfrm>
            <a:off x="786384" y="3017520"/>
            <a:ext cx="4933188" cy="1737360"/>
          </a:xfrm>
          <a:prstGeom prst="rect">
            <a:avLst/>
          </a:prstGeom>
          <a:noFill/>
          <a:ln/>
        </p:spPr>
        <p:txBody>
          <a:bodyPr wrap="square" lIns="0" tIns="0" rIns="0" bIns="0" rtlCol="0" anchor="t"/>
          <a:lstStyle/>
          <a:p>
            <a:pPr marL="177800" indent="-177800">
              <a:lnSpc>
                <a:spcPts val="1700"/>
              </a:lnSpc>
              <a:spcAft>
                <a:spcPts val="700"/>
              </a:spcAft>
              <a:buSzPct val="100000"/>
              <a:buChar char="•"/>
            </a:pPr>
            <a:r>
              <a:rPr lang="en-US" sz="1200" dirty="0">
                <a:solidFill>
                  <a:srgbClr val="3E3E4B"/>
                </a:solidFill>
                <a:latin typeface="Calibri" pitchFamily="34" charset="0"/>
                <a:ea typeface="Calibri" pitchFamily="34" charset="-122"/>
                <a:cs typeface="Calibri" pitchFamily="34" charset="-120"/>
              </a:rPr>
              <a:t>Includes NSX segment prefixes, NSX service /32 routes, and HCX MON /32 routes.</a:t>
            </a:r>
            <a:endParaRPr lang="en-US" sz="1200" dirty="0"/>
          </a:p>
          <a:p>
            <a:pPr marL="177800" indent="-177800">
              <a:lnSpc>
                <a:spcPts val="1700"/>
              </a:lnSpc>
              <a:spcAft>
                <a:spcPts val="700"/>
              </a:spcAft>
              <a:buSzPct val="100000"/>
              <a:buChar char="•"/>
            </a:pPr>
            <a:r>
              <a:rPr lang="en-US" sz="1200" dirty="0">
                <a:solidFill>
                  <a:srgbClr val="3E3E4B"/>
                </a:solidFill>
                <a:latin typeface="Calibri" pitchFamily="34" charset="0"/>
                <a:ea typeface="Calibri" pitchFamily="34" charset="-122"/>
                <a:cs typeface="Calibri" pitchFamily="34" charset="-120"/>
              </a:rPr>
              <a:t>Each subnet or specific route advertised from NSX into the Azure VNet counts against the total.</a:t>
            </a:r>
            <a:endParaRPr lang="en-US" sz="1200" dirty="0"/>
          </a:p>
          <a:p>
            <a:pPr marL="177800" indent="-177800">
              <a:lnSpc>
                <a:spcPts val="1700"/>
              </a:lnSpc>
              <a:spcAft>
                <a:spcPts val="700"/>
              </a:spcAft>
              <a:buSzPct val="100000"/>
              <a:buChar char="•"/>
            </a:pPr>
            <a:r>
              <a:rPr lang="en-US" sz="1200" dirty="0">
                <a:solidFill>
                  <a:srgbClr val="3E3E4B"/>
                </a:solidFill>
                <a:latin typeface="Calibri" pitchFamily="34" charset="0"/>
                <a:ea typeface="Calibri" pitchFamily="34" charset="-122"/>
                <a:cs typeface="Calibri" pitchFamily="34" charset="-120"/>
              </a:rPr>
              <a:t>Development, test, QA, production, DMZ, database, legacy, and migration segments can collectively approach the limit.</a:t>
            </a:r>
            <a:endParaRPr lang="en-US" sz="1200" dirty="0"/>
          </a:p>
        </p:txBody>
      </p:sp>
      <p:sp>
        <p:nvSpPr>
          <p:cNvPr id="10" name="Shape 8"/>
          <p:cNvSpPr/>
          <p:nvPr/>
        </p:nvSpPr>
        <p:spPr>
          <a:xfrm>
            <a:off x="6231636" y="1298448"/>
            <a:ext cx="5408676" cy="3566160"/>
          </a:xfrm>
          <a:prstGeom prst="roundRect">
            <a:avLst>
              <a:gd name="adj" fmla="val 2308"/>
            </a:avLst>
          </a:prstGeom>
          <a:solidFill>
            <a:srgbClr val="EBEDED"/>
          </a:solidFill>
          <a:ln/>
        </p:spPr>
      </p:sp>
      <p:sp>
        <p:nvSpPr>
          <p:cNvPr id="11" name="Shape 9"/>
          <p:cNvSpPr/>
          <p:nvPr/>
        </p:nvSpPr>
        <p:spPr>
          <a:xfrm>
            <a:off x="6231636" y="1298448"/>
            <a:ext cx="5408676" cy="502920"/>
          </a:xfrm>
          <a:prstGeom prst="roundRect">
            <a:avLst>
              <a:gd name="adj" fmla="val 16364"/>
            </a:avLst>
          </a:prstGeom>
          <a:solidFill>
            <a:srgbClr val="3E3E4B"/>
          </a:solidFill>
          <a:ln/>
        </p:spPr>
      </p:sp>
      <p:sp>
        <p:nvSpPr>
          <p:cNvPr id="12" name="Text 10"/>
          <p:cNvSpPr/>
          <p:nvPr/>
        </p:nvSpPr>
        <p:spPr>
          <a:xfrm>
            <a:off x="6469380" y="1389888"/>
            <a:ext cx="4951476" cy="27432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Ledger 2: T0 NIC prefix limit</a:t>
            </a:r>
            <a:endParaRPr lang="en-US" sz="1450" dirty="0"/>
          </a:p>
        </p:txBody>
      </p:sp>
      <p:sp>
        <p:nvSpPr>
          <p:cNvPr id="13" name="Text 11"/>
          <p:cNvSpPr/>
          <p:nvPr/>
        </p:nvSpPr>
        <p:spPr>
          <a:xfrm>
            <a:off x="6469380" y="1920240"/>
            <a:ext cx="4933188" cy="685800"/>
          </a:xfrm>
          <a:prstGeom prst="rect">
            <a:avLst/>
          </a:prstGeom>
          <a:noFill/>
          <a:ln/>
        </p:spPr>
        <p:txBody>
          <a:bodyPr wrap="square" lIns="0" tIns="0" rIns="0" bIns="0" rtlCol="0" anchor="ctr"/>
          <a:lstStyle/>
          <a:p>
            <a:pPr algn="ctr" indent="0" marL="0">
              <a:buNone/>
            </a:pPr>
            <a:r>
              <a:rPr lang="en-US" sz="4200" b="1" dirty="0">
                <a:solidFill>
                  <a:srgbClr val="3E3E4B"/>
                </a:solidFill>
                <a:latin typeface="Arial" pitchFamily="34" charset="0"/>
                <a:ea typeface="Arial" pitchFamily="34" charset="-122"/>
                <a:cs typeface="Arial" pitchFamily="34" charset="-120"/>
              </a:rPr>
              <a:t>1,024</a:t>
            </a:r>
            <a:endParaRPr lang="en-US" sz="4200" dirty="0"/>
          </a:p>
        </p:txBody>
      </p:sp>
      <p:sp>
        <p:nvSpPr>
          <p:cNvPr id="14" name="Text 12"/>
          <p:cNvSpPr/>
          <p:nvPr/>
        </p:nvSpPr>
        <p:spPr>
          <a:xfrm>
            <a:off x="6469380" y="2606040"/>
            <a:ext cx="4933188" cy="274320"/>
          </a:xfrm>
          <a:prstGeom prst="rect">
            <a:avLst/>
          </a:prstGeom>
          <a:noFill/>
          <a:ln/>
        </p:spPr>
        <p:txBody>
          <a:bodyPr wrap="square" lIns="0" tIns="0" rIns="0" bIns="0" rtlCol="0" anchor="ctr"/>
          <a:lstStyle/>
          <a:p>
            <a:pPr algn="ctr" indent="0" marL="0">
              <a:buNone/>
            </a:pPr>
            <a:r>
              <a:rPr lang="en-US" sz="1150" dirty="0">
                <a:solidFill>
                  <a:srgbClr val="3E3E4B"/>
                </a:solidFill>
                <a:latin typeface="Calibri" pitchFamily="34" charset="0"/>
                <a:ea typeface="Calibri" pitchFamily="34" charset="-122"/>
                <a:cs typeface="Calibri" pitchFamily="34" charset="-120"/>
              </a:rPr>
              <a:t>prefixes per NSX T0 NIC for NSX segment prefixes</a:t>
            </a:r>
            <a:endParaRPr lang="en-US" sz="1150" dirty="0"/>
          </a:p>
        </p:txBody>
      </p:sp>
      <p:sp>
        <p:nvSpPr>
          <p:cNvPr id="15" name="Text 13"/>
          <p:cNvSpPr/>
          <p:nvPr/>
        </p:nvSpPr>
        <p:spPr>
          <a:xfrm>
            <a:off x="6469380" y="3017520"/>
            <a:ext cx="4933188" cy="1737360"/>
          </a:xfrm>
          <a:prstGeom prst="rect">
            <a:avLst/>
          </a:prstGeom>
          <a:noFill/>
          <a:ln/>
        </p:spPr>
        <p:txBody>
          <a:bodyPr wrap="square" lIns="0" tIns="0" rIns="0" bIns="0" rtlCol="0" anchor="t"/>
          <a:lstStyle/>
          <a:p>
            <a:pPr marL="177800" indent="-177800">
              <a:lnSpc>
                <a:spcPts val="1700"/>
              </a:lnSpc>
              <a:spcAft>
                <a:spcPts val="700"/>
              </a:spcAft>
              <a:buSzPct val="100000"/>
              <a:buChar char="•"/>
            </a:pPr>
            <a:r>
              <a:rPr lang="en-US" sz="1200" dirty="0">
                <a:solidFill>
                  <a:srgbClr val="3E3E4B"/>
                </a:solidFill>
                <a:latin typeface="Calibri" pitchFamily="34" charset="0"/>
                <a:ea typeface="Calibri" pitchFamily="34" charset="-122"/>
                <a:cs typeface="Calibri" pitchFamily="34" charset="-120"/>
              </a:rPr>
              <a:t>Azure uses equal-cost multipath routing (ECMP) to distribute traffic across multiple interfaces.</a:t>
            </a:r>
            <a:endParaRPr lang="en-US" sz="1200" dirty="0"/>
          </a:p>
          <a:p>
            <a:pPr marL="177800" indent="-177800">
              <a:lnSpc>
                <a:spcPts val="1700"/>
              </a:lnSpc>
              <a:spcAft>
                <a:spcPts val="700"/>
              </a:spcAft>
              <a:buSzPct val="100000"/>
              <a:buChar char="•"/>
            </a:pPr>
            <a:r>
              <a:rPr lang="en-US" sz="1200" dirty="0">
                <a:solidFill>
                  <a:srgbClr val="3E3E4B"/>
                </a:solidFill>
                <a:latin typeface="Calibri" pitchFamily="34" charset="0"/>
                <a:ea typeface="Calibri" pitchFamily="34" charset="-122"/>
                <a:cs typeface="Calibri" pitchFamily="34" charset="-120"/>
              </a:rPr>
              <a:t>NSX segment advertisements are divided into /28 units for programming across the T0 NICs.</a:t>
            </a:r>
            <a:endParaRPr lang="en-US" sz="1200" dirty="0"/>
          </a:p>
          <a:p>
            <a:pPr marL="177800" indent="-177800">
              <a:lnSpc>
                <a:spcPts val="1700"/>
              </a:lnSpc>
              <a:spcAft>
                <a:spcPts val="700"/>
              </a:spcAft>
              <a:buSzPct val="100000"/>
              <a:buChar char="•"/>
            </a:pPr>
            <a:r>
              <a:rPr lang="en-US" sz="1200" dirty="0">
                <a:solidFill>
                  <a:srgbClr val="3E3E4B"/>
                </a:solidFill>
                <a:latin typeface="Calibri" pitchFamily="34" charset="0"/>
                <a:ea typeface="Calibri" pitchFamily="34" charset="-122"/>
                <a:cs typeface="Calibri" pitchFamily="34" charset="-120"/>
              </a:rPr>
              <a:t>A subnet may consume one VNet prefix entry but multiple /28 programming entries.</a:t>
            </a:r>
            <a:endParaRPr lang="en-US" sz="1200" dirty="0"/>
          </a:p>
        </p:txBody>
      </p:sp>
      <p:sp>
        <p:nvSpPr>
          <p:cNvPr id="16" name="Shape 14"/>
          <p:cNvSpPr/>
          <p:nvPr/>
        </p:nvSpPr>
        <p:spPr>
          <a:xfrm>
            <a:off x="548640" y="5074920"/>
            <a:ext cx="11091672" cy="548640"/>
          </a:xfrm>
          <a:prstGeom prst="roundRect">
            <a:avLst>
              <a:gd name="adj" fmla="val 15000"/>
            </a:avLst>
          </a:prstGeom>
          <a:solidFill>
            <a:srgbClr val="EBEDED"/>
          </a:solidFill>
          <a:ln/>
        </p:spPr>
      </p:sp>
      <p:sp>
        <p:nvSpPr>
          <p:cNvPr id="17" name="Text 15"/>
          <p:cNvSpPr/>
          <p:nvPr/>
        </p:nvSpPr>
        <p:spPr>
          <a:xfrm>
            <a:off x="731520" y="5074920"/>
            <a:ext cx="10725912" cy="548640"/>
          </a:xfrm>
          <a:prstGeom prst="rect">
            <a:avLst/>
          </a:prstGeom>
          <a:noFill/>
          <a:ln/>
        </p:spPr>
        <p:txBody>
          <a:bodyPr wrap="square" lIns="0" tIns="0" rIns="0" bIns="0" rtlCol="0" anchor="ctr"/>
          <a:lstStyle/>
          <a:p>
            <a:pPr indent="0" marL="0">
              <a:buNone/>
            </a:pPr>
            <a:r>
              <a:rPr lang="en-US" sz="1100" b="1" dirty="0">
                <a:solidFill>
                  <a:srgbClr val="00B3E2"/>
                </a:solidFill>
                <a:latin typeface="Arial" pitchFamily="34" charset="0"/>
                <a:ea typeface="Arial" pitchFamily="34" charset="-122"/>
                <a:cs typeface="Arial" pitchFamily="34" charset="-120"/>
              </a:rPr>
              <a:t>Takeaway   </a:t>
            </a:r>
            <a:pPr indent="0" marL="0">
              <a:buNone/>
            </a:pPr>
            <a:r>
              <a:rPr lang="en-US" sz="1200" dirty="0">
                <a:solidFill>
                  <a:srgbClr val="3E3E4B"/>
                </a:solidFill>
                <a:latin typeface="Calibri" pitchFamily="34" charset="0"/>
                <a:ea typeface="Calibri" pitchFamily="34" charset="-122"/>
                <a:cs typeface="Calibri" pitchFamily="34" charset="-120"/>
              </a:rPr>
              <a:t>Route planning requires two ledgers: total VNet prefixes and subdivided /28 T0 programming units. Passing one calculation does not imply the other is safe.</a:t>
            </a:r>
            <a:endParaRPr lang="en-US" sz="1100" dirty="0"/>
          </a:p>
        </p:txBody>
      </p:sp>
      <p:sp>
        <p:nvSpPr>
          <p:cNvPr id="18" name="Shape 16"/>
          <p:cNvSpPr/>
          <p:nvPr/>
        </p:nvSpPr>
        <p:spPr>
          <a:xfrm>
            <a:off x="548640" y="5760720"/>
            <a:ext cx="11091672" cy="502920"/>
          </a:xfrm>
          <a:prstGeom prst="roundRect">
            <a:avLst>
              <a:gd name="adj" fmla="val 16364"/>
            </a:avLst>
          </a:prstGeom>
          <a:solidFill>
            <a:srgbClr val="FAC458"/>
          </a:solidFill>
          <a:ln/>
        </p:spPr>
      </p:sp>
      <p:sp>
        <p:nvSpPr>
          <p:cNvPr id="19" name="Text 17"/>
          <p:cNvSpPr/>
          <p:nvPr/>
        </p:nvSpPr>
        <p:spPr>
          <a:xfrm>
            <a:off x="777240" y="5760720"/>
            <a:ext cx="10634472" cy="502920"/>
          </a:xfrm>
          <a:prstGeom prst="rect">
            <a:avLst/>
          </a:prstGeom>
          <a:noFill/>
          <a:ln/>
        </p:spPr>
        <p:txBody>
          <a:bodyPr wrap="square" lIns="0" tIns="0" rIns="0" bIns="0" rtlCol="0" anchor="ctr"/>
          <a:lstStyle/>
          <a:p>
            <a:pPr indent="0" marL="0">
              <a:buNone/>
            </a:pPr>
            <a:r>
              <a:rPr lang="en-US" sz="1100" b="1" dirty="0">
                <a:solidFill>
                  <a:srgbClr val="3E3E4B"/>
                </a:solidFill>
                <a:latin typeface="Arial" pitchFamily="34" charset="0"/>
                <a:ea typeface="Arial" pitchFamily="34" charset="-122"/>
                <a:cs typeface="Arial" pitchFamily="34" charset="-120"/>
              </a:rPr>
              <a:t>Failure behavior:  </a:t>
            </a:r>
            <a:pPr indent="0" marL="0">
              <a:buNone/>
            </a:pPr>
            <a:r>
              <a:rPr lang="en-US" sz="1150" dirty="0">
                <a:solidFill>
                  <a:srgbClr val="3E3E4B"/>
                </a:solidFill>
                <a:latin typeface="Calibri" pitchFamily="34" charset="0"/>
                <a:ea typeface="Calibri" pitchFamily="34" charset="-122"/>
                <a:cs typeface="Calibri" pitchFamily="34" charset="-120"/>
              </a:rPr>
              <a:t>Provisioning can fail when a segment cannot be programmed within the limits, and traffic may be silently dropped or black-holed when routes are absent or cannot converge.</a:t>
            </a:r>
            <a:endParaRPr lang="en-US" sz="1100" dirty="0"/>
          </a:p>
        </p:txBody>
      </p:sp>
      <p:sp>
        <p:nvSpPr>
          <p:cNvPr id="20" name="Text 18"/>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9. Generation 2 route-scale limits</a:t>
            </a:r>
            <a:endParaRPr lang="en-US" sz="950" dirty="0"/>
          </a:p>
        </p:txBody>
      </p:sp>
      <p:sp>
        <p:nvSpPr>
          <p:cNvPr id="21" name="Text 19"/>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21</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9.3 PREFIX SUBDIVISION</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Converting segments into /28 programming units</a:t>
            </a:r>
            <a:endParaRPr lang="en-US" sz="2800" dirty="0"/>
          </a:p>
        </p:txBody>
      </p:sp>
      <p:sp>
        <p:nvSpPr>
          <p:cNvPr id="4" name="Shape 2"/>
          <p:cNvSpPr/>
          <p:nvPr/>
        </p:nvSpPr>
        <p:spPr>
          <a:xfrm>
            <a:off x="548640" y="1280160"/>
            <a:ext cx="11091672" cy="822960"/>
          </a:xfrm>
          <a:prstGeom prst="roundRect">
            <a:avLst>
              <a:gd name="adj" fmla="val 10000"/>
            </a:avLst>
          </a:prstGeom>
          <a:solidFill>
            <a:srgbClr val="3E3E4B"/>
          </a:solidFill>
          <a:ln/>
        </p:spPr>
      </p:sp>
      <p:sp>
        <p:nvSpPr>
          <p:cNvPr id="5" name="Text 3"/>
          <p:cNvSpPr/>
          <p:nvPr/>
        </p:nvSpPr>
        <p:spPr>
          <a:xfrm>
            <a:off x="548640" y="1280160"/>
            <a:ext cx="6100420" cy="822960"/>
          </a:xfrm>
          <a:prstGeom prst="rect">
            <a:avLst/>
          </a:prstGeom>
          <a:noFill/>
          <a:ln/>
        </p:spPr>
        <p:txBody>
          <a:bodyPr wrap="square" lIns="0" tIns="0" rIns="0" bIns="0" rtlCol="0" anchor="ctr"/>
          <a:lstStyle/>
          <a:p>
            <a:pPr algn="ctr" indent="0" marL="0">
              <a:buNone/>
            </a:pPr>
            <a:r>
              <a:rPr lang="en-US" sz="2200" b="1" dirty="0">
                <a:solidFill>
                  <a:srgbClr val="00B3E2"/>
                </a:solidFill>
                <a:latin typeface="Courier New" pitchFamily="34" charset="0"/>
                <a:ea typeface="Courier New" pitchFamily="34" charset="-122"/>
                <a:cs typeface="Courier New" pitchFamily="34" charset="-120"/>
              </a:rPr>
              <a:t>Number of /28 units  =  2 ^ (28 − P)</a:t>
            </a:r>
            <a:endParaRPr lang="en-US" sz="2200" dirty="0"/>
          </a:p>
        </p:txBody>
      </p:sp>
      <p:sp>
        <p:nvSpPr>
          <p:cNvPr id="6" name="Text 4"/>
          <p:cNvSpPr/>
          <p:nvPr/>
        </p:nvSpPr>
        <p:spPr>
          <a:xfrm>
            <a:off x="6759976" y="1280160"/>
            <a:ext cx="4658502" cy="822960"/>
          </a:xfrm>
          <a:prstGeom prst="rect">
            <a:avLst/>
          </a:prstGeom>
          <a:noFill/>
          <a:ln/>
        </p:spPr>
        <p:txBody>
          <a:bodyPr wrap="square" lIns="0" tIns="0" rIns="0" bIns="0" rtlCol="0" anchor="ctr"/>
          <a:lstStyle/>
          <a:p>
            <a:pPr indent="0" marL="0">
              <a:lnSpc>
                <a:spcPts val="1600"/>
              </a:lnSpc>
              <a:buNone/>
            </a:pPr>
            <a:r>
              <a:rPr lang="en-US" sz="1200" dirty="0">
                <a:solidFill>
                  <a:srgbClr val="FFFFFF"/>
                </a:solidFill>
                <a:latin typeface="Calibri" pitchFamily="34" charset="0"/>
                <a:ea typeface="Calibri" pitchFamily="34" charset="-122"/>
                <a:cs typeface="Calibri" pitchFamily="34" charset="-120"/>
              </a:rPr>
              <a:t>Where /P is the network prefix. Applies when P is less than or equal to 28. A /28 contains 16 IP addresses.</a:t>
            </a:r>
            <a:endParaRPr lang="en-US" sz="1200" dirty="0"/>
          </a:p>
        </p:txBody>
      </p:sp>
      <p:sp>
        <p:nvSpPr>
          <p:cNvPr id="7" name="Shape 5"/>
          <p:cNvSpPr/>
          <p:nvPr/>
        </p:nvSpPr>
        <p:spPr>
          <a:xfrm>
            <a:off x="548640" y="2286000"/>
            <a:ext cx="3575304" cy="2880360"/>
          </a:xfrm>
          <a:prstGeom prst="roundRect">
            <a:avLst>
              <a:gd name="adj" fmla="val 2857"/>
            </a:avLst>
          </a:prstGeom>
          <a:solidFill>
            <a:srgbClr val="E5F7FC"/>
          </a:solidFill>
          <a:ln/>
        </p:spPr>
      </p:sp>
      <p:sp>
        <p:nvSpPr>
          <p:cNvPr id="8" name="Text 6"/>
          <p:cNvSpPr/>
          <p:nvPr/>
        </p:nvSpPr>
        <p:spPr>
          <a:xfrm>
            <a:off x="731520" y="2423160"/>
            <a:ext cx="3209544" cy="457200"/>
          </a:xfrm>
          <a:prstGeom prst="rect">
            <a:avLst/>
          </a:prstGeom>
          <a:noFill/>
          <a:ln/>
        </p:spPr>
        <p:txBody>
          <a:bodyPr wrap="square" lIns="0" tIns="0" rIns="0" bIns="0" rtlCol="0" anchor="ctr"/>
          <a:lstStyle/>
          <a:p>
            <a:pPr indent="0" marL="0">
              <a:buNone/>
            </a:pPr>
            <a:r>
              <a:rPr lang="en-US" sz="2600" b="1" dirty="0">
                <a:solidFill>
                  <a:srgbClr val="00B3E2"/>
                </a:solidFill>
                <a:latin typeface="Arial" pitchFamily="34" charset="0"/>
                <a:ea typeface="Arial" pitchFamily="34" charset="-122"/>
                <a:cs typeface="Arial" pitchFamily="34" charset="-120"/>
              </a:rPr>
              <a:t>/24</a:t>
            </a:r>
            <a:endParaRPr lang="en-US" sz="2600" dirty="0"/>
          </a:p>
        </p:txBody>
      </p:sp>
      <p:sp>
        <p:nvSpPr>
          <p:cNvPr id="9" name="Text 7"/>
          <p:cNvSpPr/>
          <p:nvPr/>
        </p:nvSpPr>
        <p:spPr>
          <a:xfrm>
            <a:off x="731520" y="2880360"/>
            <a:ext cx="3209544" cy="256032"/>
          </a:xfrm>
          <a:prstGeom prst="rect">
            <a:avLst/>
          </a:prstGeom>
          <a:noFill/>
          <a:ln/>
        </p:spPr>
        <p:txBody>
          <a:bodyPr wrap="square" lIns="0" tIns="0" rIns="0" bIns="0" rtlCol="0" anchor="ctr"/>
          <a:lstStyle/>
          <a:p>
            <a:pPr indent="0" marL="0">
              <a:buNone/>
            </a:pPr>
            <a:r>
              <a:rPr lang="en-US" sz="1150" dirty="0">
                <a:solidFill>
                  <a:srgbClr val="6B6B78"/>
                </a:solidFill>
                <a:latin typeface="Calibri" pitchFamily="34" charset="0"/>
                <a:ea typeface="Calibri" pitchFamily="34" charset="-122"/>
                <a:cs typeface="Calibri" pitchFamily="34" charset="-120"/>
              </a:rPr>
              <a:t>256 addresses</a:t>
            </a:r>
            <a:endParaRPr lang="en-US" sz="1150" dirty="0"/>
          </a:p>
        </p:txBody>
      </p:sp>
      <p:sp>
        <p:nvSpPr>
          <p:cNvPr id="10" name="Shape 8"/>
          <p:cNvSpPr/>
          <p:nvPr/>
        </p:nvSpPr>
        <p:spPr>
          <a:xfrm>
            <a:off x="731520" y="3200400"/>
            <a:ext cx="3209544" cy="384048"/>
          </a:xfrm>
          <a:prstGeom prst="roundRect">
            <a:avLst>
              <a:gd name="adj" fmla="val 21429"/>
            </a:avLst>
          </a:prstGeom>
          <a:solidFill>
            <a:srgbClr val="FFFFFF"/>
          </a:solidFill>
          <a:ln/>
        </p:spPr>
      </p:sp>
      <p:sp>
        <p:nvSpPr>
          <p:cNvPr id="11" name="Text 9"/>
          <p:cNvSpPr/>
          <p:nvPr/>
        </p:nvSpPr>
        <p:spPr>
          <a:xfrm>
            <a:off x="731520" y="3200400"/>
            <a:ext cx="3209544" cy="384048"/>
          </a:xfrm>
          <a:prstGeom prst="rect">
            <a:avLst/>
          </a:prstGeom>
          <a:noFill/>
          <a:ln/>
        </p:spPr>
        <p:txBody>
          <a:bodyPr wrap="square" lIns="0" tIns="0" rIns="0" bIns="0" rtlCol="0" anchor="ctr"/>
          <a:lstStyle/>
          <a:p>
            <a:pPr algn="ctr" indent="0" marL="0">
              <a:buNone/>
            </a:pPr>
            <a:r>
              <a:rPr lang="en-US" sz="1200" b="1" dirty="0">
                <a:solidFill>
                  <a:srgbClr val="3E3E4B"/>
                </a:solidFill>
                <a:latin typeface="Courier New" pitchFamily="34" charset="0"/>
                <a:ea typeface="Courier New" pitchFamily="34" charset="-122"/>
                <a:cs typeface="Courier New" pitchFamily="34" charset="-120"/>
              </a:rPr>
              <a:t>2^(28−24) = 2^4</a:t>
            </a:r>
            <a:endParaRPr lang="en-US" sz="1200" dirty="0"/>
          </a:p>
        </p:txBody>
      </p:sp>
      <p:sp>
        <p:nvSpPr>
          <p:cNvPr id="12" name="Text 10"/>
          <p:cNvSpPr/>
          <p:nvPr/>
        </p:nvSpPr>
        <p:spPr>
          <a:xfrm>
            <a:off x="731520" y="3675888"/>
            <a:ext cx="3209544" cy="548640"/>
          </a:xfrm>
          <a:prstGeom prst="rect">
            <a:avLst/>
          </a:prstGeom>
          <a:noFill/>
          <a:ln/>
        </p:spPr>
        <p:txBody>
          <a:bodyPr wrap="square" lIns="0" tIns="0" rIns="0" bIns="0" rtlCol="0" anchor="ctr"/>
          <a:lstStyle/>
          <a:p>
            <a:pPr algn="ctr" indent="0" marL="0">
              <a:buNone/>
            </a:pPr>
            <a:r>
              <a:rPr lang="en-US" sz="3000" b="1" dirty="0">
                <a:solidFill>
                  <a:srgbClr val="00B3E2"/>
                </a:solidFill>
                <a:latin typeface="Arial" pitchFamily="34" charset="0"/>
                <a:ea typeface="Arial" pitchFamily="34" charset="-122"/>
                <a:cs typeface="Arial" pitchFamily="34" charset="-120"/>
              </a:rPr>
              <a:t>16</a:t>
            </a:r>
            <a:endParaRPr lang="en-US" sz="3000" dirty="0"/>
          </a:p>
        </p:txBody>
      </p:sp>
      <p:sp>
        <p:nvSpPr>
          <p:cNvPr id="13" name="Text 11"/>
          <p:cNvSpPr/>
          <p:nvPr/>
        </p:nvSpPr>
        <p:spPr>
          <a:xfrm>
            <a:off x="731520" y="4224528"/>
            <a:ext cx="3209544" cy="237744"/>
          </a:xfrm>
          <a:prstGeom prst="rect">
            <a:avLst/>
          </a:prstGeom>
          <a:noFill/>
          <a:ln/>
        </p:spPr>
        <p:txBody>
          <a:bodyPr wrap="square" lIns="0" tIns="0" rIns="0" bIns="0" rtlCol="0" anchor="ctr"/>
          <a:lstStyle/>
          <a:p>
            <a:pPr algn="ctr" indent="0" marL="0">
              <a:buNone/>
            </a:pPr>
            <a:r>
              <a:rPr lang="en-US" sz="1100" dirty="0">
                <a:solidFill>
                  <a:srgbClr val="3E3E4B"/>
                </a:solidFill>
                <a:latin typeface="Calibri" pitchFamily="34" charset="0"/>
                <a:ea typeface="Calibri" pitchFamily="34" charset="-122"/>
                <a:cs typeface="Calibri" pitchFamily="34" charset="-120"/>
              </a:rPr>
              <a:t>/28 units</a:t>
            </a:r>
            <a:endParaRPr lang="en-US" sz="1100" dirty="0"/>
          </a:p>
        </p:txBody>
      </p:sp>
      <p:sp>
        <p:nvSpPr>
          <p:cNvPr id="14" name="Text 12"/>
          <p:cNvSpPr/>
          <p:nvPr/>
        </p:nvSpPr>
        <p:spPr>
          <a:xfrm>
            <a:off x="731520" y="4526280"/>
            <a:ext cx="3209544" cy="566928"/>
          </a:xfrm>
          <a:prstGeom prst="rect">
            <a:avLst/>
          </a:prstGeom>
          <a:noFill/>
          <a:ln/>
        </p:spPr>
        <p:txBody>
          <a:bodyPr wrap="square" lIns="0" tIns="0" rIns="0" bIns="0" rtlCol="0" anchor="t"/>
          <a:lstStyle/>
          <a:p>
            <a:pPr indent="0" marL="0">
              <a:lnSpc>
                <a:spcPts val="1500"/>
              </a:lnSpc>
              <a:buNone/>
            </a:pPr>
            <a:r>
              <a:rPr lang="en-US" sz="1150" dirty="0">
                <a:solidFill>
                  <a:srgbClr val="3E3E4B"/>
                </a:solidFill>
                <a:latin typeface="Calibri" pitchFamily="34" charset="0"/>
                <a:ea typeface="Calibri" pitchFamily="34" charset="-122"/>
                <a:cs typeface="Calibri" pitchFamily="34" charset="-120"/>
              </a:rPr>
              <a:t>One /24 consumes one VNet prefix but 16 T0 NIC programming entries.</a:t>
            </a:r>
            <a:endParaRPr lang="en-US" sz="1150" dirty="0"/>
          </a:p>
        </p:txBody>
      </p:sp>
      <p:sp>
        <p:nvSpPr>
          <p:cNvPr id="15" name="Shape 13"/>
          <p:cNvSpPr/>
          <p:nvPr/>
        </p:nvSpPr>
        <p:spPr>
          <a:xfrm>
            <a:off x="4306824" y="2286000"/>
            <a:ext cx="3575304" cy="2880360"/>
          </a:xfrm>
          <a:prstGeom prst="roundRect">
            <a:avLst>
              <a:gd name="adj" fmla="val 2857"/>
            </a:avLst>
          </a:prstGeom>
          <a:solidFill>
            <a:srgbClr val="E5F7FC"/>
          </a:solidFill>
          <a:ln/>
        </p:spPr>
      </p:sp>
      <p:sp>
        <p:nvSpPr>
          <p:cNvPr id="16" name="Text 14"/>
          <p:cNvSpPr/>
          <p:nvPr/>
        </p:nvSpPr>
        <p:spPr>
          <a:xfrm>
            <a:off x="4489704" y="2423160"/>
            <a:ext cx="3209544" cy="457200"/>
          </a:xfrm>
          <a:prstGeom prst="rect">
            <a:avLst/>
          </a:prstGeom>
          <a:noFill/>
          <a:ln/>
        </p:spPr>
        <p:txBody>
          <a:bodyPr wrap="square" lIns="0" tIns="0" rIns="0" bIns="0" rtlCol="0" anchor="ctr"/>
          <a:lstStyle/>
          <a:p>
            <a:pPr indent="0" marL="0">
              <a:buNone/>
            </a:pPr>
            <a:r>
              <a:rPr lang="en-US" sz="2600" b="1" dirty="0">
                <a:solidFill>
                  <a:srgbClr val="00B3E2"/>
                </a:solidFill>
                <a:latin typeface="Arial" pitchFamily="34" charset="0"/>
                <a:ea typeface="Arial" pitchFamily="34" charset="-122"/>
                <a:cs typeface="Arial" pitchFamily="34" charset="-120"/>
              </a:rPr>
              <a:t>/22</a:t>
            </a:r>
            <a:endParaRPr lang="en-US" sz="2600" dirty="0"/>
          </a:p>
        </p:txBody>
      </p:sp>
      <p:sp>
        <p:nvSpPr>
          <p:cNvPr id="17" name="Text 15"/>
          <p:cNvSpPr/>
          <p:nvPr/>
        </p:nvSpPr>
        <p:spPr>
          <a:xfrm>
            <a:off x="4489704" y="2880360"/>
            <a:ext cx="3209544" cy="256032"/>
          </a:xfrm>
          <a:prstGeom prst="rect">
            <a:avLst/>
          </a:prstGeom>
          <a:noFill/>
          <a:ln/>
        </p:spPr>
        <p:txBody>
          <a:bodyPr wrap="square" lIns="0" tIns="0" rIns="0" bIns="0" rtlCol="0" anchor="ctr"/>
          <a:lstStyle/>
          <a:p>
            <a:pPr indent="0" marL="0">
              <a:buNone/>
            </a:pPr>
            <a:r>
              <a:rPr lang="en-US" sz="1150" dirty="0">
                <a:solidFill>
                  <a:srgbClr val="6B6B78"/>
                </a:solidFill>
                <a:latin typeface="Calibri" pitchFamily="34" charset="0"/>
                <a:ea typeface="Calibri" pitchFamily="34" charset="-122"/>
                <a:cs typeface="Calibri" pitchFamily="34" charset="-120"/>
              </a:rPr>
              <a:t>1,024 addresses</a:t>
            </a:r>
            <a:endParaRPr lang="en-US" sz="1150" dirty="0"/>
          </a:p>
        </p:txBody>
      </p:sp>
      <p:sp>
        <p:nvSpPr>
          <p:cNvPr id="18" name="Shape 16"/>
          <p:cNvSpPr/>
          <p:nvPr/>
        </p:nvSpPr>
        <p:spPr>
          <a:xfrm>
            <a:off x="4489704" y="3200400"/>
            <a:ext cx="3209544" cy="384048"/>
          </a:xfrm>
          <a:prstGeom prst="roundRect">
            <a:avLst>
              <a:gd name="adj" fmla="val 21429"/>
            </a:avLst>
          </a:prstGeom>
          <a:solidFill>
            <a:srgbClr val="FFFFFF"/>
          </a:solidFill>
          <a:ln/>
        </p:spPr>
      </p:sp>
      <p:sp>
        <p:nvSpPr>
          <p:cNvPr id="19" name="Text 17"/>
          <p:cNvSpPr/>
          <p:nvPr/>
        </p:nvSpPr>
        <p:spPr>
          <a:xfrm>
            <a:off x="4489704" y="3200400"/>
            <a:ext cx="3209544" cy="384048"/>
          </a:xfrm>
          <a:prstGeom prst="rect">
            <a:avLst/>
          </a:prstGeom>
          <a:noFill/>
          <a:ln/>
        </p:spPr>
        <p:txBody>
          <a:bodyPr wrap="square" lIns="0" tIns="0" rIns="0" bIns="0" rtlCol="0" anchor="ctr"/>
          <a:lstStyle/>
          <a:p>
            <a:pPr algn="ctr" indent="0" marL="0">
              <a:buNone/>
            </a:pPr>
            <a:r>
              <a:rPr lang="en-US" sz="1200" b="1" dirty="0">
                <a:solidFill>
                  <a:srgbClr val="3E3E4B"/>
                </a:solidFill>
                <a:latin typeface="Courier New" pitchFamily="34" charset="0"/>
                <a:ea typeface="Courier New" pitchFamily="34" charset="-122"/>
                <a:cs typeface="Courier New" pitchFamily="34" charset="-120"/>
              </a:rPr>
              <a:t>2^(28−22) = 2^6</a:t>
            </a:r>
            <a:endParaRPr lang="en-US" sz="1200" dirty="0"/>
          </a:p>
        </p:txBody>
      </p:sp>
      <p:sp>
        <p:nvSpPr>
          <p:cNvPr id="20" name="Text 18"/>
          <p:cNvSpPr/>
          <p:nvPr/>
        </p:nvSpPr>
        <p:spPr>
          <a:xfrm>
            <a:off x="4489704" y="3675888"/>
            <a:ext cx="3209544" cy="548640"/>
          </a:xfrm>
          <a:prstGeom prst="rect">
            <a:avLst/>
          </a:prstGeom>
          <a:noFill/>
          <a:ln/>
        </p:spPr>
        <p:txBody>
          <a:bodyPr wrap="square" lIns="0" tIns="0" rIns="0" bIns="0" rtlCol="0" anchor="ctr"/>
          <a:lstStyle/>
          <a:p>
            <a:pPr algn="ctr" indent="0" marL="0">
              <a:buNone/>
            </a:pPr>
            <a:r>
              <a:rPr lang="en-US" sz="3000" b="1" dirty="0">
                <a:solidFill>
                  <a:srgbClr val="00B3E2"/>
                </a:solidFill>
                <a:latin typeface="Arial" pitchFamily="34" charset="0"/>
                <a:ea typeface="Arial" pitchFamily="34" charset="-122"/>
                <a:cs typeface="Arial" pitchFamily="34" charset="-120"/>
              </a:rPr>
              <a:t>64</a:t>
            </a:r>
            <a:endParaRPr lang="en-US" sz="3000" dirty="0"/>
          </a:p>
        </p:txBody>
      </p:sp>
      <p:sp>
        <p:nvSpPr>
          <p:cNvPr id="21" name="Text 19"/>
          <p:cNvSpPr/>
          <p:nvPr/>
        </p:nvSpPr>
        <p:spPr>
          <a:xfrm>
            <a:off x="4489704" y="4224528"/>
            <a:ext cx="3209544" cy="237744"/>
          </a:xfrm>
          <a:prstGeom prst="rect">
            <a:avLst/>
          </a:prstGeom>
          <a:noFill/>
          <a:ln/>
        </p:spPr>
        <p:txBody>
          <a:bodyPr wrap="square" lIns="0" tIns="0" rIns="0" bIns="0" rtlCol="0" anchor="ctr"/>
          <a:lstStyle/>
          <a:p>
            <a:pPr algn="ctr" indent="0" marL="0">
              <a:buNone/>
            </a:pPr>
            <a:r>
              <a:rPr lang="en-US" sz="1100" dirty="0">
                <a:solidFill>
                  <a:srgbClr val="3E3E4B"/>
                </a:solidFill>
                <a:latin typeface="Calibri" pitchFamily="34" charset="0"/>
                <a:ea typeface="Calibri" pitchFamily="34" charset="-122"/>
                <a:cs typeface="Calibri" pitchFamily="34" charset="-120"/>
              </a:rPr>
              <a:t>/28 units</a:t>
            </a:r>
            <a:endParaRPr lang="en-US" sz="1100" dirty="0"/>
          </a:p>
        </p:txBody>
      </p:sp>
      <p:sp>
        <p:nvSpPr>
          <p:cNvPr id="22" name="Text 20"/>
          <p:cNvSpPr/>
          <p:nvPr/>
        </p:nvSpPr>
        <p:spPr>
          <a:xfrm>
            <a:off x="4489704" y="4526280"/>
            <a:ext cx="3209544" cy="566928"/>
          </a:xfrm>
          <a:prstGeom prst="rect">
            <a:avLst/>
          </a:prstGeom>
          <a:noFill/>
          <a:ln/>
        </p:spPr>
        <p:txBody>
          <a:bodyPr wrap="square" lIns="0" tIns="0" rIns="0" bIns="0" rtlCol="0" anchor="t"/>
          <a:lstStyle/>
          <a:p>
            <a:pPr indent="0" marL="0">
              <a:lnSpc>
                <a:spcPts val="1500"/>
              </a:lnSpc>
              <a:buNone/>
            </a:pPr>
            <a:r>
              <a:rPr lang="en-US" sz="1150" dirty="0">
                <a:solidFill>
                  <a:srgbClr val="3E3E4B"/>
                </a:solidFill>
                <a:latin typeface="Calibri" pitchFamily="34" charset="0"/>
                <a:ea typeface="Calibri" pitchFamily="34" charset="-122"/>
                <a:cs typeface="Calibri" pitchFamily="34" charset="-120"/>
              </a:rPr>
              <a:t>A single flat /22 application segment consumes 64 T0 NIC entries.</a:t>
            </a:r>
            <a:endParaRPr lang="en-US" sz="1150" dirty="0"/>
          </a:p>
        </p:txBody>
      </p:sp>
      <p:sp>
        <p:nvSpPr>
          <p:cNvPr id="23" name="Shape 21"/>
          <p:cNvSpPr/>
          <p:nvPr/>
        </p:nvSpPr>
        <p:spPr>
          <a:xfrm>
            <a:off x="8065008" y="2286000"/>
            <a:ext cx="3575304" cy="2880360"/>
          </a:xfrm>
          <a:prstGeom prst="roundRect">
            <a:avLst>
              <a:gd name="adj" fmla="val 2857"/>
            </a:avLst>
          </a:prstGeom>
          <a:solidFill>
            <a:srgbClr val="EBEDED"/>
          </a:solidFill>
          <a:ln/>
        </p:spPr>
      </p:sp>
      <p:sp>
        <p:nvSpPr>
          <p:cNvPr id="24" name="Text 22"/>
          <p:cNvSpPr/>
          <p:nvPr/>
        </p:nvSpPr>
        <p:spPr>
          <a:xfrm>
            <a:off x="8247888" y="2423160"/>
            <a:ext cx="3209544" cy="457200"/>
          </a:xfrm>
          <a:prstGeom prst="rect">
            <a:avLst/>
          </a:prstGeom>
          <a:noFill/>
          <a:ln/>
        </p:spPr>
        <p:txBody>
          <a:bodyPr wrap="square" lIns="0" tIns="0" rIns="0" bIns="0" rtlCol="0" anchor="ctr"/>
          <a:lstStyle/>
          <a:p>
            <a:pPr indent="0" marL="0">
              <a:buNone/>
            </a:pPr>
            <a:r>
              <a:rPr lang="en-US" sz="2600" b="1" dirty="0">
                <a:solidFill>
                  <a:srgbClr val="F15D23"/>
                </a:solidFill>
                <a:latin typeface="Arial" pitchFamily="34" charset="0"/>
                <a:ea typeface="Arial" pitchFamily="34" charset="-122"/>
                <a:cs typeface="Arial" pitchFamily="34" charset="-120"/>
              </a:rPr>
              <a:t>/16</a:t>
            </a:r>
            <a:endParaRPr lang="en-US" sz="2600" dirty="0"/>
          </a:p>
        </p:txBody>
      </p:sp>
      <p:sp>
        <p:nvSpPr>
          <p:cNvPr id="25" name="Text 23"/>
          <p:cNvSpPr/>
          <p:nvPr/>
        </p:nvSpPr>
        <p:spPr>
          <a:xfrm>
            <a:off x="8247888" y="2880360"/>
            <a:ext cx="3209544" cy="256032"/>
          </a:xfrm>
          <a:prstGeom prst="rect">
            <a:avLst/>
          </a:prstGeom>
          <a:noFill/>
          <a:ln/>
        </p:spPr>
        <p:txBody>
          <a:bodyPr wrap="square" lIns="0" tIns="0" rIns="0" bIns="0" rtlCol="0" anchor="ctr"/>
          <a:lstStyle/>
          <a:p>
            <a:pPr indent="0" marL="0">
              <a:buNone/>
            </a:pPr>
            <a:r>
              <a:rPr lang="en-US" sz="1150" dirty="0">
                <a:solidFill>
                  <a:srgbClr val="6B6B78"/>
                </a:solidFill>
                <a:latin typeface="Calibri" pitchFamily="34" charset="0"/>
                <a:ea typeface="Calibri" pitchFamily="34" charset="-122"/>
                <a:cs typeface="Calibri" pitchFamily="34" charset="-120"/>
              </a:rPr>
              <a:t>65,536 addresses</a:t>
            </a:r>
            <a:endParaRPr lang="en-US" sz="1150" dirty="0"/>
          </a:p>
        </p:txBody>
      </p:sp>
      <p:sp>
        <p:nvSpPr>
          <p:cNvPr id="26" name="Shape 24"/>
          <p:cNvSpPr/>
          <p:nvPr/>
        </p:nvSpPr>
        <p:spPr>
          <a:xfrm>
            <a:off x="8247888" y="3200400"/>
            <a:ext cx="3209544" cy="384048"/>
          </a:xfrm>
          <a:prstGeom prst="roundRect">
            <a:avLst>
              <a:gd name="adj" fmla="val 21429"/>
            </a:avLst>
          </a:prstGeom>
          <a:solidFill>
            <a:srgbClr val="FFFFFF"/>
          </a:solidFill>
          <a:ln/>
        </p:spPr>
      </p:sp>
      <p:sp>
        <p:nvSpPr>
          <p:cNvPr id="27" name="Text 25"/>
          <p:cNvSpPr/>
          <p:nvPr/>
        </p:nvSpPr>
        <p:spPr>
          <a:xfrm>
            <a:off x="8247888" y="3200400"/>
            <a:ext cx="3209544" cy="384048"/>
          </a:xfrm>
          <a:prstGeom prst="rect">
            <a:avLst/>
          </a:prstGeom>
          <a:noFill/>
          <a:ln/>
        </p:spPr>
        <p:txBody>
          <a:bodyPr wrap="square" lIns="0" tIns="0" rIns="0" bIns="0" rtlCol="0" anchor="ctr"/>
          <a:lstStyle/>
          <a:p>
            <a:pPr algn="ctr" indent="0" marL="0">
              <a:buNone/>
            </a:pPr>
            <a:r>
              <a:rPr lang="en-US" sz="1200" b="1" dirty="0">
                <a:solidFill>
                  <a:srgbClr val="3E3E4B"/>
                </a:solidFill>
                <a:latin typeface="Courier New" pitchFamily="34" charset="0"/>
                <a:ea typeface="Courier New" pitchFamily="34" charset="-122"/>
                <a:cs typeface="Courier New" pitchFamily="34" charset="-120"/>
              </a:rPr>
              <a:t>2^(28−16) = 2^12</a:t>
            </a:r>
            <a:endParaRPr lang="en-US" sz="1200" dirty="0"/>
          </a:p>
        </p:txBody>
      </p:sp>
      <p:sp>
        <p:nvSpPr>
          <p:cNvPr id="28" name="Text 26"/>
          <p:cNvSpPr/>
          <p:nvPr/>
        </p:nvSpPr>
        <p:spPr>
          <a:xfrm>
            <a:off x="8247888" y="3675888"/>
            <a:ext cx="3209544" cy="548640"/>
          </a:xfrm>
          <a:prstGeom prst="rect">
            <a:avLst/>
          </a:prstGeom>
          <a:noFill/>
          <a:ln/>
        </p:spPr>
        <p:txBody>
          <a:bodyPr wrap="square" lIns="0" tIns="0" rIns="0" bIns="0" rtlCol="0" anchor="ctr"/>
          <a:lstStyle/>
          <a:p>
            <a:pPr algn="ctr" indent="0" marL="0">
              <a:buNone/>
            </a:pPr>
            <a:r>
              <a:rPr lang="en-US" sz="3000" b="1" dirty="0">
                <a:solidFill>
                  <a:srgbClr val="F15D23"/>
                </a:solidFill>
                <a:latin typeface="Arial" pitchFamily="34" charset="0"/>
                <a:ea typeface="Arial" pitchFamily="34" charset="-122"/>
                <a:cs typeface="Arial" pitchFamily="34" charset="-120"/>
              </a:rPr>
              <a:t>4,096</a:t>
            </a:r>
            <a:endParaRPr lang="en-US" sz="3000" dirty="0"/>
          </a:p>
        </p:txBody>
      </p:sp>
      <p:sp>
        <p:nvSpPr>
          <p:cNvPr id="29" name="Text 27"/>
          <p:cNvSpPr/>
          <p:nvPr/>
        </p:nvSpPr>
        <p:spPr>
          <a:xfrm>
            <a:off x="8247888" y="4224528"/>
            <a:ext cx="3209544" cy="237744"/>
          </a:xfrm>
          <a:prstGeom prst="rect">
            <a:avLst/>
          </a:prstGeom>
          <a:noFill/>
          <a:ln/>
        </p:spPr>
        <p:txBody>
          <a:bodyPr wrap="square" lIns="0" tIns="0" rIns="0" bIns="0" rtlCol="0" anchor="ctr"/>
          <a:lstStyle/>
          <a:p>
            <a:pPr algn="ctr" indent="0" marL="0">
              <a:buNone/>
            </a:pPr>
            <a:r>
              <a:rPr lang="en-US" sz="1100" dirty="0">
                <a:solidFill>
                  <a:srgbClr val="3E3E4B"/>
                </a:solidFill>
                <a:latin typeface="Calibri" pitchFamily="34" charset="0"/>
                <a:ea typeface="Calibri" pitchFamily="34" charset="-122"/>
                <a:cs typeface="Calibri" pitchFamily="34" charset="-120"/>
              </a:rPr>
              <a:t>/28 units</a:t>
            </a:r>
            <a:endParaRPr lang="en-US" sz="1100" dirty="0"/>
          </a:p>
        </p:txBody>
      </p:sp>
      <p:sp>
        <p:nvSpPr>
          <p:cNvPr id="30" name="Text 28"/>
          <p:cNvSpPr/>
          <p:nvPr/>
        </p:nvSpPr>
        <p:spPr>
          <a:xfrm>
            <a:off x="8247888" y="4526280"/>
            <a:ext cx="3209544" cy="566928"/>
          </a:xfrm>
          <a:prstGeom prst="rect">
            <a:avLst/>
          </a:prstGeom>
          <a:noFill/>
          <a:ln/>
        </p:spPr>
        <p:txBody>
          <a:bodyPr wrap="square" lIns="0" tIns="0" rIns="0" bIns="0" rtlCol="0" anchor="t"/>
          <a:lstStyle/>
          <a:p>
            <a:pPr indent="0" marL="0">
              <a:lnSpc>
                <a:spcPts val="1500"/>
              </a:lnSpc>
              <a:buNone/>
            </a:pPr>
            <a:r>
              <a:rPr lang="en-US" sz="1150" dirty="0">
                <a:solidFill>
                  <a:srgbClr val="3E3E4B"/>
                </a:solidFill>
                <a:latin typeface="Calibri" pitchFamily="34" charset="0"/>
                <a:ea typeface="Calibri" pitchFamily="34" charset="-122"/>
                <a:cs typeface="Calibri" pitchFamily="34" charset="-120"/>
              </a:rPr>
              <a:t>Exceeds the 1,024-per-NIC limit; requires distribution across multiple interfaces.</a:t>
            </a:r>
            <a:endParaRPr lang="en-US" sz="1150" dirty="0"/>
          </a:p>
        </p:txBody>
      </p:sp>
      <p:sp>
        <p:nvSpPr>
          <p:cNvPr id="31" name="Shape 29"/>
          <p:cNvSpPr/>
          <p:nvPr/>
        </p:nvSpPr>
        <p:spPr>
          <a:xfrm>
            <a:off x="548640" y="5349240"/>
            <a:ext cx="11091672" cy="896112"/>
          </a:xfrm>
          <a:prstGeom prst="roundRect">
            <a:avLst>
              <a:gd name="adj" fmla="val 9184"/>
            </a:avLst>
          </a:prstGeom>
          <a:solidFill>
            <a:srgbClr val="FAC458"/>
          </a:solidFill>
          <a:ln/>
        </p:spPr>
      </p:sp>
      <p:sp>
        <p:nvSpPr>
          <p:cNvPr id="32" name="Text 30"/>
          <p:cNvSpPr/>
          <p:nvPr/>
        </p:nvSpPr>
        <p:spPr>
          <a:xfrm>
            <a:off x="777240" y="5349240"/>
            <a:ext cx="10634472" cy="896112"/>
          </a:xfrm>
          <a:prstGeom prst="rect">
            <a:avLst/>
          </a:prstGeom>
          <a:noFill/>
          <a:ln/>
        </p:spPr>
        <p:txBody>
          <a:bodyPr wrap="square" lIns="0" tIns="0" rIns="0" bIns="0" rtlCol="0" anchor="ctr"/>
          <a:lstStyle/>
          <a:p>
            <a:pPr indent="0" marL="0">
              <a:lnSpc>
                <a:spcPts val="1600"/>
              </a:lnSpc>
              <a:buNone/>
            </a:pPr>
            <a:r>
              <a:rPr lang="en-US" sz="1100" b="1" dirty="0">
                <a:solidFill>
                  <a:srgbClr val="3E3E4B"/>
                </a:solidFill>
                <a:latin typeface="Arial" pitchFamily="34" charset="0"/>
                <a:ea typeface="Arial" pitchFamily="34" charset="-122"/>
                <a:cs typeface="Arial" pitchFamily="34" charset="-120"/>
              </a:rPr>
              <a:t>Factors that could change the real result:  </a:t>
            </a:r>
            <a:pPr indent="0" marL="0">
              <a:lnSpc>
                <a:spcPts val="1600"/>
              </a:lnSpc>
              <a:buNone/>
            </a:pPr>
            <a:r>
              <a:rPr lang="en-US" sz="1150" dirty="0">
                <a:solidFill>
                  <a:srgbClr val="3E3E4B"/>
                </a:solidFill>
                <a:latin typeface="Calibri" pitchFamily="34" charset="0"/>
                <a:ea typeface="Calibri" pitchFamily="34" charset="-122"/>
                <a:cs typeface="Calibri" pitchFamily="34" charset="-120"/>
              </a:rPr>
              <a:t>The effective limit depends on prefix distribution across T0 NICs, other infrastructure routes, cluster size, T0 interface count, and current platform behavior. Managed infrastructure address spaces and customer workload segments may be counted differently.</a:t>
            </a:r>
            <a:endParaRPr lang="en-US" sz="1100" dirty="0"/>
          </a:p>
        </p:txBody>
      </p:sp>
      <p:sp>
        <p:nvSpPr>
          <p:cNvPr id="33" name="Text 31"/>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9.3 Prefix-subdivision formula</a:t>
            </a:r>
            <a:endParaRPr lang="en-US" sz="950" dirty="0"/>
          </a:p>
        </p:txBody>
      </p:sp>
      <p:sp>
        <p:nvSpPr>
          <p:cNvPr id="34" name="Text 32"/>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22</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9.4 CLUSTER CAPACITY</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Cluster size and /28 slice capacity</a:t>
            </a:r>
            <a:endParaRPr lang="en-US" sz="2800" dirty="0"/>
          </a:p>
        </p:txBody>
      </p:sp>
      <p:graphicFrame>
        <p:nvGraphicFramePr>
          <p:cNvPr id="4" name="Chart 0" descr=""/>
          <p:cNvGraphicFramePr/>
          <p:nvPr/>
        </p:nvGraphicFramePr>
        <p:xfrm>
          <a:off x="548640" y="1371600"/>
          <a:ext cx="612648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949440" y="1371600"/>
            <a:ext cx="4690872" cy="1600200"/>
          </a:xfrm>
          <a:prstGeom prst="roundRect">
            <a:avLst>
              <a:gd name="adj" fmla="val 5143"/>
            </a:avLst>
          </a:prstGeom>
          <a:solidFill>
            <a:srgbClr val="E5F7FC"/>
          </a:solidFill>
          <a:ln/>
        </p:spPr>
      </p:sp>
      <p:sp>
        <p:nvSpPr>
          <p:cNvPr id="6" name="Text 3"/>
          <p:cNvSpPr/>
          <p:nvPr/>
        </p:nvSpPr>
        <p:spPr>
          <a:xfrm>
            <a:off x="7187184" y="1481328"/>
            <a:ext cx="4233672"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Equivalent /24 count</a:t>
            </a:r>
            <a:endParaRPr lang="en-US" sz="1400" dirty="0"/>
          </a:p>
        </p:txBody>
      </p:sp>
      <p:sp>
        <p:nvSpPr>
          <p:cNvPr id="7" name="Text 4"/>
          <p:cNvSpPr/>
          <p:nvPr/>
        </p:nvSpPr>
        <p:spPr>
          <a:xfrm>
            <a:off x="7187184" y="1828800"/>
            <a:ext cx="4215384" cy="1097280"/>
          </a:xfrm>
          <a:prstGeom prst="rect">
            <a:avLst/>
          </a:prstGeom>
          <a:noFill/>
          <a:ln/>
        </p:spPr>
        <p:txBody>
          <a:bodyPr wrap="square" lIns="0" tIns="0" rIns="0" bIns="0" rtlCol="0" anchor="t"/>
          <a:lstStyle/>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Three nodes: 4,096 ÷ 16 = 256 /24 segments.</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Four nodes: 6,144 ÷ 16 = 384 /24 segments.</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Adding a fourth host provides additional edge interfaces and increases segment-programming capacity.</a:t>
            </a:r>
            <a:endParaRPr lang="en-US" sz="1150" dirty="0"/>
          </a:p>
        </p:txBody>
      </p:sp>
      <p:sp>
        <p:nvSpPr>
          <p:cNvPr id="8" name="Shape 5"/>
          <p:cNvSpPr/>
          <p:nvPr/>
        </p:nvSpPr>
        <p:spPr>
          <a:xfrm>
            <a:off x="6949440" y="3108960"/>
            <a:ext cx="4690872" cy="1463040"/>
          </a:xfrm>
          <a:prstGeom prst="roundRect">
            <a:avLst>
              <a:gd name="adj" fmla="val 5625"/>
            </a:avLst>
          </a:prstGeom>
          <a:solidFill>
            <a:srgbClr val="EBEDED"/>
          </a:solidFill>
          <a:ln/>
        </p:spPr>
      </p:sp>
      <p:sp>
        <p:nvSpPr>
          <p:cNvPr id="9" name="Shape 6"/>
          <p:cNvSpPr/>
          <p:nvPr/>
        </p:nvSpPr>
        <p:spPr>
          <a:xfrm>
            <a:off x="7187184" y="3273552"/>
            <a:ext cx="310896" cy="310896"/>
          </a:xfrm>
          <a:prstGeom prst="ellipse">
            <a:avLst/>
          </a:prstGeom>
          <a:solidFill>
            <a:srgbClr val="F15D23"/>
          </a:solidFill>
          <a:ln/>
        </p:spPr>
      </p:sp>
      <p:sp>
        <p:nvSpPr>
          <p:cNvPr id="10" name="Text 7"/>
          <p:cNvSpPr/>
          <p:nvPr/>
        </p:nvSpPr>
        <p:spPr>
          <a:xfrm>
            <a:off x="7187184" y="3273552"/>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1" name="Text 8"/>
          <p:cNvSpPr/>
          <p:nvPr/>
        </p:nvSpPr>
        <p:spPr>
          <a:xfrm>
            <a:off x="7607808" y="3291840"/>
            <a:ext cx="3776472"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The limit that does not move</a:t>
            </a:r>
            <a:endParaRPr lang="en-US" sz="1400" dirty="0"/>
          </a:p>
        </p:txBody>
      </p:sp>
      <p:sp>
        <p:nvSpPr>
          <p:cNvPr id="12" name="Text 9"/>
          <p:cNvSpPr/>
          <p:nvPr/>
        </p:nvSpPr>
        <p:spPr>
          <a:xfrm>
            <a:off x="7187184" y="3703320"/>
            <a:ext cx="4215384" cy="777240"/>
          </a:xfrm>
          <a:prstGeom prst="rect">
            <a:avLst/>
          </a:prstGeom>
          <a:noFill/>
          <a:ln/>
        </p:spPr>
        <p:txBody>
          <a:bodyPr wrap="square" lIns="0" tIns="0" rIns="0" bIns="0" rtlCol="0" anchor="t"/>
          <a:lstStyle/>
          <a:p>
            <a:pPr indent="0" marL="0">
              <a:lnSpc>
                <a:spcPts val="1600"/>
              </a:lnSpc>
              <a:buNone/>
            </a:pPr>
            <a:r>
              <a:rPr lang="en-US" sz="1200" dirty="0">
                <a:solidFill>
                  <a:srgbClr val="3E3E4B"/>
                </a:solidFill>
                <a:latin typeface="Calibri" pitchFamily="34" charset="0"/>
                <a:ea typeface="Calibri" pitchFamily="34" charset="-122"/>
                <a:cs typeface="Calibri" pitchFamily="34" charset="-120"/>
              </a:rPr>
              <a:t>Increasing cluster size does not raise the overarching 1,000-prefix Azure VNet limit. Scaling the cluster buys T0 programming capacity only.</a:t>
            </a:r>
            <a:endParaRPr lang="en-US" sz="1200" dirty="0"/>
          </a:p>
        </p:txBody>
      </p:sp>
      <p:sp>
        <p:nvSpPr>
          <p:cNvPr id="13" name="Shape 10"/>
          <p:cNvSpPr/>
          <p:nvPr/>
        </p:nvSpPr>
        <p:spPr>
          <a:xfrm>
            <a:off x="548640" y="4754880"/>
            <a:ext cx="11091672" cy="914400"/>
          </a:xfrm>
          <a:prstGeom prst="roundRect">
            <a:avLst>
              <a:gd name="adj" fmla="val 9000"/>
            </a:avLst>
          </a:prstGeom>
          <a:solidFill>
            <a:srgbClr val="EBEDED"/>
          </a:solidFill>
          <a:ln/>
        </p:spPr>
      </p:sp>
      <p:sp>
        <p:nvSpPr>
          <p:cNvPr id="14" name="Text 11"/>
          <p:cNvSpPr/>
          <p:nvPr/>
        </p:nvSpPr>
        <p:spPr>
          <a:xfrm>
            <a:off x="804672" y="4846320"/>
            <a:ext cx="8229600" cy="274320"/>
          </a:xfrm>
          <a:prstGeom prst="rect">
            <a:avLst/>
          </a:prstGeom>
          <a:noFill/>
          <a:ln/>
        </p:spPr>
        <p:txBody>
          <a:bodyPr wrap="square" lIns="0" tIns="0" rIns="0" bIns="0" rtlCol="0" anchor="ctr"/>
          <a:lstStyle/>
          <a:p>
            <a:pPr indent="0" marL="0">
              <a:buNone/>
            </a:pPr>
            <a:r>
              <a:rPr lang="en-US" sz="1350" b="1" dirty="0">
                <a:solidFill>
                  <a:srgbClr val="3E3E4B"/>
                </a:solidFill>
                <a:latin typeface="Arial" pitchFamily="34" charset="0"/>
                <a:ea typeface="Arial" pitchFamily="34" charset="-122"/>
                <a:cs typeface="Arial" pitchFamily="34" charset="-120"/>
              </a:rPr>
              <a:t>Failure behavior to design against</a:t>
            </a:r>
            <a:endParaRPr lang="en-US" sz="1350" dirty="0"/>
          </a:p>
        </p:txBody>
      </p:sp>
      <p:sp>
        <p:nvSpPr>
          <p:cNvPr id="15" name="Text 12"/>
          <p:cNvSpPr/>
          <p:nvPr/>
        </p:nvSpPr>
        <p:spPr>
          <a:xfrm>
            <a:off x="804672" y="5166360"/>
            <a:ext cx="10579608" cy="457200"/>
          </a:xfrm>
          <a:prstGeom prst="rect">
            <a:avLst/>
          </a:prstGeom>
          <a:noFill/>
          <a:ln/>
        </p:spPr>
        <p:txBody>
          <a:bodyPr wrap="square" lIns="0" tIns="0" rIns="0" bIns="0" rtlCol="0" anchor="t"/>
          <a:lstStyle/>
          <a:p>
            <a:pPr indent="0" marL="0">
              <a:lnSpc>
                <a:spcPts val="1600"/>
              </a:lnSpc>
              <a:buNone/>
            </a:pPr>
            <a:r>
              <a:rPr lang="en-US" sz="1200" dirty="0">
                <a:solidFill>
                  <a:srgbClr val="3E3E4B"/>
                </a:solidFill>
                <a:latin typeface="Calibri" pitchFamily="34" charset="0"/>
                <a:ea typeface="Calibri" pitchFamily="34" charset="-122"/>
                <a:cs typeface="Calibri" pitchFamily="34" charset="-120"/>
              </a:rPr>
              <a:t>A large segment can exhaust T0 NIC capacity even when the number of advertised top-level networks appears small. A migration can exhaust the 1,000-prefix VNet limit even when ordinary workload subnet count appears acceptable.</a:t>
            </a:r>
            <a:endParaRPr lang="en-US" sz="1200" dirty="0"/>
          </a:p>
        </p:txBody>
      </p:sp>
      <p:sp>
        <p:nvSpPr>
          <p:cNvPr id="16" name="Shape 13"/>
          <p:cNvSpPr/>
          <p:nvPr/>
        </p:nvSpPr>
        <p:spPr>
          <a:xfrm>
            <a:off x="548640" y="5760720"/>
            <a:ext cx="11091672" cy="502920"/>
          </a:xfrm>
          <a:prstGeom prst="roundRect">
            <a:avLst>
              <a:gd name="adj" fmla="val 16364"/>
            </a:avLst>
          </a:prstGeom>
          <a:solidFill>
            <a:srgbClr val="FAC458"/>
          </a:solidFill>
          <a:ln/>
        </p:spPr>
      </p:sp>
      <p:sp>
        <p:nvSpPr>
          <p:cNvPr id="17" name="Text 14"/>
          <p:cNvSpPr/>
          <p:nvPr/>
        </p:nvSpPr>
        <p:spPr>
          <a:xfrm>
            <a:off x="777240" y="5760720"/>
            <a:ext cx="10634472" cy="502920"/>
          </a:xfrm>
          <a:prstGeom prst="rect">
            <a:avLst/>
          </a:prstGeom>
          <a:noFill/>
          <a:ln/>
        </p:spPr>
        <p:txBody>
          <a:bodyPr wrap="square" lIns="0" tIns="0" rIns="0" bIns="0" rtlCol="0" anchor="ctr"/>
          <a:lstStyle/>
          <a:p>
            <a:pPr indent="0" marL="0">
              <a:buNone/>
            </a:pPr>
            <a:r>
              <a:rPr lang="en-US" sz="1100" b="1" dirty="0">
                <a:solidFill>
                  <a:srgbClr val="3E3E4B"/>
                </a:solidFill>
                <a:latin typeface="Arial" pitchFamily="34" charset="0"/>
                <a:ea typeface="Arial" pitchFamily="34" charset="-122"/>
                <a:cs typeface="Arial" pitchFamily="34" charset="-120"/>
              </a:rPr>
              <a:t>Validate:  </a:t>
            </a:r>
            <a:pPr indent="0" marL="0">
              <a:buNone/>
            </a:pPr>
            <a:r>
              <a:rPr lang="en-US" sz="1150" dirty="0">
                <a:solidFill>
                  <a:srgbClr val="3E3E4B"/>
                </a:solidFill>
                <a:latin typeface="Calibri" pitchFamily="34" charset="0"/>
                <a:ea typeface="Calibri" pitchFamily="34" charset="-122"/>
                <a:cs typeface="Calibri" pitchFamily="34" charset="-120"/>
              </a:rPr>
              <a:t>Confirm whether these capacities are cluster-wide, interface-specific, generation-specific, and still applicable to the current service version.</a:t>
            </a:r>
            <a:endParaRPr lang="en-US" sz="1100" dirty="0"/>
          </a:p>
        </p:txBody>
      </p:sp>
      <p:sp>
        <p:nvSpPr>
          <p:cNvPr id="18" name="Text 15"/>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9.4 Cluster-level route capacity</a:t>
            </a:r>
            <a:endParaRPr lang="en-US" sz="950" dirty="0"/>
          </a:p>
        </p:txBody>
      </p:sp>
      <p:sp>
        <p:nvSpPr>
          <p:cNvPr id="19" name="Text 16"/>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23</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9.6 PROCEDURE</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Building a route budget before deployment</a:t>
            </a:r>
            <a:endParaRPr lang="en-US" sz="2800" dirty="0"/>
          </a:p>
        </p:txBody>
      </p:sp>
      <p:sp>
        <p:nvSpPr>
          <p:cNvPr id="4" name="Shape 2"/>
          <p:cNvSpPr/>
          <p:nvPr/>
        </p:nvSpPr>
        <p:spPr>
          <a:xfrm>
            <a:off x="548640" y="1371600"/>
            <a:ext cx="5408676" cy="640080"/>
          </a:xfrm>
          <a:prstGeom prst="roundRect">
            <a:avLst>
              <a:gd name="adj" fmla="val 12857"/>
            </a:avLst>
          </a:prstGeom>
          <a:solidFill>
            <a:srgbClr val="E5F7FC"/>
          </a:solidFill>
          <a:ln/>
        </p:spPr>
      </p:sp>
      <p:sp>
        <p:nvSpPr>
          <p:cNvPr id="5" name="Shape 3"/>
          <p:cNvSpPr/>
          <p:nvPr/>
        </p:nvSpPr>
        <p:spPr>
          <a:xfrm>
            <a:off x="731520" y="1527048"/>
            <a:ext cx="329184" cy="329184"/>
          </a:xfrm>
          <a:prstGeom prst="ellipse">
            <a:avLst/>
          </a:prstGeom>
          <a:solidFill>
            <a:srgbClr val="00B3E2"/>
          </a:solidFill>
          <a:ln/>
        </p:spPr>
      </p:sp>
      <p:sp>
        <p:nvSpPr>
          <p:cNvPr id="6" name="Text 4"/>
          <p:cNvSpPr/>
          <p:nvPr/>
        </p:nvSpPr>
        <p:spPr>
          <a:xfrm>
            <a:off x="731520" y="1527048"/>
            <a:ext cx="329184" cy="329184"/>
          </a:xfrm>
          <a:prstGeom prst="rect">
            <a:avLst/>
          </a:prstGeom>
          <a:noFill/>
          <a:ln/>
        </p:spPr>
        <p:txBody>
          <a:bodyPr wrap="square" lIns="0" tIns="0" rIns="0" bIns="0" rtlCol="0" anchor="ctr"/>
          <a:lstStyle/>
          <a:p>
            <a:pPr algn="ctr" indent="0" marL="0">
              <a:buNone/>
            </a:pPr>
            <a:r>
              <a:rPr lang="en-US" sz="1300" b="1" dirty="0">
                <a:solidFill>
                  <a:srgbClr val="3E3E4B"/>
                </a:solidFill>
                <a:latin typeface="Arial" pitchFamily="34" charset="0"/>
                <a:ea typeface="Arial" pitchFamily="34" charset="-122"/>
                <a:cs typeface="Arial" pitchFamily="34" charset="-120"/>
              </a:rPr>
              <a:t>1</a:t>
            </a:r>
            <a:endParaRPr lang="en-US" sz="1300" dirty="0"/>
          </a:p>
        </p:txBody>
      </p:sp>
      <p:sp>
        <p:nvSpPr>
          <p:cNvPr id="7" name="Text 5"/>
          <p:cNvSpPr/>
          <p:nvPr/>
        </p:nvSpPr>
        <p:spPr>
          <a:xfrm>
            <a:off x="1170432" y="1408176"/>
            <a:ext cx="4604004" cy="566928"/>
          </a:xfrm>
          <a:prstGeom prst="rect">
            <a:avLst/>
          </a:prstGeom>
          <a:noFill/>
          <a:ln/>
        </p:spPr>
        <p:txBody>
          <a:bodyPr wrap="square" lIns="0" tIns="0" rIns="0" bIns="0" rtlCol="0" anchor="ctr"/>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Inventory all existing NSX segments.</a:t>
            </a:r>
            <a:endParaRPr lang="en-US" sz="1200" dirty="0"/>
          </a:p>
        </p:txBody>
      </p:sp>
      <p:sp>
        <p:nvSpPr>
          <p:cNvPr id="8" name="Shape 6"/>
          <p:cNvSpPr/>
          <p:nvPr/>
        </p:nvSpPr>
        <p:spPr>
          <a:xfrm>
            <a:off x="548640" y="2121408"/>
            <a:ext cx="5408676" cy="640080"/>
          </a:xfrm>
          <a:prstGeom prst="roundRect">
            <a:avLst>
              <a:gd name="adj" fmla="val 12857"/>
            </a:avLst>
          </a:prstGeom>
          <a:solidFill>
            <a:srgbClr val="EBEDED"/>
          </a:solidFill>
          <a:ln/>
        </p:spPr>
      </p:sp>
      <p:sp>
        <p:nvSpPr>
          <p:cNvPr id="9" name="Shape 7"/>
          <p:cNvSpPr/>
          <p:nvPr/>
        </p:nvSpPr>
        <p:spPr>
          <a:xfrm>
            <a:off x="731520" y="2276856"/>
            <a:ext cx="329184" cy="329184"/>
          </a:xfrm>
          <a:prstGeom prst="ellipse">
            <a:avLst/>
          </a:prstGeom>
          <a:solidFill>
            <a:srgbClr val="00B3E2"/>
          </a:solidFill>
          <a:ln/>
        </p:spPr>
      </p:sp>
      <p:sp>
        <p:nvSpPr>
          <p:cNvPr id="10" name="Text 8"/>
          <p:cNvSpPr/>
          <p:nvPr/>
        </p:nvSpPr>
        <p:spPr>
          <a:xfrm>
            <a:off x="731520" y="2276856"/>
            <a:ext cx="329184" cy="329184"/>
          </a:xfrm>
          <a:prstGeom prst="rect">
            <a:avLst/>
          </a:prstGeom>
          <a:noFill/>
          <a:ln/>
        </p:spPr>
        <p:txBody>
          <a:bodyPr wrap="square" lIns="0" tIns="0" rIns="0" bIns="0" rtlCol="0" anchor="ctr"/>
          <a:lstStyle/>
          <a:p>
            <a:pPr algn="ctr" indent="0" marL="0">
              <a:buNone/>
            </a:pPr>
            <a:r>
              <a:rPr lang="en-US" sz="1300" b="1" dirty="0">
                <a:solidFill>
                  <a:srgbClr val="3E3E4B"/>
                </a:solidFill>
                <a:latin typeface="Arial" pitchFamily="34" charset="0"/>
                <a:ea typeface="Arial" pitchFamily="34" charset="-122"/>
                <a:cs typeface="Arial" pitchFamily="34" charset="-120"/>
              </a:rPr>
              <a:t>2</a:t>
            </a:r>
            <a:endParaRPr lang="en-US" sz="1300" dirty="0"/>
          </a:p>
        </p:txBody>
      </p:sp>
      <p:sp>
        <p:nvSpPr>
          <p:cNvPr id="11" name="Text 9"/>
          <p:cNvSpPr/>
          <p:nvPr/>
        </p:nvSpPr>
        <p:spPr>
          <a:xfrm>
            <a:off x="1170432" y="2157984"/>
            <a:ext cx="4604004" cy="566928"/>
          </a:xfrm>
          <a:prstGeom prst="rect">
            <a:avLst/>
          </a:prstGeom>
          <a:noFill/>
          <a:ln/>
        </p:spPr>
        <p:txBody>
          <a:bodyPr wrap="square" lIns="0" tIns="0" rIns="0" bIns="0" rtlCol="0" anchor="ctr"/>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Record the CIDR size of each segment.</a:t>
            </a:r>
            <a:endParaRPr lang="en-US" sz="1200" dirty="0"/>
          </a:p>
        </p:txBody>
      </p:sp>
      <p:sp>
        <p:nvSpPr>
          <p:cNvPr id="12" name="Shape 10"/>
          <p:cNvSpPr/>
          <p:nvPr/>
        </p:nvSpPr>
        <p:spPr>
          <a:xfrm>
            <a:off x="548640" y="2871216"/>
            <a:ext cx="5408676" cy="640080"/>
          </a:xfrm>
          <a:prstGeom prst="roundRect">
            <a:avLst>
              <a:gd name="adj" fmla="val 12857"/>
            </a:avLst>
          </a:prstGeom>
          <a:solidFill>
            <a:srgbClr val="E5F7FC"/>
          </a:solidFill>
          <a:ln/>
        </p:spPr>
      </p:sp>
      <p:sp>
        <p:nvSpPr>
          <p:cNvPr id="13" name="Shape 11"/>
          <p:cNvSpPr/>
          <p:nvPr/>
        </p:nvSpPr>
        <p:spPr>
          <a:xfrm>
            <a:off x="731520" y="3026664"/>
            <a:ext cx="329184" cy="329184"/>
          </a:xfrm>
          <a:prstGeom prst="ellipse">
            <a:avLst/>
          </a:prstGeom>
          <a:solidFill>
            <a:srgbClr val="00B3E2"/>
          </a:solidFill>
          <a:ln/>
        </p:spPr>
      </p:sp>
      <p:sp>
        <p:nvSpPr>
          <p:cNvPr id="14" name="Text 12"/>
          <p:cNvSpPr/>
          <p:nvPr/>
        </p:nvSpPr>
        <p:spPr>
          <a:xfrm>
            <a:off x="731520" y="3026664"/>
            <a:ext cx="329184" cy="329184"/>
          </a:xfrm>
          <a:prstGeom prst="rect">
            <a:avLst/>
          </a:prstGeom>
          <a:noFill/>
          <a:ln/>
        </p:spPr>
        <p:txBody>
          <a:bodyPr wrap="square" lIns="0" tIns="0" rIns="0" bIns="0" rtlCol="0" anchor="ctr"/>
          <a:lstStyle/>
          <a:p>
            <a:pPr algn="ctr" indent="0" marL="0">
              <a:buNone/>
            </a:pPr>
            <a:r>
              <a:rPr lang="en-US" sz="1300" b="1" dirty="0">
                <a:solidFill>
                  <a:srgbClr val="3E3E4B"/>
                </a:solidFill>
                <a:latin typeface="Arial" pitchFamily="34" charset="0"/>
                <a:ea typeface="Arial" pitchFamily="34" charset="-122"/>
                <a:cs typeface="Arial" pitchFamily="34" charset="-120"/>
              </a:rPr>
              <a:t>3</a:t>
            </a:r>
            <a:endParaRPr lang="en-US" sz="1300" dirty="0"/>
          </a:p>
        </p:txBody>
      </p:sp>
      <p:sp>
        <p:nvSpPr>
          <p:cNvPr id="15" name="Text 13"/>
          <p:cNvSpPr/>
          <p:nvPr/>
        </p:nvSpPr>
        <p:spPr>
          <a:xfrm>
            <a:off x="1170432" y="2907792"/>
            <a:ext cx="4604004" cy="566928"/>
          </a:xfrm>
          <a:prstGeom prst="rect">
            <a:avLst/>
          </a:prstGeom>
          <a:noFill/>
          <a:ln/>
        </p:spPr>
        <p:txBody>
          <a:bodyPr wrap="square" lIns="0" tIns="0" rIns="0" bIns="0" rtlCol="0" anchor="ctr"/>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Count one VNet entry for each advertised segment or host route.</a:t>
            </a:r>
            <a:endParaRPr lang="en-US" sz="1200" dirty="0"/>
          </a:p>
        </p:txBody>
      </p:sp>
      <p:sp>
        <p:nvSpPr>
          <p:cNvPr id="16" name="Shape 14"/>
          <p:cNvSpPr/>
          <p:nvPr/>
        </p:nvSpPr>
        <p:spPr>
          <a:xfrm>
            <a:off x="548640" y="3621024"/>
            <a:ext cx="5408676" cy="640080"/>
          </a:xfrm>
          <a:prstGeom prst="roundRect">
            <a:avLst>
              <a:gd name="adj" fmla="val 12857"/>
            </a:avLst>
          </a:prstGeom>
          <a:solidFill>
            <a:srgbClr val="EBEDED"/>
          </a:solidFill>
          <a:ln/>
        </p:spPr>
      </p:sp>
      <p:sp>
        <p:nvSpPr>
          <p:cNvPr id="17" name="Shape 15"/>
          <p:cNvSpPr/>
          <p:nvPr/>
        </p:nvSpPr>
        <p:spPr>
          <a:xfrm>
            <a:off x="731520" y="3776472"/>
            <a:ext cx="329184" cy="329184"/>
          </a:xfrm>
          <a:prstGeom prst="ellipse">
            <a:avLst/>
          </a:prstGeom>
          <a:solidFill>
            <a:srgbClr val="00B3E2"/>
          </a:solidFill>
          <a:ln/>
        </p:spPr>
      </p:sp>
      <p:sp>
        <p:nvSpPr>
          <p:cNvPr id="18" name="Text 16"/>
          <p:cNvSpPr/>
          <p:nvPr/>
        </p:nvSpPr>
        <p:spPr>
          <a:xfrm>
            <a:off x="731520" y="3776472"/>
            <a:ext cx="329184" cy="329184"/>
          </a:xfrm>
          <a:prstGeom prst="rect">
            <a:avLst/>
          </a:prstGeom>
          <a:noFill/>
          <a:ln/>
        </p:spPr>
        <p:txBody>
          <a:bodyPr wrap="square" lIns="0" tIns="0" rIns="0" bIns="0" rtlCol="0" anchor="ctr"/>
          <a:lstStyle/>
          <a:p>
            <a:pPr algn="ctr" indent="0" marL="0">
              <a:buNone/>
            </a:pPr>
            <a:r>
              <a:rPr lang="en-US" sz="1300" b="1" dirty="0">
                <a:solidFill>
                  <a:srgbClr val="3E3E4B"/>
                </a:solidFill>
                <a:latin typeface="Arial" pitchFamily="34" charset="0"/>
                <a:ea typeface="Arial" pitchFamily="34" charset="-122"/>
                <a:cs typeface="Arial" pitchFamily="34" charset="-120"/>
              </a:rPr>
              <a:t>4</a:t>
            </a:r>
            <a:endParaRPr lang="en-US" sz="1300" dirty="0"/>
          </a:p>
        </p:txBody>
      </p:sp>
      <p:sp>
        <p:nvSpPr>
          <p:cNvPr id="19" name="Text 17"/>
          <p:cNvSpPr/>
          <p:nvPr/>
        </p:nvSpPr>
        <p:spPr>
          <a:xfrm>
            <a:off x="1170432" y="3657600"/>
            <a:ext cx="4604004" cy="566928"/>
          </a:xfrm>
          <a:prstGeom prst="rect">
            <a:avLst/>
          </a:prstGeom>
          <a:noFill/>
          <a:ln/>
        </p:spPr>
        <p:txBody>
          <a:bodyPr wrap="square" lIns="0" tIns="0" rIns="0" bIns="0" rtlCol="0" anchor="ctr"/>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Convert every segment of /28 or larger into its number of /28 programming units.</a:t>
            </a:r>
            <a:endParaRPr lang="en-US" sz="1200" dirty="0"/>
          </a:p>
        </p:txBody>
      </p:sp>
      <p:sp>
        <p:nvSpPr>
          <p:cNvPr id="20" name="Shape 18"/>
          <p:cNvSpPr/>
          <p:nvPr/>
        </p:nvSpPr>
        <p:spPr>
          <a:xfrm>
            <a:off x="548640" y="4370832"/>
            <a:ext cx="5408676" cy="640080"/>
          </a:xfrm>
          <a:prstGeom prst="roundRect">
            <a:avLst>
              <a:gd name="adj" fmla="val 12857"/>
            </a:avLst>
          </a:prstGeom>
          <a:solidFill>
            <a:srgbClr val="E5F7FC"/>
          </a:solidFill>
          <a:ln/>
        </p:spPr>
      </p:sp>
      <p:sp>
        <p:nvSpPr>
          <p:cNvPr id="21" name="Shape 19"/>
          <p:cNvSpPr/>
          <p:nvPr/>
        </p:nvSpPr>
        <p:spPr>
          <a:xfrm>
            <a:off x="731520" y="4526280"/>
            <a:ext cx="329184" cy="329184"/>
          </a:xfrm>
          <a:prstGeom prst="ellipse">
            <a:avLst/>
          </a:prstGeom>
          <a:solidFill>
            <a:srgbClr val="00B3E2"/>
          </a:solidFill>
          <a:ln/>
        </p:spPr>
      </p:sp>
      <p:sp>
        <p:nvSpPr>
          <p:cNvPr id="22" name="Text 20"/>
          <p:cNvSpPr/>
          <p:nvPr/>
        </p:nvSpPr>
        <p:spPr>
          <a:xfrm>
            <a:off x="731520" y="4526280"/>
            <a:ext cx="329184" cy="329184"/>
          </a:xfrm>
          <a:prstGeom prst="rect">
            <a:avLst/>
          </a:prstGeom>
          <a:noFill/>
          <a:ln/>
        </p:spPr>
        <p:txBody>
          <a:bodyPr wrap="square" lIns="0" tIns="0" rIns="0" bIns="0" rtlCol="0" anchor="ctr"/>
          <a:lstStyle/>
          <a:p>
            <a:pPr algn="ctr" indent="0" marL="0">
              <a:buNone/>
            </a:pPr>
            <a:r>
              <a:rPr lang="en-US" sz="1300" b="1" dirty="0">
                <a:solidFill>
                  <a:srgbClr val="3E3E4B"/>
                </a:solidFill>
                <a:latin typeface="Arial" pitchFamily="34" charset="0"/>
                <a:ea typeface="Arial" pitchFamily="34" charset="-122"/>
                <a:cs typeface="Arial" pitchFamily="34" charset="-120"/>
              </a:rPr>
              <a:t>5</a:t>
            </a:r>
            <a:endParaRPr lang="en-US" sz="1300" dirty="0"/>
          </a:p>
        </p:txBody>
      </p:sp>
      <p:sp>
        <p:nvSpPr>
          <p:cNvPr id="23" name="Text 21"/>
          <p:cNvSpPr/>
          <p:nvPr/>
        </p:nvSpPr>
        <p:spPr>
          <a:xfrm>
            <a:off x="1170432" y="4407408"/>
            <a:ext cx="4604004" cy="566928"/>
          </a:xfrm>
          <a:prstGeom prst="rect">
            <a:avLst/>
          </a:prstGeom>
          <a:noFill/>
          <a:ln/>
        </p:spPr>
        <p:txBody>
          <a:bodyPr wrap="square" lIns="0" tIns="0" rIns="0" bIns="0" rtlCol="0" anchor="ctr"/>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Inventory HCX MON /32 routes expected during each migration wave.</a:t>
            </a:r>
            <a:endParaRPr lang="en-US" sz="1200" dirty="0"/>
          </a:p>
        </p:txBody>
      </p:sp>
      <p:sp>
        <p:nvSpPr>
          <p:cNvPr id="24" name="Shape 22"/>
          <p:cNvSpPr/>
          <p:nvPr/>
        </p:nvSpPr>
        <p:spPr>
          <a:xfrm>
            <a:off x="548640" y="5120640"/>
            <a:ext cx="5408676" cy="640080"/>
          </a:xfrm>
          <a:prstGeom prst="roundRect">
            <a:avLst>
              <a:gd name="adj" fmla="val 12857"/>
            </a:avLst>
          </a:prstGeom>
          <a:solidFill>
            <a:srgbClr val="EBEDED"/>
          </a:solidFill>
          <a:ln/>
        </p:spPr>
      </p:sp>
      <p:sp>
        <p:nvSpPr>
          <p:cNvPr id="25" name="Shape 23"/>
          <p:cNvSpPr/>
          <p:nvPr/>
        </p:nvSpPr>
        <p:spPr>
          <a:xfrm>
            <a:off x="731520" y="5276088"/>
            <a:ext cx="329184" cy="329184"/>
          </a:xfrm>
          <a:prstGeom prst="ellipse">
            <a:avLst/>
          </a:prstGeom>
          <a:solidFill>
            <a:srgbClr val="00B3E2"/>
          </a:solidFill>
          <a:ln/>
        </p:spPr>
      </p:sp>
      <p:sp>
        <p:nvSpPr>
          <p:cNvPr id="26" name="Text 24"/>
          <p:cNvSpPr/>
          <p:nvPr/>
        </p:nvSpPr>
        <p:spPr>
          <a:xfrm>
            <a:off x="731520" y="5276088"/>
            <a:ext cx="329184" cy="329184"/>
          </a:xfrm>
          <a:prstGeom prst="rect">
            <a:avLst/>
          </a:prstGeom>
          <a:noFill/>
          <a:ln/>
        </p:spPr>
        <p:txBody>
          <a:bodyPr wrap="square" lIns="0" tIns="0" rIns="0" bIns="0" rtlCol="0" anchor="ctr"/>
          <a:lstStyle/>
          <a:p>
            <a:pPr algn="ctr" indent="0" marL="0">
              <a:buNone/>
            </a:pPr>
            <a:r>
              <a:rPr lang="en-US" sz="1300" b="1" dirty="0">
                <a:solidFill>
                  <a:srgbClr val="3E3E4B"/>
                </a:solidFill>
                <a:latin typeface="Arial" pitchFamily="34" charset="0"/>
                <a:ea typeface="Arial" pitchFamily="34" charset="-122"/>
                <a:cs typeface="Arial" pitchFamily="34" charset="-120"/>
              </a:rPr>
              <a:t>6</a:t>
            </a:r>
            <a:endParaRPr lang="en-US" sz="1300" dirty="0"/>
          </a:p>
        </p:txBody>
      </p:sp>
      <p:sp>
        <p:nvSpPr>
          <p:cNvPr id="27" name="Text 25"/>
          <p:cNvSpPr/>
          <p:nvPr/>
        </p:nvSpPr>
        <p:spPr>
          <a:xfrm>
            <a:off x="1170432" y="5157216"/>
            <a:ext cx="4604004" cy="566928"/>
          </a:xfrm>
          <a:prstGeom prst="rect">
            <a:avLst/>
          </a:prstGeom>
          <a:noFill/>
          <a:ln/>
        </p:spPr>
        <p:txBody>
          <a:bodyPr wrap="square" lIns="0" tIns="0" rIns="0" bIns="0" rtlCol="0" anchor="ctr"/>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Include management, gateway, DNS, VPN, DNAT, and other service routes.</a:t>
            </a:r>
            <a:endParaRPr lang="en-US" sz="1200" dirty="0"/>
          </a:p>
        </p:txBody>
      </p:sp>
      <p:sp>
        <p:nvSpPr>
          <p:cNvPr id="28" name="Shape 26"/>
          <p:cNvSpPr/>
          <p:nvPr/>
        </p:nvSpPr>
        <p:spPr>
          <a:xfrm>
            <a:off x="6231636" y="1371600"/>
            <a:ext cx="5408676" cy="640080"/>
          </a:xfrm>
          <a:prstGeom prst="roundRect">
            <a:avLst>
              <a:gd name="adj" fmla="val 12857"/>
            </a:avLst>
          </a:prstGeom>
          <a:solidFill>
            <a:srgbClr val="E5F7FC"/>
          </a:solidFill>
          <a:ln/>
        </p:spPr>
      </p:sp>
      <p:sp>
        <p:nvSpPr>
          <p:cNvPr id="29" name="Shape 27"/>
          <p:cNvSpPr/>
          <p:nvPr/>
        </p:nvSpPr>
        <p:spPr>
          <a:xfrm>
            <a:off x="6414516" y="1527048"/>
            <a:ext cx="329184" cy="329184"/>
          </a:xfrm>
          <a:prstGeom prst="ellipse">
            <a:avLst/>
          </a:prstGeom>
          <a:solidFill>
            <a:srgbClr val="00B3E2"/>
          </a:solidFill>
          <a:ln/>
        </p:spPr>
      </p:sp>
      <p:sp>
        <p:nvSpPr>
          <p:cNvPr id="30" name="Text 28"/>
          <p:cNvSpPr/>
          <p:nvPr/>
        </p:nvSpPr>
        <p:spPr>
          <a:xfrm>
            <a:off x="6414516" y="1527048"/>
            <a:ext cx="329184" cy="329184"/>
          </a:xfrm>
          <a:prstGeom prst="rect">
            <a:avLst/>
          </a:prstGeom>
          <a:noFill/>
          <a:ln/>
        </p:spPr>
        <p:txBody>
          <a:bodyPr wrap="square" lIns="0" tIns="0" rIns="0" bIns="0" rtlCol="0" anchor="ctr"/>
          <a:lstStyle/>
          <a:p>
            <a:pPr algn="ctr" indent="0" marL="0">
              <a:buNone/>
            </a:pPr>
            <a:r>
              <a:rPr lang="en-US" sz="1300" b="1" dirty="0">
                <a:solidFill>
                  <a:srgbClr val="3E3E4B"/>
                </a:solidFill>
                <a:latin typeface="Arial" pitchFamily="34" charset="0"/>
                <a:ea typeface="Arial" pitchFamily="34" charset="-122"/>
                <a:cs typeface="Arial" pitchFamily="34" charset="-120"/>
              </a:rPr>
              <a:t>7</a:t>
            </a:r>
            <a:endParaRPr lang="en-US" sz="1300" dirty="0"/>
          </a:p>
        </p:txBody>
      </p:sp>
      <p:sp>
        <p:nvSpPr>
          <p:cNvPr id="31" name="Text 29"/>
          <p:cNvSpPr/>
          <p:nvPr/>
        </p:nvSpPr>
        <p:spPr>
          <a:xfrm>
            <a:off x="6853428" y="1408176"/>
            <a:ext cx="4604004" cy="566928"/>
          </a:xfrm>
          <a:prstGeom prst="rect">
            <a:avLst/>
          </a:prstGeom>
          <a:noFill/>
          <a:ln/>
        </p:spPr>
        <p:txBody>
          <a:bodyPr wrap="square" lIns="0" tIns="0" rIns="0" bIns="0" rtlCol="0" anchor="ctr"/>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Compare total VNet entries with the 1,000-prefix limit.</a:t>
            </a:r>
            <a:endParaRPr lang="en-US" sz="1200" dirty="0"/>
          </a:p>
        </p:txBody>
      </p:sp>
      <p:sp>
        <p:nvSpPr>
          <p:cNvPr id="32" name="Shape 30"/>
          <p:cNvSpPr/>
          <p:nvPr/>
        </p:nvSpPr>
        <p:spPr>
          <a:xfrm>
            <a:off x="6231636" y="2121408"/>
            <a:ext cx="5408676" cy="640080"/>
          </a:xfrm>
          <a:prstGeom prst="roundRect">
            <a:avLst>
              <a:gd name="adj" fmla="val 12857"/>
            </a:avLst>
          </a:prstGeom>
          <a:solidFill>
            <a:srgbClr val="EBEDED"/>
          </a:solidFill>
          <a:ln/>
        </p:spPr>
      </p:sp>
      <p:sp>
        <p:nvSpPr>
          <p:cNvPr id="33" name="Shape 31"/>
          <p:cNvSpPr/>
          <p:nvPr/>
        </p:nvSpPr>
        <p:spPr>
          <a:xfrm>
            <a:off x="6414516" y="2276856"/>
            <a:ext cx="329184" cy="329184"/>
          </a:xfrm>
          <a:prstGeom prst="ellipse">
            <a:avLst/>
          </a:prstGeom>
          <a:solidFill>
            <a:srgbClr val="00B3E2"/>
          </a:solidFill>
          <a:ln/>
        </p:spPr>
      </p:sp>
      <p:sp>
        <p:nvSpPr>
          <p:cNvPr id="34" name="Text 32"/>
          <p:cNvSpPr/>
          <p:nvPr/>
        </p:nvSpPr>
        <p:spPr>
          <a:xfrm>
            <a:off x="6414516" y="2276856"/>
            <a:ext cx="329184" cy="329184"/>
          </a:xfrm>
          <a:prstGeom prst="rect">
            <a:avLst/>
          </a:prstGeom>
          <a:noFill/>
          <a:ln/>
        </p:spPr>
        <p:txBody>
          <a:bodyPr wrap="square" lIns="0" tIns="0" rIns="0" bIns="0" rtlCol="0" anchor="ctr"/>
          <a:lstStyle/>
          <a:p>
            <a:pPr algn="ctr" indent="0" marL="0">
              <a:buNone/>
            </a:pPr>
            <a:r>
              <a:rPr lang="en-US" sz="1300" b="1" dirty="0">
                <a:solidFill>
                  <a:srgbClr val="3E3E4B"/>
                </a:solidFill>
                <a:latin typeface="Arial" pitchFamily="34" charset="0"/>
                <a:ea typeface="Arial" pitchFamily="34" charset="-122"/>
                <a:cs typeface="Arial" pitchFamily="34" charset="-120"/>
              </a:rPr>
              <a:t>8</a:t>
            </a:r>
            <a:endParaRPr lang="en-US" sz="1300" dirty="0"/>
          </a:p>
        </p:txBody>
      </p:sp>
      <p:sp>
        <p:nvSpPr>
          <p:cNvPr id="35" name="Text 33"/>
          <p:cNvSpPr/>
          <p:nvPr/>
        </p:nvSpPr>
        <p:spPr>
          <a:xfrm>
            <a:off x="6853428" y="2157984"/>
            <a:ext cx="4604004" cy="566928"/>
          </a:xfrm>
          <a:prstGeom prst="rect">
            <a:avLst/>
          </a:prstGeom>
          <a:noFill/>
          <a:ln/>
        </p:spPr>
        <p:txBody>
          <a:bodyPr wrap="square" lIns="0" tIns="0" rIns="0" bIns="0" rtlCol="0" anchor="ctr"/>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Compare /28 units with cluster and T0 NIC capacities.</a:t>
            </a:r>
            <a:endParaRPr lang="en-US" sz="1200" dirty="0"/>
          </a:p>
        </p:txBody>
      </p:sp>
      <p:sp>
        <p:nvSpPr>
          <p:cNvPr id="36" name="Shape 34"/>
          <p:cNvSpPr/>
          <p:nvPr/>
        </p:nvSpPr>
        <p:spPr>
          <a:xfrm>
            <a:off x="6231636" y="2871216"/>
            <a:ext cx="5408676" cy="640080"/>
          </a:xfrm>
          <a:prstGeom prst="roundRect">
            <a:avLst>
              <a:gd name="adj" fmla="val 12857"/>
            </a:avLst>
          </a:prstGeom>
          <a:solidFill>
            <a:srgbClr val="E5F7FC"/>
          </a:solidFill>
          <a:ln/>
        </p:spPr>
      </p:sp>
      <p:sp>
        <p:nvSpPr>
          <p:cNvPr id="37" name="Shape 35"/>
          <p:cNvSpPr/>
          <p:nvPr/>
        </p:nvSpPr>
        <p:spPr>
          <a:xfrm>
            <a:off x="6414516" y="3026664"/>
            <a:ext cx="329184" cy="329184"/>
          </a:xfrm>
          <a:prstGeom prst="ellipse">
            <a:avLst/>
          </a:prstGeom>
          <a:solidFill>
            <a:srgbClr val="00B3E2"/>
          </a:solidFill>
          <a:ln/>
        </p:spPr>
      </p:sp>
      <p:sp>
        <p:nvSpPr>
          <p:cNvPr id="38" name="Text 36"/>
          <p:cNvSpPr/>
          <p:nvPr/>
        </p:nvSpPr>
        <p:spPr>
          <a:xfrm>
            <a:off x="6414516" y="3026664"/>
            <a:ext cx="329184" cy="329184"/>
          </a:xfrm>
          <a:prstGeom prst="rect">
            <a:avLst/>
          </a:prstGeom>
          <a:noFill/>
          <a:ln/>
        </p:spPr>
        <p:txBody>
          <a:bodyPr wrap="square" lIns="0" tIns="0" rIns="0" bIns="0" rtlCol="0" anchor="ctr"/>
          <a:lstStyle/>
          <a:p>
            <a:pPr algn="ctr" indent="0" marL="0">
              <a:buNone/>
            </a:pPr>
            <a:r>
              <a:rPr lang="en-US" sz="1300" b="1" dirty="0">
                <a:solidFill>
                  <a:srgbClr val="3E3E4B"/>
                </a:solidFill>
                <a:latin typeface="Arial" pitchFamily="34" charset="0"/>
                <a:ea typeface="Arial" pitchFamily="34" charset="-122"/>
                <a:cs typeface="Arial" pitchFamily="34" charset="-120"/>
              </a:rPr>
              <a:t>9</a:t>
            </a:r>
            <a:endParaRPr lang="en-US" sz="1300" dirty="0"/>
          </a:p>
        </p:txBody>
      </p:sp>
      <p:sp>
        <p:nvSpPr>
          <p:cNvPr id="39" name="Text 37"/>
          <p:cNvSpPr/>
          <p:nvPr/>
        </p:nvSpPr>
        <p:spPr>
          <a:xfrm>
            <a:off x="6853428" y="2907792"/>
            <a:ext cx="4604004" cy="566928"/>
          </a:xfrm>
          <a:prstGeom prst="rect">
            <a:avLst/>
          </a:prstGeom>
          <a:noFill/>
          <a:ln/>
        </p:spPr>
        <p:txBody>
          <a:bodyPr wrap="square" lIns="0" tIns="0" rIns="0" bIns="0" rtlCol="0" anchor="ctr"/>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Model peak migration state, not only the final summarized state.</a:t>
            </a:r>
            <a:endParaRPr lang="en-US" sz="1200" dirty="0"/>
          </a:p>
        </p:txBody>
      </p:sp>
      <p:sp>
        <p:nvSpPr>
          <p:cNvPr id="40" name="Shape 38"/>
          <p:cNvSpPr/>
          <p:nvPr/>
        </p:nvSpPr>
        <p:spPr>
          <a:xfrm>
            <a:off x="6231636" y="3621024"/>
            <a:ext cx="5408676" cy="640080"/>
          </a:xfrm>
          <a:prstGeom prst="roundRect">
            <a:avLst>
              <a:gd name="adj" fmla="val 12857"/>
            </a:avLst>
          </a:prstGeom>
          <a:solidFill>
            <a:srgbClr val="EBEDED"/>
          </a:solidFill>
          <a:ln/>
        </p:spPr>
      </p:sp>
      <p:sp>
        <p:nvSpPr>
          <p:cNvPr id="41" name="Shape 39"/>
          <p:cNvSpPr/>
          <p:nvPr/>
        </p:nvSpPr>
        <p:spPr>
          <a:xfrm>
            <a:off x="6414516" y="3776472"/>
            <a:ext cx="329184" cy="329184"/>
          </a:xfrm>
          <a:prstGeom prst="ellipse">
            <a:avLst/>
          </a:prstGeom>
          <a:solidFill>
            <a:srgbClr val="00B3E2"/>
          </a:solidFill>
          <a:ln/>
        </p:spPr>
      </p:sp>
      <p:sp>
        <p:nvSpPr>
          <p:cNvPr id="42" name="Text 40"/>
          <p:cNvSpPr/>
          <p:nvPr/>
        </p:nvSpPr>
        <p:spPr>
          <a:xfrm>
            <a:off x="6414516" y="3776472"/>
            <a:ext cx="329184" cy="329184"/>
          </a:xfrm>
          <a:prstGeom prst="rect">
            <a:avLst/>
          </a:prstGeom>
          <a:noFill/>
          <a:ln/>
        </p:spPr>
        <p:txBody>
          <a:bodyPr wrap="square" lIns="0" tIns="0" rIns="0" bIns="0" rtlCol="0" anchor="ctr"/>
          <a:lstStyle/>
          <a:p>
            <a:pPr algn="ctr" indent="0" marL="0">
              <a:buNone/>
            </a:pPr>
            <a:r>
              <a:rPr lang="en-US" sz="1300" b="1" dirty="0">
                <a:solidFill>
                  <a:srgbClr val="3E3E4B"/>
                </a:solidFill>
                <a:latin typeface="Arial" pitchFamily="34" charset="0"/>
                <a:ea typeface="Arial" pitchFamily="34" charset="-122"/>
                <a:cs typeface="Arial" pitchFamily="34" charset="-120"/>
              </a:rPr>
              <a:t>10</a:t>
            </a:r>
            <a:endParaRPr lang="en-US" sz="1300" dirty="0"/>
          </a:p>
        </p:txBody>
      </p:sp>
      <p:sp>
        <p:nvSpPr>
          <p:cNvPr id="43" name="Text 41"/>
          <p:cNvSpPr/>
          <p:nvPr/>
        </p:nvSpPr>
        <p:spPr>
          <a:xfrm>
            <a:off x="6853428" y="3657600"/>
            <a:ext cx="4604004" cy="566928"/>
          </a:xfrm>
          <a:prstGeom prst="rect">
            <a:avLst/>
          </a:prstGeom>
          <a:noFill/>
          <a:ln/>
        </p:spPr>
        <p:txBody>
          <a:bodyPr wrap="square" lIns="0" tIns="0" rIns="0" bIns="0" rtlCol="0" anchor="ctr"/>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Reserve operational headroom for failures, temporary routes, and future growth.</a:t>
            </a:r>
            <a:endParaRPr lang="en-US" sz="1200" dirty="0"/>
          </a:p>
        </p:txBody>
      </p:sp>
      <p:sp>
        <p:nvSpPr>
          <p:cNvPr id="44" name="Shape 42"/>
          <p:cNvSpPr/>
          <p:nvPr/>
        </p:nvSpPr>
        <p:spPr>
          <a:xfrm>
            <a:off x="6231636" y="4370832"/>
            <a:ext cx="5408676" cy="640080"/>
          </a:xfrm>
          <a:prstGeom prst="roundRect">
            <a:avLst>
              <a:gd name="adj" fmla="val 12857"/>
            </a:avLst>
          </a:prstGeom>
          <a:solidFill>
            <a:srgbClr val="E5F7FC"/>
          </a:solidFill>
          <a:ln/>
        </p:spPr>
      </p:sp>
      <p:sp>
        <p:nvSpPr>
          <p:cNvPr id="45" name="Shape 43"/>
          <p:cNvSpPr/>
          <p:nvPr/>
        </p:nvSpPr>
        <p:spPr>
          <a:xfrm>
            <a:off x="6414516" y="4526280"/>
            <a:ext cx="329184" cy="329184"/>
          </a:xfrm>
          <a:prstGeom prst="ellipse">
            <a:avLst/>
          </a:prstGeom>
          <a:solidFill>
            <a:srgbClr val="00B3E2"/>
          </a:solidFill>
          <a:ln/>
        </p:spPr>
      </p:sp>
      <p:sp>
        <p:nvSpPr>
          <p:cNvPr id="46" name="Text 44"/>
          <p:cNvSpPr/>
          <p:nvPr/>
        </p:nvSpPr>
        <p:spPr>
          <a:xfrm>
            <a:off x="6414516" y="4526280"/>
            <a:ext cx="329184" cy="329184"/>
          </a:xfrm>
          <a:prstGeom prst="rect">
            <a:avLst/>
          </a:prstGeom>
          <a:noFill/>
          <a:ln/>
        </p:spPr>
        <p:txBody>
          <a:bodyPr wrap="square" lIns="0" tIns="0" rIns="0" bIns="0" rtlCol="0" anchor="ctr"/>
          <a:lstStyle/>
          <a:p>
            <a:pPr algn="ctr" indent="0" marL="0">
              <a:buNone/>
            </a:pPr>
            <a:r>
              <a:rPr lang="en-US" sz="1300" b="1" dirty="0">
                <a:solidFill>
                  <a:srgbClr val="3E3E4B"/>
                </a:solidFill>
                <a:latin typeface="Arial" pitchFamily="34" charset="0"/>
                <a:ea typeface="Arial" pitchFamily="34" charset="-122"/>
                <a:cs typeface="Arial" pitchFamily="34" charset="-120"/>
              </a:rPr>
              <a:t>11</a:t>
            </a:r>
            <a:endParaRPr lang="en-US" sz="1300" dirty="0"/>
          </a:p>
        </p:txBody>
      </p:sp>
      <p:sp>
        <p:nvSpPr>
          <p:cNvPr id="47" name="Text 45"/>
          <p:cNvSpPr/>
          <p:nvPr/>
        </p:nvSpPr>
        <p:spPr>
          <a:xfrm>
            <a:off x="6853428" y="4407408"/>
            <a:ext cx="4604004" cy="566928"/>
          </a:xfrm>
          <a:prstGeom prst="rect">
            <a:avLst/>
          </a:prstGeom>
          <a:noFill/>
          <a:ln/>
        </p:spPr>
        <p:txBody>
          <a:bodyPr wrap="square" lIns="0" tIns="0" rIns="0" bIns="0" rtlCol="0" anchor="ctr"/>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Reject or redesign any plan that reaches the limit without sufficient reserve.</a:t>
            </a:r>
            <a:endParaRPr lang="en-US" sz="1200" dirty="0"/>
          </a:p>
        </p:txBody>
      </p:sp>
      <p:sp>
        <p:nvSpPr>
          <p:cNvPr id="48" name="Text 46"/>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9.6 Route-budget procedure</a:t>
            </a:r>
            <a:endParaRPr lang="en-US" sz="950" dirty="0"/>
          </a:p>
        </p:txBody>
      </p:sp>
      <p:sp>
        <p:nvSpPr>
          <p:cNvPr id="49" name="Text 47"/>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24</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10. HCX MON</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Mobility Optimized Networking and what it costs</a:t>
            </a:r>
            <a:endParaRPr lang="en-US" sz="2800" dirty="0"/>
          </a:p>
        </p:txBody>
      </p:sp>
      <p:sp>
        <p:nvSpPr>
          <p:cNvPr id="4" name="Shape 2"/>
          <p:cNvSpPr/>
          <p:nvPr/>
        </p:nvSpPr>
        <p:spPr>
          <a:xfrm>
            <a:off x="548640" y="1280160"/>
            <a:ext cx="5943600" cy="4160520"/>
          </a:xfrm>
          <a:prstGeom prst="roundRect">
            <a:avLst>
              <a:gd name="adj" fmla="val 1978"/>
            </a:avLst>
          </a:prstGeom>
          <a:solidFill>
            <a:srgbClr val="FFFFFF"/>
          </a:solidFill>
          <a:ln w="12700">
            <a:solidFill>
              <a:srgbClr val="DDE2E2"/>
            </a:solidFill>
            <a:prstDash val="solid"/>
          </a:ln>
        </p:spPr>
      </p:sp>
      <p:pic>
        <p:nvPicPr>
          <p:cNvPr id="5" name="Image 0" descr="/home/claude/src/images/hcx-mon-optimized-traffic-flow.png">    </p:cNvPr>
          <p:cNvPicPr>
            <a:picLocks noChangeAspect="1"/>
          </p:cNvPicPr>
          <p:nvPr/>
        </p:nvPicPr>
        <p:blipFill>
          <a:blip r:embed="rId1"/>
          <a:srcRect l="0" r="0" t="0" b="0"/>
          <a:stretch/>
        </p:blipFill>
        <p:spPr>
          <a:xfrm>
            <a:off x="658368" y="1389888"/>
            <a:ext cx="5724144" cy="3630168"/>
          </a:xfrm>
          <a:prstGeom prst="rect">
            <a:avLst/>
          </a:prstGeom>
        </p:spPr>
      </p:pic>
      <p:sp>
        <p:nvSpPr>
          <p:cNvPr id="6" name="Text 3"/>
          <p:cNvSpPr/>
          <p:nvPr/>
        </p:nvSpPr>
        <p:spPr>
          <a:xfrm>
            <a:off x="658368" y="5093208"/>
            <a:ext cx="5724144" cy="256032"/>
          </a:xfrm>
          <a:prstGeom prst="rect">
            <a:avLst/>
          </a:prstGeom>
          <a:noFill/>
          <a:ln/>
        </p:spPr>
        <p:txBody>
          <a:bodyPr wrap="square" lIns="0" tIns="0" rIns="0" bIns="0" rtlCol="0" anchor="ctr"/>
          <a:lstStyle/>
          <a:p>
            <a:pPr algn="ctr" indent="0" marL="0">
              <a:buNone/>
            </a:pPr>
            <a:r>
              <a:rPr lang="en-US" sz="900" i="1" dirty="0">
                <a:solidFill>
                  <a:srgbClr val="6B6B78"/>
                </a:solidFill>
                <a:latin typeface="Calibri" pitchFamily="34" charset="0"/>
                <a:ea typeface="Calibri" pitchFamily="34" charset="-122"/>
                <a:cs typeface="Calibri" pitchFamily="34" charset="-120"/>
              </a:rPr>
              <a:t>Source: Microsoft Learn, VMware HCX Mobility Optimized Networking guidance</a:t>
            </a:r>
            <a:endParaRPr lang="en-US" sz="900" dirty="0"/>
          </a:p>
        </p:txBody>
      </p:sp>
      <p:sp>
        <p:nvSpPr>
          <p:cNvPr id="7" name="Shape 4"/>
          <p:cNvSpPr/>
          <p:nvPr/>
        </p:nvSpPr>
        <p:spPr>
          <a:xfrm>
            <a:off x="6720840" y="1280160"/>
            <a:ext cx="4919472" cy="1965960"/>
          </a:xfrm>
          <a:prstGeom prst="roundRect">
            <a:avLst>
              <a:gd name="adj" fmla="val 4186"/>
            </a:avLst>
          </a:prstGeom>
          <a:solidFill>
            <a:srgbClr val="E2F2E8"/>
          </a:solidFill>
          <a:ln/>
        </p:spPr>
      </p:sp>
      <p:sp>
        <p:nvSpPr>
          <p:cNvPr id="8" name="Text 5"/>
          <p:cNvSpPr/>
          <p:nvPr/>
        </p:nvSpPr>
        <p:spPr>
          <a:xfrm>
            <a:off x="6958584" y="1389888"/>
            <a:ext cx="4462272"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What MON provides</a:t>
            </a:r>
            <a:endParaRPr lang="en-US" sz="1400" dirty="0"/>
          </a:p>
        </p:txBody>
      </p:sp>
      <p:sp>
        <p:nvSpPr>
          <p:cNvPr id="9" name="Text 6"/>
          <p:cNvSpPr/>
          <p:nvPr/>
        </p:nvSpPr>
        <p:spPr>
          <a:xfrm>
            <a:off x="6958584" y="1783080"/>
            <a:ext cx="4443984" cy="1371600"/>
          </a:xfrm>
          <a:prstGeom prst="rect">
            <a:avLst/>
          </a:prstGeom>
          <a:noFill/>
          <a:ln/>
        </p:spPr>
        <p:txBody>
          <a:bodyPr wrap="square" lIns="0" tIns="0" rIns="0" bIns="0" rtlCol="0" anchor="t"/>
          <a:lstStyle/>
          <a:p>
            <a:pPr marL="177800" indent="-177800">
              <a:lnSpc>
                <a:spcPts val="1700"/>
              </a:lnSpc>
              <a:spcAft>
                <a:spcPts val="500"/>
              </a:spcAft>
              <a:buSzPct val="100000"/>
              <a:buChar char="•"/>
            </a:pPr>
            <a:r>
              <a:rPr lang="en-US" sz="1150" dirty="0">
                <a:solidFill>
                  <a:srgbClr val="3E3E4B"/>
                </a:solidFill>
                <a:latin typeface="Calibri" pitchFamily="34" charset="0"/>
                <a:ea typeface="Calibri" pitchFamily="34" charset="-122"/>
                <a:cs typeface="Calibri" pitchFamily="34" charset="-120"/>
              </a:rPr>
              <a:t>A migrated VM retains its original IP address.</a:t>
            </a:r>
            <a:endParaRPr lang="en-US" sz="1150" dirty="0"/>
          </a:p>
          <a:p>
            <a:pPr marL="177800" indent="-177800">
              <a:lnSpc>
                <a:spcPts val="1700"/>
              </a:lnSpc>
              <a:spcAft>
                <a:spcPts val="500"/>
              </a:spcAft>
              <a:buSzPct val="100000"/>
              <a:buChar char="•"/>
            </a:pPr>
            <a:r>
              <a:rPr lang="en-US" sz="1150" dirty="0">
                <a:solidFill>
                  <a:srgbClr val="3E3E4B"/>
                </a:solidFill>
                <a:latin typeface="Calibri" pitchFamily="34" charset="0"/>
                <a:ea typeface="Calibri" pitchFamily="34" charset="-122"/>
                <a:cs typeface="Calibri" pitchFamily="34" charset="-120"/>
              </a:rPr>
              <a:t>Applications, DNS records, firewall rules, and dependencies need not change immediately.</a:t>
            </a:r>
            <a:endParaRPr lang="en-US" sz="1150" dirty="0"/>
          </a:p>
          <a:p>
            <a:pPr marL="177800" indent="-177800">
              <a:lnSpc>
                <a:spcPts val="1700"/>
              </a:lnSpc>
              <a:spcAft>
                <a:spcPts val="500"/>
              </a:spcAft>
              <a:buSzPct val="100000"/>
              <a:buChar char="•"/>
            </a:pPr>
            <a:r>
              <a:rPr lang="en-US" sz="1150" dirty="0">
                <a:solidFill>
                  <a:srgbClr val="3E3E4B"/>
                </a:solidFill>
                <a:latin typeface="Calibri" pitchFamily="34" charset="0"/>
                <a:ea typeface="Calibri" pitchFamily="34" charset="-122"/>
                <a:cs typeface="Calibri" pitchFamily="34" charset="-120"/>
              </a:rPr>
              <a:t>MON creates a local cloud gateway, avoiding high-latency trombone routing back through the on-premises router.</a:t>
            </a:r>
            <a:endParaRPr lang="en-US" sz="1150" dirty="0"/>
          </a:p>
        </p:txBody>
      </p:sp>
      <p:sp>
        <p:nvSpPr>
          <p:cNvPr id="10" name="Shape 7"/>
          <p:cNvSpPr/>
          <p:nvPr/>
        </p:nvSpPr>
        <p:spPr>
          <a:xfrm>
            <a:off x="6720840" y="3383280"/>
            <a:ext cx="4919472" cy="2057400"/>
          </a:xfrm>
          <a:prstGeom prst="roundRect">
            <a:avLst>
              <a:gd name="adj" fmla="val 4000"/>
            </a:avLst>
          </a:prstGeom>
          <a:solidFill>
            <a:srgbClr val="EBEDED"/>
          </a:solidFill>
          <a:ln/>
        </p:spPr>
      </p:sp>
      <p:sp>
        <p:nvSpPr>
          <p:cNvPr id="11" name="Shape 8"/>
          <p:cNvSpPr/>
          <p:nvPr/>
        </p:nvSpPr>
        <p:spPr>
          <a:xfrm>
            <a:off x="6958584" y="3547872"/>
            <a:ext cx="310896" cy="310896"/>
          </a:xfrm>
          <a:prstGeom prst="ellipse">
            <a:avLst/>
          </a:prstGeom>
          <a:solidFill>
            <a:srgbClr val="F15D23"/>
          </a:solidFill>
          <a:ln/>
        </p:spPr>
      </p:sp>
      <p:sp>
        <p:nvSpPr>
          <p:cNvPr id="12" name="Text 9"/>
          <p:cNvSpPr/>
          <p:nvPr/>
        </p:nvSpPr>
        <p:spPr>
          <a:xfrm>
            <a:off x="6958584" y="3547872"/>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3" name="Text 10"/>
          <p:cNvSpPr/>
          <p:nvPr/>
        </p:nvSpPr>
        <p:spPr>
          <a:xfrm>
            <a:off x="7379208" y="3566160"/>
            <a:ext cx="4005072"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What MON consumes</a:t>
            </a:r>
            <a:endParaRPr lang="en-US" sz="1400" dirty="0"/>
          </a:p>
        </p:txBody>
      </p:sp>
      <p:sp>
        <p:nvSpPr>
          <p:cNvPr id="14" name="Text 11"/>
          <p:cNvSpPr/>
          <p:nvPr/>
        </p:nvSpPr>
        <p:spPr>
          <a:xfrm>
            <a:off x="6958584" y="3977640"/>
            <a:ext cx="4443984" cy="1371600"/>
          </a:xfrm>
          <a:prstGeom prst="rect">
            <a:avLst/>
          </a:prstGeom>
          <a:noFill/>
          <a:ln/>
        </p:spPr>
        <p:txBody>
          <a:bodyPr wrap="square" lIns="0" tIns="0" rIns="0" bIns="0" rtlCol="0" anchor="t"/>
          <a:lstStyle/>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HCX MON uses /32 host routes for migrated VMs.</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Microsoft counts those routes against the Gen 2 virtual-network prefix limit.</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A /32 identifies one specific IP address.</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Azure needs one VNet route entry for every VM remaining in the MON transition state.</a:t>
            </a:r>
            <a:endParaRPr lang="en-US" sz="1150" dirty="0"/>
          </a:p>
        </p:txBody>
      </p:sp>
      <p:sp>
        <p:nvSpPr>
          <p:cNvPr id="15" name="Shape 12"/>
          <p:cNvSpPr/>
          <p:nvPr/>
        </p:nvSpPr>
        <p:spPr>
          <a:xfrm>
            <a:off x="548640" y="5623560"/>
            <a:ext cx="11091672" cy="548640"/>
          </a:xfrm>
          <a:prstGeom prst="roundRect">
            <a:avLst>
              <a:gd name="adj" fmla="val 15000"/>
            </a:avLst>
          </a:prstGeom>
          <a:solidFill>
            <a:srgbClr val="EBEDED"/>
          </a:solidFill>
          <a:ln/>
        </p:spPr>
      </p:sp>
      <p:sp>
        <p:nvSpPr>
          <p:cNvPr id="16" name="Text 13"/>
          <p:cNvSpPr/>
          <p:nvPr/>
        </p:nvSpPr>
        <p:spPr>
          <a:xfrm>
            <a:off x="731520" y="5623560"/>
            <a:ext cx="10725912" cy="548640"/>
          </a:xfrm>
          <a:prstGeom prst="rect">
            <a:avLst/>
          </a:prstGeom>
          <a:noFill/>
          <a:ln/>
        </p:spPr>
        <p:txBody>
          <a:bodyPr wrap="square" lIns="0" tIns="0" rIns="0" bIns="0" rtlCol="0" anchor="ctr"/>
          <a:lstStyle/>
          <a:p>
            <a:pPr indent="0" marL="0">
              <a:buNone/>
            </a:pPr>
            <a:r>
              <a:rPr lang="en-US" sz="1100" b="1" dirty="0">
                <a:solidFill>
                  <a:srgbClr val="00B3E2"/>
                </a:solidFill>
                <a:latin typeface="Arial" pitchFamily="34" charset="0"/>
                <a:ea typeface="Arial" pitchFamily="34" charset="-122"/>
                <a:cs typeface="Arial" pitchFamily="34" charset="-120"/>
              </a:rPr>
              <a:t>Takeaway   </a:t>
            </a:r>
            <a:pPr indent="0" marL="0">
              <a:buNone/>
            </a:pPr>
            <a:r>
              <a:rPr lang="en-US" sz="1200" dirty="0">
                <a:solidFill>
                  <a:srgbClr val="3E3E4B"/>
                </a:solidFill>
                <a:latin typeface="Calibri" pitchFamily="34" charset="0"/>
                <a:ea typeface="Calibri" pitchFamily="34" charset="-122"/>
                <a:cs typeface="Calibri" pitchFamily="34" charset="-120"/>
              </a:rPr>
              <a:t>MON preserves IP addresses but converts every transitional VM into a route-scale consumer. Migration sequencing becomes a network-capacity problem.</a:t>
            </a:r>
            <a:endParaRPr lang="en-US" sz="1100" dirty="0"/>
          </a:p>
        </p:txBody>
      </p:sp>
      <p:sp>
        <p:nvSpPr>
          <p:cNvPr id="17" name="Text 14"/>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10. HCX Mobility Optimized Networking</a:t>
            </a:r>
            <a:endParaRPr lang="en-US" sz="950" dirty="0"/>
          </a:p>
        </p:txBody>
      </p:sp>
      <p:sp>
        <p:nvSpPr>
          <p:cNvPr id="18" name="Text 15"/>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25</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10.3 WORKED EXAMPLE</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One migration wave against the 1,000-prefix limit</a:t>
            </a:r>
            <a:endParaRPr lang="en-US" sz="2800" dirty="0"/>
          </a:p>
        </p:txBody>
      </p:sp>
      <p:graphicFrame>
        <p:nvGraphicFramePr>
          <p:cNvPr id="4" name="Chart 0" descr=""/>
          <p:cNvGraphicFramePr/>
          <p:nvPr/>
        </p:nvGraphicFramePr>
        <p:xfrm>
          <a:off x="457200" y="1325880"/>
          <a:ext cx="4572000" cy="37947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212080" y="1325880"/>
            <a:ext cx="6428232" cy="1874520"/>
          </a:xfrm>
          <a:prstGeom prst="roundRect">
            <a:avLst>
              <a:gd name="adj" fmla="val 4390"/>
            </a:avLst>
          </a:prstGeom>
          <a:solidFill>
            <a:srgbClr val="E5F7FC"/>
          </a:solidFill>
          <a:ln/>
        </p:spPr>
      </p:sp>
      <p:sp>
        <p:nvSpPr>
          <p:cNvPr id="6" name="Text 3"/>
          <p:cNvSpPr/>
          <p:nvPr/>
        </p:nvSpPr>
        <p:spPr>
          <a:xfrm>
            <a:off x="5468112" y="1435608"/>
            <a:ext cx="5916168"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Inputs and calculation</a:t>
            </a:r>
            <a:endParaRPr lang="en-US" sz="1400" dirty="0"/>
          </a:p>
        </p:txBody>
      </p:sp>
      <p:sp>
        <p:nvSpPr>
          <p:cNvPr id="7" name="Text 4"/>
          <p:cNvSpPr/>
          <p:nvPr/>
        </p:nvSpPr>
        <p:spPr>
          <a:xfrm>
            <a:off x="5468112" y="1810512"/>
            <a:ext cx="5916168" cy="777240"/>
          </a:xfrm>
          <a:prstGeom prst="rect">
            <a:avLst/>
          </a:prstGeom>
          <a:noFill/>
          <a:ln/>
        </p:spPr>
        <p:txBody>
          <a:bodyPr wrap="square" lIns="0" tIns="0" rIns="0" bIns="0" rtlCol="0" anchor="t"/>
          <a:lstStyle/>
          <a:p>
            <a:pPr marL="177800" indent="-177800">
              <a:lnSpc>
                <a:spcPts val="1700"/>
              </a:lnSpc>
              <a:spcAft>
                <a:spcPts val="300"/>
              </a:spcAft>
              <a:buSzPct val="100000"/>
              <a:buChar char="•"/>
            </a:pPr>
            <a:r>
              <a:rPr lang="en-US" sz="1200" dirty="0">
                <a:solidFill>
                  <a:srgbClr val="3E3E4B"/>
                </a:solidFill>
                <a:latin typeface="Calibri" pitchFamily="34" charset="0"/>
                <a:ea typeface="Calibri" pitchFamily="34" charset="-122"/>
                <a:cs typeface="Calibri" pitchFamily="34" charset="-120"/>
              </a:rPr>
              <a:t>800 migrated virtual machines.</a:t>
            </a:r>
            <a:endParaRPr lang="en-US" sz="1200" dirty="0"/>
          </a:p>
          <a:p>
            <a:pPr marL="177800" indent="-177800">
              <a:lnSpc>
                <a:spcPts val="1700"/>
              </a:lnSpc>
              <a:spcAft>
                <a:spcPts val="300"/>
              </a:spcAft>
              <a:buSzPct val="100000"/>
              <a:buChar char="•"/>
            </a:pPr>
            <a:r>
              <a:rPr lang="en-US" sz="1200" dirty="0">
                <a:solidFill>
                  <a:srgbClr val="3E3E4B"/>
                </a:solidFill>
                <a:latin typeface="Calibri" pitchFamily="34" charset="0"/>
                <a:ea typeface="Calibri" pitchFamily="34" charset="-122"/>
                <a:cs typeface="Calibri" pitchFamily="34" charset="-120"/>
              </a:rPr>
              <a:t>One /32 route per migrated VM.</a:t>
            </a:r>
            <a:endParaRPr lang="en-US" sz="1200" dirty="0"/>
          </a:p>
          <a:p>
            <a:pPr marL="177800" indent="-177800">
              <a:lnSpc>
                <a:spcPts val="1700"/>
              </a:lnSpc>
              <a:spcAft>
                <a:spcPts val="300"/>
              </a:spcAft>
              <a:buSzPct val="100000"/>
              <a:buChar char="•"/>
            </a:pPr>
            <a:r>
              <a:rPr lang="en-US" sz="1200" dirty="0">
                <a:solidFill>
                  <a:srgbClr val="3E3E4B"/>
                </a:solidFill>
                <a:latin typeface="Calibri" pitchFamily="34" charset="0"/>
                <a:ea typeface="Calibri" pitchFamily="34" charset="-122"/>
                <a:cs typeface="Calibri" pitchFamily="34" charset="-120"/>
              </a:rPr>
              <a:t>1,000 total VNet prefix limit.</a:t>
            </a:r>
            <a:endParaRPr lang="en-US" sz="1200" dirty="0"/>
          </a:p>
        </p:txBody>
      </p:sp>
      <p:sp>
        <p:nvSpPr>
          <p:cNvPr id="8" name="Shape 5"/>
          <p:cNvSpPr/>
          <p:nvPr/>
        </p:nvSpPr>
        <p:spPr>
          <a:xfrm>
            <a:off x="5468112" y="2633472"/>
            <a:ext cx="5916168" cy="402336"/>
          </a:xfrm>
          <a:prstGeom prst="roundRect">
            <a:avLst>
              <a:gd name="adj" fmla="val 20455"/>
            </a:avLst>
          </a:prstGeom>
          <a:solidFill>
            <a:srgbClr val="FFFFFF"/>
          </a:solidFill>
          <a:ln/>
        </p:spPr>
      </p:sp>
      <p:sp>
        <p:nvSpPr>
          <p:cNvPr id="9" name="Text 6"/>
          <p:cNvSpPr/>
          <p:nvPr/>
        </p:nvSpPr>
        <p:spPr>
          <a:xfrm>
            <a:off x="5468112" y="2633472"/>
            <a:ext cx="5916168" cy="402336"/>
          </a:xfrm>
          <a:prstGeom prst="rect">
            <a:avLst/>
          </a:prstGeom>
          <a:noFill/>
          <a:ln/>
        </p:spPr>
        <p:txBody>
          <a:bodyPr wrap="square" lIns="0" tIns="0" rIns="0" bIns="0" rtlCol="0" anchor="ctr"/>
          <a:lstStyle/>
          <a:p>
            <a:pPr algn="ctr" indent="0" marL="0">
              <a:buNone/>
            </a:pPr>
            <a:r>
              <a:rPr lang="en-US" sz="1300" b="1" dirty="0">
                <a:solidFill>
                  <a:srgbClr val="3E3E4B"/>
                </a:solidFill>
                <a:latin typeface="Courier New" pitchFamily="34" charset="0"/>
                <a:ea typeface="Courier New" pitchFamily="34" charset="-122"/>
                <a:cs typeface="Courier New" pitchFamily="34" charset="-120"/>
              </a:rPr>
              <a:t>800 VMs × 1 route per VM = 800 routes</a:t>
            </a:r>
            <a:endParaRPr lang="en-US" sz="1300" dirty="0"/>
          </a:p>
        </p:txBody>
      </p:sp>
      <p:sp>
        <p:nvSpPr>
          <p:cNvPr id="10" name="Shape 7"/>
          <p:cNvSpPr/>
          <p:nvPr/>
        </p:nvSpPr>
        <p:spPr>
          <a:xfrm>
            <a:off x="5212080" y="3246120"/>
            <a:ext cx="6428232" cy="1051560"/>
          </a:xfrm>
          <a:prstGeom prst="roundRect">
            <a:avLst>
              <a:gd name="adj" fmla="val 7826"/>
            </a:avLst>
          </a:prstGeom>
          <a:solidFill>
            <a:srgbClr val="F15D23"/>
          </a:solidFill>
          <a:ln/>
        </p:spPr>
      </p:sp>
      <p:sp>
        <p:nvSpPr>
          <p:cNvPr id="11" name="Text 8"/>
          <p:cNvSpPr/>
          <p:nvPr/>
        </p:nvSpPr>
        <p:spPr>
          <a:xfrm>
            <a:off x="5468112" y="3246120"/>
            <a:ext cx="5916168" cy="1051560"/>
          </a:xfrm>
          <a:prstGeom prst="rect">
            <a:avLst/>
          </a:prstGeom>
          <a:noFill/>
          <a:ln/>
        </p:spPr>
        <p:txBody>
          <a:bodyPr wrap="square" lIns="0" tIns="0" rIns="0" bIns="0" rtlCol="0" anchor="ctr"/>
          <a:lstStyle/>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A single migration wave consumes 80% of the entire route budget, leaving 200 entries for infrastructure, workload segments, gateways, native Azure dependencies, and later waves.</a:t>
            </a:r>
            <a:endParaRPr lang="en-US" sz="1300" dirty="0"/>
          </a:p>
        </p:txBody>
      </p:sp>
      <p:sp>
        <p:nvSpPr>
          <p:cNvPr id="12" name="Shape 9"/>
          <p:cNvSpPr/>
          <p:nvPr/>
        </p:nvSpPr>
        <p:spPr>
          <a:xfrm>
            <a:off x="5212080" y="4434840"/>
            <a:ext cx="6428232" cy="1188720"/>
          </a:xfrm>
          <a:prstGeom prst="roundRect">
            <a:avLst>
              <a:gd name="adj" fmla="val 6923"/>
            </a:avLst>
          </a:prstGeom>
          <a:solidFill>
            <a:srgbClr val="EBEDED"/>
          </a:solidFill>
          <a:ln/>
        </p:spPr>
      </p:sp>
      <p:sp>
        <p:nvSpPr>
          <p:cNvPr id="13" name="Text 10"/>
          <p:cNvSpPr/>
          <p:nvPr/>
        </p:nvSpPr>
        <p:spPr>
          <a:xfrm>
            <a:off x="5468112" y="4526280"/>
            <a:ext cx="5916168"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Factors that could change the result</a:t>
            </a:r>
            <a:endParaRPr lang="en-US" sz="1300" dirty="0"/>
          </a:p>
        </p:txBody>
      </p:sp>
      <p:sp>
        <p:nvSpPr>
          <p:cNvPr id="14" name="Text 11"/>
          <p:cNvSpPr/>
          <p:nvPr/>
        </p:nvSpPr>
        <p:spPr>
          <a:xfrm>
            <a:off x="5468112" y="4864608"/>
            <a:ext cx="5916168" cy="777240"/>
          </a:xfrm>
          <a:prstGeom prst="rect">
            <a:avLst/>
          </a:prstGeom>
          <a:noFill/>
          <a:ln/>
        </p:spPr>
        <p:txBody>
          <a:bodyPr wrap="square" lIns="0" tIns="0" rIns="0" bIns="0" rtlCol="0" anchor="t"/>
          <a:lstStyle/>
          <a:p>
            <a:pPr marL="177800" indent="-177800">
              <a:lnSpc>
                <a:spcPts val="1300"/>
              </a:lnSpc>
              <a:spcAft>
                <a:spcPts val="100"/>
              </a:spcAft>
              <a:buSzPct val="100000"/>
              <a:buChar char="•"/>
            </a:pPr>
            <a:r>
              <a:rPr lang="en-US" sz="1050" dirty="0">
                <a:solidFill>
                  <a:srgbClr val="3E3E4B"/>
                </a:solidFill>
                <a:latin typeface="Calibri" pitchFamily="34" charset="0"/>
                <a:ea typeface="Calibri" pitchFamily="34" charset="-122"/>
                <a:cs typeface="Calibri" pitchFamily="34" charset="-120"/>
              </a:rPr>
              <a:t>Existing routes may already consume part of the limit.</a:t>
            </a:r>
            <a:endParaRPr lang="en-US" sz="1050" dirty="0"/>
          </a:p>
          <a:p>
            <a:pPr marL="177800" indent="-177800">
              <a:lnSpc>
                <a:spcPts val="1300"/>
              </a:lnSpc>
              <a:spcAft>
                <a:spcPts val="100"/>
              </a:spcAft>
              <a:buSzPct val="100000"/>
              <a:buChar char="•"/>
            </a:pPr>
            <a:r>
              <a:rPr lang="en-US" sz="1050" dirty="0">
                <a:solidFill>
                  <a:srgbClr val="3E3E4B"/>
                </a:solidFill>
                <a:latin typeface="Calibri" pitchFamily="34" charset="0"/>
                <a:ea typeface="Calibri" pitchFamily="34" charset="-122"/>
                <a:cs typeface="Calibri" pitchFamily="34" charset="-120"/>
              </a:rPr>
              <a:t>Address space and service routes reduce usable capacity.</a:t>
            </a:r>
            <a:endParaRPr lang="en-US" sz="1050" dirty="0"/>
          </a:p>
          <a:p>
            <a:pPr marL="177800" indent="-177800">
              <a:lnSpc>
                <a:spcPts val="1300"/>
              </a:lnSpc>
              <a:spcAft>
                <a:spcPts val="100"/>
              </a:spcAft>
              <a:buSzPct val="100000"/>
              <a:buChar char="•"/>
            </a:pPr>
            <a:r>
              <a:rPr lang="en-US" sz="1050" dirty="0">
                <a:solidFill>
                  <a:srgbClr val="3E3E4B"/>
                </a:solidFill>
                <a:latin typeface="Calibri" pitchFamily="34" charset="0"/>
                <a:ea typeface="Calibri" pitchFamily="34" charset="-122"/>
                <a:cs typeface="Calibri" pitchFamily="34" charset="-120"/>
              </a:rPr>
              <a:t>Summarization, failover state, and HCX behavior affect the count.</a:t>
            </a:r>
            <a:endParaRPr lang="en-US" sz="1050" dirty="0"/>
          </a:p>
        </p:txBody>
      </p:sp>
      <p:sp>
        <p:nvSpPr>
          <p:cNvPr id="15" name="Shape 12"/>
          <p:cNvSpPr/>
          <p:nvPr/>
        </p:nvSpPr>
        <p:spPr>
          <a:xfrm>
            <a:off x="548640" y="5715000"/>
            <a:ext cx="11091672" cy="548640"/>
          </a:xfrm>
          <a:prstGeom prst="roundRect">
            <a:avLst>
              <a:gd name="adj" fmla="val 15000"/>
            </a:avLst>
          </a:prstGeom>
          <a:solidFill>
            <a:srgbClr val="EBEDED"/>
          </a:solidFill>
          <a:ln/>
        </p:spPr>
      </p:sp>
      <p:sp>
        <p:nvSpPr>
          <p:cNvPr id="16" name="Text 13"/>
          <p:cNvSpPr/>
          <p:nvPr/>
        </p:nvSpPr>
        <p:spPr>
          <a:xfrm>
            <a:off x="731520" y="5715000"/>
            <a:ext cx="10725912" cy="548640"/>
          </a:xfrm>
          <a:prstGeom prst="rect">
            <a:avLst/>
          </a:prstGeom>
          <a:noFill/>
          <a:ln/>
        </p:spPr>
        <p:txBody>
          <a:bodyPr wrap="square" lIns="0" tIns="0" rIns="0" bIns="0" rtlCol="0" anchor="ctr"/>
          <a:lstStyle/>
          <a:p>
            <a:pPr indent="0" marL="0">
              <a:buNone/>
            </a:pPr>
            <a:r>
              <a:rPr lang="en-US" sz="1100" b="1" dirty="0">
                <a:solidFill>
                  <a:srgbClr val="00B3E2"/>
                </a:solidFill>
                <a:latin typeface="Arial" pitchFamily="34" charset="0"/>
                <a:ea typeface="Arial" pitchFamily="34" charset="-122"/>
                <a:cs typeface="Arial" pitchFamily="34" charset="-120"/>
              </a:rPr>
              <a:t>Takeaway   </a:t>
            </a:r>
            <a:pPr indent="0" marL="0">
              <a:buNone/>
            </a:pPr>
            <a:r>
              <a:rPr lang="en-US" sz="1200" dirty="0">
                <a:solidFill>
                  <a:srgbClr val="3E3E4B"/>
                </a:solidFill>
                <a:latin typeface="Calibri" pitchFamily="34" charset="0"/>
                <a:ea typeface="Calibri" pitchFamily="34" charset="-122"/>
                <a:cs typeface="Calibri" pitchFamily="34" charset="-120"/>
              </a:rPr>
              <a:t>The apparent success of an initial migration does not prove the full program is safe. Monitoring VM count without monitoring route count conceals the approach to the limit.</a:t>
            </a:r>
            <a:endParaRPr lang="en-US" sz="1100" dirty="0"/>
          </a:p>
        </p:txBody>
      </p:sp>
      <p:sp>
        <p:nvSpPr>
          <p:cNvPr id="17" name="Text 14"/>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10.3 Eight-hundred-VM migration example</a:t>
            </a:r>
            <a:endParaRPr lang="en-US" sz="950" dirty="0"/>
          </a:p>
        </p:txBody>
      </p:sp>
      <p:sp>
        <p:nvSpPr>
          <p:cNvPr id="18" name="Text 15"/>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26</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10.5 SUMMARIZATION</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Reclaiming route capacity between waves</a:t>
            </a:r>
            <a:endParaRPr lang="en-US" sz="2800" dirty="0"/>
          </a:p>
        </p:txBody>
      </p:sp>
      <p:sp>
        <p:nvSpPr>
          <p:cNvPr id="4" name="Shape 2"/>
          <p:cNvSpPr/>
          <p:nvPr/>
        </p:nvSpPr>
        <p:spPr>
          <a:xfrm>
            <a:off x="548640" y="1399032"/>
            <a:ext cx="310896" cy="310896"/>
          </a:xfrm>
          <a:prstGeom prst="ellipse">
            <a:avLst/>
          </a:prstGeom>
          <a:solidFill>
            <a:srgbClr val="00B3E2"/>
          </a:solidFill>
          <a:ln/>
        </p:spPr>
      </p:sp>
      <p:sp>
        <p:nvSpPr>
          <p:cNvPr id="5" name="Text 3"/>
          <p:cNvSpPr/>
          <p:nvPr/>
        </p:nvSpPr>
        <p:spPr>
          <a:xfrm>
            <a:off x="548640" y="1399032"/>
            <a:ext cx="310896" cy="310896"/>
          </a:xfrm>
          <a:prstGeom prst="rect">
            <a:avLst/>
          </a:prstGeom>
          <a:noFill/>
          <a:ln/>
        </p:spPr>
        <p:txBody>
          <a:bodyPr wrap="square" lIns="0" tIns="0" rIns="0" bIns="0" rtlCol="0" anchor="ctr"/>
          <a:lstStyle/>
          <a:p>
            <a:pPr algn="ctr" indent="0" marL="0">
              <a:buNone/>
            </a:pPr>
            <a:r>
              <a:rPr lang="en-US" sz="1250" b="1" dirty="0">
                <a:solidFill>
                  <a:srgbClr val="3E3E4B"/>
                </a:solidFill>
                <a:latin typeface="Arial" pitchFamily="34" charset="0"/>
                <a:ea typeface="Arial" pitchFamily="34" charset="-122"/>
                <a:cs typeface="Arial" pitchFamily="34" charset="-120"/>
              </a:rPr>
              <a:t>1</a:t>
            </a:r>
            <a:endParaRPr lang="en-US" sz="1250" dirty="0"/>
          </a:p>
        </p:txBody>
      </p:sp>
      <p:sp>
        <p:nvSpPr>
          <p:cNvPr id="6" name="Text 4"/>
          <p:cNvSpPr/>
          <p:nvPr/>
        </p:nvSpPr>
        <p:spPr>
          <a:xfrm>
            <a:off x="969264" y="1325880"/>
            <a:ext cx="4951476" cy="512064"/>
          </a:xfrm>
          <a:prstGeom prst="rect">
            <a:avLst/>
          </a:prstGeom>
          <a:noFill/>
          <a:ln/>
        </p:spPr>
        <p:txBody>
          <a:bodyPr wrap="square" lIns="0" tIns="0" rIns="0" bIns="0" rtlCol="0" anchor="ctr"/>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Identify a source subnet whose workloads can move as one controlled wave.</a:t>
            </a:r>
            <a:endParaRPr lang="en-US" sz="1200" dirty="0"/>
          </a:p>
        </p:txBody>
      </p:sp>
      <p:sp>
        <p:nvSpPr>
          <p:cNvPr id="7" name="Shape 5"/>
          <p:cNvSpPr/>
          <p:nvPr/>
        </p:nvSpPr>
        <p:spPr>
          <a:xfrm>
            <a:off x="548640" y="2002536"/>
            <a:ext cx="310896" cy="310896"/>
          </a:xfrm>
          <a:prstGeom prst="ellipse">
            <a:avLst/>
          </a:prstGeom>
          <a:solidFill>
            <a:srgbClr val="00B3E2"/>
          </a:solidFill>
          <a:ln/>
        </p:spPr>
      </p:sp>
      <p:sp>
        <p:nvSpPr>
          <p:cNvPr id="8" name="Text 6"/>
          <p:cNvSpPr/>
          <p:nvPr/>
        </p:nvSpPr>
        <p:spPr>
          <a:xfrm>
            <a:off x="548640" y="2002536"/>
            <a:ext cx="310896" cy="310896"/>
          </a:xfrm>
          <a:prstGeom prst="rect">
            <a:avLst/>
          </a:prstGeom>
          <a:noFill/>
          <a:ln/>
        </p:spPr>
        <p:txBody>
          <a:bodyPr wrap="square" lIns="0" tIns="0" rIns="0" bIns="0" rtlCol="0" anchor="ctr"/>
          <a:lstStyle/>
          <a:p>
            <a:pPr algn="ctr" indent="0" marL="0">
              <a:buNone/>
            </a:pPr>
            <a:r>
              <a:rPr lang="en-US" sz="1250" b="1" dirty="0">
                <a:solidFill>
                  <a:srgbClr val="3E3E4B"/>
                </a:solidFill>
                <a:latin typeface="Arial" pitchFamily="34" charset="0"/>
                <a:ea typeface="Arial" pitchFamily="34" charset="-122"/>
                <a:cs typeface="Arial" pitchFamily="34" charset="-120"/>
              </a:rPr>
              <a:t>2</a:t>
            </a:r>
            <a:endParaRPr lang="en-US" sz="1250" dirty="0"/>
          </a:p>
        </p:txBody>
      </p:sp>
      <p:sp>
        <p:nvSpPr>
          <p:cNvPr id="9" name="Text 7"/>
          <p:cNvSpPr/>
          <p:nvPr/>
        </p:nvSpPr>
        <p:spPr>
          <a:xfrm>
            <a:off x="969264" y="1929384"/>
            <a:ext cx="4951476" cy="512064"/>
          </a:xfrm>
          <a:prstGeom prst="rect">
            <a:avLst/>
          </a:prstGeom>
          <a:noFill/>
          <a:ln/>
        </p:spPr>
        <p:txBody>
          <a:bodyPr wrap="square" lIns="0" tIns="0" rIns="0" bIns="0" rtlCol="0" anchor="ctr"/>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Calculate the number of temporary /32 routes required during the wave.</a:t>
            </a:r>
            <a:endParaRPr lang="en-US" sz="1200" dirty="0"/>
          </a:p>
        </p:txBody>
      </p:sp>
      <p:sp>
        <p:nvSpPr>
          <p:cNvPr id="10" name="Shape 8"/>
          <p:cNvSpPr/>
          <p:nvPr/>
        </p:nvSpPr>
        <p:spPr>
          <a:xfrm>
            <a:off x="548640" y="2606040"/>
            <a:ext cx="310896" cy="310896"/>
          </a:xfrm>
          <a:prstGeom prst="ellipse">
            <a:avLst/>
          </a:prstGeom>
          <a:solidFill>
            <a:srgbClr val="00B3E2"/>
          </a:solidFill>
          <a:ln/>
        </p:spPr>
      </p:sp>
      <p:sp>
        <p:nvSpPr>
          <p:cNvPr id="11" name="Text 9"/>
          <p:cNvSpPr/>
          <p:nvPr/>
        </p:nvSpPr>
        <p:spPr>
          <a:xfrm>
            <a:off x="548640" y="2606040"/>
            <a:ext cx="310896" cy="310896"/>
          </a:xfrm>
          <a:prstGeom prst="rect">
            <a:avLst/>
          </a:prstGeom>
          <a:noFill/>
          <a:ln/>
        </p:spPr>
        <p:txBody>
          <a:bodyPr wrap="square" lIns="0" tIns="0" rIns="0" bIns="0" rtlCol="0" anchor="ctr"/>
          <a:lstStyle/>
          <a:p>
            <a:pPr algn="ctr" indent="0" marL="0">
              <a:buNone/>
            </a:pPr>
            <a:r>
              <a:rPr lang="en-US" sz="1250" b="1" dirty="0">
                <a:solidFill>
                  <a:srgbClr val="3E3E4B"/>
                </a:solidFill>
                <a:latin typeface="Arial" pitchFamily="34" charset="0"/>
                <a:ea typeface="Arial" pitchFamily="34" charset="-122"/>
                <a:cs typeface="Arial" pitchFamily="34" charset="-120"/>
              </a:rPr>
              <a:t>3</a:t>
            </a:r>
            <a:endParaRPr lang="en-US" sz="1250" dirty="0"/>
          </a:p>
        </p:txBody>
      </p:sp>
      <p:sp>
        <p:nvSpPr>
          <p:cNvPr id="12" name="Text 10"/>
          <p:cNvSpPr/>
          <p:nvPr/>
        </p:nvSpPr>
        <p:spPr>
          <a:xfrm>
            <a:off x="969264" y="2532888"/>
            <a:ext cx="4951476" cy="512064"/>
          </a:xfrm>
          <a:prstGeom prst="rect">
            <a:avLst/>
          </a:prstGeom>
          <a:noFill/>
          <a:ln/>
        </p:spPr>
        <p:txBody>
          <a:bodyPr wrap="square" lIns="0" tIns="0" rIns="0" bIns="0" rtlCol="0" anchor="ctr"/>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Confirm sufficient VNet route capacity before starting.</a:t>
            </a:r>
            <a:endParaRPr lang="en-US" sz="1200" dirty="0"/>
          </a:p>
        </p:txBody>
      </p:sp>
      <p:sp>
        <p:nvSpPr>
          <p:cNvPr id="13" name="Shape 11"/>
          <p:cNvSpPr/>
          <p:nvPr/>
        </p:nvSpPr>
        <p:spPr>
          <a:xfrm>
            <a:off x="548640" y="3209544"/>
            <a:ext cx="310896" cy="310896"/>
          </a:xfrm>
          <a:prstGeom prst="ellipse">
            <a:avLst/>
          </a:prstGeom>
          <a:solidFill>
            <a:srgbClr val="00B3E2"/>
          </a:solidFill>
          <a:ln/>
        </p:spPr>
      </p:sp>
      <p:sp>
        <p:nvSpPr>
          <p:cNvPr id="14" name="Text 12"/>
          <p:cNvSpPr/>
          <p:nvPr/>
        </p:nvSpPr>
        <p:spPr>
          <a:xfrm>
            <a:off x="548640" y="3209544"/>
            <a:ext cx="310896" cy="310896"/>
          </a:xfrm>
          <a:prstGeom prst="rect">
            <a:avLst/>
          </a:prstGeom>
          <a:noFill/>
          <a:ln/>
        </p:spPr>
        <p:txBody>
          <a:bodyPr wrap="square" lIns="0" tIns="0" rIns="0" bIns="0" rtlCol="0" anchor="ctr"/>
          <a:lstStyle/>
          <a:p>
            <a:pPr algn="ctr" indent="0" marL="0">
              <a:buNone/>
            </a:pPr>
            <a:r>
              <a:rPr lang="en-US" sz="1250" b="1" dirty="0">
                <a:solidFill>
                  <a:srgbClr val="3E3E4B"/>
                </a:solidFill>
                <a:latin typeface="Arial" pitchFamily="34" charset="0"/>
                <a:ea typeface="Arial" pitchFamily="34" charset="-122"/>
                <a:cs typeface="Arial" pitchFamily="34" charset="-120"/>
              </a:rPr>
              <a:t>4</a:t>
            </a:r>
            <a:endParaRPr lang="en-US" sz="1250" dirty="0"/>
          </a:p>
        </p:txBody>
      </p:sp>
      <p:sp>
        <p:nvSpPr>
          <p:cNvPr id="15" name="Text 13"/>
          <p:cNvSpPr/>
          <p:nvPr/>
        </p:nvSpPr>
        <p:spPr>
          <a:xfrm>
            <a:off x="969264" y="3136392"/>
            <a:ext cx="4951476" cy="512064"/>
          </a:xfrm>
          <a:prstGeom prst="rect">
            <a:avLst/>
          </a:prstGeom>
          <a:noFill/>
          <a:ln/>
        </p:spPr>
        <p:txBody>
          <a:bodyPr wrap="square" lIns="0" tIns="0" rIns="0" bIns="0" rtlCol="0" anchor="ctr"/>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Migrate the VMs while MON advertises their individual /32 routes.</a:t>
            </a:r>
            <a:endParaRPr lang="en-US" sz="1200" dirty="0"/>
          </a:p>
        </p:txBody>
      </p:sp>
      <p:sp>
        <p:nvSpPr>
          <p:cNvPr id="16" name="Shape 14"/>
          <p:cNvSpPr/>
          <p:nvPr/>
        </p:nvSpPr>
        <p:spPr>
          <a:xfrm>
            <a:off x="548640" y="3813048"/>
            <a:ext cx="310896" cy="310896"/>
          </a:xfrm>
          <a:prstGeom prst="ellipse">
            <a:avLst/>
          </a:prstGeom>
          <a:solidFill>
            <a:srgbClr val="00B3E2"/>
          </a:solidFill>
          <a:ln/>
        </p:spPr>
      </p:sp>
      <p:sp>
        <p:nvSpPr>
          <p:cNvPr id="17" name="Text 15"/>
          <p:cNvSpPr/>
          <p:nvPr/>
        </p:nvSpPr>
        <p:spPr>
          <a:xfrm>
            <a:off x="548640" y="3813048"/>
            <a:ext cx="310896" cy="310896"/>
          </a:xfrm>
          <a:prstGeom prst="rect">
            <a:avLst/>
          </a:prstGeom>
          <a:noFill/>
          <a:ln/>
        </p:spPr>
        <p:txBody>
          <a:bodyPr wrap="square" lIns="0" tIns="0" rIns="0" bIns="0" rtlCol="0" anchor="ctr"/>
          <a:lstStyle/>
          <a:p>
            <a:pPr algn="ctr" indent="0" marL="0">
              <a:buNone/>
            </a:pPr>
            <a:r>
              <a:rPr lang="en-US" sz="1250" b="1" dirty="0">
                <a:solidFill>
                  <a:srgbClr val="3E3E4B"/>
                </a:solidFill>
                <a:latin typeface="Arial" pitchFamily="34" charset="0"/>
                <a:ea typeface="Arial" pitchFamily="34" charset="-122"/>
                <a:cs typeface="Arial" pitchFamily="34" charset="-120"/>
              </a:rPr>
              <a:t>5</a:t>
            </a:r>
            <a:endParaRPr lang="en-US" sz="1250" dirty="0"/>
          </a:p>
        </p:txBody>
      </p:sp>
      <p:sp>
        <p:nvSpPr>
          <p:cNvPr id="18" name="Text 16"/>
          <p:cNvSpPr/>
          <p:nvPr/>
        </p:nvSpPr>
        <p:spPr>
          <a:xfrm>
            <a:off x="969264" y="3739896"/>
            <a:ext cx="4951476" cy="512064"/>
          </a:xfrm>
          <a:prstGeom prst="rect">
            <a:avLst/>
          </a:prstGeom>
          <a:noFill/>
          <a:ln/>
        </p:spPr>
        <p:txBody>
          <a:bodyPr wrap="square" lIns="0" tIns="0" rIns="0" bIns="0" rtlCol="0" anchor="ctr"/>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Verify that all VMs belonging to the subnet have moved successfully.</a:t>
            </a:r>
            <a:endParaRPr lang="en-US" sz="1200" dirty="0"/>
          </a:p>
        </p:txBody>
      </p:sp>
      <p:sp>
        <p:nvSpPr>
          <p:cNvPr id="19" name="Shape 17"/>
          <p:cNvSpPr/>
          <p:nvPr/>
        </p:nvSpPr>
        <p:spPr>
          <a:xfrm>
            <a:off x="6231636" y="1399032"/>
            <a:ext cx="310896" cy="310896"/>
          </a:xfrm>
          <a:prstGeom prst="ellipse">
            <a:avLst/>
          </a:prstGeom>
          <a:solidFill>
            <a:srgbClr val="00B3E2"/>
          </a:solidFill>
          <a:ln/>
        </p:spPr>
      </p:sp>
      <p:sp>
        <p:nvSpPr>
          <p:cNvPr id="20" name="Text 18"/>
          <p:cNvSpPr/>
          <p:nvPr/>
        </p:nvSpPr>
        <p:spPr>
          <a:xfrm>
            <a:off x="6231636" y="1399032"/>
            <a:ext cx="310896" cy="310896"/>
          </a:xfrm>
          <a:prstGeom prst="rect">
            <a:avLst/>
          </a:prstGeom>
          <a:noFill/>
          <a:ln/>
        </p:spPr>
        <p:txBody>
          <a:bodyPr wrap="square" lIns="0" tIns="0" rIns="0" bIns="0" rtlCol="0" anchor="ctr"/>
          <a:lstStyle/>
          <a:p>
            <a:pPr algn="ctr" indent="0" marL="0">
              <a:buNone/>
            </a:pPr>
            <a:r>
              <a:rPr lang="en-US" sz="1250" b="1" dirty="0">
                <a:solidFill>
                  <a:srgbClr val="3E3E4B"/>
                </a:solidFill>
                <a:latin typeface="Arial" pitchFamily="34" charset="0"/>
                <a:ea typeface="Arial" pitchFamily="34" charset="-122"/>
                <a:cs typeface="Arial" pitchFamily="34" charset="-120"/>
              </a:rPr>
              <a:t>6</a:t>
            </a:r>
            <a:endParaRPr lang="en-US" sz="1250" dirty="0"/>
          </a:p>
        </p:txBody>
      </p:sp>
      <p:sp>
        <p:nvSpPr>
          <p:cNvPr id="21" name="Text 19"/>
          <p:cNvSpPr/>
          <p:nvPr/>
        </p:nvSpPr>
        <p:spPr>
          <a:xfrm>
            <a:off x="6652260" y="1325880"/>
            <a:ext cx="4951476" cy="512064"/>
          </a:xfrm>
          <a:prstGeom prst="rect">
            <a:avLst/>
          </a:prstGeom>
          <a:noFill/>
          <a:ln/>
        </p:spPr>
        <p:txBody>
          <a:bodyPr wrap="square" lIns="0" tIns="0" rIns="0" bIns="0" rtlCol="0" anchor="ctr"/>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Move or fail over the subnet gateway to the NSX router in AVS.</a:t>
            </a:r>
            <a:endParaRPr lang="en-US" sz="1200" dirty="0"/>
          </a:p>
        </p:txBody>
      </p:sp>
      <p:sp>
        <p:nvSpPr>
          <p:cNvPr id="22" name="Shape 20"/>
          <p:cNvSpPr/>
          <p:nvPr/>
        </p:nvSpPr>
        <p:spPr>
          <a:xfrm>
            <a:off x="6231636" y="2002536"/>
            <a:ext cx="310896" cy="310896"/>
          </a:xfrm>
          <a:prstGeom prst="ellipse">
            <a:avLst/>
          </a:prstGeom>
          <a:solidFill>
            <a:srgbClr val="00AD93"/>
          </a:solidFill>
          <a:ln/>
        </p:spPr>
      </p:sp>
      <p:sp>
        <p:nvSpPr>
          <p:cNvPr id="23" name="Text 21"/>
          <p:cNvSpPr/>
          <p:nvPr/>
        </p:nvSpPr>
        <p:spPr>
          <a:xfrm>
            <a:off x="6231636" y="2002536"/>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7</a:t>
            </a:r>
            <a:endParaRPr lang="en-US" sz="1250" dirty="0"/>
          </a:p>
        </p:txBody>
      </p:sp>
      <p:sp>
        <p:nvSpPr>
          <p:cNvPr id="24" name="Text 22"/>
          <p:cNvSpPr/>
          <p:nvPr/>
        </p:nvSpPr>
        <p:spPr>
          <a:xfrm>
            <a:off x="6652260" y="1929384"/>
            <a:ext cx="4951476" cy="512064"/>
          </a:xfrm>
          <a:prstGeom prst="rect">
            <a:avLst/>
          </a:prstGeom>
          <a:noFill/>
          <a:ln/>
        </p:spPr>
        <p:txBody>
          <a:bodyPr wrap="square" lIns="0" tIns="0" rIns="0" bIns="0" rtlCol="0" anchor="ctr"/>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Finalize the migration.</a:t>
            </a:r>
            <a:endParaRPr lang="en-US" sz="1200" dirty="0"/>
          </a:p>
        </p:txBody>
      </p:sp>
      <p:sp>
        <p:nvSpPr>
          <p:cNvPr id="25" name="Shape 23"/>
          <p:cNvSpPr/>
          <p:nvPr/>
        </p:nvSpPr>
        <p:spPr>
          <a:xfrm>
            <a:off x="6231636" y="2606040"/>
            <a:ext cx="310896" cy="310896"/>
          </a:xfrm>
          <a:prstGeom prst="ellipse">
            <a:avLst/>
          </a:prstGeom>
          <a:solidFill>
            <a:srgbClr val="00AD93"/>
          </a:solidFill>
          <a:ln/>
        </p:spPr>
      </p:sp>
      <p:sp>
        <p:nvSpPr>
          <p:cNvPr id="26" name="Text 24"/>
          <p:cNvSpPr/>
          <p:nvPr/>
        </p:nvSpPr>
        <p:spPr>
          <a:xfrm>
            <a:off x="6231636" y="260604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8</a:t>
            </a:r>
            <a:endParaRPr lang="en-US" sz="1250" dirty="0"/>
          </a:p>
        </p:txBody>
      </p:sp>
      <p:sp>
        <p:nvSpPr>
          <p:cNvPr id="27" name="Text 25"/>
          <p:cNvSpPr/>
          <p:nvPr/>
        </p:nvSpPr>
        <p:spPr>
          <a:xfrm>
            <a:off x="6652260" y="2532888"/>
            <a:ext cx="4951476" cy="512064"/>
          </a:xfrm>
          <a:prstGeom prst="rect">
            <a:avLst/>
          </a:prstGeom>
          <a:noFill/>
          <a:ln/>
        </p:spPr>
        <p:txBody>
          <a:bodyPr wrap="square" lIns="0" tIns="0" rIns="0" bIns="0" rtlCol="0" anchor="ctr"/>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Remove the temporary individual host routes.</a:t>
            </a:r>
            <a:endParaRPr lang="en-US" sz="1200" dirty="0"/>
          </a:p>
        </p:txBody>
      </p:sp>
      <p:sp>
        <p:nvSpPr>
          <p:cNvPr id="28" name="Shape 26"/>
          <p:cNvSpPr/>
          <p:nvPr/>
        </p:nvSpPr>
        <p:spPr>
          <a:xfrm>
            <a:off x="6231636" y="3209544"/>
            <a:ext cx="310896" cy="310896"/>
          </a:xfrm>
          <a:prstGeom prst="ellipse">
            <a:avLst/>
          </a:prstGeom>
          <a:solidFill>
            <a:srgbClr val="00AD93"/>
          </a:solidFill>
          <a:ln/>
        </p:spPr>
      </p:sp>
      <p:sp>
        <p:nvSpPr>
          <p:cNvPr id="29" name="Text 27"/>
          <p:cNvSpPr/>
          <p:nvPr/>
        </p:nvSpPr>
        <p:spPr>
          <a:xfrm>
            <a:off x="6231636" y="3209544"/>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9</a:t>
            </a:r>
            <a:endParaRPr lang="en-US" sz="1250" dirty="0"/>
          </a:p>
        </p:txBody>
      </p:sp>
      <p:sp>
        <p:nvSpPr>
          <p:cNvPr id="30" name="Text 28"/>
          <p:cNvSpPr/>
          <p:nvPr/>
        </p:nvSpPr>
        <p:spPr>
          <a:xfrm>
            <a:off x="6652260" y="3136392"/>
            <a:ext cx="4951476" cy="512064"/>
          </a:xfrm>
          <a:prstGeom prst="rect">
            <a:avLst/>
          </a:prstGeom>
          <a:noFill/>
          <a:ln/>
        </p:spPr>
        <p:txBody>
          <a:bodyPr wrap="square" lIns="0" tIns="0" rIns="0" bIns="0" rtlCol="0" anchor="ctr"/>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Advertise one summarized subnet route, such as a /24.</a:t>
            </a:r>
            <a:endParaRPr lang="en-US" sz="1200" dirty="0"/>
          </a:p>
        </p:txBody>
      </p:sp>
      <p:sp>
        <p:nvSpPr>
          <p:cNvPr id="31" name="Shape 29"/>
          <p:cNvSpPr/>
          <p:nvPr/>
        </p:nvSpPr>
        <p:spPr>
          <a:xfrm>
            <a:off x="6231636" y="3813048"/>
            <a:ext cx="310896" cy="310896"/>
          </a:xfrm>
          <a:prstGeom prst="ellipse">
            <a:avLst/>
          </a:prstGeom>
          <a:solidFill>
            <a:srgbClr val="00AD93"/>
          </a:solidFill>
          <a:ln/>
        </p:spPr>
      </p:sp>
      <p:sp>
        <p:nvSpPr>
          <p:cNvPr id="32" name="Text 30"/>
          <p:cNvSpPr/>
          <p:nvPr/>
        </p:nvSpPr>
        <p:spPr>
          <a:xfrm>
            <a:off x="6231636" y="3813048"/>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10</a:t>
            </a:r>
            <a:endParaRPr lang="en-US" sz="1250" dirty="0"/>
          </a:p>
        </p:txBody>
      </p:sp>
      <p:sp>
        <p:nvSpPr>
          <p:cNvPr id="33" name="Text 31"/>
          <p:cNvSpPr/>
          <p:nvPr/>
        </p:nvSpPr>
        <p:spPr>
          <a:xfrm>
            <a:off x="6652260" y="3739896"/>
            <a:ext cx="4951476" cy="512064"/>
          </a:xfrm>
          <a:prstGeom prst="rect">
            <a:avLst/>
          </a:prstGeom>
          <a:noFill/>
          <a:ln/>
        </p:spPr>
        <p:txBody>
          <a:bodyPr wrap="square" lIns="0" tIns="0" rIns="0" bIns="0" rtlCol="0" anchor="ctr"/>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Confirm that route capacity has been reclaimed before the next wave.</a:t>
            </a:r>
            <a:endParaRPr lang="en-US" sz="1200" dirty="0"/>
          </a:p>
        </p:txBody>
      </p:sp>
      <p:sp>
        <p:nvSpPr>
          <p:cNvPr id="34" name="Shape 32"/>
          <p:cNvSpPr/>
          <p:nvPr/>
        </p:nvSpPr>
        <p:spPr>
          <a:xfrm>
            <a:off x="548640" y="4480560"/>
            <a:ext cx="5760720" cy="1188720"/>
          </a:xfrm>
          <a:prstGeom prst="roundRect">
            <a:avLst>
              <a:gd name="adj" fmla="val 6923"/>
            </a:avLst>
          </a:prstGeom>
          <a:solidFill>
            <a:srgbClr val="E2F2E8"/>
          </a:solidFill>
          <a:ln/>
        </p:spPr>
      </p:sp>
      <p:sp>
        <p:nvSpPr>
          <p:cNvPr id="35" name="Text 33"/>
          <p:cNvSpPr/>
          <p:nvPr/>
        </p:nvSpPr>
        <p:spPr>
          <a:xfrm>
            <a:off x="804672" y="4572000"/>
            <a:ext cx="5303520" cy="274320"/>
          </a:xfrm>
          <a:prstGeom prst="rect">
            <a:avLst/>
          </a:prstGeom>
          <a:noFill/>
          <a:ln/>
        </p:spPr>
        <p:txBody>
          <a:bodyPr wrap="square" lIns="0" tIns="0" rIns="0" bIns="0" rtlCol="0" anchor="ctr"/>
          <a:lstStyle/>
          <a:p>
            <a:pPr indent="0" marL="0">
              <a:buNone/>
            </a:pPr>
            <a:r>
              <a:rPr lang="en-US" sz="1350" b="1" dirty="0">
                <a:solidFill>
                  <a:srgbClr val="00AD93"/>
                </a:solidFill>
                <a:latin typeface="Arial" pitchFamily="34" charset="0"/>
                <a:ea typeface="Arial" pitchFamily="34" charset="-122"/>
                <a:cs typeface="Arial" pitchFamily="34" charset="-120"/>
              </a:rPr>
              <a:t>Summarization example</a:t>
            </a:r>
            <a:endParaRPr lang="en-US" sz="1350" dirty="0"/>
          </a:p>
        </p:txBody>
      </p:sp>
      <p:sp>
        <p:nvSpPr>
          <p:cNvPr id="36" name="Text 34"/>
          <p:cNvSpPr/>
          <p:nvPr/>
        </p:nvSpPr>
        <p:spPr>
          <a:xfrm>
            <a:off x="804672" y="4901184"/>
            <a:ext cx="5248656" cy="685800"/>
          </a:xfrm>
          <a:prstGeom prst="rect">
            <a:avLst/>
          </a:prstGeom>
          <a:noFill/>
          <a:ln/>
        </p:spPr>
        <p:txBody>
          <a:bodyPr wrap="square" lIns="0" tIns="0" rIns="0" bIns="0" rtlCol="0" anchor="t"/>
          <a:lstStyle/>
          <a:p>
            <a:pPr indent="0" marL="0">
              <a:lnSpc>
                <a:spcPts val="1600"/>
              </a:lnSpc>
              <a:buNone/>
            </a:pPr>
            <a:r>
              <a:rPr lang="en-US" sz="1200" dirty="0">
                <a:solidFill>
                  <a:srgbClr val="3E3E4B"/>
                </a:solidFill>
                <a:latin typeface="Calibri" pitchFamily="34" charset="0"/>
                <a:ea typeface="Calibri" pitchFamily="34" charset="-122"/>
                <a:cs typeface="Calibri" pitchFamily="34" charset="-120"/>
              </a:rPr>
              <a:t>200 migrated VMs from one /24 hold 200 individual /32 routes in the temporary state. The final state is one summarized /24 route. Routes reclaimed: 200 − 1 = 199.</a:t>
            </a:r>
            <a:endParaRPr lang="en-US" sz="1200" dirty="0"/>
          </a:p>
        </p:txBody>
      </p:sp>
      <p:sp>
        <p:nvSpPr>
          <p:cNvPr id="37" name="Shape 35"/>
          <p:cNvSpPr/>
          <p:nvPr/>
        </p:nvSpPr>
        <p:spPr>
          <a:xfrm>
            <a:off x="6537960" y="4480560"/>
            <a:ext cx="5102352" cy="1188720"/>
          </a:xfrm>
          <a:prstGeom prst="roundRect">
            <a:avLst>
              <a:gd name="adj" fmla="val 6923"/>
            </a:avLst>
          </a:prstGeom>
          <a:solidFill>
            <a:srgbClr val="3E3E4B"/>
          </a:solidFill>
          <a:ln/>
        </p:spPr>
      </p:sp>
      <p:sp>
        <p:nvSpPr>
          <p:cNvPr id="38" name="Text 36"/>
          <p:cNvSpPr/>
          <p:nvPr/>
        </p:nvSpPr>
        <p:spPr>
          <a:xfrm>
            <a:off x="6793992" y="4572000"/>
            <a:ext cx="4590288" cy="1005840"/>
          </a:xfrm>
          <a:prstGeom prst="rect">
            <a:avLst/>
          </a:prstGeom>
          <a:noFill/>
          <a:ln/>
        </p:spPr>
        <p:txBody>
          <a:bodyPr wrap="square" lIns="0" tIns="0" rIns="0" bIns="0" rtlCol="0" anchor="t"/>
          <a:lstStyle/>
          <a:p>
            <a:pPr indent="0" marL="0">
              <a:lnSpc>
                <a:spcPts val="1600"/>
              </a:lnSpc>
              <a:buNone/>
            </a:pPr>
            <a:r>
              <a:rPr lang="en-US" sz="1150" b="1" dirty="0">
                <a:solidFill>
                  <a:srgbClr val="00B3E2"/>
                </a:solidFill>
                <a:latin typeface="Arial" pitchFamily="34" charset="0"/>
                <a:ea typeface="Arial" pitchFamily="34" charset="-122"/>
                <a:cs typeface="Arial" pitchFamily="34" charset="-120"/>
              </a:rPr>
              <a:t>Operational recommendation
</a:t>
            </a:r>
            <a:endParaRPr lang="en-US" sz="1150" dirty="0"/>
          </a:p>
          <a:p>
            <a:pPr indent="0" marL="0">
              <a:lnSpc>
                <a:spcPts val="1600"/>
              </a:lnSpc>
              <a:buNone/>
            </a:pPr>
            <a:r>
              <a:rPr lang="en-US" sz="1200" dirty="0">
                <a:solidFill>
                  <a:srgbClr val="FFFFFF"/>
                </a:solidFill>
                <a:latin typeface="Calibri" pitchFamily="34" charset="0"/>
                <a:ea typeface="Calibri" pitchFamily="34" charset="-122"/>
                <a:cs typeface="Calibri" pitchFamily="34" charset="-120"/>
              </a:rPr>
              <a:t>Include “temporary routes removed and subnet summarized” in the migration-wave definition of done. Route reclamation is a completion criterion, not a cleanup task.</a:t>
            </a:r>
            <a:endParaRPr lang="en-US" sz="1150" dirty="0"/>
          </a:p>
        </p:txBody>
      </p:sp>
      <p:sp>
        <p:nvSpPr>
          <p:cNvPr id="39" name="Shape 37"/>
          <p:cNvSpPr/>
          <p:nvPr/>
        </p:nvSpPr>
        <p:spPr>
          <a:xfrm>
            <a:off x="548640" y="5806440"/>
            <a:ext cx="11091672" cy="548640"/>
          </a:xfrm>
          <a:prstGeom prst="roundRect">
            <a:avLst>
              <a:gd name="adj" fmla="val 15000"/>
            </a:avLst>
          </a:prstGeom>
          <a:solidFill>
            <a:srgbClr val="EBEDED"/>
          </a:solidFill>
          <a:ln/>
        </p:spPr>
      </p:sp>
      <p:sp>
        <p:nvSpPr>
          <p:cNvPr id="40" name="Text 38"/>
          <p:cNvSpPr/>
          <p:nvPr/>
        </p:nvSpPr>
        <p:spPr>
          <a:xfrm>
            <a:off x="731520" y="5806440"/>
            <a:ext cx="10725912" cy="548640"/>
          </a:xfrm>
          <a:prstGeom prst="rect">
            <a:avLst/>
          </a:prstGeom>
          <a:noFill/>
          <a:ln/>
        </p:spPr>
        <p:txBody>
          <a:bodyPr wrap="square" lIns="0" tIns="0" rIns="0" bIns="0" rtlCol="0" anchor="ctr"/>
          <a:lstStyle/>
          <a:p>
            <a:pPr indent="0" marL="0">
              <a:buNone/>
            </a:pPr>
            <a:r>
              <a:rPr lang="en-US" sz="1100" b="1" dirty="0">
                <a:solidFill>
                  <a:srgbClr val="00B3E2"/>
                </a:solidFill>
                <a:latin typeface="Arial" pitchFamily="34" charset="0"/>
                <a:ea typeface="Arial" pitchFamily="34" charset="-122"/>
                <a:cs typeface="Arial" pitchFamily="34" charset="-120"/>
              </a:rPr>
              <a:t>Takeaway   </a:t>
            </a:r>
            <a:pPr indent="0" marL="0">
              <a:buNone/>
            </a:pPr>
            <a:r>
              <a:rPr lang="en-US" sz="1200" dirty="0">
                <a:solidFill>
                  <a:srgbClr val="3E3E4B"/>
                </a:solidFill>
                <a:latin typeface="Calibri" pitchFamily="34" charset="0"/>
                <a:ea typeface="Calibri" pitchFamily="34" charset="-122"/>
                <a:cs typeface="Calibri" pitchFamily="34" charset="-120"/>
              </a:rPr>
              <a:t>Size migration waves by peak route consumption, not by data-copy duration. A partially migrated subnet left indefinitely turns temporary routes into a permanent constraint.</a:t>
            </a:r>
            <a:endParaRPr lang="en-US" sz="1100" dirty="0"/>
          </a:p>
        </p:txBody>
      </p:sp>
      <p:sp>
        <p:nvSpPr>
          <p:cNvPr id="41" name="Text 39"/>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10.5 Route summarization workflow</a:t>
            </a:r>
            <a:endParaRPr lang="en-US" sz="950" dirty="0"/>
          </a:p>
        </p:txBody>
      </p:sp>
      <p:sp>
        <p:nvSpPr>
          <p:cNvPr id="42" name="Text 40"/>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27</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11. MIGRATION PERFORMANCE</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A wide pipe does not guarantee a fast base sync</a:t>
            </a:r>
            <a:endParaRPr lang="en-US" sz="2800" dirty="0"/>
          </a:p>
        </p:txBody>
      </p:sp>
      <p:sp>
        <p:nvSpPr>
          <p:cNvPr id="4" name="Shape 2"/>
          <p:cNvSpPr/>
          <p:nvPr/>
        </p:nvSpPr>
        <p:spPr>
          <a:xfrm>
            <a:off x="548640" y="1298448"/>
            <a:ext cx="5120640" cy="2377440"/>
          </a:xfrm>
          <a:prstGeom prst="roundRect">
            <a:avLst>
              <a:gd name="adj" fmla="val 3462"/>
            </a:avLst>
          </a:prstGeom>
          <a:solidFill>
            <a:srgbClr val="EBEDED"/>
          </a:solidFill>
          <a:ln/>
        </p:spPr>
      </p:sp>
      <p:sp>
        <p:nvSpPr>
          <p:cNvPr id="5" name="Text 3"/>
          <p:cNvSpPr/>
          <p:nvPr/>
        </p:nvSpPr>
        <p:spPr>
          <a:xfrm>
            <a:off x="804672" y="1408176"/>
            <a:ext cx="4572000"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Base-sync process</a:t>
            </a:r>
            <a:endParaRPr lang="en-US" sz="1400" dirty="0"/>
          </a:p>
        </p:txBody>
      </p:sp>
      <p:sp>
        <p:nvSpPr>
          <p:cNvPr id="6" name="Shape 4"/>
          <p:cNvSpPr/>
          <p:nvPr/>
        </p:nvSpPr>
        <p:spPr>
          <a:xfrm>
            <a:off x="804672" y="1783080"/>
            <a:ext cx="274320" cy="274320"/>
          </a:xfrm>
          <a:prstGeom prst="ellipse">
            <a:avLst/>
          </a:prstGeom>
          <a:solidFill>
            <a:srgbClr val="00B3E2"/>
          </a:solidFill>
          <a:ln/>
        </p:spPr>
      </p:sp>
      <p:sp>
        <p:nvSpPr>
          <p:cNvPr id="7" name="Text 5"/>
          <p:cNvSpPr/>
          <p:nvPr/>
        </p:nvSpPr>
        <p:spPr>
          <a:xfrm>
            <a:off x="804672" y="1783080"/>
            <a:ext cx="274320" cy="274320"/>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1</a:t>
            </a:r>
            <a:endParaRPr lang="en-US" sz="1200" dirty="0"/>
          </a:p>
        </p:txBody>
      </p:sp>
      <p:sp>
        <p:nvSpPr>
          <p:cNvPr id="8" name="Text 6"/>
          <p:cNvSpPr/>
          <p:nvPr/>
        </p:nvSpPr>
        <p:spPr>
          <a:xfrm>
            <a:off x="1243584" y="1755648"/>
            <a:ext cx="4169664" cy="329184"/>
          </a:xfrm>
          <a:prstGeom prst="rect">
            <a:avLst/>
          </a:prstGeom>
          <a:noFill/>
          <a:ln/>
        </p:spPr>
        <p:txBody>
          <a:bodyPr wrap="square" lIns="0" tIns="0" rIns="0" bIns="0" rtlCol="0" anchor="t"/>
          <a:lstStyle/>
          <a:p>
            <a:pPr indent="0" marL="0">
              <a:lnSpc>
                <a:spcPts val="1400"/>
              </a:lnSpc>
              <a:buNone/>
            </a:pPr>
            <a:r>
              <a:rPr lang="en-US" sz="1100" dirty="0">
                <a:solidFill>
                  <a:srgbClr val="3E3E4B"/>
                </a:solidFill>
                <a:latin typeface="Calibri" pitchFamily="34" charset="0"/>
                <a:ea typeface="Calibri" pitchFamily="34" charset="-122"/>
                <a:cs typeface="Calibri" pitchFamily="34" charset="-120"/>
              </a:rPr>
              <a:t>The source VM continues to run on premises.</a:t>
            </a:r>
            <a:endParaRPr lang="en-US" sz="1100" dirty="0"/>
          </a:p>
        </p:txBody>
      </p:sp>
      <p:sp>
        <p:nvSpPr>
          <p:cNvPr id="9" name="Shape 7"/>
          <p:cNvSpPr/>
          <p:nvPr/>
        </p:nvSpPr>
        <p:spPr>
          <a:xfrm>
            <a:off x="804672" y="2148840"/>
            <a:ext cx="274320" cy="274320"/>
          </a:xfrm>
          <a:prstGeom prst="ellipse">
            <a:avLst/>
          </a:prstGeom>
          <a:solidFill>
            <a:srgbClr val="00B3E2"/>
          </a:solidFill>
          <a:ln/>
        </p:spPr>
      </p:sp>
      <p:sp>
        <p:nvSpPr>
          <p:cNvPr id="10" name="Text 8"/>
          <p:cNvSpPr/>
          <p:nvPr/>
        </p:nvSpPr>
        <p:spPr>
          <a:xfrm>
            <a:off x="804672" y="2148840"/>
            <a:ext cx="274320" cy="274320"/>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2</a:t>
            </a:r>
            <a:endParaRPr lang="en-US" sz="1200" dirty="0"/>
          </a:p>
        </p:txBody>
      </p:sp>
      <p:sp>
        <p:nvSpPr>
          <p:cNvPr id="11" name="Text 9"/>
          <p:cNvSpPr/>
          <p:nvPr/>
        </p:nvSpPr>
        <p:spPr>
          <a:xfrm>
            <a:off x="1243584" y="2121408"/>
            <a:ext cx="4169664" cy="329184"/>
          </a:xfrm>
          <a:prstGeom prst="rect">
            <a:avLst/>
          </a:prstGeom>
          <a:noFill/>
          <a:ln/>
        </p:spPr>
        <p:txBody>
          <a:bodyPr wrap="square" lIns="0" tIns="0" rIns="0" bIns="0" rtlCol="0" anchor="t"/>
          <a:lstStyle/>
          <a:p>
            <a:pPr indent="0" marL="0">
              <a:lnSpc>
                <a:spcPts val="1400"/>
              </a:lnSpc>
              <a:buNone/>
            </a:pPr>
            <a:r>
              <a:rPr lang="en-US" sz="1100" dirty="0">
                <a:solidFill>
                  <a:srgbClr val="3E3E4B"/>
                </a:solidFill>
                <a:latin typeface="Calibri" pitchFamily="34" charset="0"/>
                <a:ea typeface="Calibri" pitchFamily="34" charset="-122"/>
                <a:cs typeface="Calibri" pitchFamily="34" charset="-120"/>
              </a:rPr>
              <a:t>HCX or vSphere Replication copies the initial disk contents.</a:t>
            </a:r>
            <a:endParaRPr lang="en-US" sz="1100" dirty="0"/>
          </a:p>
        </p:txBody>
      </p:sp>
      <p:sp>
        <p:nvSpPr>
          <p:cNvPr id="12" name="Shape 10"/>
          <p:cNvSpPr/>
          <p:nvPr/>
        </p:nvSpPr>
        <p:spPr>
          <a:xfrm>
            <a:off x="804672" y="2514600"/>
            <a:ext cx="274320" cy="274320"/>
          </a:xfrm>
          <a:prstGeom prst="ellipse">
            <a:avLst/>
          </a:prstGeom>
          <a:solidFill>
            <a:srgbClr val="00B3E2"/>
          </a:solidFill>
          <a:ln/>
        </p:spPr>
      </p:sp>
      <p:sp>
        <p:nvSpPr>
          <p:cNvPr id="13" name="Text 11"/>
          <p:cNvSpPr/>
          <p:nvPr/>
        </p:nvSpPr>
        <p:spPr>
          <a:xfrm>
            <a:off x="804672" y="2514600"/>
            <a:ext cx="274320" cy="274320"/>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3</a:t>
            </a:r>
            <a:endParaRPr lang="en-US" sz="1200" dirty="0"/>
          </a:p>
        </p:txBody>
      </p:sp>
      <p:sp>
        <p:nvSpPr>
          <p:cNvPr id="14" name="Text 12"/>
          <p:cNvSpPr/>
          <p:nvPr/>
        </p:nvSpPr>
        <p:spPr>
          <a:xfrm>
            <a:off x="1243584" y="2487168"/>
            <a:ext cx="4169664" cy="329184"/>
          </a:xfrm>
          <a:prstGeom prst="rect">
            <a:avLst/>
          </a:prstGeom>
          <a:noFill/>
          <a:ln/>
        </p:spPr>
        <p:txBody>
          <a:bodyPr wrap="square" lIns="0" tIns="0" rIns="0" bIns="0" rtlCol="0" anchor="t"/>
          <a:lstStyle/>
          <a:p>
            <a:pPr indent="0" marL="0">
              <a:lnSpc>
                <a:spcPts val="1400"/>
              </a:lnSpc>
              <a:buNone/>
            </a:pPr>
            <a:r>
              <a:rPr lang="en-US" sz="1100" dirty="0">
                <a:solidFill>
                  <a:srgbClr val="3E3E4B"/>
                </a:solidFill>
                <a:latin typeface="Calibri" pitchFamily="34" charset="0"/>
                <a:ea typeface="Calibri" pitchFamily="34" charset="-122"/>
                <a:cs typeface="Calibri" pitchFamily="34" charset="-120"/>
              </a:rPr>
              <a:t>Changed blocks are tracked while the base copy runs.</a:t>
            </a:r>
            <a:endParaRPr lang="en-US" sz="1100" dirty="0"/>
          </a:p>
        </p:txBody>
      </p:sp>
      <p:sp>
        <p:nvSpPr>
          <p:cNvPr id="15" name="Shape 13"/>
          <p:cNvSpPr/>
          <p:nvPr/>
        </p:nvSpPr>
        <p:spPr>
          <a:xfrm>
            <a:off x="804672" y="2880360"/>
            <a:ext cx="274320" cy="274320"/>
          </a:xfrm>
          <a:prstGeom prst="ellipse">
            <a:avLst/>
          </a:prstGeom>
          <a:solidFill>
            <a:srgbClr val="00B3E2"/>
          </a:solidFill>
          <a:ln/>
        </p:spPr>
      </p:sp>
      <p:sp>
        <p:nvSpPr>
          <p:cNvPr id="16" name="Text 14"/>
          <p:cNvSpPr/>
          <p:nvPr/>
        </p:nvSpPr>
        <p:spPr>
          <a:xfrm>
            <a:off x="804672" y="2880360"/>
            <a:ext cx="274320" cy="274320"/>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4</a:t>
            </a:r>
            <a:endParaRPr lang="en-US" sz="1200" dirty="0"/>
          </a:p>
        </p:txBody>
      </p:sp>
      <p:sp>
        <p:nvSpPr>
          <p:cNvPr id="17" name="Text 15"/>
          <p:cNvSpPr/>
          <p:nvPr/>
        </p:nvSpPr>
        <p:spPr>
          <a:xfrm>
            <a:off x="1243584" y="2852928"/>
            <a:ext cx="4169664" cy="329184"/>
          </a:xfrm>
          <a:prstGeom prst="rect">
            <a:avLst/>
          </a:prstGeom>
          <a:noFill/>
          <a:ln/>
        </p:spPr>
        <p:txBody>
          <a:bodyPr wrap="square" lIns="0" tIns="0" rIns="0" bIns="0" rtlCol="0" anchor="t"/>
          <a:lstStyle/>
          <a:p>
            <a:pPr indent="0" marL="0">
              <a:lnSpc>
                <a:spcPts val="1400"/>
              </a:lnSpc>
              <a:buNone/>
            </a:pPr>
            <a:r>
              <a:rPr lang="en-US" sz="1100" dirty="0">
                <a:solidFill>
                  <a:srgbClr val="3E3E4B"/>
                </a:solidFill>
                <a:latin typeface="Calibri" pitchFamily="34" charset="0"/>
                <a:ea typeface="Calibri" pitchFamily="34" charset="-122"/>
                <a:cs typeface="Calibri" pitchFamily="34" charset="-120"/>
              </a:rPr>
              <a:t>Later synchronization transfers remaining changes.</a:t>
            </a:r>
            <a:endParaRPr lang="en-US" sz="1100" dirty="0"/>
          </a:p>
        </p:txBody>
      </p:sp>
      <p:sp>
        <p:nvSpPr>
          <p:cNvPr id="18" name="Shape 16"/>
          <p:cNvSpPr/>
          <p:nvPr/>
        </p:nvSpPr>
        <p:spPr>
          <a:xfrm>
            <a:off x="804672" y="3246120"/>
            <a:ext cx="274320" cy="274320"/>
          </a:xfrm>
          <a:prstGeom prst="ellipse">
            <a:avLst/>
          </a:prstGeom>
          <a:solidFill>
            <a:srgbClr val="00B3E2"/>
          </a:solidFill>
          <a:ln/>
        </p:spPr>
      </p:sp>
      <p:sp>
        <p:nvSpPr>
          <p:cNvPr id="19" name="Text 17"/>
          <p:cNvSpPr/>
          <p:nvPr/>
        </p:nvSpPr>
        <p:spPr>
          <a:xfrm>
            <a:off x="804672" y="3246120"/>
            <a:ext cx="274320" cy="274320"/>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5</a:t>
            </a:r>
            <a:endParaRPr lang="en-US" sz="1200" dirty="0"/>
          </a:p>
        </p:txBody>
      </p:sp>
      <p:sp>
        <p:nvSpPr>
          <p:cNvPr id="20" name="Text 18"/>
          <p:cNvSpPr/>
          <p:nvPr/>
        </p:nvSpPr>
        <p:spPr>
          <a:xfrm>
            <a:off x="1243584" y="3218688"/>
            <a:ext cx="4169664" cy="329184"/>
          </a:xfrm>
          <a:prstGeom prst="rect">
            <a:avLst/>
          </a:prstGeom>
          <a:noFill/>
          <a:ln/>
        </p:spPr>
        <p:txBody>
          <a:bodyPr wrap="square" lIns="0" tIns="0" rIns="0" bIns="0" rtlCol="0" anchor="t"/>
          <a:lstStyle/>
          <a:p>
            <a:pPr indent="0" marL="0">
              <a:lnSpc>
                <a:spcPts val="1400"/>
              </a:lnSpc>
              <a:buNone/>
            </a:pPr>
            <a:r>
              <a:rPr lang="en-US" sz="1100" dirty="0">
                <a:solidFill>
                  <a:srgbClr val="3E3E4B"/>
                </a:solidFill>
                <a:latin typeface="Calibri" pitchFamily="34" charset="0"/>
                <a:ea typeface="Calibri" pitchFamily="34" charset="-122"/>
                <a:cs typeface="Calibri" pitchFamily="34" charset="-120"/>
              </a:rPr>
              <a:t>The workload is cut over per the selected migration method.</a:t>
            </a:r>
            <a:endParaRPr lang="en-US" sz="1100" dirty="0"/>
          </a:p>
        </p:txBody>
      </p:sp>
      <p:sp>
        <p:nvSpPr>
          <p:cNvPr id="21" name="Shape 19"/>
          <p:cNvSpPr/>
          <p:nvPr/>
        </p:nvSpPr>
        <p:spPr>
          <a:xfrm>
            <a:off x="5943600" y="1298448"/>
            <a:ext cx="5696712" cy="2377440"/>
          </a:xfrm>
          <a:prstGeom prst="roundRect">
            <a:avLst>
              <a:gd name="adj" fmla="val 3462"/>
            </a:avLst>
          </a:prstGeom>
          <a:solidFill>
            <a:srgbClr val="E5F7FC"/>
          </a:solidFill>
          <a:ln/>
        </p:spPr>
      </p:sp>
      <p:sp>
        <p:nvSpPr>
          <p:cNvPr id="22" name="Shape 20"/>
          <p:cNvSpPr/>
          <p:nvPr/>
        </p:nvSpPr>
        <p:spPr>
          <a:xfrm>
            <a:off x="6181344" y="1463040"/>
            <a:ext cx="310896" cy="310896"/>
          </a:xfrm>
          <a:prstGeom prst="ellipse">
            <a:avLst/>
          </a:prstGeom>
          <a:solidFill>
            <a:srgbClr val="F15D23"/>
          </a:solidFill>
          <a:ln/>
        </p:spPr>
      </p:sp>
      <p:sp>
        <p:nvSpPr>
          <p:cNvPr id="23" name="Text 21"/>
          <p:cNvSpPr/>
          <p:nvPr/>
        </p:nvSpPr>
        <p:spPr>
          <a:xfrm>
            <a:off x="6181344" y="1463040"/>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4" name="Text 22"/>
          <p:cNvSpPr/>
          <p:nvPr/>
        </p:nvSpPr>
        <p:spPr>
          <a:xfrm>
            <a:off x="6601968" y="1481328"/>
            <a:ext cx="4782312"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Why Gen 2 can be slower</a:t>
            </a:r>
            <a:endParaRPr lang="en-US" sz="1400" dirty="0"/>
          </a:p>
        </p:txBody>
      </p:sp>
      <p:sp>
        <p:nvSpPr>
          <p:cNvPr id="25" name="Text 23"/>
          <p:cNvSpPr/>
          <p:nvPr/>
        </p:nvSpPr>
        <p:spPr>
          <a:xfrm>
            <a:off x="6181344" y="1874520"/>
            <a:ext cx="5221224" cy="1645920"/>
          </a:xfrm>
          <a:prstGeom prst="rect">
            <a:avLst/>
          </a:prstGeom>
          <a:noFill/>
          <a:ln/>
        </p:spPr>
        <p:txBody>
          <a:bodyPr wrap="square" lIns="0" tIns="0" rIns="0" bIns="0" rtlCol="0" anchor="t"/>
          <a:lstStyle/>
          <a:p>
            <a:pPr marL="177800" indent="-177800">
              <a:lnSpc>
                <a:spcPts val="1400"/>
              </a:lnSpc>
              <a:spcAft>
                <a:spcPts val="300"/>
              </a:spcAft>
              <a:buSzPct val="100000"/>
              <a:buChar char="•"/>
            </a:pPr>
            <a:r>
              <a:rPr lang="en-US" sz="1100" dirty="0">
                <a:solidFill>
                  <a:srgbClr val="3E3E4B"/>
                </a:solidFill>
                <a:latin typeface="Calibri" pitchFamily="34" charset="0"/>
                <a:ea typeface="Calibri" pitchFamily="34" charset="-122"/>
                <a:cs typeface="Calibri" pitchFamily="34" charset="-120"/>
              </a:rPr>
              <a:t>Microsoft documents that HCX RAV and Bulk migrations on Gen 2 can experience slower Base Sync and Online Sync performance, and advises planning longer migration windows.</a:t>
            </a:r>
            <a:endParaRPr lang="en-US" sz="1100" dirty="0"/>
          </a:p>
          <a:p>
            <a:pPr marL="177800" indent="-177800">
              <a:lnSpc>
                <a:spcPts val="1400"/>
              </a:lnSpc>
              <a:spcAft>
                <a:spcPts val="300"/>
              </a:spcAft>
              <a:buSzPct val="100000"/>
              <a:buChar char="•"/>
            </a:pPr>
            <a:r>
              <a:rPr lang="en-US" sz="1100" dirty="0">
                <a:solidFill>
                  <a:srgbClr val="3E3E4B"/>
                </a:solidFill>
                <a:latin typeface="Calibri" pitchFamily="34" charset="0"/>
                <a:ea typeface="Calibri" pitchFamily="34" charset="-122"/>
                <a:cs typeface="Calibri" pitchFamily="34" charset="-120"/>
              </a:rPr>
              <a:t>Replication traffic traverses the Azure underlay and passes through managed gateway subnets.</a:t>
            </a:r>
            <a:endParaRPr lang="en-US" sz="1100" dirty="0"/>
          </a:p>
          <a:p>
            <a:pPr marL="177800" indent="-177800">
              <a:lnSpc>
                <a:spcPts val="1400"/>
              </a:lnSpc>
              <a:spcAft>
                <a:spcPts val="300"/>
              </a:spcAft>
              <a:buSzPct val="100000"/>
              <a:buChar char="•"/>
            </a:pPr>
            <a:r>
              <a:rPr lang="en-US" sz="1100" dirty="0">
                <a:solidFill>
                  <a:srgbClr val="3E3E4B"/>
                </a:solidFill>
                <a:latin typeface="Calibri" pitchFamily="34" charset="0"/>
                <a:ea typeface="Calibri" pitchFamily="34" charset="-122"/>
                <a:cs typeface="Calibri" pitchFamily="34" charset="-120"/>
              </a:rPr>
              <a:t>Traffic is translated or encapsulated between the underlay and the NSX overlay.</a:t>
            </a:r>
            <a:endParaRPr lang="en-US" sz="1100" dirty="0"/>
          </a:p>
          <a:p>
            <a:pPr marL="177800" indent="-177800">
              <a:lnSpc>
                <a:spcPts val="1400"/>
              </a:lnSpc>
              <a:spcAft>
                <a:spcPts val="300"/>
              </a:spcAft>
              <a:buSzPct val="100000"/>
              <a:buChar char="•"/>
            </a:pPr>
            <a:r>
              <a:rPr lang="en-US" sz="1100" dirty="0">
                <a:solidFill>
                  <a:srgbClr val="3E3E4B"/>
                </a:solidFill>
                <a:latin typeface="Calibri" pitchFamily="34" charset="0"/>
                <a:ea typeface="Calibri" pitchFamily="34" charset="-122"/>
                <a:cs typeface="Calibri" pitchFamily="34" charset="-120"/>
              </a:rPr>
              <a:t>MTU constraints may cause packet fragmentation and reassembly.</a:t>
            </a:r>
            <a:endParaRPr lang="en-US" sz="1100" dirty="0"/>
          </a:p>
        </p:txBody>
      </p:sp>
      <p:sp>
        <p:nvSpPr>
          <p:cNvPr id="26" name="Shape 24"/>
          <p:cNvSpPr/>
          <p:nvPr/>
        </p:nvSpPr>
        <p:spPr>
          <a:xfrm>
            <a:off x="548640" y="3822192"/>
            <a:ext cx="11091672" cy="1783080"/>
          </a:xfrm>
          <a:prstGeom prst="roundRect">
            <a:avLst>
              <a:gd name="adj" fmla="val 4615"/>
            </a:avLst>
          </a:prstGeom>
          <a:solidFill>
            <a:srgbClr val="E5F7FC"/>
          </a:solidFill>
          <a:ln/>
        </p:spPr>
      </p:sp>
      <p:sp>
        <p:nvSpPr>
          <p:cNvPr id="27" name="Text 25"/>
          <p:cNvSpPr/>
          <p:nvPr/>
        </p:nvSpPr>
        <p:spPr>
          <a:xfrm>
            <a:off x="804672" y="3913632"/>
            <a:ext cx="8229600"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Planning consequences</a:t>
            </a:r>
            <a:endParaRPr lang="en-US" sz="1400" dirty="0"/>
          </a:p>
        </p:txBody>
      </p:sp>
      <p:sp>
        <p:nvSpPr>
          <p:cNvPr id="28" name="Shape 26"/>
          <p:cNvSpPr/>
          <p:nvPr/>
        </p:nvSpPr>
        <p:spPr>
          <a:xfrm>
            <a:off x="804672" y="4261104"/>
            <a:ext cx="256032" cy="256032"/>
          </a:xfrm>
          <a:prstGeom prst="ellipse">
            <a:avLst/>
          </a:prstGeom>
          <a:solidFill>
            <a:srgbClr val="00B3E2"/>
          </a:solidFill>
          <a:ln/>
        </p:spPr>
      </p:sp>
      <p:sp>
        <p:nvSpPr>
          <p:cNvPr id="29" name="Text 27"/>
          <p:cNvSpPr/>
          <p:nvPr/>
        </p:nvSpPr>
        <p:spPr>
          <a:xfrm>
            <a:off x="804672" y="4261104"/>
            <a:ext cx="256032" cy="256032"/>
          </a:xfrm>
          <a:prstGeom prst="rect">
            <a:avLst/>
          </a:prstGeom>
          <a:noFill/>
          <a:ln/>
        </p:spPr>
        <p:txBody>
          <a:bodyPr wrap="square" lIns="0" tIns="0" rIns="0" bIns="0" rtlCol="0" anchor="ctr"/>
          <a:lstStyle/>
          <a:p>
            <a:pPr algn="ctr" indent="0" marL="0">
              <a:buNone/>
            </a:pPr>
            <a:r>
              <a:rPr lang="en-US" sz="1050" b="1" dirty="0">
                <a:solidFill>
                  <a:srgbClr val="3E3E4B"/>
                </a:solidFill>
                <a:latin typeface="Arial" pitchFamily="34" charset="0"/>
                <a:ea typeface="Arial" pitchFamily="34" charset="-122"/>
                <a:cs typeface="Arial" pitchFamily="34" charset="-120"/>
              </a:rPr>
              <a:t>1</a:t>
            </a:r>
            <a:endParaRPr lang="en-US" sz="1050" dirty="0"/>
          </a:p>
        </p:txBody>
      </p:sp>
      <p:sp>
        <p:nvSpPr>
          <p:cNvPr id="30" name="Text 28"/>
          <p:cNvSpPr/>
          <p:nvPr/>
        </p:nvSpPr>
        <p:spPr>
          <a:xfrm>
            <a:off x="1152144" y="4233672"/>
            <a:ext cx="4786884" cy="402336"/>
          </a:xfrm>
          <a:prstGeom prst="rect">
            <a:avLst/>
          </a:prstGeom>
          <a:noFill/>
          <a:ln/>
        </p:spPr>
        <p:txBody>
          <a:bodyPr wrap="square" lIns="0" tIns="0" rIns="0" bIns="0" rtlCol="0" anchor="ctr"/>
          <a:lstStyle/>
          <a:p>
            <a:pPr indent="0" marL="0">
              <a:lnSpc>
                <a:spcPts val="1400"/>
              </a:lnSpc>
              <a:buNone/>
            </a:pPr>
            <a:r>
              <a:rPr lang="en-US" sz="1150" dirty="0">
                <a:solidFill>
                  <a:srgbClr val="3E3E4B"/>
                </a:solidFill>
                <a:latin typeface="Calibri" pitchFamily="34" charset="0"/>
                <a:ea typeface="Calibri" pitchFamily="34" charset="-122"/>
                <a:cs typeface="Calibri" pitchFamily="34" charset="-120"/>
              </a:rPr>
              <a:t>A 100-Gbps interface does not guarantee a 100-Gbps migration stream.</a:t>
            </a:r>
            <a:endParaRPr lang="en-US" sz="1150" dirty="0"/>
          </a:p>
        </p:txBody>
      </p:sp>
      <p:sp>
        <p:nvSpPr>
          <p:cNvPr id="31" name="Shape 29"/>
          <p:cNvSpPr/>
          <p:nvPr/>
        </p:nvSpPr>
        <p:spPr>
          <a:xfrm>
            <a:off x="6094476" y="4261104"/>
            <a:ext cx="256032" cy="256032"/>
          </a:xfrm>
          <a:prstGeom prst="ellipse">
            <a:avLst/>
          </a:prstGeom>
          <a:solidFill>
            <a:srgbClr val="00B3E2"/>
          </a:solidFill>
          <a:ln/>
        </p:spPr>
      </p:sp>
      <p:sp>
        <p:nvSpPr>
          <p:cNvPr id="32" name="Text 30"/>
          <p:cNvSpPr/>
          <p:nvPr/>
        </p:nvSpPr>
        <p:spPr>
          <a:xfrm>
            <a:off x="6094476" y="4261104"/>
            <a:ext cx="256032" cy="256032"/>
          </a:xfrm>
          <a:prstGeom prst="rect">
            <a:avLst/>
          </a:prstGeom>
          <a:noFill/>
          <a:ln/>
        </p:spPr>
        <p:txBody>
          <a:bodyPr wrap="square" lIns="0" tIns="0" rIns="0" bIns="0" rtlCol="0" anchor="ctr"/>
          <a:lstStyle/>
          <a:p>
            <a:pPr algn="ctr" indent="0" marL="0">
              <a:buNone/>
            </a:pPr>
            <a:r>
              <a:rPr lang="en-US" sz="1050" b="1" dirty="0">
                <a:solidFill>
                  <a:srgbClr val="3E3E4B"/>
                </a:solidFill>
                <a:latin typeface="Arial" pitchFamily="34" charset="0"/>
                <a:ea typeface="Arial" pitchFamily="34" charset="-122"/>
                <a:cs typeface="Arial" pitchFamily="34" charset="-120"/>
              </a:rPr>
              <a:t>2</a:t>
            </a:r>
            <a:endParaRPr lang="en-US" sz="1050" dirty="0"/>
          </a:p>
        </p:txBody>
      </p:sp>
      <p:sp>
        <p:nvSpPr>
          <p:cNvPr id="33" name="Text 31"/>
          <p:cNvSpPr/>
          <p:nvPr/>
        </p:nvSpPr>
        <p:spPr>
          <a:xfrm>
            <a:off x="6441948" y="4233672"/>
            <a:ext cx="4786884" cy="402336"/>
          </a:xfrm>
          <a:prstGeom prst="rect">
            <a:avLst/>
          </a:prstGeom>
          <a:noFill/>
          <a:ln/>
        </p:spPr>
        <p:txBody>
          <a:bodyPr wrap="square" lIns="0" tIns="0" rIns="0" bIns="0" rtlCol="0" anchor="ctr"/>
          <a:lstStyle/>
          <a:p>
            <a:pPr indent="0" marL="0">
              <a:lnSpc>
                <a:spcPts val="1400"/>
              </a:lnSpc>
              <a:buNone/>
            </a:pPr>
            <a:r>
              <a:rPr lang="en-US" sz="1150" dirty="0">
                <a:solidFill>
                  <a:srgbClr val="3E3E4B"/>
                </a:solidFill>
                <a:latin typeface="Calibri" pitchFamily="34" charset="0"/>
                <a:ea typeface="Calibri" pitchFamily="34" charset="-122"/>
                <a:cs typeface="Calibri" pitchFamily="34" charset="-120"/>
              </a:rPr>
              <a:t>Initial synchronization may take longer than on a Gen 1 ExpressRoute path.</a:t>
            </a:r>
            <a:endParaRPr lang="en-US" sz="1150" dirty="0"/>
          </a:p>
        </p:txBody>
      </p:sp>
      <p:sp>
        <p:nvSpPr>
          <p:cNvPr id="34" name="Shape 32"/>
          <p:cNvSpPr/>
          <p:nvPr/>
        </p:nvSpPr>
        <p:spPr>
          <a:xfrm>
            <a:off x="804672" y="4681728"/>
            <a:ext cx="256032" cy="256032"/>
          </a:xfrm>
          <a:prstGeom prst="ellipse">
            <a:avLst/>
          </a:prstGeom>
          <a:solidFill>
            <a:srgbClr val="00B3E2"/>
          </a:solidFill>
          <a:ln/>
        </p:spPr>
      </p:sp>
      <p:sp>
        <p:nvSpPr>
          <p:cNvPr id="35" name="Text 33"/>
          <p:cNvSpPr/>
          <p:nvPr/>
        </p:nvSpPr>
        <p:spPr>
          <a:xfrm>
            <a:off x="804672" y="4681728"/>
            <a:ext cx="256032" cy="256032"/>
          </a:xfrm>
          <a:prstGeom prst="rect">
            <a:avLst/>
          </a:prstGeom>
          <a:noFill/>
          <a:ln/>
        </p:spPr>
        <p:txBody>
          <a:bodyPr wrap="square" lIns="0" tIns="0" rIns="0" bIns="0" rtlCol="0" anchor="ctr"/>
          <a:lstStyle/>
          <a:p>
            <a:pPr algn="ctr" indent="0" marL="0">
              <a:buNone/>
            </a:pPr>
            <a:r>
              <a:rPr lang="en-US" sz="1050" b="1" dirty="0">
                <a:solidFill>
                  <a:srgbClr val="3E3E4B"/>
                </a:solidFill>
                <a:latin typeface="Arial" pitchFamily="34" charset="0"/>
                <a:ea typeface="Arial" pitchFamily="34" charset="-122"/>
                <a:cs typeface="Arial" pitchFamily="34" charset="-120"/>
              </a:rPr>
              <a:t>3</a:t>
            </a:r>
            <a:endParaRPr lang="en-US" sz="1050" dirty="0"/>
          </a:p>
        </p:txBody>
      </p:sp>
      <p:sp>
        <p:nvSpPr>
          <p:cNvPr id="36" name="Text 34"/>
          <p:cNvSpPr/>
          <p:nvPr/>
        </p:nvSpPr>
        <p:spPr>
          <a:xfrm>
            <a:off x="1152144" y="4654296"/>
            <a:ext cx="4786884" cy="402336"/>
          </a:xfrm>
          <a:prstGeom prst="rect">
            <a:avLst/>
          </a:prstGeom>
          <a:noFill/>
          <a:ln/>
        </p:spPr>
        <p:txBody>
          <a:bodyPr wrap="square" lIns="0" tIns="0" rIns="0" bIns="0" rtlCol="0" anchor="ctr"/>
          <a:lstStyle/>
          <a:p>
            <a:pPr indent="0" marL="0">
              <a:lnSpc>
                <a:spcPts val="1400"/>
              </a:lnSpc>
              <a:buNone/>
            </a:pPr>
            <a:r>
              <a:rPr lang="en-US" sz="1150" dirty="0">
                <a:solidFill>
                  <a:srgbClr val="3E3E4B"/>
                </a:solidFill>
                <a:latin typeface="Calibri" pitchFamily="34" charset="0"/>
                <a:ea typeface="Calibri" pitchFamily="34" charset="-122"/>
                <a:cs typeface="Calibri" pitchFamily="34" charset="-120"/>
              </a:rPr>
              <a:t>Large database migrations may require smaller waves.</a:t>
            </a:r>
            <a:endParaRPr lang="en-US" sz="1150" dirty="0"/>
          </a:p>
        </p:txBody>
      </p:sp>
      <p:sp>
        <p:nvSpPr>
          <p:cNvPr id="37" name="Shape 35"/>
          <p:cNvSpPr/>
          <p:nvPr/>
        </p:nvSpPr>
        <p:spPr>
          <a:xfrm>
            <a:off x="6094476" y="4681728"/>
            <a:ext cx="256032" cy="256032"/>
          </a:xfrm>
          <a:prstGeom prst="ellipse">
            <a:avLst/>
          </a:prstGeom>
          <a:solidFill>
            <a:srgbClr val="00B3E2"/>
          </a:solidFill>
          <a:ln/>
        </p:spPr>
      </p:sp>
      <p:sp>
        <p:nvSpPr>
          <p:cNvPr id="38" name="Text 36"/>
          <p:cNvSpPr/>
          <p:nvPr/>
        </p:nvSpPr>
        <p:spPr>
          <a:xfrm>
            <a:off x="6094476" y="4681728"/>
            <a:ext cx="256032" cy="256032"/>
          </a:xfrm>
          <a:prstGeom prst="rect">
            <a:avLst/>
          </a:prstGeom>
          <a:noFill/>
          <a:ln/>
        </p:spPr>
        <p:txBody>
          <a:bodyPr wrap="square" lIns="0" tIns="0" rIns="0" bIns="0" rtlCol="0" anchor="ctr"/>
          <a:lstStyle/>
          <a:p>
            <a:pPr algn="ctr" indent="0" marL="0">
              <a:buNone/>
            </a:pPr>
            <a:r>
              <a:rPr lang="en-US" sz="1050" b="1" dirty="0">
                <a:solidFill>
                  <a:srgbClr val="3E3E4B"/>
                </a:solidFill>
                <a:latin typeface="Arial" pitchFamily="34" charset="0"/>
                <a:ea typeface="Arial" pitchFamily="34" charset="-122"/>
                <a:cs typeface="Arial" pitchFamily="34" charset="-120"/>
              </a:rPr>
              <a:t>4</a:t>
            </a:r>
            <a:endParaRPr lang="en-US" sz="1050" dirty="0"/>
          </a:p>
        </p:txBody>
      </p:sp>
      <p:sp>
        <p:nvSpPr>
          <p:cNvPr id="39" name="Text 37"/>
          <p:cNvSpPr/>
          <p:nvPr/>
        </p:nvSpPr>
        <p:spPr>
          <a:xfrm>
            <a:off x="6441948" y="4654296"/>
            <a:ext cx="4786884" cy="402336"/>
          </a:xfrm>
          <a:prstGeom prst="rect">
            <a:avLst/>
          </a:prstGeom>
          <a:noFill/>
          <a:ln/>
        </p:spPr>
        <p:txBody>
          <a:bodyPr wrap="square" lIns="0" tIns="0" rIns="0" bIns="0" rtlCol="0" anchor="ctr"/>
          <a:lstStyle/>
          <a:p>
            <a:pPr indent="0" marL="0">
              <a:lnSpc>
                <a:spcPts val="1400"/>
              </a:lnSpc>
              <a:buNone/>
            </a:pPr>
            <a:r>
              <a:rPr lang="en-US" sz="1150" dirty="0">
                <a:solidFill>
                  <a:srgbClr val="3E3E4B"/>
                </a:solidFill>
                <a:latin typeface="Calibri" pitchFamily="34" charset="0"/>
                <a:ea typeface="Calibri" pitchFamily="34" charset="-122"/>
                <a:cs typeface="Calibri" pitchFamily="34" charset="-120"/>
              </a:rPr>
              <a:t>Weekend migration windows should include additional contingency.</a:t>
            </a:r>
            <a:endParaRPr lang="en-US" sz="1150" dirty="0"/>
          </a:p>
        </p:txBody>
      </p:sp>
      <p:sp>
        <p:nvSpPr>
          <p:cNvPr id="40" name="Shape 38"/>
          <p:cNvSpPr/>
          <p:nvPr/>
        </p:nvSpPr>
        <p:spPr>
          <a:xfrm>
            <a:off x="804672" y="5102352"/>
            <a:ext cx="256032" cy="256032"/>
          </a:xfrm>
          <a:prstGeom prst="ellipse">
            <a:avLst/>
          </a:prstGeom>
          <a:solidFill>
            <a:srgbClr val="00B3E2"/>
          </a:solidFill>
          <a:ln/>
        </p:spPr>
      </p:sp>
      <p:sp>
        <p:nvSpPr>
          <p:cNvPr id="41" name="Text 39"/>
          <p:cNvSpPr/>
          <p:nvPr/>
        </p:nvSpPr>
        <p:spPr>
          <a:xfrm>
            <a:off x="804672" y="5102352"/>
            <a:ext cx="256032" cy="256032"/>
          </a:xfrm>
          <a:prstGeom prst="rect">
            <a:avLst/>
          </a:prstGeom>
          <a:noFill/>
          <a:ln/>
        </p:spPr>
        <p:txBody>
          <a:bodyPr wrap="square" lIns="0" tIns="0" rIns="0" bIns="0" rtlCol="0" anchor="ctr"/>
          <a:lstStyle/>
          <a:p>
            <a:pPr algn="ctr" indent="0" marL="0">
              <a:buNone/>
            </a:pPr>
            <a:r>
              <a:rPr lang="en-US" sz="1050" b="1" dirty="0">
                <a:solidFill>
                  <a:srgbClr val="3E3E4B"/>
                </a:solidFill>
                <a:latin typeface="Arial" pitchFamily="34" charset="0"/>
                <a:ea typeface="Arial" pitchFamily="34" charset="-122"/>
                <a:cs typeface="Arial" pitchFamily="34" charset="-120"/>
              </a:rPr>
              <a:t>5</a:t>
            </a:r>
            <a:endParaRPr lang="en-US" sz="1050" dirty="0"/>
          </a:p>
        </p:txBody>
      </p:sp>
      <p:sp>
        <p:nvSpPr>
          <p:cNvPr id="42" name="Text 40"/>
          <p:cNvSpPr/>
          <p:nvPr/>
        </p:nvSpPr>
        <p:spPr>
          <a:xfrm>
            <a:off x="1152144" y="5074920"/>
            <a:ext cx="4786884" cy="402336"/>
          </a:xfrm>
          <a:prstGeom prst="rect">
            <a:avLst/>
          </a:prstGeom>
          <a:noFill/>
          <a:ln/>
        </p:spPr>
        <p:txBody>
          <a:bodyPr wrap="square" lIns="0" tIns="0" rIns="0" bIns="0" rtlCol="0" anchor="ctr"/>
          <a:lstStyle/>
          <a:p>
            <a:pPr indent="0" marL="0">
              <a:lnSpc>
                <a:spcPts val="1400"/>
              </a:lnSpc>
              <a:buNone/>
            </a:pPr>
            <a:r>
              <a:rPr lang="en-US" sz="1150" dirty="0">
                <a:solidFill>
                  <a:srgbClr val="3E3E4B"/>
                </a:solidFill>
                <a:latin typeface="Calibri" pitchFamily="34" charset="0"/>
                <a:ea typeface="Calibri" pitchFamily="34" charset="-122"/>
                <a:cs typeface="Calibri" pitchFamily="34" charset="-120"/>
              </a:rPr>
              <a:t>Cutover plans must account for prolonged sync and accumulated changed blocks.</a:t>
            </a:r>
            <a:endParaRPr lang="en-US" sz="1150" dirty="0"/>
          </a:p>
        </p:txBody>
      </p:sp>
      <p:sp>
        <p:nvSpPr>
          <p:cNvPr id="43" name="Shape 41"/>
          <p:cNvSpPr/>
          <p:nvPr/>
        </p:nvSpPr>
        <p:spPr>
          <a:xfrm>
            <a:off x="6094476" y="5102352"/>
            <a:ext cx="256032" cy="256032"/>
          </a:xfrm>
          <a:prstGeom prst="ellipse">
            <a:avLst/>
          </a:prstGeom>
          <a:solidFill>
            <a:srgbClr val="00B3E2"/>
          </a:solidFill>
          <a:ln/>
        </p:spPr>
      </p:sp>
      <p:sp>
        <p:nvSpPr>
          <p:cNvPr id="44" name="Text 42"/>
          <p:cNvSpPr/>
          <p:nvPr/>
        </p:nvSpPr>
        <p:spPr>
          <a:xfrm>
            <a:off x="6094476" y="5102352"/>
            <a:ext cx="256032" cy="256032"/>
          </a:xfrm>
          <a:prstGeom prst="rect">
            <a:avLst/>
          </a:prstGeom>
          <a:noFill/>
          <a:ln/>
        </p:spPr>
        <p:txBody>
          <a:bodyPr wrap="square" lIns="0" tIns="0" rIns="0" bIns="0" rtlCol="0" anchor="ctr"/>
          <a:lstStyle/>
          <a:p>
            <a:pPr algn="ctr" indent="0" marL="0">
              <a:buNone/>
            </a:pPr>
            <a:r>
              <a:rPr lang="en-US" sz="1050" b="1" dirty="0">
                <a:solidFill>
                  <a:srgbClr val="3E3E4B"/>
                </a:solidFill>
                <a:latin typeface="Arial" pitchFamily="34" charset="0"/>
                <a:ea typeface="Arial" pitchFamily="34" charset="-122"/>
                <a:cs typeface="Arial" pitchFamily="34" charset="-120"/>
              </a:rPr>
              <a:t>6</a:t>
            </a:r>
            <a:endParaRPr lang="en-US" sz="1050" dirty="0"/>
          </a:p>
        </p:txBody>
      </p:sp>
      <p:sp>
        <p:nvSpPr>
          <p:cNvPr id="45" name="Text 43"/>
          <p:cNvSpPr/>
          <p:nvPr/>
        </p:nvSpPr>
        <p:spPr>
          <a:xfrm>
            <a:off x="6441948" y="5074920"/>
            <a:ext cx="4786884" cy="402336"/>
          </a:xfrm>
          <a:prstGeom prst="rect">
            <a:avLst/>
          </a:prstGeom>
          <a:noFill/>
          <a:ln/>
        </p:spPr>
        <p:txBody>
          <a:bodyPr wrap="square" lIns="0" tIns="0" rIns="0" bIns="0" rtlCol="0" anchor="ctr"/>
          <a:lstStyle/>
          <a:p>
            <a:pPr indent="0" marL="0">
              <a:lnSpc>
                <a:spcPts val="1400"/>
              </a:lnSpc>
              <a:buNone/>
            </a:pPr>
            <a:r>
              <a:rPr lang="en-US" sz="1150" dirty="0">
                <a:solidFill>
                  <a:srgbClr val="3E3E4B"/>
                </a:solidFill>
                <a:latin typeface="Calibri" pitchFamily="34" charset="0"/>
                <a:ea typeface="Calibri" pitchFamily="34" charset="-122"/>
                <a:cs typeface="Calibri" pitchFamily="34" charset="-120"/>
              </a:rPr>
              <a:t>Performance testing should use representative VM sizes, write rates, latency, MTU, and concurrency.</a:t>
            </a:r>
            <a:endParaRPr lang="en-US" sz="1150" dirty="0"/>
          </a:p>
        </p:txBody>
      </p:sp>
      <p:sp>
        <p:nvSpPr>
          <p:cNvPr id="46" name="Shape 44"/>
          <p:cNvSpPr/>
          <p:nvPr/>
        </p:nvSpPr>
        <p:spPr>
          <a:xfrm>
            <a:off x="548640" y="5715000"/>
            <a:ext cx="11091672" cy="548640"/>
          </a:xfrm>
          <a:prstGeom prst="roundRect">
            <a:avLst>
              <a:gd name="adj" fmla="val 15000"/>
            </a:avLst>
          </a:prstGeom>
          <a:solidFill>
            <a:srgbClr val="EBEDED"/>
          </a:solidFill>
          <a:ln/>
        </p:spPr>
      </p:sp>
      <p:sp>
        <p:nvSpPr>
          <p:cNvPr id="47" name="Text 45"/>
          <p:cNvSpPr/>
          <p:nvPr/>
        </p:nvSpPr>
        <p:spPr>
          <a:xfrm>
            <a:off x="731520" y="5715000"/>
            <a:ext cx="10725912" cy="548640"/>
          </a:xfrm>
          <a:prstGeom prst="rect">
            <a:avLst/>
          </a:prstGeom>
          <a:noFill/>
          <a:ln/>
        </p:spPr>
        <p:txBody>
          <a:bodyPr wrap="square" lIns="0" tIns="0" rIns="0" bIns="0" rtlCol="0" anchor="ctr"/>
          <a:lstStyle/>
          <a:p>
            <a:pPr indent="0" marL="0">
              <a:buNone/>
            </a:pPr>
            <a:r>
              <a:rPr lang="en-US" sz="1100" b="1" dirty="0">
                <a:solidFill>
                  <a:srgbClr val="00B3E2"/>
                </a:solidFill>
                <a:latin typeface="Arial" pitchFamily="34" charset="0"/>
                <a:ea typeface="Arial" pitchFamily="34" charset="-122"/>
                <a:cs typeface="Arial" pitchFamily="34" charset="-120"/>
              </a:rPr>
              <a:t>Takeaway   </a:t>
            </a:r>
            <a:pPr indent="0" marL="0">
              <a:buNone/>
            </a:pPr>
            <a:r>
              <a:rPr lang="en-US" sz="1200" dirty="0">
                <a:solidFill>
                  <a:srgbClr val="3E3E4B"/>
                </a:solidFill>
                <a:latin typeface="Calibri" pitchFamily="34" charset="0"/>
                <a:ea typeface="Calibri" pitchFamily="34" charset="-122"/>
                <a:cs typeface="Calibri" pitchFamily="34" charset="-120"/>
              </a:rPr>
              <a:t>Workload runtime performance and migration data-path performance are different design questions. Generation 2 can deliver the first while still requiring conservative windows for the second.</a:t>
            </a:r>
            <a:endParaRPr lang="en-US" sz="1100" dirty="0"/>
          </a:p>
        </p:txBody>
      </p:sp>
      <p:sp>
        <p:nvSpPr>
          <p:cNvPr id="48" name="Text 46"/>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11. Migration data-transfer performance</a:t>
            </a:r>
            <a:endParaRPr lang="en-US" sz="950" dirty="0"/>
          </a:p>
        </p:txBody>
      </p:sp>
      <p:sp>
        <p:nvSpPr>
          <p:cNvPr id="49" name="Text 47"/>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28</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3E3E4B"/>
        </a:solidFill>
      </p:bgPr>
    </p:bg>
    <p:spTree>
      <p:nvGrpSpPr>
        <p:cNvPr id="1" name=""/>
        <p:cNvGrpSpPr/>
        <p:nvPr/>
      </p:nvGrpSpPr>
      <p:grpSpPr>
        <a:xfrm>
          <a:off x="0" y="0"/>
          <a:ext cx="0" cy="0"/>
          <a:chOff x="0" y="0"/>
          <a:chExt cx="0" cy="0"/>
        </a:xfrm>
      </p:grpSpPr>
      <p:sp>
        <p:nvSpPr>
          <p:cNvPr id="2" name="Text 0"/>
          <p:cNvSpPr/>
          <p:nvPr/>
        </p:nvSpPr>
        <p:spPr>
          <a:xfrm>
            <a:off x="548640" y="1828800"/>
            <a:ext cx="2194560" cy="1371600"/>
          </a:xfrm>
          <a:prstGeom prst="rect">
            <a:avLst/>
          </a:prstGeom>
          <a:noFill/>
          <a:ln/>
        </p:spPr>
        <p:txBody>
          <a:bodyPr wrap="square" lIns="0" tIns="0" rIns="0" bIns="0" rtlCol="0" anchor="ctr"/>
          <a:lstStyle/>
          <a:p>
            <a:pPr indent="0" marL="0">
              <a:buNone/>
            </a:pPr>
            <a:r>
              <a:rPr lang="en-US" sz="10000" b="1" dirty="0">
                <a:solidFill>
                  <a:srgbClr val="00B3E2"/>
                </a:solidFill>
                <a:latin typeface="Arial" pitchFamily="34" charset="0"/>
                <a:ea typeface="Arial" pitchFamily="34" charset="-122"/>
                <a:cs typeface="Arial" pitchFamily="34" charset="-120"/>
              </a:rPr>
              <a:t>04</a:t>
            </a:r>
            <a:endParaRPr lang="en-US" sz="10000" dirty="0"/>
          </a:p>
        </p:txBody>
      </p:sp>
      <p:sp>
        <p:nvSpPr>
          <p:cNvPr id="3" name="Text 1"/>
          <p:cNvSpPr/>
          <p:nvPr/>
        </p:nvSpPr>
        <p:spPr>
          <a:xfrm>
            <a:off x="2468880" y="1920240"/>
            <a:ext cx="9171432" cy="77724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Resilience and operations</a:t>
            </a:r>
            <a:endParaRPr lang="en-US" sz="3400" dirty="0"/>
          </a:p>
        </p:txBody>
      </p:sp>
      <p:sp>
        <p:nvSpPr>
          <p:cNvPr id="4" name="Text 2"/>
          <p:cNvSpPr/>
          <p:nvPr/>
        </p:nvSpPr>
        <p:spPr>
          <a:xfrm>
            <a:off x="2468880" y="2743200"/>
            <a:ext cx="8897112" cy="914400"/>
          </a:xfrm>
          <a:prstGeom prst="rect">
            <a:avLst/>
          </a:prstGeom>
          <a:noFill/>
          <a:ln/>
        </p:spPr>
        <p:txBody>
          <a:bodyPr wrap="square" lIns="0" tIns="0" rIns="0" bIns="0" rtlCol="0" anchor="t"/>
          <a:lstStyle/>
          <a:p>
            <a:pPr indent="0" marL="0">
              <a:lnSpc>
                <a:spcPts val="2000"/>
              </a:lnSpc>
              <a:buNone/>
            </a:pPr>
            <a:r>
              <a:rPr lang="en-US" sz="1400" dirty="0">
                <a:solidFill>
                  <a:srgbClr val="B2E8F6"/>
                </a:solidFill>
                <a:latin typeface="Calibri" pitchFamily="34" charset="0"/>
                <a:ea typeface="Calibri" pitchFamily="34" charset="-122"/>
                <a:cs typeface="Calibri" pitchFamily="34" charset="-120"/>
              </a:rPr>
              <a:t>Rack-level resilience, zone-level high availability, and cross-region disaster recovery solve different failure problems. They are not interchangeable.</a:t>
            </a:r>
            <a:endParaRPr lang="en-US" sz="1400" dirty="0"/>
          </a:p>
        </p:txBody>
      </p:sp>
      <p:sp>
        <p:nvSpPr>
          <p:cNvPr id="5" name="Shape 3"/>
          <p:cNvSpPr/>
          <p:nvPr/>
        </p:nvSpPr>
        <p:spPr>
          <a:xfrm>
            <a:off x="2514600" y="2697480"/>
            <a:ext cx="1005840" cy="45720"/>
          </a:xfrm>
          <a:prstGeom prst="roundRect">
            <a:avLst>
              <a:gd name="adj" fmla="val 40000"/>
            </a:avLst>
          </a:prstGeom>
          <a:solidFill>
            <a:srgbClr val="00B3E2"/>
          </a:solidFill>
          <a:ln/>
        </p:spPr>
      </p:sp>
      <p:sp>
        <p:nvSpPr>
          <p:cNvPr id="6" name="Text 4"/>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Section</a:t>
            </a:r>
            <a:endParaRPr lang="en-US" sz="950" dirty="0"/>
          </a:p>
        </p:txBody>
      </p:sp>
      <p:sp>
        <p:nvSpPr>
          <p:cNvPr id="7" name="Text 5"/>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29</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12. GENERATION 1 RESILIENCE</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vSAN stretched clusters across availability zones</a:t>
            </a:r>
            <a:endParaRPr lang="en-US" sz="2800" dirty="0"/>
          </a:p>
        </p:txBody>
      </p:sp>
      <p:sp>
        <p:nvSpPr>
          <p:cNvPr id="4" name="Shape 2"/>
          <p:cNvSpPr/>
          <p:nvPr/>
        </p:nvSpPr>
        <p:spPr>
          <a:xfrm>
            <a:off x="548640" y="1280160"/>
            <a:ext cx="5577840" cy="4160520"/>
          </a:xfrm>
          <a:prstGeom prst="roundRect">
            <a:avLst>
              <a:gd name="adj" fmla="val 1978"/>
            </a:avLst>
          </a:prstGeom>
          <a:solidFill>
            <a:srgbClr val="FFFFFF"/>
          </a:solidFill>
          <a:ln w="12700">
            <a:solidFill>
              <a:srgbClr val="DDE2E2"/>
            </a:solidFill>
            <a:prstDash val="solid"/>
          </a:ln>
        </p:spPr>
      </p:sp>
      <p:pic>
        <p:nvPicPr>
          <p:cNvPr id="5" name="Image 0" descr="/home/claude/src/images/vsan-stretched-cluster-three-availability-zones.png">    </p:cNvPr>
          <p:cNvPicPr>
            <a:picLocks noChangeAspect="1"/>
          </p:cNvPicPr>
          <p:nvPr/>
        </p:nvPicPr>
        <p:blipFill>
          <a:blip r:embed="rId1"/>
          <a:srcRect l="0" r="0" t="0" b="0"/>
          <a:stretch/>
        </p:blipFill>
        <p:spPr>
          <a:xfrm>
            <a:off x="658368" y="1389888"/>
            <a:ext cx="5358384" cy="3630168"/>
          </a:xfrm>
          <a:prstGeom prst="rect">
            <a:avLst/>
          </a:prstGeom>
        </p:spPr>
      </p:pic>
      <p:sp>
        <p:nvSpPr>
          <p:cNvPr id="6" name="Text 3"/>
          <p:cNvSpPr/>
          <p:nvPr/>
        </p:nvSpPr>
        <p:spPr>
          <a:xfrm>
            <a:off x="658368" y="5093208"/>
            <a:ext cx="5358384" cy="256032"/>
          </a:xfrm>
          <a:prstGeom prst="rect">
            <a:avLst/>
          </a:prstGeom>
          <a:noFill/>
          <a:ln/>
        </p:spPr>
        <p:txBody>
          <a:bodyPr wrap="square" lIns="0" tIns="0" rIns="0" bIns="0" rtlCol="0" anchor="ctr"/>
          <a:lstStyle/>
          <a:p>
            <a:pPr algn="ctr" indent="0" marL="0">
              <a:buNone/>
            </a:pPr>
            <a:r>
              <a:rPr lang="en-US" sz="900" i="1" dirty="0">
                <a:solidFill>
                  <a:srgbClr val="6B6B78"/>
                </a:solidFill>
                <a:latin typeface="Calibri" pitchFamily="34" charset="0"/>
                <a:ea typeface="Calibri" pitchFamily="34" charset="-122"/>
                <a:cs typeface="Calibri" pitchFamily="34" charset="-120"/>
              </a:rPr>
              <a:t>Source: Microsoft Learn, Design vSAN stretched clusters</a:t>
            </a:r>
            <a:endParaRPr lang="en-US" sz="900" dirty="0"/>
          </a:p>
        </p:txBody>
      </p:sp>
      <p:sp>
        <p:nvSpPr>
          <p:cNvPr id="7" name="Shape 4"/>
          <p:cNvSpPr/>
          <p:nvPr/>
        </p:nvSpPr>
        <p:spPr>
          <a:xfrm>
            <a:off x="6355080" y="1280160"/>
            <a:ext cx="5285232" cy="2103120"/>
          </a:xfrm>
          <a:prstGeom prst="roundRect">
            <a:avLst>
              <a:gd name="adj" fmla="val 3913"/>
            </a:avLst>
          </a:prstGeom>
          <a:solidFill>
            <a:srgbClr val="EBEDED"/>
          </a:solidFill>
          <a:ln/>
        </p:spPr>
      </p:sp>
      <p:sp>
        <p:nvSpPr>
          <p:cNvPr id="8" name="Text 5"/>
          <p:cNvSpPr/>
          <p:nvPr/>
        </p:nvSpPr>
        <p:spPr>
          <a:xfrm>
            <a:off x="6592824" y="1389888"/>
            <a:ext cx="4828032"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Minimum six-host topology</a:t>
            </a:r>
            <a:endParaRPr lang="en-US" sz="1400" dirty="0"/>
          </a:p>
        </p:txBody>
      </p:sp>
      <p:sp>
        <p:nvSpPr>
          <p:cNvPr id="9" name="Text 6"/>
          <p:cNvSpPr/>
          <p:nvPr/>
        </p:nvSpPr>
        <p:spPr>
          <a:xfrm>
            <a:off x="6592824" y="1773936"/>
            <a:ext cx="1828800" cy="274320"/>
          </a:xfrm>
          <a:prstGeom prst="rect">
            <a:avLst/>
          </a:prstGeom>
          <a:noFill/>
          <a:ln/>
        </p:spPr>
        <p:txBody>
          <a:bodyPr wrap="square" lIns="0" tIns="0" rIns="0" bIns="0" rtlCol="0" anchor="ctr"/>
          <a:lstStyle/>
          <a:p>
            <a:pPr indent="0" marL="0">
              <a:buNone/>
            </a:pPr>
            <a:r>
              <a:rPr lang="en-US" sz="1150" b="1" dirty="0">
                <a:solidFill>
                  <a:srgbClr val="3E3E4B"/>
                </a:solidFill>
                <a:latin typeface="Calibri" pitchFamily="34" charset="0"/>
                <a:ea typeface="Calibri" pitchFamily="34" charset="-122"/>
                <a:cs typeface="Calibri" pitchFamily="34" charset="-120"/>
              </a:rPr>
              <a:t>Three data hosts</a:t>
            </a:r>
            <a:endParaRPr lang="en-US" sz="1150" dirty="0"/>
          </a:p>
        </p:txBody>
      </p:sp>
      <p:sp>
        <p:nvSpPr>
          <p:cNvPr id="10" name="Text 7"/>
          <p:cNvSpPr/>
          <p:nvPr/>
        </p:nvSpPr>
        <p:spPr>
          <a:xfrm>
            <a:off x="8458200" y="1773936"/>
            <a:ext cx="2944368" cy="274320"/>
          </a:xfrm>
          <a:prstGeom prst="rect">
            <a:avLst/>
          </a:prstGeom>
          <a:noFill/>
          <a:ln/>
        </p:spPr>
        <p:txBody>
          <a:bodyPr wrap="square" lIns="0" tIns="0" rIns="0" bIns="0" rtlCol="0" anchor="ctr"/>
          <a:lstStyle/>
          <a:p>
            <a:pPr indent="0" marL="0">
              <a:buNone/>
            </a:pPr>
            <a:r>
              <a:rPr lang="en-US" sz="1150" dirty="0">
                <a:solidFill>
                  <a:srgbClr val="3E3E4B"/>
                </a:solidFill>
                <a:latin typeface="Calibri" pitchFamily="34" charset="0"/>
                <a:ea typeface="Calibri" pitchFamily="34" charset="-122"/>
                <a:cs typeface="Calibri" pitchFamily="34" charset="-120"/>
              </a:rPr>
              <a:t>Availability Zone 1</a:t>
            </a:r>
            <a:endParaRPr lang="en-US" sz="1150" dirty="0"/>
          </a:p>
        </p:txBody>
      </p:sp>
      <p:sp>
        <p:nvSpPr>
          <p:cNvPr id="11" name="Text 8"/>
          <p:cNvSpPr/>
          <p:nvPr/>
        </p:nvSpPr>
        <p:spPr>
          <a:xfrm>
            <a:off x="6592824" y="2075688"/>
            <a:ext cx="1828800" cy="274320"/>
          </a:xfrm>
          <a:prstGeom prst="rect">
            <a:avLst/>
          </a:prstGeom>
          <a:noFill/>
          <a:ln/>
        </p:spPr>
        <p:txBody>
          <a:bodyPr wrap="square" lIns="0" tIns="0" rIns="0" bIns="0" rtlCol="0" anchor="ctr"/>
          <a:lstStyle/>
          <a:p>
            <a:pPr indent="0" marL="0">
              <a:buNone/>
            </a:pPr>
            <a:r>
              <a:rPr lang="en-US" sz="1150" b="1" dirty="0">
                <a:solidFill>
                  <a:srgbClr val="3E3E4B"/>
                </a:solidFill>
                <a:latin typeface="Calibri" pitchFamily="34" charset="0"/>
                <a:ea typeface="Calibri" pitchFamily="34" charset="-122"/>
                <a:cs typeface="Calibri" pitchFamily="34" charset="-120"/>
              </a:rPr>
              <a:t>Three data hosts</a:t>
            </a:r>
            <a:endParaRPr lang="en-US" sz="1150" dirty="0"/>
          </a:p>
        </p:txBody>
      </p:sp>
      <p:sp>
        <p:nvSpPr>
          <p:cNvPr id="12" name="Text 9"/>
          <p:cNvSpPr/>
          <p:nvPr/>
        </p:nvSpPr>
        <p:spPr>
          <a:xfrm>
            <a:off x="8458200" y="2075688"/>
            <a:ext cx="2944368" cy="274320"/>
          </a:xfrm>
          <a:prstGeom prst="rect">
            <a:avLst/>
          </a:prstGeom>
          <a:noFill/>
          <a:ln/>
        </p:spPr>
        <p:txBody>
          <a:bodyPr wrap="square" lIns="0" tIns="0" rIns="0" bIns="0" rtlCol="0" anchor="ctr"/>
          <a:lstStyle/>
          <a:p>
            <a:pPr indent="0" marL="0">
              <a:buNone/>
            </a:pPr>
            <a:r>
              <a:rPr lang="en-US" sz="1150" dirty="0">
                <a:solidFill>
                  <a:srgbClr val="3E3E4B"/>
                </a:solidFill>
                <a:latin typeface="Calibri" pitchFamily="34" charset="0"/>
                <a:ea typeface="Calibri" pitchFamily="34" charset="-122"/>
                <a:cs typeface="Calibri" pitchFamily="34" charset="-120"/>
              </a:rPr>
              <a:t>Availability Zone 2</a:t>
            </a:r>
            <a:endParaRPr lang="en-US" sz="1150" dirty="0"/>
          </a:p>
        </p:txBody>
      </p:sp>
      <p:sp>
        <p:nvSpPr>
          <p:cNvPr id="13" name="Text 10"/>
          <p:cNvSpPr/>
          <p:nvPr/>
        </p:nvSpPr>
        <p:spPr>
          <a:xfrm>
            <a:off x="6592824" y="2377440"/>
            <a:ext cx="1828800" cy="274320"/>
          </a:xfrm>
          <a:prstGeom prst="rect">
            <a:avLst/>
          </a:prstGeom>
          <a:noFill/>
          <a:ln/>
        </p:spPr>
        <p:txBody>
          <a:bodyPr wrap="square" lIns="0" tIns="0" rIns="0" bIns="0" rtlCol="0" anchor="ctr"/>
          <a:lstStyle/>
          <a:p>
            <a:pPr indent="0" marL="0">
              <a:buNone/>
            </a:pPr>
            <a:r>
              <a:rPr lang="en-US" sz="1150" b="1" dirty="0">
                <a:solidFill>
                  <a:srgbClr val="3E3E4B"/>
                </a:solidFill>
                <a:latin typeface="Calibri" pitchFamily="34" charset="0"/>
                <a:ea typeface="Calibri" pitchFamily="34" charset="-122"/>
                <a:cs typeface="Calibri" pitchFamily="34" charset="-120"/>
              </a:rPr>
              <a:t>Witness appliance</a:t>
            </a:r>
            <a:endParaRPr lang="en-US" sz="1150" dirty="0"/>
          </a:p>
        </p:txBody>
      </p:sp>
      <p:sp>
        <p:nvSpPr>
          <p:cNvPr id="14" name="Text 11"/>
          <p:cNvSpPr/>
          <p:nvPr/>
        </p:nvSpPr>
        <p:spPr>
          <a:xfrm>
            <a:off x="8458200" y="2377440"/>
            <a:ext cx="2944368" cy="274320"/>
          </a:xfrm>
          <a:prstGeom prst="rect">
            <a:avLst/>
          </a:prstGeom>
          <a:noFill/>
          <a:ln/>
        </p:spPr>
        <p:txBody>
          <a:bodyPr wrap="square" lIns="0" tIns="0" rIns="0" bIns="0" rtlCol="0" anchor="ctr"/>
          <a:lstStyle/>
          <a:p>
            <a:pPr indent="0" marL="0">
              <a:buNone/>
            </a:pPr>
            <a:r>
              <a:rPr lang="en-US" sz="1150" dirty="0">
                <a:solidFill>
                  <a:srgbClr val="3E3E4B"/>
                </a:solidFill>
                <a:latin typeface="Calibri" pitchFamily="34" charset="0"/>
                <a:ea typeface="Calibri" pitchFamily="34" charset="-122"/>
                <a:cs typeface="Calibri" pitchFamily="34" charset="-120"/>
              </a:rPr>
              <a:t>A separate third zone</a:t>
            </a:r>
            <a:endParaRPr lang="en-US" sz="1150" dirty="0"/>
          </a:p>
        </p:txBody>
      </p:sp>
      <p:sp>
        <p:nvSpPr>
          <p:cNvPr id="15" name="Text 12"/>
          <p:cNvSpPr/>
          <p:nvPr/>
        </p:nvSpPr>
        <p:spPr>
          <a:xfrm>
            <a:off x="6592824" y="2679192"/>
            <a:ext cx="1828800" cy="274320"/>
          </a:xfrm>
          <a:prstGeom prst="rect">
            <a:avLst/>
          </a:prstGeom>
          <a:noFill/>
          <a:ln/>
        </p:spPr>
        <p:txBody>
          <a:bodyPr wrap="square" lIns="0" tIns="0" rIns="0" bIns="0" rtlCol="0" anchor="ctr"/>
          <a:lstStyle/>
          <a:p>
            <a:pPr indent="0" marL="0">
              <a:buNone/>
            </a:pPr>
            <a:r>
              <a:rPr lang="en-US" sz="1150" b="1" dirty="0">
                <a:solidFill>
                  <a:srgbClr val="3E3E4B"/>
                </a:solidFill>
                <a:latin typeface="Calibri" pitchFamily="34" charset="0"/>
                <a:ea typeface="Calibri" pitchFamily="34" charset="-122"/>
                <a:cs typeface="Calibri" pitchFamily="34" charset="-120"/>
              </a:rPr>
              <a:t>VMware management</a:t>
            </a:r>
            <a:endParaRPr lang="en-US" sz="1150" dirty="0"/>
          </a:p>
        </p:txBody>
      </p:sp>
      <p:sp>
        <p:nvSpPr>
          <p:cNvPr id="16" name="Text 13"/>
          <p:cNvSpPr/>
          <p:nvPr/>
        </p:nvSpPr>
        <p:spPr>
          <a:xfrm>
            <a:off x="8458200" y="2679192"/>
            <a:ext cx="2944368" cy="274320"/>
          </a:xfrm>
          <a:prstGeom prst="rect">
            <a:avLst/>
          </a:prstGeom>
          <a:noFill/>
          <a:ln/>
        </p:spPr>
        <p:txBody>
          <a:bodyPr wrap="square" lIns="0" tIns="0" rIns="0" bIns="0" rtlCol="0" anchor="ctr"/>
          <a:lstStyle/>
          <a:p>
            <a:pPr indent="0" marL="0">
              <a:buNone/>
            </a:pPr>
            <a:r>
              <a:rPr lang="en-US" sz="1150" dirty="0">
                <a:solidFill>
                  <a:srgbClr val="3E3E4B"/>
                </a:solidFill>
                <a:latin typeface="Calibri" pitchFamily="34" charset="0"/>
                <a:ea typeface="Calibri" pitchFamily="34" charset="-122"/>
                <a:cs typeface="Calibri" pitchFamily="34" charset="-120"/>
              </a:rPr>
              <a:t>One logical cluster</a:t>
            </a:r>
            <a:endParaRPr lang="en-US" sz="1150" dirty="0"/>
          </a:p>
        </p:txBody>
      </p:sp>
      <p:sp>
        <p:nvSpPr>
          <p:cNvPr id="17" name="Text 14"/>
          <p:cNvSpPr/>
          <p:nvPr/>
        </p:nvSpPr>
        <p:spPr>
          <a:xfrm>
            <a:off x="6592824" y="2980944"/>
            <a:ext cx="1828800" cy="274320"/>
          </a:xfrm>
          <a:prstGeom prst="rect">
            <a:avLst/>
          </a:prstGeom>
          <a:noFill/>
          <a:ln/>
        </p:spPr>
        <p:txBody>
          <a:bodyPr wrap="square" lIns="0" tIns="0" rIns="0" bIns="0" rtlCol="0" anchor="ctr"/>
          <a:lstStyle/>
          <a:p>
            <a:pPr indent="0" marL="0">
              <a:buNone/>
            </a:pPr>
            <a:r>
              <a:rPr lang="en-US" sz="1150" b="1" dirty="0">
                <a:solidFill>
                  <a:srgbClr val="3E3E4B"/>
                </a:solidFill>
                <a:latin typeface="Calibri" pitchFamily="34" charset="0"/>
                <a:ea typeface="Calibri" pitchFamily="34" charset="-122"/>
                <a:cs typeface="Calibri" pitchFamily="34" charset="-120"/>
              </a:rPr>
              <a:t>Workload operation</a:t>
            </a:r>
            <a:endParaRPr lang="en-US" sz="1150" dirty="0"/>
          </a:p>
        </p:txBody>
      </p:sp>
      <p:sp>
        <p:nvSpPr>
          <p:cNvPr id="18" name="Text 15"/>
          <p:cNvSpPr/>
          <p:nvPr/>
        </p:nvSpPr>
        <p:spPr>
          <a:xfrm>
            <a:off x="8458200" y="2980944"/>
            <a:ext cx="2944368" cy="274320"/>
          </a:xfrm>
          <a:prstGeom prst="rect">
            <a:avLst/>
          </a:prstGeom>
          <a:noFill/>
          <a:ln/>
        </p:spPr>
        <p:txBody>
          <a:bodyPr wrap="square" lIns="0" tIns="0" rIns="0" bIns="0" rtlCol="0" anchor="ctr"/>
          <a:lstStyle/>
          <a:p>
            <a:pPr indent="0" marL="0">
              <a:buNone/>
            </a:pPr>
            <a:r>
              <a:rPr lang="en-US" sz="1150" dirty="0">
                <a:solidFill>
                  <a:srgbClr val="3E3E4B"/>
                </a:solidFill>
                <a:latin typeface="Calibri" pitchFamily="34" charset="0"/>
                <a:ea typeface="Calibri" pitchFamily="34" charset="-122"/>
                <a:cs typeface="Calibri" pitchFamily="34" charset="-120"/>
              </a:rPr>
              <a:t>Both data zones run workloads</a:t>
            </a:r>
            <a:endParaRPr lang="en-US" sz="1150" dirty="0"/>
          </a:p>
        </p:txBody>
      </p:sp>
      <p:sp>
        <p:nvSpPr>
          <p:cNvPr id="19" name="Shape 16"/>
          <p:cNvSpPr/>
          <p:nvPr/>
        </p:nvSpPr>
        <p:spPr>
          <a:xfrm>
            <a:off x="6355080" y="3520440"/>
            <a:ext cx="5285232" cy="1920240"/>
          </a:xfrm>
          <a:prstGeom prst="roundRect">
            <a:avLst>
              <a:gd name="adj" fmla="val 4286"/>
            </a:avLst>
          </a:prstGeom>
          <a:solidFill>
            <a:srgbClr val="E5F7FC"/>
          </a:solidFill>
          <a:ln/>
        </p:spPr>
      </p:sp>
      <p:sp>
        <p:nvSpPr>
          <p:cNvPr id="20" name="Text 17"/>
          <p:cNvSpPr/>
          <p:nvPr/>
        </p:nvSpPr>
        <p:spPr>
          <a:xfrm>
            <a:off x="6592824" y="3630168"/>
            <a:ext cx="4828032"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Data protection behavior</a:t>
            </a:r>
            <a:endParaRPr lang="en-US" sz="1400" dirty="0"/>
          </a:p>
        </p:txBody>
      </p:sp>
      <p:sp>
        <p:nvSpPr>
          <p:cNvPr id="21" name="Text 18"/>
          <p:cNvSpPr/>
          <p:nvPr/>
        </p:nvSpPr>
        <p:spPr>
          <a:xfrm>
            <a:off x="6592824" y="4023360"/>
            <a:ext cx="4809744" cy="1325880"/>
          </a:xfrm>
          <a:prstGeom prst="rect">
            <a:avLst/>
          </a:prstGeom>
          <a:noFill/>
          <a:ln/>
        </p:spPr>
        <p:txBody>
          <a:bodyPr wrap="square" lIns="0" tIns="0" rIns="0" bIns="0" rtlCol="0" anchor="t"/>
          <a:lstStyle/>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Synchronous replication: vSAN writes data to both data zones.</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A write is not complete until both zones confirm storage according to policy.</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The witness provides quorum and prevents split-brain behavior.</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The witness does not hold the workload data itself.</a:t>
            </a:r>
            <a:endParaRPr lang="en-US" sz="1150" dirty="0"/>
          </a:p>
        </p:txBody>
      </p:sp>
      <p:sp>
        <p:nvSpPr>
          <p:cNvPr id="22" name="Shape 19"/>
          <p:cNvSpPr/>
          <p:nvPr/>
        </p:nvSpPr>
        <p:spPr>
          <a:xfrm>
            <a:off x="548640" y="5669280"/>
            <a:ext cx="11091672" cy="548640"/>
          </a:xfrm>
          <a:prstGeom prst="roundRect">
            <a:avLst>
              <a:gd name="adj" fmla="val 15000"/>
            </a:avLst>
          </a:prstGeom>
          <a:solidFill>
            <a:srgbClr val="EBEDED"/>
          </a:solidFill>
          <a:ln/>
        </p:spPr>
      </p:sp>
      <p:sp>
        <p:nvSpPr>
          <p:cNvPr id="23" name="Text 20"/>
          <p:cNvSpPr/>
          <p:nvPr/>
        </p:nvSpPr>
        <p:spPr>
          <a:xfrm>
            <a:off x="731520" y="5669280"/>
            <a:ext cx="10725912" cy="548640"/>
          </a:xfrm>
          <a:prstGeom prst="rect">
            <a:avLst/>
          </a:prstGeom>
          <a:noFill/>
          <a:ln/>
        </p:spPr>
        <p:txBody>
          <a:bodyPr wrap="square" lIns="0" tIns="0" rIns="0" bIns="0" rtlCol="0" anchor="ctr"/>
          <a:lstStyle/>
          <a:p>
            <a:pPr indent="0" marL="0">
              <a:buNone/>
            </a:pPr>
            <a:r>
              <a:rPr lang="en-US" sz="1100" b="1" dirty="0">
                <a:solidFill>
                  <a:srgbClr val="00B3E2"/>
                </a:solidFill>
                <a:latin typeface="Arial" pitchFamily="34" charset="0"/>
                <a:ea typeface="Arial" pitchFamily="34" charset="-122"/>
                <a:cs typeface="Arial" pitchFamily="34" charset="-120"/>
              </a:rPr>
              <a:t>Takeaway   </a:t>
            </a:r>
            <a:pPr indent="0" marL="0">
              <a:buNone/>
            </a:pPr>
            <a:r>
              <a:rPr lang="en-US" sz="1200" dirty="0">
                <a:solidFill>
                  <a:srgbClr val="3E3E4B"/>
                </a:solidFill>
                <a:latin typeface="Calibri" pitchFamily="34" charset="0"/>
                <a:ea typeface="Calibri" pitchFamily="34" charset="-122"/>
                <a:cs typeface="Calibri" pitchFamily="34" charset="-120"/>
              </a:rPr>
              <a:t>Availability-zone resilience is the strongest Generation 1 advantage. Separate zones have independent power, backup generation, cooling, and network paths.</a:t>
            </a:r>
            <a:endParaRPr lang="en-US" sz="1100" dirty="0"/>
          </a:p>
        </p:txBody>
      </p:sp>
      <p:sp>
        <p:nvSpPr>
          <p:cNvPr id="24" name="Text 21"/>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12. Availability zones and Generation 1 stretched clusters</a:t>
            </a:r>
            <a:endParaRPr lang="en-US" sz="950" dirty="0"/>
          </a:p>
        </p:txBody>
      </p:sp>
      <p:sp>
        <p:nvSpPr>
          <p:cNvPr id="25" name="Text 22"/>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30</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12.3 FAILURE SCENARIO</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Availability Zone 1 loses power completely</a:t>
            </a:r>
            <a:endParaRPr lang="en-US" sz="2800" dirty="0"/>
          </a:p>
        </p:txBody>
      </p:sp>
      <p:sp>
        <p:nvSpPr>
          <p:cNvPr id="4" name="Shape 2"/>
          <p:cNvSpPr/>
          <p:nvPr/>
        </p:nvSpPr>
        <p:spPr>
          <a:xfrm>
            <a:off x="548640" y="1298448"/>
            <a:ext cx="6766560" cy="3611880"/>
          </a:xfrm>
          <a:prstGeom prst="roundRect">
            <a:avLst>
              <a:gd name="adj" fmla="val 2278"/>
            </a:avLst>
          </a:prstGeom>
          <a:solidFill>
            <a:srgbClr val="EBEDED"/>
          </a:solidFill>
          <a:ln/>
        </p:spPr>
      </p:sp>
      <p:sp>
        <p:nvSpPr>
          <p:cNvPr id="5" name="Text 3"/>
          <p:cNvSpPr/>
          <p:nvPr/>
        </p:nvSpPr>
        <p:spPr>
          <a:xfrm>
            <a:off x="804672" y="1408176"/>
            <a:ext cx="6217920"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Sequence of events</a:t>
            </a:r>
            <a:endParaRPr lang="en-US" sz="1400" dirty="0"/>
          </a:p>
        </p:txBody>
      </p:sp>
      <p:sp>
        <p:nvSpPr>
          <p:cNvPr id="6" name="Shape 4"/>
          <p:cNvSpPr/>
          <p:nvPr/>
        </p:nvSpPr>
        <p:spPr>
          <a:xfrm>
            <a:off x="804672" y="1783080"/>
            <a:ext cx="292608" cy="292608"/>
          </a:xfrm>
          <a:prstGeom prst="ellipse">
            <a:avLst/>
          </a:prstGeom>
          <a:solidFill>
            <a:srgbClr val="00B3E2"/>
          </a:solidFill>
          <a:ln/>
        </p:spPr>
      </p:sp>
      <p:sp>
        <p:nvSpPr>
          <p:cNvPr id="7" name="Text 5"/>
          <p:cNvSpPr/>
          <p:nvPr/>
        </p:nvSpPr>
        <p:spPr>
          <a:xfrm>
            <a:off x="804672" y="1783080"/>
            <a:ext cx="292608" cy="292608"/>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1</a:t>
            </a:r>
            <a:endParaRPr lang="en-US" sz="1200" dirty="0"/>
          </a:p>
        </p:txBody>
      </p:sp>
      <p:sp>
        <p:nvSpPr>
          <p:cNvPr id="8" name="Text 6"/>
          <p:cNvSpPr/>
          <p:nvPr/>
        </p:nvSpPr>
        <p:spPr>
          <a:xfrm>
            <a:off x="1261872" y="1755648"/>
            <a:ext cx="5797296" cy="384048"/>
          </a:xfrm>
          <a:prstGeom prst="rect">
            <a:avLst/>
          </a:prstGeom>
          <a:noFill/>
          <a:ln/>
        </p:spPr>
        <p:txBody>
          <a:bodyPr wrap="square" lIns="0" tIns="0" rIns="0" bIns="0" rtlCol="0" anchor="t"/>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Hosts in Zone 1 become unavailable.</a:t>
            </a:r>
            <a:endParaRPr lang="en-US" sz="1200" dirty="0"/>
          </a:p>
        </p:txBody>
      </p:sp>
      <p:sp>
        <p:nvSpPr>
          <p:cNvPr id="9" name="Shape 7"/>
          <p:cNvSpPr/>
          <p:nvPr/>
        </p:nvSpPr>
        <p:spPr>
          <a:xfrm>
            <a:off x="804672" y="2203704"/>
            <a:ext cx="292608" cy="292608"/>
          </a:xfrm>
          <a:prstGeom prst="ellipse">
            <a:avLst/>
          </a:prstGeom>
          <a:solidFill>
            <a:srgbClr val="00B3E2"/>
          </a:solidFill>
          <a:ln/>
        </p:spPr>
      </p:sp>
      <p:sp>
        <p:nvSpPr>
          <p:cNvPr id="10" name="Text 8"/>
          <p:cNvSpPr/>
          <p:nvPr/>
        </p:nvSpPr>
        <p:spPr>
          <a:xfrm>
            <a:off x="804672" y="2203704"/>
            <a:ext cx="292608" cy="292608"/>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2</a:t>
            </a:r>
            <a:endParaRPr lang="en-US" sz="1200" dirty="0"/>
          </a:p>
        </p:txBody>
      </p:sp>
      <p:sp>
        <p:nvSpPr>
          <p:cNvPr id="11" name="Text 9"/>
          <p:cNvSpPr/>
          <p:nvPr/>
        </p:nvSpPr>
        <p:spPr>
          <a:xfrm>
            <a:off x="1261872" y="2176272"/>
            <a:ext cx="5797296" cy="384048"/>
          </a:xfrm>
          <a:prstGeom prst="rect">
            <a:avLst/>
          </a:prstGeom>
          <a:noFill/>
          <a:ln/>
        </p:spPr>
        <p:txBody>
          <a:bodyPr wrap="square" lIns="0" tIns="0" rIns="0" bIns="0" rtlCol="0" anchor="t"/>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An up-to-date data copy exists in Zone 2 because writes were synchronously replicated.</a:t>
            </a:r>
            <a:endParaRPr lang="en-US" sz="1200" dirty="0"/>
          </a:p>
        </p:txBody>
      </p:sp>
      <p:sp>
        <p:nvSpPr>
          <p:cNvPr id="12" name="Shape 10"/>
          <p:cNvSpPr/>
          <p:nvPr/>
        </p:nvSpPr>
        <p:spPr>
          <a:xfrm>
            <a:off x="804672" y="2624328"/>
            <a:ext cx="292608" cy="292608"/>
          </a:xfrm>
          <a:prstGeom prst="ellipse">
            <a:avLst/>
          </a:prstGeom>
          <a:solidFill>
            <a:srgbClr val="00B3E2"/>
          </a:solidFill>
          <a:ln/>
        </p:spPr>
      </p:sp>
      <p:sp>
        <p:nvSpPr>
          <p:cNvPr id="13" name="Text 11"/>
          <p:cNvSpPr/>
          <p:nvPr/>
        </p:nvSpPr>
        <p:spPr>
          <a:xfrm>
            <a:off x="804672" y="2624328"/>
            <a:ext cx="292608" cy="292608"/>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3</a:t>
            </a:r>
            <a:endParaRPr lang="en-US" sz="1200" dirty="0"/>
          </a:p>
        </p:txBody>
      </p:sp>
      <p:sp>
        <p:nvSpPr>
          <p:cNvPr id="14" name="Text 12"/>
          <p:cNvSpPr/>
          <p:nvPr/>
        </p:nvSpPr>
        <p:spPr>
          <a:xfrm>
            <a:off x="1261872" y="2596896"/>
            <a:ext cx="5797296" cy="384048"/>
          </a:xfrm>
          <a:prstGeom prst="rect">
            <a:avLst/>
          </a:prstGeom>
          <a:noFill/>
          <a:ln/>
        </p:spPr>
        <p:txBody>
          <a:bodyPr wrap="square" lIns="0" tIns="0" rIns="0" bIns="0" rtlCol="0" anchor="t"/>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VMware High Availability detects the host failures.</a:t>
            </a:r>
            <a:endParaRPr lang="en-US" sz="1200" dirty="0"/>
          </a:p>
        </p:txBody>
      </p:sp>
      <p:sp>
        <p:nvSpPr>
          <p:cNvPr id="15" name="Shape 13"/>
          <p:cNvSpPr/>
          <p:nvPr/>
        </p:nvSpPr>
        <p:spPr>
          <a:xfrm>
            <a:off x="804672" y="3044952"/>
            <a:ext cx="292608" cy="292608"/>
          </a:xfrm>
          <a:prstGeom prst="ellipse">
            <a:avLst/>
          </a:prstGeom>
          <a:solidFill>
            <a:srgbClr val="00B3E2"/>
          </a:solidFill>
          <a:ln/>
        </p:spPr>
      </p:sp>
      <p:sp>
        <p:nvSpPr>
          <p:cNvPr id="16" name="Text 14"/>
          <p:cNvSpPr/>
          <p:nvPr/>
        </p:nvSpPr>
        <p:spPr>
          <a:xfrm>
            <a:off x="804672" y="3044952"/>
            <a:ext cx="292608" cy="292608"/>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4</a:t>
            </a:r>
            <a:endParaRPr lang="en-US" sz="1200" dirty="0"/>
          </a:p>
        </p:txBody>
      </p:sp>
      <p:sp>
        <p:nvSpPr>
          <p:cNvPr id="17" name="Text 15"/>
          <p:cNvSpPr/>
          <p:nvPr/>
        </p:nvSpPr>
        <p:spPr>
          <a:xfrm>
            <a:off x="1261872" y="3017520"/>
            <a:ext cx="5797296" cy="384048"/>
          </a:xfrm>
          <a:prstGeom prst="rect">
            <a:avLst/>
          </a:prstGeom>
          <a:noFill/>
          <a:ln/>
        </p:spPr>
        <p:txBody>
          <a:bodyPr wrap="square" lIns="0" tIns="0" rIns="0" bIns="0" rtlCol="0" anchor="t"/>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The affected virtual machines power on using surviving storage in Zone 2.</a:t>
            </a:r>
            <a:endParaRPr lang="en-US" sz="1200" dirty="0"/>
          </a:p>
        </p:txBody>
      </p:sp>
      <p:sp>
        <p:nvSpPr>
          <p:cNvPr id="18" name="Shape 16"/>
          <p:cNvSpPr/>
          <p:nvPr/>
        </p:nvSpPr>
        <p:spPr>
          <a:xfrm>
            <a:off x="804672" y="3465576"/>
            <a:ext cx="292608" cy="292608"/>
          </a:xfrm>
          <a:prstGeom prst="ellipse">
            <a:avLst/>
          </a:prstGeom>
          <a:solidFill>
            <a:srgbClr val="00B3E2"/>
          </a:solidFill>
          <a:ln/>
        </p:spPr>
      </p:sp>
      <p:sp>
        <p:nvSpPr>
          <p:cNvPr id="19" name="Text 17"/>
          <p:cNvSpPr/>
          <p:nvPr/>
        </p:nvSpPr>
        <p:spPr>
          <a:xfrm>
            <a:off x="804672" y="3465576"/>
            <a:ext cx="292608" cy="292608"/>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5</a:t>
            </a:r>
            <a:endParaRPr lang="en-US" sz="1200" dirty="0"/>
          </a:p>
        </p:txBody>
      </p:sp>
      <p:sp>
        <p:nvSpPr>
          <p:cNvPr id="20" name="Text 18"/>
          <p:cNvSpPr/>
          <p:nvPr/>
        </p:nvSpPr>
        <p:spPr>
          <a:xfrm>
            <a:off x="1261872" y="3438144"/>
            <a:ext cx="5797296" cy="384048"/>
          </a:xfrm>
          <a:prstGeom prst="rect">
            <a:avLst/>
          </a:prstGeom>
          <a:noFill/>
          <a:ln/>
        </p:spPr>
        <p:txBody>
          <a:bodyPr wrap="square" lIns="0" tIns="0" rIns="0" bIns="0" rtlCol="0" anchor="t"/>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Guest operating systems and applications recover after restart.</a:t>
            </a:r>
            <a:endParaRPr lang="en-US" sz="1200" dirty="0"/>
          </a:p>
        </p:txBody>
      </p:sp>
      <p:sp>
        <p:nvSpPr>
          <p:cNvPr id="21" name="Shape 19"/>
          <p:cNvSpPr/>
          <p:nvPr/>
        </p:nvSpPr>
        <p:spPr>
          <a:xfrm>
            <a:off x="804672" y="3886200"/>
            <a:ext cx="292608" cy="292608"/>
          </a:xfrm>
          <a:prstGeom prst="ellipse">
            <a:avLst/>
          </a:prstGeom>
          <a:solidFill>
            <a:srgbClr val="00B3E2"/>
          </a:solidFill>
          <a:ln/>
        </p:spPr>
      </p:sp>
      <p:sp>
        <p:nvSpPr>
          <p:cNvPr id="22" name="Text 20"/>
          <p:cNvSpPr/>
          <p:nvPr/>
        </p:nvSpPr>
        <p:spPr>
          <a:xfrm>
            <a:off x="804672" y="3886200"/>
            <a:ext cx="292608" cy="292608"/>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6</a:t>
            </a:r>
            <a:endParaRPr lang="en-US" sz="1200" dirty="0"/>
          </a:p>
        </p:txBody>
      </p:sp>
      <p:sp>
        <p:nvSpPr>
          <p:cNvPr id="23" name="Text 21"/>
          <p:cNvSpPr/>
          <p:nvPr/>
        </p:nvSpPr>
        <p:spPr>
          <a:xfrm>
            <a:off x="1261872" y="3858768"/>
            <a:ext cx="5797296" cy="384048"/>
          </a:xfrm>
          <a:prstGeom prst="rect">
            <a:avLst/>
          </a:prstGeom>
          <a:noFill/>
          <a:ln/>
        </p:spPr>
        <p:txBody>
          <a:bodyPr wrap="square" lIns="0" tIns="0" rIns="0" bIns="0" rtlCol="0" anchor="t"/>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Zero expected data loss for committed writes.</a:t>
            </a:r>
            <a:endParaRPr lang="en-US" sz="1200" dirty="0"/>
          </a:p>
        </p:txBody>
      </p:sp>
      <p:sp>
        <p:nvSpPr>
          <p:cNvPr id="24" name="Shape 22"/>
          <p:cNvSpPr/>
          <p:nvPr/>
        </p:nvSpPr>
        <p:spPr>
          <a:xfrm>
            <a:off x="804672" y="4306824"/>
            <a:ext cx="292608" cy="292608"/>
          </a:xfrm>
          <a:prstGeom prst="ellipse">
            <a:avLst/>
          </a:prstGeom>
          <a:solidFill>
            <a:srgbClr val="00B3E2"/>
          </a:solidFill>
          <a:ln/>
        </p:spPr>
      </p:sp>
      <p:sp>
        <p:nvSpPr>
          <p:cNvPr id="25" name="Text 23"/>
          <p:cNvSpPr/>
          <p:nvPr/>
        </p:nvSpPr>
        <p:spPr>
          <a:xfrm>
            <a:off x="804672" y="4306824"/>
            <a:ext cx="292608" cy="292608"/>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7</a:t>
            </a:r>
            <a:endParaRPr lang="en-US" sz="1200" dirty="0"/>
          </a:p>
        </p:txBody>
      </p:sp>
      <p:sp>
        <p:nvSpPr>
          <p:cNvPr id="26" name="Text 24"/>
          <p:cNvSpPr/>
          <p:nvPr/>
        </p:nvSpPr>
        <p:spPr>
          <a:xfrm>
            <a:off x="1261872" y="4279392"/>
            <a:ext cx="5797296" cy="384048"/>
          </a:xfrm>
          <a:prstGeom prst="rect">
            <a:avLst/>
          </a:prstGeom>
          <a:noFill/>
          <a:ln/>
        </p:spPr>
        <p:txBody>
          <a:bodyPr wrap="square" lIns="0" tIns="0" rIns="0" bIns="0" rtlCol="0" anchor="t"/>
          <a:lstStyle/>
          <a:p>
            <a:pPr indent="0" marL="0">
              <a:lnSpc>
                <a:spcPts val="1500"/>
              </a:lnSpc>
              <a:buNone/>
            </a:pPr>
            <a:r>
              <a:rPr lang="en-US" sz="1200" dirty="0">
                <a:solidFill>
                  <a:srgbClr val="3E3E4B"/>
                </a:solidFill>
                <a:latin typeface="Calibri" pitchFamily="34" charset="0"/>
                <a:ea typeface="Calibri" pitchFamily="34" charset="-122"/>
                <a:cs typeface="Calibri" pitchFamily="34" charset="-120"/>
              </a:rPr>
              <a:t>Recovery occurs in minutes rather than requiring a backup restoration.</a:t>
            </a:r>
            <a:endParaRPr lang="en-US" sz="1200" dirty="0"/>
          </a:p>
        </p:txBody>
      </p:sp>
      <p:sp>
        <p:nvSpPr>
          <p:cNvPr id="27" name="Shape 25"/>
          <p:cNvSpPr/>
          <p:nvPr/>
        </p:nvSpPr>
        <p:spPr>
          <a:xfrm>
            <a:off x="7543800" y="1298448"/>
            <a:ext cx="4096512" cy="1554480"/>
          </a:xfrm>
          <a:prstGeom prst="roundRect">
            <a:avLst>
              <a:gd name="adj" fmla="val 5294"/>
            </a:avLst>
          </a:prstGeom>
          <a:solidFill>
            <a:srgbClr val="E2F2E8"/>
          </a:solidFill>
          <a:ln/>
        </p:spPr>
      </p:sp>
      <p:sp>
        <p:nvSpPr>
          <p:cNvPr id="28" name="Text 26"/>
          <p:cNvSpPr/>
          <p:nvPr/>
        </p:nvSpPr>
        <p:spPr>
          <a:xfrm>
            <a:off x="7726680" y="1463040"/>
            <a:ext cx="3730752" cy="685800"/>
          </a:xfrm>
          <a:prstGeom prst="rect">
            <a:avLst/>
          </a:prstGeom>
          <a:noFill/>
          <a:ln/>
        </p:spPr>
        <p:txBody>
          <a:bodyPr wrap="square" lIns="0" tIns="0" rIns="0" bIns="0" rtlCol="0" anchor="ctr"/>
          <a:lstStyle/>
          <a:p>
            <a:pPr algn="ctr" indent="0" marL="0">
              <a:buNone/>
            </a:pPr>
            <a:r>
              <a:rPr lang="en-US" sz="3800" b="1" dirty="0">
                <a:solidFill>
                  <a:srgbClr val="00AD93"/>
                </a:solidFill>
                <a:latin typeface="Arial" pitchFamily="34" charset="0"/>
                <a:ea typeface="Arial" pitchFamily="34" charset="-122"/>
                <a:cs typeface="Arial" pitchFamily="34" charset="-120"/>
              </a:rPr>
              <a:t>99.99%</a:t>
            </a:r>
            <a:endParaRPr lang="en-US" sz="3800" dirty="0"/>
          </a:p>
        </p:txBody>
      </p:sp>
      <p:sp>
        <p:nvSpPr>
          <p:cNvPr id="29" name="Text 27"/>
          <p:cNvSpPr/>
          <p:nvPr/>
        </p:nvSpPr>
        <p:spPr>
          <a:xfrm>
            <a:off x="7818120" y="2148840"/>
            <a:ext cx="3547872" cy="548640"/>
          </a:xfrm>
          <a:prstGeom prst="rect">
            <a:avLst/>
          </a:prstGeom>
          <a:noFill/>
          <a:ln/>
        </p:spPr>
        <p:txBody>
          <a:bodyPr wrap="square" lIns="0" tIns="0" rIns="0" bIns="0" rtlCol="0" anchor="t"/>
          <a:lstStyle/>
          <a:p>
            <a:pPr algn="ctr" indent="0" marL="0">
              <a:lnSpc>
                <a:spcPts val="1500"/>
              </a:lnSpc>
              <a:buNone/>
            </a:pPr>
            <a:r>
              <a:rPr lang="en-US" sz="1150" dirty="0">
                <a:solidFill>
                  <a:srgbClr val="3E3E4B"/>
                </a:solidFill>
                <a:latin typeface="Calibri" pitchFamily="34" charset="0"/>
                <a:ea typeface="Calibri" pitchFamily="34" charset="-122"/>
                <a:cs typeface="Calibri" pitchFamily="34" charset="-120"/>
              </a:rPr>
              <a:t>Uptime SLA associated with the stretched-cluster architecture</a:t>
            </a:r>
            <a:endParaRPr lang="en-US" sz="1150" dirty="0"/>
          </a:p>
        </p:txBody>
      </p:sp>
      <p:sp>
        <p:nvSpPr>
          <p:cNvPr id="30" name="Shape 28"/>
          <p:cNvSpPr/>
          <p:nvPr/>
        </p:nvSpPr>
        <p:spPr>
          <a:xfrm>
            <a:off x="7543800" y="2999232"/>
            <a:ext cx="4096512" cy="1911096"/>
          </a:xfrm>
          <a:prstGeom prst="roundRect">
            <a:avLst>
              <a:gd name="adj" fmla="val 4306"/>
            </a:avLst>
          </a:prstGeom>
          <a:solidFill>
            <a:srgbClr val="E5F7FC"/>
          </a:solidFill>
          <a:ln/>
        </p:spPr>
      </p:sp>
      <p:sp>
        <p:nvSpPr>
          <p:cNvPr id="31" name="Text 29"/>
          <p:cNvSpPr/>
          <p:nvPr/>
        </p:nvSpPr>
        <p:spPr>
          <a:xfrm>
            <a:off x="7781544" y="3108960"/>
            <a:ext cx="3639312" cy="274320"/>
          </a:xfrm>
          <a:prstGeom prst="rect">
            <a:avLst/>
          </a:prstGeom>
          <a:noFill/>
          <a:ln/>
        </p:spPr>
        <p:txBody>
          <a:bodyPr wrap="square" lIns="0" tIns="0" rIns="0" bIns="0" rtlCol="0" anchor="ctr"/>
          <a:lstStyle/>
          <a:p>
            <a:pPr indent="0" marL="0">
              <a:buNone/>
            </a:pPr>
            <a:r>
              <a:rPr lang="en-US" sz="1350" b="1" dirty="0">
                <a:solidFill>
                  <a:srgbClr val="3E3E4B"/>
                </a:solidFill>
                <a:latin typeface="Arial" pitchFamily="34" charset="0"/>
                <a:ea typeface="Arial" pitchFamily="34" charset="-122"/>
                <a:cs typeface="Arial" pitchFamily="34" charset="-120"/>
              </a:rPr>
              <a:t>Active-active qualification</a:t>
            </a:r>
            <a:endParaRPr lang="en-US" sz="1350" dirty="0"/>
          </a:p>
        </p:txBody>
      </p:sp>
      <p:sp>
        <p:nvSpPr>
          <p:cNvPr id="32" name="Text 30"/>
          <p:cNvSpPr/>
          <p:nvPr/>
        </p:nvSpPr>
        <p:spPr>
          <a:xfrm>
            <a:off x="7781544" y="3456432"/>
            <a:ext cx="3621024" cy="1371600"/>
          </a:xfrm>
          <a:prstGeom prst="rect">
            <a:avLst/>
          </a:prstGeom>
          <a:noFill/>
          <a:ln/>
        </p:spPr>
        <p:txBody>
          <a:bodyPr wrap="square" lIns="0" tIns="0" rIns="0" bIns="0" rtlCol="0" anchor="t"/>
          <a:lstStyle/>
          <a:p>
            <a:pPr indent="0" marL="0">
              <a:lnSpc>
                <a:spcPts val="1600"/>
              </a:lnSpc>
              <a:buNone/>
            </a:pPr>
            <a:r>
              <a:rPr lang="en-US" sz="1150" dirty="0">
                <a:solidFill>
                  <a:srgbClr val="3E3E4B"/>
                </a:solidFill>
                <a:latin typeface="Calibri" pitchFamily="34" charset="0"/>
                <a:ea typeface="Calibri" pitchFamily="34" charset="-122"/>
                <a:cs typeface="Calibri" pitchFamily="34" charset="-120"/>
              </a:rPr>
              <a:t>The design is called active-active because hosts in both zones can run workloads. This does not necessarily mean one VM executes simultaneously in both zones. Distinguish cluster activity from application-level simultaneous execution.</a:t>
            </a:r>
            <a:endParaRPr lang="en-US" sz="1150" dirty="0"/>
          </a:p>
        </p:txBody>
      </p:sp>
      <p:sp>
        <p:nvSpPr>
          <p:cNvPr id="33" name="Shape 31"/>
          <p:cNvSpPr/>
          <p:nvPr/>
        </p:nvSpPr>
        <p:spPr>
          <a:xfrm>
            <a:off x="548640" y="5029200"/>
            <a:ext cx="11091672" cy="548640"/>
          </a:xfrm>
          <a:prstGeom prst="roundRect">
            <a:avLst>
              <a:gd name="adj" fmla="val 15000"/>
            </a:avLst>
          </a:prstGeom>
          <a:solidFill>
            <a:srgbClr val="FAC458"/>
          </a:solidFill>
          <a:ln/>
        </p:spPr>
      </p:sp>
      <p:sp>
        <p:nvSpPr>
          <p:cNvPr id="34" name="Text 32"/>
          <p:cNvSpPr/>
          <p:nvPr/>
        </p:nvSpPr>
        <p:spPr>
          <a:xfrm>
            <a:off x="777240" y="5029200"/>
            <a:ext cx="10634472" cy="548640"/>
          </a:xfrm>
          <a:prstGeom prst="rect">
            <a:avLst/>
          </a:prstGeom>
          <a:noFill/>
          <a:ln/>
        </p:spPr>
        <p:txBody>
          <a:bodyPr wrap="square" lIns="0" tIns="0" rIns="0" bIns="0" rtlCol="0" anchor="ctr"/>
          <a:lstStyle/>
          <a:p>
            <a:pPr indent="0" marL="0">
              <a:buNone/>
            </a:pPr>
            <a:r>
              <a:rPr lang="en-US" sz="1100" b="1" dirty="0">
                <a:solidFill>
                  <a:srgbClr val="3E3E4B"/>
                </a:solidFill>
                <a:latin typeface="Arial" pitchFamily="34" charset="0"/>
                <a:ea typeface="Arial" pitchFamily="34" charset="-122"/>
                <a:cs typeface="Arial" pitchFamily="34" charset="-120"/>
              </a:rPr>
              <a:t>Validate:  </a:t>
            </a:r>
            <a:pPr indent="0" marL="0">
              <a:buNone/>
            </a:pPr>
            <a:r>
              <a:rPr lang="en-US" sz="1150" dirty="0">
                <a:solidFill>
                  <a:srgbClr val="3E3E4B"/>
                </a:solidFill>
                <a:latin typeface="Calibri" pitchFamily="34" charset="0"/>
                <a:ea typeface="Calibri" pitchFamily="34" charset="-122"/>
                <a:cs typeface="Calibri" pitchFamily="34" charset="-120"/>
              </a:rPr>
              <a:t>Confirm supported host profiles, storage policies, witness behavior, failure semantics, recovery time, SLA prerequisites, and whether AV48 or other profiles support this topology.</a:t>
            </a:r>
            <a:endParaRPr lang="en-US" sz="1100" dirty="0"/>
          </a:p>
        </p:txBody>
      </p:sp>
      <p:sp>
        <p:nvSpPr>
          <p:cNvPr id="35" name="Shape 33"/>
          <p:cNvSpPr/>
          <p:nvPr/>
        </p:nvSpPr>
        <p:spPr>
          <a:xfrm>
            <a:off x="548640" y="5669280"/>
            <a:ext cx="11091672" cy="548640"/>
          </a:xfrm>
          <a:prstGeom prst="roundRect">
            <a:avLst>
              <a:gd name="adj" fmla="val 15000"/>
            </a:avLst>
          </a:prstGeom>
          <a:solidFill>
            <a:srgbClr val="EBEDED"/>
          </a:solidFill>
          <a:ln/>
        </p:spPr>
      </p:sp>
      <p:sp>
        <p:nvSpPr>
          <p:cNvPr id="36" name="Text 34"/>
          <p:cNvSpPr/>
          <p:nvPr/>
        </p:nvSpPr>
        <p:spPr>
          <a:xfrm>
            <a:off x="731520" y="5669280"/>
            <a:ext cx="10725912" cy="548640"/>
          </a:xfrm>
          <a:prstGeom prst="rect">
            <a:avLst/>
          </a:prstGeom>
          <a:noFill/>
          <a:ln/>
        </p:spPr>
        <p:txBody>
          <a:bodyPr wrap="square" lIns="0" tIns="0" rIns="0" bIns="0" rtlCol="0" anchor="ctr"/>
          <a:lstStyle/>
          <a:p>
            <a:pPr indent="0" marL="0">
              <a:buNone/>
            </a:pPr>
            <a:r>
              <a:rPr lang="en-US" sz="1100" b="1" dirty="0">
                <a:solidFill>
                  <a:srgbClr val="00B3E2"/>
                </a:solidFill>
                <a:latin typeface="Arial" pitchFamily="34" charset="0"/>
                <a:ea typeface="Arial" pitchFamily="34" charset="-122"/>
                <a:cs typeface="Arial" pitchFamily="34" charset="-120"/>
              </a:rPr>
              <a:t>Takeaway   </a:t>
            </a:r>
            <a:pPr indent="0" marL="0">
              <a:buNone/>
            </a:pPr>
            <a:r>
              <a:rPr lang="en-US" sz="1200" dirty="0">
                <a:solidFill>
                  <a:srgbClr val="3E3E4B"/>
                </a:solidFill>
                <a:latin typeface="Calibri" pitchFamily="34" charset="0"/>
                <a:ea typeface="Calibri" pitchFamily="34" charset="-122"/>
                <a:cs typeface="Calibri" pitchFamily="34" charset="-120"/>
              </a:rPr>
              <a:t>Generation 1 is the preferred option when synchronous multi-zone protection and a near-zero recovery point objective are mandatory.</a:t>
            </a:r>
            <a:endParaRPr lang="en-US" sz="1100" dirty="0"/>
          </a:p>
        </p:txBody>
      </p:sp>
      <p:sp>
        <p:nvSpPr>
          <p:cNvPr id="37" name="Text 35"/>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12.3 Zone-failure scenario</a:t>
            </a:r>
            <a:endParaRPr lang="en-US" sz="950" dirty="0"/>
          </a:p>
        </p:txBody>
      </p:sp>
      <p:sp>
        <p:nvSpPr>
          <p:cNvPr id="38" name="Text 36"/>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31</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13. GENERATION 2 AVAILABILITY</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Single zone, with cross-region disaster recovery</a:t>
            </a:r>
            <a:endParaRPr lang="en-US" sz="2800" dirty="0"/>
          </a:p>
        </p:txBody>
      </p:sp>
      <p:sp>
        <p:nvSpPr>
          <p:cNvPr id="4" name="Shape 2"/>
          <p:cNvSpPr/>
          <p:nvPr/>
        </p:nvSpPr>
        <p:spPr>
          <a:xfrm>
            <a:off x="548640" y="1298448"/>
            <a:ext cx="5408676" cy="2194560"/>
          </a:xfrm>
          <a:prstGeom prst="roundRect">
            <a:avLst>
              <a:gd name="adj" fmla="val 3750"/>
            </a:avLst>
          </a:prstGeom>
          <a:solidFill>
            <a:srgbClr val="EBEDED"/>
          </a:solidFill>
          <a:ln/>
        </p:spPr>
      </p:sp>
      <p:sp>
        <p:nvSpPr>
          <p:cNvPr id="5" name="Shape 3"/>
          <p:cNvSpPr/>
          <p:nvPr/>
        </p:nvSpPr>
        <p:spPr>
          <a:xfrm>
            <a:off x="804672" y="1463040"/>
            <a:ext cx="310896" cy="310896"/>
          </a:xfrm>
          <a:prstGeom prst="ellipse">
            <a:avLst/>
          </a:prstGeom>
          <a:solidFill>
            <a:srgbClr val="F15D23"/>
          </a:solidFill>
          <a:ln/>
        </p:spPr>
      </p:sp>
      <p:sp>
        <p:nvSpPr>
          <p:cNvPr id="6" name="Text 4"/>
          <p:cNvSpPr/>
          <p:nvPr/>
        </p:nvSpPr>
        <p:spPr>
          <a:xfrm>
            <a:off x="804672" y="1463040"/>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7" name="Text 5"/>
          <p:cNvSpPr/>
          <p:nvPr/>
        </p:nvSpPr>
        <p:spPr>
          <a:xfrm>
            <a:off x="1225296" y="1481328"/>
            <a:ext cx="4494276" cy="274320"/>
          </a:xfrm>
          <a:prstGeom prst="rect">
            <a:avLst/>
          </a:prstGeom>
          <a:noFill/>
          <a:ln/>
        </p:spPr>
        <p:txBody>
          <a:bodyPr wrap="square" lIns="0" tIns="0" rIns="0" bIns="0" rtlCol="0" anchor="ctr"/>
          <a:lstStyle/>
          <a:p>
            <a:pPr indent="0" marL="0">
              <a:buNone/>
            </a:pPr>
            <a:r>
              <a:rPr lang="en-US" sz="1450" b="1" dirty="0">
                <a:solidFill>
                  <a:srgbClr val="3E3E4B"/>
                </a:solidFill>
                <a:latin typeface="Arial" pitchFamily="34" charset="0"/>
                <a:ea typeface="Arial" pitchFamily="34" charset="-122"/>
                <a:cs typeface="Arial" pitchFamily="34" charset="-120"/>
              </a:rPr>
              <a:t>Single-zone constraint</a:t>
            </a:r>
            <a:endParaRPr lang="en-US" sz="1450" dirty="0"/>
          </a:p>
        </p:txBody>
      </p:sp>
      <p:sp>
        <p:nvSpPr>
          <p:cNvPr id="8" name="Text 6"/>
          <p:cNvSpPr/>
          <p:nvPr/>
        </p:nvSpPr>
        <p:spPr>
          <a:xfrm>
            <a:off x="804672" y="1874520"/>
            <a:ext cx="4896612" cy="1554480"/>
          </a:xfrm>
          <a:prstGeom prst="rect">
            <a:avLst/>
          </a:prstGeom>
          <a:noFill/>
          <a:ln/>
        </p:spPr>
        <p:txBody>
          <a:bodyPr wrap="square" lIns="0" tIns="0" rIns="0" bIns="0" rtlCol="0" anchor="t"/>
          <a:lstStyle/>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A Generation 2 private cloud is deployed within one availability zone.</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The AV64 cluster cannot be split into a vSAN stretched cluster across multiple zones.</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A complete failure of the selected zone can make the entire private cloud unavailable.</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Service remains unavailable until the zone recovers or a separate DR environment is activated.</a:t>
            </a:r>
            <a:endParaRPr lang="en-US" sz="1150" dirty="0"/>
          </a:p>
        </p:txBody>
      </p:sp>
      <p:sp>
        <p:nvSpPr>
          <p:cNvPr id="9" name="Shape 7"/>
          <p:cNvSpPr/>
          <p:nvPr/>
        </p:nvSpPr>
        <p:spPr>
          <a:xfrm>
            <a:off x="6231636" y="1298448"/>
            <a:ext cx="5408676" cy="2194560"/>
          </a:xfrm>
          <a:prstGeom prst="roundRect">
            <a:avLst>
              <a:gd name="adj" fmla="val 3750"/>
            </a:avLst>
          </a:prstGeom>
          <a:solidFill>
            <a:srgbClr val="E5F7FC"/>
          </a:solidFill>
          <a:ln/>
        </p:spPr>
      </p:sp>
      <p:sp>
        <p:nvSpPr>
          <p:cNvPr id="10" name="Text 8"/>
          <p:cNvSpPr/>
          <p:nvPr/>
        </p:nvSpPr>
        <p:spPr>
          <a:xfrm>
            <a:off x="6487668" y="1408176"/>
            <a:ext cx="4951476" cy="274320"/>
          </a:xfrm>
          <a:prstGeom prst="rect">
            <a:avLst/>
          </a:prstGeom>
          <a:noFill/>
          <a:ln/>
        </p:spPr>
        <p:txBody>
          <a:bodyPr wrap="square" lIns="0" tIns="0" rIns="0" bIns="0" rtlCol="0" anchor="ctr"/>
          <a:lstStyle/>
          <a:p>
            <a:pPr indent="0" marL="0">
              <a:buNone/>
            </a:pPr>
            <a:r>
              <a:rPr lang="en-US" sz="1450" b="1" dirty="0">
                <a:solidFill>
                  <a:srgbClr val="3E3E4B"/>
                </a:solidFill>
                <a:latin typeface="Arial" pitchFamily="34" charset="0"/>
                <a:ea typeface="Arial" pitchFamily="34" charset="-122"/>
                <a:cs typeface="Arial" pitchFamily="34" charset="-120"/>
              </a:rPr>
              <a:t>Compliance impact</a:t>
            </a:r>
            <a:endParaRPr lang="en-US" sz="1450" dirty="0"/>
          </a:p>
        </p:txBody>
      </p:sp>
      <p:sp>
        <p:nvSpPr>
          <p:cNvPr id="11" name="Text 9"/>
          <p:cNvSpPr/>
          <p:nvPr/>
        </p:nvSpPr>
        <p:spPr>
          <a:xfrm>
            <a:off x="6487668" y="1801368"/>
            <a:ext cx="4896612" cy="1645920"/>
          </a:xfrm>
          <a:prstGeom prst="rect">
            <a:avLst/>
          </a:prstGeom>
          <a:noFill/>
          <a:ln/>
        </p:spPr>
        <p:txBody>
          <a:bodyPr wrap="square" lIns="0" tIns="0" rIns="0" bIns="0" rtlCol="0" anchor="t"/>
          <a:lstStyle/>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Organizations requiring multi-zone synchronous protection may be unable to use Generation 2 for the affected workloads.</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Hospitals, financial institutions, trading platforms, and other regulated environments may have recovery policies that prohibit a single-zone infrastructure dependency.</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Where that requirement applies, Generation 1 becomes the required choice.</a:t>
            </a:r>
            <a:endParaRPr lang="en-US" sz="1150" dirty="0"/>
          </a:p>
        </p:txBody>
      </p:sp>
      <p:sp>
        <p:nvSpPr>
          <p:cNvPr id="12" name="Shape 10"/>
          <p:cNvSpPr/>
          <p:nvPr/>
        </p:nvSpPr>
        <p:spPr>
          <a:xfrm>
            <a:off x="548640" y="3657600"/>
            <a:ext cx="11091672" cy="1965960"/>
          </a:xfrm>
          <a:prstGeom prst="roundRect">
            <a:avLst>
              <a:gd name="adj" fmla="val 4186"/>
            </a:avLst>
          </a:prstGeom>
          <a:solidFill>
            <a:srgbClr val="E5F7FC"/>
          </a:solidFill>
          <a:ln/>
        </p:spPr>
      </p:sp>
      <p:sp>
        <p:nvSpPr>
          <p:cNvPr id="13" name="Text 11"/>
          <p:cNvSpPr/>
          <p:nvPr/>
        </p:nvSpPr>
        <p:spPr>
          <a:xfrm>
            <a:off x="804672" y="3767328"/>
            <a:ext cx="8229600" cy="274320"/>
          </a:xfrm>
          <a:prstGeom prst="rect">
            <a:avLst/>
          </a:prstGeom>
          <a:noFill/>
          <a:ln/>
        </p:spPr>
        <p:txBody>
          <a:bodyPr wrap="square" lIns="0" tIns="0" rIns="0" bIns="0" rtlCol="0" anchor="ctr"/>
          <a:lstStyle/>
          <a:p>
            <a:pPr indent="0" marL="0">
              <a:buNone/>
            </a:pPr>
            <a:r>
              <a:rPr lang="en-US" sz="1450" b="1" dirty="0">
                <a:solidFill>
                  <a:srgbClr val="3E3E4B"/>
                </a:solidFill>
                <a:latin typeface="Arial" pitchFamily="34" charset="0"/>
                <a:ea typeface="Arial" pitchFamily="34" charset="-122"/>
                <a:cs typeface="Arial" pitchFamily="34" charset="-120"/>
              </a:rPr>
              <a:t>Cross-region alternative</a:t>
            </a:r>
            <a:endParaRPr lang="en-US" sz="1450" dirty="0"/>
          </a:p>
        </p:txBody>
      </p:sp>
      <p:sp>
        <p:nvSpPr>
          <p:cNvPr id="14" name="Text 12"/>
          <p:cNvSpPr/>
          <p:nvPr/>
        </p:nvSpPr>
        <p:spPr>
          <a:xfrm>
            <a:off x="804672" y="4160520"/>
            <a:ext cx="2286000" cy="265176"/>
          </a:xfrm>
          <a:prstGeom prst="rect">
            <a:avLst/>
          </a:prstGeom>
          <a:noFill/>
          <a:ln/>
        </p:spPr>
        <p:txBody>
          <a:bodyPr wrap="square" lIns="0" tIns="0" rIns="0" bIns="0" rtlCol="0" anchor="ctr"/>
          <a:lstStyle/>
          <a:p>
            <a:pPr indent="0" marL="0">
              <a:buNone/>
            </a:pPr>
            <a:r>
              <a:rPr lang="en-US" sz="1150" b="1" dirty="0">
                <a:solidFill>
                  <a:srgbClr val="3E3E4B"/>
                </a:solidFill>
                <a:latin typeface="Calibri" pitchFamily="34" charset="0"/>
                <a:ea typeface="Calibri" pitchFamily="34" charset="-122"/>
                <a:cs typeface="Calibri" pitchFamily="34" charset="-120"/>
              </a:rPr>
              <a:t>Example topology</a:t>
            </a:r>
            <a:endParaRPr lang="en-US" sz="1150" dirty="0"/>
          </a:p>
        </p:txBody>
      </p:sp>
      <p:sp>
        <p:nvSpPr>
          <p:cNvPr id="15" name="Text 13"/>
          <p:cNvSpPr/>
          <p:nvPr/>
        </p:nvSpPr>
        <p:spPr>
          <a:xfrm>
            <a:off x="3200400" y="4160520"/>
            <a:ext cx="8183880" cy="265176"/>
          </a:xfrm>
          <a:prstGeom prst="rect">
            <a:avLst/>
          </a:prstGeom>
          <a:noFill/>
          <a:ln/>
        </p:spPr>
        <p:txBody>
          <a:bodyPr wrap="square" lIns="0" tIns="0" rIns="0" bIns="0" rtlCol="0" anchor="ctr"/>
          <a:lstStyle/>
          <a:p>
            <a:pPr indent="0" marL="0">
              <a:buNone/>
            </a:pPr>
            <a:r>
              <a:rPr lang="en-US" sz="1150" dirty="0">
                <a:solidFill>
                  <a:srgbClr val="3E3E4B"/>
                </a:solidFill>
                <a:latin typeface="Calibri" pitchFamily="34" charset="0"/>
                <a:ea typeface="Calibri" pitchFamily="34" charset="-122"/>
                <a:cs typeface="Calibri" pitchFamily="34" charset="-120"/>
              </a:rPr>
              <a:t>East US replicates to West US.</a:t>
            </a:r>
            <a:endParaRPr lang="en-US" sz="1150" dirty="0"/>
          </a:p>
        </p:txBody>
      </p:sp>
      <p:sp>
        <p:nvSpPr>
          <p:cNvPr id="16" name="Text 14"/>
          <p:cNvSpPr/>
          <p:nvPr/>
        </p:nvSpPr>
        <p:spPr>
          <a:xfrm>
            <a:off x="804672" y="4443984"/>
            <a:ext cx="2286000" cy="265176"/>
          </a:xfrm>
          <a:prstGeom prst="rect">
            <a:avLst/>
          </a:prstGeom>
          <a:noFill/>
          <a:ln/>
        </p:spPr>
        <p:txBody>
          <a:bodyPr wrap="square" lIns="0" tIns="0" rIns="0" bIns="0" rtlCol="0" anchor="ctr"/>
          <a:lstStyle/>
          <a:p>
            <a:pPr indent="0" marL="0">
              <a:buNone/>
            </a:pPr>
            <a:r>
              <a:rPr lang="en-US" sz="1150" b="1" dirty="0">
                <a:solidFill>
                  <a:srgbClr val="3E3E4B"/>
                </a:solidFill>
                <a:latin typeface="Calibri" pitchFamily="34" charset="0"/>
                <a:ea typeface="Calibri" pitchFamily="34" charset="-122"/>
                <a:cs typeface="Calibri" pitchFamily="34" charset="-120"/>
              </a:rPr>
              <a:t>Products mentioned</a:t>
            </a:r>
            <a:endParaRPr lang="en-US" sz="1150" dirty="0"/>
          </a:p>
        </p:txBody>
      </p:sp>
      <p:sp>
        <p:nvSpPr>
          <p:cNvPr id="17" name="Text 15"/>
          <p:cNvSpPr/>
          <p:nvPr/>
        </p:nvSpPr>
        <p:spPr>
          <a:xfrm>
            <a:off x="3200400" y="4443984"/>
            <a:ext cx="8183880" cy="265176"/>
          </a:xfrm>
          <a:prstGeom prst="rect">
            <a:avLst/>
          </a:prstGeom>
          <a:noFill/>
          <a:ln/>
        </p:spPr>
        <p:txBody>
          <a:bodyPr wrap="square" lIns="0" tIns="0" rIns="0" bIns="0" rtlCol="0" anchor="ctr"/>
          <a:lstStyle/>
          <a:p>
            <a:pPr indent="0" marL="0">
              <a:buNone/>
            </a:pPr>
            <a:r>
              <a:rPr lang="en-US" sz="1150" dirty="0">
                <a:solidFill>
                  <a:srgbClr val="3E3E4B"/>
                </a:solidFill>
                <a:latin typeface="Calibri" pitchFamily="34" charset="0"/>
                <a:ea typeface="Calibri" pitchFamily="34" charset="-122"/>
                <a:cs typeface="Calibri" pitchFamily="34" charset="-120"/>
              </a:rPr>
              <a:t>VMware Live Site Recovery, Zerto, and other third-party DR tools.</a:t>
            </a:r>
            <a:endParaRPr lang="en-US" sz="1150" dirty="0"/>
          </a:p>
        </p:txBody>
      </p:sp>
      <p:sp>
        <p:nvSpPr>
          <p:cNvPr id="18" name="Text 16"/>
          <p:cNvSpPr/>
          <p:nvPr/>
        </p:nvSpPr>
        <p:spPr>
          <a:xfrm>
            <a:off x="804672" y="4727448"/>
            <a:ext cx="2286000" cy="265176"/>
          </a:xfrm>
          <a:prstGeom prst="rect">
            <a:avLst/>
          </a:prstGeom>
          <a:noFill/>
          <a:ln/>
        </p:spPr>
        <p:txBody>
          <a:bodyPr wrap="square" lIns="0" tIns="0" rIns="0" bIns="0" rtlCol="0" anchor="ctr"/>
          <a:lstStyle/>
          <a:p>
            <a:pPr indent="0" marL="0">
              <a:buNone/>
            </a:pPr>
            <a:r>
              <a:rPr lang="en-US" sz="1150" b="1" dirty="0">
                <a:solidFill>
                  <a:srgbClr val="3E3E4B"/>
                </a:solidFill>
                <a:latin typeface="Calibri" pitchFamily="34" charset="0"/>
                <a:ea typeface="Calibri" pitchFamily="34" charset="-122"/>
                <a:cs typeface="Calibri" pitchFamily="34" charset="-120"/>
              </a:rPr>
              <a:t>Replication model</a:t>
            </a:r>
            <a:endParaRPr lang="en-US" sz="1150" dirty="0"/>
          </a:p>
        </p:txBody>
      </p:sp>
      <p:sp>
        <p:nvSpPr>
          <p:cNvPr id="19" name="Text 17"/>
          <p:cNvSpPr/>
          <p:nvPr/>
        </p:nvSpPr>
        <p:spPr>
          <a:xfrm>
            <a:off x="3200400" y="4727448"/>
            <a:ext cx="8183880" cy="265176"/>
          </a:xfrm>
          <a:prstGeom prst="rect">
            <a:avLst/>
          </a:prstGeom>
          <a:noFill/>
          <a:ln/>
        </p:spPr>
        <p:txBody>
          <a:bodyPr wrap="square" lIns="0" tIns="0" rIns="0" bIns="0" rtlCol="0" anchor="ctr"/>
          <a:lstStyle/>
          <a:p>
            <a:pPr indent="0" marL="0">
              <a:buNone/>
            </a:pPr>
            <a:r>
              <a:rPr lang="en-US" sz="1150" dirty="0">
                <a:solidFill>
                  <a:srgbClr val="3E3E4B"/>
                </a:solidFill>
                <a:latin typeface="Calibri" pitchFamily="34" charset="0"/>
                <a:ea typeface="Calibri" pitchFamily="34" charset="-122"/>
                <a:cs typeface="Calibri" pitchFamily="34" charset="-120"/>
              </a:rPr>
              <a:t>Data is copied asynchronously rather than synchronously.</a:t>
            </a:r>
            <a:endParaRPr lang="en-US" sz="1150" dirty="0"/>
          </a:p>
        </p:txBody>
      </p:sp>
      <p:sp>
        <p:nvSpPr>
          <p:cNvPr id="20" name="Text 18"/>
          <p:cNvSpPr/>
          <p:nvPr/>
        </p:nvSpPr>
        <p:spPr>
          <a:xfrm>
            <a:off x="804672" y="5010912"/>
            <a:ext cx="2286000" cy="265176"/>
          </a:xfrm>
          <a:prstGeom prst="rect">
            <a:avLst/>
          </a:prstGeom>
          <a:noFill/>
          <a:ln/>
        </p:spPr>
        <p:txBody>
          <a:bodyPr wrap="square" lIns="0" tIns="0" rIns="0" bIns="0" rtlCol="0" anchor="ctr"/>
          <a:lstStyle/>
          <a:p>
            <a:pPr indent="0" marL="0">
              <a:buNone/>
            </a:pPr>
            <a:r>
              <a:rPr lang="en-US" sz="1150" b="1" dirty="0">
                <a:solidFill>
                  <a:srgbClr val="3E3E4B"/>
                </a:solidFill>
                <a:latin typeface="Calibri" pitchFamily="34" charset="0"/>
                <a:ea typeface="Calibri" pitchFamily="34" charset="-122"/>
                <a:cs typeface="Calibri" pitchFamily="34" charset="-120"/>
              </a:rPr>
              <a:t>Recovery-point effect</a:t>
            </a:r>
            <a:endParaRPr lang="en-US" sz="1150" dirty="0"/>
          </a:p>
        </p:txBody>
      </p:sp>
      <p:sp>
        <p:nvSpPr>
          <p:cNvPr id="21" name="Text 19"/>
          <p:cNvSpPr/>
          <p:nvPr/>
        </p:nvSpPr>
        <p:spPr>
          <a:xfrm>
            <a:off x="3200400" y="5010912"/>
            <a:ext cx="8183880" cy="265176"/>
          </a:xfrm>
          <a:prstGeom prst="rect">
            <a:avLst/>
          </a:prstGeom>
          <a:noFill/>
          <a:ln/>
        </p:spPr>
        <p:txBody>
          <a:bodyPr wrap="square" lIns="0" tIns="0" rIns="0" bIns="0" rtlCol="0" anchor="ctr"/>
          <a:lstStyle/>
          <a:p>
            <a:pPr indent="0" marL="0">
              <a:buNone/>
            </a:pPr>
            <a:r>
              <a:rPr lang="en-US" sz="1150" dirty="0">
                <a:solidFill>
                  <a:srgbClr val="3E3E4B"/>
                </a:solidFill>
                <a:latin typeface="Calibri" pitchFamily="34" charset="0"/>
                <a:ea typeface="Calibri" pitchFamily="34" charset="-122"/>
                <a:cs typeface="Calibri" pitchFamily="34" charset="-120"/>
              </a:rPr>
              <a:t>The latest seconds or minutes of transactions may be lost after an abrupt failure.</a:t>
            </a:r>
            <a:endParaRPr lang="en-US" sz="1150" dirty="0"/>
          </a:p>
        </p:txBody>
      </p:sp>
      <p:sp>
        <p:nvSpPr>
          <p:cNvPr id="22" name="Text 20"/>
          <p:cNvSpPr/>
          <p:nvPr/>
        </p:nvSpPr>
        <p:spPr>
          <a:xfrm>
            <a:off x="804672" y="5294376"/>
            <a:ext cx="2286000" cy="265176"/>
          </a:xfrm>
          <a:prstGeom prst="rect">
            <a:avLst/>
          </a:prstGeom>
          <a:noFill/>
          <a:ln/>
        </p:spPr>
        <p:txBody>
          <a:bodyPr wrap="square" lIns="0" tIns="0" rIns="0" bIns="0" rtlCol="0" anchor="ctr"/>
          <a:lstStyle/>
          <a:p>
            <a:pPr indent="0" marL="0">
              <a:buNone/>
            </a:pPr>
            <a:r>
              <a:rPr lang="en-US" sz="1150" b="1" dirty="0">
                <a:solidFill>
                  <a:srgbClr val="3E3E4B"/>
                </a:solidFill>
                <a:latin typeface="Calibri" pitchFamily="34" charset="0"/>
                <a:ea typeface="Calibri" pitchFamily="34" charset="-122"/>
                <a:cs typeface="Calibri" pitchFamily="34" charset="-120"/>
              </a:rPr>
              <a:t>Recovery-time effect</a:t>
            </a:r>
            <a:endParaRPr lang="en-US" sz="1150" dirty="0"/>
          </a:p>
        </p:txBody>
      </p:sp>
      <p:sp>
        <p:nvSpPr>
          <p:cNvPr id="23" name="Text 21"/>
          <p:cNvSpPr/>
          <p:nvPr/>
        </p:nvSpPr>
        <p:spPr>
          <a:xfrm>
            <a:off x="3200400" y="5294376"/>
            <a:ext cx="8183880" cy="265176"/>
          </a:xfrm>
          <a:prstGeom prst="rect">
            <a:avLst/>
          </a:prstGeom>
          <a:noFill/>
          <a:ln/>
        </p:spPr>
        <p:txBody>
          <a:bodyPr wrap="square" lIns="0" tIns="0" rIns="0" bIns="0" rtlCol="0" anchor="ctr"/>
          <a:lstStyle/>
          <a:p>
            <a:pPr indent="0" marL="0">
              <a:buNone/>
            </a:pPr>
            <a:r>
              <a:rPr lang="en-US" sz="1150" dirty="0">
                <a:solidFill>
                  <a:srgbClr val="3E3E4B"/>
                </a:solidFill>
                <a:latin typeface="Calibri" pitchFamily="34" charset="0"/>
                <a:ea typeface="Calibri" pitchFamily="34" charset="-122"/>
                <a:cs typeface="Calibri" pitchFamily="34" charset="-120"/>
              </a:rPr>
              <a:t>Workloads require orchestration and startup in the recovery environment.</a:t>
            </a:r>
            <a:endParaRPr lang="en-US" sz="1150" dirty="0"/>
          </a:p>
        </p:txBody>
      </p:sp>
      <p:sp>
        <p:nvSpPr>
          <p:cNvPr id="24" name="Shape 22"/>
          <p:cNvSpPr/>
          <p:nvPr/>
        </p:nvSpPr>
        <p:spPr>
          <a:xfrm>
            <a:off x="548640" y="5760720"/>
            <a:ext cx="11091672" cy="502920"/>
          </a:xfrm>
          <a:prstGeom prst="roundRect">
            <a:avLst>
              <a:gd name="adj" fmla="val 16364"/>
            </a:avLst>
          </a:prstGeom>
          <a:solidFill>
            <a:srgbClr val="FAC458"/>
          </a:solidFill>
          <a:ln/>
        </p:spPr>
      </p:sp>
      <p:sp>
        <p:nvSpPr>
          <p:cNvPr id="25" name="Text 23"/>
          <p:cNvSpPr/>
          <p:nvPr/>
        </p:nvSpPr>
        <p:spPr>
          <a:xfrm>
            <a:off x="777240" y="5760720"/>
            <a:ext cx="10634472" cy="502920"/>
          </a:xfrm>
          <a:prstGeom prst="rect">
            <a:avLst/>
          </a:prstGeom>
          <a:noFill/>
          <a:ln/>
        </p:spPr>
        <p:txBody>
          <a:bodyPr wrap="square" lIns="0" tIns="0" rIns="0" bIns="0" rtlCol="0" anchor="ctr"/>
          <a:lstStyle/>
          <a:p>
            <a:pPr indent="0" marL="0">
              <a:buNone/>
            </a:pPr>
            <a:r>
              <a:rPr lang="en-US" sz="1100" b="1" dirty="0">
                <a:solidFill>
                  <a:srgbClr val="3E3E4B"/>
                </a:solidFill>
                <a:latin typeface="Arial" pitchFamily="34" charset="0"/>
                <a:ea typeface="Arial" pitchFamily="34" charset="-122"/>
                <a:cs typeface="Arial" pitchFamily="34" charset="-120"/>
              </a:rPr>
              <a:t>Validate:  </a:t>
            </a:r>
            <a:pPr indent="0" marL="0">
              <a:buNone/>
            </a:pPr>
            <a:r>
              <a:rPr lang="en-US" sz="1150" dirty="0">
                <a:solidFill>
                  <a:srgbClr val="3E3E4B"/>
                </a:solidFill>
                <a:latin typeface="Calibri" pitchFamily="34" charset="0"/>
                <a:ea typeface="Calibri" pitchFamily="34" charset="-122"/>
                <a:cs typeface="Calibri" pitchFamily="34" charset="-120"/>
              </a:rPr>
              <a:t>Gen 2 availability must be checked against current regional and host-type documentation. Confirm Zerto versions, AV64 support, Secure Boot requirements, and VIB signing before committing to a DR product.</a:t>
            </a:r>
            <a:endParaRPr lang="en-US" sz="1100" dirty="0"/>
          </a:p>
        </p:txBody>
      </p:sp>
      <p:sp>
        <p:nvSpPr>
          <p:cNvPr id="26" name="Text 24"/>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13. Generation 2 availability and cross-region DR</a:t>
            </a:r>
            <a:endParaRPr lang="en-US" sz="950" dirty="0"/>
          </a:p>
        </p:txBody>
      </p:sp>
      <p:sp>
        <p:nvSpPr>
          <p:cNvPr id="27" name="Text 25"/>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32</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13.5 RESILIENCE COMPARISON</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Two designs, two different failure problems</a:t>
            </a:r>
            <a:endParaRPr lang="en-US" sz="2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108960"/>
                <a:gridCol w="3991356"/>
                <a:gridCol w="3991356"/>
              </a:tblGrid>
              <a:tr h="475488">
                <a:tc>
                  <a:txBody>
                    <a:bodyPr/>
                    <a:lstStyle/>
                    <a:p>
                      <a:pPr indent="0" marL="0">
                        <a:buNone/>
                      </a:pPr>
                      <a:r>
                        <a:rPr lang="en-US" sz="1150" b="1" dirty="0">
                          <a:solidFill>
                            <a:srgbClr val="FFFFFF"/>
                          </a:solidFill>
                          <a:latin typeface="Arial" pitchFamily="34" charset="0"/>
                          <a:ea typeface="Arial" pitchFamily="34" charset="-122"/>
                          <a:cs typeface="Arial" pitchFamily="34" charset="-120"/>
                        </a:rPr>
                        <a:t>Requirement</a:t>
                      </a:r>
                      <a:endParaRPr lang="en-US" sz="1150" dirty="0">
                        <a:latin typeface="Arial" charset="0"/>
                        <a:ea typeface="Arial" charset="0"/>
                        <a:cs typeface="Arial"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3E3E4B"/>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Generation 1 stretched cluster</a:t>
                      </a:r>
                      <a:endParaRPr lang="en-US" sz="1150" dirty="0">
                        <a:latin typeface="Arial" charset="0"/>
                        <a:ea typeface="Arial" charset="0"/>
                        <a:cs typeface="Arial"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3E3E4B"/>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Generation 2 cross-region DR</a:t>
                      </a:r>
                      <a:endParaRPr lang="en-US" sz="1150" dirty="0">
                        <a:latin typeface="Arial" charset="0"/>
                        <a:ea typeface="Arial" charset="0"/>
                        <a:cs typeface="Arial"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3E3E4B"/>
                    </a:solidFill>
                  </a:tcPr>
                </a:tc>
              </a:tr>
              <a:tr h="475488">
                <a:tc>
                  <a:txBody>
                    <a:bodyPr/>
                    <a:lstStyle/>
                    <a:p>
                      <a:pPr indent="0" marL="0">
                        <a:buNone/>
                      </a:pPr>
                      <a:r>
                        <a:rPr lang="en-US" sz="1200" b="1" dirty="0">
                          <a:solidFill>
                            <a:srgbClr val="3E3E4B"/>
                          </a:solidFill>
                          <a:latin typeface="Calibri" pitchFamily="34" charset="0"/>
                          <a:ea typeface="Calibri" pitchFamily="34" charset="-122"/>
                          <a:cs typeface="Calibri" pitchFamily="34" charset="-120"/>
                        </a:rPr>
                        <a:t>Primary failure boundary</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Availability zone</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Zone, site, or region</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3E3E4B"/>
                          </a:solidFill>
                          <a:latin typeface="Calibri" pitchFamily="34" charset="0"/>
                          <a:ea typeface="Calibri" pitchFamily="34" charset="-122"/>
                          <a:cs typeface="Calibri" pitchFamily="34" charset="-120"/>
                        </a:rPr>
                        <a:t>Replication</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Synchronous</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Asynchronous</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r>
              <a:tr h="475488">
                <a:tc>
                  <a:txBody>
                    <a:bodyPr/>
                    <a:lstStyle/>
                    <a:p>
                      <a:pPr indent="0" marL="0">
                        <a:buNone/>
                      </a:pPr>
                      <a:r>
                        <a:rPr lang="en-US" sz="1200" b="1" dirty="0">
                          <a:solidFill>
                            <a:srgbClr val="3E3E4B"/>
                          </a:solidFill>
                          <a:latin typeface="Calibri" pitchFamily="34" charset="0"/>
                          <a:ea typeface="Calibri" pitchFamily="34" charset="-122"/>
                          <a:cs typeface="Calibri" pitchFamily="34" charset="-120"/>
                        </a:rPr>
                        <a:t>Expected data loss</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None for acknowledged writes</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Possible loss of recent writes</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3E3E4B"/>
                          </a:solidFill>
                          <a:latin typeface="Calibri" pitchFamily="34" charset="0"/>
                          <a:ea typeface="Calibri" pitchFamily="34" charset="-122"/>
                          <a:cs typeface="Calibri" pitchFamily="34" charset="-120"/>
                        </a:rPr>
                        <a:t>Recovery method</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VMware HA restarts VMs in surviving zone</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DR system fails over to a separate environment</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r>
              <a:tr h="475488">
                <a:tc>
                  <a:txBody>
                    <a:bodyPr/>
                    <a:lstStyle/>
                    <a:p>
                      <a:pPr indent="0" marL="0">
                        <a:buNone/>
                      </a:pPr>
                      <a:r>
                        <a:rPr lang="en-US" sz="1200" b="1" dirty="0">
                          <a:solidFill>
                            <a:srgbClr val="3E3E4B"/>
                          </a:solidFill>
                          <a:latin typeface="Calibri" pitchFamily="34" charset="0"/>
                          <a:ea typeface="Calibri" pitchFamily="34" charset="-122"/>
                          <a:cs typeface="Calibri" pitchFamily="34" charset="-120"/>
                        </a:rPr>
                        <a:t>Topology</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One logical stretched cluster</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Separate primary and recovery private clouds</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3E3E4B"/>
                          </a:solidFill>
                          <a:latin typeface="Calibri" pitchFamily="34" charset="0"/>
                          <a:ea typeface="Calibri" pitchFamily="34" charset="-122"/>
                          <a:cs typeface="Calibri" pitchFamily="34" charset="-120"/>
                        </a:rPr>
                        <a:t>Main advantage</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Strong intra-region continuity</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Geographic separation</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r>
              <a:tr h="475488">
                <a:tc>
                  <a:txBody>
                    <a:bodyPr/>
                    <a:lstStyle/>
                    <a:p>
                      <a:pPr indent="0" marL="0">
                        <a:buNone/>
                      </a:pPr>
                      <a:r>
                        <a:rPr lang="en-US" sz="1200" b="1" dirty="0">
                          <a:solidFill>
                            <a:srgbClr val="3E3E4B"/>
                          </a:solidFill>
                          <a:latin typeface="Calibri" pitchFamily="34" charset="0"/>
                          <a:ea typeface="Calibri" pitchFamily="34" charset="-122"/>
                          <a:cs typeface="Calibri" pitchFamily="34" charset="-120"/>
                        </a:rPr>
                        <a:t>Main limitation</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Host count, cost, and topology requirements</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Nonzero RPO and additional orchestration</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303520"/>
            <a:ext cx="11091672" cy="548640"/>
          </a:xfrm>
          <a:prstGeom prst="roundRect">
            <a:avLst>
              <a:gd name="adj" fmla="val 15000"/>
            </a:avLst>
          </a:prstGeom>
          <a:solidFill>
            <a:srgbClr val="EBEDED"/>
          </a:solidFill>
          <a:ln/>
        </p:spPr>
      </p:sp>
      <p:sp>
        <p:nvSpPr>
          <p:cNvPr id="6" name="Text 3"/>
          <p:cNvSpPr/>
          <p:nvPr/>
        </p:nvSpPr>
        <p:spPr>
          <a:xfrm>
            <a:off x="731520" y="5303520"/>
            <a:ext cx="10725912" cy="548640"/>
          </a:xfrm>
          <a:prstGeom prst="rect">
            <a:avLst/>
          </a:prstGeom>
          <a:noFill/>
          <a:ln/>
        </p:spPr>
        <p:txBody>
          <a:bodyPr wrap="square" lIns="0" tIns="0" rIns="0" bIns="0" rtlCol="0" anchor="ctr"/>
          <a:lstStyle/>
          <a:p>
            <a:pPr indent="0" marL="0">
              <a:buNone/>
            </a:pPr>
            <a:r>
              <a:rPr lang="en-US" sz="1100" b="1" dirty="0">
                <a:solidFill>
                  <a:srgbClr val="00B3E2"/>
                </a:solidFill>
                <a:latin typeface="Arial" pitchFamily="34" charset="0"/>
                <a:ea typeface="Arial" pitchFamily="34" charset="-122"/>
                <a:cs typeface="Arial" pitchFamily="34" charset="-120"/>
              </a:rPr>
              <a:t>Takeaway   </a:t>
            </a:r>
            <a:pPr indent="0" marL="0">
              <a:buNone/>
            </a:pPr>
            <a:r>
              <a:rPr lang="en-US" sz="1200" dirty="0">
                <a:solidFill>
                  <a:srgbClr val="3E3E4B"/>
                </a:solidFill>
                <a:latin typeface="Calibri" pitchFamily="34" charset="0"/>
                <a:ea typeface="Calibri" pitchFamily="34" charset="-122"/>
                <a:cs typeface="Calibri" pitchFamily="34" charset="-120"/>
              </a:rPr>
              <a:t>Rack-level resilience, zone-level high availability, and cross-region disaster recovery solve different failure problems. They must not be treated as interchangeable.</a:t>
            </a:r>
            <a:endParaRPr lang="en-US" sz="1100" dirty="0"/>
          </a:p>
        </p:txBody>
      </p:sp>
      <p:sp>
        <p:nvSpPr>
          <p:cNvPr id="7" name="Text 4"/>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13.5 Resilience comparison</a:t>
            </a:r>
            <a:endParaRPr lang="en-US" sz="950" dirty="0"/>
          </a:p>
        </p:txBody>
      </p:sp>
      <p:sp>
        <p:nvSpPr>
          <p:cNvPr id="8" name="Text 5"/>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33</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14. GENERATION 2 FAULT DOMAINS</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Explicit rack-level failure boundaries</a:t>
            </a:r>
            <a:endParaRPr lang="en-US" sz="2800" dirty="0"/>
          </a:p>
        </p:txBody>
      </p:sp>
      <p:sp>
        <p:nvSpPr>
          <p:cNvPr id="4" name="Shape 2"/>
          <p:cNvSpPr/>
          <p:nvPr/>
        </p:nvSpPr>
        <p:spPr>
          <a:xfrm>
            <a:off x="548640" y="1298448"/>
            <a:ext cx="5408676" cy="1691640"/>
          </a:xfrm>
          <a:prstGeom prst="roundRect">
            <a:avLst>
              <a:gd name="adj" fmla="val 4865"/>
            </a:avLst>
          </a:prstGeom>
          <a:solidFill>
            <a:srgbClr val="EBEDED"/>
          </a:solidFill>
          <a:ln/>
        </p:spPr>
      </p:sp>
      <p:sp>
        <p:nvSpPr>
          <p:cNvPr id="5" name="Text 3"/>
          <p:cNvSpPr/>
          <p:nvPr/>
        </p:nvSpPr>
        <p:spPr>
          <a:xfrm>
            <a:off x="804672" y="1408176"/>
            <a:ext cx="4951476"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Generation 1 placement model</a:t>
            </a:r>
            <a:endParaRPr lang="en-US" sz="1400" dirty="0"/>
          </a:p>
        </p:txBody>
      </p:sp>
      <p:sp>
        <p:nvSpPr>
          <p:cNvPr id="6" name="Text 4"/>
          <p:cNvSpPr/>
          <p:nvPr/>
        </p:nvSpPr>
        <p:spPr>
          <a:xfrm>
            <a:off x="804672" y="1801368"/>
            <a:ext cx="4896612" cy="1143000"/>
          </a:xfrm>
          <a:prstGeom prst="rect">
            <a:avLst/>
          </a:prstGeom>
          <a:noFill/>
          <a:ln/>
        </p:spPr>
        <p:txBody>
          <a:bodyPr wrap="square" lIns="0" tIns="0" rIns="0" bIns="0" rtlCol="0" anchor="t"/>
          <a:lstStyle/>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Azure distributes Generation 1 hosts across racks.</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The placement logic is largely hidden from the customer.</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Customers rely on Microsoft to avoid concentrating the cluster behind one top-of-rack switch or power boundary.</a:t>
            </a:r>
            <a:endParaRPr lang="en-US" sz="1150" dirty="0"/>
          </a:p>
        </p:txBody>
      </p:sp>
      <p:sp>
        <p:nvSpPr>
          <p:cNvPr id="7" name="Shape 5"/>
          <p:cNvSpPr/>
          <p:nvPr/>
        </p:nvSpPr>
        <p:spPr>
          <a:xfrm>
            <a:off x="6231636" y="1298448"/>
            <a:ext cx="5408676" cy="1691640"/>
          </a:xfrm>
          <a:prstGeom prst="roundRect">
            <a:avLst>
              <a:gd name="adj" fmla="val 4865"/>
            </a:avLst>
          </a:prstGeom>
          <a:solidFill>
            <a:srgbClr val="E5F7FC"/>
          </a:solidFill>
          <a:ln/>
        </p:spPr>
      </p:sp>
      <p:sp>
        <p:nvSpPr>
          <p:cNvPr id="8" name="Text 6"/>
          <p:cNvSpPr/>
          <p:nvPr/>
        </p:nvSpPr>
        <p:spPr>
          <a:xfrm>
            <a:off x="6487668" y="1408176"/>
            <a:ext cx="4951476"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Generation 2 explicit fault domains</a:t>
            </a:r>
            <a:endParaRPr lang="en-US" sz="1400" dirty="0"/>
          </a:p>
        </p:txBody>
      </p:sp>
      <p:sp>
        <p:nvSpPr>
          <p:cNvPr id="9" name="Text 7"/>
          <p:cNvSpPr/>
          <p:nvPr/>
        </p:nvSpPr>
        <p:spPr>
          <a:xfrm>
            <a:off x="6487668" y="1801368"/>
            <a:ext cx="4896612" cy="1143000"/>
          </a:xfrm>
          <a:prstGeom prst="rect">
            <a:avLst/>
          </a:prstGeom>
          <a:noFill/>
          <a:ln/>
        </p:spPr>
        <p:txBody>
          <a:bodyPr wrap="square" lIns="0" tIns="0" rIns="0" bIns="0" rtlCol="0" anchor="t"/>
          <a:lstStyle/>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AV64 regions use five or seven vSAN fault domains; the region-specific count is in the host-type mapping table.</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A fault domain is an independent rack-level failure boundary with separate power and top-of-rack networking.</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Azure automatically balances hosts across domains as the cluster grows.</a:t>
            </a:r>
            <a:endParaRPr lang="en-US" sz="1150" dirty="0"/>
          </a:p>
        </p:txBody>
      </p:sp>
      <p:sp>
        <p:nvSpPr>
          <p:cNvPr id="10" name="Shape 8"/>
          <p:cNvSpPr/>
          <p:nvPr/>
        </p:nvSpPr>
        <p:spPr>
          <a:xfrm>
            <a:off x="548640" y="3154680"/>
            <a:ext cx="5120640" cy="2148840"/>
          </a:xfrm>
          <a:prstGeom prst="roundRect">
            <a:avLst>
              <a:gd name="adj" fmla="val 3830"/>
            </a:avLst>
          </a:prstGeom>
          <a:solidFill>
            <a:srgbClr val="E5F7FC"/>
          </a:solidFill>
          <a:ln/>
        </p:spPr>
      </p:sp>
      <p:sp>
        <p:nvSpPr>
          <p:cNvPr id="11" name="Text 9"/>
          <p:cNvSpPr/>
          <p:nvPr/>
        </p:nvSpPr>
        <p:spPr>
          <a:xfrm>
            <a:off x="804672" y="3264408"/>
            <a:ext cx="4572000" cy="274320"/>
          </a:xfrm>
          <a:prstGeom prst="rect">
            <a:avLst/>
          </a:prstGeom>
          <a:noFill/>
          <a:ln/>
        </p:spPr>
        <p:txBody>
          <a:bodyPr wrap="square" lIns="0" tIns="0" rIns="0" bIns="0" rtlCol="0" anchor="ctr"/>
          <a:lstStyle/>
          <a:p>
            <a:pPr indent="0" marL="0">
              <a:buNone/>
            </a:pPr>
            <a:r>
              <a:rPr lang="en-US" sz="1400" b="1" dirty="0">
                <a:solidFill>
                  <a:srgbClr val="00B3E2"/>
                </a:solidFill>
                <a:latin typeface="Arial" pitchFamily="34" charset="0"/>
                <a:ea typeface="Arial" pitchFamily="34" charset="-122"/>
                <a:cs typeface="Arial" pitchFamily="34" charset="-120"/>
              </a:rPr>
              <a:t>Fourteen-node example</a:t>
            </a:r>
            <a:endParaRPr lang="en-US" sz="1400" dirty="0"/>
          </a:p>
        </p:txBody>
      </p:sp>
      <p:sp>
        <p:nvSpPr>
          <p:cNvPr id="12" name="Shape 10"/>
          <p:cNvSpPr/>
          <p:nvPr/>
        </p:nvSpPr>
        <p:spPr>
          <a:xfrm>
            <a:off x="804672" y="3611880"/>
            <a:ext cx="4608576" cy="402336"/>
          </a:xfrm>
          <a:prstGeom prst="roundRect">
            <a:avLst>
              <a:gd name="adj" fmla="val 20455"/>
            </a:avLst>
          </a:prstGeom>
          <a:solidFill>
            <a:srgbClr val="FFFFFF"/>
          </a:solidFill>
          <a:ln/>
        </p:spPr>
      </p:sp>
      <p:sp>
        <p:nvSpPr>
          <p:cNvPr id="13" name="Text 11"/>
          <p:cNvSpPr/>
          <p:nvPr/>
        </p:nvSpPr>
        <p:spPr>
          <a:xfrm>
            <a:off x="804672" y="3611880"/>
            <a:ext cx="4608576" cy="402336"/>
          </a:xfrm>
          <a:prstGeom prst="rect">
            <a:avLst/>
          </a:prstGeom>
          <a:noFill/>
          <a:ln/>
        </p:spPr>
        <p:txBody>
          <a:bodyPr wrap="square" lIns="0" tIns="0" rIns="0" bIns="0" rtlCol="0" anchor="ctr"/>
          <a:lstStyle/>
          <a:p>
            <a:pPr algn="ctr" indent="0" marL="0">
              <a:buNone/>
            </a:pPr>
            <a:r>
              <a:rPr lang="en-US" sz="1250" b="1" dirty="0">
                <a:solidFill>
                  <a:srgbClr val="3E3E4B"/>
                </a:solidFill>
                <a:latin typeface="Courier New" pitchFamily="34" charset="0"/>
                <a:ea typeface="Courier New" pitchFamily="34" charset="-122"/>
                <a:cs typeface="Courier New" pitchFamily="34" charset="-120"/>
              </a:rPr>
              <a:t>14 hosts ÷ 7 fault domains = 2 hosts per domain</a:t>
            </a:r>
            <a:endParaRPr lang="en-US" sz="1250" dirty="0"/>
          </a:p>
        </p:txBody>
      </p:sp>
      <p:sp>
        <p:nvSpPr>
          <p:cNvPr id="14" name="Text 12"/>
          <p:cNvSpPr/>
          <p:nvPr/>
        </p:nvSpPr>
        <p:spPr>
          <a:xfrm>
            <a:off x="804672" y="4114800"/>
            <a:ext cx="4608576" cy="1097280"/>
          </a:xfrm>
          <a:prstGeom prst="rect">
            <a:avLst/>
          </a:prstGeom>
          <a:noFill/>
          <a:ln/>
        </p:spPr>
        <p:txBody>
          <a:bodyPr wrap="square" lIns="0" tIns="0" rIns="0" bIns="0" rtlCol="0" anchor="t"/>
          <a:lstStyle/>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A failure of one rack removes two hosts while the remaining domains continue to provide compute and storage.</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Regional fault-domain count, maintenance state, host availability, and Azure placement behavior may affect the actual distribution.</a:t>
            </a:r>
            <a:endParaRPr lang="en-US" sz="1150" dirty="0"/>
          </a:p>
        </p:txBody>
      </p:sp>
      <p:sp>
        <p:nvSpPr>
          <p:cNvPr id="15" name="Shape 13"/>
          <p:cNvSpPr/>
          <p:nvPr/>
        </p:nvSpPr>
        <p:spPr>
          <a:xfrm>
            <a:off x="5943600" y="3154680"/>
            <a:ext cx="5696712" cy="2148840"/>
          </a:xfrm>
          <a:prstGeom prst="roundRect">
            <a:avLst>
              <a:gd name="adj" fmla="val 3830"/>
            </a:avLst>
          </a:prstGeom>
          <a:solidFill>
            <a:srgbClr val="EBEDED"/>
          </a:solidFill>
          <a:ln/>
        </p:spPr>
      </p:sp>
      <p:sp>
        <p:nvSpPr>
          <p:cNvPr id="16" name="Text 14"/>
          <p:cNvSpPr/>
          <p:nvPr/>
        </p:nvSpPr>
        <p:spPr>
          <a:xfrm>
            <a:off x="6199632" y="3264408"/>
            <a:ext cx="5184648"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Rack-failure scenario</a:t>
            </a:r>
            <a:endParaRPr lang="en-US" sz="1400" dirty="0"/>
          </a:p>
        </p:txBody>
      </p:sp>
      <p:sp>
        <p:nvSpPr>
          <p:cNvPr id="17" name="Text 15"/>
          <p:cNvSpPr/>
          <p:nvPr/>
        </p:nvSpPr>
        <p:spPr>
          <a:xfrm>
            <a:off x="6199632" y="3630168"/>
            <a:ext cx="5184648" cy="1600200"/>
          </a:xfrm>
          <a:prstGeom prst="rect">
            <a:avLst/>
          </a:prstGeom>
          <a:noFill/>
          <a:ln/>
        </p:spPr>
        <p:txBody>
          <a:bodyPr wrap="square" lIns="0" tIns="0" rIns="0" bIns="0" rtlCol="0" anchor="t"/>
          <a:lstStyle/>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The top-of-rack switch or power supply for one fault domain fails.</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Hosts in that fault domain become unavailable.</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vSAN erasure coding (RAID-5 or RAID-6 behavior) protects data using chunks and parity stored in other fault domains.</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The surviving hosts retain access to the data and the cluster continues operating without the failed rack.</a:t>
            </a:r>
            <a:endParaRPr lang="en-US" sz="1150" dirty="0"/>
          </a:p>
        </p:txBody>
      </p:sp>
      <p:sp>
        <p:nvSpPr>
          <p:cNvPr id="18" name="Shape 16"/>
          <p:cNvSpPr/>
          <p:nvPr/>
        </p:nvSpPr>
        <p:spPr>
          <a:xfrm>
            <a:off x="548640" y="5440680"/>
            <a:ext cx="11091672" cy="548640"/>
          </a:xfrm>
          <a:prstGeom prst="roundRect">
            <a:avLst>
              <a:gd name="adj" fmla="val 15000"/>
            </a:avLst>
          </a:prstGeom>
          <a:solidFill>
            <a:srgbClr val="EBEDED"/>
          </a:solidFill>
          <a:ln/>
        </p:spPr>
      </p:sp>
      <p:sp>
        <p:nvSpPr>
          <p:cNvPr id="19" name="Text 17"/>
          <p:cNvSpPr/>
          <p:nvPr/>
        </p:nvSpPr>
        <p:spPr>
          <a:xfrm>
            <a:off x="731520" y="5440680"/>
            <a:ext cx="10725912" cy="548640"/>
          </a:xfrm>
          <a:prstGeom prst="rect">
            <a:avLst/>
          </a:prstGeom>
          <a:noFill/>
          <a:ln/>
        </p:spPr>
        <p:txBody>
          <a:bodyPr wrap="square" lIns="0" tIns="0" rIns="0" bIns="0" rtlCol="0" anchor="ctr"/>
          <a:lstStyle/>
          <a:p>
            <a:pPr indent="0" marL="0">
              <a:buNone/>
            </a:pPr>
            <a:r>
              <a:rPr lang="en-US" sz="1100" b="1" dirty="0">
                <a:solidFill>
                  <a:srgbClr val="00B3E2"/>
                </a:solidFill>
                <a:latin typeface="Arial" pitchFamily="34" charset="0"/>
                <a:ea typeface="Arial" pitchFamily="34" charset="-122"/>
                <a:cs typeface="Arial" pitchFamily="34" charset="-120"/>
              </a:rPr>
              <a:t>Takeaway   </a:t>
            </a:r>
            <a:pPr indent="0" marL="0">
              <a:buNone/>
            </a:pPr>
            <a:r>
              <a:rPr lang="en-US" sz="1200" dirty="0">
                <a:solidFill>
                  <a:srgbClr val="3E3E4B"/>
                </a:solidFill>
                <a:latin typeface="Calibri" pitchFamily="34" charset="0"/>
                <a:ea typeface="Calibri" pitchFamily="34" charset="-122"/>
                <a:cs typeface="Calibri" pitchFamily="34" charset="-120"/>
              </a:rPr>
              <a:t>Explicit fault domains improve local failure isolation, but they do not protect against loss of the entire availability zone and do not replace a multi-zone stretched cluster.</a:t>
            </a:r>
            <a:endParaRPr lang="en-US" sz="1100" dirty="0"/>
          </a:p>
        </p:txBody>
      </p:sp>
      <p:sp>
        <p:nvSpPr>
          <p:cNvPr id="20" name="Text 18"/>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14. Generation 2 vSAN fault domains</a:t>
            </a:r>
            <a:endParaRPr lang="en-US" sz="950" dirty="0"/>
          </a:p>
        </p:txBody>
      </p:sp>
      <p:sp>
        <p:nvSpPr>
          <p:cNvPr id="21" name="Text 19"/>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34</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15. HOST REMOVAL</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Fault-domain balance constrains scale-in</a:t>
            </a:r>
            <a:endParaRPr lang="en-US" sz="2800" dirty="0"/>
          </a:p>
        </p:txBody>
      </p:sp>
      <p:sp>
        <p:nvSpPr>
          <p:cNvPr id="4" name="Shape 2"/>
          <p:cNvSpPr/>
          <p:nvPr/>
        </p:nvSpPr>
        <p:spPr>
          <a:xfrm>
            <a:off x="548640" y="1298448"/>
            <a:ext cx="11091672" cy="658368"/>
          </a:xfrm>
          <a:prstGeom prst="roundRect">
            <a:avLst>
              <a:gd name="adj" fmla="val 12500"/>
            </a:avLst>
          </a:prstGeom>
          <a:solidFill>
            <a:srgbClr val="3E3E4B"/>
          </a:solidFill>
          <a:ln/>
        </p:spPr>
      </p:sp>
      <p:sp>
        <p:nvSpPr>
          <p:cNvPr id="5" name="Text 3"/>
          <p:cNvSpPr/>
          <p:nvPr/>
        </p:nvSpPr>
        <p:spPr>
          <a:xfrm>
            <a:off x="548640" y="1298448"/>
            <a:ext cx="11091672" cy="658368"/>
          </a:xfrm>
          <a:prstGeom prst="rect">
            <a:avLst/>
          </a:prstGeom>
          <a:noFill/>
          <a:ln/>
        </p:spPr>
        <p:txBody>
          <a:bodyPr wrap="square" lIns="0" tIns="0" rIns="0" bIns="0" rtlCol="0" anchor="ctr"/>
          <a:lstStyle/>
          <a:p>
            <a:pPr algn="ctr" indent="0" marL="0">
              <a:buNone/>
            </a:pPr>
            <a:r>
              <a:rPr lang="en-US" sz="1700" b="1" dirty="0">
                <a:solidFill>
                  <a:srgbClr val="00B3E2"/>
                </a:solidFill>
                <a:latin typeface="Courier New" pitchFamily="34" charset="0"/>
                <a:ea typeface="Courier New" pitchFamily="34" charset="-122"/>
                <a:cs typeface="Courier New" pitchFamily="34" charset="-120"/>
              </a:rPr>
              <a:t>Maximum hosts in any fault domain  −  Minimum hosts in any fault domain  ≤  1</a:t>
            </a:r>
            <a:endParaRPr lang="en-US" sz="1700" dirty="0"/>
          </a:p>
        </p:txBody>
      </p:sp>
      <p:sp>
        <p:nvSpPr>
          <p:cNvPr id="6" name="Shape 4"/>
          <p:cNvSpPr/>
          <p:nvPr/>
        </p:nvSpPr>
        <p:spPr>
          <a:xfrm>
            <a:off x="548640" y="2121408"/>
            <a:ext cx="5943600" cy="2377440"/>
          </a:xfrm>
          <a:prstGeom prst="roundRect">
            <a:avLst>
              <a:gd name="adj" fmla="val 3462"/>
            </a:avLst>
          </a:prstGeom>
          <a:solidFill>
            <a:srgbClr val="FFFFFF"/>
          </a:solidFill>
          <a:ln w="12700">
            <a:solidFill>
              <a:srgbClr val="DDE2E2"/>
            </a:solidFill>
            <a:prstDash val="solid"/>
          </a:ln>
        </p:spPr>
      </p:sp>
      <p:pic>
        <p:nvPicPr>
          <p:cNvPr id="7" name="Image 0" descr="/home/claude/src/images/av64-host-removal-fault-domain-balance.png">    </p:cNvPr>
          <p:cNvPicPr>
            <a:picLocks noChangeAspect="1"/>
          </p:cNvPicPr>
          <p:nvPr/>
        </p:nvPicPr>
        <p:blipFill>
          <a:blip r:embed="rId1"/>
          <a:srcRect l="0" r="0" t="0" b="0"/>
          <a:stretch/>
        </p:blipFill>
        <p:spPr>
          <a:xfrm>
            <a:off x="658368" y="2231136"/>
            <a:ext cx="5724144" cy="1847088"/>
          </a:xfrm>
          <a:prstGeom prst="rect">
            <a:avLst/>
          </a:prstGeom>
        </p:spPr>
      </p:pic>
      <p:sp>
        <p:nvSpPr>
          <p:cNvPr id="8" name="Text 5"/>
          <p:cNvSpPr/>
          <p:nvPr/>
        </p:nvSpPr>
        <p:spPr>
          <a:xfrm>
            <a:off x="658368" y="4151376"/>
            <a:ext cx="5724144" cy="256032"/>
          </a:xfrm>
          <a:prstGeom prst="rect">
            <a:avLst/>
          </a:prstGeom>
          <a:noFill/>
          <a:ln/>
        </p:spPr>
        <p:txBody>
          <a:bodyPr wrap="square" lIns="0" tIns="0" rIns="0" bIns="0" rtlCol="0" anchor="ctr"/>
          <a:lstStyle/>
          <a:p>
            <a:pPr algn="ctr" indent="0" marL="0">
              <a:buNone/>
            </a:pPr>
            <a:r>
              <a:rPr lang="en-US" sz="900" i="1" dirty="0">
                <a:solidFill>
                  <a:srgbClr val="6B6B78"/>
                </a:solidFill>
                <a:latin typeface="Calibri" pitchFamily="34" charset="0"/>
                <a:ea typeface="Calibri" pitchFamily="34" charset="-122"/>
                <a:cs typeface="Calibri" pitchFamily="34" charset="-120"/>
              </a:rPr>
              <a:t>Source: Microsoft Learn, AV64 host removal workflow and best practices</a:t>
            </a:r>
            <a:endParaRPr lang="en-US" sz="900" dirty="0"/>
          </a:p>
        </p:txBody>
      </p:sp>
      <p:sp>
        <p:nvSpPr>
          <p:cNvPr id="9" name="Shape 6"/>
          <p:cNvSpPr/>
          <p:nvPr/>
        </p:nvSpPr>
        <p:spPr>
          <a:xfrm>
            <a:off x="6720840" y="2121408"/>
            <a:ext cx="4919472" cy="2377440"/>
          </a:xfrm>
          <a:prstGeom prst="roundRect">
            <a:avLst>
              <a:gd name="adj" fmla="val 3462"/>
            </a:avLst>
          </a:prstGeom>
          <a:solidFill>
            <a:srgbClr val="EBEDED"/>
          </a:solidFill>
          <a:ln/>
        </p:spPr>
      </p:sp>
      <p:sp>
        <p:nvSpPr>
          <p:cNvPr id="10" name="Text 7"/>
          <p:cNvSpPr/>
          <p:nvPr/>
        </p:nvSpPr>
        <p:spPr>
          <a:xfrm>
            <a:off x="6958584" y="2231136"/>
            <a:ext cx="4462272"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Imbalance example</a:t>
            </a:r>
            <a:endParaRPr lang="en-US" sz="1400" dirty="0"/>
          </a:p>
        </p:txBody>
      </p:sp>
      <p:sp>
        <p:nvSpPr>
          <p:cNvPr id="11" name="Text 8"/>
          <p:cNvSpPr/>
          <p:nvPr/>
        </p:nvSpPr>
        <p:spPr>
          <a:xfrm>
            <a:off x="6958584" y="2624328"/>
            <a:ext cx="4443984" cy="1783080"/>
          </a:xfrm>
          <a:prstGeom prst="rect">
            <a:avLst/>
          </a:prstGeom>
          <a:noFill/>
          <a:ln/>
        </p:spPr>
        <p:txBody>
          <a:bodyPr wrap="square" lIns="0" tIns="0" rIns="0" bIns="0" rtlCol="0" anchor="t"/>
          <a:lstStyle/>
          <a:p>
            <a:pPr marL="177800" indent="-177800">
              <a:lnSpc>
                <a:spcPts val="1400"/>
              </a:lnSpc>
              <a:spcAft>
                <a:spcPts val="300"/>
              </a:spcAft>
              <a:buSzPct val="100000"/>
              <a:buChar char="•"/>
            </a:pPr>
            <a:r>
              <a:rPr lang="en-US" sz="1100" dirty="0">
                <a:solidFill>
                  <a:srgbClr val="3E3E4B"/>
                </a:solidFill>
                <a:latin typeface="Calibri" pitchFamily="34" charset="0"/>
                <a:ea typeface="Calibri" pitchFamily="34" charset="-122"/>
                <a:cs typeface="Calibri" pitchFamily="34" charset="-120"/>
              </a:rPr>
              <a:t>Initial state: Fault Domain 1 has two hosts; Fault Domain 2 has one host.</a:t>
            </a:r>
            <a:endParaRPr lang="en-US" sz="1100" dirty="0"/>
          </a:p>
          <a:p>
            <a:pPr marL="177800" indent="-177800">
              <a:lnSpc>
                <a:spcPts val="1400"/>
              </a:lnSpc>
              <a:spcAft>
                <a:spcPts val="300"/>
              </a:spcAft>
              <a:buSzPct val="100000"/>
              <a:buChar char="•"/>
            </a:pPr>
            <a:r>
              <a:rPr lang="en-US" sz="1100" dirty="0">
                <a:solidFill>
                  <a:srgbClr val="3E3E4B"/>
                </a:solidFill>
                <a:latin typeface="Calibri" pitchFamily="34" charset="0"/>
                <a:ea typeface="Calibri" pitchFamily="34" charset="-122"/>
                <a:cs typeface="Calibri" pitchFamily="34" charset="-120"/>
              </a:rPr>
              <a:t>Proposed operation: remove the only host from Fault Domain 2.</a:t>
            </a:r>
            <a:endParaRPr lang="en-US" sz="1100" dirty="0"/>
          </a:p>
          <a:p>
            <a:pPr marL="177800" indent="-177800">
              <a:lnSpc>
                <a:spcPts val="1400"/>
              </a:lnSpc>
              <a:spcAft>
                <a:spcPts val="300"/>
              </a:spcAft>
              <a:buSzPct val="100000"/>
              <a:buChar char="•"/>
            </a:pPr>
            <a:r>
              <a:rPr lang="en-US" sz="1100" dirty="0">
                <a:solidFill>
                  <a:srgbClr val="3E3E4B"/>
                </a:solidFill>
                <a:latin typeface="Calibri" pitchFamily="34" charset="0"/>
                <a:ea typeface="Calibri" pitchFamily="34" charset="-122"/>
                <a:cs typeface="Calibri" pitchFamily="34" charset="-120"/>
              </a:rPr>
              <a:t>Resulting state: 2 hosts and 0 hosts. The difference is 2 − 0 = 2, which exceeds the permitted difference of one.</a:t>
            </a:r>
            <a:endParaRPr lang="en-US" sz="1100" dirty="0"/>
          </a:p>
          <a:p>
            <a:pPr marL="177800" indent="-177800">
              <a:lnSpc>
                <a:spcPts val="1400"/>
              </a:lnSpc>
              <a:spcAft>
                <a:spcPts val="300"/>
              </a:spcAft>
              <a:buSzPct val="100000"/>
              <a:buChar char="•"/>
            </a:pPr>
            <a:r>
              <a:rPr lang="en-US" sz="1100" dirty="0">
                <a:solidFill>
                  <a:srgbClr val="3E3E4B"/>
                </a:solidFill>
                <a:latin typeface="Calibri" pitchFamily="34" charset="0"/>
                <a:ea typeface="Calibri" pitchFamily="34" charset="-122"/>
                <a:cs typeface="Calibri" pitchFamily="34" charset="-120"/>
              </a:rPr>
              <a:t>Azure rejects the removal with an HTTP 409 Conflict.</a:t>
            </a:r>
            <a:endParaRPr lang="en-US" sz="1100" dirty="0"/>
          </a:p>
          <a:p>
            <a:pPr marL="177800" indent="-177800">
              <a:lnSpc>
                <a:spcPts val="1400"/>
              </a:lnSpc>
              <a:spcAft>
                <a:spcPts val="300"/>
              </a:spcAft>
              <a:buSzPct val="100000"/>
              <a:buChar char="•"/>
            </a:pPr>
            <a:r>
              <a:rPr lang="en-US" sz="1100" dirty="0">
                <a:solidFill>
                  <a:srgbClr val="3E3E4B"/>
                </a:solidFill>
                <a:latin typeface="Calibri" pitchFamily="34" charset="0"/>
                <a:ea typeface="Calibri" pitchFamily="34" charset="-122"/>
                <a:cs typeface="Calibri" pitchFamily="34" charset="-120"/>
              </a:rPr>
              <a:t>The host must be selected from a domain whose removal preserves balance.</a:t>
            </a:r>
            <a:endParaRPr lang="en-US" sz="1100" dirty="0"/>
          </a:p>
        </p:txBody>
      </p:sp>
      <p:sp>
        <p:nvSpPr>
          <p:cNvPr id="12" name="Shape 9"/>
          <p:cNvSpPr/>
          <p:nvPr/>
        </p:nvSpPr>
        <p:spPr>
          <a:xfrm>
            <a:off x="548640" y="4663440"/>
            <a:ext cx="11091672" cy="1051560"/>
          </a:xfrm>
          <a:prstGeom prst="roundRect">
            <a:avLst>
              <a:gd name="adj" fmla="val 7826"/>
            </a:avLst>
          </a:prstGeom>
          <a:solidFill>
            <a:srgbClr val="E5F7FC"/>
          </a:solidFill>
          <a:ln/>
        </p:spPr>
      </p:sp>
      <p:sp>
        <p:nvSpPr>
          <p:cNvPr id="13" name="Text 10"/>
          <p:cNvSpPr/>
          <p:nvPr/>
        </p:nvSpPr>
        <p:spPr>
          <a:xfrm>
            <a:off x="804672" y="4754880"/>
            <a:ext cx="8229600" cy="274320"/>
          </a:xfrm>
          <a:prstGeom prst="rect">
            <a:avLst/>
          </a:prstGeom>
          <a:noFill/>
          <a:ln/>
        </p:spPr>
        <p:txBody>
          <a:bodyPr wrap="square" lIns="0" tIns="0" rIns="0" bIns="0" rtlCol="0" anchor="ctr"/>
          <a:lstStyle/>
          <a:p>
            <a:pPr indent="0" marL="0">
              <a:buNone/>
            </a:pPr>
            <a:r>
              <a:rPr lang="en-US" sz="1350" b="1" dirty="0">
                <a:solidFill>
                  <a:srgbClr val="3E3E4B"/>
                </a:solidFill>
                <a:latin typeface="Arial" pitchFamily="34" charset="0"/>
                <a:ea typeface="Arial" pitchFamily="34" charset="-122"/>
                <a:cs typeface="Arial" pitchFamily="34" charset="-120"/>
              </a:rPr>
              <a:t>Troubleshooting an HTTP 409</a:t>
            </a:r>
            <a:endParaRPr lang="en-US" sz="1350" dirty="0"/>
          </a:p>
        </p:txBody>
      </p:sp>
      <p:sp>
        <p:nvSpPr>
          <p:cNvPr id="14" name="Text 11"/>
          <p:cNvSpPr/>
          <p:nvPr/>
        </p:nvSpPr>
        <p:spPr>
          <a:xfrm>
            <a:off x="804672" y="5056632"/>
            <a:ext cx="10579608" cy="621792"/>
          </a:xfrm>
          <a:prstGeom prst="rect">
            <a:avLst/>
          </a:prstGeom>
          <a:noFill/>
          <a:ln/>
        </p:spPr>
        <p:txBody>
          <a:bodyPr wrap="square" lIns="0" tIns="0" rIns="0" bIns="0" rtlCol="0" anchor="t"/>
          <a:lstStyle/>
          <a:p>
            <a:pPr indent="0" marL="0">
              <a:lnSpc>
                <a:spcPts val="1500"/>
              </a:lnSpc>
              <a:buNone/>
            </a:pPr>
            <a:r>
              <a:rPr lang="en-US" sz="1100" dirty="0">
                <a:solidFill>
                  <a:srgbClr val="3E3E4B"/>
                </a:solidFill>
                <a:latin typeface="Calibri" pitchFamily="34" charset="0"/>
                <a:ea typeface="Calibri" pitchFamily="34" charset="-122"/>
                <a:cs typeface="Calibri" pitchFamily="34" charset="-120"/>
              </a:rPr>
              <a:t>1. Stop repeating the same removal request.   2. Open the vSphere client.   3. Review the vSAN fault-domain configuration.   4. Map each host to its domain.   5. Count hosts in every domain.   6. Simulate the distribution after removing each candidate.   7. Select a host from the most populated eligible domain.   8. Confirm the post-removal difference is no greater than one.   9. Ensure workload and storage evacuation requirements are satisfied.   10. Retry the scale-in.   11. Record the constraint in the runbook.</a:t>
            </a:r>
            <a:endParaRPr lang="en-US" sz="1100" dirty="0"/>
          </a:p>
        </p:txBody>
      </p:sp>
      <p:sp>
        <p:nvSpPr>
          <p:cNvPr id="15" name="Shape 12"/>
          <p:cNvSpPr/>
          <p:nvPr/>
        </p:nvSpPr>
        <p:spPr>
          <a:xfrm>
            <a:off x="548640" y="5742432"/>
            <a:ext cx="11091672" cy="548640"/>
          </a:xfrm>
          <a:prstGeom prst="roundRect">
            <a:avLst>
              <a:gd name="adj" fmla="val 15000"/>
            </a:avLst>
          </a:prstGeom>
          <a:solidFill>
            <a:srgbClr val="EBEDED"/>
          </a:solidFill>
          <a:ln/>
        </p:spPr>
      </p:sp>
      <p:sp>
        <p:nvSpPr>
          <p:cNvPr id="16" name="Text 13"/>
          <p:cNvSpPr/>
          <p:nvPr/>
        </p:nvSpPr>
        <p:spPr>
          <a:xfrm>
            <a:off x="731520" y="5742432"/>
            <a:ext cx="10725912" cy="548640"/>
          </a:xfrm>
          <a:prstGeom prst="rect">
            <a:avLst/>
          </a:prstGeom>
          <a:noFill/>
          <a:ln/>
        </p:spPr>
        <p:txBody>
          <a:bodyPr wrap="square" lIns="0" tIns="0" rIns="0" bIns="0" rtlCol="0" anchor="ctr"/>
          <a:lstStyle/>
          <a:p>
            <a:pPr indent="0" marL="0">
              <a:buNone/>
            </a:pPr>
            <a:r>
              <a:rPr lang="en-US" sz="1100" b="1" dirty="0">
                <a:solidFill>
                  <a:srgbClr val="00B3E2"/>
                </a:solidFill>
                <a:latin typeface="Arial" pitchFamily="34" charset="0"/>
                <a:ea typeface="Arial" pitchFamily="34" charset="-122"/>
                <a:cs typeface="Arial" pitchFamily="34" charset="-120"/>
              </a:rPr>
              <a:t>Takeaway   </a:t>
            </a:r>
            <a:pPr indent="0" marL="0">
              <a:buNone/>
            </a:pPr>
            <a:r>
              <a:rPr lang="en-US" sz="1200" dirty="0">
                <a:solidFill>
                  <a:srgbClr val="3E3E4B"/>
                </a:solidFill>
                <a:latin typeface="Calibri" pitchFamily="34" charset="0"/>
                <a:ea typeface="Calibri" pitchFamily="34" charset="-122"/>
                <a:cs typeface="Calibri" pitchFamily="34" charset="-120"/>
              </a:rPr>
              <a:t>AV64 scale-in is a topology-aware operation. The removable host is determined by structural balance, not by administrative convenience.</a:t>
            </a:r>
            <a:endParaRPr lang="en-US" sz="1100" dirty="0"/>
          </a:p>
        </p:txBody>
      </p:sp>
      <p:sp>
        <p:nvSpPr>
          <p:cNvPr id="17" name="Text 14"/>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15. Host removal and fault-domain balance</a:t>
            </a:r>
            <a:endParaRPr lang="en-US" sz="950" dirty="0"/>
          </a:p>
        </p:txBody>
      </p:sp>
      <p:sp>
        <p:nvSpPr>
          <p:cNvPr id="18" name="Text 15"/>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35</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16. MIXED ENVIRONMENTS</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AV64 expansion clusters under one vCenter</a:t>
            </a:r>
            <a:endParaRPr lang="en-US" sz="2800" dirty="0"/>
          </a:p>
        </p:txBody>
      </p:sp>
      <p:sp>
        <p:nvSpPr>
          <p:cNvPr id="4" name="Shape 2"/>
          <p:cNvSpPr/>
          <p:nvPr/>
        </p:nvSpPr>
        <p:spPr>
          <a:xfrm>
            <a:off x="548640" y="1280160"/>
            <a:ext cx="5760720" cy="3657600"/>
          </a:xfrm>
          <a:prstGeom prst="roundRect">
            <a:avLst>
              <a:gd name="adj" fmla="val 2250"/>
            </a:avLst>
          </a:prstGeom>
          <a:solidFill>
            <a:srgbClr val="FFFFFF"/>
          </a:solidFill>
          <a:ln w="12700">
            <a:solidFill>
              <a:srgbClr val="DDE2E2"/>
            </a:solidFill>
            <a:prstDash val="solid"/>
          </a:ln>
        </p:spPr>
      </p:sp>
      <p:pic>
        <p:nvPicPr>
          <p:cNvPr id="5" name="Image 0" descr="/home/claude/src/images/av64-mixed-sku-topology.png">    </p:cNvPr>
          <p:cNvPicPr>
            <a:picLocks noChangeAspect="1"/>
          </p:cNvPicPr>
          <p:nvPr/>
        </p:nvPicPr>
        <p:blipFill>
          <a:blip r:embed="rId1"/>
          <a:srcRect l="0" r="0" t="0" b="0"/>
          <a:stretch/>
        </p:blipFill>
        <p:spPr>
          <a:xfrm>
            <a:off x="658368" y="1389888"/>
            <a:ext cx="5541264" cy="3127248"/>
          </a:xfrm>
          <a:prstGeom prst="rect">
            <a:avLst/>
          </a:prstGeom>
        </p:spPr>
      </p:pic>
      <p:sp>
        <p:nvSpPr>
          <p:cNvPr id="6" name="Text 3"/>
          <p:cNvSpPr/>
          <p:nvPr/>
        </p:nvSpPr>
        <p:spPr>
          <a:xfrm>
            <a:off x="658368" y="4590288"/>
            <a:ext cx="5541264" cy="256032"/>
          </a:xfrm>
          <a:prstGeom prst="rect">
            <a:avLst/>
          </a:prstGeom>
          <a:noFill/>
          <a:ln/>
        </p:spPr>
        <p:txBody>
          <a:bodyPr wrap="square" lIns="0" tIns="0" rIns="0" bIns="0" rtlCol="0" anchor="ctr"/>
          <a:lstStyle/>
          <a:p>
            <a:pPr algn="ctr" indent="0" marL="0">
              <a:buNone/>
            </a:pPr>
            <a:r>
              <a:rPr lang="en-US" sz="900" i="1" dirty="0">
                <a:solidFill>
                  <a:srgbClr val="6B6B78"/>
                </a:solidFill>
                <a:latin typeface="Calibri" pitchFamily="34" charset="0"/>
                <a:ea typeface="Calibri" pitchFamily="34" charset="-122"/>
                <a:cs typeface="Calibri" pitchFamily="34" charset="-120"/>
              </a:rPr>
              <a:t>Source: Microsoft Learn, Private cloud extension with AV64 node size</a:t>
            </a:r>
            <a:endParaRPr lang="en-US" sz="900" dirty="0"/>
          </a:p>
        </p:txBody>
      </p:sp>
      <p:sp>
        <p:nvSpPr>
          <p:cNvPr id="7" name="Shape 4"/>
          <p:cNvSpPr/>
          <p:nvPr/>
        </p:nvSpPr>
        <p:spPr>
          <a:xfrm>
            <a:off x="6537960" y="1280160"/>
            <a:ext cx="5102352" cy="1783080"/>
          </a:xfrm>
          <a:prstGeom prst="roundRect">
            <a:avLst>
              <a:gd name="adj" fmla="val 4615"/>
            </a:avLst>
          </a:prstGeom>
          <a:solidFill>
            <a:srgbClr val="EBEDED"/>
          </a:solidFill>
          <a:ln/>
        </p:spPr>
      </p:sp>
      <p:sp>
        <p:nvSpPr>
          <p:cNvPr id="8" name="Text 5"/>
          <p:cNvSpPr/>
          <p:nvPr/>
        </p:nvSpPr>
        <p:spPr>
          <a:xfrm>
            <a:off x="6775704" y="1389888"/>
            <a:ext cx="4645152"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Topology</a:t>
            </a:r>
            <a:endParaRPr lang="en-US" sz="1400" dirty="0"/>
          </a:p>
        </p:txBody>
      </p:sp>
      <p:sp>
        <p:nvSpPr>
          <p:cNvPr id="9" name="Text 6"/>
          <p:cNvSpPr/>
          <p:nvPr/>
        </p:nvSpPr>
        <p:spPr>
          <a:xfrm>
            <a:off x="6775704" y="1691640"/>
            <a:ext cx="4626864" cy="1280160"/>
          </a:xfrm>
          <a:prstGeom prst="rect">
            <a:avLst/>
          </a:prstGeom>
          <a:noFill/>
          <a:ln/>
        </p:spPr>
        <p:txBody>
          <a:bodyPr wrap="square" lIns="0" tIns="0" rIns="0" bIns="0" rtlCol="0" anchor="t"/>
          <a:lstStyle/>
          <a:p>
            <a:pPr marL="177800" indent="-177800">
              <a:lnSpc>
                <a:spcPts val="1400"/>
              </a:lnSpc>
              <a:spcAft>
                <a:spcPts val="200"/>
              </a:spcAft>
              <a:buSzPct val="100000"/>
              <a:buChar char="•"/>
            </a:pPr>
            <a:r>
              <a:rPr lang="en-US" sz="1100" dirty="0">
                <a:solidFill>
                  <a:srgbClr val="3E3E4B"/>
                </a:solidFill>
                <a:latin typeface="Calibri" pitchFamily="34" charset="0"/>
                <a:ea typeface="Calibri" pitchFamily="34" charset="-122"/>
                <a:cs typeface="Calibri" pitchFamily="34" charset="-120"/>
              </a:rPr>
              <a:t>The original Generation 1 cluster remains Cluster 1.</a:t>
            </a:r>
            <a:endParaRPr lang="en-US" sz="1100" dirty="0"/>
          </a:p>
          <a:p>
            <a:pPr marL="177800" indent="-177800">
              <a:lnSpc>
                <a:spcPts val="1400"/>
              </a:lnSpc>
              <a:spcAft>
                <a:spcPts val="200"/>
              </a:spcAft>
              <a:buSzPct val="100000"/>
              <a:buChar char="•"/>
            </a:pPr>
            <a:r>
              <a:rPr lang="en-US" sz="1100" dirty="0">
                <a:solidFill>
                  <a:srgbClr val="3E3E4B"/>
                </a:solidFill>
                <a:latin typeface="Calibri" pitchFamily="34" charset="0"/>
                <a:ea typeface="Calibri" pitchFamily="34" charset="-122"/>
                <a:cs typeface="Calibri" pitchFamily="34" charset="-120"/>
              </a:rPr>
              <a:t>Clusters two through twelve can use AV64 hardware.</a:t>
            </a:r>
            <a:endParaRPr lang="en-US" sz="1100" dirty="0"/>
          </a:p>
          <a:p>
            <a:pPr marL="177800" indent="-177800">
              <a:lnSpc>
                <a:spcPts val="1400"/>
              </a:lnSpc>
              <a:spcAft>
                <a:spcPts val="200"/>
              </a:spcAft>
              <a:buSzPct val="100000"/>
              <a:buChar char="•"/>
            </a:pPr>
            <a:r>
              <a:rPr lang="en-US" sz="1100" dirty="0">
                <a:solidFill>
                  <a:srgbClr val="3E3E4B"/>
                </a:solidFill>
                <a:latin typeface="Calibri" pitchFamily="34" charset="0"/>
                <a:ea typeface="Calibri" pitchFamily="34" charset="-122"/>
                <a:cs typeface="Calibri" pitchFamily="34" charset="-120"/>
              </a:rPr>
              <a:t>At least three AV64 nodes are required to form a vSAN cluster.</a:t>
            </a:r>
            <a:endParaRPr lang="en-US" sz="1100" dirty="0"/>
          </a:p>
          <a:p>
            <a:pPr marL="177800" indent="-177800">
              <a:lnSpc>
                <a:spcPts val="1400"/>
              </a:lnSpc>
              <a:spcAft>
                <a:spcPts val="200"/>
              </a:spcAft>
              <a:buSzPct val="100000"/>
              <a:buChar char="•"/>
            </a:pPr>
            <a:r>
              <a:rPr lang="en-US" sz="1100" dirty="0">
                <a:solidFill>
                  <a:srgbClr val="3E3E4B"/>
                </a:solidFill>
                <a:latin typeface="Calibri" pitchFamily="34" charset="0"/>
                <a:ea typeface="Calibri" pitchFamily="34" charset="-122"/>
                <a:cs typeface="Calibri" pitchFamily="34" charset="-120"/>
              </a:rPr>
              <a:t>Quota approval is required before deploying the nodes.</a:t>
            </a:r>
            <a:endParaRPr lang="en-US" sz="1100" dirty="0"/>
          </a:p>
          <a:p>
            <a:pPr marL="177800" indent="-177800">
              <a:lnSpc>
                <a:spcPts val="1400"/>
              </a:lnSpc>
              <a:spcAft>
                <a:spcPts val="200"/>
              </a:spcAft>
              <a:buSzPct val="100000"/>
              <a:buChar char="•"/>
            </a:pPr>
            <a:r>
              <a:rPr lang="en-US" sz="1100" dirty="0">
                <a:solidFill>
                  <a:srgbClr val="3E3E4B"/>
                </a:solidFill>
                <a:latin typeface="Calibri" pitchFamily="34" charset="0"/>
                <a:ea typeface="Calibri" pitchFamily="34" charset="-122"/>
                <a:cs typeface="Calibri" pitchFamily="34" charset="-120"/>
              </a:rPr>
              <a:t>One vCenter manages both older and newer clusters.</a:t>
            </a:r>
            <a:endParaRPr lang="en-US" sz="1100" dirty="0"/>
          </a:p>
        </p:txBody>
      </p:sp>
      <p:sp>
        <p:nvSpPr>
          <p:cNvPr id="10" name="Shape 7"/>
          <p:cNvSpPr/>
          <p:nvPr/>
        </p:nvSpPr>
        <p:spPr>
          <a:xfrm>
            <a:off x="6537960" y="3200400"/>
            <a:ext cx="5102352" cy="1737360"/>
          </a:xfrm>
          <a:prstGeom prst="roundRect">
            <a:avLst>
              <a:gd name="adj" fmla="val 4737"/>
            </a:avLst>
          </a:prstGeom>
          <a:solidFill>
            <a:srgbClr val="E5F7FC"/>
          </a:solidFill>
          <a:ln/>
        </p:spPr>
      </p:sp>
      <p:sp>
        <p:nvSpPr>
          <p:cNvPr id="11" name="Text 8"/>
          <p:cNvSpPr/>
          <p:nvPr/>
        </p:nvSpPr>
        <p:spPr>
          <a:xfrm>
            <a:off x="6775704" y="3310128"/>
            <a:ext cx="4645152"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Primary use case</a:t>
            </a:r>
            <a:endParaRPr lang="en-US" sz="1400" dirty="0"/>
          </a:p>
        </p:txBody>
      </p:sp>
      <p:sp>
        <p:nvSpPr>
          <p:cNvPr id="12" name="Text 9"/>
          <p:cNvSpPr/>
          <p:nvPr/>
        </p:nvSpPr>
        <p:spPr>
          <a:xfrm>
            <a:off x="6775704" y="3611880"/>
            <a:ext cx="4626864" cy="1280160"/>
          </a:xfrm>
          <a:prstGeom prst="rect">
            <a:avLst/>
          </a:prstGeom>
          <a:noFill/>
          <a:ln/>
        </p:spPr>
        <p:txBody>
          <a:bodyPr wrap="square" lIns="0" tIns="0" rIns="0" bIns="0" rtlCol="0" anchor="t"/>
          <a:lstStyle/>
          <a:p>
            <a:pPr marL="177800" indent="-177800">
              <a:lnSpc>
                <a:spcPts val="1400"/>
              </a:lnSpc>
              <a:spcAft>
                <a:spcPts val="300"/>
              </a:spcAft>
              <a:buSzPct val="100000"/>
              <a:buChar char="•"/>
            </a:pPr>
            <a:r>
              <a:rPr lang="en-US" sz="1100" dirty="0">
                <a:solidFill>
                  <a:srgbClr val="3E3E4B"/>
                </a:solidFill>
                <a:latin typeface="Calibri" pitchFamily="34" charset="0"/>
                <a:ea typeface="Calibri" pitchFamily="34" charset="-122"/>
                <a:cs typeface="Calibri" pitchFamily="34" charset="-120"/>
              </a:rPr>
              <a:t>Existing mission-critical databases remain on Gen 1 stretched-cluster infrastructure.</a:t>
            </a:r>
            <a:endParaRPr lang="en-US" sz="1100" dirty="0"/>
          </a:p>
          <a:p>
            <a:pPr marL="177800" indent="-177800">
              <a:lnSpc>
                <a:spcPts val="1400"/>
              </a:lnSpc>
              <a:spcAft>
                <a:spcPts val="300"/>
              </a:spcAft>
              <a:buSzPct val="100000"/>
              <a:buChar char="•"/>
            </a:pPr>
            <a:r>
              <a:rPr lang="en-US" sz="1100" dirty="0">
                <a:solidFill>
                  <a:srgbClr val="3E3E4B"/>
                </a:solidFill>
                <a:latin typeface="Calibri" pitchFamily="34" charset="0"/>
                <a:ea typeface="Calibri" pitchFamily="34" charset="-122"/>
                <a:cs typeface="Calibri" pitchFamily="34" charset="-120"/>
              </a:rPr>
              <a:t>New high-performance or stateless workloads, such as a large VDI farm, use AV64.</a:t>
            </a:r>
            <a:endParaRPr lang="en-US" sz="1100" dirty="0"/>
          </a:p>
          <a:p>
            <a:pPr marL="177800" indent="-177800">
              <a:lnSpc>
                <a:spcPts val="1400"/>
              </a:lnSpc>
              <a:spcAft>
                <a:spcPts val="300"/>
              </a:spcAft>
              <a:buSzPct val="100000"/>
              <a:buChar char="•"/>
            </a:pPr>
            <a:r>
              <a:rPr lang="en-US" sz="1100" dirty="0">
                <a:solidFill>
                  <a:srgbClr val="3E3E4B"/>
                </a:solidFill>
                <a:latin typeface="Calibri" pitchFamily="34" charset="0"/>
                <a:ea typeface="Calibri" pitchFamily="34" charset="-122"/>
                <a:cs typeface="Calibri" pitchFamily="34" charset="-120"/>
              </a:rPr>
              <a:t>The organization gains established resilience and newer hardware without rebuilding the private cloud.</a:t>
            </a:r>
            <a:endParaRPr lang="en-US" sz="1100" dirty="0"/>
          </a:p>
        </p:txBody>
      </p:sp>
      <p:sp>
        <p:nvSpPr>
          <p:cNvPr id="13" name="Shape 10"/>
          <p:cNvSpPr/>
          <p:nvPr/>
        </p:nvSpPr>
        <p:spPr>
          <a:xfrm>
            <a:off x="548640" y="5029200"/>
            <a:ext cx="11091672" cy="713232"/>
          </a:xfrm>
          <a:prstGeom prst="roundRect">
            <a:avLst>
              <a:gd name="adj" fmla="val 11538"/>
            </a:avLst>
          </a:prstGeom>
          <a:solidFill>
            <a:srgbClr val="FAC458"/>
          </a:solidFill>
          <a:ln/>
        </p:spPr>
      </p:sp>
      <p:sp>
        <p:nvSpPr>
          <p:cNvPr id="14" name="Text 11"/>
          <p:cNvSpPr/>
          <p:nvPr/>
        </p:nvSpPr>
        <p:spPr>
          <a:xfrm>
            <a:off x="804672" y="5074920"/>
            <a:ext cx="4572000"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CPU heterogeneity</a:t>
            </a:r>
            <a:endParaRPr lang="en-US" sz="1300" dirty="0"/>
          </a:p>
        </p:txBody>
      </p:sp>
      <p:sp>
        <p:nvSpPr>
          <p:cNvPr id="15" name="Text 12"/>
          <p:cNvSpPr/>
          <p:nvPr/>
        </p:nvSpPr>
        <p:spPr>
          <a:xfrm>
            <a:off x="804672" y="5340096"/>
            <a:ext cx="10579608" cy="384048"/>
          </a:xfrm>
          <a:prstGeom prst="rect">
            <a:avLst/>
          </a:prstGeom>
          <a:noFill/>
          <a:ln/>
        </p:spPr>
        <p:txBody>
          <a:bodyPr wrap="square" lIns="0" tIns="0" rIns="0" bIns="0" rtlCol="0" anchor="t"/>
          <a:lstStyle/>
          <a:p>
            <a:pPr indent="0" marL="0">
              <a:buNone/>
            </a:pPr>
            <a:r>
              <a:rPr lang="en-US" sz="1150" dirty="0">
                <a:solidFill>
                  <a:srgbClr val="3E3E4B"/>
                </a:solidFill>
                <a:latin typeface="Calibri" pitchFamily="34" charset="0"/>
                <a:ea typeface="Calibri" pitchFamily="34" charset="-122"/>
                <a:cs typeface="Calibri" pitchFamily="34" charset="-120"/>
              </a:rPr>
              <a:t>Generation 1 hosts may use Skylake or Cascade Lake processors; AV64 uses Ice Lake. Newer CPUs expose instruction sets that do not exist on older CPUs, so live workload movement is not necessarily symmetrical.</a:t>
            </a:r>
            <a:endParaRPr lang="en-US" sz="1150" dirty="0"/>
          </a:p>
        </p:txBody>
      </p:sp>
      <p:sp>
        <p:nvSpPr>
          <p:cNvPr id="16" name="Shape 13"/>
          <p:cNvSpPr/>
          <p:nvPr/>
        </p:nvSpPr>
        <p:spPr>
          <a:xfrm>
            <a:off x="548640" y="5742432"/>
            <a:ext cx="11091672" cy="548640"/>
          </a:xfrm>
          <a:prstGeom prst="roundRect">
            <a:avLst>
              <a:gd name="adj" fmla="val 15000"/>
            </a:avLst>
          </a:prstGeom>
          <a:solidFill>
            <a:srgbClr val="EBEDED"/>
          </a:solidFill>
          <a:ln/>
        </p:spPr>
      </p:sp>
      <p:sp>
        <p:nvSpPr>
          <p:cNvPr id="17" name="Text 14"/>
          <p:cNvSpPr/>
          <p:nvPr/>
        </p:nvSpPr>
        <p:spPr>
          <a:xfrm>
            <a:off x="731520" y="5742432"/>
            <a:ext cx="10725912" cy="548640"/>
          </a:xfrm>
          <a:prstGeom prst="rect">
            <a:avLst/>
          </a:prstGeom>
          <a:noFill/>
          <a:ln/>
        </p:spPr>
        <p:txBody>
          <a:bodyPr wrap="square" lIns="0" tIns="0" rIns="0" bIns="0" rtlCol="0" anchor="ctr"/>
          <a:lstStyle/>
          <a:p>
            <a:pPr indent="0" marL="0">
              <a:buNone/>
            </a:pPr>
            <a:r>
              <a:rPr lang="en-US" sz="1100" b="1" dirty="0">
                <a:solidFill>
                  <a:srgbClr val="00B3E2"/>
                </a:solidFill>
                <a:latin typeface="Arial" pitchFamily="34" charset="0"/>
                <a:ea typeface="Arial" pitchFamily="34" charset="-122"/>
                <a:cs typeface="Arial" pitchFamily="34" charset="-120"/>
              </a:rPr>
              <a:t>Takeaway   </a:t>
            </a:r>
            <a:pPr indent="0" marL="0">
              <a:buNone/>
            </a:pPr>
            <a:r>
              <a:rPr lang="en-US" sz="1200" dirty="0">
                <a:solidFill>
                  <a:srgbClr val="3E3E4B"/>
                </a:solidFill>
                <a:latin typeface="Calibri" pitchFamily="34" charset="0"/>
                <a:ea typeface="Calibri" pitchFamily="34" charset="-122"/>
                <a:cs typeface="Calibri" pitchFamily="34" charset="-120"/>
              </a:rPr>
              <a:t>A mixed environment provides a transition path, but CPU compatibility must be governed before workloads are allowed to move freely between clusters.</a:t>
            </a:r>
            <a:endParaRPr lang="en-US" sz="1100" dirty="0"/>
          </a:p>
        </p:txBody>
      </p:sp>
      <p:sp>
        <p:nvSpPr>
          <p:cNvPr id="18" name="Text 15"/>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16. Mixed Generation 1 and Generation 2 environments</a:t>
            </a:r>
            <a:endParaRPr lang="en-US" sz="950" dirty="0"/>
          </a:p>
        </p:txBody>
      </p:sp>
      <p:sp>
        <p:nvSpPr>
          <p:cNvPr id="19" name="Text 16"/>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36</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17. ENHANCED VMOTION COMPATIBILITY</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Mobility between generations is asymmetric</a:t>
            </a:r>
            <a:endParaRPr lang="en-US" sz="2800" dirty="0"/>
          </a:p>
        </p:txBody>
      </p:sp>
      <p:sp>
        <p:nvSpPr>
          <p:cNvPr id="4" name="Shape 2"/>
          <p:cNvSpPr/>
          <p:nvPr/>
        </p:nvSpPr>
        <p:spPr>
          <a:xfrm>
            <a:off x="548640" y="1280160"/>
            <a:ext cx="11091672" cy="1234440"/>
          </a:xfrm>
          <a:prstGeom prst="roundRect">
            <a:avLst>
              <a:gd name="adj" fmla="val 6667"/>
            </a:avLst>
          </a:prstGeom>
          <a:solidFill>
            <a:srgbClr val="EBEDED"/>
          </a:solidFill>
          <a:ln/>
        </p:spPr>
      </p:sp>
      <p:sp>
        <p:nvSpPr>
          <p:cNvPr id="5" name="Text 3"/>
          <p:cNvSpPr/>
          <p:nvPr/>
        </p:nvSpPr>
        <p:spPr>
          <a:xfrm>
            <a:off x="804672" y="1371600"/>
            <a:ext cx="8229600"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Why EVC is required</a:t>
            </a:r>
            <a:endParaRPr lang="en-US" sz="1400" dirty="0"/>
          </a:p>
        </p:txBody>
      </p:sp>
      <p:sp>
        <p:nvSpPr>
          <p:cNvPr id="6" name="Text 4"/>
          <p:cNvSpPr/>
          <p:nvPr/>
        </p:nvSpPr>
        <p:spPr>
          <a:xfrm>
            <a:off x="804672" y="1691640"/>
            <a:ext cx="10579608" cy="731520"/>
          </a:xfrm>
          <a:prstGeom prst="rect">
            <a:avLst/>
          </a:prstGeom>
          <a:noFill/>
          <a:ln/>
        </p:spPr>
        <p:txBody>
          <a:bodyPr wrap="square" lIns="0" tIns="0" rIns="0" bIns="0" rtlCol="0" anchor="t"/>
          <a:lstStyle/>
          <a:p>
            <a:pPr indent="0" marL="0">
              <a:lnSpc>
                <a:spcPts val="1700"/>
              </a:lnSpc>
              <a:buNone/>
            </a:pPr>
            <a:r>
              <a:rPr lang="en-US" sz="1250" dirty="0">
                <a:solidFill>
                  <a:srgbClr val="3E3E4B"/>
                </a:solidFill>
                <a:latin typeface="Calibri" pitchFamily="34" charset="0"/>
                <a:ea typeface="Calibri" pitchFamily="34" charset="-122"/>
                <a:cs typeface="Calibri" pitchFamily="34" charset="-120"/>
              </a:rPr>
              <a:t>A guest operating system detects processor capabilities when the VM powers on, and may begin using instructions available on the current CPU. A newer processor can execute older instructions, but an older processor cannot execute every newer instruction. vCenter performs a compatibility check and blocks unsafe migrations.</a:t>
            </a:r>
            <a:endParaRPr lang="en-US" sz="125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2697480"/>
          <a:ext cx="11091672" cy="914400"/>
        </p:xfrm>
        <a:graphic>
          <a:graphicData uri="http://schemas.openxmlformats.org/drawingml/2006/table">
            <a:tbl>
              <a:tblPr/>
              <a:tblGrid>
                <a:gridCol w="5486400"/>
                <a:gridCol w="5605272"/>
              </a:tblGrid>
              <a:tr h="457200">
                <a:tc>
                  <a:txBody>
                    <a:bodyPr/>
                    <a:lstStyle/>
                    <a:p>
                      <a:pPr indent="0" marL="0">
                        <a:buNone/>
                      </a:pPr>
                      <a:r>
                        <a:rPr lang="en-US" sz="1150" b="1" dirty="0">
                          <a:solidFill>
                            <a:srgbClr val="FFFFFF"/>
                          </a:solidFill>
                          <a:latin typeface="Arial" pitchFamily="34" charset="0"/>
                          <a:ea typeface="Arial" pitchFamily="34" charset="-122"/>
                          <a:cs typeface="Arial" pitchFamily="34" charset="-120"/>
                        </a:rPr>
                        <a:t>Migration direction</a:t>
                      </a:r>
                      <a:endParaRPr lang="en-US" sz="1150" dirty="0">
                        <a:latin typeface="Arial" charset="0"/>
                        <a:ea typeface="Arial" charset="0"/>
                        <a:cs typeface="Arial"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3E3E4B"/>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Expected behavior</a:t>
                      </a:r>
                      <a:endParaRPr lang="en-US" sz="1150" dirty="0">
                        <a:latin typeface="Arial" charset="0"/>
                        <a:ea typeface="Arial" charset="0"/>
                        <a:cs typeface="Arial"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3E3E4B"/>
                    </a:solidFill>
                  </a:tcPr>
                </a:tc>
              </a:tr>
              <a:tr h="457200">
                <a:tc>
                  <a:txBody>
                    <a:bodyPr/>
                    <a:lstStyle/>
                    <a:p>
                      <a:pPr indent="0" marL="0">
                        <a:buNone/>
                      </a:pPr>
                      <a:r>
                        <a:rPr lang="en-US" sz="1200" b="1" dirty="0">
                          <a:solidFill>
                            <a:srgbClr val="3E3E4B"/>
                          </a:solidFill>
                          <a:latin typeface="Calibri" pitchFamily="34" charset="0"/>
                          <a:ea typeface="Calibri" pitchFamily="34" charset="-122"/>
                          <a:cs typeface="Calibri" pitchFamily="34" charset="-120"/>
                        </a:rPr>
                        <a:t>Older Generation 1 CPU to AV64 Ice Lake</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Usually succeeds, because the newer CPU includes the older instruction set</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3E3E4B"/>
                          </a:solidFill>
                          <a:latin typeface="Calibri" pitchFamily="34" charset="0"/>
                          <a:ea typeface="Calibri" pitchFamily="34" charset="-122"/>
                          <a:cs typeface="Calibri" pitchFamily="34" charset="-120"/>
                        </a:rPr>
                        <a:t>AV64 Ice Lake to older Gen 1 CPU before using newer features</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May depend on the VM's exposed baseline</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r>
              <a:tr h="457200">
                <a:tc>
                  <a:txBody>
                    <a:bodyPr/>
                    <a:lstStyle/>
                    <a:p>
                      <a:pPr indent="0" marL="0">
                        <a:buNone/>
                      </a:pPr>
                      <a:r>
                        <a:rPr lang="en-US" sz="1200" b="1" dirty="0">
                          <a:solidFill>
                            <a:srgbClr val="3E3E4B"/>
                          </a:solidFill>
                          <a:latin typeface="Calibri" pitchFamily="34" charset="0"/>
                          <a:ea typeface="Calibri" pitchFamily="34" charset="-122"/>
                          <a:cs typeface="Calibri" pitchFamily="34" charset="-120"/>
                        </a:rPr>
                        <a:t>AV64 to older CPU after power-on or reboot with newer features exposed</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Live vMotion is blocked</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3E3E4B"/>
                          </a:solidFill>
                          <a:latin typeface="Calibri" pitchFamily="34" charset="0"/>
                          <a:ea typeface="Calibri" pitchFamily="34" charset="-122"/>
                          <a:cs typeface="Calibri" pitchFamily="34" charset="-120"/>
                        </a:rPr>
                        <a:t>Powered-off VM moved from AV64 to older CPU</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200" dirty="0">
                          <a:solidFill>
                            <a:srgbClr val="3E3E4B"/>
                          </a:solidFill>
                          <a:latin typeface="Calibri" pitchFamily="34" charset="0"/>
                          <a:ea typeface="Calibri" pitchFamily="34" charset="-122"/>
                          <a:cs typeface="Calibri" pitchFamily="34" charset="-120"/>
                        </a:rPr>
                        <a:t>Cold migration can reset the exposed baseline after reboot</a:t>
                      </a:r>
                      <a:endParaRPr lang="en-US" sz="120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r>
            </a:tbl>
          </a:graphicData>
        </a:graphic>
      </p:graphicFrame>
      <p:sp>
        <p:nvSpPr>
          <p:cNvPr id="8" name="Shape 5"/>
          <p:cNvSpPr/>
          <p:nvPr/>
        </p:nvSpPr>
        <p:spPr>
          <a:xfrm>
            <a:off x="548640" y="5074920"/>
            <a:ext cx="11091672" cy="1051560"/>
          </a:xfrm>
          <a:prstGeom prst="roundRect">
            <a:avLst>
              <a:gd name="adj" fmla="val 7826"/>
            </a:avLst>
          </a:prstGeom>
          <a:solidFill>
            <a:srgbClr val="E2F2E8"/>
          </a:solidFill>
          <a:ln/>
        </p:spPr>
      </p:sp>
      <p:sp>
        <p:nvSpPr>
          <p:cNvPr id="9" name="Text 6"/>
          <p:cNvSpPr/>
          <p:nvPr/>
        </p:nvSpPr>
        <p:spPr>
          <a:xfrm>
            <a:off x="804672" y="5166360"/>
            <a:ext cx="10579608" cy="896112"/>
          </a:xfrm>
          <a:prstGeom prst="rect">
            <a:avLst/>
          </a:prstGeom>
          <a:noFill/>
          <a:ln/>
        </p:spPr>
        <p:txBody>
          <a:bodyPr wrap="square" lIns="0" tIns="0" rIns="0" bIns="0" rtlCol="0" anchor="t"/>
          <a:lstStyle/>
          <a:p>
            <a:pPr indent="0" marL="0">
              <a:lnSpc>
                <a:spcPts val="1700"/>
              </a:lnSpc>
              <a:buNone/>
            </a:pPr>
            <a:r>
              <a:rPr lang="en-US" sz="1150" b="1" dirty="0">
                <a:solidFill>
                  <a:srgbClr val="00AD93"/>
                </a:solidFill>
                <a:latin typeface="Arial" pitchFamily="34" charset="0"/>
                <a:ea typeface="Arial" pitchFamily="34" charset="-122"/>
                <a:cs typeface="Arial" pitchFamily="34" charset="-120"/>
              </a:rPr>
              <a:t>Analogy
</a:t>
            </a:r>
            <a:endParaRPr lang="en-US" sz="1150" dirty="0"/>
          </a:p>
          <a:p>
            <a:pPr indent="0" marL="0">
              <a:lnSpc>
                <a:spcPts val="1700"/>
              </a:lnSpc>
              <a:buNone/>
            </a:pPr>
            <a:r>
              <a:rPr lang="en-US" sz="1250" dirty="0">
                <a:solidFill>
                  <a:srgbClr val="3E3E4B"/>
                </a:solidFill>
                <a:latin typeface="Calibri" pitchFamily="34" charset="0"/>
                <a:ea typeface="Calibri" pitchFamily="34" charset="-122"/>
                <a:cs typeface="Calibri" pitchFamily="34" charset="-120"/>
              </a:rPr>
              <a:t>Moving from Generation 1 to AV64 is like an upgrade from economy to first class. Once the VM powers on and accepts the first-class glassware represented by newer CPU instructions, it cannot carry those instructions back into the older cabin.</a:t>
            </a:r>
            <a:endParaRPr lang="en-US" sz="1150" dirty="0"/>
          </a:p>
        </p:txBody>
      </p:sp>
      <p:sp>
        <p:nvSpPr>
          <p:cNvPr id="10" name="Text 7"/>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17. Enhanced vMotion Compatibility</a:t>
            </a:r>
            <a:endParaRPr lang="en-US" sz="950" dirty="0"/>
          </a:p>
        </p:txBody>
      </p:sp>
      <p:sp>
        <p:nvSpPr>
          <p:cNvPr id="11" name="Text 8"/>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37</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17.4 EVC GOVERNANCE</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The trap, and the preventive baseline</a:t>
            </a:r>
            <a:endParaRPr lang="en-US" sz="2800" dirty="0"/>
          </a:p>
        </p:txBody>
      </p:sp>
      <p:sp>
        <p:nvSpPr>
          <p:cNvPr id="4" name="Shape 2"/>
          <p:cNvSpPr/>
          <p:nvPr/>
        </p:nvSpPr>
        <p:spPr>
          <a:xfrm>
            <a:off x="548640" y="1298448"/>
            <a:ext cx="5303520" cy="3063240"/>
          </a:xfrm>
          <a:prstGeom prst="roundRect">
            <a:avLst>
              <a:gd name="adj" fmla="val 2687"/>
            </a:avLst>
          </a:prstGeom>
          <a:solidFill>
            <a:srgbClr val="EBEDED"/>
          </a:solidFill>
          <a:ln/>
        </p:spPr>
      </p:sp>
      <p:sp>
        <p:nvSpPr>
          <p:cNvPr id="5" name="Shape 3"/>
          <p:cNvSpPr/>
          <p:nvPr/>
        </p:nvSpPr>
        <p:spPr>
          <a:xfrm>
            <a:off x="804672" y="1463040"/>
            <a:ext cx="310896" cy="310896"/>
          </a:xfrm>
          <a:prstGeom prst="ellipse">
            <a:avLst/>
          </a:prstGeom>
          <a:solidFill>
            <a:srgbClr val="F15D23"/>
          </a:solidFill>
          <a:ln/>
        </p:spPr>
      </p:sp>
      <p:sp>
        <p:nvSpPr>
          <p:cNvPr id="6" name="Text 4"/>
          <p:cNvSpPr/>
          <p:nvPr/>
        </p:nvSpPr>
        <p:spPr>
          <a:xfrm>
            <a:off x="804672" y="1463040"/>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7" name="Text 5"/>
          <p:cNvSpPr/>
          <p:nvPr/>
        </p:nvSpPr>
        <p:spPr>
          <a:xfrm>
            <a:off x="1225296" y="1481328"/>
            <a:ext cx="4572000"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The trap scenario</a:t>
            </a:r>
            <a:endParaRPr lang="en-US" sz="1400" dirty="0"/>
          </a:p>
        </p:txBody>
      </p:sp>
      <p:sp>
        <p:nvSpPr>
          <p:cNvPr id="8" name="Shape 6"/>
          <p:cNvSpPr/>
          <p:nvPr/>
        </p:nvSpPr>
        <p:spPr>
          <a:xfrm>
            <a:off x="804672" y="1920240"/>
            <a:ext cx="256032" cy="256032"/>
          </a:xfrm>
          <a:prstGeom prst="ellipse">
            <a:avLst/>
          </a:prstGeom>
          <a:solidFill>
            <a:srgbClr val="F15D23"/>
          </a:solidFill>
          <a:ln/>
        </p:spPr>
      </p:sp>
      <p:sp>
        <p:nvSpPr>
          <p:cNvPr id="9" name="Text 7"/>
          <p:cNvSpPr/>
          <p:nvPr/>
        </p:nvSpPr>
        <p:spPr>
          <a:xfrm>
            <a:off x="804672" y="192024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0" name="Text 8"/>
          <p:cNvSpPr/>
          <p:nvPr/>
        </p:nvSpPr>
        <p:spPr>
          <a:xfrm>
            <a:off x="1225296" y="1892808"/>
            <a:ext cx="4370832" cy="292608"/>
          </a:xfrm>
          <a:prstGeom prst="rect">
            <a:avLst/>
          </a:prstGeom>
          <a:noFill/>
          <a:ln/>
        </p:spPr>
        <p:txBody>
          <a:bodyPr wrap="square" lIns="0" tIns="0" rIns="0" bIns="0" rtlCol="0" anchor="t"/>
          <a:lstStyle/>
          <a:p>
            <a:pPr indent="0" marL="0">
              <a:lnSpc>
                <a:spcPts val="1300"/>
              </a:lnSpc>
              <a:buNone/>
            </a:pPr>
            <a:r>
              <a:rPr lang="en-US" sz="1050" dirty="0">
                <a:solidFill>
                  <a:srgbClr val="3E3E4B"/>
                </a:solidFill>
                <a:latin typeface="Calibri" pitchFamily="34" charset="0"/>
                <a:ea typeface="Calibri" pitchFamily="34" charset="-122"/>
                <a:cs typeface="Calibri" pitchFamily="34" charset="-120"/>
              </a:rPr>
              <a:t>A VM runs on an older Generation 1 host.</a:t>
            </a:r>
            <a:endParaRPr lang="en-US" sz="1050" dirty="0"/>
          </a:p>
        </p:txBody>
      </p:sp>
      <p:sp>
        <p:nvSpPr>
          <p:cNvPr id="11" name="Shape 9"/>
          <p:cNvSpPr/>
          <p:nvPr/>
        </p:nvSpPr>
        <p:spPr>
          <a:xfrm>
            <a:off x="804672" y="2249424"/>
            <a:ext cx="256032" cy="256032"/>
          </a:xfrm>
          <a:prstGeom prst="ellipse">
            <a:avLst/>
          </a:prstGeom>
          <a:solidFill>
            <a:srgbClr val="F15D23"/>
          </a:solidFill>
          <a:ln/>
        </p:spPr>
      </p:sp>
      <p:sp>
        <p:nvSpPr>
          <p:cNvPr id="12" name="Text 10"/>
          <p:cNvSpPr/>
          <p:nvPr/>
        </p:nvSpPr>
        <p:spPr>
          <a:xfrm>
            <a:off x="804672" y="2249424"/>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11"/>
          <p:cNvSpPr/>
          <p:nvPr/>
        </p:nvSpPr>
        <p:spPr>
          <a:xfrm>
            <a:off x="1225296" y="2221992"/>
            <a:ext cx="4370832" cy="292608"/>
          </a:xfrm>
          <a:prstGeom prst="rect">
            <a:avLst/>
          </a:prstGeom>
          <a:noFill/>
          <a:ln/>
        </p:spPr>
        <p:txBody>
          <a:bodyPr wrap="square" lIns="0" tIns="0" rIns="0" bIns="0" rtlCol="0" anchor="t"/>
          <a:lstStyle/>
          <a:p>
            <a:pPr indent="0" marL="0">
              <a:lnSpc>
                <a:spcPts val="1300"/>
              </a:lnSpc>
              <a:buNone/>
            </a:pPr>
            <a:r>
              <a:rPr lang="en-US" sz="1050" dirty="0">
                <a:solidFill>
                  <a:srgbClr val="3E3E4B"/>
                </a:solidFill>
                <a:latin typeface="Calibri" pitchFamily="34" charset="0"/>
                <a:ea typeface="Calibri" pitchFamily="34" charset="-122"/>
                <a:cs typeface="Calibri" pitchFamily="34" charset="-120"/>
              </a:rPr>
              <a:t>The administrator live-vMotions it to AV64. The migration succeeds.</a:t>
            </a:r>
            <a:endParaRPr lang="en-US" sz="1050" dirty="0"/>
          </a:p>
        </p:txBody>
      </p:sp>
      <p:sp>
        <p:nvSpPr>
          <p:cNvPr id="14" name="Shape 12"/>
          <p:cNvSpPr/>
          <p:nvPr/>
        </p:nvSpPr>
        <p:spPr>
          <a:xfrm>
            <a:off x="804672" y="2578608"/>
            <a:ext cx="256032" cy="256032"/>
          </a:xfrm>
          <a:prstGeom prst="ellipse">
            <a:avLst/>
          </a:prstGeom>
          <a:solidFill>
            <a:srgbClr val="F15D23"/>
          </a:solidFill>
          <a:ln/>
        </p:spPr>
      </p:sp>
      <p:sp>
        <p:nvSpPr>
          <p:cNvPr id="15" name="Text 13"/>
          <p:cNvSpPr/>
          <p:nvPr/>
        </p:nvSpPr>
        <p:spPr>
          <a:xfrm>
            <a:off x="804672" y="2578608"/>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6" name="Text 14"/>
          <p:cNvSpPr/>
          <p:nvPr/>
        </p:nvSpPr>
        <p:spPr>
          <a:xfrm>
            <a:off x="1225296" y="2551176"/>
            <a:ext cx="4370832" cy="292608"/>
          </a:xfrm>
          <a:prstGeom prst="rect">
            <a:avLst/>
          </a:prstGeom>
          <a:noFill/>
          <a:ln/>
        </p:spPr>
        <p:txBody>
          <a:bodyPr wrap="square" lIns="0" tIns="0" rIns="0" bIns="0" rtlCol="0" anchor="t"/>
          <a:lstStyle/>
          <a:p>
            <a:pPr indent="0" marL="0">
              <a:lnSpc>
                <a:spcPts val="1300"/>
              </a:lnSpc>
              <a:buNone/>
            </a:pPr>
            <a:r>
              <a:rPr lang="en-US" sz="1050" dirty="0">
                <a:solidFill>
                  <a:srgbClr val="3E3E4B"/>
                </a:solidFill>
                <a:latin typeface="Calibri" pitchFamily="34" charset="0"/>
                <a:ea typeface="Calibri" pitchFamily="34" charset="-122"/>
                <a:cs typeface="Calibri" pitchFamily="34" charset="-120"/>
              </a:rPr>
              <a:t>The VM is rebooted on AV64.</a:t>
            </a:r>
            <a:endParaRPr lang="en-US" sz="1050" dirty="0"/>
          </a:p>
        </p:txBody>
      </p:sp>
      <p:sp>
        <p:nvSpPr>
          <p:cNvPr id="17" name="Shape 15"/>
          <p:cNvSpPr/>
          <p:nvPr/>
        </p:nvSpPr>
        <p:spPr>
          <a:xfrm>
            <a:off x="804672" y="2907792"/>
            <a:ext cx="256032" cy="256032"/>
          </a:xfrm>
          <a:prstGeom prst="ellipse">
            <a:avLst/>
          </a:prstGeom>
          <a:solidFill>
            <a:srgbClr val="F15D23"/>
          </a:solidFill>
          <a:ln/>
        </p:spPr>
      </p:sp>
      <p:sp>
        <p:nvSpPr>
          <p:cNvPr id="18" name="Text 16"/>
          <p:cNvSpPr/>
          <p:nvPr/>
        </p:nvSpPr>
        <p:spPr>
          <a:xfrm>
            <a:off x="804672" y="290779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19" name="Text 17"/>
          <p:cNvSpPr/>
          <p:nvPr/>
        </p:nvSpPr>
        <p:spPr>
          <a:xfrm>
            <a:off x="1225296" y="2880360"/>
            <a:ext cx="4370832" cy="292608"/>
          </a:xfrm>
          <a:prstGeom prst="rect">
            <a:avLst/>
          </a:prstGeom>
          <a:noFill/>
          <a:ln/>
        </p:spPr>
        <p:txBody>
          <a:bodyPr wrap="square" lIns="0" tIns="0" rIns="0" bIns="0" rtlCol="0" anchor="t"/>
          <a:lstStyle/>
          <a:p>
            <a:pPr indent="0" marL="0">
              <a:lnSpc>
                <a:spcPts val="1300"/>
              </a:lnSpc>
              <a:buNone/>
            </a:pPr>
            <a:r>
              <a:rPr lang="en-US" sz="1050" dirty="0">
                <a:solidFill>
                  <a:srgbClr val="3E3E4B"/>
                </a:solidFill>
                <a:latin typeface="Calibri" pitchFamily="34" charset="0"/>
                <a:ea typeface="Calibri" pitchFamily="34" charset="-122"/>
                <a:cs typeface="Calibri" pitchFamily="34" charset="-120"/>
              </a:rPr>
              <a:t>The guest detects and begins using newer Ice Lake CPU capabilities.</a:t>
            </a:r>
            <a:endParaRPr lang="en-US" sz="1050" dirty="0"/>
          </a:p>
        </p:txBody>
      </p:sp>
      <p:sp>
        <p:nvSpPr>
          <p:cNvPr id="20" name="Shape 18"/>
          <p:cNvSpPr/>
          <p:nvPr/>
        </p:nvSpPr>
        <p:spPr>
          <a:xfrm>
            <a:off x="804672" y="3236976"/>
            <a:ext cx="256032" cy="256032"/>
          </a:xfrm>
          <a:prstGeom prst="ellipse">
            <a:avLst/>
          </a:prstGeom>
          <a:solidFill>
            <a:srgbClr val="F15D23"/>
          </a:solidFill>
          <a:ln/>
        </p:spPr>
      </p:sp>
      <p:sp>
        <p:nvSpPr>
          <p:cNvPr id="21" name="Text 19"/>
          <p:cNvSpPr/>
          <p:nvPr/>
        </p:nvSpPr>
        <p:spPr>
          <a:xfrm>
            <a:off x="804672" y="3236976"/>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2" name="Text 20"/>
          <p:cNvSpPr/>
          <p:nvPr/>
        </p:nvSpPr>
        <p:spPr>
          <a:xfrm>
            <a:off x="1225296" y="3209544"/>
            <a:ext cx="4370832" cy="292608"/>
          </a:xfrm>
          <a:prstGeom prst="rect">
            <a:avLst/>
          </a:prstGeom>
          <a:noFill/>
          <a:ln/>
        </p:spPr>
        <p:txBody>
          <a:bodyPr wrap="square" lIns="0" tIns="0" rIns="0" bIns="0" rtlCol="0" anchor="t"/>
          <a:lstStyle/>
          <a:p>
            <a:pPr indent="0" marL="0">
              <a:lnSpc>
                <a:spcPts val="1300"/>
              </a:lnSpc>
              <a:buNone/>
            </a:pPr>
            <a:r>
              <a:rPr lang="en-US" sz="1050" dirty="0">
                <a:solidFill>
                  <a:srgbClr val="3E3E4B"/>
                </a:solidFill>
                <a:latin typeface="Calibri" pitchFamily="34" charset="0"/>
                <a:ea typeface="Calibri" pitchFamily="34" charset="-122"/>
                <a:cs typeface="Calibri" pitchFamily="34" charset="-120"/>
              </a:rPr>
              <a:t>The administrator later attempts to live-vMotion it back.</a:t>
            </a:r>
            <a:endParaRPr lang="en-US" sz="1050" dirty="0"/>
          </a:p>
        </p:txBody>
      </p:sp>
      <p:sp>
        <p:nvSpPr>
          <p:cNvPr id="23" name="Shape 21"/>
          <p:cNvSpPr/>
          <p:nvPr/>
        </p:nvSpPr>
        <p:spPr>
          <a:xfrm>
            <a:off x="804672" y="3566160"/>
            <a:ext cx="256032" cy="256032"/>
          </a:xfrm>
          <a:prstGeom prst="ellipse">
            <a:avLst/>
          </a:prstGeom>
          <a:solidFill>
            <a:srgbClr val="F15D23"/>
          </a:solidFill>
          <a:ln/>
        </p:spPr>
      </p:sp>
      <p:sp>
        <p:nvSpPr>
          <p:cNvPr id="24" name="Text 22"/>
          <p:cNvSpPr/>
          <p:nvPr/>
        </p:nvSpPr>
        <p:spPr>
          <a:xfrm>
            <a:off x="804672" y="356616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25" name="Text 23"/>
          <p:cNvSpPr/>
          <p:nvPr/>
        </p:nvSpPr>
        <p:spPr>
          <a:xfrm>
            <a:off x="1225296" y="3538728"/>
            <a:ext cx="4370832" cy="292608"/>
          </a:xfrm>
          <a:prstGeom prst="rect">
            <a:avLst/>
          </a:prstGeom>
          <a:noFill/>
          <a:ln/>
        </p:spPr>
        <p:txBody>
          <a:bodyPr wrap="square" lIns="0" tIns="0" rIns="0" bIns="0" rtlCol="0" anchor="t"/>
          <a:lstStyle/>
          <a:p>
            <a:pPr indent="0" marL="0">
              <a:lnSpc>
                <a:spcPts val="1300"/>
              </a:lnSpc>
              <a:buNone/>
            </a:pPr>
            <a:r>
              <a:rPr lang="en-US" sz="1050" dirty="0">
                <a:solidFill>
                  <a:srgbClr val="3E3E4B"/>
                </a:solidFill>
                <a:latin typeface="Calibri" pitchFamily="34" charset="0"/>
                <a:ea typeface="Calibri" pitchFamily="34" charset="-122"/>
                <a:cs typeface="Calibri" pitchFamily="34" charset="-120"/>
              </a:rPr>
              <a:t>vCenter detects the destination lacks required features.</a:t>
            </a:r>
            <a:endParaRPr lang="en-US" sz="1050" dirty="0"/>
          </a:p>
        </p:txBody>
      </p:sp>
      <p:sp>
        <p:nvSpPr>
          <p:cNvPr id="26" name="Shape 24"/>
          <p:cNvSpPr/>
          <p:nvPr/>
        </p:nvSpPr>
        <p:spPr>
          <a:xfrm>
            <a:off x="804672" y="3895344"/>
            <a:ext cx="256032" cy="256032"/>
          </a:xfrm>
          <a:prstGeom prst="ellipse">
            <a:avLst/>
          </a:prstGeom>
          <a:solidFill>
            <a:srgbClr val="F15D23"/>
          </a:solidFill>
          <a:ln/>
        </p:spPr>
      </p:sp>
      <p:sp>
        <p:nvSpPr>
          <p:cNvPr id="27" name="Text 25"/>
          <p:cNvSpPr/>
          <p:nvPr/>
        </p:nvSpPr>
        <p:spPr>
          <a:xfrm>
            <a:off x="804672" y="3895344"/>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28" name="Text 26"/>
          <p:cNvSpPr/>
          <p:nvPr/>
        </p:nvSpPr>
        <p:spPr>
          <a:xfrm>
            <a:off x="1225296" y="3867912"/>
            <a:ext cx="4370832" cy="292608"/>
          </a:xfrm>
          <a:prstGeom prst="rect">
            <a:avLst/>
          </a:prstGeom>
          <a:noFill/>
          <a:ln/>
        </p:spPr>
        <p:txBody>
          <a:bodyPr wrap="square" lIns="0" tIns="0" rIns="0" bIns="0" rtlCol="0" anchor="t"/>
          <a:lstStyle/>
          <a:p>
            <a:pPr indent="0" marL="0">
              <a:lnSpc>
                <a:spcPts val="1300"/>
              </a:lnSpc>
              <a:buNone/>
            </a:pPr>
            <a:r>
              <a:rPr lang="en-US" sz="1050" dirty="0">
                <a:solidFill>
                  <a:srgbClr val="3E3E4B"/>
                </a:solidFill>
                <a:latin typeface="Calibri" pitchFamily="34" charset="0"/>
                <a:ea typeface="Calibri" pitchFamily="34" charset="-122"/>
                <a:cs typeface="Calibri" pitchFamily="34" charset="-120"/>
              </a:rPr>
              <a:t>The migration precheck fails with an EVC compatibility error.</a:t>
            </a:r>
            <a:endParaRPr lang="en-US" sz="1050" dirty="0"/>
          </a:p>
        </p:txBody>
      </p:sp>
      <p:sp>
        <p:nvSpPr>
          <p:cNvPr id="29" name="Shape 27"/>
          <p:cNvSpPr/>
          <p:nvPr/>
        </p:nvSpPr>
        <p:spPr>
          <a:xfrm>
            <a:off x="6126480" y="1298448"/>
            <a:ext cx="5513832" cy="3063240"/>
          </a:xfrm>
          <a:prstGeom prst="roundRect">
            <a:avLst>
              <a:gd name="adj" fmla="val 2687"/>
            </a:avLst>
          </a:prstGeom>
          <a:solidFill>
            <a:srgbClr val="E5F7FC"/>
          </a:solidFill>
          <a:ln/>
        </p:spPr>
      </p:sp>
      <p:sp>
        <p:nvSpPr>
          <p:cNvPr id="30" name="Text 28"/>
          <p:cNvSpPr/>
          <p:nvPr/>
        </p:nvSpPr>
        <p:spPr>
          <a:xfrm>
            <a:off x="6364224" y="1408176"/>
            <a:ext cx="5056632"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Preventive VM-level EVC</a:t>
            </a:r>
            <a:endParaRPr lang="en-US" sz="1400" dirty="0"/>
          </a:p>
        </p:txBody>
      </p:sp>
      <p:sp>
        <p:nvSpPr>
          <p:cNvPr id="31" name="Shape 29"/>
          <p:cNvSpPr/>
          <p:nvPr/>
        </p:nvSpPr>
        <p:spPr>
          <a:xfrm>
            <a:off x="6364224" y="1847088"/>
            <a:ext cx="256032" cy="256032"/>
          </a:xfrm>
          <a:prstGeom prst="ellipse">
            <a:avLst/>
          </a:prstGeom>
          <a:solidFill>
            <a:srgbClr val="00B3E2"/>
          </a:solidFill>
          <a:ln/>
        </p:spPr>
      </p:sp>
      <p:sp>
        <p:nvSpPr>
          <p:cNvPr id="32" name="Text 30"/>
          <p:cNvSpPr/>
          <p:nvPr/>
        </p:nvSpPr>
        <p:spPr>
          <a:xfrm>
            <a:off x="6364224" y="1847088"/>
            <a:ext cx="256032" cy="256032"/>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1</a:t>
            </a:r>
            <a:endParaRPr lang="en-US" sz="1200" dirty="0"/>
          </a:p>
        </p:txBody>
      </p:sp>
      <p:sp>
        <p:nvSpPr>
          <p:cNvPr id="33" name="Text 31"/>
          <p:cNvSpPr/>
          <p:nvPr/>
        </p:nvSpPr>
        <p:spPr>
          <a:xfrm>
            <a:off x="6784848" y="1819656"/>
            <a:ext cx="4617720" cy="274320"/>
          </a:xfrm>
          <a:prstGeom prst="rect">
            <a:avLst/>
          </a:prstGeom>
          <a:noFill/>
          <a:ln/>
        </p:spPr>
        <p:txBody>
          <a:bodyPr wrap="square" lIns="0" tIns="0" rIns="0" bIns="0" rtlCol="0" anchor="t"/>
          <a:lstStyle/>
          <a:p>
            <a:pPr indent="0" marL="0">
              <a:lnSpc>
                <a:spcPts val="1300"/>
              </a:lnSpc>
              <a:buNone/>
            </a:pPr>
            <a:r>
              <a:rPr lang="en-US" sz="1050" dirty="0">
                <a:solidFill>
                  <a:srgbClr val="3E3E4B"/>
                </a:solidFill>
                <a:latin typeface="Calibri" pitchFamily="34" charset="0"/>
                <a:ea typeface="Calibri" pitchFamily="34" charset="-122"/>
                <a:cs typeface="Calibri" pitchFamily="34" charset="-120"/>
              </a:rPr>
              <a:t>Determine the lowest CPU baseline required for all intended destination clusters.</a:t>
            </a:r>
            <a:endParaRPr lang="en-US" sz="1050" dirty="0"/>
          </a:p>
        </p:txBody>
      </p:sp>
      <p:sp>
        <p:nvSpPr>
          <p:cNvPr id="34" name="Shape 32"/>
          <p:cNvSpPr/>
          <p:nvPr/>
        </p:nvSpPr>
        <p:spPr>
          <a:xfrm>
            <a:off x="6364224" y="2157984"/>
            <a:ext cx="256032" cy="256032"/>
          </a:xfrm>
          <a:prstGeom prst="ellipse">
            <a:avLst/>
          </a:prstGeom>
          <a:solidFill>
            <a:srgbClr val="00B3E2"/>
          </a:solidFill>
          <a:ln/>
        </p:spPr>
      </p:sp>
      <p:sp>
        <p:nvSpPr>
          <p:cNvPr id="35" name="Text 33"/>
          <p:cNvSpPr/>
          <p:nvPr/>
        </p:nvSpPr>
        <p:spPr>
          <a:xfrm>
            <a:off x="6364224" y="2157984"/>
            <a:ext cx="256032" cy="256032"/>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2</a:t>
            </a:r>
            <a:endParaRPr lang="en-US" sz="1200" dirty="0"/>
          </a:p>
        </p:txBody>
      </p:sp>
      <p:sp>
        <p:nvSpPr>
          <p:cNvPr id="36" name="Text 34"/>
          <p:cNvSpPr/>
          <p:nvPr/>
        </p:nvSpPr>
        <p:spPr>
          <a:xfrm>
            <a:off x="6784848" y="2130552"/>
            <a:ext cx="4617720" cy="274320"/>
          </a:xfrm>
          <a:prstGeom prst="rect">
            <a:avLst/>
          </a:prstGeom>
          <a:noFill/>
          <a:ln/>
        </p:spPr>
        <p:txBody>
          <a:bodyPr wrap="square" lIns="0" tIns="0" rIns="0" bIns="0" rtlCol="0" anchor="t"/>
          <a:lstStyle/>
          <a:p>
            <a:pPr indent="0" marL="0">
              <a:lnSpc>
                <a:spcPts val="1300"/>
              </a:lnSpc>
              <a:buNone/>
            </a:pPr>
            <a:r>
              <a:rPr lang="en-US" sz="1050" dirty="0">
                <a:solidFill>
                  <a:srgbClr val="3E3E4B"/>
                </a:solidFill>
                <a:latin typeface="Calibri" pitchFamily="34" charset="0"/>
                <a:ea typeface="Calibri" pitchFamily="34" charset="-122"/>
                <a:cs typeface="Calibri" pitchFamily="34" charset="-120"/>
              </a:rPr>
              <a:t>Open the advanced settings for each VM.</a:t>
            </a:r>
            <a:endParaRPr lang="en-US" sz="1050" dirty="0"/>
          </a:p>
        </p:txBody>
      </p:sp>
      <p:sp>
        <p:nvSpPr>
          <p:cNvPr id="37" name="Shape 35"/>
          <p:cNvSpPr/>
          <p:nvPr/>
        </p:nvSpPr>
        <p:spPr>
          <a:xfrm>
            <a:off x="6364224" y="2468880"/>
            <a:ext cx="256032" cy="256032"/>
          </a:xfrm>
          <a:prstGeom prst="ellipse">
            <a:avLst/>
          </a:prstGeom>
          <a:solidFill>
            <a:srgbClr val="00B3E2"/>
          </a:solidFill>
          <a:ln/>
        </p:spPr>
      </p:sp>
      <p:sp>
        <p:nvSpPr>
          <p:cNvPr id="38" name="Text 36"/>
          <p:cNvSpPr/>
          <p:nvPr/>
        </p:nvSpPr>
        <p:spPr>
          <a:xfrm>
            <a:off x="6364224" y="2468880"/>
            <a:ext cx="256032" cy="256032"/>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3</a:t>
            </a:r>
            <a:endParaRPr lang="en-US" sz="1200" dirty="0"/>
          </a:p>
        </p:txBody>
      </p:sp>
      <p:sp>
        <p:nvSpPr>
          <p:cNvPr id="39" name="Text 37"/>
          <p:cNvSpPr/>
          <p:nvPr/>
        </p:nvSpPr>
        <p:spPr>
          <a:xfrm>
            <a:off x="6784848" y="2441448"/>
            <a:ext cx="4617720" cy="274320"/>
          </a:xfrm>
          <a:prstGeom prst="rect">
            <a:avLst/>
          </a:prstGeom>
          <a:noFill/>
          <a:ln/>
        </p:spPr>
        <p:txBody>
          <a:bodyPr wrap="square" lIns="0" tIns="0" rIns="0" bIns="0" rtlCol="0" anchor="t"/>
          <a:lstStyle/>
          <a:p>
            <a:pPr indent="0" marL="0">
              <a:lnSpc>
                <a:spcPts val="1300"/>
              </a:lnSpc>
              <a:buNone/>
            </a:pPr>
            <a:r>
              <a:rPr lang="en-US" sz="1050" dirty="0">
                <a:solidFill>
                  <a:srgbClr val="3E3E4B"/>
                </a:solidFill>
                <a:latin typeface="Calibri" pitchFamily="34" charset="0"/>
                <a:ea typeface="Calibri" pitchFamily="34" charset="-122"/>
                <a:cs typeface="Calibri" pitchFamily="34" charset="-120"/>
              </a:rPr>
              <a:t>Apply a VM-level EVC mode matching the older Gen 1 baseline.</a:t>
            </a:r>
            <a:endParaRPr lang="en-US" sz="1050" dirty="0"/>
          </a:p>
        </p:txBody>
      </p:sp>
      <p:sp>
        <p:nvSpPr>
          <p:cNvPr id="40" name="Shape 38"/>
          <p:cNvSpPr/>
          <p:nvPr/>
        </p:nvSpPr>
        <p:spPr>
          <a:xfrm>
            <a:off x="6364224" y="2779776"/>
            <a:ext cx="256032" cy="256032"/>
          </a:xfrm>
          <a:prstGeom prst="ellipse">
            <a:avLst/>
          </a:prstGeom>
          <a:solidFill>
            <a:srgbClr val="00B3E2"/>
          </a:solidFill>
          <a:ln/>
        </p:spPr>
      </p:sp>
      <p:sp>
        <p:nvSpPr>
          <p:cNvPr id="41" name="Text 39"/>
          <p:cNvSpPr/>
          <p:nvPr/>
        </p:nvSpPr>
        <p:spPr>
          <a:xfrm>
            <a:off x="6364224" y="2779776"/>
            <a:ext cx="256032" cy="256032"/>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4</a:t>
            </a:r>
            <a:endParaRPr lang="en-US" sz="1200" dirty="0"/>
          </a:p>
        </p:txBody>
      </p:sp>
      <p:sp>
        <p:nvSpPr>
          <p:cNvPr id="42" name="Text 40"/>
          <p:cNvSpPr/>
          <p:nvPr/>
        </p:nvSpPr>
        <p:spPr>
          <a:xfrm>
            <a:off x="6784848" y="2752344"/>
            <a:ext cx="4617720" cy="274320"/>
          </a:xfrm>
          <a:prstGeom prst="rect">
            <a:avLst/>
          </a:prstGeom>
          <a:noFill/>
          <a:ln/>
        </p:spPr>
        <p:txBody>
          <a:bodyPr wrap="square" lIns="0" tIns="0" rIns="0" bIns="0" rtlCol="0" anchor="t"/>
          <a:lstStyle/>
          <a:p>
            <a:pPr indent="0" marL="0">
              <a:lnSpc>
                <a:spcPts val="1300"/>
              </a:lnSpc>
              <a:buNone/>
            </a:pPr>
            <a:r>
              <a:rPr lang="en-US" sz="1050" dirty="0">
                <a:solidFill>
                  <a:srgbClr val="3E3E4B"/>
                </a:solidFill>
                <a:latin typeface="Calibri" pitchFamily="34" charset="0"/>
                <a:ea typeface="Calibri" pitchFamily="34" charset="-122"/>
                <a:cs typeface="Calibri" pitchFamily="34" charset="-120"/>
              </a:rPr>
              <a:t>Power-cycle or otherwise apply the setting per the supported procedure.</a:t>
            </a:r>
            <a:endParaRPr lang="en-US" sz="1050" dirty="0"/>
          </a:p>
        </p:txBody>
      </p:sp>
      <p:sp>
        <p:nvSpPr>
          <p:cNvPr id="43" name="Shape 41"/>
          <p:cNvSpPr/>
          <p:nvPr/>
        </p:nvSpPr>
        <p:spPr>
          <a:xfrm>
            <a:off x="6364224" y="3090672"/>
            <a:ext cx="256032" cy="256032"/>
          </a:xfrm>
          <a:prstGeom prst="ellipse">
            <a:avLst/>
          </a:prstGeom>
          <a:solidFill>
            <a:srgbClr val="00B3E2"/>
          </a:solidFill>
          <a:ln/>
        </p:spPr>
      </p:sp>
      <p:sp>
        <p:nvSpPr>
          <p:cNvPr id="44" name="Text 42"/>
          <p:cNvSpPr/>
          <p:nvPr/>
        </p:nvSpPr>
        <p:spPr>
          <a:xfrm>
            <a:off x="6364224" y="3090672"/>
            <a:ext cx="256032" cy="256032"/>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5</a:t>
            </a:r>
            <a:endParaRPr lang="en-US" sz="1200" dirty="0"/>
          </a:p>
        </p:txBody>
      </p:sp>
      <p:sp>
        <p:nvSpPr>
          <p:cNvPr id="45" name="Text 43"/>
          <p:cNvSpPr/>
          <p:nvPr/>
        </p:nvSpPr>
        <p:spPr>
          <a:xfrm>
            <a:off x="6784848" y="3063240"/>
            <a:ext cx="4617720" cy="274320"/>
          </a:xfrm>
          <a:prstGeom prst="rect">
            <a:avLst/>
          </a:prstGeom>
          <a:noFill/>
          <a:ln/>
        </p:spPr>
        <p:txBody>
          <a:bodyPr wrap="square" lIns="0" tIns="0" rIns="0" bIns="0" rtlCol="0" anchor="t"/>
          <a:lstStyle/>
          <a:p>
            <a:pPr indent="0" marL="0">
              <a:lnSpc>
                <a:spcPts val="1300"/>
              </a:lnSpc>
              <a:buNone/>
            </a:pPr>
            <a:r>
              <a:rPr lang="en-US" sz="1050" dirty="0">
                <a:solidFill>
                  <a:srgbClr val="3E3E4B"/>
                </a:solidFill>
                <a:latin typeface="Calibri" pitchFamily="34" charset="0"/>
                <a:ea typeface="Calibri" pitchFamily="34" charset="-122"/>
                <a:cs typeface="Calibri" pitchFamily="34" charset="-120"/>
              </a:rPr>
              <a:t>Validate live migration from Gen 1 to AV64.</a:t>
            </a:r>
            <a:endParaRPr lang="en-US" sz="1050" dirty="0"/>
          </a:p>
        </p:txBody>
      </p:sp>
      <p:sp>
        <p:nvSpPr>
          <p:cNvPr id="46" name="Shape 44"/>
          <p:cNvSpPr/>
          <p:nvPr/>
        </p:nvSpPr>
        <p:spPr>
          <a:xfrm>
            <a:off x="6364224" y="3401568"/>
            <a:ext cx="256032" cy="256032"/>
          </a:xfrm>
          <a:prstGeom prst="ellipse">
            <a:avLst/>
          </a:prstGeom>
          <a:solidFill>
            <a:srgbClr val="00B3E2"/>
          </a:solidFill>
          <a:ln/>
        </p:spPr>
      </p:sp>
      <p:sp>
        <p:nvSpPr>
          <p:cNvPr id="47" name="Text 45"/>
          <p:cNvSpPr/>
          <p:nvPr/>
        </p:nvSpPr>
        <p:spPr>
          <a:xfrm>
            <a:off x="6364224" y="3401568"/>
            <a:ext cx="256032" cy="256032"/>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6</a:t>
            </a:r>
            <a:endParaRPr lang="en-US" sz="1200" dirty="0"/>
          </a:p>
        </p:txBody>
      </p:sp>
      <p:sp>
        <p:nvSpPr>
          <p:cNvPr id="48" name="Text 46"/>
          <p:cNvSpPr/>
          <p:nvPr/>
        </p:nvSpPr>
        <p:spPr>
          <a:xfrm>
            <a:off x="6784848" y="3374136"/>
            <a:ext cx="4617720" cy="274320"/>
          </a:xfrm>
          <a:prstGeom prst="rect">
            <a:avLst/>
          </a:prstGeom>
          <a:noFill/>
          <a:ln/>
        </p:spPr>
        <p:txBody>
          <a:bodyPr wrap="square" lIns="0" tIns="0" rIns="0" bIns="0" rtlCol="0" anchor="t"/>
          <a:lstStyle/>
          <a:p>
            <a:pPr indent="0" marL="0">
              <a:lnSpc>
                <a:spcPts val="1300"/>
              </a:lnSpc>
              <a:buNone/>
            </a:pPr>
            <a:r>
              <a:rPr lang="en-US" sz="1050" dirty="0">
                <a:solidFill>
                  <a:srgbClr val="3E3E4B"/>
                </a:solidFill>
                <a:latin typeface="Calibri" pitchFamily="34" charset="0"/>
                <a:ea typeface="Calibri" pitchFamily="34" charset="-122"/>
                <a:cs typeface="Calibri" pitchFamily="34" charset="-120"/>
              </a:rPr>
              <a:t>Validate live migration back to Gen 1.</a:t>
            </a:r>
            <a:endParaRPr lang="en-US" sz="1050" dirty="0"/>
          </a:p>
        </p:txBody>
      </p:sp>
      <p:sp>
        <p:nvSpPr>
          <p:cNvPr id="49" name="Shape 47"/>
          <p:cNvSpPr/>
          <p:nvPr/>
        </p:nvSpPr>
        <p:spPr>
          <a:xfrm>
            <a:off x="6364224" y="3712464"/>
            <a:ext cx="256032" cy="256032"/>
          </a:xfrm>
          <a:prstGeom prst="ellipse">
            <a:avLst/>
          </a:prstGeom>
          <a:solidFill>
            <a:srgbClr val="00B3E2"/>
          </a:solidFill>
          <a:ln/>
        </p:spPr>
      </p:sp>
      <p:sp>
        <p:nvSpPr>
          <p:cNvPr id="50" name="Text 48"/>
          <p:cNvSpPr/>
          <p:nvPr/>
        </p:nvSpPr>
        <p:spPr>
          <a:xfrm>
            <a:off x="6364224" y="3712464"/>
            <a:ext cx="256032" cy="256032"/>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7</a:t>
            </a:r>
            <a:endParaRPr lang="en-US" sz="1200" dirty="0"/>
          </a:p>
        </p:txBody>
      </p:sp>
      <p:sp>
        <p:nvSpPr>
          <p:cNvPr id="51" name="Text 49"/>
          <p:cNvSpPr/>
          <p:nvPr/>
        </p:nvSpPr>
        <p:spPr>
          <a:xfrm>
            <a:off x="6784848" y="3685032"/>
            <a:ext cx="4617720" cy="274320"/>
          </a:xfrm>
          <a:prstGeom prst="rect">
            <a:avLst/>
          </a:prstGeom>
          <a:noFill/>
          <a:ln/>
        </p:spPr>
        <p:txBody>
          <a:bodyPr wrap="square" lIns="0" tIns="0" rIns="0" bIns="0" rtlCol="0" anchor="t"/>
          <a:lstStyle/>
          <a:p>
            <a:pPr indent="0" marL="0">
              <a:lnSpc>
                <a:spcPts val="1300"/>
              </a:lnSpc>
              <a:buNone/>
            </a:pPr>
            <a:r>
              <a:rPr lang="en-US" sz="1050" dirty="0">
                <a:solidFill>
                  <a:srgbClr val="3E3E4B"/>
                </a:solidFill>
                <a:latin typeface="Calibri" pitchFamily="34" charset="0"/>
                <a:ea typeface="Calibri" pitchFamily="34" charset="-122"/>
                <a:cs typeface="Calibri" pitchFamily="34" charset="-120"/>
              </a:rPr>
              <a:t>Incorporate the setting into VM provisioning templates.</a:t>
            </a:r>
            <a:endParaRPr lang="en-US" sz="1050" dirty="0"/>
          </a:p>
        </p:txBody>
      </p:sp>
      <p:sp>
        <p:nvSpPr>
          <p:cNvPr id="52" name="Shape 50"/>
          <p:cNvSpPr/>
          <p:nvPr/>
        </p:nvSpPr>
        <p:spPr>
          <a:xfrm>
            <a:off x="6364224" y="4023360"/>
            <a:ext cx="256032" cy="256032"/>
          </a:xfrm>
          <a:prstGeom prst="ellipse">
            <a:avLst/>
          </a:prstGeom>
          <a:solidFill>
            <a:srgbClr val="00B3E2"/>
          </a:solidFill>
          <a:ln/>
        </p:spPr>
      </p:sp>
      <p:sp>
        <p:nvSpPr>
          <p:cNvPr id="53" name="Text 51"/>
          <p:cNvSpPr/>
          <p:nvPr/>
        </p:nvSpPr>
        <p:spPr>
          <a:xfrm>
            <a:off x="6364224" y="4023360"/>
            <a:ext cx="256032" cy="256032"/>
          </a:xfrm>
          <a:prstGeom prst="rect">
            <a:avLst/>
          </a:prstGeom>
          <a:noFill/>
          <a:ln/>
        </p:spPr>
        <p:txBody>
          <a:bodyPr wrap="square" lIns="0" tIns="0" rIns="0" bIns="0" rtlCol="0" anchor="ctr"/>
          <a:lstStyle/>
          <a:p>
            <a:pPr algn="ctr" indent="0" marL="0">
              <a:buNone/>
            </a:pPr>
            <a:r>
              <a:rPr lang="en-US" sz="1200" b="1" dirty="0">
                <a:solidFill>
                  <a:srgbClr val="3E3E4B"/>
                </a:solidFill>
                <a:latin typeface="Arial" pitchFamily="34" charset="0"/>
                <a:ea typeface="Arial" pitchFamily="34" charset="-122"/>
                <a:cs typeface="Arial" pitchFamily="34" charset="-120"/>
              </a:rPr>
              <a:t>8</a:t>
            </a:r>
            <a:endParaRPr lang="en-US" sz="1200" dirty="0"/>
          </a:p>
        </p:txBody>
      </p:sp>
      <p:sp>
        <p:nvSpPr>
          <p:cNvPr id="54" name="Text 52"/>
          <p:cNvSpPr/>
          <p:nvPr/>
        </p:nvSpPr>
        <p:spPr>
          <a:xfrm>
            <a:off x="6784848" y="3995928"/>
            <a:ext cx="4617720" cy="274320"/>
          </a:xfrm>
          <a:prstGeom prst="rect">
            <a:avLst/>
          </a:prstGeom>
          <a:noFill/>
          <a:ln/>
        </p:spPr>
        <p:txBody>
          <a:bodyPr wrap="square" lIns="0" tIns="0" rIns="0" bIns="0" rtlCol="0" anchor="t"/>
          <a:lstStyle/>
          <a:p>
            <a:pPr indent="0" marL="0">
              <a:lnSpc>
                <a:spcPts val="1300"/>
              </a:lnSpc>
              <a:buNone/>
            </a:pPr>
            <a:r>
              <a:rPr lang="en-US" sz="1050" dirty="0">
                <a:solidFill>
                  <a:srgbClr val="3E3E4B"/>
                </a:solidFill>
                <a:latin typeface="Calibri" pitchFamily="34" charset="0"/>
                <a:ea typeface="Calibri" pitchFamily="34" charset="-122"/>
                <a:cs typeface="Calibri" pitchFamily="34" charset="-120"/>
              </a:rPr>
              <a:t>Audit new VMs for compliance.</a:t>
            </a:r>
            <a:endParaRPr lang="en-US" sz="1050" dirty="0"/>
          </a:p>
        </p:txBody>
      </p:sp>
      <p:sp>
        <p:nvSpPr>
          <p:cNvPr id="55" name="Shape 53"/>
          <p:cNvSpPr/>
          <p:nvPr/>
        </p:nvSpPr>
        <p:spPr>
          <a:xfrm>
            <a:off x="548640" y="4462272"/>
            <a:ext cx="3575304" cy="1188720"/>
          </a:xfrm>
          <a:prstGeom prst="roundRect">
            <a:avLst>
              <a:gd name="adj" fmla="val 6923"/>
            </a:avLst>
          </a:prstGeom>
          <a:solidFill>
            <a:srgbClr val="EBEDED"/>
          </a:solidFill>
          <a:ln/>
        </p:spPr>
      </p:sp>
      <p:sp>
        <p:nvSpPr>
          <p:cNvPr id="56" name="Text 54"/>
          <p:cNvSpPr/>
          <p:nvPr/>
        </p:nvSpPr>
        <p:spPr>
          <a:xfrm>
            <a:off x="749808" y="4535424"/>
            <a:ext cx="3172968" cy="274320"/>
          </a:xfrm>
          <a:prstGeom prst="rect">
            <a:avLst/>
          </a:prstGeom>
          <a:noFill/>
          <a:ln/>
        </p:spPr>
        <p:txBody>
          <a:bodyPr wrap="square" lIns="0" tIns="0" rIns="0" bIns="0" rtlCol="0" anchor="ctr"/>
          <a:lstStyle/>
          <a:p>
            <a:pPr indent="0" marL="0">
              <a:buNone/>
            </a:pPr>
            <a:r>
              <a:rPr lang="en-US" sz="1250" b="1" dirty="0">
                <a:solidFill>
                  <a:srgbClr val="3E3E4B"/>
                </a:solidFill>
                <a:latin typeface="Arial" pitchFamily="34" charset="0"/>
                <a:ea typeface="Arial" pitchFamily="34" charset="-122"/>
                <a:cs typeface="Arial" pitchFamily="34" charset="-120"/>
              </a:rPr>
              <a:t>Cold migration recovery</a:t>
            </a:r>
            <a:endParaRPr lang="en-US" sz="1250" dirty="0"/>
          </a:p>
        </p:txBody>
      </p:sp>
      <p:sp>
        <p:nvSpPr>
          <p:cNvPr id="57" name="Text 55"/>
          <p:cNvSpPr/>
          <p:nvPr/>
        </p:nvSpPr>
        <p:spPr>
          <a:xfrm>
            <a:off x="749808" y="4809744"/>
            <a:ext cx="3172968" cy="786384"/>
          </a:xfrm>
          <a:prstGeom prst="rect">
            <a:avLst/>
          </a:prstGeom>
          <a:noFill/>
          <a:ln/>
        </p:spPr>
        <p:txBody>
          <a:bodyPr wrap="square" lIns="0" tIns="0" rIns="0" bIns="0" rtlCol="0" anchor="t"/>
          <a:lstStyle/>
          <a:p>
            <a:pPr indent="0" marL="0">
              <a:lnSpc>
                <a:spcPts val="1250"/>
              </a:lnSpc>
              <a:buNone/>
            </a:pPr>
            <a:r>
              <a:rPr lang="en-US" sz="1000" dirty="0">
                <a:solidFill>
                  <a:srgbClr val="3E3E4B"/>
                </a:solidFill>
                <a:latin typeface="Calibri" pitchFamily="34" charset="0"/>
                <a:ea typeface="Calibri" pitchFamily="34" charset="-122"/>
                <a:cs typeface="Calibri" pitchFamily="34" charset="-120"/>
              </a:rPr>
              <a:t>Shut down the guest, power off, move to the older cluster, power on, let the guest detect the lower baseline, then validate. Roughly five to ten minutes of downtime in the source example; actual duration varies.</a:t>
            </a:r>
            <a:endParaRPr lang="en-US" sz="1000" dirty="0"/>
          </a:p>
        </p:txBody>
      </p:sp>
      <p:sp>
        <p:nvSpPr>
          <p:cNvPr id="58" name="Shape 56"/>
          <p:cNvSpPr/>
          <p:nvPr/>
        </p:nvSpPr>
        <p:spPr>
          <a:xfrm>
            <a:off x="4306824" y="4462272"/>
            <a:ext cx="3575304" cy="1188720"/>
          </a:xfrm>
          <a:prstGeom prst="roundRect">
            <a:avLst>
              <a:gd name="adj" fmla="val 6923"/>
            </a:avLst>
          </a:prstGeom>
          <a:solidFill>
            <a:srgbClr val="E5F7FC"/>
          </a:solidFill>
          <a:ln/>
        </p:spPr>
      </p:sp>
      <p:sp>
        <p:nvSpPr>
          <p:cNvPr id="59" name="Text 57"/>
          <p:cNvSpPr/>
          <p:nvPr/>
        </p:nvSpPr>
        <p:spPr>
          <a:xfrm>
            <a:off x="4507992" y="4535424"/>
            <a:ext cx="3172968" cy="274320"/>
          </a:xfrm>
          <a:prstGeom prst="rect">
            <a:avLst/>
          </a:prstGeom>
          <a:noFill/>
          <a:ln/>
        </p:spPr>
        <p:txBody>
          <a:bodyPr wrap="square" lIns="0" tIns="0" rIns="0" bIns="0" rtlCol="0" anchor="ctr"/>
          <a:lstStyle/>
          <a:p>
            <a:pPr indent="0" marL="0">
              <a:buNone/>
            </a:pPr>
            <a:r>
              <a:rPr lang="en-US" sz="1250" b="1" dirty="0">
                <a:solidFill>
                  <a:srgbClr val="3E3E4B"/>
                </a:solidFill>
                <a:latin typeface="Arial" pitchFamily="34" charset="0"/>
                <a:ea typeface="Arial" pitchFamily="34" charset="-122"/>
                <a:cs typeface="Arial" pitchFamily="34" charset="-120"/>
              </a:rPr>
              <a:t>Trade-off</a:t>
            </a:r>
            <a:endParaRPr lang="en-US" sz="1250" dirty="0"/>
          </a:p>
        </p:txBody>
      </p:sp>
      <p:sp>
        <p:nvSpPr>
          <p:cNvPr id="60" name="Text 58"/>
          <p:cNvSpPr/>
          <p:nvPr/>
        </p:nvSpPr>
        <p:spPr>
          <a:xfrm>
            <a:off x="4507992" y="4809744"/>
            <a:ext cx="3172968" cy="786384"/>
          </a:xfrm>
          <a:prstGeom prst="rect">
            <a:avLst/>
          </a:prstGeom>
          <a:noFill/>
          <a:ln/>
        </p:spPr>
        <p:txBody>
          <a:bodyPr wrap="square" lIns="0" tIns="0" rIns="0" bIns="0" rtlCol="0" anchor="t"/>
          <a:lstStyle/>
          <a:p>
            <a:pPr indent="0" marL="0">
              <a:lnSpc>
                <a:spcPts val="1250"/>
              </a:lnSpc>
              <a:buNone/>
            </a:pPr>
            <a:r>
              <a:rPr lang="en-US" sz="1000" dirty="0">
                <a:solidFill>
                  <a:srgbClr val="3E3E4B"/>
                </a:solidFill>
                <a:latin typeface="Calibri" pitchFamily="34" charset="0"/>
                <a:ea typeface="Calibri" pitchFamily="34" charset="-122"/>
                <a:cs typeface="Calibri" pitchFamily="34" charset="-120"/>
              </a:rPr>
              <a:t>The VM does not use some advanced AV64 instructions. This is a deliberate exchange of peak performance for guaranteed mobility.</a:t>
            </a:r>
            <a:endParaRPr lang="en-US" sz="1000" dirty="0"/>
          </a:p>
        </p:txBody>
      </p:sp>
      <p:sp>
        <p:nvSpPr>
          <p:cNvPr id="61" name="Shape 59"/>
          <p:cNvSpPr/>
          <p:nvPr/>
        </p:nvSpPr>
        <p:spPr>
          <a:xfrm>
            <a:off x="8065008" y="4462272"/>
            <a:ext cx="3575304" cy="1188720"/>
          </a:xfrm>
          <a:prstGeom prst="roundRect">
            <a:avLst>
              <a:gd name="adj" fmla="val 6923"/>
            </a:avLst>
          </a:prstGeom>
          <a:solidFill>
            <a:srgbClr val="E5F7FC"/>
          </a:solidFill>
          <a:ln/>
        </p:spPr>
      </p:sp>
      <p:sp>
        <p:nvSpPr>
          <p:cNvPr id="62" name="Text 60"/>
          <p:cNvSpPr/>
          <p:nvPr/>
        </p:nvSpPr>
        <p:spPr>
          <a:xfrm>
            <a:off x="8266176" y="4535424"/>
            <a:ext cx="3172968" cy="274320"/>
          </a:xfrm>
          <a:prstGeom prst="rect">
            <a:avLst/>
          </a:prstGeom>
          <a:noFill/>
          <a:ln/>
        </p:spPr>
        <p:txBody>
          <a:bodyPr wrap="square" lIns="0" tIns="0" rIns="0" bIns="0" rtlCol="0" anchor="ctr"/>
          <a:lstStyle/>
          <a:p>
            <a:pPr indent="0" marL="0">
              <a:buNone/>
            </a:pPr>
            <a:r>
              <a:rPr lang="en-US" sz="1250" b="1" dirty="0">
                <a:solidFill>
                  <a:srgbClr val="3E3E4B"/>
                </a:solidFill>
                <a:latin typeface="Arial" pitchFamily="34" charset="0"/>
                <a:ea typeface="Arial" pitchFamily="34" charset="-122"/>
                <a:cs typeface="Arial" pitchFamily="34" charset="-120"/>
              </a:rPr>
              <a:t>Governance risk</a:t>
            </a:r>
            <a:endParaRPr lang="en-US" sz="1250" dirty="0"/>
          </a:p>
        </p:txBody>
      </p:sp>
      <p:sp>
        <p:nvSpPr>
          <p:cNvPr id="63" name="Text 61"/>
          <p:cNvSpPr/>
          <p:nvPr/>
        </p:nvSpPr>
        <p:spPr>
          <a:xfrm>
            <a:off x="8266176" y="4809744"/>
            <a:ext cx="3172968" cy="786384"/>
          </a:xfrm>
          <a:prstGeom prst="rect">
            <a:avLst/>
          </a:prstGeom>
          <a:noFill/>
          <a:ln/>
        </p:spPr>
        <p:txBody>
          <a:bodyPr wrap="square" lIns="0" tIns="0" rIns="0" bIns="0" rtlCol="0" anchor="t"/>
          <a:lstStyle/>
          <a:p>
            <a:pPr indent="0" marL="0">
              <a:lnSpc>
                <a:spcPts val="1250"/>
              </a:lnSpc>
              <a:buNone/>
            </a:pPr>
            <a:r>
              <a:rPr lang="en-US" sz="1000" dirty="0">
                <a:solidFill>
                  <a:srgbClr val="3E3E4B"/>
                </a:solidFill>
                <a:latin typeface="Calibri" pitchFamily="34" charset="0"/>
                <a:ea typeface="Calibri" pitchFamily="34" charset="-122"/>
                <a:cs typeface="Calibri" pitchFamily="34" charset="-120"/>
              </a:rPr>
              <a:t>One VM created without the baseline can become stranded for live migration after it boots on AV64. Templates, automation, policy checks, and change control must enforce the selected EVC mode.</a:t>
            </a:r>
            <a:endParaRPr lang="en-US" sz="1000" dirty="0"/>
          </a:p>
        </p:txBody>
      </p:sp>
      <p:sp>
        <p:nvSpPr>
          <p:cNvPr id="64" name="Shape 62"/>
          <p:cNvSpPr/>
          <p:nvPr/>
        </p:nvSpPr>
        <p:spPr>
          <a:xfrm>
            <a:off x="548640" y="5742432"/>
            <a:ext cx="11091672" cy="548640"/>
          </a:xfrm>
          <a:prstGeom prst="roundRect">
            <a:avLst>
              <a:gd name="adj" fmla="val 15000"/>
            </a:avLst>
          </a:prstGeom>
          <a:solidFill>
            <a:srgbClr val="EBEDED"/>
          </a:solidFill>
          <a:ln/>
        </p:spPr>
      </p:sp>
      <p:sp>
        <p:nvSpPr>
          <p:cNvPr id="65" name="Text 63"/>
          <p:cNvSpPr/>
          <p:nvPr/>
        </p:nvSpPr>
        <p:spPr>
          <a:xfrm>
            <a:off x="731520" y="5742432"/>
            <a:ext cx="10725912" cy="548640"/>
          </a:xfrm>
          <a:prstGeom prst="rect">
            <a:avLst/>
          </a:prstGeom>
          <a:noFill/>
          <a:ln/>
        </p:spPr>
        <p:txBody>
          <a:bodyPr wrap="square" lIns="0" tIns="0" rIns="0" bIns="0" rtlCol="0" anchor="ctr"/>
          <a:lstStyle/>
          <a:p>
            <a:pPr indent="0" marL="0">
              <a:buNone/>
            </a:pPr>
            <a:r>
              <a:rPr lang="en-US" sz="1100" b="1" dirty="0">
                <a:solidFill>
                  <a:srgbClr val="00B3E2"/>
                </a:solidFill>
                <a:latin typeface="Arial" pitchFamily="34" charset="0"/>
                <a:ea typeface="Arial" pitchFamily="34" charset="-122"/>
                <a:cs typeface="Arial" pitchFamily="34" charset="-120"/>
              </a:rPr>
              <a:t>Takeaway   </a:t>
            </a:r>
            <a:pPr indent="0" marL="0">
              <a:buNone/>
            </a:pPr>
            <a:r>
              <a:rPr lang="en-US" sz="1200" dirty="0">
                <a:solidFill>
                  <a:srgbClr val="3E3E4B"/>
                </a:solidFill>
                <a:latin typeface="Calibri" pitchFamily="34" charset="0"/>
                <a:ea typeface="Calibri" pitchFamily="34" charset="-122"/>
                <a:cs typeface="Calibri" pitchFamily="34" charset="-120"/>
              </a:rPr>
              <a:t>Treat VM-level EVC as a mandatory design decision before the first mixed-generation migration, not as an emergency correction after workloads have moved.</a:t>
            </a:r>
            <a:endParaRPr lang="en-US" sz="1100" dirty="0"/>
          </a:p>
        </p:txBody>
      </p:sp>
      <p:sp>
        <p:nvSpPr>
          <p:cNvPr id="66" name="Text 64"/>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17. Enhanced vMotion Compatibility</a:t>
            </a:r>
            <a:endParaRPr lang="en-US" sz="950" dirty="0"/>
          </a:p>
        </p:txBody>
      </p:sp>
      <p:sp>
        <p:nvSpPr>
          <p:cNvPr id="67" name="Text 65"/>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38</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3E3E4B"/>
        </a:solidFill>
      </p:bgPr>
    </p:bg>
    <p:spTree>
      <p:nvGrpSpPr>
        <p:cNvPr id="1" name=""/>
        <p:cNvGrpSpPr/>
        <p:nvPr/>
      </p:nvGrpSpPr>
      <p:grpSpPr>
        <a:xfrm>
          <a:off x="0" y="0"/>
          <a:ext cx="0" cy="0"/>
          <a:chOff x="0" y="0"/>
          <a:chExt cx="0" cy="0"/>
        </a:xfrm>
      </p:grpSpPr>
      <p:sp>
        <p:nvSpPr>
          <p:cNvPr id="2" name="Text 0"/>
          <p:cNvSpPr/>
          <p:nvPr/>
        </p:nvSpPr>
        <p:spPr>
          <a:xfrm>
            <a:off x="548640" y="1828800"/>
            <a:ext cx="2194560" cy="1371600"/>
          </a:xfrm>
          <a:prstGeom prst="rect">
            <a:avLst/>
          </a:prstGeom>
          <a:noFill/>
          <a:ln/>
        </p:spPr>
        <p:txBody>
          <a:bodyPr wrap="square" lIns="0" tIns="0" rIns="0" bIns="0" rtlCol="0" anchor="ctr"/>
          <a:lstStyle/>
          <a:p>
            <a:pPr indent="0" marL="0">
              <a:buNone/>
            </a:pPr>
            <a:r>
              <a:rPr lang="en-US" sz="10000" b="1" dirty="0">
                <a:solidFill>
                  <a:srgbClr val="00B3E2"/>
                </a:solidFill>
                <a:latin typeface="Arial" pitchFamily="34" charset="0"/>
                <a:ea typeface="Arial" pitchFamily="34" charset="-122"/>
                <a:cs typeface="Arial" pitchFamily="34" charset="-120"/>
              </a:rPr>
              <a:t>05</a:t>
            </a:r>
            <a:endParaRPr lang="en-US" sz="10000" dirty="0"/>
          </a:p>
        </p:txBody>
      </p:sp>
      <p:sp>
        <p:nvSpPr>
          <p:cNvPr id="3" name="Text 1"/>
          <p:cNvSpPr/>
          <p:nvPr/>
        </p:nvSpPr>
        <p:spPr>
          <a:xfrm>
            <a:off x="2468880" y="1920240"/>
            <a:ext cx="9171432" cy="77724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Decision framework</a:t>
            </a:r>
            <a:endParaRPr lang="en-US" sz="3400" dirty="0"/>
          </a:p>
        </p:txBody>
      </p:sp>
      <p:sp>
        <p:nvSpPr>
          <p:cNvPr id="4" name="Text 2"/>
          <p:cNvSpPr/>
          <p:nvPr/>
        </p:nvSpPr>
        <p:spPr>
          <a:xfrm>
            <a:off x="2468880" y="2743200"/>
            <a:ext cx="8897112" cy="914400"/>
          </a:xfrm>
          <a:prstGeom prst="rect">
            <a:avLst/>
          </a:prstGeom>
          <a:noFill/>
          <a:ln/>
        </p:spPr>
        <p:txBody>
          <a:bodyPr wrap="square" lIns="0" tIns="0" rIns="0" bIns="0" rtlCol="0" anchor="t"/>
          <a:lstStyle/>
          <a:p>
            <a:pPr indent="0" marL="0">
              <a:lnSpc>
                <a:spcPts val="2000"/>
              </a:lnSpc>
              <a:buNone/>
            </a:pPr>
            <a:r>
              <a:rPr lang="en-US" sz="1400" dirty="0">
                <a:solidFill>
                  <a:srgbClr val="B2E8F6"/>
                </a:solidFill>
                <a:latin typeface="Calibri" pitchFamily="34" charset="0"/>
                <a:ea typeface="Calibri" pitchFamily="34" charset="-122"/>
                <a:cs typeface="Calibri" pitchFamily="34" charset="-120"/>
              </a:rPr>
              <a:t>Neither generation is universally superior. Selection depends on which constraints the organization is prepared to manage, and on calculations completed before the private cloud is created.</a:t>
            </a:r>
            <a:endParaRPr lang="en-US" sz="1400" dirty="0"/>
          </a:p>
        </p:txBody>
      </p:sp>
      <p:sp>
        <p:nvSpPr>
          <p:cNvPr id="5" name="Shape 3"/>
          <p:cNvSpPr/>
          <p:nvPr/>
        </p:nvSpPr>
        <p:spPr>
          <a:xfrm>
            <a:off x="2514600" y="2697480"/>
            <a:ext cx="1005840" cy="45720"/>
          </a:xfrm>
          <a:prstGeom prst="roundRect">
            <a:avLst>
              <a:gd name="adj" fmla="val 40000"/>
            </a:avLst>
          </a:prstGeom>
          <a:solidFill>
            <a:srgbClr val="00B3E2"/>
          </a:solidFill>
          <a:ln/>
        </p:spPr>
      </p:sp>
      <p:sp>
        <p:nvSpPr>
          <p:cNvPr id="6" name="Text 4"/>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Section</a:t>
            </a:r>
            <a:endParaRPr lang="en-US" sz="950" dirty="0"/>
          </a:p>
        </p:txBody>
      </p:sp>
      <p:sp>
        <p:nvSpPr>
          <p:cNvPr id="7" name="Text 5"/>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39</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18. DECISION FRAMEWORK</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Conditions favoring each generation</a:t>
            </a:r>
            <a:endParaRPr lang="en-US" sz="2800" dirty="0"/>
          </a:p>
        </p:txBody>
      </p:sp>
      <p:sp>
        <p:nvSpPr>
          <p:cNvPr id="4" name="Shape 2"/>
          <p:cNvSpPr/>
          <p:nvPr/>
        </p:nvSpPr>
        <p:spPr>
          <a:xfrm>
            <a:off x="548640" y="1280160"/>
            <a:ext cx="5408676" cy="4297680"/>
          </a:xfrm>
          <a:prstGeom prst="roundRect">
            <a:avLst>
              <a:gd name="adj" fmla="val 1915"/>
            </a:avLst>
          </a:prstGeom>
          <a:solidFill>
            <a:srgbClr val="EBEDED"/>
          </a:solidFill>
          <a:ln/>
        </p:spPr>
      </p:sp>
      <p:sp>
        <p:nvSpPr>
          <p:cNvPr id="5" name="Shape 3"/>
          <p:cNvSpPr/>
          <p:nvPr/>
        </p:nvSpPr>
        <p:spPr>
          <a:xfrm>
            <a:off x="548640" y="1280160"/>
            <a:ext cx="5408676" cy="530352"/>
          </a:xfrm>
          <a:prstGeom prst="roundRect">
            <a:avLst>
              <a:gd name="adj" fmla="val 15517"/>
            </a:avLst>
          </a:prstGeom>
          <a:solidFill>
            <a:srgbClr val="3E3E4B"/>
          </a:solidFill>
          <a:ln/>
        </p:spPr>
      </p:sp>
      <p:sp>
        <p:nvSpPr>
          <p:cNvPr id="6" name="Text 4"/>
          <p:cNvSpPr/>
          <p:nvPr/>
        </p:nvSpPr>
        <p:spPr>
          <a:xfrm>
            <a:off x="804672" y="1371600"/>
            <a:ext cx="4951476" cy="27432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Choose Generation 1 when</a:t>
            </a:r>
            <a:endParaRPr lang="en-US" sz="1500" dirty="0"/>
          </a:p>
        </p:txBody>
      </p:sp>
      <p:sp>
        <p:nvSpPr>
          <p:cNvPr id="7" name="Text 5"/>
          <p:cNvSpPr/>
          <p:nvPr/>
        </p:nvSpPr>
        <p:spPr>
          <a:xfrm>
            <a:off x="804672" y="1938528"/>
            <a:ext cx="4896612" cy="3520440"/>
          </a:xfrm>
          <a:prstGeom prst="rect">
            <a:avLst/>
          </a:prstGeom>
          <a:noFill/>
          <a:ln/>
        </p:spPr>
        <p:txBody>
          <a:bodyPr wrap="square" lIns="0" tIns="0" rIns="0" bIns="0" rtlCol="0" anchor="t"/>
          <a:lstStyle/>
          <a:p>
            <a:pPr marL="177800" indent="-177800">
              <a:lnSpc>
                <a:spcPts val="1700"/>
              </a:lnSpc>
              <a:spcAft>
                <a:spcPts val="600"/>
              </a:spcAft>
              <a:buSzPct val="100000"/>
              <a:buChar char="•"/>
            </a:pPr>
            <a:r>
              <a:rPr lang="en-US" sz="1150" dirty="0">
                <a:solidFill>
                  <a:srgbClr val="3E3E4B"/>
                </a:solidFill>
                <a:latin typeface="Calibri" pitchFamily="34" charset="0"/>
                <a:ea typeface="Calibri" pitchFamily="34" charset="-122"/>
                <a:cs typeface="Calibri" pitchFamily="34" charset="-120"/>
              </a:rPr>
              <a:t>Multi-zone synchronous stretched-cluster protection is mandatory.</a:t>
            </a:r>
            <a:endParaRPr lang="en-US" sz="1150" dirty="0"/>
          </a:p>
          <a:p>
            <a:pPr marL="177800" indent="-177800">
              <a:lnSpc>
                <a:spcPts val="1700"/>
              </a:lnSpc>
              <a:spcAft>
                <a:spcPts val="600"/>
              </a:spcAft>
              <a:buSzPct val="100000"/>
              <a:buChar char="•"/>
            </a:pPr>
            <a:r>
              <a:rPr lang="en-US" sz="1150" dirty="0">
                <a:solidFill>
                  <a:srgbClr val="3E3E4B"/>
                </a:solidFill>
                <a:latin typeface="Calibri" pitchFamily="34" charset="0"/>
                <a:ea typeface="Calibri" pitchFamily="34" charset="-122"/>
                <a:cs typeface="Calibri" pitchFamily="34" charset="-120"/>
              </a:rPr>
              <a:t>Compliance requires near-zero RPO for a zone failure.</a:t>
            </a:r>
            <a:endParaRPr lang="en-US" sz="1150" dirty="0"/>
          </a:p>
          <a:p>
            <a:pPr marL="177800" indent="-177800">
              <a:lnSpc>
                <a:spcPts val="1700"/>
              </a:lnSpc>
              <a:spcAft>
                <a:spcPts val="600"/>
              </a:spcAft>
              <a:buSzPct val="100000"/>
              <a:buChar char="•"/>
            </a:pPr>
            <a:r>
              <a:rPr lang="en-US" sz="1150" dirty="0">
                <a:solidFill>
                  <a:srgbClr val="3E3E4B"/>
                </a:solidFill>
                <a:latin typeface="Calibri" pitchFamily="34" charset="0"/>
                <a:ea typeface="Calibri" pitchFamily="34" charset="-122"/>
                <a:cs typeface="Calibri" pitchFamily="34" charset="-120"/>
              </a:rPr>
              <a:t>The enterprise network contains many segments that may exceed Gen 2 route limits.</a:t>
            </a:r>
            <a:endParaRPr lang="en-US" sz="1150" dirty="0"/>
          </a:p>
          <a:p>
            <a:pPr marL="177800" indent="-177800">
              <a:lnSpc>
                <a:spcPts val="1700"/>
              </a:lnSpc>
              <a:spcAft>
                <a:spcPts val="600"/>
              </a:spcAft>
              <a:buSzPct val="100000"/>
              <a:buChar char="•"/>
            </a:pPr>
            <a:r>
              <a:rPr lang="en-US" sz="1150" dirty="0">
                <a:solidFill>
                  <a:srgbClr val="3E3E4B"/>
                </a:solidFill>
                <a:latin typeface="Calibri" pitchFamily="34" charset="0"/>
                <a:ea typeface="Calibri" pitchFamily="34" charset="-122"/>
                <a:cs typeface="Calibri" pitchFamily="34" charset="-120"/>
              </a:rPr>
              <a:t>A migration must retain a large number of MON /32 routes for an extended period.</a:t>
            </a:r>
            <a:endParaRPr lang="en-US" sz="1150" dirty="0"/>
          </a:p>
          <a:p>
            <a:pPr marL="177800" indent="-177800">
              <a:lnSpc>
                <a:spcPts val="1700"/>
              </a:lnSpc>
              <a:spcAft>
                <a:spcPts val="600"/>
              </a:spcAft>
              <a:buSzPct val="100000"/>
              <a:buChar char="•"/>
            </a:pPr>
            <a:r>
              <a:rPr lang="en-US" sz="1150" dirty="0">
                <a:solidFill>
                  <a:srgbClr val="3E3E4B"/>
                </a:solidFill>
                <a:latin typeface="Calibri" pitchFamily="34" charset="0"/>
                <a:ea typeface="Calibri" pitchFamily="34" charset="-122"/>
                <a:cs typeface="Calibri" pitchFamily="34" charset="-120"/>
              </a:rPr>
              <a:t>The organization already has mature ExpressRoute, BGP, firewall, and routing infrastructure.</a:t>
            </a:r>
            <a:endParaRPr lang="en-US" sz="1150" dirty="0"/>
          </a:p>
          <a:p>
            <a:pPr marL="177800" indent="-177800">
              <a:lnSpc>
                <a:spcPts val="1700"/>
              </a:lnSpc>
              <a:spcAft>
                <a:spcPts val="600"/>
              </a:spcAft>
              <a:buSzPct val="100000"/>
              <a:buChar char="•"/>
            </a:pPr>
            <a:r>
              <a:rPr lang="en-US" sz="1150" dirty="0">
                <a:solidFill>
                  <a:srgbClr val="3E3E4B"/>
                </a:solidFill>
                <a:latin typeface="Calibri" pitchFamily="34" charset="0"/>
                <a:ea typeface="Calibri" pitchFamily="34" charset="-122"/>
                <a:cs typeface="Calibri" pitchFamily="34" charset="-120"/>
              </a:rPr>
              <a:t>Existing applications do not require AV64 compute and NVMe capability.</a:t>
            </a:r>
            <a:endParaRPr lang="en-US" sz="1150" dirty="0"/>
          </a:p>
          <a:p>
            <a:pPr marL="177800" indent="-177800">
              <a:lnSpc>
                <a:spcPts val="1700"/>
              </a:lnSpc>
              <a:spcAft>
                <a:spcPts val="600"/>
              </a:spcAft>
              <a:buSzPct val="100000"/>
              <a:buChar char="•"/>
            </a:pPr>
            <a:r>
              <a:rPr lang="en-US" sz="1150" dirty="0">
                <a:solidFill>
                  <a:srgbClr val="3E3E4B"/>
                </a:solidFill>
                <a:latin typeface="Calibri" pitchFamily="34" charset="0"/>
                <a:ea typeface="Calibri" pitchFamily="34" charset="-122"/>
                <a:cs typeface="Calibri" pitchFamily="34" charset="-120"/>
              </a:rPr>
              <a:t>Lower-cost host profiles provide adequate capacity.</a:t>
            </a:r>
            <a:endParaRPr lang="en-US" sz="1150" dirty="0"/>
          </a:p>
          <a:p>
            <a:pPr marL="177800" indent="-177800">
              <a:lnSpc>
                <a:spcPts val="1700"/>
              </a:lnSpc>
              <a:spcAft>
                <a:spcPts val="600"/>
              </a:spcAft>
              <a:buSzPct val="100000"/>
              <a:buChar char="•"/>
            </a:pPr>
            <a:r>
              <a:rPr lang="en-US" sz="1150" dirty="0">
                <a:solidFill>
                  <a:srgbClr val="3E3E4B"/>
                </a:solidFill>
                <a:latin typeface="Calibri" pitchFamily="34" charset="0"/>
                <a:ea typeface="Calibri" pitchFamily="34" charset="-122"/>
                <a:cs typeface="Calibri" pitchFamily="34" charset="-120"/>
              </a:rPr>
              <a:t>Operational teams prefer established placement and routing behavior.</a:t>
            </a:r>
            <a:endParaRPr lang="en-US" sz="1150" dirty="0"/>
          </a:p>
        </p:txBody>
      </p:sp>
      <p:sp>
        <p:nvSpPr>
          <p:cNvPr id="8" name="Shape 6"/>
          <p:cNvSpPr/>
          <p:nvPr/>
        </p:nvSpPr>
        <p:spPr>
          <a:xfrm>
            <a:off x="6231636" y="1280160"/>
            <a:ext cx="5408676" cy="4297680"/>
          </a:xfrm>
          <a:prstGeom prst="roundRect">
            <a:avLst>
              <a:gd name="adj" fmla="val 1915"/>
            </a:avLst>
          </a:prstGeom>
          <a:solidFill>
            <a:srgbClr val="E5F7FC"/>
          </a:solidFill>
          <a:ln/>
        </p:spPr>
      </p:sp>
      <p:sp>
        <p:nvSpPr>
          <p:cNvPr id="9" name="Shape 7"/>
          <p:cNvSpPr/>
          <p:nvPr/>
        </p:nvSpPr>
        <p:spPr>
          <a:xfrm>
            <a:off x="6231636" y="1280160"/>
            <a:ext cx="5408676" cy="530352"/>
          </a:xfrm>
          <a:prstGeom prst="roundRect">
            <a:avLst>
              <a:gd name="adj" fmla="val 15517"/>
            </a:avLst>
          </a:prstGeom>
          <a:solidFill>
            <a:srgbClr val="00B3E2"/>
          </a:solidFill>
          <a:ln/>
        </p:spPr>
      </p:sp>
      <p:sp>
        <p:nvSpPr>
          <p:cNvPr id="10" name="Text 8"/>
          <p:cNvSpPr/>
          <p:nvPr/>
        </p:nvSpPr>
        <p:spPr>
          <a:xfrm>
            <a:off x="6487668" y="1371600"/>
            <a:ext cx="4951476" cy="274320"/>
          </a:xfrm>
          <a:prstGeom prst="rect">
            <a:avLst/>
          </a:prstGeom>
          <a:noFill/>
          <a:ln/>
        </p:spPr>
        <p:txBody>
          <a:bodyPr wrap="square" lIns="0" tIns="0" rIns="0" bIns="0" rtlCol="0" anchor="ctr"/>
          <a:lstStyle/>
          <a:p>
            <a:pPr indent="0" marL="0">
              <a:buNone/>
            </a:pPr>
            <a:r>
              <a:rPr lang="en-US" sz="1500" b="1" dirty="0">
                <a:solidFill>
                  <a:srgbClr val="3E3E4B"/>
                </a:solidFill>
                <a:latin typeface="Arial" pitchFamily="34" charset="0"/>
                <a:ea typeface="Arial" pitchFamily="34" charset="-122"/>
                <a:cs typeface="Arial" pitchFamily="34" charset="-120"/>
              </a:rPr>
              <a:t>Choose Generation 2 when</a:t>
            </a:r>
            <a:endParaRPr lang="en-US" sz="1500" dirty="0"/>
          </a:p>
        </p:txBody>
      </p:sp>
      <p:sp>
        <p:nvSpPr>
          <p:cNvPr id="11" name="Text 9"/>
          <p:cNvSpPr/>
          <p:nvPr/>
        </p:nvSpPr>
        <p:spPr>
          <a:xfrm>
            <a:off x="6487668" y="1938528"/>
            <a:ext cx="4896612" cy="3520440"/>
          </a:xfrm>
          <a:prstGeom prst="rect">
            <a:avLst/>
          </a:prstGeom>
          <a:noFill/>
          <a:ln/>
        </p:spPr>
        <p:txBody>
          <a:bodyPr wrap="square" lIns="0" tIns="0" rIns="0" bIns="0" rtlCol="0" anchor="t"/>
          <a:lstStyle/>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Applications require direct integration with Azure-native services.</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The organization wants to eliminate ExpressRoute for internal Azure connectivity.</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The environment benefits from simplified VNet peering and private DNS integration.</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Workloads require high storage I/O, low latency, or substantial east-west bandwidth.</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AV64 CPU, memory, NVMe, and network capacity can be used efficiently.</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Single-zone infrastructure is acceptable when paired with a separate DR design.</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The network stays within both the 1,000-prefix VNet limit and the T0 NIC /28 limits.</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Migration teams can summarize routes rapidly and avoid permanent MON sprawl.</a:t>
            </a:r>
            <a:endParaRPr lang="en-US" sz="1150" dirty="0"/>
          </a:p>
          <a:p>
            <a:pPr marL="177800" indent="-177800">
              <a:lnSpc>
                <a:spcPts val="1700"/>
              </a:lnSpc>
              <a:spcAft>
                <a:spcPts val="400"/>
              </a:spcAft>
              <a:buSzPct val="100000"/>
              <a:buChar char="•"/>
            </a:pPr>
            <a:r>
              <a:rPr lang="en-US" sz="1150" dirty="0">
                <a:solidFill>
                  <a:srgbClr val="3E3E4B"/>
                </a:solidFill>
                <a:latin typeface="Calibri" pitchFamily="34" charset="0"/>
                <a:ea typeface="Calibri" pitchFamily="34" charset="-122"/>
                <a:cs typeface="Calibri" pitchFamily="34" charset="-120"/>
              </a:rPr>
              <a:t>Governance can accommodate fixed VNet, tenant, and resource-placement dependencies.</a:t>
            </a:r>
            <a:endParaRPr lang="en-US" sz="1150" dirty="0"/>
          </a:p>
        </p:txBody>
      </p:sp>
      <p:sp>
        <p:nvSpPr>
          <p:cNvPr id="12" name="Shape 10"/>
          <p:cNvSpPr/>
          <p:nvPr/>
        </p:nvSpPr>
        <p:spPr>
          <a:xfrm>
            <a:off x="548640" y="5715000"/>
            <a:ext cx="11091672" cy="548640"/>
          </a:xfrm>
          <a:prstGeom prst="roundRect">
            <a:avLst>
              <a:gd name="adj" fmla="val 15000"/>
            </a:avLst>
          </a:prstGeom>
          <a:solidFill>
            <a:srgbClr val="EBEDED"/>
          </a:solidFill>
          <a:ln/>
        </p:spPr>
      </p:sp>
      <p:sp>
        <p:nvSpPr>
          <p:cNvPr id="13" name="Text 11"/>
          <p:cNvSpPr/>
          <p:nvPr/>
        </p:nvSpPr>
        <p:spPr>
          <a:xfrm>
            <a:off x="731520" y="5715000"/>
            <a:ext cx="10725912" cy="548640"/>
          </a:xfrm>
          <a:prstGeom prst="rect">
            <a:avLst/>
          </a:prstGeom>
          <a:noFill/>
          <a:ln/>
        </p:spPr>
        <p:txBody>
          <a:bodyPr wrap="square" lIns="0" tIns="0" rIns="0" bIns="0" rtlCol="0" anchor="ctr"/>
          <a:lstStyle/>
          <a:p>
            <a:pPr indent="0" marL="0">
              <a:buNone/>
            </a:pPr>
            <a:r>
              <a:rPr lang="en-US" sz="1100" b="1" dirty="0">
                <a:solidFill>
                  <a:srgbClr val="00B3E2"/>
                </a:solidFill>
                <a:latin typeface="Arial" pitchFamily="34" charset="0"/>
                <a:ea typeface="Arial" pitchFamily="34" charset="-122"/>
                <a:cs typeface="Arial" pitchFamily="34" charset="-120"/>
              </a:rPr>
              <a:t>Takeaway   </a:t>
            </a:r>
            <a:pPr indent="0" marL="0">
              <a:buNone/>
            </a:pPr>
            <a:r>
              <a:rPr lang="en-US" sz="1200" dirty="0">
                <a:solidFill>
                  <a:srgbClr val="3E3E4B"/>
                </a:solidFill>
                <a:latin typeface="Calibri" pitchFamily="34" charset="0"/>
                <a:ea typeface="Calibri" pitchFamily="34" charset="-122"/>
                <a:cs typeface="Calibri" pitchFamily="34" charset="-120"/>
              </a:rPr>
              <a:t>Neither generation is universally superior. Selection depends on which constraints the organization is prepared to manage.</a:t>
            </a:r>
            <a:endParaRPr lang="en-US" sz="1100" dirty="0"/>
          </a:p>
        </p:txBody>
      </p:sp>
      <p:sp>
        <p:nvSpPr>
          <p:cNvPr id="14" name="Text 12"/>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18. Operational decision framework</a:t>
            </a:r>
            <a:endParaRPr lang="en-US" sz="950" dirty="0"/>
          </a:p>
        </p:txBody>
      </p:sp>
      <p:sp>
        <p:nvSpPr>
          <p:cNvPr id="15" name="Text 13"/>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40</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18.3 DECISION MATRIX</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Requirement to preferred direction</a:t>
            </a:r>
            <a:endParaRPr lang="en-US" sz="28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5943600"/>
                <a:gridCol w="5148072"/>
              </a:tblGrid>
              <a:tr h="365760">
                <a:tc>
                  <a:txBody>
                    <a:bodyPr/>
                    <a:lstStyle/>
                    <a:p>
                      <a:pPr indent="0" marL="0">
                        <a:buNone/>
                      </a:pPr>
                      <a:r>
                        <a:rPr lang="en-US" sz="1150" b="1" dirty="0">
                          <a:solidFill>
                            <a:srgbClr val="FFFFFF"/>
                          </a:solidFill>
                          <a:latin typeface="Arial" pitchFamily="34" charset="0"/>
                          <a:ea typeface="Arial" pitchFamily="34" charset="-122"/>
                          <a:cs typeface="Arial" pitchFamily="34" charset="-120"/>
                        </a:rPr>
                        <a:t>Requirement</a:t>
                      </a:r>
                      <a:endParaRPr lang="en-US" sz="1150" dirty="0">
                        <a:latin typeface="Arial" charset="0"/>
                        <a:ea typeface="Arial" charset="0"/>
                        <a:cs typeface="Arial"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3E3E4B"/>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Preferred direction</a:t>
                      </a:r>
                      <a:endParaRPr lang="en-US" sz="1150" dirty="0">
                        <a:latin typeface="Arial" charset="0"/>
                        <a:ea typeface="Arial" charset="0"/>
                        <a:cs typeface="Arial"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3E3E4B"/>
                    </a:solidFill>
                  </a:tcPr>
                </a:tc>
              </a:tr>
              <a:tr h="365760">
                <a:tc>
                  <a:txBody>
                    <a:bodyPr/>
                    <a:lstStyle/>
                    <a:p>
                      <a:pPr indent="0" marL="0">
                        <a:buNone/>
                      </a:pPr>
                      <a:r>
                        <a:rPr lang="en-US" sz="1150" b="1" dirty="0">
                          <a:solidFill>
                            <a:srgbClr val="3E3E4B"/>
                          </a:solidFill>
                          <a:latin typeface="Calibri" pitchFamily="34" charset="0"/>
                          <a:ea typeface="Calibri" pitchFamily="34" charset="-122"/>
                          <a:cs typeface="Calibri" pitchFamily="34" charset="-120"/>
                        </a:rPr>
                        <a:t>Synchronous multi-zone cluster</a:t>
                      </a:r>
                      <a:endParaRPr lang="en-US" sz="11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150" dirty="0">
                          <a:solidFill>
                            <a:srgbClr val="3E3E4B"/>
                          </a:solidFill>
                          <a:latin typeface="Calibri" pitchFamily="34" charset="0"/>
                          <a:ea typeface="Calibri" pitchFamily="34" charset="-122"/>
                          <a:cs typeface="Calibri" pitchFamily="34" charset="-120"/>
                        </a:rPr>
                        <a:t>Generation 1</a:t>
                      </a:r>
                      <a:endParaRPr lang="en-US" sz="11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r>
              <a:tr h="365760">
                <a:tc>
                  <a:txBody>
                    <a:bodyPr/>
                    <a:lstStyle/>
                    <a:p>
                      <a:pPr indent="0" marL="0">
                        <a:buNone/>
                      </a:pPr>
                      <a:r>
                        <a:rPr lang="en-US" sz="1150" b="1" dirty="0">
                          <a:solidFill>
                            <a:srgbClr val="3E3E4B"/>
                          </a:solidFill>
                          <a:latin typeface="Calibri" pitchFamily="34" charset="0"/>
                          <a:ea typeface="Calibri" pitchFamily="34" charset="-122"/>
                          <a:cs typeface="Calibri" pitchFamily="34" charset="-120"/>
                        </a:rPr>
                        <a:t>Existing complex ExpressRoute architecture</a:t>
                      </a:r>
                      <a:endParaRPr lang="en-US" sz="11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150" dirty="0">
                          <a:solidFill>
                            <a:srgbClr val="3E3E4B"/>
                          </a:solidFill>
                          <a:latin typeface="Calibri" pitchFamily="34" charset="0"/>
                          <a:ea typeface="Calibri" pitchFamily="34" charset="-122"/>
                          <a:cs typeface="Calibri" pitchFamily="34" charset="-120"/>
                        </a:rPr>
                        <a:t>Generation 1</a:t>
                      </a:r>
                      <a:endParaRPr lang="en-US" sz="11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r>
              <a:tr h="365760">
                <a:tc>
                  <a:txBody>
                    <a:bodyPr/>
                    <a:lstStyle/>
                    <a:p>
                      <a:pPr indent="0" marL="0">
                        <a:buNone/>
                      </a:pPr>
                      <a:r>
                        <a:rPr lang="en-US" sz="1150" b="1" dirty="0">
                          <a:solidFill>
                            <a:srgbClr val="3E3E4B"/>
                          </a:solidFill>
                          <a:latin typeface="Calibri" pitchFamily="34" charset="0"/>
                          <a:ea typeface="Calibri" pitchFamily="34" charset="-122"/>
                          <a:cs typeface="Calibri" pitchFamily="34" charset="-120"/>
                        </a:rPr>
                        <a:t>More flexible route scale</a:t>
                      </a:r>
                      <a:endParaRPr lang="en-US" sz="11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150" dirty="0">
                          <a:solidFill>
                            <a:srgbClr val="3E3E4B"/>
                          </a:solidFill>
                          <a:latin typeface="Calibri" pitchFamily="34" charset="0"/>
                          <a:ea typeface="Calibri" pitchFamily="34" charset="-122"/>
                          <a:cs typeface="Calibri" pitchFamily="34" charset="-120"/>
                        </a:rPr>
                        <a:t>Generation 1</a:t>
                      </a:r>
                      <a:endParaRPr lang="en-US" sz="11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r>
              <a:tr h="365760">
                <a:tc>
                  <a:txBody>
                    <a:bodyPr/>
                    <a:lstStyle/>
                    <a:p>
                      <a:pPr indent="0" marL="0">
                        <a:buNone/>
                      </a:pPr>
                      <a:r>
                        <a:rPr lang="en-US" sz="1150" b="1" dirty="0">
                          <a:solidFill>
                            <a:srgbClr val="3E3E4B"/>
                          </a:solidFill>
                          <a:latin typeface="Calibri" pitchFamily="34" charset="0"/>
                          <a:ea typeface="Calibri" pitchFamily="34" charset="-122"/>
                          <a:cs typeface="Calibri" pitchFamily="34" charset="-120"/>
                        </a:rPr>
                        <a:t>Lower-cost hardware for ordinary workloads</a:t>
                      </a:r>
                      <a:endParaRPr lang="en-US" sz="11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150" dirty="0">
                          <a:solidFill>
                            <a:srgbClr val="3E3E4B"/>
                          </a:solidFill>
                          <a:latin typeface="Calibri" pitchFamily="34" charset="0"/>
                          <a:ea typeface="Calibri" pitchFamily="34" charset="-122"/>
                          <a:cs typeface="Calibri" pitchFamily="34" charset="-120"/>
                        </a:rPr>
                        <a:t>Generation 1</a:t>
                      </a:r>
                      <a:endParaRPr lang="en-US" sz="11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r>
              <a:tr h="365760">
                <a:tc>
                  <a:txBody>
                    <a:bodyPr/>
                    <a:lstStyle/>
                    <a:p>
                      <a:pPr indent="0" marL="0">
                        <a:buNone/>
                      </a:pPr>
                      <a:r>
                        <a:rPr lang="en-US" sz="1150" b="1" dirty="0">
                          <a:solidFill>
                            <a:srgbClr val="3E3E4B"/>
                          </a:solidFill>
                          <a:latin typeface="Calibri" pitchFamily="34" charset="0"/>
                          <a:ea typeface="Calibri" pitchFamily="34" charset="-122"/>
                          <a:cs typeface="Calibri" pitchFamily="34" charset="-120"/>
                        </a:rPr>
                        <a:t>Direct Azure VNet integration</a:t>
                      </a:r>
                      <a:endParaRPr lang="en-US" sz="11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150" dirty="0">
                          <a:solidFill>
                            <a:srgbClr val="3E3E4B"/>
                          </a:solidFill>
                          <a:latin typeface="Calibri" pitchFamily="34" charset="0"/>
                          <a:ea typeface="Calibri" pitchFamily="34" charset="-122"/>
                          <a:cs typeface="Calibri" pitchFamily="34" charset="-120"/>
                        </a:rPr>
                        <a:t>Generation 2</a:t>
                      </a:r>
                      <a:endParaRPr lang="en-US" sz="11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r>
              <a:tr h="365760">
                <a:tc>
                  <a:txBody>
                    <a:bodyPr/>
                    <a:lstStyle/>
                    <a:p>
                      <a:pPr indent="0" marL="0">
                        <a:buNone/>
                      </a:pPr>
                      <a:r>
                        <a:rPr lang="en-US" sz="1150" b="1" dirty="0">
                          <a:solidFill>
                            <a:srgbClr val="3E3E4B"/>
                          </a:solidFill>
                          <a:latin typeface="Calibri" pitchFamily="34" charset="0"/>
                          <a:ea typeface="Calibri" pitchFamily="34" charset="-122"/>
                          <a:cs typeface="Calibri" pitchFamily="34" charset="-120"/>
                        </a:rPr>
                        <a:t>Avoid internal ExpressRoute gateway costs</a:t>
                      </a:r>
                      <a:endParaRPr lang="en-US" sz="11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150" dirty="0">
                          <a:solidFill>
                            <a:srgbClr val="3E3E4B"/>
                          </a:solidFill>
                          <a:latin typeface="Calibri" pitchFamily="34" charset="0"/>
                          <a:ea typeface="Calibri" pitchFamily="34" charset="-122"/>
                          <a:cs typeface="Calibri" pitchFamily="34" charset="-120"/>
                        </a:rPr>
                        <a:t>Generation 2</a:t>
                      </a:r>
                      <a:endParaRPr lang="en-US" sz="11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r>
              <a:tr h="365760">
                <a:tc>
                  <a:txBody>
                    <a:bodyPr/>
                    <a:lstStyle/>
                    <a:p>
                      <a:pPr indent="0" marL="0">
                        <a:buNone/>
                      </a:pPr>
                      <a:r>
                        <a:rPr lang="en-US" sz="1150" b="1" dirty="0">
                          <a:solidFill>
                            <a:srgbClr val="3E3E4B"/>
                          </a:solidFill>
                          <a:latin typeface="Calibri" pitchFamily="34" charset="0"/>
                          <a:ea typeface="Calibri" pitchFamily="34" charset="-122"/>
                          <a:cs typeface="Calibri" pitchFamily="34" charset="-120"/>
                        </a:rPr>
                        <a:t>AV64 and ESA performance</a:t>
                      </a:r>
                      <a:endParaRPr lang="en-US" sz="11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150" dirty="0">
                          <a:solidFill>
                            <a:srgbClr val="3E3E4B"/>
                          </a:solidFill>
                          <a:latin typeface="Calibri" pitchFamily="34" charset="0"/>
                          <a:ea typeface="Calibri" pitchFamily="34" charset="-122"/>
                          <a:cs typeface="Calibri" pitchFamily="34" charset="-120"/>
                        </a:rPr>
                        <a:t>Generation 2</a:t>
                      </a:r>
                      <a:endParaRPr lang="en-US" sz="11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r>
              <a:tr h="365760">
                <a:tc>
                  <a:txBody>
                    <a:bodyPr/>
                    <a:lstStyle/>
                    <a:p>
                      <a:pPr indent="0" marL="0">
                        <a:buNone/>
                      </a:pPr>
                      <a:r>
                        <a:rPr lang="en-US" sz="1150" b="1" dirty="0">
                          <a:solidFill>
                            <a:srgbClr val="3E3E4B"/>
                          </a:solidFill>
                          <a:latin typeface="Calibri" pitchFamily="34" charset="0"/>
                          <a:ea typeface="Calibri" pitchFamily="34" charset="-122"/>
                          <a:cs typeface="Calibri" pitchFamily="34" charset="-120"/>
                        </a:rPr>
                        <a:t>Large VDI or transactional workload</a:t>
                      </a:r>
                      <a:endParaRPr lang="en-US" sz="11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150" dirty="0">
                          <a:solidFill>
                            <a:srgbClr val="3E3E4B"/>
                          </a:solidFill>
                          <a:latin typeface="Calibri" pitchFamily="34" charset="0"/>
                          <a:ea typeface="Calibri" pitchFamily="34" charset="-122"/>
                          <a:cs typeface="Calibri" pitchFamily="34" charset="-120"/>
                        </a:rPr>
                        <a:t>Generation 2, subject to sizing</a:t>
                      </a:r>
                      <a:endParaRPr lang="en-US" sz="11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r>
              <a:tr h="365760">
                <a:tc>
                  <a:txBody>
                    <a:bodyPr/>
                    <a:lstStyle/>
                    <a:p>
                      <a:pPr indent="0" marL="0">
                        <a:buNone/>
                      </a:pPr>
                      <a:r>
                        <a:rPr lang="en-US" sz="1150" b="1" dirty="0">
                          <a:solidFill>
                            <a:srgbClr val="3E3E4B"/>
                          </a:solidFill>
                          <a:latin typeface="Calibri" pitchFamily="34" charset="0"/>
                          <a:ea typeface="Calibri" pitchFamily="34" charset="-122"/>
                          <a:cs typeface="Calibri" pitchFamily="34" charset="-120"/>
                        </a:rPr>
                        <a:t>Large HCX MON migration</a:t>
                      </a:r>
                      <a:endParaRPr lang="en-US" sz="11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150" dirty="0">
                          <a:solidFill>
                            <a:srgbClr val="3E3E4B"/>
                          </a:solidFill>
                          <a:latin typeface="Calibri" pitchFamily="34" charset="0"/>
                          <a:ea typeface="Calibri" pitchFamily="34" charset="-122"/>
                          <a:cs typeface="Calibri" pitchFamily="34" charset="-120"/>
                        </a:rPr>
                        <a:t>Generation 1, or tightly controlled Generation 2 waves</a:t>
                      </a:r>
                      <a:endParaRPr lang="en-US" sz="11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r>
              <a:tr h="365760">
                <a:tc>
                  <a:txBody>
                    <a:bodyPr/>
                    <a:lstStyle/>
                    <a:p>
                      <a:pPr indent="0" marL="0">
                        <a:buNone/>
                      </a:pPr>
                      <a:r>
                        <a:rPr lang="en-US" sz="1150" b="1" dirty="0">
                          <a:solidFill>
                            <a:srgbClr val="3E3E4B"/>
                          </a:solidFill>
                          <a:latin typeface="Calibri" pitchFamily="34" charset="0"/>
                          <a:ea typeface="Calibri" pitchFamily="34" charset="-122"/>
                          <a:cs typeface="Calibri" pitchFamily="34" charset="-120"/>
                        </a:rPr>
                        <a:t>Single-zone acceptable with cross-region DR</a:t>
                      </a:r>
                      <a:endParaRPr lang="en-US" sz="11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c>
                  <a:txBody>
                    <a:bodyPr/>
                    <a:lstStyle/>
                    <a:p>
                      <a:pPr indent="0" marL="0">
                        <a:buNone/>
                      </a:pPr>
                      <a:r>
                        <a:rPr lang="en-US" sz="1150" dirty="0">
                          <a:solidFill>
                            <a:srgbClr val="3E3E4B"/>
                          </a:solidFill>
                          <a:latin typeface="Calibri" pitchFamily="34" charset="0"/>
                          <a:ea typeface="Calibri" pitchFamily="34" charset="-122"/>
                          <a:cs typeface="Calibri" pitchFamily="34" charset="-120"/>
                        </a:rPr>
                        <a:t>Generation 2</a:t>
                      </a:r>
                      <a:endParaRPr lang="en-US" sz="11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E5F7FC"/>
                    </a:solidFill>
                  </a:tcPr>
                </a:tc>
              </a:tr>
              <a:tr h="365760">
                <a:tc>
                  <a:txBody>
                    <a:bodyPr/>
                    <a:lstStyle/>
                    <a:p>
                      <a:pPr indent="0" marL="0">
                        <a:buNone/>
                      </a:pPr>
                      <a:r>
                        <a:rPr lang="en-US" sz="1150" b="1" dirty="0">
                          <a:solidFill>
                            <a:srgbClr val="3E3E4B"/>
                          </a:solidFill>
                          <a:latin typeface="Calibri" pitchFamily="34" charset="0"/>
                          <a:ea typeface="Calibri" pitchFamily="34" charset="-122"/>
                          <a:cs typeface="Calibri" pitchFamily="34" charset="-120"/>
                        </a:rPr>
                        <a:t>Need both resilience and AV64 capacity</a:t>
                      </a:r>
                      <a:endParaRPr lang="en-US" sz="11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c>
                  <a:txBody>
                    <a:bodyPr/>
                    <a:lstStyle/>
                    <a:p>
                      <a:pPr indent="0" marL="0">
                        <a:buNone/>
                      </a:pPr>
                      <a:r>
                        <a:rPr lang="en-US" sz="1150" dirty="0">
                          <a:solidFill>
                            <a:srgbClr val="3E3E4B"/>
                          </a:solidFill>
                          <a:latin typeface="Calibri" pitchFamily="34" charset="0"/>
                          <a:ea typeface="Calibri" pitchFamily="34" charset="-122"/>
                          <a:cs typeface="Calibri" pitchFamily="34" charset="-120"/>
                        </a:rPr>
                        <a:t>Mixed clusters with strict EVC governance</a:t>
                      </a:r>
                      <a:endParaRPr lang="en-US" sz="1150" dirty="0">
                        <a:latin typeface="Calibri" charset="0"/>
                        <a:ea typeface="Calibri" charset="0"/>
                        <a:cs typeface="Calibri" charset="0"/>
                      </a:endParaRPr>
                    </a:p>
                  </a:txBody>
                  <a:tcPr marL="88900" marR="88900" marT="50800" marB="50800" anchor="ctr">
                    <a:lnL w="6350" cap="flat" cmpd="sng" algn="ctr">
                      <a:solidFill>
                        <a:srgbClr val="DDE2E2"/>
                      </a:solidFill>
                      <a:prstDash val="solid"/>
                      <a:round/>
                      <a:headEnd type="none" w="med" len="med"/>
                      <a:tailEnd type="none" w="med" len="med"/>
                    </a:lnL>
                    <a:lnR w="6350" cap="flat" cmpd="sng" algn="ctr">
                      <a:solidFill>
                        <a:srgbClr val="DDE2E2"/>
                      </a:solidFill>
                      <a:prstDash val="solid"/>
                      <a:round/>
                      <a:headEnd type="none" w="med" len="med"/>
                      <a:tailEnd type="none" w="med" len="med"/>
                    </a:lnR>
                    <a:lnT w="6350" cap="flat" cmpd="sng" algn="ctr">
                      <a:solidFill>
                        <a:srgbClr val="DDE2E2"/>
                      </a:solidFill>
                      <a:prstDash val="solid"/>
                      <a:round/>
                      <a:headEnd type="none" w="med" len="med"/>
                      <a:tailEnd type="none" w="med" len="med"/>
                    </a:lnT>
                    <a:lnB w="6350" cap="flat" cmpd="sng" algn="ctr">
                      <a:solidFill>
                        <a:srgbClr val="DDE2E2"/>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760720"/>
            <a:ext cx="11091672" cy="548640"/>
          </a:xfrm>
          <a:prstGeom prst="roundRect">
            <a:avLst>
              <a:gd name="adj" fmla="val 15000"/>
            </a:avLst>
          </a:prstGeom>
          <a:solidFill>
            <a:srgbClr val="EBEDED"/>
          </a:solidFill>
          <a:ln/>
        </p:spPr>
      </p:sp>
      <p:sp>
        <p:nvSpPr>
          <p:cNvPr id="6" name="Text 3"/>
          <p:cNvSpPr/>
          <p:nvPr/>
        </p:nvSpPr>
        <p:spPr>
          <a:xfrm>
            <a:off x="731520" y="5760720"/>
            <a:ext cx="10725912" cy="548640"/>
          </a:xfrm>
          <a:prstGeom prst="rect">
            <a:avLst/>
          </a:prstGeom>
          <a:noFill/>
          <a:ln/>
        </p:spPr>
        <p:txBody>
          <a:bodyPr wrap="square" lIns="0" tIns="0" rIns="0" bIns="0" rtlCol="0" anchor="ctr"/>
          <a:lstStyle/>
          <a:p>
            <a:pPr indent="0" marL="0">
              <a:buNone/>
            </a:pPr>
            <a:r>
              <a:rPr lang="en-US" sz="1100" b="1" dirty="0">
                <a:solidFill>
                  <a:srgbClr val="00B3E2"/>
                </a:solidFill>
                <a:latin typeface="Arial" pitchFamily="34" charset="0"/>
                <a:ea typeface="Arial" pitchFamily="34" charset="-122"/>
                <a:cs typeface="Arial" pitchFamily="34" charset="-120"/>
              </a:rPr>
              <a:t>Takeaway   </a:t>
            </a:r>
            <a:pPr indent="0" marL="0">
              <a:buNone/>
            </a:pPr>
            <a:r>
              <a:rPr lang="en-US" sz="1200" dirty="0">
                <a:solidFill>
                  <a:srgbClr val="3E3E4B"/>
                </a:solidFill>
                <a:latin typeface="Calibri" pitchFamily="34" charset="0"/>
                <a:ea typeface="Calibri" pitchFamily="34" charset="-122"/>
                <a:cs typeface="Calibri" pitchFamily="34" charset="-120"/>
              </a:rPr>
              <a:t>The correct generation emerges from calculated requirements. Selecting based on the newest hardware or the simplest diagram can conceal unacceptable routing, resilience, or cost consequences.</a:t>
            </a:r>
            <a:endParaRPr lang="en-US" sz="1100" dirty="0"/>
          </a:p>
        </p:txBody>
      </p:sp>
      <p:sp>
        <p:nvSpPr>
          <p:cNvPr id="7" name="Text 4"/>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18.3 Decision matrix</a:t>
            </a:r>
            <a:endParaRPr lang="en-US" sz="950" dirty="0"/>
          </a:p>
        </p:txBody>
      </p:sp>
      <p:sp>
        <p:nvSpPr>
          <p:cNvPr id="8" name="Text 5"/>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41</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18.4 PRESELECTION</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Fifteen calculations to complete before choosing</a:t>
            </a:r>
            <a:endParaRPr lang="en-US" sz="2800" dirty="0"/>
          </a:p>
        </p:txBody>
      </p:sp>
      <p:sp>
        <p:nvSpPr>
          <p:cNvPr id="4" name="Shape 2"/>
          <p:cNvSpPr/>
          <p:nvPr/>
        </p:nvSpPr>
        <p:spPr>
          <a:xfrm>
            <a:off x="548640" y="1371600"/>
            <a:ext cx="3575304" cy="731520"/>
          </a:xfrm>
          <a:prstGeom prst="roundRect">
            <a:avLst>
              <a:gd name="adj" fmla="val 11250"/>
            </a:avLst>
          </a:prstGeom>
          <a:solidFill>
            <a:srgbClr val="E5F7FC"/>
          </a:solidFill>
          <a:ln/>
        </p:spPr>
      </p:sp>
      <p:sp>
        <p:nvSpPr>
          <p:cNvPr id="5" name="Shape 3"/>
          <p:cNvSpPr/>
          <p:nvPr/>
        </p:nvSpPr>
        <p:spPr>
          <a:xfrm>
            <a:off x="713232" y="1572768"/>
            <a:ext cx="329184" cy="329184"/>
          </a:xfrm>
          <a:prstGeom prst="ellipse">
            <a:avLst/>
          </a:prstGeom>
          <a:solidFill>
            <a:srgbClr val="00B3E2"/>
          </a:solidFill>
          <a:ln/>
        </p:spPr>
      </p:sp>
      <p:sp>
        <p:nvSpPr>
          <p:cNvPr id="6" name="Text 4"/>
          <p:cNvSpPr/>
          <p:nvPr/>
        </p:nvSpPr>
        <p:spPr>
          <a:xfrm>
            <a:off x="713232" y="1572768"/>
            <a:ext cx="329184" cy="329184"/>
          </a:xfrm>
          <a:prstGeom prst="rect">
            <a:avLst/>
          </a:prstGeom>
          <a:noFill/>
          <a:ln/>
        </p:spPr>
        <p:txBody>
          <a:bodyPr wrap="square" lIns="0" tIns="0" rIns="0" bIns="0" rtlCol="0" anchor="ctr"/>
          <a:lstStyle/>
          <a:p>
            <a:pPr algn="ctr" indent="0" marL="0">
              <a:buNone/>
            </a:pPr>
            <a:r>
              <a:rPr lang="en-US" sz="1300" b="1" dirty="0">
                <a:solidFill>
                  <a:srgbClr val="3E3E4B"/>
                </a:solidFill>
                <a:latin typeface="Arial" pitchFamily="34" charset="0"/>
                <a:ea typeface="Arial" pitchFamily="34" charset="-122"/>
                <a:cs typeface="Arial" pitchFamily="34" charset="-120"/>
              </a:rPr>
              <a:t>1</a:t>
            </a:r>
            <a:endParaRPr lang="en-US" sz="1300" dirty="0"/>
          </a:p>
        </p:txBody>
      </p:sp>
      <p:sp>
        <p:nvSpPr>
          <p:cNvPr id="7" name="Text 5"/>
          <p:cNvSpPr/>
          <p:nvPr/>
        </p:nvSpPr>
        <p:spPr>
          <a:xfrm>
            <a:off x="1133856" y="1426464"/>
            <a:ext cx="2825496" cy="621792"/>
          </a:xfrm>
          <a:prstGeom prst="rect">
            <a:avLst/>
          </a:prstGeom>
          <a:noFill/>
          <a:ln/>
        </p:spPr>
        <p:txBody>
          <a:bodyPr wrap="square" lIns="0" tIns="0" rIns="0" bIns="0" rtlCol="0" anchor="ctr"/>
          <a:lstStyle/>
          <a:p>
            <a:pPr indent="0" marL="0">
              <a:lnSpc>
                <a:spcPts val="1400"/>
              </a:lnSpc>
              <a:buNone/>
            </a:pPr>
            <a:r>
              <a:rPr lang="en-US" sz="1150" dirty="0">
                <a:solidFill>
                  <a:srgbClr val="3E3E4B"/>
                </a:solidFill>
                <a:latin typeface="Calibri" pitchFamily="34" charset="0"/>
                <a:ea typeface="Calibri" pitchFamily="34" charset="-122"/>
                <a:cs typeface="Calibri" pitchFamily="34" charset="-120"/>
              </a:rPr>
              <a:t>Required physical cores, memory, and storage per host.</a:t>
            </a:r>
            <a:endParaRPr lang="en-US" sz="1150" dirty="0"/>
          </a:p>
        </p:txBody>
      </p:sp>
      <p:sp>
        <p:nvSpPr>
          <p:cNvPr id="8" name="Shape 6"/>
          <p:cNvSpPr/>
          <p:nvPr/>
        </p:nvSpPr>
        <p:spPr>
          <a:xfrm>
            <a:off x="548640" y="2231136"/>
            <a:ext cx="3575304" cy="731520"/>
          </a:xfrm>
          <a:prstGeom prst="roundRect">
            <a:avLst>
              <a:gd name="adj" fmla="val 11250"/>
            </a:avLst>
          </a:prstGeom>
          <a:solidFill>
            <a:srgbClr val="EBEDED"/>
          </a:solidFill>
          <a:ln/>
        </p:spPr>
      </p:sp>
      <p:sp>
        <p:nvSpPr>
          <p:cNvPr id="9" name="Shape 7"/>
          <p:cNvSpPr/>
          <p:nvPr/>
        </p:nvSpPr>
        <p:spPr>
          <a:xfrm>
            <a:off x="713232" y="2432304"/>
            <a:ext cx="329184" cy="329184"/>
          </a:xfrm>
          <a:prstGeom prst="ellipse">
            <a:avLst/>
          </a:prstGeom>
          <a:solidFill>
            <a:srgbClr val="00B3E2"/>
          </a:solidFill>
          <a:ln/>
        </p:spPr>
      </p:sp>
      <p:sp>
        <p:nvSpPr>
          <p:cNvPr id="10" name="Text 8"/>
          <p:cNvSpPr/>
          <p:nvPr/>
        </p:nvSpPr>
        <p:spPr>
          <a:xfrm>
            <a:off x="713232" y="2432304"/>
            <a:ext cx="329184" cy="329184"/>
          </a:xfrm>
          <a:prstGeom prst="rect">
            <a:avLst/>
          </a:prstGeom>
          <a:noFill/>
          <a:ln/>
        </p:spPr>
        <p:txBody>
          <a:bodyPr wrap="square" lIns="0" tIns="0" rIns="0" bIns="0" rtlCol="0" anchor="ctr"/>
          <a:lstStyle/>
          <a:p>
            <a:pPr algn="ctr" indent="0" marL="0">
              <a:buNone/>
            </a:pPr>
            <a:r>
              <a:rPr lang="en-US" sz="1300" b="1" dirty="0">
                <a:solidFill>
                  <a:srgbClr val="3E3E4B"/>
                </a:solidFill>
                <a:latin typeface="Arial" pitchFamily="34" charset="0"/>
                <a:ea typeface="Arial" pitchFamily="34" charset="-122"/>
                <a:cs typeface="Arial" pitchFamily="34" charset="-120"/>
              </a:rPr>
              <a:t>2</a:t>
            </a:r>
            <a:endParaRPr lang="en-US" sz="1300" dirty="0"/>
          </a:p>
        </p:txBody>
      </p:sp>
      <p:sp>
        <p:nvSpPr>
          <p:cNvPr id="11" name="Text 9"/>
          <p:cNvSpPr/>
          <p:nvPr/>
        </p:nvSpPr>
        <p:spPr>
          <a:xfrm>
            <a:off x="1133856" y="2286000"/>
            <a:ext cx="2825496" cy="621792"/>
          </a:xfrm>
          <a:prstGeom prst="rect">
            <a:avLst/>
          </a:prstGeom>
          <a:noFill/>
          <a:ln/>
        </p:spPr>
        <p:txBody>
          <a:bodyPr wrap="square" lIns="0" tIns="0" rIns="0" bIns="0" rtlCol="0" anchor="ctr"/>
          <a:lstStyle/>
          <a:p>
            <a:pPr indent="0" marL="0">
              <a:lnSpc>
                <a:spcPts val="1400"/>
              </a:lnSpc>
              <a:buNone/>
            </a:pPr>
            <a:r>
              <a:rPr lang="en-US" sz="1150" dirty="0">
                <a:solidFill>
                  <a:srgbClr val="3E3E4B"/>
                </a:solidFill>
                <a:latin typeface="Calibri" pitchFamily="34" charset="0"/>
                <a:ea typeface="Calibri" pitchFamily="34" charset="-122"/>
                <a:cs typeface="Calibri" pitchFamily="34" charset="-120"/>
              </a:rPr>
              <a:t>Expected host utilization and overprovisioning.</a:t>
            </a:r>
            <a:endParaRPr lang="en-US" sz="1150" dirty="0"/>
          </a:p>
        </p:txBody>
      </p:sp>
      <p:sp>
        <p:nvSpPr>
          <p:cNvPr id="12" name="Shape 10"/>
          <p:cNvSpPr/>
          <p:nvPr/>
        </p:nvSpPr>
        <p:spPr>
          <a:xfrm>
            <a:off x="548640" y="3090672"/>
            <a:ext cx="3575304" cy="731520"/>
          </a:xfrm>
          <a:prstGeom prst="roundRect">
            <a:avLst>
              <a:gd name="adj" fmla="val 11250"/>
            </a:avLst>
          </a:prstGeom>
          <a:solidFill>
            <a:srgbClr val="E5F7FC"/>
          </a:solidFill>
          <a:ln/>
        </p:spPr>
      </p:sp>
      <p:sp>
        <p:nvSpPr>
          <p:cNvPr id="13" name="Shape 11"/>
          <p:cNvSpPr/>
          <p:nvPr/>
        </p:nvSpPr>
        <p:spPr>
          <a:xfrm>
            <a:off x="713232" y="3291840"/>
            <a:ext cx="329184" cy="329184"/>
          </a:xfrm>
          <a:prstGeom prst="ellipse">
            <a:avLst/>
          </a:prstGeom>
          <a:solidFill>
            <a:srgbClr val="00B3E2"/>
          </a:solidFill>
          <a:ln/>
        </p:spPr>
      </p:sp>
      <p:sp>
        <p:nvSpPr>
          <p:cNvPr id="14" name="Text 12"/>
          <p:cNvSpPr/>
          <p:nvPr/>
        </p:nvSpPr>
        <p:spPr>
          <a:xfrm>
            <a:off x="713232" y="3291840"/>
            <a:ext cx="329184" cy="329184"/>
          </a:xfrm>
          <a:prstGeom prst="rect">
            <a:avLst/>
          </a:prstGeom>
          <a:noFill/>
          <a:ln/>
        </p:spPr>
        <p:txBody>
          <a:bodyPr wrap="square" lIns="0" tIns="0" rIns="0" bIns="0" rtlCol="0" anchor="ctr"/>
          <a:lstStyle/>
          <a:p>
            <a:pPr algn="ctr" indent="0" marL="0">
              <a:buNone/>
            </a:pPr>
            <a:r>
              <a:rPr lang="en-US" sz="1300" b="1" dirty="0">
                <a:solidFill>
                  <a:srgbClr val="3E3E4B"/>
                </a:solidFill>
                <a:latin typeface="Arial" pitchFamily="34" charset="0"/>
                <a:ea typeface="Arial" pitchFamily="34" charset="-122"/>
                <a:cs typeface="Arial" pitchFamily="34" charset="-120"/>
              </a:rPr>
              <a:t>3</a:t>
            </a:r>
            <a:endParaRPr lang="en-US" sz="1300" dirty="0"/>
          </a:p>
        </p:txBody>
      </p:sp>
      <p:sp>
        <p:nvSpPr>
          <p:cNvPr id="15" name="Text 13"/>
          <p:cNvSpPr/>
          <p:nvPr/>
        </p:nvSpPr>
        <p:spPr>
          <a:xfrm>
            <a:off x="1133856" y="3145536"/>
            <a:ext cx="2825496" cy="621792"/>
          </a:xfrm>
          <a:prstGeom prst="rect">
            <a:avLst/>
          </a:prstGeom>
          <a:noFill/>
          <a:ln/>
        </p:spPr>
        <p:txBody>
          <a:bodyPr wrap="square" lIns="0" tIns="0" rIns="0" bIns="0" rtlCol="0" anchor="ctr"/>
          <a:lstStyle/>
          <a:p>
            <a:pPr indent="0" marL="0">
              <a:lnSpc>
                <a:spcPts val="1400"/>
              </a:lnSpc>
              <a:buNone/>
            </a:pPr>
            <a:r>
              <a:rPr lang="en-US" sz="1150" dirty="0">
                <a:solidFill>
                  <a:srgbClr val="3E3E4B"/>
                </a:solidFill>
                <a:latin typeface="Calibri" pitchFamily="34" charset="0"/>
                <a:ea typeface="Calibri" pitchFamily="34" charset="-122"/>
                <a:cs typeface="Calibri" pitchFamily="34" charset="-120"/>
              </a:rPr>
              <a:t>Storage I/O patterns and cache-pressure risk.</a:t>
            </a:r>
            <a:endParaRPr lang="en-US" sz="1150" dirty="0"/>
          </a:p>
        </p:txBody>
      </p:sp>
      <p:sp>
        <p:nvSpPr>
          <p:cNvPr id="16" name="Shape 14"/>
          <p:cNvSpPr/>
          <p:nvPr/>
        </p:nvSpPr>
        <p:spPr>
          <a:xfrm>
            <a:off x="548640" y="3950208"/>
            <a:ext cx="3575304" cy="731520"/>
          </a:xfrm>
          <a:prstGeom prst="roundRect">
            <a:avLst>
              <a:gd name="adj" fmla="val 11250"/>
            </a:avLst>
          </a:prstGeom>
          <a:solidFill>
            <a:srgbClr val="EBEDED"/>
          </a:solidFill>
          <a:ln/>
        </p:spPr>
      </p:sp>
      <p:sp>
        <p:nvSpPr>
          <p:cNvPr id="17" name="Shape 15"/>
          <p:cNvSpPr/>
          <p:nvPr/>
        </p:nvSpPr>
        <p:spPr>
          <a:xfrm>
            <a:off x="713232" y="4151376"/>
            <a:ext cx="329184" cy="329184"/>
          </a:xfrm>
          <a:prstGeom prst="ellipse">
            <a:avLst/>
          </a:prstGeom>
          <a:solidFill>
            <a:srgbClr val="00B3E2"/>
          </a:solidFill>
          <a:ln/>
        </p:spPr>
      </p:sp>
      <p:sp>
        <p:nvSpPr>
          <p:cNvPr id="18" name="Text 16"/>
          <p:cNvSpPr/>
          <p:nvPr/>
        </p:nvSpPr>
        <p:spPr>
          <a:xfrm>
            <a:off x="713232" y="4151376"/>
            <a:ext cx="329184" cy="329184"/>
          </a:xfrm>
          <a:prstGeom prst="rect">
            <a:avLst/>
          </a:prstGeom>
          <a:noFill/>
          <a:ln/>
        </p:spPr>
        <p:txBody>
          <a:bodyPr wrap="square" lIns="0" tIns="0" rIns="0" bIns="0" rtlCol="0" anchor="ctr"/>
          <a:lstStyle/>
          <a:p>
            <a:pPr algn="ctr" indent="0" marL="0">
              <a:buNone/>
            </a:pPr>
            <a:r>
              <a:rPr lang="en-US" sz="1300" b="1" dirty="0">
                <a:solidFill>
                  <a:srgbClr val="3E3E4B"/>
                </a:solidFill>
                <a:latin typeface="Arial" pitchFamily="34" charset="0"/>
                <a:ea typeface="Arial" pitchFamily="34" charset="-122"/>
                <a:cs typeface="Arial" pitchFamily="34" charset="-120"/>
              </a:rPr>
              <a:t>4</a:t>
            </a:r>
            <a:endParaRPr lang="en-US" sz="1300" dirty="0"/>
          </a:p>
        </p:txBody>
      </p:sp>
      <p:sp>
        <p:nvSpPr>
          <p:cNvPr id="19" name="Text 17"/>
          <p:cNvSpPr/>
          <p:nvPr/>
        </p:nvSpPr>
        <p:spPr>
          <a:xfrm>
            <a:off x="1133856" y="4005072"/>
            <a:ext cx="2825496" cy="621792"/>
          </a:xfrm>
          <a:prstGeom prst="rect">
            <a:avLst/>
          </a:prstGeom>
          <a:noFill/>
          <a:ln/>
        </p:spPr>
        <p:txBody>
          <a:bodyPr wrap="square" lIns="0" tIns="0" rIns="0" bIns="0" rtlCol="0" anchor="ctr"/>
          <a:lstStyle/>
          <a:p>
            <a:pPr indent="0" marL="0">
              <a:lnSpc>
                <a:spcPts val="1400"/>
              </a:lnSpc>
              <a:buNone/>
            </a:pPr>
            <a:r>
              <a:rPr lang="en-US" sz="1150" dirty="0">
                <a:solidFill>
                  <a:srgbClr val="3E3E4B"/>
                </a:solidFill>
                <a:latin typeface="Calibri" pitchFamily="34" charset="0"/>
                <a:ea typeface="Calibri" pitchFamily="34" charset="-122"/>
                <a:cs typeface="Calibri" pitchFamily="34" charset="-120"/>
              </a:rPr>
              <a:t>East-west and north-south network throughput.</a:t>
            </a:r>
            <a:endParaRPr lang="en-US" sz="1150" dirty="0"/>
          </a:p>
        </p:txBody>
      </p:sp>
      <p:sp>
        <p:nvSpPr>
          <p:cNvPr id="20" name="Shape 18"/>
          <p:cNvSpPr/>
          <p:nvPr/>
        </p:nvSpPr>
        <p:spPr>
          <a:xfrm>
            <a:off x="548640" y="4809744"/>
            <a:ext cx="3575304" cy="731520"/>
          </a:xfrm>
          <a:prstGeom prst="roundRect">
            <a:avLst>
              <a:gd name="adj" fmla="val 11250"/>
            </a:avLst>
          </a:prstGeom>
          <a:solidFill>
            <a:srgbClr val="E5F7FC"/>
          </a:solidFill>
          <a:ln/>
        </p:spPr>
      </p:sp>
      <p:sp>
        <p:nvSpPr>
          <p:cNvPr id="21" name="Shape 19"/>
          <p:cNvSpPr/>
          <p:nvPr/>
        </p:nvSpPr>
        <p:spPr>
          <a:xfrm>
            <a:off x="713232" y="5010912"/>
            <a:ext cx="329184" cy="329184"/>
          </a:xfrm>
          <a:prstGeom prst="ellipse">
            <a:avLst/>
          </a:prstGeom>
          <a:solidFill>
            <a:srgbClr val="00B3E2"/>
          </a:solidFill>
          <a:ln/>
        </p:spPr>
      </p:sp>
      <p:sp>
        <p:nvSpPr>
          <p:cNvPr id="22" name="Text 20"/>
          <p:cNvSpPr/>
          <p:nvPr/>
        </p:nvSpPr>
        <p:spPr>
          <a:xfrm>
            <a:off x="713232" y="5010912"/>
            <a:ext cx="329184" cy="329184"/>
          </a:xfrm>
          <a:prstGeom prst="rect">
            <a:avLst/>
          </a:prstGeom>
          <a:noFill/>
          <a:ln/>
        </p:spPr>
        <p:txBody>
          <a:bodyPr wrap="square" lIns="0" tIns="0" rIns="0" bIns="0" rtlCol="0" anchor="ctr"/>
          <a:lstStyle/>
          <a:p>
            <a:pPr algn="ctr" indent="0" marL="0">
              <a:buNone/>
            </a:pPr>
            <a:r>
              <a:rPr lang="en-US" sz="1300" b="1" dirty="0">
                <a:solidFill>
                  <a:srgbClr val="3E3E4B"/>
                </a:solidFill>
                <a:latin typeface="Arial" pitchFamily="34" charset="0"/>
                <a:ea typeface="Arial" pitchFamily="34" charset="-122"/>
                <a:cs typeface="Arial" pitchFamily="34" charset="-120"/>
              </a:rPr>
              <a:t>5</a:t>
            </a:r>
            <a:endParaRPr lang="en-US" sz="1300" dirty="0"/>
          </a:p>
        </p:txBody>
      </p:sp>
      <p:sp>
        <p:nvSpPr>
          <p:cNvPr id="23" name="Text 21"/>
          <p:cNvSpPr/>
          <p:nvPr/>
        </p:nvSpPr>
        <p:spPr>
          <a:xfrm>
            <a:off x="1133856" y="4864608"/>
            <a:ext cx="2825496" cy="621792"/>
          </a:xfrm>
          <a:prstGeom prst="rect">
            <a:avLst/>
          </a:prstGeom>
          <a:noFill/>
          <a:ln/>
        </p:spPr>
        <p:txBody>
          <a:bodyPr wrap="square" lIns="0" tIns="0" rIns="0" bIns="0" rtlCol="0" anchor="ctr"/>
          <a:lstStyle/>
          <a:p>
            <a:pPr indent="0" marL="0">
              <a:lnSpc>
                <a:spcPts val="1400"/>
              </a:lnSpc>
              <a:buNone/>
            </a:pPr>
            <a:r>
              <a:rPr lang="en-US" sz="1150" dirty="0">
                <a:solidFill>
                  <a:srgbClr val="3E3E4B"/>
                </a:solidFill>
                <a:latin typeface="Calibri" pitchFamily="34" charset="0"/>
                <a:ea typeface="Calibri" pitchFamily="34" charset="-122"/>
                <a:cs typeface="Calibri" pitchFamily="34" charset="-120"/>
              </a:rPr>
              <a:t>Number and size of NSX segments.</a:t>
            </a:r>
            <a:endParaRPr lang="en-US" sz="1150" dirty="0"/>
          </a:p>
        </p:txBody>
      </p:sp>
      <p:sp>
        <p:nvSpPr>
          <p:cNvPr id="24" name="Shape 22"/>
          <p:cNvSpPr/>
          <p:nvPr/>
        </p:nvSpPr>
        <p:spPr>
          <a:xfrm>
            <a:off x="4306824" y="1371600"/>
            <a:ext cx="3575304" cy="731520"/>
          </a:xfrm>
          <a:prstGeom prst="roundRect">
            <a:avLst>
              <a:gd name="adj" fmla="val 11250"/>
            </a:avLst>
          </a:prstGeom>
          <a:solidFill>
            <a:srgbClr val="EBEDED"/>
          </a:solidFill>
          <a:ln/>
        </p:spPr>
      </p:sp>
      <p:sp>
        <p:nvSpPr>
          <p:cNvPr id="25" name="Shape 23"/>
          <p:cNvSpPr/>
          <p:nvPr/>
        </p:nvSpPr>
        <p:spPr>
          <a:xfrm>
            <a:off x="4471416" y="1572768"/>
            <a:ext cx="329184" cy="329184"/>
          </a:xfrm>
          <a:prstGeom prst="ellipse">
            <a:avLst/>
          </a:prstGeom>
          <a:solidFill>
            <a:srgbClr val="00B3E2"/>
          </a:solidFill>
          <a:ln/>
        </p:spPr>
      </p:sp>
      <p:sp>
        <p:nvSpPr>
          <p:cNvPr id="26" name="Text 24"/>
          <p:cNvSpPr/>
          <p:nvPr/>
        </p:nvSpPr>
        <p:spPr>
          <a:xfrm>
            <a:off x="4471416" y="1572768"/>
            <a:ext cx="329184" cy="329184"/>
          </a:xfrm>
          <a:prstGeom prst="rect">
            <a:avLst/>
          </a:prstGeom>
          <a:noFill/>
          <a:ln/>
        </p:spPr>
        <p:txBody>
          <a:bodyPr wrap="square" lIns="0" tIns="0" rIns="0" bIns="0" rtlCol="0" anchor="ctr"/>
          <a:lstStyle/>
          <a:p>
            <a:pPr algn="ctr" indent="0" marL="0">
              <a:buNone/>
            </a:pPr>
            <a:r>
              <a:rPr lang="en-US" sz="1300" b="1" dirty="0">
                <a:solidFill>
                  <a:srgbClr val="3E3E4B"/>
                </a:solidFill>
                <a:latin typeface="Arial" pitchFamily="34" charset="0"/>
                <a:ea typeface="Arial" pitchFamily="34" charset="-122"/>
                <a:cs typeface="Arial" pitchFamily="34" charset="-120"/>
              </a:rPr>
              <a:t>6</a:t>
            </a:r>
            <a:endParaRPr lang="en-US" sz="1300" dirty="0"/>
          </a:p>
        </p:txBody>
      </p:sp>
      <p:sp>
        <p:nvSpPr>
          <p:cNvPr id="27" name="Text 25"/>
          <p:cNvSpPr/>
          <p:nvPr/>
        </p:nvSpPr>
        <p:spPr>
          <a:xfrm>
            <a:off x="4892040" y="1426464"/>
            <a:ext cx="2825496" cy="621792"/>
          </a:xfrm>
          <a:prstGeom prst="rect">
            <a:avLst/>
          </a:prstGeom>
          <a:noFill/>
          <a:ln/>
        </p:spPr>
        <p:txBody>
          <a:bodyPr wrap="square" lIns="0" tIns="0" rIns="0" bIns="0" rtlCol="0" anchor="ctr"/>
          <a:lstStyle/>
          <a:p>
            <a:pPr indent="0" marL="0">
              <a:lnSpc>
                <a:spcPts val="1400"/>
              </a:lnSpc>
              <a:buNone/>
            </a:pPr>
            <a:r>
              <a:rPr lang="en-US" sz="1150" dirty="0">
                <a:solidFill>
                  <a:srgbClr val="3E3E4B"/>
                </a:solidFill>
                <a:latin typeface="Calibri" pitchFamily="34" charset="0"/>
                <a:ea typeface="Calibri" pitchFamily="34" charset="-122"/>
                <a:cs typeface="Calibri" pitchFamily="34" charset="-120"/>
              </a:rPr>
              <a:t>VNet prefix count.</a:t>
            </a:r>
            <a:endParaRPr lang="en-US" sz="1150" dirty="0"/>
          </a:p>
        </p:txBody>
      </p:sp>
      <p:sp>
        <p:nvSpPr>
          <p:cNvPr id="28" name="Shape 26"/>
          <p:cNvSpPr/>
          <p:nvPr/>
        </p:nvSpPr>
        <p:spPr>
          <a:xfrm>
            <a:off x="4306824" y="2231136"/>
            <a:ext cx="3575304" cy="731520"/>
          </a:xfrm>
          <a:prstGeom prst="roundRect">
            <a:avLst>
              <a:gd name="adj" fmla="val 11250"/>
            </a:avLst>
          </a:prstGeom>
          <a:solidFill>
            <a:srgbClr val="E5F7FC"/>
          </a:solidFill>
          <a:ln/>
        </p:spPr>
      </p:sp>
      <p:sp>
        <p:nvSpPr>
          <p:cNvPr id="29" name="Shape 27"/>
          <p:cNvSpPr/>
          <p:nvPr/>
        </p:nvSpPr>
        <p:spPr>
          <a:xfrm>
            <a:off x="4471416" y="2432304"/>
            <a:ext cx="329184" cy="329184"/>
          </a:xfrm>
          <a:prstGeom prst="ellipse">
            <a:avLst/>
          </a:prstGeom>
          <a:solidFill>
            <a:srgbClr val="00B3E2"/>
          </a:solidFill>
          <a:ln/>
        </p:spPr>
      </p:sp>
      <p:sp>
        <p:nvSpPr>
          <p:cNvPr id="30" name="Text 28"/>
          <p:cNvSpPr/>
          <p:nvPr/>
        </p:nvSpPr>
        <p:spPr>
          <a:xfrm>
            <a:off x="4471416" y="2432304"/>
            <a:ext cx="329184" cy="329184"/>
          </a:xfrm>
          <a:prstGeom prst="rect">
            <a:avLst/>
          </a:prstGeom>
          <a:noFill/>
          <a:ln/>
        </p:spPr>
        <p:txBody>
          <a:bodyPr wrap="square" lIns="0" tIns="0" rIns="0" bIns="0" rtlCol="0" anchor="ctr"/>
          <a:lstStyle/>
          <a:p>
            <a:pPr algn="ctr" indent="0" marL="0">
              <a:buNone/>
            </a:pPr>
            <a:r>
              <a:rPr lang="en-US" sz="1300" b="1" dirty="0">
                <a:solidFill>
                  <a:srgbClr val="3E3E4B"/>
                </a:solidFill>
                <a:latin typeface="Arial" pitchFamily="34" charset="0"/>
                <a:ea typeface="Arial" pitchFamily="34" charset="-122"/>
                <a:cs typeface="Arial" pitchFamily="34" charset="-120"/>
              </a:rPr>
              <a:t>7</a:t>
            </a:r>
            <a:endParaRPr lang="en-US" sz="1300" dirty="0"/>
          </a:p>
        </p:txBody>
      </p:sp>
      <p:sp>
        <p:nvSpPr>
          <p:cNvPr id="31" name="Text 29"/>
          <p:cNvSpPr/>
          <p:nvPr/>
        </p:nvSpPr>
        <p:spPr>
          <a:xfrm>
            <a:off x="4892040" y="2286000"/>
            <a:ext cx="2825496" cy="621792"/>
          </a:xfrm>
          <a:prstGeom prst="rect">
            <a:avLst/>
          </a:prstGeom>
          <a:noFill/>
          <a:ln/>
        </p:spPr>
        <p:txBody>
          <a:bodyPr wrap="square" lIns="0" tIns="0" rIns="0" bIns="0" rtlCol="0" anchor="ctr"/>
          <a:lstStyle/>
          <a:p>
            <a:pPr indent="0" marL="0">
              <a:lnSpc>
                <a:spcPts val="1400"/>
              </a:lnSpc>
              <a:buNone/>
            </a:pPr>
            <a:r>
              <a:rPr lang="en-US" sz="1150" dirty="0">
                <a:solidFill>
                  <a:srgbClr val="3E3E4B"/>
                </a:solidFill>
                <a:latin typeface="Calibri" pitchFamily="34" charset="0"/>
                <a:ea typeface="Calibri" pitchFamily="34" charset="-122"/>
                <a:cs typeface="Calibri" pitchFamily="34" charset="-120"/>
              </a:rPr>
              <a:t>/28 T0 programming-unit count.</a:t>
            </a:r>
            <a:endParaRPr lang="en-US" sz="1150" dirty="0"/>
          </a:p>
        </p:txBody>
      </p:sp>
      <p:sp>
        <p:nvSpPr>
          <p:cNvPr id="32" name="Shape 30"/>
          <p:cNvSpPr/>
          <p:nvPr/>
        </p:nvSpPr>
        <p:spPr>
          <a:xfrm>
            <a:off x="4306824" y="3090672"/>
            <a:ext cx="3575304" cy="731520"/>
          </a:xfrm>
          <a:prstGeom prst="roundRect">
            <a:avLst>
              <a:gd name="adj" fmla="val 11250"/>
            </a:avLst>
          </a:prstGeom>
          <a:solidFill>
            <a:srgbClr val="EBEDED"/>
          </a:solidFill>
          <a:ln/>
        </p:spPr>
      </p:sp>
      <p:sp>
        <p:nvSpPr>
          <p:cNvPr id="33" name="Shape 31"/>
          <p:cNvSpPr/>
          <p:nvPr/>
        </p:nvSpPr>
        <p:spPr>
          <a:xfrm>
            <a:off x="4471416" y="3291840"/>
            <a:ext cx="329184" cy="329184"/>
          </a:xfrm>
          <a:prstGeom prst="ellipse">
            <a:avLst/>
          </a:prstGeom>
          <a:solidFill>
            <a:srgbClr val="00B3E2"/>
          </a:solidFill>
          <a:ln/>
        </p:spPr>
      </p:sp>
      <p:sp>
        <p:nvSpPr>
          <p:cNvPr id="34" name="Text 32"/>
          <p:cNvSpPr/>
          <p:nvPr/>
        </p:nvSpPr>
        <p:spPr>
          <a:xfrm>
            <a:off x="4471416" y="3291840"/>
            <a:ext cx="329184" cy="329184"/>
          </a:xfrm>
          <a:prstGeom prst="rect">
            <a:avLst/>
          </a:prstGeom>
          <a:noFill/>
          <a:ln/>
        </p:spPr>
        <p:txBody>
          <a:bodyPr wrap="square" lIns="0" tIns="0" rIns="0" bIns="0" rtlCol="0" anchor="ctr"/>
          <a:lstStyle/>
          <a:p>
            <a:pPr algn="ctr" indent="0" marL="0">
              <a:buNone/>
            </a:pPr>
            <a:r>
              <a:rPr lang="en-US" sz="1300" b="1" dirty="0">
                <a:solidFill>
                  <a:srgbClr val="3E3E4B"/>
                </a:solidFill>
                <a:latin typeface="Arial" pitchFamily="34" charset="0"/>
                <a:ea typeface="Arial" pitchFamily="34" charset="-122"/>
                <a:cs typeface="Arial" pitchFamily="34" charset="-120"/>
              </a:rPr>
              <a:t>8</a:t>
            </a:r>
            <a:endParaRPr lang="en-US" sz="1300" dirty="0"/>
          </a:p>
        </p:txBody>
      </p:sp>
      <p:sp>
        <p:nvSpPr>
          <p:cNvPr id="35" name="Text 33"/>
          <p:cNvSpPr/>
          <p:nvPr/>
        </p:nvSpPr>
        <p:spPr>
          <a:xfrm>
            <a:off x="4892040" y="3145536"/>
            <a:ext cx="2825496" cy="621792"/>
          </a:xfrm>
          <a:prstGeom prst="rect">
            <a:avLst/>
          </a:prstGeom>
          <a:noFill/>
          <a:ln/>
        </p:spPr>
        <p:txBody>
          <a:bodyPr wrap="square" lIns="0" tIns="0" rIns="0" bIns="0" rtlCol="0" anchor="ctr"/>
          <a:lstStyle/>
          <a:p>
            <a:pPr indent="0" marL="0">
              <a:lnSpc>
                <a:spcPts val="1400"/>
              </a:lnSpc>
              <a:buNone/>
            </a:pPr>
            <a:r>
              <a:rPr lang="en-US" sz="1150" dirty="0">
                <a:solidFill>
                  <a:srgbClr val="3E3E4B"/>
                </a:solidFill>
                <a:latin typeface="Calibri" pitchFamily="34" charset="0"/>
                <a:ea typeface="Calibri" pitchFamily="34" charset="-122"/>
                <a:cs typeface="Calibri" pitchFamily="34" charset="-120"/>
              </a:rPr>
              <a:t>Peak HCX MON /32 count.</a:t>
            </a:r>
            <a:endParaRPr lang="en-US" sz="1150" dirty="0"/>
          </a:p>
        </p:txBody>
      </p:sp>
      <p:sp>
        <p:nvSpPr>
          <p:cNvPr id="36" name="Shape 34"/>
          <p:cNvSpPr/>
          <p:nvPr/>
        </p:nvSpPr>
        <p:spPr>
          <a:xfrm>
            <a:off x="4306824" y="3950208"/>
            <a:ext cx="3575304" cy="731520"/>
          </a:xfrm>
          <a:prstGeom prst="roundRect">
            <a:avLst>
              <a:gd name="adj" fmla="val 11250"/>
            </a:avLst>
          </a:prstGeom>
          <a:solidFill>
            <a:srgbClr val="E5F7FC"/>
          </a:solidFill>
          <a:ln/>
        </p:spPr>
      </p:sp>
      <p:sp>
        <p:nvSpPr>
          <p:cNvPr id="37" name="Shape 35"/>
          <p:cNvSpPr/>
          <p:nvPr/>
        </p:nvSpPr>
        <p:spPr>
          <a:xfrm>
            <a:off x="4471416" y="4151376"/>
            <a:ext cx="329184" cy="329184"/>
          </a:xfrm>
          <a:prstGeom prst="ellipse">
            <a:avLst/>
          </a:prstGeom>
          <a:solidFill>
            <a:srgbClr val="00B3E2"/>
          </a:solidFill>
          <a:ln/>
        </p:spPr>
      </p:sp>
      <p:sp>
        <p:nvSpPr>
          <p:cNvPr id="38" name="Text 36"/>
          <p:cNvSpPr/>
          <p:nvPr/>
        </p:nvSpPr>
        <p:spPr>
          <a:xfrm>
            <a:off x="4471416" y="4151376"/>
            <a:ext cx="329184" cy="329184"/>
          </a:xfrm>
          <a:prstGeom prst="rect">
            <a:avLst/>
          </a:prstGeom>
          <a:noFill/>
          <a:ln/>
        </p:spPr>
        <p:txBody>
          <a:bodyPr wrap="square" lIns="0" tIns="0" rIns="0" bIns="0" rtlCol="0" anchor="ctr"/>
          <a:lstStyle/>
          <a:p>
            <a:pPr algn="ctr" indent="0" marL="0">
              <a:buNone/>
            </a:pPr>
            <a:r>
              <a:rPr lang="en-US" sz="1300" b="1" dirty="0">
                <a:solidFill>
                  <a:srgbClr val="3E3E4B"/>
                </a:solidFill>
                <a:latin typeface="Arial" pitchFamily="34" charset="0"/>
                <a:ea typeface="Arial" pitchFamily="34" charset="-122"/>
                <a:cs typeface="Arial" pitchFamily="34" charset="-120"/>
              </a:rPr>
              <a:t>9</a:t>
            </a:r>
            <a:endParaRPr lang="en-US" sz="1300" dirty="0"/>
          </a:p>
        </p:txBody>
      </p:sp>
      <p:sp>
        <p:nvSpPr>
          <p:cNvPr id="39" name="Text 37"/>
          <p:cNvSpPr/>
          <p:nvPr/>
        </p:nvSpPr>
        <p:spPr>
          <a:xfrm>
            <a:off x="4892040" y="4005072"/>
            <a:ext cx="2825496" cy="621792"/>
          </a:xfrm>
          <a:prstGeom prst="rect">
            <a:avLst/>
          </a:prstGeom>
          <a:noFill/>
          <a:ln/>
        </p:spPr>
        <p:txBody>
          <a:bodyPr wrap="square" lIns="0" tIns="0" rIns="0" bIns="0" rtlCol="0" anchor="ctr"/>
          <a:lstStyle/>
          <a:p>
            <a:pPr indent="0" marL="0">
              <a:lnSpc>
                <a:spcPts val="1400"/>
              </a:lnSpc>
              <a:buNone/>
            </a:pPr>
            <a:r>
              <a:rPr lang="en-US" sz="1150" dirty="0">
                <a:solidFill>
                  <a:srgbClr val="3E3E4B"/>
                </a:solidFill>
                <a:latin typeface="Calibri" pitchFamily="34" charset="0"/>
                <a:ea typeface="Calibri" pitchFamily="34" charset="-122"/>
                <a:cs typeface="Calibri" pitchFamily="34" charset="-120"/>
              </a:rPr>
              <a:t>Migration base-sync duration.</a:t>
            </a:r>
            <a:endParaRPr lang="en-US" sz="1150" dirty="0"/>
          </a:p>
        </p:txBody>
      </p:sp>
      <p:sp>
        <p:nvSpPr>
          <p:cNvPr id="40" name="Shape 38"/>
          <p:cNvSpPr/>
          <p:nvPr/>
        </p:nvSpPr>
        <p:spPr>
          <a:xfrm>
            <a:off x="4306824" y="4809744"/>
            <a:ext cx="3575304" cy="731520"/>
          </a:xfrm>
          <a:prstGeom prst="roundRect">
            <a:avLst>
              <a:gd name="adj" fmla="val 11250"/>
            </a:avLst>
          </a:prstGeom>
          <a:solidFill>
            <a:srgbClr val="EBEDED"/>
          </a:solidFill>
          <a:ln/>
        </p:spPr>
      </p:sp>
      <p:sp>
        <p:nvSpPr>
          <p:cNvPr id="41" name="Shape 39"/>
          <p:cNvSpPr/>
          <p:nvPr/>
        </p:nvSpPr>
        <p:spPr>
          <a:xfrm>
            <a:off x="4471416" y="5010912"/>
            <a:ext cx="329184" cy="329184"/>
          </a:xfrm>
          <a:prstGeom prst="ellipse">
            <a:avLst/>
          </a:prstGeom>
          <a:solidFill>
            <a:srgbClr val="00B3E2"/>
          </a:solidFill>
          <a:ln/>
        </p:spPr>
      </p:sp>
      <p:sp>
        <p:nvSpPr>
          <p:cNvPr id="42" name="Text 40"/>
          <p:cNvSpPr/>
          <p:nvPr/>
        </p:nvSpPr>
        <p:spPr>
          <a:xfrm>
            <a:off x="4471416" y="5010912"/>
            <a:ext cx="329184" cy="329184"/>
          </a:xfrm>
          <a:prstGeom prst="rect">
            <a:avLst/>
          </a:prstGeom>
          <a:noFill/>
          <a:ln/>
        </p:spPr>
        <p:txBody>
          <a:bodyPr wrap="square" lIns="0" tIns="0" rIns="0" bIns="0" rtlCol="0" anchor="ctr"/>
          <a:lstStyle/>
          <a:p>
            <a:pPr algn="ctr" indent="0" marL="0">
              <a:buNone/>
            </a:pPr>
            <a:r>
              <a:rPr lang="en-US" sz="1300" b="1" dirty="0">
                <a:solidFill>
                  <a:srgbClr val="3E3E4B"/>
                </a:solidFill>
                <a:latin typeface="Arial" pitchFamily="34" charset="0"/>
                <a:ea typeface="Arial" pitchFamily="34" charset="-122"/>
                <a:cs typeface="Arial" pitchFamily="34" charset="-120"/>
              </a:rPr>
              <a:t>10</a:t>
            </a:r>
            <a:endParaRPr lang="en-US" sz="1300" dirty="0"/>
          </a:p>
        </p:txBody>
      </p:sp>
      <p:sp>
        <p:nvSpPr>
          <p:cNvPr id="43" name="Text 41"/>
          <p:cNvSpPr/>
          <p:nvPr/>
        </p:nvSpPr>
        <p:spPr>
          <a:xfrm>
            <a:off x="4892040" y="4864608"/>
            <a:ext cx="2825496" cy="621792"/>
          </a:xfrm>
          <a:prstGeom prst="rect">
            <a:avLst/>
          </a:prstGeom>
          <a:noFill/>
          <a:ln/>
        </p:spPr>
        <p:txBody>
          <a:bodyPr wrap="square" lIns="0" tIns="0" rIns="0" bIns="0" rtlCol="0" anchor="ctr"/>
          <a:lstStyle/>
          <a:p>
            <a:pPr indent="0" marL="0">
              <a:lnSpc>
                <a:spcPts val="1400"/>
              </a:lnSpc>
              <a:buNone/>
            </a:pPr>
            <a:r>
              <a:rPr lang="en-US" sz="1150" dirty="0">
                <a:solidFill>
                  <a:srgbClr val="3E3E4B"/>
                </a:solidFill>
                <a:latin typeface="Calibri" pitchFamily="34" charset="0"/>
                <a:ea typeface="Calibri" pitchFamily="34" charset="-122"/>
                <a:cs typeface="Calibri" pitchFamily="34" charset="-120"/>
              </a:rPr>
              <a:t>Required RPO and recovery time objective.</a:t>
            </a:r>
            <a:endParaRPr lang="en-US" sz="1150" dirty="0"/>
          </a:p>
        </p:txBody>
      </p:sp>
      <p:sp>
        <p:nvSpPr>
          <p:cNvPr id="44" name="Shape 42"/>
          <p:cNvSpPr/>
          <p:nvPr/>
        </p:nvSpPr>
        <p:spPr>
          <a:xfrm>
            <a:off x="8065008" y="1371600"/>
            <a:ext cx="3575304" cy="731520"/>
          </a:xfrm>
          <a:prstGeom prst="roundRect">
            <a:avLst>
              <a:gd name="adj" fmla="val 11250"/>
            </a:avLst>
          </a:prstGeom>
          <a:solidFill>
            <a:srgbClr val="E5F7FC"/>
          </a:solidFill>
          <a:ln/>
        </p:spPr>
      </p:sp>
      <p:sp>
        <p:nvSpPr>
          <p:cNvPr id="45" name="Shape 43"/>
          <p:cNvSpPr/>
          <p:nvPr/>
        </p:nvSpPr>
        <p:spPr>
          <a:xfrm>
            <a:off x="8229600" y="1572768"/>
            <a:ext cx="329184" cy="329184"/>
          </a:xfrm>
          <a:prstGeom prst="ellipse">
            <a:avLst/>
          </a:prstGeom>
          <a:solidFill>
            <a:srgbClr val="00B3E2"/>
          </a:solidFill>
          <a:ln/>
        </p:spPr>
      </p:sp>
      <p:sp>
        <p:nvSpPr>
          <p:cNvPr id="46" name="Text 44"/>
          <p:cNvSpPr/>
          <p:nvPr/>
        </p:nvSpPr>
        <p:spPr>
          <a:xfrm>
            <a:off x="8229600" y="1572768"/>
            <a:ext cx="329184" cy="329184"/>
          </a:xfrm>
          <a:prstGeom prst="rect">
            <a:avLst/>
          </a:prstGeom>
          <a:noFill/>
          <a:ln/>
        </p:spPr>
        <p:txBody>
          <a:bodyPr wrap="square" lIns="0" tIns="0" rIns="0" bIns="0" rtlCol="0" anchor="ctr"/>
          <a:lstStyle/>
          <a:p>
            <a:pPr algn="ctr" indent="0" marL="0">
              <a:buNone/>
            </a:pPr>
            <a:r>
              <a:rPr lang="en-US" sz="1300" b="1" dirty="0">
                <a:solidFill>
                  <a:srgbClr val="3E3E4B"/>
                </a:solidFill>
                <a:latin typeface="Arial" pitchFamily="34" charset="0"/>
                <a:ea typeface="Arial" pitchFamily="34" charset="-122"/>
                <a:cs typeface="Arial" pitchFamily="34" charset="-120"/>
              </a:rPr>
              <a:t>11</a:t>
            </a:r>
            <a:endParaRPr lang="en-US" sz="1300" dirty="0"/>
          </a:p>
        </p:txBody>
      </p:sp>
      <p:sp>
        <p:nvSpPr>
          <p:cNvPr id="47" name="Text 45"/>
          <p:cNvSpPr/>
          <p:nvPr/>
        </p:nvSpPr>
        <p:spPr>
          <a:xfrm>
            <a:off x="8650224" y="1426464"/>
            <a:ext cx="2825496" cy="621792"/>
          </a:xfrm>
          <a:prstGeom prst="rect">
            <a:avLst/>
          </a:prstGeom>
          <a:noFill/>
          <a:ln/>
        </p:spPr>
        <p:txBody>
          <a:bodyPr wrap="square" lIns="0" tIns="0" rIns="0" bIns="0" rtlCol="0" anchor="ctr"/>
          <a:lstStyle/>
          <a:p>
            <a:pPr indent="0" marL="0">
              <a:lnSpc>
                <a:spcPts val="1400"/>
              </a:lnSpc>
              <a:buNone/>
            </a:pPr>
            <a:r>
              <a:rPr lang="en-US" sz="1150" dirty="0">
                <a:solidFill>
                  <a:srgbClr val="3E3E4B"/>
                </a:solidFill>
                <a:latin typeface="Calibri" pitchFamily="34" charset="0"/>
                <a:ea typeface="Calibri" pitchFamily="34" charset="-122"/>
                <a:cs typeface="Calibri" pitchFamily="34" charset="-120"/>
              </a:rPr>
              <a:t>Availability-zone failure tolerance.</a:t>
            </a:r>
            <a:endParaRPr lang="en-US" sz="1150" dirty="0"/>
          </a:p>
        </p:txBody>
      </p:sp>
      <p:sp>
        <p:nvSpPr>
          <p:cNvPr id="48" name="Shape 46"/>
          <p:cNvSpPr/>
          <p:nvPr/>
        </p:nvSpPr>
        <p:spPr>
          <a:xfrm>
            <a:off x="8065008" y="2231136"/>
            <a:ext cx="3575304" cy="731520"/>
          </a:xfrm>
          <a:prstGeom prst="roundRect">
            <a:avLst>
              <a:gd name="adj" fmla="val 11250"/>
            </a:avLst>
          </a:prstGeom>
          <a:solidFill>
            <a:srgbClr val="EBEDED"/>
          </a:solidFill>
          <a:ln/>
        </p:spPr>
      </p:sp>
      <p:sp>
        <p:nvSpPr>
          <p:cNvPr id="49" name="Shape 47"/>
          <p:cNvSpPr/>
          <p:nvPr/>
        </p:nvSpPr>
        <p:spPr>
          <a:xfrm>
            <a:off x="8229600" y="2432304"/>
            <a:ext cx="329184" cy="329184"/>
          </a:xfrm>
          <a:prstGeom prst="ellipse">
            <a:avLst/>
          </a:prstGeom>
          <a:solidFill>
            <a:srgbClr val="00B3E2"/>
          </a:solidFill>
          <a:ln/>
        </p:spPr>
      </p:sp>
      <p:sp>
        <p:nvSpPr>
          <p:cNvPr id="50" name="Text 48"/>
          <p:cNvSpPr/>
          <p:nvPr/>
        </p:nvSpPr>
        <p:spPr>
          <a:xfrm>
            <a:off x="8229600" y="2432304"/>
            <a:ext cx="329184" cy="329184"/>
          </a:xfrm>
          <a:prstGeom prst="rect">
            <a:avLst/>
          </a:prstGeom>
          <a:noFill/>
          <a:ln/>
        </p:spPr>
        <p:txBody>
          <a:bodyPr wrap="square" lIns="0" tIns="0" rIns="0" bIns="0" rtlCol="0" anchor="ctr"/>
          <a:lstStyle/>
          <a:p>
            <a:pPr algn="ctr" indent="0" marL="0">
              <a:buNone/>
            </a:pPr>
            <a:r>
              <a:rPr lang="en-US" sz="1300" b="1" dirty="0">
                <a:solidFill>
                  <a:srgbClr val="3E3E4B"/>
                </a:solidFill>
                <a:latin typeface="Arial" pitchFamily="34" charset="0"/>
                <a:ea typeface="Arial" pitchFamily="34" charset="-122"/>
                <a:cs typeface="Arial" pitchFamily="34" charset="-120"/>
              </a:rPr>
              <a:t>12</a:t>
            </a:r>
            <a:endParaRPr lang="en-US" sz="1300" dirty="0"/>
          </a:p>
        </p:txBody>
      </p:sp>
      <p:sp>
        <p:nvSpPr>
          <p:cNvPr id="51" name="Text 49"/>
          <p:cNvSpPr/>
          <p:nvPr/>
        </p:nvSpPr>
        <p:spPr>
          <a:xfrm>
            <a:off x="8650224" y="2286000"/>
            <a:ext cx="2825496" cy="621792"/>
          </a:xfrm>
          <a:prstGeom prst="rect">
            <a:avLst/>
          </a:prstGeom>
          <a:noFill/>
          <a:ln/>
        </p:spPr>
        <p:txBody>
          <a:bodyPr wrap="square" lIns="0" tIns="0" rIns="0" bIns="0" rtlCol="0" anchor="ctr"/>
          <a:lstStyle/>
          <a:p>
            <a:pPr indent="0" marL="0">
              <a:lnSpc>
                <a:spcPts val="1400"/>
              </a:lnSpc>
              <a:buNone/>
            </a:pPr>
            <a:r>
              <a:rPr lang="en-US" sz="1150" dirty="0">
                <a:solidFill>
                  <a:srgbClr val="3E3E4B"/>
                </a:solidFill>
                <a:latin typeface="Calibri" pitchFamily="34" charset="0"/>
                <a:ea typeface="Calibri" pitchFamily="34" charset="-122"/>
                <a:cs typeface="Calibri" pitchFamily="34" charset="-120"/>
              </a:rPr>
              <a:t>Cross-region DR capacity and licensing.</a:t>
            </a:r>
            <a:endParaRPr lang="en-US" sz="1150" dirty="0"/>
          </a:p>
        </p:txBody>
      </p:sp>
      <p:sp>
        <p:nvSpPr>
          <p:cNvPr id="52" name="Shape 50"/>
          <p:cNvSpPr/>
          <p:nvPr/>
        </p:nvSpPr>
        <p:spPr>
          <a:xfrm>
            <a:off x="8065008" y="3090672"/>
            <a:ext cx="3575304" cy="731520"/>
          </a:xfrm>
          <a:prstGeom prst="roundRect">
            <a:avLst>
              <a:gd name="adj" fmla="val 11250"/>
            </a:avLst>
          </a:prstGeom>
          <a:solidFill>
            <a:srgbClr val="E5F7FC"/>
          </a:solidFill>
          <a:ln/>
        </p:spPr>
      </p:sp>
      <p:sp>
        <p:nvSpPr>
          <p:cNvPr id="53" name="Shape 51"/>
          <p:cNvSpPr/>
          <p:nvPr/>
        </p:nvSpPr>
        <p:spPr>
          <a:xfrm>
            <a:off x="8229600" y="3291840"/>
            <a:ext cx="329184" cy="329184"/>
          </a:xfrm>
          <a:prstGeom prst="ellipse">
            <a:avLst/>
          </a:prstGeom>
          <a:solidFill>
            <a:srgbClr val="00B3E2"/>
          </a:solidFill>
          <a:ln/>
        </p:spPr>
      </p:sp>
      <p:sp>
        <p:nvSpPr>
          <p:cNvPr id="54" name="Text 52"/>
          <p:cNvSpPr/>
          <p:nvPr/>
        </p:nvSpPr>
        <p:spPr>
          <a:xfrm>
            <a:off x="8229600" y="3291840"/>
            <a:ext cx="329184" cy="329184"/>
          </a:xfrm>
          <a:prstGeom prst="rect">
            <a:avLst/>
          </a:prstGeom>
          <a:noFill/>
          <a:ln/>
        </p:spPr>
        <p:txBody>
          <a:bodyPr wrap="square" lIns="0" tIns="0" rIns="0" bIns="0" rtlCol="0" anchor="ctr"/>
          <a:lstStyle/>
          <a:p>
            <a:pPr algn="ctr" indent="0" marL="0">
              <a:buNone/>
            </a:pPr>
            <a:r>
              <a:rPr lang="en-US" sz="1300" b="1" dirty="0">
                <a:solidFill>
                  <a:srgbClr val="3E3E4B"/>
                </a:solidFill>
                <a:latin typeface="Arial" pitchFamily="34" charset="0"/>
                <a:ea typeface="Arial" pitchFamily="34" charset="-122"/>
                <a:cs typeface="Arial" pitchFamily="34" charset="-120"/>
              </a:rPr>
              <a:t>13</a:t>
            </a:r>
            <a:endParaRPr lang="en-US" sz="1300" dirty="0"/>
          </a:p>
        </p:txBody>
      </p:sp>
      <p:sp>
        <p:nvSpPr>
          <p:cNvPr id="55" name="Text 53"/>
          <p:cNvSpPr/>
          <p:nvPr/>
        </p:nvSpPr>
        <p:spPr>
          <a:xfrm>
            <a:off x="8650224" y="3145536"/>
            <a:ext cx="2825496" cy="621792"/>
          </a:xfrm>
          <a:prstGeom prst="rect">
            <a:avLst/>
          </a:prstGeom>
          <a:noFill/>
          <a:ln/>
        </p:spPr>
        <p:txBody>
          <a:bodyPr wrap="square" lIns="0" tIns="0" rIns="0" bIns="0" rtlCol="0" anchor="ctr"/>
          <a:lstStyle/>
          <a:p>
            <a:pPr indent="0" marL="0">
              <a:lnSpc>
                <a:spcPts val="1400"/>
              </a:lnSpc>
              <a:buNone/>
            </a:pPr>
            <a:r>
              <a:rPr lang="en-US" sz="1150" dirty="0">
                <a:solidFill>
                  <a:srgbClr val="3E3E4B"/>
                </a:solidFill>
                <a:latin typeface="Calibri" pitchFamily="34" charset="0"/>
                <a:ea typeface="Calibri" pitchFamily="34" charset="-122"/>
                <a:cs typeface="Calibri" pitchFamily="34" charset="-120"/>
              </a:rPr>
              <a:t>EVC requirements for mixed clusters.</a:t>
            </a:r>
            <a:endParaRPr lang="en-US" sz="1150" dirty="0"/>
          </a:p>
        </p:txBody>
      </p:sp>
      <p:sp>
        <p:nvSpPr>
          <p:cNvPr id="56" name="Shape 54"/>
          <p:cNvSpPr/>
          <p:nvPr/>
        </p:nvSpPr>
        <p:spPr>
          <a:xfrm>
            <a:off x="8065008" y="3950208"/>
            <a:ext cx="3575304" cy="731520"/>
          </a:xfrm>
          <a:prstGeom prst="roundRect">
            <a:avLst>
              <a:gd name="adj" fmla="val 11250"/>
            </a:avLst>
          </a:prstGeom>
          <a:solidFill>
            <a:srgbClr val="EBEDED"/>
          </a:solidFill>
          <a:ln/>
        </p:spPr>
      </p:sp>
      <p:sp>
        <p:nvSpPr>
          <p:cNvPr id="57" name="Shape 55"/>
          <p:cNvSpPr/>
          <p:nvPr/>
        </p:nvSpPr>
        <p:spPr>
          <a:xfrm>
            <a:off x="8229600" y="4151376"/>
            <a:ext cx="329184" cy="329184"/>
          </a:xfrm>
          <a:prstGeom prst="ellipse">
            <a:avLst/>
          </a:prstGeom>
          <a:solidFill>
            <a:srgbClr val="00B3E2"/>
          </a:solidFill>
          <a:ln/>
        </p:spPr>
      </p:sp>
      <p:sp>
        <p:nvSpPr>
          <p:cNvPr id="58" name="Text 56"/>
          <p:cNvSpPr/>
          <p:nvPr/>
        </p:nvSpPr>
        <p:spPr>
          <a:xfrm>
            <a:off x="8229600" y="4151376"/>
            <a:ext cx="329184" cy="329184"/>
          </a:xfrm>
          <a:prstGeom prst="rect">
            <a:avLst/>
          </a:prstGeom>
          <a:noFill/>
          <a:ln/>
        </p:spPr>
        <p:txBody>
          <a:bodyPr wrap="square" lIns="0" tIns="0" rIns="0" bIns="0" rtlCol="0" anchor="ctr"/>
          <a:lstStyle/>
          <a:p>
            <a:pPr algn="ctr" indent="0" marL="0">
              <a:buNone/>
            </a:pPr>
            <a:r>
              <a:rPr lang="en-US" sz="1300" b="1" dirty="0">
                <a:solidFill>
                  <a:srgbClr val="3E3E4B"/>
                </a:solidFill>
                <a:latin typeface="Arial" pitchFamily="34" charset="0"/>
                <a:ea typeface="Arial" pitchFamily="34" charset="-122"/>
                <a:cs typeface="Arial" pitchFamily="34" charset="-120"/>
              </a:rPr>
              <a:t>14</a:t>
            </a:r>
            <a:endParaRPr lang="en-US" sz="1300" dirty="0"/>
          </a:p>
        </p:txBody>
      </p:sp>
      <p:sp>
        <p:nvSpPr>
          <p:cNvPr id="59" name="Text 57"/>
          <p:cNvSpPr/>
          <p:nvPr/>
        </p:nvSpPr>
        <p:spPr>
          <a:xfrm>
            <a:off x="8650224" y="4005072"/>
            <a:ext cx="2825496" cy="621792"/>
          </a:xfrm>
          <a:prstGeom prst="rect">
            <a:avLst/>
          </a:prstGeom>
          <a:noFill/>
          <a:ln/>
        </p:spPr>
        <p:txBody>
          <a:bodyPr wrap="square" lIns="0" tIns="0" rIns="0" bIns="0" rtlCol="0" anchor="ctr"/>
          <a:lstStyle/>
          <a:p>
            <a:pPr indent="0" marL="0">
              <a:lnSpc>
                <a:spcPts val="1400"/>
              </a:lnSpc>
              <a:buNone/>
            </a:pPr>
            <a:r>
              <a:rPr lang="en-US" sz="1150" dirty="0">
                <a:solidFill>
                  <a:srgbClr val="3E3E4B"/>
                </a:solidFill>
                <a:latin typeface="Calibri" pitchFamily="34" charset="0"/>
                <a:ea typeface="Calibri" pitchFamily="34" charset="-122"/>
                <a:cs typeface="Calibri" pitchFamily="34" charset="-120"/>
              </a:rPr>
              <a:t>Regional AV64 availability and quota.</a:t>
            </a:r>
            <a:endParaRPr lang="en-US" sz="1150" dirty="0"/>
          </a:p>
        </p:txBody>
      </p:sp>
      <p:sp>
        <p:nvSpPr>
          <p:cNvPr id="60" name="Shape 58"/>
          <p:cNvSpPr/>
          <p:nvPr/>
        </p:nvSpPr>
        <p:spPr>
          <a:xfrm>
            <a:off x="8065008" y="4809744"/>
            <a:ext cx="3575304" cy="731520"/>
          </a:xfrm>
          <a:prstGeom prst="roundRect">
            <a:avLst>
              <a:gd name="adj" fmla="val 11250"/>
            </a:avLst>
          </a:prstGeom>
          <a:solidFill>
            <a:srgbClr val="E5F7FC"/>
          </a:solidFill>
          <a:ln/>
        </p:spPr>
      </p:sp>
      <p:sp>
        <p:nvSpPr>
          <p:cNvPr id="61" name="Shape 59"/>
          <p:cNvSpPr/>
          <p:nvPr/>
        </p:nvSpPr>
        <p:spPr>
          <a:xfrm>
            <a:off x="8229600" y="5010912"/>
            <a:ext cx="329184" cy="329184"/>
          </a:xfrm>
          <a:prstGeom prst="ellipse">
            <a:avLst/>
          </a:prstGeom>
          <a:solidFill>
            <a:srgbClr val="00B3E2"/>
          </a:solidFill>
          <a:ln/>
        </p:spPr>
      </p:sp>
      <p:sp>
        <p:nvSpPr>
          <p:cNvPr id="62" name="Text 60"/>
          <p:cNvSpPr/>
          <p:nvPr/>
        </p:nvSpPr>
        <p:spPr>
          <a:xfrm>
            <a:off x="8229600" y="5010912"/>
            <a:ext cx="329184" cy="329184"/>
          </a:xfrm>
          <a:prstGeom prst="rect">
            <a:avLst/>
          </a:prstGeom>
          <a:noFill/>
          <a:ln/>
        </p:spPr>
        <p:txBody>
          <a:bodyPr wrap="square" lIns="0" tIns="0" rIns="0" bIns="0" rtlCol="0" anchor="ctr"/>
          <a:lstStyle/>
          <a:p>
            <a:pPr algn="ctr" indent="0" marL="0">
              <a:buNone/>
            </a:pPr>
            <a:r>
              <a:rPr lang="en-US" sz="1300" b="1" dirty="0">
                <a:solidFill>
                  <a:srgbClr val="3E3E4B"/>
                </a:solidFill>
                <a:latin typeface="Arial" pitchFamily="34" charset="0"/>
                <a:ea typeface="Arial" pitchFamily="34" charset="-122"/>
                <a:cs typeface="Arial" pitchFamily="34" charset="-120"/>
              </a:rPr>
              <a:t>15</a:t>
            </a:r>
            <a:endParaRPr lang="en-US" sz="1300" dirty="0"/>
          </a:p>
        </p:txBody>
      </p:sp>
      <p:sp>
        <p:nvSpPr>
          <p:cNvPr id="63" name="Text 61"/>
          <p:cNvSpPr/>
          <p:nvPr/>
        </p:nvSpPr>
        <p:spPr>
          <a:xfrm>
            <a:off x="8650224" y="4864608"/>
            <a:ext cx="2825496" cy="621792"/>
          </a:xfrm>
          <a:prstGeom prst="rect">
            <a:avLst/>
          </a:prstGeom>
          <a:noFill/>
          <a:ln/>
        </p:spPr>
        <p:txBody>
          <a:bodyPr wrap="square" lIns="0" tIns="0" rIns="0" bIns="0" rtlCol="0" anchor="ctr"/>
          <a:lstStyle/>
          <a:p>
            <a:pPr indent="0" marL="0">
              <a:lnSpc>
                <a:spcPts val="1400"/>
              </a:lnSpc>
              <a:buNone/>
            </a:pPr>
            <a:r>
              <a:rPr lang="en-US" sz="1150" dirty="0">
                <a:solidFill>
                  <a:srgbClr val="3E3E4B"/>
                </a:solidFill>
                <a:latin typeface="Calibri" pitchFamily="34" charset="0"/>
                <a:ea typeface="Calibri" pitchFamily="34" charset="-122"/>
                <a:cs typeface="Calibri" pitchFamily="34" charset="-120"/>
              </a:rPr>
              <a:t>Long-term tenant, subscription, resource-group, and VNet placement.</a:t>
            </a:r>
            <a:endParaRPr lang="en-US" sz="1150" dirty="0"/>
          </a:p>
        </p:txBody>
      </p:sp>
      <p:sp>
        <p:nvSpPr>
          <p:cNvPr id="64" name="Text 62"/>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18.4 Required preselection calculations</a:t>
            </a:r>
            <a:endParaRPr lang="en-US" sz="950" dirty="0"/>
          </a:p>
        </p:txBody>
      </p:sp>
      <p:sp>
        <p:nvSpPr>
          <p:cNvPr id="65" name="Text 63"/>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42</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91672" cy="237744"/>
          </a:xfrm>
          <a:prstGeom prst="rect">
            <a:avLst/>
          </a:prstGeom>
          <a:noFill/>
          <a:ln/>
        </p:spPr>
        <p:txBody>
          <a:bodyPr wrap="square" lIns="0" tIns="0" rIns="0" bIns="0" rtlCol="0" anchor="ctr"/>
          <a:lstStyle/>
          <a:p>
            <a:pPr indent="0" marL="0">
              <a:buNone/>
            </a:pPr>
            <a:r>
              <a:rPr lang="en-US" sz="1050" b="1" spc="140" kern="0" dirty="0">
                <a:solidFill>
                  <a:srgbClr val="00B3E2"/>
                </a:solidFill>
                <a:latin typeface="Arial" pitchFamily="34" charset="0"/>
                <a:ea typeface="Arial" pitchFamily="34" charset="-122"/>
                <a:cs typeface="Arial" pitchFamily="34" charset="-120"/>
              </a:rPr>
              <a:t>19. CHECKLIST</a:t>
            </a:r>
            <a:endParaRPr lang="en-US" sz="1050" dirty="0"/>
          </a:p>
        </p:txBody>
      </p:sp>
      <p:sp>
        <p:nvSpPr>
          <p:cNvPr id="3" name="Text 1"/>
          <p:cNvSpPr/>
          <p:nvPr/>
        </p:nvSpPr>
        <p:spPr>
          <a:xfrm>
            <a:off x="548640" y="548640"/>
            <a:ext cx="11091672" cy="603504"/>
          </a:xfrm>
          <a:prstGeom prst="rect">
            <a:avLst/>
          </a:prstGeom>
          <a:noFill/>
          <a:ln/>
        </p:spPr>
        <p:txBody>
          <a:bodyPr wrap="square" lIns="0" tIns="0" rIns="0" bIns="0" rtlCol="0" anchor="t"/>
          <a:lstStyle/>
          <a:p>
            <a:pPr indent="0" marL="0">
              <a:buNone/>
            </a:pPr>
            <a:r>
              <a:rPr lang="en-US" sz="2800" b="1" dirty="0">
                <a:solidFill>
                  <a:srgbClr val="3E3E4B"/>
                </a:solidFill>
                <a:latin typeface="Arial" pitchFamily="34" charset="0"/>
                <a:ea typeface="Arial" pitchFamily="34" charset="-122"/>
                <a:cs typeface="Arial" pitchFamily="34" charset="-120"/>
              </a:rPr>
              <a:t>Implementation and validation</a:t>
            </a:r>
            <a:endParaRPr lang="en-US" sz="2800" dirty="0"/>
          </a:p>
        </p:txBody>
      </p:sp>
      <p:sp>
        <p:nvSpPr>
          <p:cNvPr id="4" name="Shape 2"/>
          <p:cNvSpPr/>
          <p:nvPr/>
        </p:nvSpPr>
        <p:spPr>
          <a:xfrm>
            <a:off x="548640" y="1298448"/>
            <a:ext cx="3575304" cy="2194560"/>
          </a:xfrm>
          <a:prstGeom prst="roundRect">
            <a:avLst>
              <a:gd name="adj" fmla="val 3750"/>
            </a:avLst>
          </a:prstGeom>
          <a:solidFill>
            <a:srgbClr val="E5F7FC"/>
          </a:solidFill>
          <a:ln/>
        </p:spPr>
      </p:sp>
      <p:sp>
        <p:nvSpPr>
          <p:cNvPr id="5" name="Shape 3"/>
          <p:cNvSpPr/>
          <p:nvPr/>
        </p:nvSpPr>
        <p:spPr>
          <a:xfrm>
            <a:off x="548640" y="1298448"/>
            <a:ext cx="3575304" cy="411480"/>
          </a:xfrm>
          <a:prstGeom prst="roundRect">
            <a:avLst>
              <a:gd name="adj" fmla="val 20000"/>
            </a:avLst>
          </a:prstGeom>
          <a:solidFill>
            <a:srgbClr val="00B3E2"/>
          </a:solidFill>
          <a:ln/>
        </p:spPr>
      </p:sp>
      <p:sp>
        <p:nvSpPr>
          <p:cNvPr id="6" name="Text 4"/>
          <p:cNvSpPr/>
          <p:nvPr/>
        </p:nvSpPr>
        <p:spPr>
          <a:xfrm>
            <a:off x="749808" y="1362456"/>
            <a:ext cx="3172968"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Architecture</a:t>
            </a:r>
            <a:endParaRPr lang="en-US" sz="1300" dirty="0"/>
          </a:p>
        </p:txBody>
      </p:sp>
      <p:sp>
        <p:nvSpPr>
          <p:cNvPr id="7" name="Text 5"/>
          <p:cNvSpPr/>
          <p:nvPr/>
        </p:nvSpPr>
        <p:spPr>
          <a:xfrm>
            <a:off x="749808" y="1828800"/>
            <a:ext cx="3172968" cy="1554480"/>
          </a:xfrm>
          <a:prstGeom prst="rect">
            <a:avLst/>
          </a:prstGeom>
          <a:noFill/>
          <a:ln/>
        </p:spPr>
        <p:txBody>
          <a:bodyPr wrap="square" lIns="0" tIns="0" rIns="0" bIns="0" rtlCol="0" anchor="t"/>
          <a:lstStyle/>
          <a:p>
            <a:pPr marL="177800" indent="-177800">
              <a:lnSpc>
                <a:spcPts val="1300"/>
              </a:lnSpc>
              <a:spcAft>
                <a:spcPts val="300"/>
              </a:spcAft>
              <a:buSzPct val="100000"/>
              <a:buChar char="•"/>
            </a:pPr>
            <a:r>
              <a:rPr lang="en-US" sz="1050" dirty="0">
                <a:solidFill>
                  <a:srgbClr val="3E3E4B"/>
                </a:solidFill>
                <a:latin typeface="Calibri" pitchFamily="34" charset="0"/>
                <a:ea typeface="Calibri" pitchFamily="34" charset="-122"/>
                <a:cs typeface="Calibri" pitchFamily="34" charset="-120"/>
              </a:rPr>
              <a:t>Confirm Gen 1, Gen 2, or mixed.</a:t>
            </a:r>
            <a:endParaRPr lang="en-US" sz="1050" dirty="0"/>
          </a:p>
          <a:p>
            <a:pPr marL="177800" indent="-177800">
              <a:lnSpc>
                <a:spcPts val="1300"/>
              </a:lnSpc>
              <a:spcAft>
                <a:spcPts val="300"/>
              </a:spcAft>
              <a:buSzPct val="100000"/>
              <a:buChar char="•"/>
            </a:pPr>
            <a:r>
              <a:rPr lang="en-US" sz="1050" dirty="0">
                <a:solidFill>
                  <a:srgbClr val="3E3E4B"/>
                </a:solidFill>
                <a:latin typeface="Calibri" pitchFamily="34" charset="0"/>
                <a:ea typeface="Calibri" pitchFamily="34" charset="-122"/>
                <a:cs typeface="Calibri" pitchFamily="34" charset="-120"/>
              </a:rPr>
              <a:t>Document the reasons for the selection.</a:t>
            </a:r>
            <a:endParaRPr lang="en-US" sz="1050" dirty="0"/>
          </a:p>
          <a:p>
            <a:pPr marL="177800" indent="-177800">
              <a:lnSpc>
                <a:spcPts val="1300"/>
              </a:lnSpc>
              <a:spcAft>
                <a:spcPts val="300"/>
              </a:spcAft>
              <a:buSzPct val="100000"/>
              <a:buChar char="•"/>
            </a:pPr>
            <a:r>
              <a:rPr lang="en-US" sz="1050" dirty="0">
                <a:solidFill>
                  <a:srgbClr val="3E3E4B"/>
                </a:solidFill>
                <a:latin typeface="Calibri" pitchFamily="34" charset="0"/>
                <a:ea typeface="Calibri" pitchFamily="34" charset="-122"/>
                <a:cs typeface="Calibri" pitchFamily="34" charset="-120"/>
              </a:rPr>
              <a:t>Identify dependencies that cannot change after deployment.</a:t>
            </a:r>
            <a:endParaRPr lang="en-US" sz="1050" dirty="0"/>
          </a:p>
          <a:p>
            <a:pPr marL="177800" indent="-177800">
              <a:lnSpc>
                <a:spcPts val="1300"/>
              </a:lnSpc>
              <a:spcAft>
                <a:spcPts val="300"/>
              </a:spcAft>
              <a:buSzPct val="100000"/>
              <a:buChar char="•"/>
            </a:pPr>
            <a:r>
              <a:rPr lang="en-US" sz="1050" dirty="0">
                <a:solidFill>
                  <a:srgbClr val="3E3E4B"/>
                </a:solidFill>
                <a:latin typeface="Calibri" pitchFamily="34" charset="0"/>
                <a:ea typeface="Calibri" pitchFamily="34" charset="-122"/>
                <a:cs typeface="Calibri" pitchFamily="34" charset="-120"/>
              </a:rPr>
              <a:t>Validate tenant, subscription, resource group, region, and zone.</a:t>
            </a:r>
            <a:endParaRPr lang="en-US" sz="1050" dirty="0"/>
          </a:p>
        </p:txBody>
      </p:sp>
      <p:sp>
        <p:nvSpPr>
          <p:cNvPr id="8" name="Shape 6"/>
          <p:cNvSpPr/>
          <p:nvPr/>
        </p:nvSpPr>
        <p:spPr>
          <a:xfrm>
            <a:off x="4306824" y="1298448"/>
            <a:ext cx="3575304" cy="2194560"/>
          </a:xfrm>
          <a:prstGeom prst="roundRect">
            <a:avLst>
              <a:gd name="adj" fmla="val 3750"/>
            </a:avLst>
          </a:prstGeom>
          <a:solidFill>
            <a:srgbClr val="E5F7FC"/>
          </a:solidFill>
          <a:ln/>
        </p:spPr>
      </p:sp>
      <p:sp>
        <p:nvSpPr>
          <p:cNvPr id="9" name="Shape 7"/>
          <p:cNvSpPr/>
          <p:nvPr/>
        </p:nvSpPr>
        <p:spPr>
          <a:xfrm>
            <a:off x="4306824" y="1298448"/>
            <a:ext cx="3575304" cy="411480"/>
          </a:xfrm>
          <a:prstGeom prst="roundRect">
            <a:avLst>
              <a:gd name="adj" fmla="val 20000"/>
            </a:avLst>
          </a:prstGeom>
          <a:solidFill>
            <a:srgbClr val="00B3E2"/>
          </a:solidFill>
          <a:ln/>
        </p:spPr>
      </p:sp>
      <p:sp>
        <p:nvSpPr>
          <p:cNvPr id="10" name="Text 8"/>
          <p:cNvSpPr/>
          <p:nvPr/>
        </p:nvSpPr>
        <p:spPr>
          <a:xfrm>
            <a:off x="4507992" y="1362456"/>
            <a:ext cx="3172968"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Capacity</a:t>
            </a:r>
            <a:endParaRPr lang="en-US" sz="1300" dirty="0"/>
          </a:p>
        </p:txBody>
      </p:sp>
      <p:sp>
        <p:nvSpPr>
          <p:cNvPr id="11" name="Text 9"/>
          <p:cNvSpPr/>
          <p:nvPr/>
        </p:nvSpPr>
        <p:spPr>
          <a:xfrm>
            <a:off x="4507992" y="1828800"/>
            <a:ext cx="3172968" cy="1554480"/>
          </a:xfrm>
          <a:prstGeom prst="rect">
            <a:avLst/>
          </a:prstGeom>
          <a:noFill/>
          <a:ln/>
        </p:spPr>
        <p:txBody>
          <a:bodyPr wrap="square" lIns="0" tIns="0" rIns="0" bIns="0" rtlCol="0" anchor="t"/>
          <a:lstStyle/>
          <a:p>
            <a:pPr marL="177800" indent="-177800">
              <a:lnSpc>
                <a:spcPts val="1300"/>
              </a:lnSpc>
              <a:spcAft>
                <a:spcPts val="300"/>
              </a:spcAft>
              <a:buSzPct val="100000"/>
              <a:buChar char="•"/>
            </a:pPr>
            <a:r>
              <a:rPr lang="en-US" sz="1050" dirty="0">
                <a:solidFill>
                  <a:srgbClr val="3E3E4B"/>
                </a:solidFill>
                <a:latin typeface="Calibri" pitchFamily="34" charset="0"/>
                <a:ea typeface="Calibri" pitchFamily="34" charset="-122"/>
                <a:cs typeface="Calibri" pitchFamily="34" charset="-120"/>
              </a:rPr>
              <a:t>Size CPU, memory, storage, and network from measured workload data.</a:t>
            </a:r>
            <a:endParaRPr lang="en-US" sz="1050" dirty="0"/>
          </a:p>
          <a:p>
            <a:pPr marL="177800" indent="-177800">
              <a:lnSpc>
                <a:spcPts val="1300"/>
              </a:lnSpc>
              <a:spcAft>
                <a:spcPts val="300"/>
              </a:spcAft>
              <a:buSzPct val="100000"/>
              <a:buChar char="•"/>
            </a:pPr>
            <a:r>
              <a:rPr lang="en-US" sz="1050" dirty="0">
                <a:solidFill>
                  <a:srgbClr val="3E3E4B"/>
                </a:solidFill>
                <a:latin typeface="Calibri" pitchFamily="34" charset="0"/>
                <a:ea typeface="Calibri" pitchFamily="34" charset="-122"/>
                <a:cs typeface="Calibri" pitchFamily="34" charset="-120"/>
              </a:rPr>
              <a:t>Confirm whether AV64 is required or creates material overprovisioning.</a:t>
            </a:r>
            <a:endParaRPr lang="en-US" sz="1050" dirty="0"/>
          </a:p>
          <a:p>
            <a:pPr marL="177800" indent="-177800">
              <a:lnSpc>
                <a:spcPts val="1300"/>
              </a:lnSpc>
              <a:spcAft>
                <a:spcPts val="300"/>
              </a:spcAft>
              <a:buSzPct val="100000"/>
              <a:buChar char="•"/>
            </a:pPr>
            <a:r>
              <a:rPr lang="en-US" sz="1050" dirty="0">
                <a:solidFill>
                  <a:srgbClr val="3E3E4B"/>
                </a:solidFill>
                <a:latin typeface="Calibri" pitchFamily="34" charset="0"/>
                <a:ea typeface="Calibri" pitchFamily="34" charset="-122"/>
                <a:cs typeface="Calibri" pitchFamily="34" charset="-120"/>
              </a:rPr>
              <a:t>Verify quota and physical capacity in the target region.</a:t>
            </a:r>
            <a:endParaRPr lang="en-US" sz="1050" dirty="0"/>
          </a:p>
          <a:p>
            <a:pPr marL="177800" indent="-177800">
              <a:lnSpc>
                <a:spcPts val="1300"/>
              </a:lnSpc>
              <a:spcAft>
                <a:spcPts val="300"/>
              </a:spcAft>
              <a:buSzPct val="100000"/>
              <a:buChar char="•"/>
            </a:pPr>
            <a:r>
              <a:rPr lang="en-US" sz="1050" dirty="0">
                <a:solidFill>
                  <a:srgbClr val="3E3E4B"/>
                </a:solidFill>
                <a:latin typeface="Calibri" pitchFamily="34" charset="0"/>
                <a:ea typeface="Calibri" pitchFamily="34" charset="-122"/>
                <a:cs typeface="Calibri" pitchFamily="34" charset="-120"/>
              </a:rPr>
              <a:t>Include the three-node minimum for a new AV64 cluster.</a:t>
            </a:r>
            <a:endParaRPr lang="en-US" sz="1050" dirty="0"/>
          </a:p>
        </p:txBody>
      </p:sp>
      <p:sp>
        <p:nvSpPr>
          <p:cNvPr id="12" name="Shape 10"/>
          <p:cNvSpPr/>
          <p:nvPr/>
        </p:nvSpPr>
        <p:spPr>
          <a:xfrm>
            <a:off x="8065008" y="1298448"/>
            <a:ext cx="3575304" cy="2194560"/>
          </a:xfrm>
          <a:prstGeom prst="roundRect">
            <a:avLst>
              <a:gd name="adj" fmla="val 3750"/>
            </a:avLst>
          </a:prstGeom>
          <a:solidFill>
            <a:srgbClr val="E5F7FC"/>
          </a:solidFill>
          <a:ln/>
        </p:spPr>
      </p:sp>
      <p:sp>
        <p:nvSpPr>
          <p:cNvPr id="13" name="Shape 11"/>
          <p:cNvSpPr/>
          <p:nvPr/>
        </p:nvSpPr>
        <p:spPr>
          <a:xfrm>
            <a:off x="8065008" y="1298448"/>
            <a:ext cx="3575304" cy="411480"/>
          </a:xfrm>
          <a:prstGeom prst="roundRect">
            <a:avLst>
              <a:gd name="adj" fmla="val 20000"/>
            </a:avLst>
          </a:prstGeom>
          <a:solidFill>
            <a:srgbClr val="00B3E2"/>
          </a:solidFill>
          <a:ln/>
        </p:spPr>
      </p:sp>
      <p:sp>
        <p:nvSpPr>
          <p:cNvPr id="14" name="Text 12"/>
          <p:cNvSpPr/>
          <p:nvPr/>
        </p:nvSpPr>
        <p:spPr>
          <a:xfrm>
            <a:off x="8266176" y="1362456"/>
            <a:ext cx="3172968"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Networking</a:t>
            </a:r>
            <a:endParaRPr lang="en-US" sz="1300" dirty="0"/>
          </a:p>
        </p:txBody>
      </p:sp>
      <p:sp>
        <p:nvSpPr>
          <p:cNvPr id="15" name="Text 13"/>
          <p:cNvSpPr/>
          <p:nvPr/>
        </p:nvSpPr>
        <p:spPr>
          <a:xfrm>
            <a:off x="8266176" y="1828800"/>
            <a:ext cx="3172968" cy="1554480"/>
          </a:xfrm>
          <a:prstGeom prst="rect">
            <a:avLst/>
          </a:prstGeom>
          <a:noFill/>
          <a:ln/>
        </p:spPr>
        <p:txBody>
          <a:bodyPr wrap="square" lIns="0" tIns="0" rIns="0" bIns="0" rtlCol="0" anchor="t"/>
          <a:lstStyle/>
          <a:p>
            <a:pPr marL="177800" indent="-177800">
              <a:lnSpc>
                <a:spcPts val="1300"/>
              </a:lnSpc>
              <a:spcAft>
                <a:spcPts val="300"/>
              </a:spcAft>
              <a:buSzPct val="100000"/>
              <a:buChar char="•"/>
            </a:pPr>
            <a:r>
              <a:rPr lang="en-US" sz="1050" dirty="0">
                <a:solidFill>
                  <a:srgbClr val="3E3E4B"/>
                </a:solidFill>
                <a:latin typeface="Calibri" pitchFamily="34" charset="0"/>
                <a:ea typeface="Calibri" pitchFamily="34" charset="-122"/>
                <a:cs typeface="Calibri" pitchFamily="34" charset="-120"/>
              </a:rPr>
              <a:t>Inventory every NSX segment and service route.</a:t>
            </a:r>
            <a:endParaRPr lang="en-US" sz="1050" dirty="0"/>
          </a:p>
          <a:p>
            <a:pPr marL="177800" indent="-177800">
              <a:lnSpc>
                <a:spcPts val="1300"/>
              </a:lnSpc>
              <a:spcAft>
                <a:spcPts val="300"/>
              </a:spcAft>
              <a:buSzPct val="100000"/>
              <a:buChar char="•"/>
            </a:pPr>
            <a:r>
              <a:rPr lang="en-US" sz="1050" dirty="0">
                <a:solidFill>
                  <a:srgbClr val="3E3E4B"/>
                </a:solidFill>
                <a:latin typeface="Calibri" pitchFamily="34" charset="0"/>
                <a:ea typeface="Calibri" pitchFamily="34" charset="-122"/>
                <a:cs typeface="Calibri" pitchFamily="34" charset="-120"/>
              </a:rPr>
              <a:t>Calculate total VNet prefix count.</a:t>
            </a:r>
            <a:endParaRPr lang="en-US" sz="1050" dirty="0"/>
          </a:p>
          <a:p>
            <a:pPr marL="177800" indent="-177800">
              <a:lnSpc>
                <a:spcPts val="1300"/>
              </a:lnSpc>
              <a:spcAft>
                <a:spcPts val="300"/>
              </a:spcAft>
              <a:buSzPct val="100000"/>
              <a:buChar char="•"/>
            </a:pPr>
            <a:r>
              <a:rPr lang="en-US" sz="1050" dirty="0">
                <a:solidFill>
                  <a:srgbClr val="3E3E4B"/>
                </a:solidFill>
                <a:latin typeface="Calibri" pitchFamily="34" charset="0"/>
                <a:ea typeface="Calibri" pitchFamily="34" charset="-122"/>
                <a:cs typeface="Calibri" pitchFamily="34" charset="-120"/>
              </a:rPr>
              <a:t>Convert each segment into /28 programming units.</a:t>
            </a:r>
            <a:endParaRPr lang="en-US" sz="1050" dirty="0"/>
          </a:p>
          <a:p>
            <a:pPr marL="177800" indent="-177800">
              <a:lnSpc>
                <a:spcPts val="1300"/>
              </a:lnSpc>
              <a:spcAft>
                <a:spcPts val="300"/>
              </a:spcAft>
              <a:buSzPct val="100000"/>
              <a:buChar char="•"/>
            </a:pPr>
            <a:r>
              <a:rPr lang="en-US" sz="1050" dirty="0">
                <a:solidFill>
                  <a:srgbClr val="3E3E4B"/>
                </a:solidFill>
                <a:latin typeface="Calibri" pitchFamily="34" charset="0"/>
                <a:ea typeface="Calibri" pitchFamily="34" charset="-122"/>
                <a:cs typeface="Calibri" pitchFamily="34" charset="-120"/>
              </a:rPr>
              <a:t>Calculate temporary HCX MON routes at wave peak.</a:t>
            </a:r>
            <a:endParaRPr lang="en-US" sz="1050" dirty="0"/>
          </a:p>
          <a:p>
            <a:pPr marL="177800" indent="-177800">
              <a:lnSpc>
                <a:spcPts val="1300"/>
              </a:lnSpc>
              <a:spcAft>
                <a:spcPts val="300"/>
              </a:spcAft>
              <a:buSzPct val="100000"/>
              <a:buChar char="•"/>
            </a:pPr>
            <a:r>
              <a:rPr lang="en-US" sz="1050" dirty="0">
                <a:solidFill>
                  <a:srgbClr val="3E3E4B"/>
                </a:solidFill>
                <a:latin typeface="Calibri" pitchFamily="34" charset="0"/>
                <a:ea typeface="Calibri" pitchFamily="34" charset="-122"/>
                <a:cs typeface="Calibri" pitchFamily="34" charset="-120"/>
              </a:rPr>
              <a:t>Reserve headroom for growth and operational change.</a:t>
            </a:r>
            <a:endParaRPr lang="en-US" sz="1050" dirty="0"/>
          </a:p>
        </p:txBody>
      </p:sp>
      <p:sp>
        <p:nvSpPr>
          <p:cNvPr id="16" name="Shape 14"/>
          <p:cNvSpPr/>
          <p:nvPr/>
        </p:nvSpPr>
        <p:spPr>
          <a:xfrm>
            <a:off x="548640" y="3694176"/>
            <a:ext cx="3575304" cy="2194560"/>
          </a:xfrm>
          <a:prstGeom prst="roundRect">
            <a:avLst>
              <a:gd name="adj" fmla="val 3750"/>
            </a:avLst>
          </a:prstGeom>
          <a:solidFill>
            <a:srgbClr val="EBEDED"/>
          </a:solidFill>
          <a:ln/>
        </p:spPr>
      </p:sp>
      <p:sp>
        <p:nvSpPr>
          <p:cNvPr id="17" name="Shape 15"/>
          <p:cNvSpPr/>
          <p:nvPr/>
        </p:nvSpPr>
        <p:spPr>
          <a:xfrm>
            <a:off x="548640" y="3694176"/>
            <a:ext cx="3575304" cy="411480"/>
          </a:xfrm>
          <a:prstGeom prst="roundRect">
            <a:avLst>
              <a:gd name="adj" fmla="val 20000"/>
            </a:avLst>
          </a:prstGeom>
          <a:solidFill>
            <a:srgbClr val="3E3E4B"/>
          </a:solidFill>
          <a:ln/>
        </p:spPr>
      </p:sp>
      <p:sp>
        <p:nvSpPr>
          <p:cNvPr id="18" name="Text 16"/>
          <p:cNvSpPr/>
          <p:nvPr/>
        </p:nvSpPr>
        <p:spPr>
          <a:xfrm>
            <a:off x="749808" y="3758184"/>
            <a:ext cx="3172968"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Security</a:t>
            </a:r>
            <a:endParaRPr lang="en-US" sz="1300" dirty="0"/>
          </a:p>
        </p:txBody>
      </p:sp>
      <p:sp>
        <p:nvSpPr>
          <p:cNvPr id="19" name="Text 17"/>
          <p:cNvSpPr/>
          <p:nvPr/>
        </p:nvSpPr>
        <p:spPr>
          <a:xfrm>
            <a:off x="749808" y="4224528"/>
            <a:ext cx="3172968" cy="1554480"/>
          </a:xfrm>
          <a:prstGeom prst="rect">
            <a:avLst/>
          </a:prstGeom>
          <a:noFill/>
          <a:ln/>
        </p:spPr>
        <p:txBody>
          <a:bodyPr wrap="square" lIns="0" tIns="0" rIns="0" bIns="0" rtlCol="0" anchor="t"/>
          <a:lstStyle/>
          <a:p>
            <a:pPr marL="177800" indent="-177800">
              <a:lnSpc>
                <a:spcPts val="1300"/>
              </a:lnSpc>
              <a:spcAft>
                <a:spcPts val="300"/>
              </a:spcAft>
              <a:buSzPct val="100000"/>
              <a:buChar char="•"/>
            </a:pPr>
            <a:r>
              <a:rPr lang="en-US" sz="1050" dirty="0">
                <a:solidFill>
                  <a:srgbClr val="3E3E4B"/>
                </a:solidFill>
                <a:latin typeface="Calibri" pitchFamily="34" charset="0"/>
                <a:ea typeface="Calibri" pitchFamily="34" charset="-122"/>
                <a:cs typeface="Calibri" pitchFamily="34" charset="-120"/>
              </a:rPr>
              <a:t>Document customer-visible and system-managed controls separately.</a:t>
            </a:r>
            <a:endParaRPr lang="en-US" sz="1050" dirty="0"/>
          </a:p>
          <a:p>
            <a:pPr marL="177800" indent="-177800">
              <a:lnSpc>
                <a:spcPts val="1300"/>
              </a:lnSpc>
              <a:spcAft>
                <a:spcPts val="300"/>
              </a:spcAft>
              <a:buSzPct val="100000"/>
              <a:buChar char="•"/>
            </a:pPr>
            <a:r>
              <a:rPr lang="en-US" sz="1050" dirty="0">
                <a:solidFill>
                  <a:srgbClr val="3E3E4B"/>
                </a:solidFill>
                <a:latin typeface="Calibri" pitchFamily="34" charset="0"/>
                <a:ea typeface="Calibri" pitchFamily="34" charset="-122"/>
                <a:cs typeface="Calibri" pitchFamily="34" charset="-120"/>
              </a:rPr>
              <a:t>Test management-plane reachability from allowed and denied sources.</a:t>
            </a:r>
            <a:endParaRPr lang="en-US" sz="1050" dirty="0"/>
          </a:p>
          <a:p>
            <a:pPr marL="177800" indent="-177800">
              <a:lnSpc>
                <a:spcPts val="1300"/>
              </a:lnSpc>
              <a:spcAft>
                <a:spcPts val="300"/>
              </a:spcAft>
              <a:buSzPct val="100000"/>
              <a:buChar char="•"/>
            </a:pPr>
            <a:r>
              <a:rPr lang="en-US" sz="1050" dirty="0">
                <a:solidFill>
                  <a:srgbClr val="3E3E4B"/>
                </a:solidFill>
                <a:latin typeface="Calibri" pitchFamily="34" charset="0"/>
                <a:ea typeface="Calibri" pitchFamily="34" charset="-122"/>
                <a:cs typeface="Calibri" pitchFamily="34" charset="-120"/>
              </a:rPr>
              <a:t>Prepare compliance evidence for controls not shown in the portal.</a:t>
            </a:r>
            <a:endParaRPr lang="en-US" sz="1050" dirty="0"/>
          </a:p>
          <a:p>
            <a:pPr marL="177800" indent="-177800">
              <a:lnSpc>
                <a:spcPts val="1300"/>
              </a:lnSpc>
              <a:spcAft>
                <a:spcPts val="300"/>
              </a:spcAft>
              <a:buSzPct val="100000"/>
              <a:buChar char="•"/>
            </a:pPr>
            <a:r>
              <a:rPr lang="en-US" sz="1050" dirty="0">
                <a:solidFill>
                  <a:srgbClr val="3E3E4B"/>
                </a:solidFill>
                <a:latin typeface="Calibri" pitchFamily="34" charset="0"/>
                <a:ea typeface="Calibri" pitchFamily="34" charset="-122"/>
                <a:cs typeface="Calibri" pitchFamily="34" charset="-120"/>
              </a:rPr>
              <a:t>Validate routing and firewall paths to vCenter and NSX Manager.</a:t>
            </a:r>
            <a:endParaRPr lang="en-US" sz="1050" dirty="0"/>
          </a:p>
        </p:txBody>
      </p:sp>
      <p:sp>
        <p:nvSpPr>
          <p:cNvPr id="20" name="Shape 18"/>
          <p:cNvSpPr/>
          <p:nvPr/>
        </p:nvSpPr>
        <p:spPr>
          <a:xfrm>
            <a:off x="4306824" y="3694176"/>
            <a:ext cx="3575304" cy="2194560"/>
          </a:xfrm>
          <a:prstGeom prst="roundRect">
            <a:avLst>
              <a:gd name="adj" fmla="val 3750"/>
            </a:avLst>
          </a:prstGeom>
          <a:solidFill>
            <a:srgbClr val="EBEDED"/>
          </a:solidFill>
          <a:ln/>
        </p:spPr>
      </p:sp>
      <p:sp>
        <p:nvSpPr>
          <p:cNvPr id="21" name="Shape 19"/>
          <p:cNvSpPr/>
          <p:nvPr/>
        </p:nvSpPr>
        <p:spPr>
          <a:xfrm>
            <a:off x="4306824" y="3694176"/>
            <a:ext cx="3575304" cy="411480"/>
          </a:xfrm>
          <a:prstGeom prst="roundRect">
            <a:avLst>
              <a:gd name="adj" fmla="val 20000"/>
            </a:avLst>
          </a:prstGeom>
          <a:solidFill>
            <a:srgbClr val="3E3E4B"/>
          </a:solidFill>
          <a:ln/>
        </p:spPr>
      </p:sp>
      <p:sp>
        <p:nvSpPr>
          <p:cNvPr id="22" name="Text 20"/>
          <p:cNvSpPr/>
          <p:nvPr/>
        </p:nvSpPr>
        <p:spPr>
          <a:xfrm>
            <a:off x="4507992" y="3758184"/>
            <a:ext cx="3172968"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Migration</a:t>
            </a:r>
            <a:endParaRPr lang="en-US" sz="1300" dirty="0"/>
          </a:p>
        </p:txBody>
      </p:sp>
      <p:sp>
        <p:nvSpPr>
          <p:cNvPr id="23" name="Text 21"/>
          <p:cNvSpPr/>
          <p:nvPr/>
        </p:nvSpPr>
        <p:spPr>
          <a:xfrm>
            <a:off x="4507992" y="4224528"/>
            <a:ext cx="3172968" cy="1554480"/>
          </a:xfrm>
          <a:prstGeom prst="rect">
            <a:avLst/>
          </a:prstGeom>
          <a:noFill/>
          <a:ln/>
        </p:spPr>
        <p:txBody>
          <a:bodyPr wrap="square" lIns="0" tIns="0" rIns="0" bIns="0" rtlCol="0" anchor="t"/>
          <a:lstStyle/>
          <a:p>
            <a:pPr marL="177800" indent="-177800">
              <a:lnSpc>
                <a:spcPts val="1300"/>
              </a:lnSpc>
              <a:spcAft>
                <a:spcPts val="300"/>
              </a:spcAft>
              <a:buSzPct val="100000"/>
              <a:buChar char="•"/>
            </a:pPr>
            <a:r>
              <a:rPr lang="en-US" sz="1050" dirty="0">
                <a:solidFill>
                  <a:srgbClr val="3E3E4B"/>
                </a:solidFill>
                <a:latin typeface="Calibri" pitchFamily="34" charset="0"/>
                <a:ea typeface="Calibri" pitchFamily="34" charset="-122"/>
                <a:cs typeface="Calibri" pitchFamily="34" charset="-120"/>
              </a:rPr>
              <a:t>Benchmark base-sync throughput.</a:t>
            </a:r>
            <a:endParaRPr lang="en-US" sz="1050" dirty="0"/>
          </a:p>
          <a:p>
            <a:pPr marL="177800" indent="-177800">
              <a:lnSpc>
                <a:spcPts val="1300"/>
              </a:lnSpc>
              <a:spcAft>
                <a:spcPts val="300"/>
              </a:spcAft>
              <a:buSzPct val="100000"/>
              <a:buChar char="•"/>
            </a:pPr>
            <a:r>
              <a:rPr lang="en-US" sz="1050" dirty="0">
                <a:solidFill>
                  <a:srgbClr val="3E3E4B"/>
                </a:solidFill>
                <a:latin typeface="Calibri" pitchFamily="34" charset="0"/>
                <a:ea typeface="Calibri" pitchFamily="34" charset="-122"/>
                <a:cs typeface="Calibri" pitchFamily="34" charset="-120"/>
              </a:rPr>
              <a:t>Account for encapsulation, MTU, and gateway processing.</a:t>
            </a:r>
            <a:endParaRPr lang="en-US" sz="1050" dirty="0"/>
          </a:p>
          <a:p>
            <a:pPr marL="177800" indent="-177800">
              <a:lnSpc>
                <a:spcPts val="1300"/>
              </a:lnSpc>
              <a:spcAft>
                <a:spcPts val="300"/>
              </a:spcAft>
              <a:buSzPct val="100000"/>
              <a:buChar char="•"/>
            </a:pPr>
            <a:r>
              <a:rPr lang="en-US" sz="1050" dirty="0">
                <a:solidFill>
                  <a:srgbClr val="3E3E4B"/>
                </a:solidFill>
                <a:latin typeface="Calibri" pitchFamily="34" charset="0"/>
                <a:ea typeface="Calibri" pitchFamily="34" charset="-122"/>
                <a:cs typeface="Calibri" pitchFamily="34" charset="-120"/>
              </a:rPr>
              <a:t>Organize waves by complete subnet where possible.</a:t>
            </a:r>
            <a:endParaRPr lang="en-US" sz="1050" dirty="0"/>
          </a:p>
          <a:p>
            <a:pPr marL="177800" indent="-177800">
              <a:lnSpc>
                <a:spcPts val="1300"/>
              </a:lnSpc>
              <a:spcAft>
                <a:spcPts val="300"/>
              </a:spcAft>
              <a:buSzPct val="100000"/>
              <a:buChar char="•"/>
            </a:pPr>
            <a:r>
              <a:rPr lang="en-US" sz="1050" dirty="0">
                <a:solidFill>
                  <a:srgbClr val="3E3E4B"/>
                </a:solidFill>
                <a:latin typeface="Calibri" pitchFamily="34" charset="0"/>
                <a:ea typeface="Calibri" pitchFamily="34" charset="-122"/>
                <a:cs typeface="Calibri" pitchFamily="34" charset="-120"/>
              </a:rPr>
              <a:t>Track temporary /32 routes and summarize after each wave.</a:t>
            </a:r>
            <a:endParaRPr lang="en-US" sz="1050" dirty="0"/>
          </a:p>
          <a:p>
            <a:pPr marL="177800" indent="-177800">
              <a:lnSpc>
                <a:spcPts val="1300"/>
              </a:lnSpc>
              <a:spcAft>
                <a:spcPts val="300"/>
              </a:spcAft>
              <a:buSzPct val="100000"/>
              <a:buChar char="•"/>
            </a:pPr>
            <a:r>
              <a:rPr lang="en-US" sz="1050" dirty="0">
                <a:solidFill>
                  <a:srgbClr val="3E3E4B"/>
                </a:solidFill>
                <a:latin typeface="Calibri" pitchFamily="34" charset="0"/>
                <a:ea typeface="Calibri" pitchFamily="34" charset="-122"/>
                <a:cs typeface="Calibri" pitchFamily="34" charset="-120"/>
              </a:rPr>
              <a:t>Do not treat a working MON state as a completed migration.</a:t>
            </a:r>
            <a:endParaRPr lang="en-US" sz="1050" dirty="0"/>
          </a:p>
        </p:txBody>
      </p:sp>
      <p:sp>
        <p:nvSpPr>
          <p:cNvPr id="24" name="Shape 22"/>
          <p:cNvSpPr/>
          <p:nvPr/>
        </p:nvSpPr>
        <p:spPr>
          <a:xfrm>
            <a:off x="8065008" y="3694176"/>
            <a:ext cx="3575304" cy="2194560"/>
          </a:xfrm>
          <a:prstGeom prst="roundRect">
            <a:avLst>
              <a:gd name="adj" fmla="val 3750"/>
            </a:avLst>
          </a:prstGeom>
          <a:solidFill>
            <a:srgbClr val="EBEDED"/>
          </a:solidFill>
          <a:ln/>
        </p:spPr>
      </p:sp>
      <p:sp>
        <p:nvSpPr>
          <p:cNvPr id="25" name="Shape 23"/>
          <p:cNvSpPr/>
          <p:nvPr/>
        </p:nvSpPr>
        <p:spPr>
          <a:xfrm>
            <a:off x="8065008" y="3694176"/>
            <a:ext cx="3575304" cy="411480"/>
          </a:xfrm>
          <a:prstGeom prst="roundRect">
            <a:avLst>
              <a:gd name="adj" fmla="val 20000"/>
            </a:avLst>
          </a:prstGeom>
          <a:solidFill>
            <a:srgbClr val="3E3E4B"/>
          </a:solidFill>
          <a:ln/>
        </p:spPr>
      </p:sp>
      <p:sp>
        <p:nvSpPr>
          <p:cNvPr id="26" name="Text 24"/>
          <p:cNvSpPr/>
          <p:nvPr/>
        </p:nvSpPr>
        <p:spPr>
          <a:xfrm>
            <a:off x="8266176" y="3758184"/>
            <a:ext cx="3172968"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Resilience and operations</a:t>
            </a:r>
            <a:endParaRPr lang="en-US" sz="1300" dirty="0"/>
          </a:p>
        </p:txBody>
      </p:sp>
      <p:sp>
        <p:nvSpPr>
          <p:cNvPr id="27" name="Text 25"/>
          <p:cNvSpPr/>
          <p:nvPr/>
        </p:nvSpPr>
        <p:spPr>
          <a:xfrm>
            <a:off x="8266176" y="4224528"/>
            <a:ext cx="3172968" cy="1554480"/>
          </a:xfrm>
          <a:prstGeom prst="rect">
            <a:avLst/>
          </a:prstGeom>
          <a:noFill/>
          <a:ln/>
        </p:spPr>
        <p:txBody>
          <a:bodyPr wrap="square" lIns="0" tIns="0" rIns="0" bIns="0" rtlCol="0" anchor="t"/>
          <a:lstStyle/>
          <a:p>
            <a:pPr marL="177800" indent="-177800">
              <a:lnSpc>
                <a:spcPts val="1300"/>
              </a:lnSpc>
              <a:spcAft>
                <a:spcPts val="300"/>
              </a:spcAft>
              <a:buSzPct val="100000"/>
              <a:buChar char="•"/>
            </a:pPr>
            <a:r>
              <a:rPr lang="en-US" sz="1050" dirty="0">
                <a:solidFill>
                  <a:srgbClr val="3E3E4B"/>
                </a:solidFill>
                <a:latin typeface="Calibri" pitchFamily="34" charset="0"/>
                <a:ea typeface="Calibri" pitchFamily="34" charset="-122"/>
                <a:cs typeface="Calibri" pitchFamily="34" charset="-120"/>
              </a:rPr>
              <a:t>Confirm whether rack, zone, region, or application resilience is required.</a:t>
            </a:r>
            <a:endParaRPr lang="en-US" sz="1050" dirty="0"/>
          </a:p>
          <a:p>
            <a:pPr marL="177800" indent="-177800">
              <a:lnSpc>
                <a:spcPts val="1300"/>
              </a:lnSpc>
              <a:spcAft>
                <a:spcPts val="300"/>
              </a:spcAft>
              <a:buSzPct val="100000"/>
              <a:buChar char="•"/>
            </a:pPr>
            <a:r>
              <a:rPr lang="en-US" sz="1050" dirty="0">
                <a:solidFill>
                  <a:srgbClr val="3E3E4B"/>
                </a:solidFill>
                <a:latin typeface="Calibri" pitchFamily="34" charset="0"/>
                <a:ea typeface="Calibri" pitchFamily="34" charset="-122"/>
                <a:cs typeface="Calibri" pitchFamily="34" charset="-120"/>
              </a:rPr>
              <a:t>Design cross-region replication for Generation 2.</a:t>
            </a:r>
            <a:endParaRPr lang="en-US" sz="1050" dirty="0"/>
          </a:p>
          <a:p>
            <a:pPr marL="177800" indent="-177800">
              <a:lnSpc>
                <a:spcPts val="1300"/>
              </a:lnSpc>
              <a:spcAft>
                <a:spcPts val="300"/>
              </a:spcAft>
              <a:buSzPct val="100000"/>
              <a:buChar char="•"/>
            </a:pPr>
            <a:r>
              <a:rPr lang="en-US" sz="1050" dirty="0">
                <a:solidFill>
                  <a:srgbClr val="3E3E4B"/>
                </a:solidFill>
                <a:latin typeface="Calibri" pitchFamily="34" charset="0"/>
                <a:ea typeface="Calibri" pitchFamily="34" charset="-122"/>
                <a:cs typeface="Calibri" pitchFamily="34" charset="-120"/>
              </a:rPr>
              <a:t>Train administrators on AV64 fault-domain placement.</a:t>
            </a:r>
            <a:endParaRPr lang="en-US" sz="1050" dirty="0"/>
          </a:p>
          <a:p>
            <a:pPr marL="177800" indent="-177800">
              <a:lnSpc>
                <a:spcPts val="1300"/>
              </a:lnSpc>
              <a:spcAft>
                <a:spcPts val="300"/>
              </a:spcAft>
              <a:buSzPct val="100000"/>
              <a:buChar char="•"/>
            </a:pPr>
            <a:r>
              <a:rPr lang="en-US" sz="1050" dirty="0">
                <a:solidFill>
                  <a:srgbClr val="3E3E4B"/>
                </a:solidFill>
                <a:latin typeface="Calibri" pitchFamily="34" charset="0"/>
                <a:ea typeface="Calibri" pitchFamily="34" charset="-122"/>
                <a:cs typeface="Calibri" pitchFamily="34" charset="-120"/>
              </a:rPr>
              <a:t>Set and audit VM-level EVC for mixed-generation mobility.</a:t>
            </a:r>
            <a:endParaRPr lang="en-US" sz="1050" dirty="0"/>
          </a:p>
          <a:p>
            <a:pPr marL="177800" indent="-177800">
              <a:lnSpc>
                <a:spcPts val="1300"/>
              </a:lnSpc>
              <a:spcAft>
                <a:spcPts val="300"/>
              </a:spcAft>
              <a:buSzPct val="100000"/>
              <a:buChar char="•"/>
            </a:pPr>
            <a:r>
              <a:rPr lang="en-US" sz="1050" dirty="0">
                <a:solidFill>
                  <a:srgbClr val="3E3E4B"/>
                </a:solidFill>
                <a:latin typeface="Calibri" pitchFamily="34" charset="0"/>
                <a:ea typeface="Calibri" pitchFamily="34" charset="-122"/>
                <a:cs typeface="Calibri" pitchFamily="34" charset="-120"/>
              </a:rPr>
              <a:t>Document when cold migration and downtime would be required.</a:t>
            </a:r>
            <a:endParaRPr lang="en-US" sz="1050" dirty="0"/>
          </a:p>
        </p:txBody>
      </p:sp>
      <p:sp>
        <p:nvSpPr>
          <p:cNvPr id="28" name="Text 26"/>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19. Implementation and validation checklist</a:t>
            </a:r>
            <a:endParaRPr lang="en-US" sz="950" dirty="0"/>
          </a:p>
        </p:txBody>
      </p:sp>
      <p:sp>
        <p:nvSpPr>
          <p:cNvPr id="29" name="Text 27"/>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43</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3E3E4B"/>
        </a:solidFill>
      </p:bgPr>
    </p:bg>
    <p:spTree>
      <p:nvGrpSpPr>
        <p:cNvPr id="1" name=""/>
        <p:cNvGrpSpPr/>
        <p:nvPr/>
      </p:nvGrpSpPr>
      <p:grpSpPr>
        <a:xfrm>
          <a:off x="0" y="0"/>
          <a:ext cx="0" cy="0"/>
          <a:chOff x="0" y="0"/>
          <a:chExt cx="0" cy="0"/>
        </a:xfrm>
      </p:grpSpPr>
      <p:sp>
        <p:nvSpPr>
          <p:cNvPr id="2" name="Shape 0"/>
          <p:cNvSpPr/>
          <p:nvPr/>
        </p:nvSpPr>
        <p:spPr>
          <a:xfrm>
            <a:off x="9509760" y="-1097280"/>
            <a:ext cx="4206240" cy="4206240"/>
          </a:xfrm>
          <a:prstGeom prst="ellipse">
            <a:avLst/>
          </a:prstGeom>
          <a:solidFill>
            <a:srgbClr val="4A4A58"/>
          </a:solidFill>
          <a:ln/>
        </p:spPr>
      </p:sp>
      <p:sp>
        <p:nvSpPr>
          <p:cNvPr id="3" name="Shape 1"/>
          <p:cNvSpPr/>
          <p:nvPr/>
        </p:nvSpPr>
        <p:spPr>
          <a:xfrm>
            <a:off x="10607040" y="4023360"/>
            <a:ext cx="2194560" cy="2194560"/>
          </a:xfrm>
          <a:prstGeom prst="ellipse">
            <a:avLst/>
          </a:prstGeom>
          <a:solidFill>
            <a:srgbClr val="00B3E2"/>
          </a:solidFill>
          <a:ln/>
        </p:spPr>
      </p:sp>
      <p:sp>
        <p:nvSpPr>
          <p:cNvPr id="4" name="Text 2"/>
          <p:cNvSpPr/>
          <p:nvPr/>
        </p:nvSpPr>
        <p:spPr>
          <a:xfrm>
            <a:off x="548640" y="1371600"/>
            <a:ext cx="8686800" cy="274320"/>
          </a:xfrm>
          <a:prstGeom prst="rect">
            <a:avLst/>
          </a:prstGeom>
          <a:noFill/>
          <a:ln/>
        </p:spPr>
        <p:txBody>
          <a:bodyPr wrap="square" lIns="0" tIns="0" rIns="0" bIns="0" rtlCol="0" anchor="ctr"/>
          <a:lstStyle/>
          <a:p>
            <a:pPr indent="0" marL="0">
              <a:buNone/>
            </a:pPr>
            <a:r>
              <a:rPr lang="en-US" sz="1150" b="1" spc="160" kern="0" dirty="0">
                <a:solidFill>
                  <a:srgbClr val="00B3E2"/>
                </a:solidFill>
                <a:latin typeface="Arial" pitchFamily="34" charset="0"/>
                <a:ea typeface="Arial" pitchFamily="34" charset="-122"/>
                <a:cs typeface="Arial" pitchFamily="34" charset="-120"/>
              </a:rPr>
              <a:t>THE CENTRAL ARCHITECTURE RULE</a:t>
            </a:r>
            <a:endParaRPr lang="en-US" sz="1150" dirty="0"/>
          </a:p>
        </p:txBody>
      </p:sp>
      <p:sp>
        <p:nvSpPr>
          <p:cNvPr id="5" name="Text 3"/>
          <p:cNvSpPr/>
          <p:nvPr/>
        </p:nvSpPr>
        <p:spPr>
          <a:xfrm>
            <a:off x="548640" y="1828800"/>
            <a:ext cx="8778240" cy="91440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Arial" pitchFamily="34" charset="0"/>
                <a:ea typeface="Arial" pitchFamily="34" charset="-122"/>
                <a:cs typeface="Arial" pitchFamily="34" charset="-120"/>
              </a:rPr>
              <a:t>Do not treat Generation 2 as a faster Generation 1 deployment.</a:t>
            </a:r>
            <a:endParaRPr lang="en-US" sz="3000" dirty="0"/>
          </a:p>
        </p:txBody>
      </p:sp>
      <p:sp>
        <p:nvSpPr>
          <p:cNvPr id="6" name="Text 4"/>
          <p:cNvSpPr/>
          <p:nvPr/>
        </p:nvSpPr>
        <p:spPr>
          <a:xfrm>
            <a:off x="548640" y="2880360"/>
            <a:ext cx="8778240" cy="1005840"/>
          </a:xfrm>
          <a:prstGeom prst="rect">
            <a:avLst/>
          </a:prstGeom>
          <a:noFill/>
          <a:ln/>
        </p:spPr>
        <p:txBody>
          <a:bodyPr wrap="square" lIns="0" tIns="0" rIns="0" bIns="0" rtlCol="0" anchor="ctr"/>
          <a:lstStyle/>
          <a:p>
            <a:pPr indent="0" marL="0">
              <a:lnSpc>
                <a:spcPts val="2800"/>
              </a:lnSpc>
              <a:buNone/>
            </a:pPr>
            <a:r>
              <a:rPr lang="en-US" sz="2000" b="1" dirty="0">
                <a:solidFill>
                  <a:srgbClr val="00B3E2"/>
                </a:solidFill>
                <a:latin typeface="Arial" pitchFamily="34" charset="0"/>
                <a:ea typeface="Arial" pitchFamily="34" charset="-122"/>
                <a:cs typeface="Arial" pitchFamily="34" charset="-120"/>
              </a:rPr>
              <a:t>Treat it as a different network, resilience, hardware, and operating model whose limits must be calculated before the private cloud is created.</a:t>
            </a:r>
            <a:endParaRPr lang="en-US" sz="2000" dirty="0"/>
          </a:p>
        </p:txBody>
      </p:sp>
      <p:sp>
        <p:nvSpPr>
          <p:cNvPr id="7" name="Shape 5"/>
          <p:cNvSpPr/>
          <p:nvPr/>
        </p:nvSpPr>
        <p:spPr>
          <a:xfrm>
            <a:off x="548640" y="4114800"/>
            <a:ext cx="1188720" cy="45720"/>
          </a:xfrm>
          <a:prstGeom prst="roundRect">
            <a:avLst>
              <a:gd name="adj" fmla="val 40000"/>
            </a:avLst>
          </a:prstGeom>
          <a:solidFill>
            <a:srgbClr val="00B3E2"/>
          </a:solidFill>
          <a:ln/>
        </p:spPr>
      </p:sp>
      <p:sp>
        <p:nvSpPr>
          <p:cNvPr id="8" name="Text 6"/>
          <p:cNvSpPr/>
          <p:nvPr/>
        </p:nvSpPr>
        <p:spPr>
          <a:xfrm>
            <a:off x="548640" y="4434840"/>
            <a:ext cx="4937760" cy="1097280"/>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Arial" pitchFamily="34" charset="0"/>
                <a:ea typeface="Arial" pitchFamily="34" charset="-122"/>
                <a:cs typeface="Arial" pitchFamily="34" charset="-120"/>
              </a:rPr>
              <a:t>Generation 1</a:t>
            </a:r>
            <a:endParaRPr lang="en-US" sz="1300" dirty="0"/>
          </a:p>
          <a:p>
            <a:pPr indent="0" marL="0">
              <a:lnSpc>
                <a:spcPts val="1700"/>
              </a:lnSpc>
              <a:buNone/>
            </a:pPr>
            <a:r>
              <a:rPr lang="en-US" sz="1250" dirty="0">
                <a:solidFill>
                  <a:srgbClr val="DDE2E2"/>
                </a:solidFill>
                <a:latin typeface="Calibri" pitchFamily="34" charset="0"/>
                <a:ea typeface="Calibri" pitchFamily="34" charset="-122"/>
                <a:cs typeface="Calibri" pitchFamily="34" charset="-120"/>
              </a:rPr>
              <a:t>Established routing flexibility and the strongest multi-zone availability option, carrying ExpressRoute cost and complexity.</a:t>
            </a:r>
            <a:endParaRPr lang="en-US" sz="1300" dirty="0"/>
          </a:p>
        </p:txBody>
      </p:sp>
      <p:sp>
        <p:nvSpPr>
          <p:cNvPr id="9" name="Text 7"/>
          <p:cNvSpPr/>
          <p:nvPr/>
        </p:nvSpPr>
        <p:spPr>
          <a:xfrm>
            <a:off x="5760720" y="4434840"/>
            <a:ext cx="4937760" cy="1097280"/>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Arial" pitchFamily="34" charset="0"/>
                <a:ea typeface="Arial" pitchFamily="34" charset="-122"/>
                <a:cs typeface="Arial" pitchFamily="34" charset="-120"/>
              </a:rPr>
              <a:t>Generation 2</a:t>
            </a:r>
            <a:endParaRPr lang="en-US" sz="1300" dirty="0"/>
          </a:p>
          <a:p>
            <a:pPr indent="0" marL="0">
              <a:lnSpc>
                <a:spcPts val="1700"/>
              </a:lnSpc>
              <a:buNone/>
            </a:pPr>
            <a:r>
              <a:rPr lang="en-US" sz="1250" dirty="0">
                <a:solidFill>
                  <a:srgbClr val="DDE2E2"/>
                </a:solidFill>
                <a:latin typeface="Calibri" pitchFamily="34" charset="0"/>
                <a:ea typeface="Calibri" pitchFamily="34" charset="-122"/>
                <a:cs typeface="Calibri" pitchFamily="34" charset="-120"/>
              </a:rPr>
              <a:t>Direct Azure integration and premium AV64 performance, requiring disciplined route budgeting, migration summarization, fixed deployment governance, and a separate DR strategy.</a:t>
            </a:r>
            <a:endParaRPr lang="en-US" sz="1300" dirty="0"/>
          </a:p>
        </p:txBody>
      </p:sp>
      <p:sp>
        <p:nvSpPr>
          <p:cNvPr id="10" name="Text 8"/>
          <p:cNvSpPr/>
          <p:nvPr/>
        </p:nvSpPr>
        <p:spPr>
          <a:xfrm>
            <a:off x="548640" y="6382512"/>
            <a:ext cx="10177272" cy="256032"/>
          </a:xfrm>
          <a:prstGeom prst="rect">
            <a:avLst/>
          </a:prstGeom>
          <a:noFill/>
          <a:ln/>
        </p:spPr>
        <p:txBody>
          <a:bodyPr wrap="square" lIns="0" tIns="0" rIns="0" bIns="0" rtlCol="0" anchor="ctr"/>
          <a:lstStyle/>
          <a:p>
            <a:pPr indent="0" marL="0">
              <a:buNone/>
            </a:pPr>
            <a:r>
              <a:rPr lang="en-US" sz="950" dirty="0">
                <a:solidFill>
                  <a:srgbClr val="6B6B78"/>
                </a:solidFill>
                <a:latin typeface="Calibri" pitchFamily="34" charset="0"/>
                <a:ea typeface="Calibri" pitchFamily="34" charset="-122"/>
                <a:cs typeface="Calibri" pitchFamily="34" charset="-120"/>
              </a:rPr>
              <a:t>Architecture summary</a:t>
            </a:r>
            <a:endParaRPr lang="en-US" sz="950" dirty="0"/>
          </a:p>
        </p:txBody>
      </p:sp>
      <p:sp>
        <p:nvSpPr>
          <p:cNvPr id="11" name="Text 9"/>
          <p:cNvSpPr/>
          <p:nvPr/>
        </p:nvSpPr>
        <p:spPr>
          <a:xfrm>
            <a:off x="10817352" y="6382512"/>
            <a:ext cx="822960" cy="256032"/>
          </a:xfrm>
          <a:prstGeom prst="rect">
            <a:avLst/>
          </a:prstGeom>
          <a:noFill/>
          <a:ln/>
        </p:spPr>
        <p:txBody>
          <a:bodyPr wrap="square" lIns="0" tIns="0" rIns="0" bIns="0" rtlCol="0" anchor="ctr"/>
          <a:lstStyle/>
          <a:p>
            <a:pPr algn="r" indent="0" marL="0">
              <a:buNone/>
            </a:pPr>
            <a:r>
              <a:rPr lang="en-US" sz="950" dirty="0">
                <a:solidFill>
                  <a:srgbClr val="6B6B78"/>
                </a:solidFill>
                <a:latin typeface="Calibri" pitchFamily="34" charset="0"/>
                <a:ea typeface="Calibri" pitchFamily="34" charset="-122"/>
                <a:cs typeface="Calibri" pitchFamily="34" charset="-120"/>
              </a:rPr>
              <a:t>44</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Quisitive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VMware Solution: Generation 1 vs Generation 2</dc:title>
  <dc:subject>PptxGenJS Presentation</dc:subject>
  <dc:creator>Quisitive</dc:creator>
  <cp:lastModifiedBy>Quisitive</cp:lastModifiedBy>
  <cp:revision>1</cp:revision>
  <dcterms:created xsi:type="dcterms:W3CDTF">2026-07-25T21:03:41Z</dcterms:created>
  <dcterms:modified xsi:type="dcterms:W3CDTF">2026-07-25T21:03:41Z</dcterms:modified>
</cp:coreProperties>
</file>