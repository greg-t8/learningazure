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AVS networking failures are rarely loud. They show up as timeouts and retransmissions long after a migration is declared successful. This session works through where those limits live and how to design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scenario: every checkpoint passed. The limit that was breached is not exposed by ordinary monitoring, so the failure surfaces only under production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packet death is the umbrella term for several distinct failures in this deck: address conflicts, SNAT exhaustion, and route-table exhaustion. All three drop traffic without a clear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the early sections build the vocabulary needed for the route-capacity discussion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trade-off is real: enterprises have to locate a large, unused, contiguous range. That search should start at the beginning of the engagement, not during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subnet layout can vary by deployment, but the principle holds: the customer supplies one contiguous block and Azure controls everything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exclusions are not arbitrary. They protect infrastructure services that are invisible to the VMware tenant. Validate the enterprise address plan against these ranges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 5201 is worth calling out on assessments. Validating throughput before the first live migration prevents a failed cutover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 is the reason both ports must be open end to end. Blocking UDP 4500 does not stop migration outright; it degrades it until large workloads stop converging.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common late surprise. Adding ASN capability to the readiness checklist costs nothing and avoids a blocked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Hundreds of VMs collectively create a very large number of simultaneous NAT translations. The ceiling is reached faster than most teams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Lack of visibility is the real cost of the managed model. Incident response slows because the failing component cannot be inspected.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 is control for responsibility. Everything the platform used to handle silently now belongs to the customer's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Asymmetric routing is one of the most common Generation 2 design faults. It usually appears as intermittent connection resets rather than a clean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clients push back on non-transitivity, the isolation argument usually lands: they are protected from another private cloud's bulk transfer consuming their edge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savings from under-provisioning gateways rarely stay contained. They surface as branch-wide performance complaints that are hard to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the selection on workload requirements rather than default preference. Latency-sensitive applications frequently justify Microsoft network routing despite the cost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tram analogy works well here: Tier-1 moves people between terminals, Tier-0 is the road out of the airport.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costs migration teams hours. Add it to the runbook rather than leaving it to be rediscovered per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forwarding for the AVS namespace is the whole integration. It avoids deploying and maintaining DNS VMs in Azure purely for hybrid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route capacity varies with host count, so a three-node cluster supports fewer /28 chunks than a larger one. Adding hosts does not remove the VNet-level ceiling, which is a separate hard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migrated VM receives its own /32 and each /32 counts as one prefix. Migration batch sizing has to be driven by this number, not by storage or compute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Monday-morning outage from the opening slide. It is the reason route-prefix consumption belongs on the migration dashboard alongside VM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convergence some devices hold inconsistent forwarding information. Treat the interruption as a planned event with a maintenance window rather than something to be avoided.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practical takeaway for delivery teams. If nothing else survives the session, this checklist should.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Generation 2 honestly with clients: more control is a benefit only if the team is resourced to exercise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the room's own experience: which of these limits have they already hit, and what did the symptom look like before they identified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052560" y="1005840"/>
            <a:ext cx="4846320" cy="4846320"/>
          </a:xfrm>
          <a:prstGeom prst="ellipse">
            <a:avLst/>
          </a:prstGeom>
          <a:solidFill>
            <a:srgbClr val="3E3E4B"/>
          </a:solidFill>
          <a:ln w="15875">
            <a:solidFill>
              <a:srgbClr val="00B3E2"/>
            </a:solidFill>
            <a:prstDash val="solid"/>
          </a:ln>
        </p:spPr>
      </p:sp>
      <p:sp>
        <p:nvSpPr>
          <p:cNvPr id="3" name="Shape 1"/>
          <p:cNvSpPr/>
          <p:nvPr/>
        </p:nvSpPr>
        <p:spPr>
          <a:xfrm>
            <a:off x="9966960" y="1920240"/>
            <a:ext cx="3017520" cy="3017520"/>
          </a:xfrm>
          <a:prstGeom prst="ellipse">
            <a:avLst/>
          </a:prstGeom>
          <a:solidFill>
            <a:srgbClr val="3E3E4B"/>
          </a:solidFill>
          <a:ln w="12700">
            <a:solidFill>
              <a:srgbClr val="5A5A6B"/>
            </a:solidFill>
            <a:prstDash val="solid"/>
          </a:ln>
        </p:spPr>
      </p:sp>
      <p:sp>
        <p:nvSpPr>
          <p:cNvPr id="4" name="Shape 2"/>
          <p:cNvSpPr/>
          <p:nvPr/>
        </p:nvSpPr>
        <p:spPr>
          <a:xfrm>
            <a:off x="10744200" y="2697480"/>
            <a:ext cx="1463040" cy="1463040"/>
          </a:xfrm>
          <a:prstGeom prst="ellipse">
            <a:avLst/>
          </a:prstGeom>
          <a:solidFill>
            <a:srgbClr val="00B3E2"/>
          </a:solidFill>
          <a:ln w="12700">
            <a:solidFill>
              <a:srgbClr val="00B3E2"/>
            </a:solidFill>
            <a:prstDash val="solid"/>
          </a:ln>
        </p:spPr>
      </p:sp>
      <p:sp>
        <p:nvSpPr>
          <p:cNvPr id="5" name="Text 3"/>
          <p:cNvSpPr/>
          <p:nvPr/>
        </p:nvSpPr>
        <p:spPr>
          <a:xfrm>
            <a:off x="640080" y="1417320"/>
            <a:ext cx="7863840" cy="274320"/>
          </a:xfrm>
          <a:prstGeom prst="rect">
            <a:avLst/>
          </a:prstGeom>
          <a:noFill/>
          <a:ln/>
        </p:spPr>
        <p:txBody>
          <a:bodyPr wrap="square" lIns="0" tIns="0" rIns="0" bIns="0" rtlCol="0" anchor="ctr"/>
          <a:lstStyle/>
          <a:p>
            <a:pPr indent="0" marL="0">
              <a:buNone/>
            </a:pPr>
            <a:r>
              <a:rPr lang="en-US" sz="1200" b="1" spc="250" kern="0" dirty="0">
                <a:solidFill>
                  <a:srgbClr val="00B3E2"/>
                </a:solidFill>
                <a:latin typeface="Calibri" pitchFamily="34" charset="0"/>
                <a:ea typeface="Calibri" pitchFamily="34" charset="-122"/>
                <a:cs typeface="Calibri" pitchFamily="34" charset="-120"/>
              </a:rPr>
              <a:t>QUISITIVE  |  SECURE INFRASTRUCTURE</a:t>
            </a:r>
            <a:endParaRPr lang="en-US" sz="1200" dirty="0"/>
          </a:p>
        </p:txBody>
      </p:sp>
      <p:sp>
        <p:nvSpPr>
          <p:cNvPr id="6" name="Text 4"/>
          <p:cNvSpPr/>
          <p:nvPr/>
        </p:nvSpPr>
        <p:spPr>
          <a:xfrm>
            <a:off x="640080" y="1874520"/>
            <a:ext cx="7955280" cy="173736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libri" pitchFamily="34" charset="0"/>
                <a:ea typeface="Calibri" pitchFamily="34" charset="-122"/>
                <a:cs typeface="Calibri" pitchFamily="34" charset="-120"/>
              </a:rPr>
              <a:t>Silent Packet Death in</a:t>
            </a:r>
            <a:endParaRPr lang="en-US" sz="4600" dirty="0"/>
          </a:p>
          <a:p>
            <a:pPr indent="0" marL="0">
              <a:lnSpc>
                <a:spcPts val="5200"/>
              </a:lnSpc>
              <a:buNone/>
            </a:pPr>
            <a:r>
              <a:rPr lang="en-US" sz="4600" b="1" dirty="0">
                <a:solidFill>
                  <a:srgbClr val="FFFFFF"/>
                </a:solidFill>
                <a:latin typeface="Calibri" pitchFamily="34" charset="0"/>
                <a:ea typeface="Calibri" pitchFamily="34" charset="-122"/>
                <a:cs typeface="Calibri" pitchFamily="34" charset="-120"/>
              </a:rPr>
              <a:t>Azure VMware Solution</a:t>
            </a:r>
            <a:endParaRPr lang="en-US" sz="4600" dirty="0"/>
          </a:p>
        </p:txBody>
      </p:sp>
      <p:sp>
        <p:nvSpPr>
          <p:cNvPr id="7" name="Text 5"/>
          <p:cNvSpPr/>
          <p:nvPr/>
        </p:nvSpPr>
        <p:spPr>
          <a:xfrm>
            <a:off x="640080" y="3794760"/>
            <a:ext cx="7589520" cy="731520"/>
          </a:xfrm>
          <a:prstGeom prst="rect">
            <a:avLst/>
          </a:prstGeom>
          <a:noFill/>
          <a:ln/>
        </p:spPr>
        <p:txBody>
          <a:bodyPr wrap="square" lIns="0" tIns="0" rIns="0" bIns="0" rtlCol="0" anchor="ctr"/>
          <a:lstStyle/>
          <a:p>
            <a:pPr indent="0" marL="0">
              <a:buNone/>
            </a:pPr>
            <a:r>
              <a:rPr lang="en-US" sz="1600" dirty="0">
                <a:solidFill>
                  <a:srgbClr val="C9CCD6"/>
                </a:solidFill>
                <a:latin typeface="Calibri" pitchFamily="34" charset="0"/>
                <a:ea typeface="Calibri" pitchFamily="34" charset="-122"/>
                <a:cs typeface="Calibri" pitchFamily="34" charset="-120"/>
              </a:rPr>
              <a:t>Routing limits, hidden ceilings, and the design decisions that keep a migration from failing on Monday morning.</a:t>
            </a:r>
            <a:endParaRPr lang="en-US" sz="1600" dirty="0"/>
          </a:p>
        </p:txBody>
      </p:sp>
      <p:sp>
        <p:nvSpPr>
          <p:cNvPr id="8" name="Text 6"/>
          <p:cNvSpPr/>
          <p:nvPr/>
        </p:nvSpPr>
        <p:spPr>
          <a:xfrm>
            <a:off x="640080" y="4892040"/>
            <a:ext cx="7589520" cy="274320"/>
          </a:xfrm>
          <a:prstGeom prst="rect">
            <a:avLst/>
          </a:prstGeom>
          <a:noFill/>
          <a:ln/>
        </p:spPr>
        <p:txBody>
          <a:bodyPr wrap="square" lIns="0" tIns="0" rIns="0" bIns="0" rtlCol="0" anchor="ctr"/>
          <a:lstStyle/>
          <a:p>
            <a:pPr indent="0" marL="0">
              <a:buNone/>
            </a:pPr>
            <a:r>
              <a:rPr lang="en-US" sz="1200" b="1" dirty="0">
                <a:solidFill>
                  <a:srgbClr val="2DCCD3"/>
                </a:solidFill>
                <a:latin typeface="Calibri" pitchFamily="34" charset="0"/>
                <a:ea typeface="Calibri" pitchFamily="34" charset="-122"/>
                <a:cs typeface="Calibri" pitchFamily="34" charset="-120"/>
              </a:rPr>
              <a:t>Enterprise network architects  ·  Cloud engineers  ·  Infrastructure directors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THE SCENARIO</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 successful migration that failed on Monday</a:t>
            </a:r>
            <a:endParaRPr lang="en-US" sz="3400" dirty="0"/>
          </a:p>
        </p:txBody>
      </p:sp>
      <p:sp>
        <p:nvSpPr>
          <p:cNvPr id="4" name="Shape 2"/>
          <p:cNvSpPr/>
          <p:nvPr/>
        </p:nvSpPr>
        <p:spPr>
          <a:xfrm>
            <a:off x="640080" y="1783080"/>
            <a:ext cx="2542032" cy="2606040"/>
          </a:xfrm>
          <a:prstGeom prst="roundRect">
            <a:avLst>
              <a:gd name="adj" fmla="val 2518"/>
            </a:avLst>
          </a:prstGeom>
          <a:solidFill>
            <a:srgbClr val="4A4A58"/>
          </a:solidFill>
          <a:ln w="9525">
            <a:solidFill>
              <a:srgbClr val="5C5C6C"/>
            </a:solidFill>
            <a:prstDash val="solid"/>
          </a:ln>
        </p:spPr>
      </p:sp>
      <p:sp>
        <p:nvSpPr>
          <p:cNvPr id="5" name="Text 3"/>
          <p:cNvSpPr/>
          <p:nvPr/>
        </p:nvSpPr>
        <p:spPr>
          <a:xfrm>
            <a:off x="868680" y="1965960"/>
            <a:ext cx="2084832" cy="237744"/>
          </a:xfrm>
          <a:prstGeom prst="rect">
            <a:avLst/>
          </a:prstGeom>
          <a:noFill/>
          <a:ln/>
        </p:spPr>
        <p:txBody>
          <a:bodyPr wrap="square" lIns="0" tIns="0" rIns="0" bIns="0" rtlCol="0" anchor="ctr"/>
          <a:lstStyle/>
          <a:p>
            <a:pPr indent="0" marL="0">
              <a:buNone/>
            </a:pPr>
            <a:r>
              <a:rPr lang="en-US" sz="1100" b="1" spc="150" kern="0" dirty="0">
                <a:solidFill>
                  <a:srgbClr val="00B3E2"/>
                </a:solidFill>
                <a:latin typeface="Calibri" pitchFamily="34" charset="0"/>
                <a:ea typeface="Calibri" pitchFamily="34" charset="-122"/>
                <a:cs typeface="Calibri" pitchFamily="34" charset="-120"/>
              </a:rPr>
              <a:t>FRIDAY</a:t>
            </a:r>
            <a:endParaRPr lang="en-US" sz="1100" dirty="0"/>
          </a:p>
        </p:txBody>
      </p:sp>
      <p:sp>
        <p:nvSpPr>
          <p:cNvPr id="6" name="Text 4"/>
          <p:cNvSpPr/>
          <p:nvPr/>
        </p:nvSpPr>
        <p:spPr>
          <a:xfrm>
            <a:off x="868680" y="2286000"/>
            <a:ext cx="2084832"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Preparation complete</a:t>
            </a:r>
            <a:endParaRPr lang="en-US" sz="1700" dirty="0"/>
          </a:p>
        </p:txBody>
      </p:sp>
      <p:sp>
        <p:nvSpPr>
          <p:cNvPr id="7" name="Text 5"/>
          <p:cNvSpPr/>
          <p:nvPr/>
        </p:nvSpPr>
        <p:spPr>
          <a:xfrm>
            <a:off x="868680" y="3017520"/>
            <a:ext cx="2084832" cy="118872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Roughly 1,000 virtual machines staged for a weekend move into Azure.</a:t>
            </a:r>
            <a:endParaRPr lang="en-US" sz="1250" dirty="0"/>
          </a:p>
        </p:txBody>
      </p:sp>
      <p:sp>
        <p:nvSpPr>
          <p:cNvPr id="8" name="Shape 6"/>
          <p:cNvSpPr/>
          <p:nvPr/>
        </p:nvSpPr>
        <p:spPr>
          <a:xfrm>
            <a:off x="3429000" y="1783080"/>
            <a:ext cx="2542032" cy="2606040"/>
          </a:xfrm>
          <a:prstGeom prst="roundRect">
            <a:avLst>
              <a:gd name="adj" fmla="val 2518"/>
            </a:avLst>
          </a:prstGeom>
          <a:solidFill>
            <a:srgbClr val="4A4A58"/>
          </a:solidFill>
          <a:ln w="9525">
            <a:solidFill>
              <a:srgbClr val="5C5C6C"/>
            </a:solidFill>
            <a:prstDash val="solid"/>
          </a:ln>
        </p:spPr>
      </p:sp>
      <p:sp>
        <p:nvSpPr>
          <p:cNvPr id="9" name="Text 7"/>
          <p:cNvSpPr/>
          <p:nvPr/>
        </p:nvSpPr>
        <p:spPr>
          <a:xfrm>
            <a:off x="3657600" y="1965960"/>
            <a:ext cx="2084832" cy="237744"/>
          </a:xfrm>
          <a:prstGeom prst="rect">
            <a:avLst/>
          </a:prstGeom>
          <a:noFill/>
          <a:ln/>
        </p:spPr>
        <p:txBody>
          <a:bodyPr wrap="square" lIns="0" tIns="0" rIns="0" bIns="0" rtlCol="0" anchor="ctr"/>
          <a:lstStyle/>
          <a:p>
            <a:pPr indent="0" marL="0">
              <a:buNone/>
            </a:pPr>
            <a:r>
              <a:rPr lang="en-US" sz="1100" b="1" spc="150" kern="0" dirty="0">
                <a:solidFill>
                  <a:srgbClr val="00B3E2"/>
                </a:solidFill>
                <a:latin typeface="Calibri" pitchFamily="34" charset="0"/>
                <a:ea typeface="Calibri" pitchFamily="34" charset="-122"/>
                <a:cs typeface="Calibri" pitchFamily="34" charset="-120"/>
              </a:rPr>
              <a:t>SATURDAY</a:t>
            </a:r>
            <a:endParaRPr lang="en-US" sz="1100" dirty="0"/>
          </a:p>
        </p:txBody>
      </p:sp>
      <p:sp>
        <p:nvSpPr>
          <p:cNvPr id="10" name="Text 8"/>
          <p:cNvSpPr/>
          <p:nvPr/>
        </p:nvSpPr>
        <p:spPr>
          <a:xfrm>
            <a:off x="3657600" y="2286000"/>
            <a:ext cx="2084832"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Cutover executed</a:t>
            </a:r>
            <a:endParaRPr lang="en-US" sz="1700" dirty="0"/>
          </a:p>
        </p:txBody>
      </p:sp>
      <p:sp>
        <p:nvSpPr>
          <p:cNvPr id="11" name="Text 9"/>
          <p:cNvSpPr/>
          <p:nvPr/>
        </p:nvSpPr>
        <p:spPr>
          <a:xfrm>
            <a:off x="3657600" y="3017520"/>
            <a:ext cx="2084832" cy="118872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The migration team runs the cutover on schedule with no reported errors.</a:t>
            </a:r>
            <a:endParaRPr lang="en-US" sz="1250" dirty="0"/>
          </a:p>
        </p:txBody>
      </p:sp>
      <p:sp>
        <p:nvSpPr>
          <p:cNvPr id="12" name="Shape 10"/>
          <p:cNvSpPr/>
          <p:nvPr/>
        </p:nvSpPr>
        <p:spPr>
          <a:xfrm>
            <a:off x="6217920" y="1783080"/>
            <a:ext cx="2542032" cy="2606040"/>
          </a:xfrm>
          <a:prstGeom prst="roundRect">
            <a:avLst>
              <a:gd name="adj" fmla="val 2518"/>
            </a:avLst>
          </a:prstGeom>
          <a:solidFill>
            <a:srgbClr val="4A4A58"/>
          </a:solidFill>
          <a:ln w="9525">
            <a:solidFill>
              <a:srgbClr val="5C5C6C"/>
            </a:solidFill>
            <a:prstDash val="solid"/>
          </a:ln>
        </p:spPr>
      </p:sp>
      <p:sp>
        <p:nvSpPr>
          <p:cNvPr id="13" name="Text 11"/>
          <p:cNvSpPr/>
          <p:nvPr/>
        </p:nvSpPr>
        <p:spPr>
          <a:xfrm>
            <a:off x="6446520" y="1965960"/>
            <a:ext cx="2084832" cy="237744"/>
          </a:xfrm>
          <a:prstGeom prst="rect">
            <a:avLst/>
          </a:prstGeom>
          <a:noFill/>
          <a:ln/>
        </p:spPr>
        <p:txBody>
          <a:bodyPr wrap="square" lIns="0" tIns="0" rIns="0" bIns="0" rtlCol="0" anchor="ctr"/>
          <a:lstStyle/>
          <a:p>
            <a:pPr indent="0" marL="0">
              <a:buNone/>
            </a:pPr>
            <a:r>
              <a:rPr lang="en-US" sz="1100" b="1" spc="150" kern="0" dirty="0">
                <a:solidFill>
                  <a:srgbClr val="00B3E2"/>
                </a:solidFill>
                <a:latin typeface="Calibri" pitchFamily="34" charset="0"/>
                <a:ea typeface="Calibri" pitchFamily="34" charset="-122"/>
                <a:cs typeface="Calibri" pitchFamily="34" charset="-120"/>
              </a:rPr>
              <a:t>SUNDAY</a:t>
            </a:r>
            <a:endParaRPr lang="en-US" sz="1100" dirty="0"/>
          </a:p>
        </p:txBody>
      </p:sp>
      <p:sp>
        <p:nvSpPr>
          <p:cNvPr id="14" name="Text 12"/>
          <p:cNvSpPr/>
          <p:nvPr/>
        </p:nvSpPr>
        <p:spPr>
          <a:xfrm>
            <a:off x="6446520" y="2286000"/>
            <a:ext cx="2084832"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Connectivity verified</a:t>
            </a:r>
            <a:endParaRPr lang="en-US" sz="1700" dirty="0"/>
          </a:p>
        </p:txBody>
      </p:sp>
      <p:sp>
        <p:nvSpPr>
          <p:cNvPr id="15" name="Text 13"/>
          <p:cNvSpPr/>
          <p:nvPr/>
        </p:nvSpPr>
        <p:spPr>
          <a:xfrm>
            <a:off x="6446520" y="3017520"/>
            <a:ext cx="2084832" cy="118872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Application connectivity is tested and the migration is declared successful.</a:t>
            </a:r>
            <a:endParaRPr lang="en-US" sz="1250" dirty="0"/>
          </a:p>
        </p:txBody>
      </p:sp>
      <p:sp>
        <p:nvSpPr>
          <p:cNvPr id="16" name="Shape 14"/>
          <p:cNvSpPr/>
          <p:nvPr/>
        </p:nvSpPr>
        <p:spPr>
          <a:xfrm>
            <a:off x="9006840" y="1783080"/>
            <a:ext cx="2542032" cy="2606040"/>
          </a:xfrm>
          <a:prstGeom prst="roundRect">
            <a:avLst>
              <a:gd name="adj" fmla="val 2518"/>
            </a:avLst>
          </a:prstGeom>
          <a:solidFill>
            <a:srgbClr val="4A4A58"/>
          </a:solidFill>
          <a:ln w="9525">
            <a:solidFill>
              <a:srgbClr val="5C5C6C"/>
            </a:solidFill>
            <a:prstDash val="solid"/>
          </a:ln>
        </p:spPr>
      </p:sp>
      <p:sp>
        <p:nvSpPr>
          <p:cNvPr id="17" name="Text 15"/>
          <p:cNvSpPr/>
          <p:nvPr/>
        </p:nvSpPr>
        <p:spPr>
          <a:xfrm>
            <a:off x="9235440" y="1965960"/>
            <a:ext cx="2084832" cy="237744"/>
          </a:xfrm>
          <a:prstGeom prst="rect">
            <a:avLst/>
          </a:prstGeom>
          <a:noFill/>
          <a:ln/>
        </p:spPr>
        <p:txBody>
          <a:bodyPr wrap="square" lIns="0" tIns="0" rIns="0" bIns="0" rtlCol="0" anchor="ctr"/>
          <a:lstStyle/>
          <a:p>
            <a:pPr indent="0" marL="0">
              <a:buNone/>
            </a:pPr>
            <a:r>
              <a:rPr lang="en-US" sz="1100" b="1" spc="150" kern="0" dirty="0">
                <a:solidFill>
                  <a:srgbClr val="F15D23"/>
                </a:solidFill>
                <a:latin typeface="Calibri" pitchFamily="34" charset="0"/>
                <a:ea typeface="Calibri" pitchFamily="34" charset="-122"/>
                <a:cs typeface="Calibri" pitchFamily="34" charset="-120"/>
              </a:rPr>
              <a:t>MONDAY</a:t>
            </a:r>
            <a:endParaRPr lang="en-US" sz="1100" dirty="0"/>
          </a:p>
        </p:txBody>
      </p:sp>
      <p:sp>
        <p:nvSpPr>
          <p:cNvPr id="18" name="Text 16"/>
          <p:cNvSpPr/>
          <p:nvPr/>
        </p:nvSpPr>
        <p:spPr>
          <a:xfrm>
            <a:off x="9235440" y="2286000"/>
            <a:ext cx="2084832"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Hybrid connectivity fails</a:t>
            </a:r>
            <a:endParaRPr lang="en-US" sz="1700" dirty="0"/>
          </a:p>
        </p:txBody>
      </p:sp>
      <p:sp>
        <p:nvSpPr>
          <p:cNvPr id="19" name="Text 17"/>
          <p:cNvSpPr/>
          <p:nvPr/>
        </p:nvSpPr>
        <p:spPr>
          <a:xfrm>
            <a:off x="9235440" y="3017520"/>
            <a:ext cx="2084832" cy="118872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Production demand rises and the hybrid environment loses connectivity.</a:t>
            </a:r>
            <a:endParaRPr lang="en-US" sz="1250" dirty="0"/>
          </a:p>
        </p:txBody>
      </p:sp>
      <p:sp>
        <p:nvSpPr>
          <p:cNvPr id="20" name="Shape 18"/>
          <p:cNvSpPr/>
          <p:nvPr/>
        </p:nvSpPr>
        <p:spPr>
          <a:xfrm>
            <a:off x="640080" y="4709160"/>
            <a:ext cx="10911535" cy="1234440"/>
          </a:xfrm>
          <a:prstGeom prst="roundRect">
            <a:avLst>
              <a:gd name="adj" fmla="val 5185"/>
            </a:avLst>
          </a:prstGeom>
          <a:solidFill>
            <a:srgbClr val="2F2F3A"/>
          </a:solidFill>
          <a:ln w="9525">
            <a:solidFill>
              <a:srgbClr val="5C5C6C"/>
            </a:solidFill>
            <a:prstDash val="solid"/>
          </a:ln>
        </p:spPr>
      </p:sp>
      <p:sp>
        <p:nvSpPr>
          <p:cNvPr id="21" name="Text 19"/>
          <p:cNvSpPr/>
          <p:nvPr/>
        </p:nvSpPr>
        <p:spPr>
          <a:xfrm>
            <a:off x="960120" y="4846320"/>
            <a:ext cx="4206240" cy="320040"/>
          </a:xfrm>
          <a:prstGeom prst="rect">
            <a:avLst/>
          </a:prstGeom>
          <a:noFill/>
          <a:ln/>
        </p:spPr>
        <p:txBody>
          <a:bodyPr wrap="square" lIns="0" tIns="0" rIns="0" bIns="0" rtlCol="0" anchor="ctr"/>
          <a:lstStyle/>
          <a:p>
            <a:pPr indent="0" marL="0">
              <a:buNone/>
            </a:pPr>
            <a:r>
              <a:rPr lang="en-US" sz="1600" b="1" dirty="0">
                <a:solidFill>
                  <a:srgbClr val="F15D23"/>
                </a:solidFill>
                <a:latin typeface="Calibri" pitchFamily="34" charset="0"/>
                <a:ea typeface="Calibri" pitchFamily="34" charset="-122"/>
                <a:cs typeface="Calibri" pitchFamily="34" charset="-120"/>
              </a:rPr>
              <a:t>Monitoring told the team nothing</a:t>
            </a:r>
            <a:endParaRPr lang="en-US" sz="1600" dirty="0"/>
          </a:p>
        </p:txBody>
      </p:sp>
      <p:sp>
        <p:nvSpPr>
          <p:cNvPr id="22" name="Text 20"/>
          <p:cNvSpPr/>
          <p:nvPr/>
        </p:nvSpPr>
        <p:spPr>
          <a:xfrm>
            <a:off x="960120" y="5257800"/>
            <a:ext cx="10271455" cy="457200"/>
          </a:xfrm>
          <a:prstGeom prst="rect">
            <a:avLst/>
          </a:prstGeom>
          <a:noFill/>
          <a:ln/>
        </p:spPr>
        <p:txBody>
          <a:bodyPr wrap="square" lIns="0" tIns="0" rIns="0" bIns="0" rtlCol="0" anchor="ctr"/>
          <a:lstStyle/>
          <a:p>
            <a:pPr indent="0" marL="0">
              <a:buNone/>
            </a:pPr>
            <a:r>
              <a:rPr lang="en-US" sz="1400" dirty="0">
                <a:solidFill>
                  <a:srgbClr val="C9CCD6"/>
                </a:solidFill>
                <a:latin typeface="Calibri" pitchFamily="34" charset="0"/>
                <a:ea typeface="Calibri" pitchFamily="34" charset="-122"/>
                <a:cs typeface="Calibri" pitchFamily="34" charset="-120"/>
              </a:rPr>
              <a:t>No obvious warnings   ·   No useful error codes   ·   No indication that routing capacity had been exceeded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THE CENTRAL PROBLEM</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What silent packet death looks like</a:t>
            </a:r>
            <a:endParaRPr lang="en-US" sz="3400" dirty="0"/>
          </a:p>
        </p:txBody>
      </p:sp>
      <p:sp>
        <p:nvSpPr>
          <p:cNvPr id="4" name="Text 2"/>
          <p:cNvSpPr/>
          <p:nvPr/>
        </p:nvSpPr>
        <p:spPr>
          <a:xfrm>
            <a:off x="640080" y="1371600"/>
            <a:ext cx="6949440" cy="54864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The environment reaches a mathematical limit inside the software-defined networking fabric. Nothing reports it directly.</a:t>
            </a:r>
            <a:endParaRPr lang="en-US" sz="1500" dirty="0"/>
          </a:p>
        </p:txBody>
      </p:sp>
      <p:sp>
        <p:nvSpPr>
          <p:cNvPr id="5" name="Shape 3"/>
          <p:cNvSpPr/>
          <p:nvPr/>
        </p:nvSpPr>
        <p:spPr>
          <a:xfrm>
            <a:off x="640080" y="2148840"/>
            <a:ext cx="2542032" cy="2011680"/>
          </a:xfrm>
          <a:prstGeom prst="roundRect">
            <a:avLst>
              <a:gd name="adj" fmla="val 3182"/>
            </a:avLst>
          </a:prstGeom>
          <a:solidFill>
            <a:srgbClr val="F4F7F8"/>
          </a:solidFill>
          <a:ln w="9525">
            <a:solidFill>
              <a:srgbClr val="DDE2E2"/>
            </a:solidFill>
            <a:prstDash val="solid"/>
          </a:ln>
        </p:spPr>
      </p:sp>
      <p:sp>
        <p:nvSpPr>
          <p:cNvPr id="6" name="Shape 4"/>
          <p:cNvSpPr/>
          <p:nvPr/>
        </p:nvSpPr>
        <p:spPr>
          <a:xfrm>
            <a:off x="868680" y="2377440"/>
            <a:ext cx="292608" cy="292608"/>
          </a:xfrm>
          <a:prstGeom prst="ellipse">
            <a:avLst/>
          </a:prstGeom>
          <a:solidFill>
            <a:srgbClr val="F15D23"/>
          </a:solidFill>
          <a:ln w="12700">
            <a:solidFill>
              <a:srgbClr val="F15D23"/>
            </a:solidFill>
            <a:prstDash val="solid"/>
          </a:ln>
        </p:spPr>
      </p:sp>
      <p:sp>
        <p:nvSpPr>
          <p:cNvPr id="7" name="Text 5"/>
          <p:cNvSpPr/>
          <p:nvPr/>
        </p:nvSpPr>
        <p:spPr>
          <a:xfrm>
            <a:off x="868680" y="2816352"/>
            <a:ext cx="2084832" cy="594360"/>
          </a:xfrm>
          <a:prstGeom prst="rect">
            <a:avLst/>
          </a:prstGeom>
          <a:noFill/>
          <a:ln/>
        </p:spPr>
        <p:txBody>
          <a:bodyPr wrap="square" lIns="0" tIns="0" rIns="0" bIns="0" rtlCol="0" anchor="ctr"/>
          <a:lstStyle/>
          <a:p>
            <a:pPr indent="0" marL="0">
              <a:buNone/>
            </a:pPr>
            <a:r>
              <a:rPr lang="en-US" sz="1550" b="1" dirty="0">
                <a:solidFill>
                  <a:srgbClr val="3E3E4B"/>
                </a:solidFill>
                <a:latin typeface="Calibri" pitchFamily="34" charset="0"/>
                <a:ea typeface="Calibri" pitchFamily="34" charset="-122"/>
                <a:cs typeface="Calibri" pitchFamily="34" charset="-120"/>
              </a:rPr>
              <a:t>Packets disappear</a:t>
            </a:r>
            <a:endParaRPr lang="en-US" sz="1550" dirty="0"/>
          </a:p>
        </p:txBody>
      </p:sp>
      <p:sp>
        <p:nvSpPr>
          <p:cNvPr id="8" name="Text 6"/>
          <p:cNvSpPr/>
          <p:nvPr/>
        </p:nvSpPr>
        <p:spPr>
          <a:xfrm>
            <a:off x="868680" y="3401568"/>
            <a:ext cx="2084832" cy="6858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Traffic is dropped inside the switching or forwarding layer with no notification.</a:t>
            </a:r>
            <a:endParaRPr lang="en-US" sz="1250" dirty="0"/>
          </a:p>
        </p:txBody>
      </p:sp>
      <p:sp>
        <p:nvSpPr>
          <p:cNvPr id="9" name="Shape 7"/>
          <p:cNvSpPr/>
          <p:nvPr/>
        </p:nvSpPr>
        <p:spPr>
          <a:xfrm>
            <a:off x="3429000" y="2148840"/>
            <a:ext cx="2542032" cy="2011680"/>
          </a:xfrm>
          <a:prstGeom prst="roundRect">
            <a:avLst>
              <a:gd name="adj" fmla="val 3182"/>
            </a:avLst>
          </a:prstGeom>
          <a:solidFill>
            <a:srgbClr val="F4F7F8"/>
          </a:solidFill>
          <a:ln w="9525">
            <a:solidFill>
              <a:srgbClr val="DDE2E2"/>
            </a:solidFill>
            <a:prstDash val="solid"/>
          </a:ln>
        </p:spPr>
      </p:sp>
      <p:sp>
        <p:nvSpPr>
          <p:cNvPr id="10" name="Shape 8"/>
          <p:cNvSpPr/>
          <p:nvPr/>
        </p:nvSpPr>
        <p:spPr>
          <a:xfrm>
            <a:off x="3657600" y="2377440"/>
            <a:ext cx="292608" cy="292608"/>
          </a:xfrm>
          <a:prstGeom prst="ellipse">
            <a:avLst/>
          </a:prstGeom>
          <a:solidFill>
            <a:srgbClr val="F15D23"/>
          </a:solidFill>
          <a:ln w="12700">
            <a:solidFill>
              <a:srgbClr val="F15D23"/>
            </a:solidFill>
            <a:prstDash val="solid"/>
          </a:ln>
        </p:spPr>
      </p:sp>
      <p:sp>
        <p:nvSpPr>
          <p:cNvPr id="11" name="Text 9"/>
          <p:cNvSpPr/>
          <p:nvPr/>
        </p:nvSpPr>
        <p:spPr>
          <a:xfrm>
            <a:off x="3657600" y="2816352"/>
            <a:ext cx="2084832" cy="594360"/>
          </a:xfrm>
          <a:prstGeom prst="rect">
            <a:avLst/>
          </a:prstGeom>
          <a:noFill/>
          <a:ln/>
        </p:spPr>
        <p:txBody>
          <a:bodyPr wrap="square" lIns="0" tIns="0" rIns="0" bIns="0" rtlCol="0" anchor="ctr"/>
          <a:lstStyle/>
          <a:p>
            <a:pPr indent="0" marL="0">
              <a:buNone/>
            </a:pPr>
            <a:r>
              <a:rPr lang="en-US" sz="1550" b="1" dirty="0">
                <a:solidFill>
                  <a:srgbClr val="3E3E4B"/>
                </a:solidFill>
                <a:latin typeface="Calibri" pitchFamily="34" charset="0"/>
                <a:ea typeface="Calibri" pitchFamily="34" charset="-122"/>
                <a:cs typeface="Calibri" pitchFamily="34" charset="-120"/>
              </a:rPr>
              <a:t>Applications time out</a:t>
            </a:r>
            <a:endParaRPr lang="en-US" sz="1550" dirty="0"/>
          </a:p>
        </p:txBody>
      </p:sp>
      <p:sp>
        <p:nvSpPr>
          <p:cNvPr id="12" name="Text 10"/>
          <p:cNvSpPr/>
          <p:nvPr/>
        </p:nvSpPr>
        <p:spPr>
          <a:xfrm>
            <a:off x="3657600" y="3401568"/>
            <a:ext cx="2084832" cy="6858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Sessions stall and retransmit rather than failing cleanly.</a:t>
            </a:r>
            <a:endParaRPr lang="en-US" sz="1250" dirty="0"/>
          </a:p>
        </p:txBody>
      </p:sp>
      <p:sp>
        <p:nvSpPr>
          <p:cNvPr id="13" name="Shape 11"/>
          <p:cNvSpPr/>
          <p:nvPr/>
        </p:nvSpPr>
        <p:spPr>
          <a:xfrm>
            <a:off x="6217920" y="2148840"/>
            <a:ext cx="2542032" cy="2011680"/>
          </a:xfrm>
          <a:prstGeom prst="roundRect">
            <a:avLst>
              <a:gd name="adj" fmla="val 3182"/>
            </a:avLst>
          </a:prstGeom>
          <a:solidFill>
            <a:srgbClr val="F4F7F8"/>
          </a:solidFill>
          <a:ln w="9525">
            <a:solidFill>
              <a:srgbClr val="DDE2E2"/>
            </a:solidFill>
            <a:prstDash val="solid"/>
          </a:ln>
        </p:spPr>
      </p:sp>
      <p:sp>
        <p:nvSpPr>
          <p:cNvPr id="14" name="Shape 12"/>
          <p:cNvSpPr/>
          <p:nvPr/>
        </p:nvSpPr>
        <p:spPr>
          <a:xfrm>
            <a:off x="6446520" y="2377440"/>
            <a:ext cx="292608" cy="292608"/>
          </a:xfrm>
          <a:prstGeom prst="ellipse">
            <a:avLst/>
          </a:prstGeom>
          <a:solidFill>
            <a:srgbClr val="F15D23"/>
          </a:solidFill>
          <a:ln w="12700">
            <a:solidFill>
              <a:srgbClr val="F15D23"/>
            </a:solidFill>
            <a:prstDash val="solid"/>
          </a:ln>
        </p:spPr>
      </p:sp>
      <p:sp>
        <p:nvSpPr>
          <p:cNvPr id="15" name="Text 13"/>
          <p:cNvSpPr/>
          <p:nvPr/>
        </p:nvSpPr>
        <p:spPr>
          <a:xfrm>
            <a:off x="6446520" y="2816352"/>
            <a:ext cx="2084832" cy="594360"/>
          </a:xfrm>
          <a:prstGeom prst="rect">
            <a:avLst/>
          </a:prstGeom>
          <a:noFill/>
          <a:ln/>
        </p:spPr>
        <p:txBody>
          <a:bodyPr wrap="square" lIns="0" tIns="0" rIns="0" bIns="0" rtlCol="0" anchor="ctr"/>
          <a:lstStyle/>
          <a:p>
            <a:pPr indent="0" marL="0">
              <a:buNone/>
            </a:pPr>
            <a:r>
              <a:rPr lang="en-US" sz="1550" b="1" dirty="0">
                <a:solidFill>
                  <a:srgbClr val="3E3E4B"/>
                </a:solidFill>
                <a:latin typeface="Calibri" pitchFamily="34" charset="0"/>
                <a:ea typeface="Calibri" pitchFamily="34" charset="-122"/>
                <a:cs typeface="Calibri" pitchFamily="34" charset="-120"/>
              </a:rPr>
              <a:t>No ICMP errors</a:t>
            </a:r>
            <a:endParaRPr lang="en-US" sz="1550" dirty="0"/>
          </a:p>
        </p:txBody>
      </p:sp>
      <p:sp>
        <p:nvSpPr>
          <p:cNvPr id="16" name="Text 14"/>
          <p:cNvSpPr/>
          <p:nvPr/>
        </p:nvSpPr>
        <p:spPr>
          <a:xfrm>
            <a:off x="6446520" y="3401568"/>
            <a:ext cx="2084832" cy="6858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Routers may return nothing, so traceroute and ping give no useful signal.</a:t>
            </a:r>
            <a:endParaRPr lang="en-US" sz="1250" dirty="0"/>
          </a:p>
        </p:txBody>
      </p:sp>
      <p:sp>
        <p:nvSpPr>
          <p:cNvPr id="17" name="Shape 15"/>
          <p:cNvSpPr/>
          <p:nvPr/>
        </p:nvSpPr>
        <p:spPr>
          <a:xfrm>
            <a:off x="9006840" y="2148840"/>
            <a:ext cx="2542032" cy="2011680"/>
          </a:xfrm>
          <a:prstGeom prst="roundRect">
            <a:avLst>
              <a:gd name="adj" fmla="val 3182"/>
            </a:avLst>
          </a:prstGeom>
          <a:solidFill>
            <a:srgbClr val="F4F7F8"/>
          </a:solidFill>
          <a:ln w="9525">
            <a:solidFill>
              <a:srgbClr val="DDE2E2"/>
            </a:solidFill>
            <a:prstDash val="solid"/>
          </a:ln>
        </p:spPr>
      </p:sp>
      <p:sp>
        <p:nvSpPr>
          <p:cNvPr id="18" name="Shape 16"/>
          <p:cNvSpPr/>
          <p:nvPr/>
        </p:nvSpPr>
        <p:spPr>
          <a:xfrm>
            <a:off x="9235440" y="2377440"/>
            <a:ext cx="292608" cy="292608"/>
          </a:xfrm>
          <a:prstGeom prst="ellipse">
            <a:avLst/>
          </a:prstGeom>
          <a:solidFill>
            <a:srgbClr val="F15D23"/>
          </a:solidFill>
          <a:ln w="12700">
            <a:solidFill>
              <a:srgbClr val="F15D23"/>
            </a:solidFill>
            <a:prstDash val="solid"/>
          </a:ln>
        </p:spPr>
      </p:sp>
      <p:sp>
        <p:nvSpPr>
          <p:cNvPr id="19" name="Text 17"/>
          <p:cNvSpPr/>
          <p:nvPr/>
        </p:nvSpPr>
        <p:spPr>
          <a:xfrm>
            <a:off x="9235440" y="2816352"/>
            <a:ext cx="2084832" cy="594360"/>
          </a:xfrm>
          <a:prstGeom prst="rect">
            <a:avLst/>
          </a:prstGeom>
          <a:noFill/>
          <a:ln/>
        </p:spPr>
        <p:txBody>
          <a:bodyPr wrap="square" lIns="0" tIns="0" rIns="0" bIns="0" rtlCol="0" anchor="ctr"/>
          <a:lstStyle/>
          <a:p>
            <a:pPr indent="0" marL="0">
              <a:buNone/>
            </a:pPr>
            <a:r>
              <a:rPr lang="en-US" sz="1550" b="1" dirty="0">
                <a:solidFill>
                  <a:srgbClr val="3E3E4B"/>
                </a:solidFill>
                <a:latin typeface="Calibri" pitchFamily="34" charset="0"/>
                <a:ea typeface="Calibri" pitchFamily="34" charset="-122"/>
                <a:cs typeface="Calibri" pitchFamily="34" charset="-120"/>
              </a:rPr>
              <a:t>Investigation starts in the wrong place</a:t>
            </a:r>
            <a:endParaRPr lang="en-US" sz="1550" dirty="0"/>
          </a:p>
        </p:txBody>
      </p:sp>
      <p:sp>
        <p:nvSpPr>
          <p:cNvPr id="20" name="Text 18"/>
          <p:cNvSpPr/>
          <p:nvPr/>
        </p:nvSpPr>
        <p:spPr>
          <a:xfrm>
            <a:off x="9235440" y="3401568"/>
            <a:ext cx="2084832" cy="6858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Teams examine firewalls, NSGs, and application settings before route capacity.</a:t>
            </a:r>
            <a:endParaRPr lang="en-US" sz="1250" dirty="0"/>
          </a:p>
        </p:txBody>
      </p:sp>
      <p:sp>
        <p:nvSpPr>
          <p:cNvPr id="21" name="Shape 19"/>
          <p:cNvSpPr/>
          <p:nvPr/>
        </p:nvSpPr>
        <p:spPr>
          <a:xfrm>
            <a:off x="640080" y="4434840"/>
            <a:ext cx="10911535" cy="1371600"/>
          </a:xfrm>
          <a:prstGeom prst="roundRect">
            <a:avLst>
              <a:gd name="adj" fmla="val 4667"/>
            </a:avLst>
          </a:prstGeom>
          <a:solidFill>
            <a:srgbClr val="E5F7FC"/>
          </a:solidFill>
          <a:ln w="9525">
            <a:solidFill>
              <a:srgbClr val="B2E8F6"/>
            </a:solidFill>
            <a:prstDash val="solid"/>
          </a:ln>
        </p:spPr>
      </p:sp>
      <p:sp>
        <p:nvSpPr>
          <p:cNvPr id="22" name="Text 20"/>
          <p:cNvSpPr/>
          <p:nvPr/>
        </p:nvSpPr>
        <p:spPr>
          <a:xfrm>
            <a:off x="960120" y="4572000"/>
            <a:ext cx="4572000" cy="292608"/>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The three ingredients behind the failure</a:t>
            </a:r>
            <a:endParaRPr lang="en-US" sz="1400" dirty="0"/>
          </a:p>
        </p:txBody>
      </p:sp>
      <p:sp>
        <p:nvSpPr>
          <p:cNvPr id="23" name="Text 21"/>
          <p:cNvSpPr/>
          <p:nvPr/>
        </p:nvSpPr>
        <p:spPr>
          <a:xfrm>
            <a:off x="960120" y="4983480"/>
            <a:ext cx="10271455" cy="502920"/>
          </a:xfrm>
          <a:prstGeom prst="rect">
            <a:avLst/>
          </a:prstGeom>
          <a:noFill/>
          <a:ln/>
        </p:spPr>
        <p:txBody>
          <a:bodyPr wrap="square" lIns="0" tIns="0" rIns="0" bIns="0" rtlCol="0" anchor="ctr"/>
          <a:lstStyle/>
          <a:p>
            <a:pPr indent="0" marL="0">
              <a:buNone/>
            </a:pPr>
            <a:r>
              <a:rPr lang="en-US" sz="1500" b="1" dirty="0">
                <a:solidFill>
                  <a:srgbClr val="0A7FA6"/>
                </a:solidFill>
                <a:latin typeface="Calibri" pitchFamily="34" charset="0"/>
                <a:ea typeface="Calibri" pitchFamily="34" charset="-122"/>
                <a:cs typeface="Calibri" pitchFamily="34" charset="-120"/>
              </a:rPr>
              <a:t>Route-prefix processing      ·      Internal IP-block fragmentation      ·      Hardware forwarding-table capacity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Six areas where AVS networking differs</a:t>
            </a:r>
            <a:endParaRPr lang="en-US" sz="3400" dirty="0"/>
          </a:p>
        </p:txBody>
      </p:sp>
      <p:sp>
        <p:nvSpPr>
          <p:cNvPr id="4" name="Shape 2"/>
          <p:cNvSpPr/>
          <p:nvPr/>
        </p:nvSpPr>
        <p:spPr>
          <a:xfrm>
            <a:off x="640080" y="1600200"/>
            <a:ext cx="3511296" cy="1920240"/>
          </a:xfrm>
          <a:prstGeom prst="roundRect">
            <a:avLst>
              <a:gd name="adj" fmla="val 3333"/>
            </a:avLst>
          </a:prstGeom>
          <a:solidFill>
            <a:srgbClr val="F4F7F8"/>
          </a:solidFill>
          <a:ln w="9525">
            <a:solidFill>
              <a:srgbClr val="DDE2E2"/>
            </a:solidFill>
            <a:prstDash val="solid"/>
          </a:ln>
        </p:spPr>
      </p:sp>
      <p:sp>
        <p:nvSpPr>
          <p:cNvPr id="5" name="Shape 3"/>
          <p:cNvSpPr/>
          <p:nvPr/>
        </p:nvSpPr>
        <p:spPr>
          <a:xfrm>
            <a:off x="914400" y="1874520"/>
            <a:ext cx="384048" cy="384048"/>
          </a:xfrm>
          <a:prstGeom prst="ellipse">
            <a:avLst/>
          </a:prstGeom>
          <a:solidFill>
            <a:srgbClr val="00B3E2"/>
          </a:solidFill>
          <a:ln w="12700">
            <a:solidFill>
              <a:srgbClr val="00B3E2"/>
            </a:solidFill>
            <a:prstDash val="solid"/>
          </a:ln>
        </p:spPr>
      </p:sp>
      <p:sp>
        <p:nvSpPr>
          <p:cNvPr id="6" name="Text 4"/>
          <p:cNvSpPr/>
          <p:nvPr/>
        </p:nvSpPr>
        <p:spPr>
          <a:xfrm>
            <a:off x="914400" y="1874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63040" y="1874520"/>
            <a:ext cx="2414016" cy="384048"/>
          </a:xfrm>
          <a:prstGeom prst="rect">
            <a:avLst/>
          </a:prstGeom>
          <a:noFill/>
          <a:ln/>
        </p:spPr>
        <p:txBody>
          <a:bodyPr wrap="square" lIns="0" tIns="0" rIns="0" bIns="0" rtlCol="0" anchor="ctr"/>
          <a:lstStyle/>
          <a:p>
            <a:pPr indent="0" marL="0">
              <a:buNone/>
            </a:pPr>
            <a:r>
              <a:rPr lang="en-US" sz="1650" b="1" dirty="0">
                <a:solidFill>
                  <a:srgbClr val="3E3E4B"/>
                </a:solidFill>
                <a:latin typeface="Calibri" pitchFamily="34" charset="0"/>
                <a:ea typeface="Calibri" pitchFamily="34" charset="-122"/>
                <a:cs typeface="Calibri" pitchFamily="34" charset="-120"/>
              </a:rPr>
              <a:t>Address planning</a:t>
            </a:r>
            <a:endParaRPr lang="en-US" sz="1650" dirty="0"/>
          </a:p>
        </p:txBody>
      </p:sp>
      <p:sp>
        <p:nvSpPr>
          <p:cNvPr id="8" name="Text 6"/>
          <p:cNvSpPr/>
          <p:nvPr/>
        </p:nvSpPr>
        <p:spPr>
          <a:xfrm>
            <a:off x="914400" y="2468880"/>
            <a:ext cx="2962656" cy="86868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The mandatory /22, contiguity, and the ranges you cannot use.</a:t>
            </a:r>
            <a:endParaRPr lang="en-US" sz="1300" dirty="0"/>
          </a:p>
        </p:txBody>
      </p:sp>
      <p:sp>
        <p:nvSpPr>
          <p:cNvPr id="9" name="Shape 7"/>
          <p:cNvSpPr/>
          <p:nvPr/>
        </p:nvSpPr>
        <p:spPr>
          <a:xfrm>
            <a:off x="4535424" y="1600200"/>
            <a:ext cx="3511296" cy="1920240"/>
          </a:xfrm>
          <a:prstGeom prst="roundRect">
            <a:avLst>
              <a:gd name="adj" fmla="val 3333"/>
            </a:avLst>
          </a:prstGeom>
          <a:solidFill>
            <a:srgbClr val="F4F7F8"/>
          </a:solidFill>
          <a:ln w="9525">
            <a:solidFill>
              <a:srgbClr val="DDE2E2"/>
            </a:solidFill>
            <a:prstDash val="solid"/>
          </a:ln>
        </p:spPr>
      </p:sp>
      <p:sp>
        <p:nvSpPr>
          <p:cNvPr id="10" name="Shape 8"/>
          <p:cNvSpPr/>
          <p:nvPr/>
        </p:nvSpPr>
        <p:spPr>
          <a:xfrm>
            <a:off x="4809744" y="1874520"/>
            <a:ext cx="384048" cy="384048"/>
          </a:xfrm>
          <a:prstGeom prst="ellipse">
            <a:avLst/>
          </a:prstGeom>
          <a:solidFill>
            <a:srgbClr val="00B3E2"/>
          </a:solidFill>
          <a:ln w="12700">
            <a:solidFill>
              <a:srgbClr val="00B3E2"/>
            </a:solidFill>
            <a:prstDash val="solid"/>
          </a:ln>
        </p:spPr>
      </p:sp>
      <p:sp>
        <p:nvSpPr>
          <p:cNvPr id="11" name="Text 9"/>
          <p:cNvSpPr/>
          <p:nvPr/>
        </p:nvSpPr>
        <p:spPr>
          <a:xfrm>
            <a:off x="4809744" y="1874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5358384" y="1874520"/>
            <a:ext cx="2414016" cy="384048"/>
          </a:xfrm>
          <a:prstGeom prst="rect">
            <a:avLst/>
          </a:prstGeom>
          <a:noFill/>
          <a:ln/>
        </p:spPr>
        <p:txBody>
          <a:bodyPr wrap="square" lIns="0" tIns="0" rIns="0" bIns="0" rtlCol="0" anchor="ctr"/>
          <a:lstStyle/>
          <a:p>
            <a:pPr indent="0" marL="0">
              <a:buNone/>
            </a:pPr>
            <a:r>
              <a:rPr lang="en-US" sz="1650" b="1" dirty="0">
                <a:solidFill>
                  <a:srgbClr val="3E3E4B"/>
                </a:solidFill>
                <a:latin typeface="Calibri" pitchFamily="34" charset="0"/>
                <a:ea typeface="Calibri" pitchFamily="34" charset="-122"/>
                <a:cs typeface="Calibri" pitchFamily="34" charset="-120"/>
              </a:rPr>
              <a:t>HCX and firewall ports</a:t>
            </a:r>
            <a:endParaRPr lang="en-US" sz="1650" dirty="0"/>
          </a:p>
        </p:txBody>
      </p:sp>
      <p:sp>
        <p:nvSpPr>
          <p:cNvPr id="13" name="Text 11"/>
          <p:cNvSpPr/>
          <p:nvPr/>
        </p:nvSpPr>
        <p:spPr>
          <a:xfrm>
            <a:off x="4809744" y="2468880"/>
            <a:ext cx="2962656" cy="86868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Which ports carry migration traffic and why two transports are needed.</a:t>
            </a:r>
            <a:endParaRPr lang="en-US" sz="1300" dirty="0"/>
          </a:p>
        </p:txBody>
      </p:sp>
      <p:sp>
        <p:nvSpPr>
          <p:cNvPr id="14" name="Shape 12"/>
          <p:cNvSpPr/>
          <p:nvPr/>
        </p:nvSpPr>
        <p:spPr>
          <a:xfrm>
            <a:off x="8430768" y="1600200"/>
            <a:ext cx="3511296" cy="1920240"/>
          </a:xfrm>
          <a:prstGeom prst="roundRect">
            <a:avLst>
              <a:gd name="adj" fmla="val 3333"/>
            </a:avLst>
          </a:prstGeom>
          <a:solidFill>
            <a:srgbClr val="F4F7F8"/>
          </a:solidFill>
          <a:ln w="9525">
            <a:solidFill>
              <a:srgbClr val="DDE2E2"/>
            </a:solidFill>
            <a:prstDash val="solid"/>
          </a:ln>
        </p:spPr>
      </p:sp>
      <p:sp>
        <p:nvSpPr>
          <p:cNvPr id="15" name="Shape 13"/>
          <p:cNvSpPr/>
          <p:nvPr/>
        </p:nvSpPr>
        <p:spPr>
          <a:xfrm>
            <a:off x="8705088" y="1874520"/>
            <a:ext cx="384048" cy="384048"/>
          </a:xfrm>
          <a:prstGeom prst="ellipse">
            <a:avLst/>
          </a:prstGeom>
          <a:solidFill>
            <a:srgbClr val="00B3E2"/>
          </a:solidFill>
          <a:ln w="12700">
            <a:solidFill>
              <a:srgbClr val="00B3E2"/>
            </a:solidFill>
            <a:prstDash val="solid"/>
          </a:ln>
        </p:spPr>
      </p:sp>
      <p:sp>
        <p:nvSpPr>
          <p:cNvPr id="16" name="Text 14"/>
          <p:cNvSpPr/>
          <p:nvPr/>
        </p:nvSpPr>
        <p:spPr>
          <a:xfrm>
            <a:off x="8705088" y="1874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9253728" y="1874520"/>
            <a:ext cx="2414016" cy="384048"/>
          </a:xfrm>
          <a:prstGeom prst="rect">
            <a:avLst/>
          </a:prstGeom>
          <a:noFill/>
          <a:ln/>
        </p:spPr>
        <p:txBody>
          <a:bodyPr wrap="square" lIns="0" tIns="0" rIns="0" bIns="0" rtlCol="0" anchor="ctr"/>
          <a:lstStyle/>
          <a:p>
            <a:pPr indent="0" marL="0">
              <a:buNone/>
            </a:pPr>
            <a:r>
              <a:rPr lang="en-US" sz="1650" b="1" dirty="0">
                <a:solidFill>
                  <a:srgbClr val="3E3E4B"/>
                </a:solidFill>
                <a:latin typeface="Calibri" pitchFamily="34" charset="0"/>
                <a:ea typeface="Calibri" pitchFamily="34" charset="-122"/>
                <a:cs typeface="Calibri" pitchFamily="34" charset="-120"/>
              </a:rPr>
              <a:t>Internet egress</a:t>
            </a:r>
            <a:endParaRPr lang="en-US" sz="1650" dirty="0"/>
          </a:p>
        </p:txBody>
      </p:sp>
      <p:sp>
        <p:nvSpPr>
          <p:cNvPr id="18" name="Text 16"/>
          <p:cNvSpPr/>
          <p:nvPr/>
        </p:nvSpPr>
        <p:spPr>
          <a:xfrm>
            <a:off x="8705088" y="2468880"/>
            <a:ext cx="2962656" cy="86868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Generation 1 managed SNAT versus Generation 2 customer-managed egress.</a:t>
            </a:r>
            <a:endParaRPr lang="en-US" sz="1300" dirty="0"/>
          </a:p>
        </p:txBody>
      </p:sp>
      <p:sp>
        <p:nvSpPr>
          <p:cNvPr id="19" name="Shape 17"/>
          <p:cNvSpPr/>
          <p:nvPr/>
        </p:nvSpPr>
        <p:spPr>
          <a:xfrm>
            <a:off x="640080" y="3840480"/>
            <a:ext cx="3511296" cy="1920240"/>
          </a:xfrm>
          <a:prstGeom prst="roundRect">
            <a:avLst>
              <a:gd name="adj" fmla="val 3333"/>
            </a:avLst>
          </a:prstGeom>
          <a:solidFill>
            <a:srgbClr val="F4F7F8"/>
          </a:solidFill>
          <a:ln w="9525">
            <a:solidFill>
              <a:srgbClr val="DDE2E2"/>
            </a:solidFill>
            <a:prstDash val="solid"/>
          </a:ln>
        </p:spPr>
      </p:sp>
      <p:sp>
        <p:nvSpPr>
          <p:cNvPr id="20" name="Shape 18"/>
          <p:cNvSpPr/>
          <p:nvPr/>
        </p:nvSpPr>
        <p:spPr>
          <a:xfrm>
            <a:off x="914400" y="4114800"/>
            <a:ext cx="384048" cy="384048"/>
          </a:xfrm>
          <a:prstGeom prst="ellipse">
            <a:avLst/>
          </a:prstGeom>
          <a:solidFill>
            <a:srgbClr val="3E3E4B"/>
          </a:solidFill>
          <a:ln w="12700">
            <a:solidFill>
              <a:srgbClr val="3E3E4B"/>
            </a:solidFill>
            <a:prstDash val="solid"/>
          </a:ln>
        </p:spPr>
      </p:sp>
      <p:sp>
        <p:nvSpPr>
          <p:cNvPr id="21" name="Text 19"/>
          <p:cNvSpPr/>
          <p:nvPr/>
        </p:nvSpPr>
        <p:spPr>
          <a:xfrm>
            <a:off x="914400" y="4114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463040" y="4114800"/>
            <a:ext cx="2414016" cy="384048"/>
          </a:xfrm>
          <a:prstGeom prst="rect">
            <a:avLst/>
          </a:prstGeom>
          <a:noFill/>
          <a:ln/>
        </p:spPr>
        <p:txBody>
          <a:bodyPr wrap="square" lIns="0" tIns="0" rIns="0" bIns="0" rtlCol="0" anchor="ctr"/>
          <a:lstStyle/>
          <a:p>
            <a:pPr indent="0" marL="0">
              <a:buNone/>
            </a:pPr>
            <a:r>
              <a:rPr lang="en-US" sz="1650" b="1" dirty="0">
                <a:solidFill>
                  <a:srgbClr val="3E3E4B"/>
                </a:solidFill>
                <a:latin typeface="Calibri" pitchFamily="34" charset="0"/>
                <a:ea typeface="Calibri" pitchFamily="34" charset="-122"/>
                <a:cs typeface="Calibri" pitchFamily="34" charset="-120"/>
              </a:rPr>
              <a:t>Hybrid connectivity</a:t>
            </a:r>
            <a:endParaRPr lang="en-US" sz="1650" dirty="0"/>
          </a:p>
        </p:txBody>
      </p:sp>
      <p:sp>
        <p:nvSpPr>
          <p:cNvPr id="23" name="Text 21"/>
          <p:cNvSpPr/>
          <p:nvPr/>
        </p:nvSpPr>
        <p:spPr>
          <a:xfrm>
            <a:off x="914400" y="4709160"/>
            <a:ext cx="2962656" cy="86868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Interconnect, Virtual WAN scale units, and routing preference.</a:t>
            </a:r>
            <a:endParaRPr lang="en-US" sz="1300" dirty="0"/>
          </a:p>
        </p:txBody>
      </p:sp>
      <p:sp>
        <p:nvSpPr>
          <p:cNvPr id="24" name="Shape 22"/>
          <p:cNvSpPr/>
          <p:nvPr/>
        </p:nvSpPr>
        <p:spPr>
          <a:xfrm>
            <a:off x="4535424" y="3840480"/>
            <a:ext cx="3511296" cy="1920240"/>
          </a:xfrm>
          <a:prstGeom prst="roundRect">
            <a:avLst>
              <a:gd name="adj" fmla="val 3333"/>
            </a:avLst>
          </a:prstGeom>
          <a:solidFill>
            <a:srgbClr val="F4F7F8"/>
          </a:solidFill>
          <a:ln w="9525">
            <a:solidFill>
              <a:srgbClr val="DDE2E2"/>
            </a:solidFill>
            <a:prstDash val="solid"/>
          </a:ln>
        </p:spPr>
      </p:sp>
      <p:sp>
        <p:nvSpPr>
          <p:cNvPr id="25" name="Shape 23"/>
          <p:cNvSpPr/>
          <p:nvPr/>
        </p:nvSpPr>
        <p:spPr>
          <a:xfrm>
            <a:off x="4809744" y="4114800"/>
            <a:ext cx="384048" cy="384048"/>
          </a:xfrm>
          <a:prstGeom prst="ellipse">
            <a:avLst/>
          </a:prstGeom>
          <a:solidFill>
            <a:srgbClr val="3E3E4B"/>
          </a:solidFill>
          <a:ln w="12700">
            <a:solidFill>
              <a:srgbClr val="3E3E4B"/>
            </a:solidFill>
            <a:prstDash val="solid"/>
          </a:ln>
        </p:spPr>
      </p:sp>
      <p:sp>
        <p:nvSpPr>
          <p:cNvPr id="26" name="Text 24"/>
          <p:cNvSpPr/>
          <p:nvPr/>
        </p:nvSpPr>
        <p:spPr>
          <a:xfrm>
            <a:off x="4809744" y="4114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5358384" y="4114800"/>
            <a:ext cx="2414016" cy="384048"/>
          </a:xfrm>
          <a:prstGeom prst="rect">
            <a:avLst/>
          </a:prstGeom>
          <a:noFill/>
          <a:ln/>
        </p:spPr>
        <p:txBody>
          <a:bodyPr wrap="square" lIns="0" tIns="0" rIns="0" bIns="0" rtlCol="0" anchor="ctr"/>
          <a:lstStyle/>
          <a:p>
            <a:pPr indent="0" marL="0">
              <a:buNone/>
            </a:pPr>
            <a:r>
              <a:rPr lang="en-US" sz="1650" b="1" dirty="0">
                <a:solidFill>
                  <a:srgbClr val="3E3E4B"/>
                </a:solidFill>
                <a:latin typeface="Calibri" pitchFamily="34" charset="0"/>
                <a:ea typeface="Calibri" pitchFamily="34" charset="-122"/>
                <a:cs typeface="Calibri" pitchFamily="34" charset="-120"/>
              </a:rPr>
              <a:t>NSX-T, DHCP, and DNS</a:t>
            </a:r>
            <a:endParaRPr lang="en-US" sz="1650" dirty="0"/>
          </a:p>
        </p:txBody>
      </p:sp>
      <p:sp>
        <p:nvSpPr>
          <p:cNvPr id="28" name="Text 26"/>
          <p:cNvSpPr/>
          <p:nvPr/>
        </p:nvSpPr>
        <p:spPr>
          <a:xfrm>
            <a:off x="4809744" y="4709160"/>
            <a:ext cx="2962656" cy="86868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Tier-0 and Tier-1 behavior, broadcast suppression, and hybrid resolution.</a:t>
            </a:r>
            <a:endParaRPr lang="en-US" sz="1300" dirty="0"/>
          </a:p>
        </p:txBody>
      </p:sp>
      <p:sp>
        <p:nvSpPr>
          <p:cNvPr id="29" name="Shape 27"/>
          <p:cNvSpPr/>
          <p:nvPr/>
        </p:nvSpPr>
        <p:spPr>
          <a:xfrm>
            <a:off x="8430768" y="3840480"/>
            <a:ext cx="3511296" cy="1920240"/>
          </a:xfrm>
          <a:prstGeom prst="roundRect">
            <a:avLst>
              <a:gd name="adj" fmla="val 3333"/>
            </a:avLst>
          </a:prstGeom>
          <a:solidFill>
            <a:srgbClr val="F4F7F8"/>
          </a:solidFill>
          <a:ln w="9525">
            <a:solidFill>
              <a:srgbClr val="DDE2E2"/>
            </a:solidFill>
            <a:prstDash val="solid"/>
          </a:ln>
        </p:spPr>
      </p:sp>
      <p:sp>
        <p:nvSpPr>
          <p:cNvPr id="30" name="Shape 28"/>
          <p:cNvSpPr/>
          <p:nvPr/>
        </p:nvSpPr>
        <p:spPr>
          <a:xfrm>
            <a:off x="8705088" y="4114800"/>
            <a:ext cx="384048" cy="384048"/>
          </a:xfrm>
          <a:prstGeom prst="ellipse">
            <a:avLst/>
          </a:prstGeom>
          <a:solidFill>
            <a:srgbClr val="3E3E4B"/>
          </a:solidFill>
          <a:ln w="12700">
            <a:solidFill>
              <a:srgbClr val="3E3E4B"/>
            </a:solidFill>
            <a:prstDash val="solid"/>
          </a:ln>
        </p:spPr>
      </p:sp>
      <p:sp>
        <p:nvSpPr>
          <p:cNvPr id="31" name="Text 29"/>
          <p:cNvSpPr/>
          <p:nvPr/>
        </p:nvSpPr>
        <p:spPr>
          <a:xfrm>
            <a:off x="8705088" y="4114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9253728" y="4114800"/>
            <a:ext cx="2414016" cy="384048"/>
          </a:xfrm>
          <a:prstGeom prst="rect">
            <a:avLst/>
          </a:prstGeom>
          <a:noFill/>
          <a:ln/>
        </p:spPr>
        <p:txBody>
          <a:bodyPr wrap="square" lIns="0" tIns="0" rIns="0" bIns="0" rtlCol="0" anchor="ctr"/>
          <a:lstStyle/>
          <a:p>
            <a:pPr indent="0" marL="0">
              <a:buNone/>
            </a:pPr>
            <a:r>
              <a:rPr lang="en-US" sz="1650" b="1" dirty="0">
                <a:solidFill>
                  <a:srgbClr val="3E3E4B"/>
                </a:solidFill>
                <a:latin typeface="Calibri" pitchFamily="34" charset="0"/>
                <a:ea typeface="Calibri" pitchFamily="34" charset="-122"/>
                <a:cs typeface="Calibri" pitchFamily="34" charset="-120"/>
              </a:rPr>
              <a:t>Route capacity limits</a:t>
            </a:r>
            <a:endParaRPr lang="en-US" sz="1650" dirty="0"/>
          </a:p>
        </p:txBody>
      </p:sp>
      <p:sp>
        <p:nvSpPr>
          <p:cNvPr id="33" name="Text 31"/>
          <p:cNvSpPr/>
          <p:nvPr/>
        </p:nvSpPr>
        <p:spPr>
          <a:xfrm>
            <a:off x="8705088" y="4709160"/>
            <a:ext cx="2962656" cy="86868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Prefix ceilings, /28 fragmentation, and the Monday-morning outage.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FOUNDATIONAL PLANNING</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AVS requires a contiguous /22</a:t>
            </a:r>
            <a:endParaRPr lang="en-US" sz="3400" dirty="0"/>
          </a:p>
        </p:txBody>
      </p:sp>
      <p:sp>
        <p:nvSpPr>
          <p:cNvPr id="4" name="Shape 2"/>
          <p:cNvSpPr/>
          <p:nvPr/>
        </p:nvSpPr>
        <p:spPr>
          <a:xfrm>
            <a:off x="640080" y="1600200"/>
            <a:ext cx="4114800" cy="2788920"/>
          </a:xfrm>
          <a:prstGeom prst="roundRect">
            <a:avLst>
              <a:gd name="adj" fmla="val 2295"/>
            </a:avLst>
          </a:prstGeom>
          <a:solidFill>
            <a:srgbClr val="3E3E4B"/>
          </a:solidFill>
          <a:ln w="9525">
            <a:solidFill>
              <a:srgbClr val="3E3E4B"/>
            </a:solidFill>
            <a:prstDash val="solid"/>
          </a:ln>
        </p:spPr>
      </p:sp>
      <p:sp>
        <p:nvSpPr>
          <p:cNvPr id="5" name="Text 3"/>
          <p:cNvSpPr/>
          <p:nvPr/>
        </p:nvSpPr>
        <p:spPr>
          <a:xfrm>
            <a:off x="1005840" y="1920240"/>
            <a:ext cx="3383280" cy="1234440"/>
          </a:xfrm>
          <a:prstGeom prst="rect">
            <a:avLst/>
          </a:prstGeom>
          <a:noFill/>
          <a:ln/>
        </p:spPr>
        <p:txBody>
          <a:bodyPr wrap="square" lIns="0" tIns="0" rIns="0" bIns="0" rtlCol="0" anchor="ctr"/>
          <a:lstStyle/>
          <a:p>
            <a:pPr indent="0" marL="0">
              <a:buNone/>
            </a:pPr>
            <a:r>
              <a:rPr lang="en-US" sz="8200" b="1" dirty="0">
                <a:solidFill>
                  <a:srgbClr val="00B3E2"/>
                </a:solidFill>
                <a:latin typeface="Calibri" pitchFamily="34" charset="0"/>
                <a:ea typeface="Calibri" pitchFamily="34" charset="-122"/>
                <a:cs typeface="Calibri" pitchFamily="34" charset="-120"/>
              </a:rPr>
              <a:t>/22</a:t>
            </a:r>
            <a:endParaRPr lang="en-US" sz="8200" dirty="0"/>
          </a:p>
        </p:txBody>
      </p:sp>
      <p:sp>
        <p:nvSpPr>
          <p:cNvPr id="6" name="Text 4"/>
          <p:cNvSpPr/>
          <p:nvPr/>
        </p:nvSpPr>
        <p:spPr>
          <a:xfrm>
            <a:off x="1005840" y="3154680"/>
            <a:ext cx="338328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1,024 IP addresses</a:t>
            </a:r>
            <a:endParaRPr lang="en-US" sz="2000" dirty="0"/>
          </a:p>
        </p:txBody>
      </p:sp>
      <p:sp>
        <p:nvSpPr>
          <p:cNvPr id="7" name="Text 5"/>
          <p:cNvSpPr/>
          <p:nvPr/>
        </p:nvSpPr>
        <p:spPr>
          <a:xfrm>
            <a:off x="1005840" y="3566160"/>
            <a:ext cx="3383280" cy="64008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Minimum management address block, reserved before a single workload is placed.</a:t>
            </a:r>
            <a:endParaRPr lang="en-US" sz="1300" dirty="0"/>
          </a:p>
        </p:txBody>
      </p:sp>
      <p:sp>
        <p:nvSpPr>
          <p:cNvPr id="8" name="Text 6"/>
          <p:cNvSpPr/>
          <p:nvPr/>
        </p:nvSpPr>
        <p:spPr>
          <a:xfrm>
            <a:off x="5120640" y="1691640"/>
            <a:ext cx="6492240" cy="32004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Why it feels excessive</a:t>
            </a:r>
            <a:endParaRPr lang="en-US" sz="1800" dirty="0"/>
          </a:p>
        </p:txBody>
      </p:sp>
      <p:sp>
        <p:nvSpPr>
          <p:cNvPr id="9" name="Text 7"/>
          <p:cNvSpPr/>
          <p:nvPr/>
        </p:nvSpPr>
        <p:spPr>
          <a:xfrm>
            <a:off x="5120640" y="2103120"/>
            <a:ext cx="6446520" cy="1371600"/>
          </a:xfrm>
          <a:prstGeom prst="rect">
            <a:avLst/>
          </a:prstGeom>
          <a:noFill/>
          <a:ln/>
        </p:spPr>
        <p:txBody>
          <a:bodyPr wrap="square" lIns="0" tIns="0" rIns="0" bIns="0" rtlCol="0" anchor="ctr"/>
          <a:lstStyle/>
          <a:p>
            <a:pPr marL="177800" indent="-177800">
              <a:spcAft>
                <a:spcPts val="700"/>
              </a:spcAft>
              <a:buSzPct val="100000"/>
              <a:buChar char="•"/>
            </a:pPr>
            <a:r>
              <a:rPr lang="en-US" sz="1400" dirty="0">
                <a:solidFill>
                  <a:srgbClr val="55555F"/>
                </a:solidFill>
                <a:latin typeface="Calibri" pitchFamily="34" charset="0"/>
                <a:ea typeface="Calibri" pitchFamily="34" charset="-122"/>
                <a:cs typeface="Calibri" pitchFamily="34" charset="-120"/>
              </a:rPr>
              <a:t>An initial deployment may contain only three ESXi hosts.</a:t>
            </a:r>
            <a:endParaRPr lang="en-US" sz="1400" dirty="0"/>
          </a:p>
          <a:p>
            <a:pPr marL="177800" indent="-177800">
              <a:spcAft>
                <a:spcPts val="700"/>
              </a:spcAft>
              <a:buSzPct val="100000"/>
              <a:buChar char="•"/>
            </a:pPr>
            <a:r>
              <a:rPr lang="en-US" sz="1400" dirty="0">
                <a:solidFill>
                  <a:srgbClr val="55555F"/>
                </a:solidFill>
                <a:latin typeface="Calibri" pitchFamily="34" charset="0"/>
                <a:ea typeface="Calibri" pitchFamily="34" charset="-122"/>
                <a:cs typeface="Calibri" pitchFamily="34" charset="-120"/>
              </a:rPr>
              <a:t>Traditional data-center designs might use a /27 for storage and a /28 for a small vMotion network.</a:t>
            </a:r>
            <a:endParaRPr lang="en-US" sz="1400" dirty="0"/>
          </a:p>
          <a:p>
            <a:pPr marL="177800" indent="-177800">
              <a:spcAft>
                <a:spcPts val="700"/>
              </a:spcAft>
              <a:buSzPct val="100000"/>
              <a:buChar char="•"/>
            </a:pPr>
            <a:r>
              <a:rPr lang="en-US" sz="1400" dirty="0">
                <a:solidFill>
                  <a:srgbClr val="55555F"/>
                </a:solidFill>
                <a:latin typeface="Calibri" pitchFamily="34" charset="0"/>
                <a:ea typeface="Calibri" pitchFamily="34" charset="-122"/>
                <a:cs typeface="Calibri" pitchFamily="34" charset="-120"/>
              </a:rPr>
              <a:t>By comparison, a /22 looks like an order of magnitude more space than the hardware needs.</a:t>
            </a:r>
            <a:endParaRPr lang="en-US" sz="1400" dirty="0"/>
          </a:p>
        </p:txBody>
      </p:sp>
      <p:sp>
        <p:nvSpPr>
          <p:cNvPr id="10" name="Text 8"/>
          <p:cNvSpPr/>
          <p:nvPr/>
        </p:nvSpPr>
        <p:spPr>
          <a:xfrm>
            <a:off x="5120640" y="3611880"/>
            <a:ext cx="6492240" cy="32004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Why it is correct</a:t>
            </a:r>
            <a:endParaRPr lang="en-US" sz="1800" dirty="0"/>
          </a:p>
        </p:txBody>
      </p:sp>
      <p:sp>
        <p:nvSpPr>
          <p:cNvPr id="11" name="Text 9"/>
          <p:cNvSpPr/>
          <p:nvPr/>
        </p:nvSpPr>
        <p:spPr>
          <a:xfrm>
            <a:off x="5120640" y="4023360"/>
            <a:ext cx="6446520" cy="1828800"/>
          </a:xfrm>
          <a:prstGeom prst="rect">
            <a:avLst/>
          </a:prstGeom>
          <a:noFill/>
          <a:ln/>
        </p:spPr>
        <p:txBody>
          <a:bodyPr wrap="square" lIns="0" tIns="0" rIns="0" bIns="0" rtlCol="0" anchor="ctr"/>
          <a:lstStyle/>
          <a:p>
            <a:pPr marL="177800" indent="-177800">
              <a:spcAft>
                <a:spcPts val="700"/>
              </a:spcAft>
              <a:buSzPct val="100000"/>
              <a:buChar char="•"/>
            </a:pPr>
            <a:r>
              <a:rPr lang="en-US" sz="1400" dirty="0">
                <a:solidFill>
                  <a:srgbClr val="55555F"/>
                </a:solidFill>
                <a:latin typeface="Calibri" pitchFamily="34" charset="0"/>
                <a:ea typeface="Calibri" pitchFamily="34" charset="-122"/>
                <a:cs typeface="Calibri" pitchFamily="34" charset="-120"/>
              </a:rPr>
              <a:t>The deployment is an entire software-defined data center, not a handful of isolated hosts.</a:t>
            </a:r>
            <a:endParaRPr lang="en-US" sz="1400" dirty="0"/>
          </a:p>
          <a:p>
            <a:pPr marL="177800" indent="-177800">
              <a:spcAft>
                <a:spcPts val="700"/>
              </a:spcAft>
              <a:buSzPct val="100000"/>
              <a:buChar char="•"/>
            </a:pPr>
            <a:r>
              <a:rPr lang="en-US" sz="1400" dirty="0">
                <a:solidFill>
                  <a:srgbClr val="55555F"/>
                </a:solidFill>
                <a:latin typeface="Calibri" pitchFamily="34" charset="0"/>
                <a:ea typeface="Calibri" pitchFamily="34" charset="-122"/>
                <a:cs typeface="Calibri" pitchFamily="34" charset="-120"/>
              </a:rPr>
              <a:t>Azure must add hosts, replace failed hardware, evacuate workloads, patch ESXi, and expand clusters without readdressing the management plane.</a:t>
            </a:r>
            <a:endParaRPr lang="en-US" sz="1400" dirty="0"/>
          </a:p>
          <a:p>
            <a:pPr marL="177800" indent="-177800">
              <a:spcAft>
                <a:spcPts val="700"/>
              </a:spcAft>
              <a:buSzPct val="100000"/>
              <a:buChar char="•"/>
            </a:pPr>
            <a:r>
              <a:rPr lang="en-US" sz="1400" dirty="0">
                <a:solidFill>
                  <a:srgbClr val="55555F"/>
                </a:solidFill>
                <a:latin typeface="Calibri" pitchFamily="34" charset="0"/>
                <a:ea typeface="Calibri" pitchFamily="34" charset="-122"/>
                <a:cs typeface="Calibri" pitchFamily="34" charset="-120"/>
              </a:rPr>
              <a:t>The /22 protects the environment from future IP exhaustion.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FOUNDATIONAL PLANNING</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Azure carves the block for you</a:t>
            </a:r>
            <a:endParaRPr lang="en-US" sz="3400" dirty="0"/>
          </a:p>
        </p:txBody>
      </p:sp>
      <p:sp>
        <p:nvSpPr>
          <p:cNvPr id="4" name="Text 2"/>
          <p:cNvSpPr/>
          <p:nvPr/>
        </p:nvSpPr>
        <p:spPr>
          <a:xfrm>
            <a:off x="640080" y="1371600"/>
            <a:ext cx="8686800" cy="45720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Azure Resource Manager automatically divides the /22 into predefined infrastructure networks. Customers do not control these sizes.</a:t>
            </a:r>
            <a:endParaRPr lang="en-US" sz="1500" dirty="0"/>
          </a:p>
        </p:txBody>
      </p:sp>
      <p:sp>
        <p:nvSpPr>
          <p:cNvPr id="5" name="Shape 3"/>
          <p:cNvSpPr/>
          <p:nvPr/>
        </p:nvSpPr>
        <p:spPr>
          <a:xfrm>
            <a:off x="640080" y="2103120"/>
            <a:ext cx="2542032" cy="1783080"/>
          </a:xfrm>
          <a:prstGeom prst="roundRect">
            <a:avLst>
              <a:gd name="adj" fmla="val 3590"/>
            </a:avLst>
          </a:prstGeom>
          <a:solidFill>
            <a:srgbClr val="F4F7F8"/>
          </a:solidFill>
          <a:ln w="9525">
            <a:solidFill>
              <a:srgbClr val="DDE2E2"/>
            </a:solidFill>
            <a:prstDash val="solid"/>
          </a:ln>
        </p:spPr>
      </p:sp>
      <p:sp>
        <p:nvSpPr>
          <p:cNvPr id="6" name="Shape 4"/>
          <p:cNvSpPr/>
          <p:nvPr/>
        </p:nvSpPr>
        <p:spPr>
          <a:xfrm>
            <a:off x="640080" y="2103120"/>
            <a:ext cx="2542032" cy="457200"/>
          </a:xfrm>
          <a:prstGeom prst="roundRect">
            <a:avLst>
              <a:gd name="adj" fmla="val 14000"/>
            </a:avLst>
          </a:prstGeom>
          <a:solidFill>
            <a:srgbClr val="00B3E2"/>
          </a:solidFill>
          <a:ln w="12700">
            <a:solidFill>
              <a:srgbClr val="00B3E2"/>
            </a:solidFill>
            <a:prstDash val="solid"/>
          </a:ln>
        </p:spPr>
      </p:sp>
      <p:sp>
        <p:nvSpPr>
          <p:cNvPr id="7" name="Text 5"/>
          <p:cNvSpPr/>
          <p:nvPr/>
        </p:nvSpPr>
        <p:spPr>
          <a:xfrm>
            <a:off x="868680" y="2103120"/>
            <a:ext cx="2084832"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/26</a:t>
            </a:r>
            <a:endParaRPr lang="en-US" sz="1600" dirty="0"/>
          </a:p>
        </p:txBody>
      </p:sp>
      <p:sp>
        <p:nvSpPr>
          <p:cNvPr id="8" name="Text 6"/>
          <p:cNvSpPr/>
          <p:nvPr/>
        </p:nvSpPr>
        <p:spPr>
          <a:xfrm>
            <a:off x="868680" y="2697480"/>
            <a:ext cx="2084832" cy="5486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vCenter and NSX Manager</a:t>
            </a:r>
            <a:endParaRPr lang="en-US" sz="1500" dirty="0"/>
          </a:p>
        </p:txBody>
      </p:sp>
      <p:sp>
        <p:nvSpPr>
          <p:cNvPr id="9" name="Text 7"/>
          <p:cNvSpPr/>
          <p:nvPr/>
        </p:nvSpPr>
        <p:spPr>
          <a:xfrm>
            <a:off x="868680" y="3310128"/>
            <a:ext cx="2084832" cy="3200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64 addresses</a:t>
            </a:r>
            <a:endParaRPr lang="en-US" sz="1250" dirty="0"/>
          </a:p>
        </p:txBody>
      </p:sp>
      <p:sp>
        <p:nvSpPr>
          <p:cNvPr id="10" name="Shape 8"/>
          <p:cNvSpPr/>
          <p:nvPr/>
        </p:nvSpPr>
        <p:spPr>
          <a:xfrm>
            <a:off x="3429000" y="2103120"/>
            <a:ext cx="2542032" cy="1783080"/>
          </a:xfrm>
          <a:prstGeom prst="roundRect">
            <a:avLst>
              <a:gd name="adj" fmla="val 3590"/>
            </a:avLst>
          </a:prstGeom>
          <a:solidFill>
            <a:srgbClr val="F4F7F8"/>
          </a:solidFill>
          <a:ln w="9525">
            <a:solidFill>
              <a:srgbClr val="DDE2E2"/>
            </a:solidFill>
            <a:prstDash val="solid"/>
          </a:ln>
        </p:spPr>
      </p:sp>
      <p:sp>
        <p:nvSpPr>
          <p:cNvPr id="11" name="Shape 9"/>
          <p:cNvSpPr/>
          <p:nvPr/>
        </p:nvSpPr>
        <p:spPr>
          <a:xfrm>
            <a:off x="3429000" y="2103120"/>
            <a:ext cx="2542032" cy="457200"/>
          </a:xfrm>
          <a:prstGeom prst="roundRect">
            <a:avLst>
              <a:gd name="adj" fmla="val 14000"/>
            </a:avLst>
          </a:prstGeom>
          <a:solidFill>
            <a:srgbClr val="2DCCD3"/>
          </a:solidFill>
          <a:ln w="12700">
            <a:solidFill>
              <a:srgbClr val="2DCCD3"/>
            </a:solidFill>
            <a:prstDash val="solid"/>
          </a:ln>
        </p:spPr>
      </p:sp>
      <p:sp>
        <p:nvSpPr>
          <p:cNvPr id="12" name="Text 10"/>
          <p:cNvSpPr/>
          <p:nvPr/>
        </p:nvSpPr>
        <p:spPr>
          <a:xfrm>
            <a:off x="3657600" y="2103120"/>
            <a:ext cx="2084832"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/25</a:t>
            </a:r>
            <a:endParaRPr lang="en-US" sz="1600" dirty="0"/>
          </a:p>
        </p:txBody>
      </p:sp>
      <p:sp>
        <p:nvSpPr>
          <p:cNvPr id="13" name="Text 11"/>
          <p:cNvSpPr/>
          <p:nvPr/>
        </p:nvSpPr>
        <p:spPr>
          <a:xfrm>
            <a:off x="3657600" y="2697480"/>
            <a:ext cx="2084832" cy="5486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vMotion</a:t>
            </a:r>
            <a:endParaRPr lang="en-US" sz="1500" dirty="0"/>
          </a:p>
        </p:txBody>
      </p:sp>
      <p:sp>
        <p:nvSpPr>
          <p:cNvPr id="14" name="Text 12"/>
          <p:cNvSpPr/>
          <p:nvPr/>
        </p:nvSpPr>
        <p:spPr>
          <a:xfrm>
            <a:off x="3657600" y="3310128"/>
            <a:ext cx="2084832" cy="3200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128 addresses</a:t>
            </a:r>
            <a:endParaRPr lang="en-US" sz="1250" dirty="0"/>
          </a:p>
        </p:txBody>
      </p:sp>
      <p:sp>
        <p:nvSpPr>
          <p:cNvPr id="15" name="Shape 13"/>
          <p:cNvSpPr/>
          <p:nvPr/>
        </p:nvSpPr>
        <p:spPr>
          <a:xfrm>
            <a:off x="6217920" y="2103120"/>
            <a:ext cx="2542032" cy="1783080"/>
          </a:xfrm>
          <a:prstGeom prst="roundRect">
            <a:avLst>
              <a:gd name="adj" fmla="val 3590"/>
            </a:avLst>
          </a:prstGeom>
          <a:solidFill>
            <a:srgbClr val="F4F7F8"/>
          </a:solidFill>
          <a:ln w="9525">
            <a:solidFill>
              <a:srgbClr val="DDE2E2"/>
            </a:solidFill>
            <a:prstDash val="solid"/>
          </a:ln>
        </p:spPr>
      </p:sp>
      <p:sp>
        <p:nvSpPr>
          <p:cNvPr id="16" name="Shape 14"/>
          <p:cNvSpPr/>
          <p:nvPr/>
        </p:nvSpPr>
        <p:spPr>
          <a:xfrm>
            <a:off x="6217920" y="2103120"/>
            <a:ext cx="2542032" cy="457200"/>
          </a:xfrm>
          <a:prstGeom prst="roundRect">
            <a:avLst>
              <a:gd name="adj" fmla="val 14000"/>
            </a:avLst>
          </a:prstGeom>
          <a:solidFill>
            <a:srgbClr val="00AD93"/>
          </a:solidFill>
          <a:ln w="12700">
            <a:solidFill>
              <a:srgbClr val="00AD93"/>
            </a:solidFill>
            <a:prstDash val="solid"/>
          </a:ln>
        </p:spPr>
      </p:sp>
      <p:sp>
        <p:nvSpPr>
          <p:cNvPr id="17" name="Text 15"/>
          <p:cNvSpPr/>
          <p:nvPr/>
        </p:nvSpPr>
        <p:spPr>
          <a:xfrm>
            <a:off x="6446520" y="2103120"/>
            <a:ext cx="2084832"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/25</a:t>
            </a:r>
            <a:endParaRPr lang="en-US" sz="1600" dirty="0"/>
          </a:p>
        </p:txBody>
      </p:sp>
      <p:sp>
        <p:nvSpPr>
          <p:cNvPr id="18" name="Text 16"/>
          <p:cNvSpPr/>
          <p:nvPr/>
        </p:nvSpPr>
        <p:spPr>
          <a:xfrm>
            <a:off x="6446520" y="2697480"/>
            <a:ext cx="2084832" cy="5486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ESXi management</a:t>
            </a:r>
            <a:endParaRPr lang="en-US" sz="1500" dirty="0"/>
          </a:p>
        </p:txBody>
      </p:sp>
      <p:sp>
        <p:nvSpPr>
          <p:cNvPr id="19" name="Text 17"/>
          <p:cNvSpPr/>
          <p:nvPr/>
        </p:nvSpPr>
        <p:spPr>
          <a:xfrm>
            <a:off x="6446520" y="3310128"/>
            <a:ext cx="2084832" cy="3200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128 addresses</a:t>
            </a:r>
            <a:endParaRPr lang="en-US" sz="1250" dirty="0"/>
          </a:p>
        </p:txBody>
      </p:sp>
      <p:sp>
        <p:nvSpPr>
          <p:cNvPr id="20" name="Shape 18"/>
          <p:cNvSpPr/>
          <p:nvPr/>
        </p:nvSpPr>
        <p:spPr>
          <a:xfrm>
            <a:off x="9006840" y="2103120"/>
            <a:ext cx="2542032" cy="1783080"/>
          </a:xfrm>
          <a:prstGeom prst="roundRect">
            <a:avLst>
              <a:gd name="adj" fmla="val 3590"/>
            </a:avLst>
          </a:prstGeom>
          <a:solidFill>
            <a:srgbClr val="F4F7F8"/>
          </a:solidFill>
          <a:ln w="9525">
            <a:solidFill>
              <a:srgbClr val="DDE2E2"/>
            </a:solidFill>
            <a:prstDash val="solid"/>
          </a:ln>
        </p:spPr>
      </p:sp>
      <p:sp>
        <p:nvSpPr>
          <p:cNvPr id="21" name="Shape 19"/>
          <p:cNvSpPr/>
          <p:nvPr/>
        </p:nvSpPr>
        <p:spPr>
          <a:xfrm>
            <a:off x="9006840" y="2103120"/>
            <a:ext cx="2542032" cy="457200"/>
          </a:xfrm>
          <a:prstGeom prst="roundRect">
            <a:avLst>
              <a:gd name="adj" fmla="val 14000"/>
            </a:avLst>
          </a:prstGeom>
          <a:solidFill>
            <a:srgbClr val="8DB9D9"/>
          </a:solidFill>
          <a:ln w="12700">
            <a:solidFill>
              <a:srgbClr val="8DB9D9"/>
            </a:solidFill>
            <a:prstDash val="solid"/>
          </a:ln>
        </p:spPr>
      </p:sp>
      <p:sp>
        <p:nvSpPr>
          <p:cNvPr id="22" name="Text 20"/>
          <p:cNvSpPr/>
          <p:nvPr/>
        </p:nvSpPr>
        <p:spPr>
          <a:xfrm>
            <a:off x="9235440" y="2103120"/>
            <a:ext cx="2084832" cy="457200"/>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Remainder</a:t>
            </a:r>
            <a:endParaRPr lang="en-US" sz="1600" dirty="0"/>
          </a:p>
        </p:txBody>
      </p:sp>
      <p:sp>
        <p:nvSpPr>
          <p:cNvPr id="23" name="Text 21"/>
          <p:cNvSpPr/>
          <p:nvPr/>
        </p:nvSpPr>
        <p:spPr>
          <a:xfrm>
            <a:off x="9235440" y="2697480"/>
            <a:ext cx="2084832" cy="5486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Platform lifecycle and growth</a:t>
            </a:r>
            <a:endParaRPr lang="en-US" sz="1500" dirty="0"/>
          </a:p>
        </p:txBody>
      </p:sp>
      <p:sp>
        <p:nvSpPr>
          <p:cNvPr id="24" name="Text 22"/>
          <p:cNvSpPr/>
          <p:nvPr/>
        </p:nvSpPr>
        <p:spPr>
          <a:xfrm>
            <a:off x="9235440" y="3310128"/>
            <a:ext cx="2084832" cy="3200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Reserved by Azure</a:t>
            </a:r>
            <a:endParaRPr lang="en-US" sz="1250" dirty="0"/>
          </a:p>
        </p:txBody>
      </p:sp>
      <p:sp>
        <p:nvSpPr>
          <p:cNvPr id="25" name="Shape 23"/>
          <p:cNvSpPr/>
          <p:nvPr/>
        </p:nvSpPr>
        <p:spPr>
          <a:xfrm>
            <a:off x="640080" y="4160520"/>
            <a:ext cx="3511296" cy="1691640"/>
          </a:xfrm>
          <a:prstGeom prst="roundRect">
            <a:avLst>
              <a:gd name="adj" fmla="val 3784"/>
            </a:avLst>
          </a:prstGeom>
          <a:solidFill>
            <a:srgbClr val="E5F7FC"/>
          </a:solidFill>
          <a:ln w="9525">
            <a:solidFill>
              <a:srgbClr val="B2E8F6"/>
            </a:solidFill>
            <a:prstDash val="solid"/>
          </a:ln>
        </p:spPr>
      </p:sp>
      <p:sp>
        <p:nvSpPr>
          <p:cNvPr id="26" name="Text 24"/>
          <p:cNvSpPr/>
          <p:nvPr/>
        </p:nvSpPr>
        <p:spPr>
          <a:xfrm>
            <a:off x="896112" y="4370832"/>
            <a:ext cx="2999232" cy="3200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Deterministic by design</a:t>
            </a:r>
            <a:endParaRPr lang="en-US" sz="1500" dirty="0"/>
          </a:p>
        </p:txBody>
      </p:sp>
      <p:sp>
        <p:nvSpPr>
          <p:cNvPr id="27" name="Text 25"/>
          <p:cNvSpPr/>
          <p:nvPr/>
        </p:nvSpPr>
        <p:spPr>
          <a:xfrm>
            <a:off x="896112" y="4736592"/>
            <a:ext cx="2999232" cy="96012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Automation, predictable lifecycle management, host replacement, and cluster expansion all depend on fixed internal subnets.</a:t>
            </a:r>
            <a:endParaRPr lang="en-US" sz="1250" dirty="0"/>
          </a:p>
        </p:txBody>
      </p:sp>
      <p:sp>
        <p:nvSpPr>
          <p:cNvPr id="28" name="Shape 26"/>
          <p:cNvSpPr/>
          <p:nvPr/>
        </p:nvSpPr>
        <p:spPr>
          <a:xfrm>
            <a:off x="4535424" y="4160520"/>
            <a:ext cx="3511296" cy="1691640"/>
          </a:xfrm>
          <a:prstGeom prst="roundRect">
            <a:avLst>
              <a:gd name="adj" fmla="val 3784"/>
            </a:avLst>
          </a:prstGeom>
          <a:solidFill>
            <a:srgbClr val="E5F7FC"/>
          </a:solidFill>
          <a:ln w="9525">
            <a:solidFill>
              <a:srgbClr val="B2E8F6"/>
            </a:solidFill>
            <a:prstDash val="solid"/>
          </a:ln>
        </p:spPr>
      </p:sp>
      <p:sp>
        <p:nvSpPr>
          <p:cNvPr id="29" name="Text 27"/>
          <p:cNvSpPr/>
          <p:nvPr/>
        </p:nvSpPr>
        <p:spPr>
          <a:xfrm>
            <a:off x="4791456" y="4370832"/>
            <a:ext cx="2999232" cy="3200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Day-zero decision</a:t>
            </a:r>
            <a:endParaRPr lang="en-US" sz="1500" dirty="0"/>
          </a:p>
        </p:txBody>
      </p:sp>
      <p:sp>
        <p:nvSpPr>
          <p:cNvPr id="30" name="Text 28"/>
          <p:cNvSpPr/>
          <p:nvPr/>
        </p:nvSpPr>
        <p:spPr>
          <a:xfrm>
            <a:off x="4791456" y="4736592"/>
            <a:ext cx="2999232" cy="96012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The management CIDR cannot be treated like a normal workload subnet. Overlap must be identified before deployment.</a:t>
            </a:r>
            <a:endParaRPr lang="en-US" sz="1250" dirty="0"/>
          </a:p>
        </p:txBody>
      </p:sp>
      <p:sp>
        <p:nvSpPr>
          <p:cNvPr id="31" name="Shape 29"/>
          <p:cNvSpPr/>
          <p:nvPr/>
        </p:nvSpPr>
        <p:spPr>
          <a:xfrm>
            <a:off x="8430768" y="4160520"/>
            <a:ext cx="3511296" cy="1691640"/>
          </a:xfrm>
          <a:prstGeom prst="roundRect">
            <a:avLst>
              <a:gd name="adj" fmla="val 3784"/>
            </a:avLst>
          </a:prstGeom>
          <a:solidFill>
            <a:srgbClr val="E5F7FC"/>
          </a:solidFill>
          <a:ln w="9525">
            <a:solidFill>
              <a:srgbClr val="B2E8F6"/>
            </a:solidFill>
            <a:prstDash val="solid"/>
          </a:ln>
        </p:spPr>
      </p:sp>
      <p:sp>
        <p:nvSpPr>
          <p:cNvPr id="32" name="Text 30"/>
          <p:cNvSpPr/>
          <p:nvPr/>
        </p:nvSpPr>
        <p:spPr>
          <a:xfrm>
            <a:off x="8686800" y="4370832"/>
            <a:ext cx="2999232" cy="32004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Expensive to correct</a:t>
            </a:r>
            <a:endParaRPr lang="en-US" sz="1500" dirty="0"/>
          </a:p>
        </p:txBody>
      </p:sp>
      <p:sp>
        <p:nvSpPr>
          <p:cNvPr id="33" name="Text 31"/>
          <p:cNvSpPr/>
          <p:nvPr/>
        </p:nvSpPr>
        <p:spPr>
          <a:xfrm>
            <a:off x="8686800" y="4736592"/>
            <a:ext cx="2999232" cy="96012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Fixing an addressing mistake later may require rebuilding the private cloud.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RESTRICTED ADDRESS SPACE</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Ranges you cannot bring into AVS</a:t>
            </a:r>
            <a:endParaRPr lang="en-US" sz="3400" dirty="0"/>
          </a:p>
        </p:txBody>
      </p:sp>
      <p:sp>
        <p:nvSpPr>
          <p:cNvPr id="4" name="Text 2"/>
          <p:cNvSpPr/>
          <p:nvPr/>
        </p:nvSpPr>
        <p:spPr>
          <a:xfrm>
            <a:off x="640080" y="1371600"/>
            <a:ext cx="8961120" cy="45720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AVS uses RFC 1918 private addressing, but not every private range is safe. Several conflict with Azure or NSX-T internal infrastructure.</a:t>
            </a:r>
            <a:endParaRPr lang="en-US" sz="1500" dirty="0"/>
          </a:p>
        </p:txBody>
      </p:sp>
      <p:sp>
        <p:nvSpPr>
          <p:cNvPr id="5" name="Shape 3"/>
          <p:cNvSpPr/>
          <p:nvPr/>
        </p:nvSpPr>
        <p:spPr>
          <a:xfrm>
            <a:off x="640080" y="2057400"/>
            <a:ext cx="3511296" cy="2514600"/>
          </a:xfrm>
          <a:prstGeom prst="roundRect">
            <a:avLst>
              <a:gd name="adj" fmla="val 2545"/>
            </a:avLst>
          </a:prstGeom>
          <a:solidFill>
            <a:srgbClr val="F4F7F8"/>
          </a:solidFill>
          <a:ln w="9525">
            <a:solidFill>
              <a:srgbClr val="DDE2E2"/>
            </a:solidFill>
            <a:prstDash val="solid"/>
          </a:ln>
        </p:spPr>
      </p:sp>
      <p:sp>
        <p:nvSpPr>
          <p:cNvPr id="6" name="Text 4"/>
          <p:cNvSpPr/>
          <p:nvPr/>
        </p:nvSpPr>
        <p:spPr>
          <a:xfrm>
            <a:off x="896112" y="2240280"/>
            <a:ext cx="2999232" cy="237744"/>
          </a:xfrm>
          <a:prstGeom prst="rect">
            <a:avLst/>
          </a:prstGeom>
          <a:noFill/>
          <a:ln/>
        </p:spPr>
        <p:txBody>
          <a:bodyPr wrap="square" lIns="0" tIns="0" rIns="0" bIns="0" rtlCol="0" anchor="ctr"/>
          <a:lstStyle/>
          <a:p>
            <a:pPr indent="0" marL="0">
              <a:buNone/>
            </a:pPr>
            <a:r>
              <a:rPr lang="en-US" sz="1050" b="1" spc="150" kern="0" dirty="0">
                <a:solidFill>
                  <a:srgbClr val="F15D23"/>
                </a:solidFill>
                <a:latin typeface="Calibri" pitchFamily="34" charset="0"/>
                <a:ea typeface="Calibri" pitchFamily="34" charset="-122"/>
                <a:cs typeface="Calibri" pitchFamily="34" charset="-120"/>
              </a:rPr>
              <a:t>PROHIBITED</a:t>
            </a:r>
            <a:endParaRPr lang="en-US" sz="1050" dirty="0"/>
          </a:p>
        </p:txBody>
      </p:sp>
      <p:sp>
        <p:nvSpPr>
          <p:cNvPr id="7" name="Text 5"/>
          <p:cNvSpPr/>
          <p:nvPr/>
        </p:nvSpPr>
        <p:spPr>
          <a:xfrm>
            <a:off x="896112" y="2514600"/>
            <a:ext cx="2999232" cy="658368"/>
          </a:xfrm>
          <a:prstGeom prst="rect">
            <a:avLst/>
          </a:prstGeom>
          <a:noFill/>
          <a:ln/>
        </p:spPr>
        <p:txBody>
          <a:bodyPr wrap="square" lIns="0" tIns="0" rIns="0" bIns="0" rtlCol="0" anchor="ctr"/>
          <a:lstStyle/>
          <a:p>
            <a:pPr indent="0" marL="0">
              <a:buNone/>
            </a:pPr>
            <a:r>
              <a:rPr lang="en-US" sz="2000" b="1" dirty="0">
                <a:solidFill>
                  <a:srgbClr val="3E3E4B"/>
                </a:solidFill>
                <a:latin typeface="Calibri" pitchFamily="34" charset="0"/>
                <a:ea typeface="Calibri" pitchFamily="34" charset="-122"/>
                <a:cs typeface="Calibri" pitchFamily="34" charset="-120"/>
              </a:rPr>
              <a:t>172.17.0.0/16</a:t>
            </a:r>
            <a:endParaRPr lang="en-US" sz="2000" dirty="0"/>
          </a:p>
        </p:txBody>
      </p:sp>
      <p:sp>
        <p:nvSpPr>
          <p:cNvPr id="8" name="Text 6"/>
          <p:cNvSpPr/>
          <p:nvPr/>
        </p:nvSpPr>
        <p:spPr>
          <a:xfrm>
            <a:off x="896112" y="3246120"/>
            <a:ext cx="2999232" cy="1188720"/>
          </a:xfrm>
          <a:prstGeom prst="rect">
            <a:avLst/>
          </a:prstGeom>
          <a:noFill/>
          <a:ln/>
        </p:spPr>
        <p:txBody>
          <a:bodyPr wrap="square" lIns="0" tIns="0" rIns="0" bIns="0" rtlCol="0" anchor="ctr"/>
          <a:lstStyle/>
          <a:p>
            <a:pPr marL="177800" indent="-177800">
              <a:spcAft>
                <a:spcPts val="500"/>
              </a:spcAft>
              <a:buSzPct val="100000"/>
              <a:buChar char="•"/>
            </a:pPr>
            <a:r>
              <a:rPr lang="en-US" sz="1250" dirty="0">
                <a:solidFill>
                  <a:srgbClr val="55555F"/>
                </a:solidFill>
                <a:latin typeface="Calibri" pitchFamily="34" charset="0"/>
                <a:ea typeface="Calibri" pitchFamily="34" charset="-122"/>
                <a:cs typeface="Calibri" pitchFamily="34" charset="-120"/>
              </a:rPr>
              <a:t>Used by Docker networking</a:t>
            </a:r>
            <a:endParaRPr lang="en-US" sz="1250" dirty="0"/>
          </a:p>
          <a:p>
            <a:pPr marL="177800" indent="-177800">
              <a:spcAft>
                <a:spcPts val="500"/>
              </a:spcAft>
              <a:buSzPct val="100000"/>
              <a:buChar char="•"/>
            </a:pPr>
            <a:r>
              <a:rPr lang="en-US" sz="1250" dirty="0">
                <a:solidFill>
                  <a:srgbClr val="55555F"/>
                </a:solidFill>
                <a:latin typeface="Calibri" pitchFamily="34" charset="0"/>
                <a:ea typeface="Calibri" pitchFamily="34" charset="-122"/>
                <a:cs typeface="Calibri" pitchFamily="34" charset="-120"/>
              </a:rPr>
              <a:t>Used by Azure internal containerized management services</a:t>
            </a:r>
            <a:endParaRPr lang="en-US" sz="1250" dirty="0"/>
          </a:p>
          <a:p>
            <a:pPr marL="177800" indent="-177800">
              <a:spcAft>
                <a:spcPts val="500"/>
              </a:spcAft>
              <a:buSzPct val="100000"/>
              <a:buChar char="•"/>
            </a:pPr>
            <a:r>
              <a:rPr lang="en-US" sz="1250" dirty="0">
                <a:solidFill>
                  <a:srgbClr val="55555F"/>
                </a:solidFill>
                <a:latin typeface="Calibri" pitchFamily="34" charset="0"/>
                <a:ea typeface="Calibri" pitchFamily="34" charset="-122"/>
                <a:cs typeface="Calibri" pitchFamily="34" charset="-120"/>
              </a:rPr>
              <a:t>Used by hardware telemetry and health-management components</a:t>
            </a:r>
            <a:endParaRPr lang="en-US" sz="1250" dirty="0"/>
          </a:p>
        </p:txBody>
      </p:sp>
      <p:sp>
        <p:nvSpPr>
          <p:cNvPr id="9" name="Shape 7"/>
          <p:cNvSpPr/>
          <p:nvPr/>
        </p:nvSpPr>
        <p:spPr>
          <a:xfrm>
            <a:off x="4535424" y="2057400"/>
            <a:ext cx="3511296" cy="2514600"/>
          </a:xfrm>
          <a:prstGeom prst="roundRect">
            <a:avLst>
              <a:gd name="adj" fmla="val 2545"/>
            </a:avLst>
          </a:prstGeom>
          <a:solidFill>
            <a:srgbClr val="F4F7F8"/>
          </a:solidFill>
          <a:ln w="9525">
            <a:solidFill>
              <a:srgbClr val="DDE2E2"/>
            </a:solidFill>
            <a:prstDash val="solid"/>
          </a:ln>
        </p:spPr>
      </p:sp>
      <p:sp>
        <p:nvSpPr>
          <p:cNvPr id="10" name="Text 8"/>
          <p:cNvSpPr/>
          <p:nvPr/>
        </p:nvSpPr>
        <p:spPr>
          <a:xfrm>
            <a:off x="4791456" y="2240280"/>
            <a:ext cx="2999232" cy="237744"/>
          </a:xfrm>
          <a:prstGeom prst="rect">
            <a:avLst/>
          </a:prstGeom>
          <a:noFill/>
          <a:ln/>
        </p:spPr>
        <p:txBody>
          <a:bodyPr wrap="square" lIns="0" tIns="0" rIns="0" bIns="0" rtlCol="0" anchor="ctr"/>
          <a:lstStyle/>
          <a:p>
            <a:pPr indent="0" marL="0">
              <a:buNone/>
            </a:pPr>
            <a:r>
              <a:rPr lang="en-US" sz="1050" b="1" spc="150" kern="0" dirty="0">
                <a:solidFill>
                  <a:srgbClr val="F15D23"/>
                </a:solidFill>
                <a:latin typeface="Calibri" pitchFamily="34" charset="0"/>
                <a:ea typeface="Calibri" pitchFamily="34" charset="-122"/>
                <a:cs typeface="Calibri" pitchFamily="34" charset="-120"/>
              </a:rPr>
              <a:t>NSX-T INTERNAL</a:t>
            </a:r>
            <a:endParaRPr lang="en-US" sz="1050" dirty="0"/>
          </a:p>
        </p:txBody>
      </p:sp>
      <p:sp>
        <p:nvSpPr>
          <p:cNvPr id="11" name="Text 9"/>
          <p:cNvSpPr/>
          <p:nvPr/>
        </p:nvSpPr>
        <p:spPr>
          <a:xfrm>
            <a:off x="4791456" y="2514600"/>
            <a:ext cx="2999232" cy="658368"/>
          </a:xfrm>
          <a:prstGeom prst="rect">
            <a:avLst/>
          </a:prstGeom>
          <a:noFill/>
          <a:ln/>
        </p:spPr>
        <p:txBody>
          <a:bodyPr wrap="square" lIns="0" tIns="0" rIns="0" bIns="0" rtlCol="0" anchor="ctr"/>
          <a:lstStyle/>
          <a:p>
            <a:pPr indent="0" marL="0">
              <a:buNone/>
            </a:pPr>
            <a:r>
              <a:rPr lang="en-US" sz="2000" b="1" dirty="0">
                <a:solidFill>
                  <a:srgbClr val="3E3E4B"/>
                </a:solidFill>
                <a:latin typeface="Calibri" pitchFamily="34" charset="0"/>
                <a:ea typeface="Calibri" pitchFamily="34" charset="-122"/>
                <a:cs typeface="Calibri" pitchFamily="34" charset="-120"/>
              </a:rPr>
              <a:t>169.254.0.0/24</a:t>
            </a:r>
            <a:endParaRPr lang="en-US" sz="2000" dirty="0"/>
          </a:p>
          <a:p>
            <a:pPr indent="0" marL="0">
              <a:buNone/>
            </a:pPr>
            <a:r>
              <a:rPr lang="en-US" sz="2000" b="1" dirty="0">
                <a:solidFill>
                  <a:srgbClr val="3E3E4B"/>
                </a:solidFill>
                <a:latin typeface="Calibri" pitchFamily="34" charset="0"/>
                <a:ea typeface="Calibri" pitchFamily="34" charset="-122"/>
                <a:cs typeface="Calibri" pitchFamily="34" charset="-120"/>
              </a:rPr>
              <a:t>169.254.2.0/23</a:t>
            </a:r>
            <a:endParaRPr lang="en-US" sz="2000" dirty="0"/>
          </a:p>
        </p:txBody>
      </p:sp>
      <p:sp>
        <p:nvSpPr>
          <p:cNvPr id="12" name="Text 10"/>
          <p:cNvSpPr/>
          <p:nvPr/>
        </p:nvSpPr>
        <p:spPr>
          <a:xfrm>
            <a:off x="4791456" y="3246120"/>
            <a:ext cx="2999232" cy="1188720"/>
          </a:xfrm>
          <a:prstGeom prst="rect">
            <a:avLst/>
          </a:prstGeom>
          <a:noFill/>
          <a:ln/>
        </p:spPr>
        <p:txBody>
          <a:bodyPr wrap="square" lIns="0" tIns="0" rIns="0" bIns="0" rtlCol="0" anchor="ctr"/>
          <a:lstStyle/>
          <a:p>
            <a:pPr marL="177800" indent="-177800">
              <a:spcAft>
                <a:spcPts val="500"/>
              </a:spcAft>
              <a:buSzPct val="100000"/>
              <a:buChar char="•"/>
            </a:pPr>
            <a:r>
              <a:rPr lang="en-US" sz="1250" dirty="0">
                <a:solidFill>
                  <a:srgbClr val="55555F"/>
                </a:solidFill>
                <a:latin typeface="Calibri" pitchFamily="34" charset="0"/>
                <a:ea typeface="Calibri" pitchFamily="34" charset="-122"/>
                <a:cs typeface="Calibri" pitchFamily="34" charset="-120"/>
              </a:rPr>
              <a:t>Reserved for NSX-T internal overlay functions</a:t>
            </a:r>
            <a:endParaRPr lang="en-US" sz="1250" dirty="0"/>
          </a:p>
          <a:p>
            <a:pPr marL="177800" indent="-177800">
              <a:spcAft>
                <a:spcPts val="500"/>
              </a:spcAft>
              <a:buSzPct val="100000"/>
              <a:buChar char="•"/>
            </a:pPr>
            <a:r>
              <a:rPr lang="en-US" sz="1250" dirty="0">
                <a:solidFill>
                  <a:srgbClr val="55555F"/>
                </a:solidFill>
                <a:latin typeface="Calibri" pitchFamily="34" charset="0"/>
                <a:ea typeface="Calibri" pitchFamily="34" charset="-122"/>
                <a:cs typeface="Calibri" pitchFamily="34" charset="-120"/>
              </a:rPr>
              <a:t>Supports peering and transit between Tier-0 and Tier-1 gateways</a:t>
            </a:r>
            <a:endParaRPr lang="en-US" sz="1250" dirty="0"/>
          </a:p>
          <a:p>
            <a:pPr marL="177800" indent="-177800">
              <a:spcAft>
                <a:spcPts val="500"/>
              </a:spcAft>
              <a:buSzPct val="100000"/>
              <a:buChar char="•"/>
            </a:pPr>
            <a:r>
              <a:rPr lang="en-US" sz="1250" dirty="0">
                <a:solidFill>
                  <a:srgbClr val="55555F"/>
                </a:solidFill>
                <a:latin typeface="Calibri" pitchFamily="34" charset="0"/>
                <a:ea typeface="Calibri" pitchFamily="34" charset="-122"/>
                <a:cs typeface="Calibri" pitchFamily="34" charset="-120"/>
              </a:rPr>
              <a:t>Carries distributed logical routing traffic</a:t>
            </a:r>
            <a:endParaRPr lang="en-US" sz="1250" dirty="0"/>
          </a:p>
        </p:txBody>
      </p:sp>
      <p:sp>
        <p:nvSpPr>
          <p:cNvPr id="13" name="Shape 11"/>
          <p:cNvSpPr/>
          <p:nvPr/>
        </p:nvSpPr>
        <p:spPr>
          <a:xfrm>
            <a:off x="8430768" y="2057400"/>
            <a:ext cx="3511296" cy="2514600"/>
          </a:xfrm>
          <a:prstGeom prst="roundRect">
            <a:avLst>
              <a:gd name="adj" fmla="val 2545"/>
            </a:avLst>
          </a:prstGeom>
          <a:solidFill>
            <a:srgbClr val="F4F7F8"/>
          </a:solidFill>
          <a:ln w="9525">
            <a:solidFill>
              <a:srgbClr val="DDE2E2"/>
            </a:solidFill>
            <a:prstDash val="solid"/>
          </a:ln>
        </p:spPr>
      </p:sp>
      <p:sp>
        <p:nvSpPr>
          <p:cNvPr id="14" name="Text 12"/>
          <p:cNvSpPr/>
          <p:nvPr/>
        </p:nvSpPr>
        <p:spPr>
          <a:xfrm>
            <a:off x="8686800" y="2240280"/>
            <a:ext cx="2999232" cy="237744"/>
          </a:xfrm>
          <a:prstGeom prst="rect">
            <a:avLst/>
          </a:prstGeom>
          <a:noFill/>
          <a:ln/>
        </p:spPr>
        <p:txBody>
          <a:bodyPr wrap="square" lIns="0" tIns="0" rIns="0" bIns="0" rtlCol="0" anchor="ctr"/>
          <a:lstStyle/>
          <a:p>
            <a:pPr indent="0" marL="0">
              <a:buNone/>
            </a:pPr>
            <a:r>
              <a:rPr lang="en-US" sz="1050" b="1" spc="150" kern="0" dirty="0">
                <a:solidFill>
                  <a:srgbClr val="F15D23"/>
                </a:solidFill>
                <a:latin typeface="Calibri" pitchFamily="34" charset="0"/>
                <a:ea typeface="Calibri" pitchFamily="34" charset="-122"/>
                <a:cs typeface="Calibri" pitchFamily="34" charset="-120"/>
              </a:rPr>
              <a:t>NSX-T INTERNAL</a:t>
            </a:r>
            <a:endParaRPr lang="en-US" sz="1050" dirty="0"/>
          </a:p>
        </p:txBody>
      </p:sp>
      <p:sp>
        <p:nvSpPr>
          <p:cNvPr id="15" name="Text 13"/>
          <p:cNvSpPr/>
          <p:nvPr/>
        </p:nvSpPr>
        <p:spPr>
          <a:xfrm>
            <a:off x="8686800" y="2514600"/>
            <a:ext cx="2999232" cy="658368"/>
          </a:xfrm>
          <a:prstGeom prst="rect">
            <a:avLst/>
          </a:prstGeom>
          <a:noFill/>
          <a:ln/>
        </p:spPr>
        <p:txBody>
          <a:bodyPr wrap="square" lIns="0" tIns="0" rIns="0" bIns="0" rtlCol="0" anchor="ctr"/>
          <a:lstStyle/>
          <a:p>
            <a:pPr indent="0" marL="0">
              <a:buNone/>
            </a:pPr>
            <a:r>
              <a:rPr lang="en-US" sz="2000" b="1" dirty="0">
                <a:solidFill>
                  <a:srgbClr val="3E3E4B"/>
                </a:solidFill>
                <a:latin typeface="Calibri" pitchFamily="34" charset="0"/>
                <a:ea typeface="Calibri" pitchFamily="34" charset="-122"/>
                <a:cs typeface="Calibri" pitchFamily="34" charset="-120"/>
              </a:rPr>
              <a:t>100.64.0.0/16</a:t>
            </a:r>
            <a:endParaRPr lang="en-US" sz="2000" dirty="0"/>
          </a:p>
        </p:txBody>
      </p:sp>
      <p:sp>
        <p:nvSpPr>
          <p:cNvPr id="16" name="Text 14"/>
          <p:cNvSpPr/>
          <p:nvPr/>
        </p:nvSpPr>
        <p:spPr>
          <a:xfrm>
            <a:off x="8686800" y="3246120"/>
            <a:ext cx="2999232" cy="1188720"/>
          </a:xfrm>
          <a:prstGeom prst="rect">
            <a:avLst/>
          </a:prstGeom>
          <a:noFill/>
          <a:ln/>
        </p:spPr>
        <p:txBody>
          <a:bodyPr wrap="square" lIns="0" tIns="0" rIns="0" bIns="0" rtlCol="0" anchor="ctr"/>
          <a:lstStyle/>
          <a:p>
            <a:pPr marL="177800" indent="-177800">
              <a:spcAft>
                <a:spcPts val="500"/>
              </a:spcAft>
              <a:buSzPct val="100000"/>
              <a:buChar char="•"/>
            </a:pPr>
            <a:r>
              <a:rPr lang="en-US" sz="1250" dirty="0">
                <a:solidFill>
                  <a:srgbClr val="55555F"/>
                </a:solidFill>
                <a:latin typeface="Calibri" pitchFamily="34" charset="0"/>
                <a:ea typeface="Calibri" pitchFamily="34" charset="-122"/>
                <a:cs typeface="Calibri" pitchFamily="34" charset="-120"/>
              </a:rPr>
              <a:t>Reserved for internal transit communication</a:t>
            </a:r>
            <a:endParaRPr lang="en-US" sz="1250" dirty="0"/>
          </a:p>
          <a:p>
            <a:pPr marL="177800" indent="-177800">
              <a:spcAft>
                <a:spcPts val="500"/>
              </a:spcAft>
              <a:buSzPct val="100000"/>
              <a:buChar char="•"/>
            </a:pPr>
            <a:r>
              <a:rPr lang="en-US" sz="1250" dirty="0">
                <a:solidFill>
                  <a:srgbClr val="55555F"/>
                </a:solidFill>
                <a:latin typeface="Calibri" pitchFamily="34" charset="0"/>
                <a:ea typeface="Calibri" pitchFamily="34" charset="-122"/>
                <a:cs typeface="Calibri" pitchFamily="34" charset="-120"/>
              </a:rPr>
              <a:t>Overlapping advertisements can poison internal NSX routing</a:t>
            </a:r>
            <a:endParaRPr lang="en-US" sz="1250" dirty="0"/>
          </a:p>
          <a:p>
            <a:pPr marL="177800" indent="-177800">
              <a:spcAft>
                <a:spcPts val="500"/>
              </a:spcAft>
              <a:buSzPct val="100000"/>
              <a:buChar char="•"/>
            </a:pPr>
            <a:r>
              <a:rPr lang="en-US" sz="1250" dirty="0">
                <a:solidFill>
                  <a:srgbClr val="55555F"/>
                </a:solidFill>
                <a:latin typeface="Calibri" pitchFamily="34" charset="0"/>
                <a:ea typeface="Calibri" pitchFamily="34" charset="-122"/>
                <a:cs typeface="Calibri" pitchFamily="34" charset="-120"/>
              </a:rPr>
              <a:t>Can break BGP peering with the Azure underlay</a:t>
            </a:r>
            <a:endParaRPr lang="en-US" sz="1250" dirty="0"/>
          </a:p>
        </p:txBody>
      </p:sp>
      <p:sp>
        <p:nvSpPr>
          <p:cNvPr id="17" name="Shape 15"/>
          <p:cNvSpPr/>
          <p:nvPr/>
        </p:nvSpPr>
        <p:spPr>
          <a:xfrm>
            <a:off x="640080" y="4846320"/>
            <a:ext cx="10911535" cy="1051560"/>
          </a:xfrm>
          <a:prstGeom prst="roundRect">
            <a:avLst>
              <a:gd name="adj" fmla="val 6087"/>
            </a:avLst>
          </a:prstGeom>
          <a:solidFill>
            <a:srgbClr val="FDF0EB"/>
          </a:solidFill>
          <a:ln w="9525">
            <a:solidFill>
              <a:srgbClr val="F6C9B4"/>
            </a:solidFill>
            <a:prstDash val="solid"/>
          </a:ln>
        </p:spPr>
      </p:sp>
      <p:sp>
        <p:nvSpPr>
          <p:cNvPr id="18" name="Text 16"/>
          <p:cNvSpPr/>
          <p:nvPr/>
        </p:nvSpPr>
        <p:spPr>
          <a:xfrm>
            <a:off x="960120" y="4983480"/>
            <a:ext cx="3017520" cy="274320"/>
          </a:xfrm>
          <a:prstGeom prst="rect">
            <a:avLst/>
          </a:prstGeom>
          <a:noFill/>
          <a:ln/>
        </p:spPr>
        <p:txBody>
          <a:bodyPr wrap="square" lIns="0" tIns="0" rIns="0" bIns="0" rtlCol="0" anchor="ctr"/>
          <a:lstStyle/>
          <a:p>
            <a:pPr indent="0" marL="0">
              <a:buNone/>
            </a:pPr>
            <a:r>
              <a:rPr lang="en-US" sz="1400" b="1" dirty="0">
                <a:solidFill>
                  <a:srgbClr val="F15D23"/>
                </a:solidFill>
                <a:latin typeface="Calibri" pitchFamily="34" charset="0"/>
                <a:ea typeface="Calibri" pitchFamily="34" charset="-122"/>
                <a:cs typeface="Calibri" pitchFamily="34" charset="-120"/>
              </a:rPr>
              <a:t>What happens when you ignore this:</a:t>
            </a:r>
            <a:endParaRPr lang="en-US" sz="1400" dirty="0"/>
          </a:p>
        </p:txBody>
      </p:sp>
      <p:sp>
        <p:nvSpPr>
          <p:cNvPr id="19" name="Text 17"/>
          <p:cNvSpPr/>
          <p:nvPr/>
        </p:nvSpPr>
        <p:spPr>
          <a:xfrm>
            <a:off x="960120" y="5285232"/>
            <a:ext cx="10271455" cy="50292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The managed underlay takes precedence, the hypervisor cannot tell workload traffic from internal Azure management traffic, and workload packets disappear inside the virtual switching layer. Symptoms are TCP retransmissions and application timeouts with no ICMP unreachable response.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HCX AND FIREWALL DESIGN</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The ports that carry migration traffic</a:t>
            </a:r>
            <a:endParaRPr lang="en-US" sz="3400" dirty="0"/>
          </a:p>
        </p:txBody>
      </p:sp>
      <p:sp>
        <p:nvSpPr>
          <p:cNvPr id="4" name="Shape 2"/>
          <p:cNvSpPr/>
          <p:nvPr/>
        </p:nvSpPr>
        <p:spPr>
          <a:xfrm>
            <a:off x="640080" y="1691640"/>
            <a:ext cx="2542032" cy="2148840"/>
          </a:xfrm>
          <a:prstGeom prst="roundRect">
            <a:avLst>
              <a:gd name="adj" fmla="val 2979"/>
            </a:avLst>
          </a:prstGeom>
          <a:solidFill>
            <a:srgbClr val="F4F7F8"/>
          </a:solidFill>
          <a:ln w="9525">
            <a:solidFill>
              <a:srgbClr val="DDE2E2"/>
            </a:solidFill>
            <a:prstDash val="solid"/>
          </a:ln>
        </p:spPr>
      </p:sp>
      <p:sp>
        <p:nvSpPr>
          <p:cNvPr id="5" name="Shape 3"/>
          <p:cNvSpPr/>
          <p:nvPr/>
        </p:nvSpPr>
        <p:spPr>
          <a:xfrm>
            <a:off x="896112" y="1920240"/>
            <a:ext cx="274320" cy="274320"/>
          </a:xfrm>
          <a:prstGeom prst="ellipse">
            <a:avLst/>
          </a:prstGeom>
          <a:solidFill>
            <a:srgbClr val="00B3E2"/>
          </a:solidFill>
          <a:ln w="12700">
            <a:solidFill>
              <a:srgbClr val="00B3E2"/>
            </a:solidFill>
            <a:prstDash val="solid"/>
          </a:ln>
        </p:spPr>
      </p:sp>
      <p:sp>
        <p:nvSpPr>
          <p:cNvPr id="6" name="Text 4"/>
          <p:cNvSpPr/>
          <p:nvPr/>
        </p:nvSpPr>
        <p:spPr>
          <a:xfrm>
            <a:off x="896112" y="2331720"/>
            <a:ext cx="2029968" cy="411480"/>
          </a:xfrm>
          <a:prstGeom prst="rect">
            <a:avLst/>
          </a:prstGeom>
          <a:noFill/>
          <a:ln/>
        </p:spPr>
        <p:txBody>
          <a:bodyPr wrap="square" lIns="0" tIns="0" rIns="0" bIns="0" rtlCol="0" anchor="ctr"/>
          <a:lstStyle/>
          <a:p>
            <a:pPr indent="0" marL="0">
              <a:buNone/>
            </a:pPr>
            <a:r>
              <a:rPr lang="en-US" sz="2100" b="1" dirty="0">
                <a:solidFill>
                  <a:srgbClr val="3E3E4B"/>
                </a:solidFill>
                <a:latin typeface="Calibri" pitchFamily="34" charset="0"/>
                <a:ea typeface="Calibri" pitchFamily="34" charset="-122"/>
                <a:cs typeface="Calibri" pitchFamily="34" charset="-120"/>
              </a:rPr>
              <a:t>TCP 443</a:t>
            </a:r>
            <a:endParaRPr lang="en-US" sz="2100" dirty="0"/>
          </a:p>
        </p:txBody>
      </p:sp>
      <p:sp>
        <p:nvSpPr>
          <p:cNvPr id="7" name="Text 5"/>
          <p:cNvSpPr/>
          <p:nvPr/>
        </p:nvSpPr>
        <p:spPr>
          <a:xfrm>
            <a:off x="896112" y="2788920"/>
            <a:ext cx="2029968" cy="274320"/>
          </a:xfrm>
          <a:prstGeom prst="rect">
            <a:avLst/>
          </a:prstGeom>
          <a:noFill/>
          <a:ln/>
        </p:spPr>
        <p:txBody>
          <a:bodyPr wrap="square" lIns="0" tIns="0" rIns="0" bIns="0" rtlCol="0" anchor="ctr"/>
          <a:lstStyle/>
          <a:p>
            <a:pPr indent="0" marL="0">
              <a:buNone/>
            </a:pPr>
            <a:r>
              <a:rPr lang="en-US" sz="1200" b="1" dirty="0">
                <a:solidFill>
                  <a:srgbClr val="00B3E2"/>
                </a:solidFill>
                <a:latin typeface="Calibri" pitchFamily="34" charset="0"/>
                <a:ea typeface="Calibri" pitchFamily="34" charset="-122"/>
                <a:cs typeface="Calibri" pitchFamily="34" charset="-120"/>
              </a:rPr>
              <a:t>Management access</a:t>
            </a:r>
            <a:endParaRPr lang="en-US" sz="1200" dirty="0"/>
          </a:p>
        </p:txBody>
      </p:sp>
      <p:sp>
        <p:nvSpPr>
          <p:cNvPr id="8" name="Text 6"/>
          <p:cNvSpPr/>
          <p:nvPr/>
        </p:nvSpPr>
        <p:spPr>
          <a:xfrm>
            <a:off x="896112" y="3108960"/>
            <a:ext cx="2029968" cy="64008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vCenter and management plane access.</a:t>
            </a:r>
            <a:endParaRPr lang="en-US" sz="1250" dirty="0"/>
          </a:p>
        </p:txBody>
      </p:sp>
      <p:sp>
        <p:nvSpPr>
          <p:cNvPr id="9" name="Shape 7"/>
          <p:cNvSpPr/>
          <p:nvPr/>
        </p:nvSpPr>
        <p:spPr>
          <a:xfrm>
            <a:off x="3429000" y="1691640"/>
            <a:ext cx="2542032" cy="2148840"/>
          </a:xfrm>
          <a:prstGeom prst="roundRect">
            <a:avLst>
              <a:gd name="adj" fmla="val 2979"/>
            </a:avLst>
          </a:prstGeom>
          <a:solidFill>
            <a:srgbClr val="F4F7F8"/>
          </a:solidFill>
          <a:ln w="9525">
            <a:solidFill>
              <a:srgbClr val="DDE2E2"/>
            </a:solidFill>
            <a:prstDash val="solid"/>
          </a:ln>
        </p:spPr>
      </p:sp>
      <p:sp>
        <p:nvSpPr>
          <p:cNvPr id="10" name="Shape 8"/>
          <p:cNvSpPr/>
          <p:nvPr/>
        </p:nvSpPr>
        <p:spPr>
          <a:xfrm>
            <a:off x="3685032" y="1920240"/>
            <a:ext cx="274320" cy="274320"/>
          </a:xfrm>
          <a:prstGeom prst="ellipse">
            <a:avLst/>
          </a:prstGeom>
          <a:solidFill>
            <a:srgbClr val="3E3E4B"/>
          </a:solidFill>
          <a:ln w="12700">
            <a:solidFill>
              <a:srgbClr val="3E3E4B"/>
            </a:solidFill>
            <a:prstDash val="solid"/>
          </a:ln>
        </p:spPr>
      </p:sp>
      <p:sp>
        <p:nvSpPr>
          <p:cNvPr id="11" name="Text 9"/>
          <p:cNvSpPr/>
          <p:nvPr/>
        </p:nvSpPr>
        <p:spPr>
          <a:xfrm>
            <a:off x="3685032" y="2331720"/>
            <a:ext cx="2029968" cy="411480"/>
          </a:xfrm>
          <a:prstGeom prst="rect">
            <a:avLst/>
          </a:prstGeom>
          <a:noFill/>
          <a:ln/>
        </p:spPr>
        <p:txBody>
          <a:bodyPr wrap="square" lIns="0" tIns="0" rIns="0" bIns="0" rtlCol="0" anchor="ctr"/>
          <a:lstStyle/>
          <a:p>
            <a:pPr indent="0" marL="0">
              <a:buNone/>
            </a:pPr>
            <a:r>
              <a:rPr lang="en-US" sz="2100" b="1" dirty="0">
                <a:solidFill>
                  <a:srgbClr val="3E3E4B"/>
                </a:solidFill>
                <a:latin typeface="Calibri" pitchFamily="34" charset="0"/>
                <a:ea typeface="Calibri" pitchFamily="34" charset="-122"/>
                <a:cs typeface="Calibri" pitchFamily="34" charset="-120"/>
              </a:rPr>
              <a:t>TCP 8000</a:t>
            </a:r>
            <a:endParaRPr lang="en-US" sz="2100" dirty="0"/>
          </a:p>
        </p:txBody>
      </p:sp>
      <p:sp>
        <p:nvSpPr>
          <p:cNvPr id="12" name="Text 10"/>
          <p:cNvSpPr/>
          <p:nvPr/>
        </p:nvSpPr>
        <p:spPr>
          <a:xfrm>
            <a:off x="3685032" y="2788920"/>
            <a:ext cx="2029968" cy="274320"/>
          </a:xfrm>
          <a:prstGeom prst="rect">
            <a:avLst/>
          </a:prstGeom>
          <a:noFill/>
          <a:ln/>
        </p:spPr>
        <p:txBody>
          <a:bodyPr wrap="square" lIns="0" tIns="0" rIns="0" bIns="0" rtlCol="0" anchor="ctr"/>
          <a:lstStyle/>
          <a:p>
            <a:pPr indent="0" marL="0">
              <a:buNone/>
            </a:pPr>
            <a:r>
              <a:rPr lang="en-US" sz="1200" b="1" dirty="0">
                <a:solidFill>
                  <a:srgbClr val="00B3E2"/>
                </a:solidFill>
                <a:latin typeface="Calibri" pitchFamily="34" charset="0"/>
                <a:ea typeface="Calibri" pitchFamily="34" charset="-122"/>
                <a:cs typeface="Calibri" pitchFamily="34" charset="-120"/>
              </a:rPr>
              <a:t>vMotion</a:t>
            </a:r>
            <a:endParaRPr lang="en-US" sz="1200" dirty="0"/>
          </a:p>
        </p:txBody>
      </p:sp>
      <p:sp>
        <p:nvSpPr>
          <p:cNvPr id="13" name="Text 11"/>
          <p:cNvSpPr/>
          <p:nvPr/>
        </p:nvSpPr>
        <p:spPr>
          <a:xfrm>
            <a:off x="3685032" y="3108960"/>
            <a:ext cx="2029968" cy="64008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Carries live migration of active workloads.</a:t>
            </a:r>
            <a:endParaRPr lang="en-US" sz="1250" dirty="0"/>
          </a:p>
        </p:txBody>
      </p:sp>
      <p:sp>
        <p:nvSpPr>
          <p:cNvPr id="14" name="Shape 12"/>
          <p:cNvSpPr/>
          <p:nvPr/>
        </p:nvSpPr>
        <p:spPr>
          <a:xfrm>
            <a:off x="6217920" y="1691640"/>
            <a:ext cx="2542032" cy="2148840"/>
          </a:xfrm>
          <a:prstGeom prst="roundRect">
            <a:avLst>
              <a:gd name="adj" fmla="val 2979"/>
            </a:avLst>
          </a:prstGeom>
          <a:solidFill>
            <a:srgbClr val="F4F7F8"/>
          </a:solidFill>
          <a:ln w="9525">
            <a:solidFill>
              <a:srgbClr val="DDE2E2"/>
            </a:solidFill>
            <a:prstDash val="solid"/>
          </a:ln>
        </p:spPr>
      </p:sp>
      <p:sp>
        <p:nvSpPr>
          <p:cNvPr id="15" name="Shape 13"/>
          <p:cNvSpPr/>
          <p:nvPr/>
        </p:nvSpPr>
        <p:spPr>
          <a:xfrm>
            <a:off x="6473952" y="1920240"/>
            <a:ext cx="274320" cy="274320"/>
          </a:xfrm>
          <a:prstGeom prst="ellipse">
            <a:avLst/>
          </a:prstGeom>
          <a:solidFill>
            <a:srgbClr val="00AD93"/>
          </a:solidFill>
          <a:ln w="12700">
            <a:solidFill>
              <a:srgbClr val="00AD93"/>
            </a:solidFill>
            <a:prstDash val="solid"/>
          </a:ln>
        </p:spPr>
      </p:sp>
      <p:sp>
        <p:nvSpPr>
          <p:cNvPr id="16" name="Text 14"/>
          <p:cNvSpPr/>
          <p:nvPr/>
        </p:nvSpPr>
        <p:spPr>
          <a:xfrm>
            <a:off x="6473952" y="2331720"/>
            <a:ext cx="2029968" cy="411480"/>
          </a:xfrm>
          <a:prstGeom prst="rect">
            <a:avLst/>
          </a:prstGeom>
          <a:noFill/>
          <a:ln/>
        </p:spPr>
        <p:txBody>
          <a:bodyPr wrap="square" lIns="0" tIns="0" rIns="0" bIns="0" rtlCol="0" anchor="ctr"/>
          <a:lstStyle/>
          <a:p>
            <a:pPr indent="0" marL="0">
              <a:buNone/>
            </a:pPr>
            <a:r>
              <a:rPr lang="en-US" sz="2100" b="1" dirty="0">
                <a:solidFill>
                  <a:srgbClr val="3E3E4B"/>
                </a:solidFill>
                <a:latin typeface="Calibri" pitchFamily="34" charset="0"/>
                <a:ea typeface="Calibri" pitchFamily="34" charset="-122"/>
                <a:cs typeface="Calibri" pitchFamily="34" charset="-120"/>
              </a:rPr>
              <a:t>UDP 4500</a:t>
            </a:r>
            <a:endParaRPr lang="en-US" sz="2100" dirty="0"/>
          </a:p>
        </p:txBody>
      </p:sp>
      <p:sp>
        <p:nvSpPr>
          <p:cNvPr id="17" name="Text 15"/>
          <p:cNvSpPr/>
          <p:nvPr/>
        </p:nvSpPr>
        <p:spPr>
          <a:xfrm>
            <a:off x="6473952" y="2788920"/>
            <a:ext cx="2029968" cy="274320"/>
          </a:xfrm>
          <a:prstGeom prst="rect">
            <a:avLst/>
          </a:prstGeom>
          <a:noFill/>
          <a:ln/>
        </p:spPr>
        <p:txBody>
          <a:bodyPr wrap="square" lIns="0" tIns="0" rIns="0" bIns="0" rtlCol="0" anchor="ctr"/>
          <a:lstStyle/>
          <a:p>
            <a:pPr indent="0" marL="0">
              <a:buNone/>
            </a:pPr>
            <a:r>
              <a:rPr lang="en-US" sz="1200" b="1" dirty="0">
                <a:solidFill>
                  <a:srgbClr val="00B3E2"/>
                </a:solidFill>
                <a:latin typeface="Calibri" pitchFamily="34" charset="0"/>
                <a:ea typeface="Calibri" pitchFamily="34" charset="-122"/>
                <a:cs typeface="Calibri" pitchFamily="34" charset="-120"/>
              </a:rPr>
              <a:t>IPsec / IKEv2</a:t>
            </a:r>
            <a:endParaRPr lang="en-US" sz="1200" dirty="0"/>
          </a:p>
        </p:txBody>
      </p:sp>
      <p:sp>
        <p:nvSpPr>
          <p:cNvPr id="18" name="Text 16"/>
          <p:cNvSpPr/>
          <p:nvPr/>
        </p:nvSpPr>
        <p:spPr>
          <a:xfrm>
            <a:off x="6473952" y="3108960"/>
            <a:ext cx="2029968" cy="64008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Encapsulates the HCX transport tunnel.</a:t>
            </a:r>
            <a:endParaRPr lang="en-US" sz="1250" dirty="0"/>
          </a:p>
        </p:txBody>
      </p:sp>
      <p:sp>
        <p:nvSpPr>
          <p:cNvPr id="19" name="Shape 17"/>
          <p:cNvSpPr/>
          <p:nvPr/>
        </p:nvSpPr>
        <p:spPr>
          <a:xfrm>
            <a:off x="9006840" y="1691640"/>
            <a:ext cx="2542032" cy="2148840"/>
          </a:xfrm>
          <a:prstGeom prst="roundRect">
            <a:avLst>
              <a:gd name="adj" fmla="val 2979"/>
            </a:avLst>
          </a:prstGeom>
          <a:solidFill>
            <a:srgbClr val="F4F7F8"/>
          </a:solidFill>
          <a:ln w="9525">
            <a:solidFill>
              <a:srgbClr val="DDE2E2"/>
            </a:solidFill>
            <a:prstDash val="solid"/>
          </a:ln>
        </p:spPr>
      </p:sp>
      <p:sp>
        <p:nvSpPr>
          <p:cNvPr id="20" name="Shape 18"/>
          <p:cNvSpPr/>
          <p:nvPr/>
        </p:nvSpPr>
        <p:spPr>
          <a:xfrm>
            <a:off x="9262872" y="1920240"/>
            <a:ext cx="274320" cy="274320"/>
          </a:xfrm>
          <a:prstGeom prst="ellipse">
            <a:avLst/>
          </a:prstGeom>
          <a:solidFill>
            <a:srgbClr val="FAC458"/>
          </a:solidFill>
          <a:ln w="12700">
            <a:solidFill>
              <a:srgbClr val="FAC458"/>
            </a:solidFill>
            <a:prstDash val="solid"/>
          </a:ln>
        </p:spPr>
      </p:sp>
      <p:sp>
        <p:nvSpPr>
          <p:cNvPr id="21" name="Text 19"/>
          <p:cNvSpPr/>
          <p:nvPr/>
        </p:nvSpPr>
        <p:spPr>
          <a:xfrm>
            <a:off x="9262872" y="2331720"/>
            <a:ext cx="2029968" cy="411480"/>
          </a:xfrm>
          <a:prstGeom prst="rect">
            <a:avLst/>
          </a:prstGeom>
          <a:noFill/>
          <a:ln/>
        </p:spPr>
        <p:txBody>
          <a:bodyPr wrap="square" lIns="0" tIns="0" rIns="0" bIns="0" rtlCol="0" anchor="ctr"/>
          <a:lstStyle/>
          <a:p>
            <a:pPr indent="0" marL="0">
              <a:buNone/>
            </a:pPr>
            <a:r>
              <a:rPr lang="en-US" sz="2100" b="1" dirty="0">
                <a:solidFill>
                  <a:srgbClr val="3E3E4B"/>
                </a:solidFill>
                <a:latin typeface="Calibri" pitchFamily="34" charset="0"/>
                <a:ea typeface="Calibri" pitchFamily="34" charset="-122"/>
                <a:cs typeface="Calibri" pitchFamily="34" charset="-120"/>
              </a:rPr>
              <a:t>TCP + UDP 5201</a:t>
            </a:r>
            <a:endParaRPr lang="en-US" sz="2100" dirty="0"/>
          </a:p>
        </p:txBody>
      </p:sp>
      <p:sp>
        <p:nvSpPr>
          <p:cNvPr id="22" name="Text 20"/>
          <p:cNvSpPr/>
          <p:nvPr/>
        </p:nvSpPr>
        <p:spPr>
          <a:xfrm>
            <a:off x="9262872" y="2788920"/>
            <a:ext cx="2029968" cy="274320"/>
          </a:xfrm>
          <a:prstGeom prst="rect">
            <a:avLst/>
          </a:prstGeom>
          <a:noFill/>
          <a:ln/>
        </p:spPr>
        <p:txBody>
          <a:bodyPr wrap="square" lIns="0" tIns="0" rIns="0" bIns="0" rtlCol="0" anchor="ctr"/>
          <a:lstStyle/>
          <a:p>
            <a:pPr indent="0" marL="0">
              <a:buNone/>
            </a:pPr>
            <a:r>
              <a:rPr lang="en-US" sz="1200" b="1" dirty="0">
                <a:solidFill>
                  <a:srgbClr val="00B3E2"/>
                </a:solidFill>
                <a:latin typeface="Calibri" pitchFamily="34" charset="0"/>
                <a:ea typeface="Calibri" pitchFamily="34" charset="-122"/>
                <a:cs typeface="Calibri" pitchFamily="34" charset="-120"/>
              </a:rPr>
              <a:t>Diagnostics</a:t>
            </a:r>
            <a:endParaRPr lang="en-US" sz="1200" dirty="0"/>
          </a:p>
        </p:txBody>
      </p:sp>
      <p:sp>
        <p:nvSpPr>
          <p:cNvPr id="23" name="Text 21"/>
          <p:cNvSpPr/>
          <p:nvPr/>
        </p:nvSpPr>
        <p:spPr>
          <a:xfrm>
            <a:off x="9262872" y="3108960"/>
            <a:ext cx="2029968" cy="64008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Service-mesh diagnostics and throughput testing.</a:t>
            </a:r>
            <a:endParaRPr lang="en-US" sz="1250" dirty="0"/>
          </a:p>
        </p:txBody>
      </p:sp>
      <p:sp>
        <p:nvSpPr>
          <p:cNvPr id="24" name="Shape 22"/>
          <p:cNvSpPr/>
          <p:nvPr/>
        </p:nvSpPr>
        <p:spPr>
          <a:xfrm>
            <a:off x="640080" y="4114800"/>
            <a:ext cx="10911535" cy="1737360"/>
          </a:xfrm>
          <a:prstGeom prst="roundRect">
            <a:avLst>
              <a:gd name="adj" fmla="val 3684"/>
            </a:avLst>
          </a:prstGeom>
          <a:solidFill>
            <a:srgbClr val="3E3E4B"/>
          </a:solidFill>
          <a:ln w="9525">
            <a:solidFill>
              <a:srgbClr val="3E3E4B"/>
            </a:solidFill>
            <a:prstDash val="solid"/>
          </a:ln>
        </p:spPr>
      </p:sp>
      <p:sp>
        <p:nvSpPr>
          <p:cNvPr id="25" name="Text 23"/>
          <p:cNvSpPr/>
          <p:nvPr/>
        </p:nvSpPr>
        <p:spPr>
          <a:xfrm>
            <a:off x="1005840" y="4315968"/>
            <a:ext cx="594360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live-migration problem these ports exist to solve</a:t>
            </a:r>
            <a:endParaRPr lang="en-US" sz="1700" dirty="0"/>
          </a:p>
        </p:txBody>
      </p:sp>
      <p:sp>
        <p:nvSpPr>
          <p:cNvPr id="26" name="Text 24"/>
          <p:cNvSpPr/>
          <p:nvPr/>
        </p:nvSpPr>
        <p:spPr>
          <a:xfrm>
            <a:off x="1005840" y="4681728"/>
            <a:ext cx="10180015" cy="1051560"/>
          </a:xfrm>
          <a:prstGeom prst="rect">
            <a:avLst/>
          </a:prstGeom>
          <a:noFill/>
          <a:ln/>
        </p:spPr>
        <p:txBody>
          <a:bodyPr wrap="square" lIns="0" tIns="0" rIns="0" bIns="0" rtlCol="0" anchor="ctr"/>
          <a:lstStyle/>
          <a:p>
            <a:pPr marL="177800" indent="-177800">
              <a:spcAft>
                <a:spcPts val="500"/>
              </a:spcAft>
              <a:buSzPct val="100000"/>
              <a:buChar char="•"/>
            </a:pPr>
            <a:r>
              <a:rPr lang="en-US" sz="1350" dirty="0">
                <a:solidFill>
                  <a:srgbClr val="C9CCD6"/>
                </a:solidFill>
                <a:latin typeface="Calibri" pitchFamily="34" charset="0"/>
                <a:ea typeface="Calibri" pitchFamily="34" charset="-122"/>
                <a:cs typeface="Calibri" pitchFamily="34" charset="-120"/>
              </a:rPr>
              <a:t>A live migration must transfer virtual disks, active memory, and memory pages that keep changing during the move.</a:t>
            </a:r>
            <a:endParaRPr lang="en-US" sz="1350" dirty="0"/>
          </a:p>
          <a:p>
            <a:pPr marL="177800" indent="-177800">
              <a:spcAft>
                <a:spcPts val="500"/>
              </a:spcAft>
              <a:buSzPct val="100000"/>
              <a:buChar char="•"/>
            </a:pPr>
            <a:r>
              <a:rPr lang="en-US" sz="1350" dirty="0">
                <a:solidFill>
                  <a:srgbClr val="C9CCD6"/>
                </a:solidFill>
                <a:latin typeface="Calibri" pitchFamily="34" charset="0"/>
                <a:ea typeface="Calibri" pitchFamily="34" charset="-122"/>
                <a:cs typeface="Calibri" pitchFamily="34" charset="-120"/>
              </a:rPr>
              <a:t>High-write workloads such as SQL Server continually dirty memory pages.</a:t>
            </a:r>
            <a:endParaRPr lang="en-US" sz="1350" dirty="0"/>
          </a:p>
          <a:p>
            <a:pPr marL="177800" indent="-177800">
              <a:spcAft>
                <a:spcPts val="500"/>
              </a:spcAft>
              <a:buSzPct val="100000"/>
              <a:buChar char="•"/>
            </a:pPr>
            <a:r>
              <a:rPr lang="en-US" sz="1350" dirty="0">
                <a:solidFill>
                  <a:srgbClr val="C9CCD6"/>
                </a:solidFill>
                <a:latin typeface="Calibri" pitchFamily="34" charset="0"/>
                <a:ea typeface="Calibri" pitchFamily="34" charset="-122"/>
                <a:cs typeface="Calibri" pitchFamily="34" charset="-120"/>
              </a:rPr>
              <a:t>The migration must transfer memory changes faster than the workload generates them, or it never converges.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HCX AND FIREWALL DESIGN</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Why HCX needs two different transports</a:t>
            </a:r>
            <a:endParaRPr lang="en-US" sz="3400" dirty="0"/>
          </a:p>
        </p:txBody>
      </p:sp>
      <p:sp>
        <p:nvSpPr>
          <p:cNvPr id="4" name="Shape 2"/>
          <p:cNvSpPr/>
          <p:nvPr/>
        </p:nvSpPr>
        <p:spPr>
          <a:xfrm>
            <a:off x="640080" y="1600200"/>
            <a:ext cx="5257800" cy="4251960"/>
          </a:xfrm>
          <a:prstGeom prst="roundRect">
            <a:avLst>
              <a:gd name="adj" fmla="val 1505"/>
            </a:avLst>
          </a:prstGeom>
          <a:solidFill>
            <a:srgbClr val="F4F7F8"/>
          </a:solidFill>
          <a:ln w="9525">
            <a:solidFill>
              <a:srgbClr val="DDE2E2"/>
            </a:solidFill>
            <a:prstDash val="solid"/>
          </a:ln>
        </p:spPr>
      </p:sp>
      <p:sp>
        <p:nvSpPr>
          <p:cNvPr id="5" name="Shape 3"/>
          <p:cNvSpPr/>
          <p:nvPr/>
        </p:nvSpPr>
        <p:spPr>
          <a:xfrm>
            <a:off x="640080" y="1600200"/>
            <a:ext cx="5257800" cy="566928"/>
          </a:xfrm>
          <a:prstGeom prst="roundRect">
            <a:avLst>
              <a:gd name="adj" fmla="val 11290"/>
            </a:avLst>
          </a:prstGeom>
          <a:solidFill>
            <a:srgbClr val="00B3E2"/>
          </a:solidFill>
          <a:ln w="12700">
            <a:solidFill>
              <a:srgbClr val="00B3E2"/>
            </a:solidFill>
            <a:prstDash val="solid"/>
          </a:ln>
        </p:spPr>
      </p:sp>
      <p:sp>
        <p:nvSpPr>
          <p:cNvPr id="6" name="Text 4"/>
          <p:cNvSpPr/>
          <p:nvPr/>
        </p:nvSpPr>
        <p:spPr>
          <a:xfrm>
            <a:off x="960120" y="1600200"/>
            <a:ext cx="201168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TCP 8000</a:t>
            </a:r>
            <a:endParaRPr lang="en-US" sz="2000" dirty="0"/>
          </a:p>
        </p:txBody>
      </p:sp>
      <p:sp>
        <p:nvSpPr>
          <p:cNvPr id="7" name="Text 5"/>
          <p:cNvSpPr/>
          <p:nvPr/>
        </p:nvSpPr>
        <p:spPr>
          <a:xfrm>
            <a:off x="2971800" y="1600200"/>
            <a:ext cx="2606040" cy="566928"/>
          </a:xfrm>
          <a:prstGeom prst="rect">
            <a:avLst/>
          </a:prstGeom>
          <a:noFill/>
          <a:ln/>
        </p:spPr>
        <p:txBody>
          <a:bodyPr wrap="square" lIns="0" tIns="0" rIns="0" bIns="0" rtlCol="0" anchor="ctr"/>
          <a:lstStyle/>
          <a:p>
            <a:pPr algn="r" indent="0" marL="0">
              <a:buNone/>
            </a:pPr>
            <a:r>
              <a:rPr lang="en-US" sz="1350" b="1" dirty="0">
                <a:solidFill>
                  <a:srgbClr val="FFFFFF"/>
                </a:solidFill>
                <a:latin typeface="Calibri" pitchFamily="34" charset="0"/>
                <a:ea typeface="Calibri" pitchFamily="34" charset="-122"/>
                <a:cs typeface="Calibri" pitchFamily="34" charset="-120"/>
              </a:rPr>
              <a:t>Reliable migration state</a:t>
            </a:r>
            <a:endParaRPr lang="en-US" sz="1350" dirty="0"/>
          </a:p>
        </p:txBody>
      </p:sp>
      <p:sp>
        <p:nvSpPr>
          <p:cNvPr id="8" name="Text 6"/>
          <p:cNvSpPr/>
          <p:nvPr/>
        </p:nvSpPr>
        <p:spPr>
          <a:xfrm>
            <a:off x="960120" y="2377440"/>
            <a:ext cx="4617720" cy="1828800"/>
          </a:xfrm>
          <a:prstGeom prst="rect">
            <a:avLst/>
          </a:prstGeom>
          <a:noFill/>
          <a:ln/>
        </p:spPr>
        <p:txBody>
          <a:bodyPr wrap="square" lIns="0" tIns="0" rIns="0" bIns="0" rtlCol="0" anchor="ctr"/>
          <a:lstStyle/>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TCP provides reliable delivery for vMotion.</a:t>
            </a:r>
            <a:endParaRPr lang="en-US" sz="1400" dirty="0"/>
          </a:p>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Missing memory data could destabilize or crash the guest operating system.</a:t>
            </a:r>
            <a:endParaRPr lang="en-US" sz="1400" dirty="0"/>
          </a:p>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TCP maintains the migration's state machine.</a:t>
            </a:r>
            <a:endParaRPr lang="en-US" sz="1400" dirty="0"/>
          </a:p>
        </p:txBody>
      </p:sp>
      <p:sp>
        <p:nvSpPr>
          <p:cNvPr id="9" name="Shape 7"/>
          <p:cNvSpPr/>
          <p:nvPr/>
        </p:nvSpPr>
        <p:spPr>
          <a:xfrm>
            <a:off x="960120" y="4343400"/>
            <a:ext cx="4617720" cy="1280160"/>
          </a:xfrm>
          <a:prstGeom prst="roundRect">
            <a:avLst>
              <a:gd name="adj" fmla="val 5000"/>
            </a:avLst>
          </a:prstGeom>
          <a:solidFill>
            <a:srgbClr val="E5F7FC"/>
          </a:solidFill>
          <a:ln w="9525">
            <a:solidFill>
              <a:srgbClr val="B2E8F6"/>
            </a:solidFill>
            <a:prstDash val="solid"/>
          </a:ln>
        </p:spPr>
      </p:sp>
      <p:sp>
        <p:nvSpPr>
          <p:cNvPr id="10" name="Text 8"/>
          <p:cNvSpPr/>
          <p:nvPr/>
        </p:nvSpPr>
        <p:spPr>
          <a:xfrm>
            <a:off x="1188720" y="4526280"/>
            <a:ext cx="4160520" cy="914400"/>
          </a:xfrm>
          <a:prstGeom prst="rect">
            <a:avLst/>
          </a:prstGeom>
          <a:noFill/>
          <a:ln/>
        </p:spPr>
        <p:txBody>
          <a:bodyPr wrap="square" lIns="0" tIns="0" rIns="0" bIns="0" rtlCol="0" anchor="ctr"/>
          <a:lstStyle/>
          <a:p>
            <a:pPr indent="0" marL="0">
              <a:buNone/>
            </a:pPr>
            <a:r>
              <a:rPr lang="en-US" sz="1300" dirty="0">
                <a:solidFill>
                  <a:srgbClr val="1A5F7A"/>
                </a:solidFill>
                <a:latin typeface="Calibri" pitchFamily="34" charset="0"/>
                <a:ea typeface="Calibri" pitchFamily="34" charset="-122"/>
                <a:cs typeface="Calibri" pitchFamily="34" charset="-120"/>
              </a:rPr>
              <a:t>Weakness: reduced throughput over high-latency WAN links because of acknowledgments, windowing, and retransmission behavior.</a:t>
            </a:r>
            <a:endParaRPr lang="en-US" sz="1300" dirty="0"/>
          </a:p>
        </p:txBody>
      </p:sp>
      <p:sp>
        <p:nvSpPr>
          <p:cNvPr id="11" name="Shape 9"/>
          <p:cNvSpPr/>
          <p:nvPr/>
        </p:nvSpPr>
        <p:spPr>
          <a:xfrm>
            <a:off x="6291072" y="1600200"/>
            <a:ext cx="5257800" cy="4251960"/>
          </a:xfrm>
          <a:prstGeom prst="roundRect">
            <a:avLst>
              <a:gd name="adj" fmla="val 1505"/>
            </a:avLst>
          </a:prstGeom>
          <a:solidFill>
            <a:srgbClr val="F4F7F8"/>
          </a:solidFill>
          <a:ln w="9525">
            <a:solidFill>
              <a:srgbClr val="DDE2E2"/>
            </a:solidFill>
            <a:prstDash val="solid"/>
          </a:ln>
        </p:spPr>
      </p:sp>
      <p:sp>
        <p:nvSpPr>
          <p:cNvPr id="12" name="Shape 10"/>
          <p:cNvSpPr/>
          <p:nvPr/>
        </p:nvSpPr>
        <p:spPr>
          <a:xfrm>
            <a:off x="6291072" y="1600200"/>
            <a:ext cx="5257800" cy="566928"/>
          </a:xfrm>
          <a:prstGeom prst="roundRect">
            <a:avLst>
              <a:gd name="adj" fmla="val 11290"/>
            </a:avLst>
          </a:prstGeom>
          <a:solidFill>
            <a:srgbClr val="00AD93"/>
          </a:solidFill>
          <a:ln w="12700">
            <a:solidFill>
              <a:srgbClr val="00AD93"/>
            </a:solidFill>
            <a:prstDash val="solid"/>
          </a:ln>
        </p:spPr>
      </p:sp>
      <p:sp>
        <p:nvSpPr>
          <p:cNvPr id="13" name="Text 11"/>
          <p:cNvSpPr/>
          <p:nvPr/>
        </p:nvSpPr>
        <p:spPr>
          <a:xfrm>
            <a:off x="6611112" y="1600200"/>
            <a:ext cx="201168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UDP 4500</a:t>
            </a:r>
            <a:endParaRPr lang="en-US" sz="2000" dirty="0"/>
          </a:p>
        </p:txBody>
      </p:sp>
      <p:sp>
        <p:nvSpPr>
          <p:cNvPr id="14" name="Text 12"/>
          <p:cNvSpPr/>
          <p:nvPr/>
        </p:nvSpPr>
        <p:spPr>
          <a:xfrm>
            <a:off x="8622792" y="1600200"/>
            <a:ext cx="2606040" cy="566928"/>
          </a:xfrm>
          <a:prstGeom prst="rect">
            <a:avLst/>
          </a:prstGeom>
          <a:noFill/>
          <a:ln/>
        </p:spPr>
        <p:txBody>
          <a:bodyPr wrap="square" lIns="0" tIns="0" rIns="0" bIns="0" rtlCol="0" anchor="ctr"/>
          <a:lstStyle/>
          <a:p>
            <a:pPr algn="r" indent="0" marL="0">
              <a:buNone/>
            </a:pPr>
            <a:r>
              <a:rPr lang="en-US" sz="1350" b="1" dirty="0">
                <a:solidFill>
                  <a:srgbClr val="FFFFFF"/>
                </a:solidFill>
                <a:latin typeface="Calibri" pitchFamily="34" charset="0"/>
                <a:ea typeface="Calibri" pitchFamily="34" charset="-122"/>
                <a:cs typeface="Calibri" pitchFamily="34" charset="-120"/>
              </a:rPr>
              <a:t>High-throughput WAN transport</a:t>
            </a:r>
            <a:endParaRPr lang="en-US" sz="1350" dirty="0"/>
          </a:p>
        </p:txBody>
      </p:sp>
      <p:sp>
        <p:nvSpPr>
          <p:cNvPr id="15" name="Text 13"/>
          <p:cNvSpPr/>
          <p:nvPr/>
        </p:nvSpPr>
        <p:spPr>
          <a:xfrm>
            <a:off x="6611112" y="2377440"/>
            <a:ext cx="4617720" cy="1828800"/>
          </a:xfrm>
          <a:prstGeom prst="rect">
            <a:avLst/>
          </a:prstGeom>
          <a:noFill/>
          <a:ln/>
        </p:spPr>
        <p:txBody>
          <a:bodyPr wrap="square" lIns="0" tIns="0" rIns="0" bIns="0" rtlCol="0" anchor="ctr"/>
          <a:lstStyle/>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HCX carries an IPsec tunnel over UDP 4500.</a:t>
            </a:r>
            <a:endParaRPr lang="en-US" sz="1400" dirty="0"/>
          </a:p>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UDP avoids standard TCP acknowledgment delays.</a:t>
            </a:r>
            <a:endParaRPr lang="en-US" sz="1400" dirty="0"/>
          </a:p>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HCX applies its own compression, deduplication, error handling, and WAN optimization inside the tunnel.</a:t>
            </a:r>
            <a:endParaRPr lang="en-US" sz="1400" dirty="0"/>
          </a:p>
        </p:txBody>
      </p:sp>
      <p:sp>
        <p:nvSpPr>
          <p:cNvPr id="16" name="Shape 14"/>
          <p:cNvSpPr/>
          <p:nvPr/>
        </p:nvSpPr>
        <p:spPr>
          <a:xfrm>
            <a:off x="6611112" y="4343400"/>
            <a:ext cx="4617720" cy="1280160"/>
          </a:xfrm>
          <a:prstGeom prst="roundRect">
            <a:avLst>
              <a:gd name="adj" fmla="val 5000"/>
            </a:avLst>
          </a:prstGeom>
          <a:solidFill>
            <a:srgbClr val="E5F7FC"/>
          </a:solidFill>
          <a:ln w="9525">
            <a:solidFill>
              <a:srgbClr val="B2E8F6"/>
            </a:solidFill>
            <a:prstDash val="solid"/>
          </a:ln>
        </p:spPr>
      </p:sp>
      <p:sp>
        <p:nvSpPr>
          <p:cNvPr id="17" name="Text 15"/>
          <p:cNvSpPr/>
          <p:nvPr/>
        </p:nvSpPr>
        <p:spPr>
          <a:xfrm>
            <a:off x="6839712" y="4526280"/>
            <a:ext cx="4160520" cy="914400"/>
          </a:xfrm>
          <a:prstGeom prst="rect">
            <a:avLst/>
          </a:prstGeom>
          <a:noFill/>
          <a:ln/>
        </p:spPr>
        <p:txBody>
          <a:bodyPr wrap="square" lIns="0" tIns="0" rIns="0" bIns="0" rtlCol="0" anchor="ctr"/>
          <a:lstStyle/>
          <a:p>
            <a:pPr indent="0" marL="0">
              <a:buNone/>
            </a:pPr>
            <a:r>
              <a:rPr lang="en-US" sz="1300" dirty="0">
                <a:solidFill>
                  <a:srgbClr val="1A5F7A"/>
                </a:solidFill>
                <a:latin typeface="Calibri" pitchFamily="34" charset="0"/>
                <a:ea typeface="Calibri" pitchFamily="34" charset="-122"/>
                <a:cs typeface="Calibri" pitchFamily="34" charset="-120"/>
              </a:rPr>
              <a:t>Result: reliable migration-state handling and high-throughput transport are separated rather than compromised.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EXPRESSROUTE</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Four-byte BGP ASNs are not optional</a:t>
            </a:r>
            <a:endParaRPr lang="en-US" sz="3400" dirty="0"/>
          </a:p>
        </p:txBody>
      </p:sp>
      <p:sp>
        <p:nvSpPr>
          <p:cNvPr id="4" name="Text 2"/>
          <p:cNvSpPr/>
          <p:nvPr/>
        </p:nvSpPr>
        <p:spPr>
          <a:xfrm>
            <a:off x="640080" y="1554480"/>
            <a:ext cx="5394960" cy="1737360"/>
          </a:xfrm>
          <a:prstGeom prst="rect">
            <a:avLst/>
          </a:prstGeom>
          <a:noFill/>
          <a:ln/>
        </p:spPr>
        <p:txBody>
          <a:bodyPr wrap="square" lIns="0" tIns="0" rIns="0" bIns="0" rtlCol="0" anchor="ctr"/>
          <a:lstStyle/>
          <a:p>
            <a:pPr marL="177800" indent="-177800">
              <a:spcAft>
                <a:spcPts val="1000"/>
              </a:spcAft>
              <a:buSzPct val="100000"/>
              <a:buChar char="•"/>
            </a:pPr>
            <a:r>
              <a:rPr lang="en-US" sz="1450" dirty="0">
                <a:solidFill>
                  <a:srgbClr val="55555F"/>
                </a:solidFill>
                <a:latin typeface="Calibri" pitchFamily="34" charset="0"/>
                <a:ea typeface="Calibri" pitchFamily="34" charset="-122"/>
                <a:cs typeface="Calibri" pitchFamily="34" charset="-120"/>
              </a:rPr>
              <a:t>An ASN identifies a routing domain in BGP. Traditional implementations used 16-bit, two-byte ASNs.</a:t>
            </a:r>
            <a:endParaRPr lang="en-US" sz="1450" dirty="0"/>
          </a:p>
          <a:p>
            <a:pPr marL="177800" indent="-177800">
              <a:spcAft>
                <a:spcPts val="1000"/>
              </a:spcAft>
              <a:buSzPct val="100000"/>
              <a:buChar char="•"/>
            </a:pPr>
            <a:r>
              <a:rPr lang="en-US" sz="1450" dirty="0">
                <a:solidFill>
                  <a:srgbClr val="55555F"/>
                </a:solidFill>
                <a:latin typeface="Calibri" pitchFamily="34" charset="0"/>
                <a:ea typeface="Calibri" pitchFamily="34" charset="-122"/>
                <a:cs typeface="Calibri" pitchFamily="34" charset="-120"/>
              </a:rPr>
              <a:t>Azure's software-defined network uses 32-bit, four-byte ASNs.</a:t>
            </a:r>
            <a:endParaRPr lang="en-US" sz="1450" dirty="0"/>
          </a:p>
          <a:p>
            <a:pPr marL="177800" indent="-177800">
              <a:spcAft>
                <a:spcPts val="1000"/>
              </a:spcAft>
              <a:buSzPct val="100000"/>
              <a:buChar char="•"/>
            </a:pPr>
            <a:r>
              <a:rPr lang="en-US" sz="1450" dirty="0">
                <a:solidFill>
                  <a:srgbClr val="55555F"/>
                </a:solidFill>
                <a:latin typeface="Calibri" pitchFamily="34" charset="0"/>
                <a:ea typeface="Calibri" pitchFamily="34" charset="-122"/>
                <a:cs typeface="Calibri" pitchFamily="34" charset="-120"/>
              </a:rPr>
              <a:t>AVS ExpressRoute connectivity requires native four-byte ASN support throughout the routing path.</a:t>
            </a:r>
            <a:endParaRPr lang="en-US" sz="1450" dirty="0"/>
          </a:p>
        </p:txBody>
      </p:sp>
      <p:sp>
        <p:nvSpPr>
          <p:cNvPr id="5" name="Shape 3"/>
          <p:cNvSpPr/>
          <p:nvPr/>
        </p:nvSpPr>
        <p:spPr>
          <a:xfrm>
            <a:off x="640080" y="3429000"/>
            <a:ext cx="5394960" cy="1600200"/>
          </a:xfrm>
          <a:prstGeom prst="roundRect">
            <a:avLst>
              <a:gd name="adj" fmla="val 4000"/>
            </a:avLst>
          </a:prstGeom>
          <a:solidFill>
            <a:srgbClr val="3E3E4B"/>
          </a:solidFill>
          <a:ln w="9525">
            <a:solidFill>
              <a:srgbClr val="3E3E4B"/>
            </a:solidFill>
            <a:prstDash val="solid"/>
          </a:ln>
        </p:spPr>
      </p:sp>
      <p:sp>
        <p:nvSpPr>
          <p:cNvPr id="6" name="Text 4"/>
          <p:cNvSpPr/>
          <p:nvPr/>
        </p:nvSpPr>
        <p:spPr>
          <a:xfrm>
            <a:off x="1005840" y="3611880"/>
            <a:ext cx="4663440" cy="502920"/>
          </a:xfrm>
          <a:prstGeom prst="rect">
            <a:avLst/>
          </a:prstGeom>
          <a:noFill/>
          <a:ln/>
        </p:spPr>
        <p:txBody>
          <a:bodyPr wrap="square" lIns="0" tIns="0" rIns="0" bIns="0" rtlCol="0" anchor="ctr"/>
          <a:lstStyle/>
          <a:p>
            <a:pPr indent="0" marL="0">
              <a:buNone/>
            </a:pPr>
            <a:r>
              <a:rPr lang="en-US" sz="2800" b="1" dirty="0">
                <a:solidFill>
                  <a:srgbClr val="FAC458"/>
                </a:solidFill>
                <a:latin typeface="Calibri" pitchFamily="34" charset="0"/>
                <a:ea typeface="Calibri" pitchFamily="34" charset="-122"/>
                <a:cs typeface="Calibri" pitchFamily="34" charset="-120"/>
              </a:rPr>
              <a:t>AS_TRANS 23456</a:t>
            </a:r>
            <a:endParaRPr lang="en-US" sz="2800" dirty="0"/>
          </a:p>
        </p:txBody>
      </p:sp>
      <p:sp>
        <p:nvSpPr>
          <p:cNvPr id="7" name="Text 5"/>
          <p:cNvSpPr/>
          <p:nvPr/>
        </p:nvSpPr>
        <p:spPr>
          <a:xfrm>
            <a:off x="1005840" y="4160520"/>
            <a:ext cx="4663440" cy="77724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Older routers that understand only two-byte ASNs may substitute this placeholder. Basic BGP communication survives, but the real routing path is obscured.</a:t>
            </a:r>
            <a:endParaRPr lang="en-US" sz="1300" dirty="0"/>
          </a:p>
        </p:txBody>
      </p:sp>
      <p:sp>
        <p:nvSpPr>
          <p:cNvPr id="8" name="Shape 6"/>
          <p:cNvSpPr/>
          <p:nvPr/>
        </p:nvSpPr>
        <p:spPr>
          <a:xfrm>
            <a:off x="6446520" y="1554480"/>
            <a:ext cx="2414016" cy="1051560"/>
          </a:xfrm>
          <a:prstGeom prst="roundRect">
            <a:avLst>
              <a:gd name="adj" fmla="val 6087"/>
            </a:avLst>
          </a:prstGeom>
          <a:solidFill>
            <a:srgbClr val="F4F7F8"/>
          </a:solidFill>
          <a:ln w="9525">
            <a:solidFill>
              <a:srgbClr val="DDE2E2"/>
            </a:solidFill>
            <a:prstDash val="solid"/>
          </a:ln>
        </p:spPr>
      </p:sp>
      <p:sp>
        <p:nvSpPr>
          <p:cNvPr id="9" name="Text 7"/>
          <p:cNvSpPr/>
          <p:nvPr/>
        </p:nvSpPr>
        <p:spPr>
          <a:xfrm>
            <a:off x="6675120" y="1700784"/>
            <a:ext cx="1956816" cy="292608"/>
          </a:xfrm>
          <a:prstGeom prst="rect">
            <a:avLst/>
          </a:prstGeom>
          <a:noFill/>
          <a:ln/>
        </p:spPr>
        <p:txBody>
          <a:bodyPr wrap="square" lIns="0" tIns="0" rIns="0" bIns="0" rtlCol="0" anchor="ctr"/>
          <a:lstStyle/>
          <a:p>
            <a:pPr indent="0" marL="0">
              <a:buNone/>
            </a:pPr>
            <a:r>
              <a:rPr lang="en-US" sz="1350" b="1" dirty="0">
                <a:solidFill>
                  <a:srgbClr val="F15D23"/>
                </a:solidFill>
                <a:latin typeface="Calibri" pitchFamily="34" charset="0"/>
                <a:ea typeface="Calibri" pitchFamily="34" charset="-122"/>
                <a:cs typeface="Calibri" pitchFamily="34" charset="-120"/>
              </a:rPr>
              <a:t>Unreliable path selection</a:t>
            </a:r>
            <a:endParaRPr lang="en-US" sz="1350" dirty="0"/>
          </a:p>
        </p:txBody>
      </p:sp>
      <p:sp>
        <p:nvSpPr>
          <p:cNvPr id="10" name="Text 8"/>
          <p:cNvSpPr/>
          <p:nvPr/>
        </p:nvSpPr>
        <p:spPr>
          <a:xfrm>
            <a:off x="6675120" y="2011680"/>
            <a:ext cx="1956816" cy="50292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Route-path decisions can no longer be trusted.</a:t>
            </a:r>
            <a:endParaRPr lang="en-US" sz="1200" dirty="0"/>
          </a:p>
        </p:txBody>
      </p:sp>
      <p:sp>
        <p:nvSpPr>
          <p:cNvPr id="11" name="Shape 9"/>
          <p:cNvSpPr/>
          <p:nvPr/>
        </p:nvSpPr>
        <p:spPr>
          <a:xfrm>
            <a:off x="9134856" y="1554480"/>
            <a:ext cx="2414016" cy="1051560"/>
          </a:xfrm>
          <a:prstGeom prst="roundRect">
            <a:avLst>
              <a:gd name="adj" fmla="val 6087"/>
            </a:avLst>
          </a:prstGeom>
          <a:solidFill>
            <a:srgbClr val="F4F7F8"/>
          </a:solidFill>
          <a:ln w="9525">
            <a:solidFill>
              <a:srgbClr val="DDE2E2"/>
            </a:solidFill>
            <a:prstDash val="solid"/>
          </a:ln>
        </p:spPr>
      </p:sp>
      <p:sp>
        <p:nvSpPr>
          <p:cNvPr id="12" name="Text 10"/>
          <p:cNvSpPr/>
          <p:nvPr/>
        </p:nvSpPr>
        <p:spPr>
          <a:xfrm>
            <a:off x="9363456" y="1700784"/>
            <a:ext cx="1956816" cy="292608"/>
          </a:xfrm>
          <a:prstGeom prst="rect">
            <a:avLst/>
          </a:prstGeom>
          <a:noFill/>
          <a:ln/>
        </p:spPr>
        <p:txBody>
          <a:bodyPr wrap="square" lIns="0" tIns="0" rIns="0" bIns="0" rtlCol="0" anchor="ctr"/>
          <a:lstStyle/>
          <a:p>
            <a:pPr indent="0" marL="0">
              <a:buNone/>
            </a:pPr>
            <a:r>
              <a:rPr lang="en-US" sz="1350" b="1" dirty="0">
                <a:solidFill>
                  <a:srgbClr val="F15D23"/>
                </a:solidFill>
                <a:latin typeface="Calibri" pitchFamily="34" charset="0"/>
                <a:ea typeface="Calibri" pitchFamily="34" charset="-122"/>
                <a:cs typeface="Calibri" pitchFamily="34" charset="-120"/>
              </a:rPr>
              <a:t>Weakened loop prevention</a:t>
            </a:r>
            <a:endParaRPr lang="en-US" sz="1350" dirty="0"/>
          </a:p>
        </p:txBody>
      </p:sp>
      <p:sp>
        <p:nvSpPr>
          <p:cNvPr id="13" name="Text 11"/>
          <p:cNvSpPr/>
          <p:nvPr/>
        </p:nvSpPr>
        <p:spPr>
          <a:xfrm>
            <a:off x="9363456" y="2011680"/>
            <a:ext cx="1956816" cy="50292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BGP's protection against routing loops is undermined.</a:t>
            </a:r>
            <a:endParaRPr lang="en-US" sz="1200" dirty="0"/>
          </a:p>
        </p:txBody>
      </p:sp>
      <p:sp>
        <p:nvSpPr>
          <p:cNvPr id="14" name="Shape 12"/>
          <p:cNvSpPr/>
          <p:nvPr/>
        </p:nvSpPr>
        <p:spPr>
          <a:xfrm>
            <a:off x="6446520" y="2862072"/>
            <a:ext cx="2414016" cy="1051560"/>
          </a:xfrm>
          <a:prstGeom prst="roundRect">
            <a:avLst>
              <a:gd name="adj" fmla="val 6087"/>
            </a:avLst>
          </a:prstGeom>
          <a:solidFill>
            <a:srgbClr val="F4F7F8"/>
          </a:solidFill>
          <a:ln w="9525">
            <a:solidFill>
              <a:srgbClr val="DDE2E2"/>
            </a:solidFill>
            <a:prstDash val="solid"/>
          </a:ln>
        </p:spPr>
      </p:sp>
      <p:sp>
        <p:nvSpPr>
          <p:cNvPr id="15" name="Text 13"/>
          <p:cNvSpPr/>
          <p:nvPr/>
        </p:nvSpPr>
        <p:spPr>
          <a:xfrm>
            <a:off x="6675120" y="3008376"/>
            <a:ext cx="1956816" cy="292608"/>
          </a:xfrm>
          <a:prstGeom prst="rect">
            <a:avLst/>
          </a:prstGeom>
          <a:noFill/>
          <a:ln/>
        </p:spPr>
        <p:txBody>
          <a:bodyPr wrap="square" lIns="0" tIns="0" rIns="0" bIns="0" rtlCol="0" anchor="ctr"/>
          <a:lstStyle/>
          <a:p>
            <a:pPr indent="0" marL="0">
              <a:buNone/>
            </a:pPr>
            <a:r>
              <a:rPr lang="en-US" sz="1350" b="1" dirty="0">
                <a:solidFill>
                  <a:srgbClr val="F15D23"/>
                </a:solidFill>
                <a:latin typeface="Calibri" pitchFamily="34" charset="0"/>
                <a:ea typeface="Calibri" pitchFamily="34" charset="-122"/>
                <a:cs typeface="Calibri" pitchFamily="34" charset="-120"/>
              </a:rPr>
              <a:t>Indistinguishable circuits</a:t>
            </a:r>
            <a:endParaRPr lang="en-US" sz="1350" dirty="0"/>
          </a:p>
        </p:txBody>
      </p:sp>
      <p:sp>
        <p:nvSpPr>
          <p:cNvPr id="16" name="Text 14"/>
          <p:cNvSpPr/>
          <p:nvPr/>
        </p:nvSpPr>
        <p:spPr>
          <a:xfrm>
            <a:off x="6675120" y="3319272"/>
            <a:ext cx="1956816" cy="50292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Multiple ExpressRoute circuits and transit paths become hard to tell apart.</a:t>
            </a:r>
            <a:endParaRPr lang="en-US" sz="1200" dirty="0"/>
          </a:p>
        </p:txBody>
      </p:sp>
      <p:sp>
        <p:nvSpPr>
          <p:cNvPr id="17" name="Shape 15"/>
          <p:cNvSpPr/>
          <p:nvPr/>
        </p:nvSpPr>
        <p:spPr>
          <a:xfrm>
            <a:off x="9134856" y="2862072"/>
            <a:ext cx="2414016" cy="1051560"/>
          </a:xfrm>
          <a:prstGeom prst="roundRect">
            <a:avLst>
              <a:gd name="adj" fmla="val 6087"/>
            </a:avLst>
          </a:prstGeom>
          <a:solidFill>
            <a:srgbClr val="F4F7F8"/>
          </a:solidFill>
          <a:ln w="9525">
            <a:solidFill>
              <a:srgbClr val="DDE2E2"/>
            </a:solidFill>
            <a:prstDash val="solid"/>
          </a:ln>
        </p:spPr>
      </p:sp>
      <p:sp>
        <p:nvSpPr>
          <p:cNvPr id="18" name="Text 16"/>
          <p:cNvSpPr/>
          <p:nvPr/>
        </p:nvSpPr>
        <p:spPr>
          <a:xfrm>
            <a:off x="9363456" y="3008376"/>
            <a:ext cx="1956816" cy="292608"/>
          </a:xfrm>
          <a:prstGeom prst="rect">
            <a:avLst/>
          </a:prstGeom>
          <a:noFill/>
          <a:ln/>
        </p:spPr>
        <p:txBody>
          <a:bodyPr wrap="square" lIns="0" tIns="0" rIns="0" bIns="0" rtlCol="0" anchor="ctr"/>
          <a:lstStyle/>
          <a:p>
            <a:pPr indent="0" marL="0">
              <a:buNone/>
            </a:pPr>
            <a:r>
              <a:rPr lang="en-US" sz="1350" b="1" dirty="0">
                <a:solidFill>
                  <a:srgbClr val="F15D23"/>
                </a:solidFill>
                <a:latin typeface="Calibri" pitchFamily="34" charset="0"/>
                <a:ea typeface="Calibri" pitchFamily="34" charset="-122"/>
                <a:cs typeface="Calibri" pitchFamily="34" charset="-120"/>
              </a:rPr>
              <a:t>Deployment halt</a:t>
            </a:r>
            <a:endParaRPr lang="en-US" sz="1350" dirty="0"/>
          </a:p>
        </p:txBody>
      </p:sp>
      <p:sp>
        <p:nvSpPr>
          <p:cNvPr id="19" name="Text 17"/>
          <p:cNvSpPr/>
          <p:nvPr/>
        </p:nvSpPr>
        <p:spPr>
          <a:xfrm>
            <a:off x="9363456" y="3319272"/>
            <a:ext cx="1956816" cy="502920"/>
          </a:xfrm>
          <a:prstGeom prst="rect">
            <a:avLst/>
          </a:prstGeom>
          <a:noFill/>
          <a:ln/>
        </p:spPr>
        <p:txBody>
          <a:bodyPr wrap="square" lIns="0" tIns="0" rIns="0" bIns="0" rtlCol="0" anchor="ctr"/>
          <a:lstStyle/>
          <a:p>
            <a:pPr indent="0" marL="0">
              <a:buNone/>
            </a:pPr>
            <a:r>
              <a:rPr lang="en-US" sz="1200" dirty="0">
                <a:solidFill>
                  <a:srgbClr val="55555F"/>
                </a:solidFill>
                <a:latin typeface="Calibri" pitchFamily="34" charset="0"/>
                <a:ea typeface="Calibri" pitchFamily="34" charset="-122"/>
                <a:cs typeface="Calibri" pitchFamily="34" charset="-120"/>
              </a:rPr>
              <a:t>AVS may reject or stop the deployment if four-byte ASNs are not properly supported.</a:t>
            </a:r>
            <a:endParaRPr lang="en-US" sz="1200" dirty="0"/>
          </a:p>
        </p:txBody>
      </p:sp>
      <p:sp>
        <p:nvSpPr>
          <p:cNvPr id="20" name="Shape 18"/>
          <p:cNvSpPr/>
          <p:nvPr/>
        </p:nvSpPr>
        <p:spPr>
          <a:xfrm>
            <a:off x="6446520" y="4206240"/>
            <a:ext cx="5102352" cy="1645920"/>
          </a:xfrm>
          <a:prstGeom prst="roundRect">
            <a:avLst>
              <a:gd name="adj" fmla="val 3889"/>
            </a:avLst>
          </a:prstGeom>
          <a:solidFill>
            <a:srgbClr val="E5F7FC"/>
          </a:solidFill>
          <a:ln w="9525">
            <a:solidFill>
              <a:srgbClr val="B2E8F6"/>
            </a:solidFill>
            <a:prstDash val="solid"/>
          </a:ln>
        </p:spPr>
      </p:sp>
      <p:sp>
        <p:nvSpPr>
          <p:cNvPr id="21" name="Text 19"/>
          <p:cNvSpPr/>
          <p:nvPr/>
        </p:nvSpPr>
        <p:spPr>
          <a:xfrm>
            <a:off x="6720840" y="4389120"/>
            <a:ext cx="4572000" cy="292608"/>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Operational implication</a:t>
            </a:r>
            <a:endParaRPr lang="en-US" sz="1500" dirty="0"/>
          </a:p>
        </p:txBody>
      </p:sp>
      <p:sp>
        <p:nvSpPr>
          <p:cNvPr id="22" name="Text 20"/>
          <p:cNvSpPr/>
          <p:nvPr/>
        </p:nvSpPr>
        <p:spPr>
          <a:xfrm>
            <a:off x="6720840" y="4709160"/>
            <a:ext cx="4572000" cy="1051560"/>
          </a:xfrm>
          <a:prstGeom prst="rect">
            <a:avLst/>
          </a:prstGeom>
          <a:noFill/>
          <a:ln/>
        </p:spPr>
        <p:txBody>
          <a:bodyPr wrap="square" lIns="0" tIns="0" rIns="0" bIns="0" rtlCol="0" anchor="ctr"/>
          <a:lstStyle/>
          <a:p>
            <a:pPr marL="177800" indent="-177800">
              <a:spcAft>
                <a:spcPts val="400"/>
              </a:spcAft>
              <a:buSzPct val="100000"/>
              <a:buChar char="•"/>
            </a:pPr>
            <a:r>
              <a:rPr lang="en-US" sz="1250" dirty="0">
                <a:solidFill>
                  <a:srgbClr val="1A5F7A"/>
                </a:solidFill>
                <a:latin typeface="Calibri" pitchFamily="34" charset="0"/>
                <a:ea typeface="Calibri" pitchFamily="34" charset="-122"/>
                <a:cs typeface="Calibri" pitchFamily="34" charset="-120"/>
              </a:rPr>
              <a:t>Legacy routing hardware may require upgrade or replacement.</a:t>
            </a:r>
            <a:endParaRPr lang="en-US" sz="1250" dirty="0"/>
          </a:p>
          <a:p>
            <a:pPr marL="177800" indent="-177800">
              <a:spcAft>
                <a:spcPts val="400"/>
              </a:spcAft>
              <a:buSzPct val="100000"/>
              <a:buChar char="•"/>
            </a:pPr>
            <a:r>
              <a:rPr lang="en-US" sz="1250" dirty="0">
                <a:solidFill>
                  <a:srgbClr val="1A5F7A"/>
                </a:solidFill>
                <a:latin typeface="Calibri" pitchFamily="34" charset="0"/>
                <a:ea typeface="Calibri" pitchFamily="34" charset="-122"/>
                <a:cs typeface="Calibri" pitchFamily="34" charset="-120"/>
              </a:rPr>
              <a:t>AVS readiness assessments must include router ASN capability.</a:t>
            </a:r>
            <a:endParaRPr lang="en-US" sz="1250" dirty="0"/>
          </a:p>
          <a:p>
            <a:pPr marL="177800" indent="-177800">
              <a:spcAft>
                <a:spcPts val="400"/>
              </a:spcAft>
              <a:buSzPct val="100000"/>
              <a:buChar char="•"/>
            </a:pPr>
            <a:r>
              <a:rPr lang="en-US" sz="1250" dirty="0">
                <a:solidFill>
                  <a:srgbClr val="1A5F7A"/>
                </a:solidFill>
                <a:latin typeface="Calibri" pitchFamily="34" charset="0"/>
                <a:ea typeface="Calibri" pitchFamily="34" charset="-122"/>
                <a:cs typeface="Calibri" pitchFamily="34" charset="-120"/>
              </a:rPr>
              <a:t>Cloud adoption exposes hidden dependencies on aging on-premises equipment.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INTERNET EGRESS · GENERATION 1</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The managed SNAT model</a:t>
            </a:r>
            <a:endParaRPr lang="en-US" sz="3400" dirty="0"/>
          </a:p>
        </p:txBody>
      </p:sp>
      <p:sp>
        <p:nvSpPr>
          <p:cNvPr id="4" name="Text 2"/>
          <p:cNvSpPr/>
          <p:nvPr/>
        </p:nvSpPr>
        <p:spPr>
          <a:xfrm>
            <a:off x="640080" y="1554480"/>
            <a:ext cx="6400800" cy="1554480"/>
          </a:xfrm>
          <a:prstGeom prst="rect">
            <a:avLst/>
          </a:prstGeom>
          <a:noFill/>
          <a:ln/>
        </p:spPr>
        <p:txBody>
          <a:bodyPr wrap="square" lIns="0" tIns="0" rIns="0" bIns="0" rtlCol="0" anchor="ctr"/>
          <a:lstStyle/>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Generation 1 offered a Microsoft-managed source NAT service, enabled through Azure.</a:t>
            </a:r>
            <a:endParaRPr lang="en-US" sz="1450" dirty="0"/>
          </a:p>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Private workload addresses were translated to Microsoft-managed public IP addresses.</a:t>
            </a:r>
            <a:endParaRPr lang="en-US" sz="1450" dirty="0"/>
          </a:p>
          <a:p>
            <a:pPr marL="177800" indent="-177800">
              <a:spcAft>
                <a:spcPts val="900"/>
              </a:spcAft>
              <a:buSzPct val="100000"/>
              <a:buChar char="•"/>
            </a:pPr>
            <a:r>
              <a:rPr lang="en-US" sz="1450" dirty="0">
                <a:solidFill>
                  <a:srgbClr val="55555F"/>
                </a:solidFill>
                <a:latin typeface="Calibri" pitchFamily="34" charset="0"/>
                <a:ea typeface="Calibri" pitchFamily="34" charset="-122"/>
                <a:cs typeface="Calibri" pitchFamily="34" charset="-120"/>
              </a:rPr>
              <a:t>It supported internet software updates, external API access, and basic outbound connectivity.</a:t>
            </a:r>
            <a:endParaRPr lang="en-US" sz="1450" dirty="0"/>
          </a:p>
        </p:txBody>
      </p:sp>
      <p:sp>
        <p:nvSpPr>
          <p:cNvPr id="5" name="Text 3"/>
          <p:cNvSpPr/>
          <p:nvPr/>
        </p:nvSpPr>
        <p:spPr>
          <a:xfrm>
            <a:off x="640080" y="3246120"/>
            <a:ext cx="6400800" cy="32004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What made it attractive</a:t>
            </a:r>
            <a:endParaRPr lang="en-US" sz="1800" dirty="0"/>
          </a:p>
        </p:txBody>
      </p:sp>
      <p:sp>
        <p:nvSpPr>
          <p:cNvPr id="6" name="Shape 4"/>
          <p:cNvSpPr/>
          <p:nvPr/>
        </p:nvSpPr>
        <p:spPr>
          <a:xfrm>
            <a:off x="640080" y="3703320"/>
            <a:ext cx="3063240" cy="777240"/>
          </a:xfrm>
          <a:prstGeom prst="roundRect">
            <a:avLst>
              <a:gd name="adj" fmla="val 8235"/>
            </a:avLst>
          </a:prstGeom>
          <a:solidFill>
            <a:srgbClr val="E5F7FC"/>
          </a:solidFill>
          <a:ln w="9525">
            <a:solidFill>
              <a:srgbClr val="B2E8F6"/>
            </a:solidFill>
            <a:prstDash val="solid"/>
          </a:ln>
        </p:spPr>
      </p:sp>
      <p:sp>
        <p:nvSpPr>
          <p:cNvPr id="7" name="Shape 5"/>
          <p:cNvSpPr/>
          <p:nvPr/>
        </p:nvSpPr>
        <p:spPr>
          <a:xfrm>
            <a:off x="868680" y="3959352"/>
            <a:ext cx="256032" cy="256032"/>
          </a:xfrm>
          <a:prstGeom prst="ellipse">
            <a:avLst/>
          </a:prstGeom>
          <a:solidFill>
            <a:srgbClr val="00AD93"/>
          </a:solidFill>
          <a:ln w="12700">
            <a:solidFill>
              <a:srgbClr val="00AD93"/>
            </a:solidFill>
            <a:prstDash val="solid"/>
          </a:ln>
        </p:spPr>
      </p:sp>
      <p:sp>
        <p:nvSpPr>
          <p:cNvPr id="8" name="Text 6"/>
          <p:cNvSpPr/>
          <p:nvPr/>
        </p:nvSpPr>
        <p:spPr>
          <a:xfrm>
            <a:off x="1234440" y="3703320"/>
            <a:ext cx="2286000" cy="777240"/>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Simple to enable</a:t>
            </a:r>
            <a:endParaRPr lang="en-US" sz="1350" dirty="0"/>
          </a:p>
        </p:txBody>
      </p:sp>
      <p:sp>
        <p:nvSpPr>
          <p:cNvPr id="9" name="Shape 7"/>
          <p:cNvSpPr/>
          <p:nvPr/>
        </p:nvSpPr>
        <p:spPr>
          <a:xfrm>
            <a:off x="3977640" y="3703320"/>
            <a:ext cx="3063240" cy="777240"/>
          </a:xfrm>
          <a:prstGeom prst="roundRect">
            <a:avLst>
              <a:gd name="adj" fmla="val 8235"/>
            </a:avLst>
          </a:prstGeom>
          <a:solidFill>
            <a:srgbClr val="E5F7FC"/>
          </a:solidFill>
          <a:ln w="9525">
            <a:solidFill>
              <a:srgbClr val="B2E8F6"/>
            </a:solidFill>
            <a:prstDash val="solid"/>
          </a:ln>
        </p:spPr>
      </p:sp>
      <p:sp>
        <p:nvSpPr>
          <p:cNvPr id="10" name="Shape 8"/>
          <p:cNvSpPr/>
          <p:nvPr/>
        </p:nvSpPr>
        <p:spPr>
          <a:xfrm>
            <a:off x="4206240" y="3959352"/>
            <a:ext cx="256032" cy="256032"/>
          </a:xfrm>
          <a:prstGeom prst="ellipse">
            <a:avLst/>
          </a:prstGeom>
          <a:solidFill>
            <a:srgbClr val="00AD93"/>
          </a:solidFill>
          <a:ln w="12700">
            <a:solidFill>
              <a:srgbClr val="00AD93"/>
            </a:solidFill>
            <a:prstDash val="solid"/>
          </a:ln>
        </p:spPr>
      </p:sp>
      <p:sp>
        <p:nvSpPr>
          <p:cNvPr id="11" name="Text 9"/>
          <p:cNvSpPr/>
          <p:nvPr/>
        </p:nvSpPr>
        <p:spPr>
          <a:xfrm>
            <a:off x="4572000" y="3703320"/>
            <a:ext cx="2286000" cy="777240"/>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Fast deployment</a:t>
            </a:r>
            <a:endParaRPr lang="en-US" sz="1350" dirty="0"/>
          </a:p>
        </p:txBody>
      </p:sp>
      <p:sp>
        <p:nvSpPr>
          <p:cNvPr id="12" name="Shape 10"/>
          <p:cNvSpPr/>
          <p:nvPr/>
        </p:nvSpPr>
        <p:spPr>
          <a:xfrm>
            <a:off x="640080" y="4709160"/>
            <a:ext cx="3063240" cy="777240"/>
          </a:xfrm>
          <a:prstGeom prst="roundRect">
            <a:avLst>
              <a:gd name="adj" fmla="val 8235"/>
            </a:avLst>
          </a:prstGeom>
          <a:solidFill>
            <a:srgbClr val="E5F7FC"/>
          </a:solidFill>
          <a:ln w="9525">
            <a:solidFill>
              <a:srgbClr val="B2E8F6"/>
            </a:solidFill>
            <a:prstDash val="solid"/>
          </a:ln>
        </p:spPr>
      </p:sp>
      <p:sp>
        <p:nvSpPr>
          <p:cNvPr id="13" name="Shape 11"/>
          <p:cNvSpPr/>
          <p:nvPr/>
        </p:nvSpPr>
        <p:spPr>
          <a:xfrm>
            <a:off x="868680" y="4965192"/>
            <a:ext cx="256032" cy="256032"/>
          </a:xfrm>
          <a:prstGeom prst="ellipse">
            <a:avLst/>
          </a:prstGeom>
          <a:solidFill>
            <a:srgbClr val="00AD93"/>
          </a:solidFill>
          <a:ln w="12700">
            <a:solidFill>
              <a:srgbClr val="00AD93"/>
            </a:solidFill>
            <a:prstDash val="solid"/>
          </a:ln>
        </p:spPr>
      </p:sp>
      <p:sp>
        <p:nvSpPr>
          <p:cNvPr id="14" name="Text 12"/>
          <p:cNvSpPr/>
          <p:nvPr/>
        </p:nvSpPr>
        <p:spPr>
          <a:xfrm>
            <a:off x="1234440" y="4709160"/>
            <a:ext cx="2286000" cy="777240"/>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No customer-managed firewall required</a:t>
            </a:r>
            <a:endParaRPr lang="en-US" sz="1350" dirty="0"/>
          </a:p>
        </p:txBody>
      </p:sp>
      <p:sp>
        <p:nvSpPr>
          <p:cNvPr id="15" name="Shape 13"/>
          <p:cNvSpPr/>
          <p:nvPr/>
        </p:nvSpPr>
        <p:spPr>
          <a:xfrm>
            <a:off x="3977640" y="4709160"/>
            <a:ext cx="3063240" cy="777240"/>
          </a:xfrm>
          <a:prstGeom prst="roundRect">
            <a:avLst>
              <a:gd name="adj" fmla="val 8235"/>
            </a:avLst>
          </a:prstGeom>
          <a:solidFill>
            <a:srgbClr val="E5F7FC"/>
          </a:solidFill>
          <a:ln w="9525">
            <a:solidFill>
              <a:srgbClr val="B2E8F6"/>
            </a:solidFill>
            <a:prstDash val="solid"/>
          </a:ln>
        </p:spPr>
      </p:sp>
      <p:sp>
        <p:nvSpPr>
          <p:cNvPr id="16" name="Shape 14"/>
          <p:cNvSpPr/>
          <p:nvPr/>
        </p:nvSpPr>
        <p:spPr>
          <a:xfrm>
            <a:off x="4206240" y="4965192"/>
            <a:ext cx="256032" cy="256032"/>
          </a:xfrm>
          <a:prstGeom prst="ellipse">
            <a:avLst/>
          </a:prstGeom>
          <a:solidFill>
            <a:srgbClr val="00AD93"/>
          </a:solidFill>
          <a:ln w="12700">
            <a:solidFill>
              <a:srgbClr val="00AD93"/>
            </a:solidFill>
            <a:prstDash val="solid"/>
          </a:ln>
        </p:spPr>
      </p:sp>
      <p:sp>
        <p:nvSpPr>
          <p:cNvPr id="17" name="Text 15"/>
          <p:cNvSpPr/>
          <p:nvPr/>
        </p:nvSpPr>
        <p:spPr>
          <a:xfrm>
            <a:off x="4572000" y="4709160"/>
            <a:ext cx="2286000" cy="777240"/>
          </a:xfrm>
          <a:prstGeom prst="rect">
            <a:avLst/>
          </a:prstGeom>
          <a:noFill/>
          <a:ln/>
        </p:spPr>
        <p:txBody>
          <a:bodyPr wrap="square" lIns="0" tIns="0" rIns="0" bIns="0" rtlCol="0" anchor="ctr"/>
          <a:lstStyle/>
          <a:p>
            <a:pPr indent="0" marL="0">
              <a:buNone/>
            </a:pPr>
            <a:r>
              <a:rPr lang="en-US" sz="1350" b="1" dirty="0">
                <a:solidFill>
                  <a:srgbClr val="3E3E4B"/>
                </a:solidFill>
                <a:latin typeface="Calibri" pitchFamily="34" charset="0"/>
                <a:ea typeface="Calibri" pitchFamily="34" charset="-122"/>
                <a:cs typeface="Calibri" pitchFamily="34" charset="-120"/>
              </a:rPr>
              <a:t>Minimal initial network design</a:t>
            </a:r>
            <a:endParaRPr lang="en-US" sz="1350" dirty="0"/>
          </a:p>
        </p:txBody>
      </p:sp>
      <p:sp>
        <p:nvSpPr>
          <p:cNvPr id="18" name="Shape 16"/>
          <p:cNvSpPr/>
          <p:nvPr/>
        </p:nvSpPr>
        <p:spPr>
          <a:xfrm>
            <a:off x="7498080" y="1554480"/>
            <a:ext cx="4050792" cy="4297680"/>
          </a:xfrm>
          <a:prstGeom prst="roundRect">
            <a:avLst>
              <a:gd name="adj" fmla="val 1580"/>
            </a:avLst>
          </a:prstGeom>
          <a:solidFill>
            <a:srgbClr val="3E3E4B"/>
          </a:solidFill>
          <a:ln w="9525">
            <a:solidFill>
              <a:srgbClr val="3E3E4B"/>
            </a:solidFill>
            <a:prstDash val="solid"/>
          </a:ln>
        </p:spPr>
      </p:sp>
      <p:sp>
        <p:nvSpPr>
          <p:cNvPr id="19" name="Text 17"/>
          <p:cNvSpPr/>
          <p:nvPr/>
        </p:nvSpPr>
        <p:spPr>
          <a:xfrm>
            <a:off x="7772400" y="1828800"/>
            <a:ext cx="3474720" cy="274320"/>
          </a:xfrm>
          <a:prstGeom prst="rect">
            <a:avLst/>
          </a:prstGeom>
          <a:noFill/>
          <a:ln/>
        </p:spPr>
        <p:txBody>
          <a:bodyPr wrap="square" lIns="0" tIns="0" rIns="0" bIns="0" rtlCol="0" anchor="ctr"/>
          <a:lstStyle/>
          <a:p>
            <a:pPr indent="0" marL="0">
              <a:buNone/>
            </a:pPr>
            <a:r>
              <a:rPr lang="en-US" sz="1100" b="1" spc="200" kern="0" dirty="0">
                <a:solidFill>
                  <a:srgbClr val="F15D23"/>
                </a:solidFill>
                <a:latin typeface="Calibri" pitchFamily="34" charset="0"/>
                <a:ea typeface="Calibri" pitchFamily="34" charset="-122"/>
                <a:cs typeface="Calibri" pitchFamily="34" charset="-120"/>
              </a:rPr>
              <a:t>HARD CEILING</a:t>
            </a:r>
            <a:endParaRPr lang="en-US" sz="1100" dirty="0"/>
          </a:p>
        </p:txBody>
      </p:sp>
      <p:sp>
        <p:nvSpPr>
          <p:cNvPr id="20" name="Text 18"/>
          <p:cNvSpPr/>
          <p:nvPr/>
        </p:nvSpPr>
        <p:spPr>
          <a:xfrm>
            <a:off x="7772400" y="2148840"/>
            <a:ext cx="3520440" cy="914400"/>
          </a:xfrm>
          <a:prstGeom prst="rect">
            <a:avLst/>
          </a:prstGeom>
          <a:noFill/>
          <a:ln/>
        </p:spPr>
        <p:txBody>
          <a:bodyPr wrap="square" lIns="0" tIns="0" rIns="0" bIns="0" rtlCol="0" anchor="ctr"/>
          <a:lstStyle/>
          <a:p>
            <a:pPr indent="0" marL="0">
              <a:buNone/>
            </a:pPr>
            <a:r>
              <a:rPr lang="en-US" sz="5400" b="1" dirty="0">
                <a:solidFill>
                  <a:srgbClr val="00B3E2"/>
                </a:solidFill>
                <a:latin typeface="Calibri" pitchFamily="34" charset="0"/>
                <a:ea typeface="Calibri" pitchFamily="34" charset="-122"/>
                <a:cs typeface="Calibri" pitchFamily="34" charset="-120"/>
              </a:rPr>
              <a:t>128,000</a:t>
            </a:r>
            <a:endParaRPr lang="en-US" sz="5400" dirty="0"/>
          </a:p>
        </p:txBody>
      </p:sp>
      <p:sp>
        <p:nvSpPr>
          <p:cNvPr id="21" name="Text 19"/>
          <p:cNvSpPr/>
          <p:nvPr/>
        </p:nvSpPr>
        <p:spPr>
          <a:xfrm>
            <a:off x="7772400" y="3017520"/>
            <a:ext cx="352044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concurrent connections</a:t>
            </a:r>
            <a:endParaRPr lang="en-US" sz="1600" dirty="0"/>
          </a:p>
        </p:txBody>
      </p:sp>
      <p:sp>
        <p:nvSpPr>
          <p:cNvPr id="22" name="Text 20"/>
          <p:cNvSpPr/>
          <p:nvPr/>
        </p:nvSpPr>
        <p:spPr>
          <a:xfrm>
            <a:off x="7772400" y="3520440"/>
            <a:ext cx="3520440" cy="50292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The number looks large until you count what a modern estate actually opens:</a:t>
            </a:r>
            <a:endParaRPr lang="en-US" sz="1300" dirty="0"/>
          </a:p>
        </p:txBody>
      </p:sp>
      <p:sp>
        <p:nvSpPr>
          <p:cNvPr id="23" name="Text 21"/>
          <p:cNvSpPr/>
          <p:nvPr/>
        </p:nvSpPr>
        <p:spPr>
          <a:xfrm>
            <a:off x="7772400" y="4114800"/>
            <a:ext cx="3520440" cy="1371600"/>
          </a:xfrm>
          <a:prstGeom prst="rect">
            <a:avLst/>
          </a:prstGeom>
          <a:noFill/>
          <a:ln/>
        </p:spPr>
        <p:txBody>
          <a:bodyPr wrap="square" lIns="0" tIns="0" rIns="0" bIns="0" rtlCol="0" anchor="ctr"/>
          <a:lstStyle/>
          <a:p>
            <a:pPr marL="177800" indent="-177800">
              <a:spcAft>
                <a:spcPts val="400"/>
              </a:spcAft>
              <a:buSzPct val="100000"/>
              <a:buChar char="•"/>
            </a:pPr>
            <a:r>
              <a:rPr lang="en-US" sz="1300" dirty="0">
                <a:solidFill>
                  <a:srgbClr val="C9CCD6"/>
                </a:solidFill>
                <a:latin typeface="Calibri" pitchFamily="34" charset="0"/>
                <a:ea typeface="Calibri" pitchFamily="34" charset="-122"/>
                <a:cs typeface="Calibri" pitchFamily="34" charset="-120"/>
              </a:rPr>
              <a:t>SaaS platforms</a:t>
            </a:r>
            <a:endParaRPr lang="en-US" sz="1300" dirty="0"/>
          </a:p>
          <a:p>
            <a:pPr marL="177800" indent="-177800">
              <a:spcAft>
                <a:spcPts val="400"/>
              </a:spcAft>
              <a:buSzPct val="100000"/>
              <a:buChar char="•"/>
            </a:pPr>
            <a:r>
              <a:rPr lang="en-US" sz="1300" dirty="0">
                <a:solidFill>
                  <a:srgbClr val="C9CCD6"/>
                </a:solidFill>
                <a:latin typeface="Calibri" pitchFamily="34" charset="0"/>
                <a:ea typeface="Calibri" pitchFamily="34" charset="-122"/>
                <a:cs typeface="Calibri" pitchFamily="34" charset="-120"/>
              </a:rPr>
              <a:t>Telemetry endpoints</a:t>
            </a:r>
            <a:endParaRPr lang="en-US" sz="1300" dirty="0"/>
          </a:p>
          <a:p>
            <a:pPr marL="177800" indent="-177800">
              <a:spcAft>
                <a:spcPts val="400"/>
              </a:spcAft>
              <a:buSzPct val="100000"/>
              <a:buChar char="•"/>
            </a:pPr>
            <a:r>
              <a:rPr lang="en-US" sz="1300" dirty="0">
                <a:solidFill>
                  <a:srgbClr val="C9CCD6"/>
                </a:solidFill>
                <a:latin typeface="Calibri" pitchFamily="34" charset="0"/>
                <a:ea typeface="Calibri" pitchFamily="34" charset="-122"/>
                <a:cs typeface="Calibri" pitchFamily="34" charset="-120"/>
              </a:rPr>
              <a:t>Certificate-revocation services</a:t>
            </a:r>
            <a:endParaRPr lang="en-US" sz="1300" dirty="0"/>
          </a:p>
          <a:p>
            <a:pPr marL="177800" indent="-177800">
              <a:spcAft>
                <a:spcPts val="400"/>
              </a:spcAft>
              <a:buSzPct val="100000"/>
              <a:buChar char="•"/>
            </a:pPr>
            <a:r>
              <a:rPr lang="en-US" sz="1300" dirty="0">
                <a:solidFill>
                  <a:srgbClr val="C9CCD6"/>
                </a:solidFill>
                <a:latin typeface="Calibri" pitchFamily="34" charset="0"/>
                <a:ea typeface="Calibri" pitchFamily="34" charset="-122"/>
                <a:cs typeface="Calibri" pitchFamily="34" charset="-120"/>
              </a:rPr>
              <a:t>APIs and update services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INTERNET EGRESS · GENERATION 1</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How port exhaustion actually presents</a:t>
            </a:r>
            <a:endParaRPr lang="en-US" sz="3400" dirty="0"/>
          </a:p>
        </p:txBody>
      </p:sp>
      <p:sp>
        <p:nvSpPr>
          <p:cNvPr id="4" name="Shape 2"/>
          <p:cNvSpPr/>
          <p:nvPr/>
        </p:nvSpPr>
        <p:spPr>
          <a:xfrm>
            <a:off x="640080" y="1691640"/>
            <a:ext cx="2542032" cy="2377440"/>
          </a:xfrm>
          <a:prstGeom prst="roundRect">
            <a:avLst>
              <a:gd name="adj" fmla="val 2692"/>
            </a:avLst>
          </a:prstGeom>
          <a:solidFill>
            <a:srgbClr val="4A4A58"/>
          </a:solidFill>
          <a:ln w="9525">
            <a:solidFill>
              <a:srgbClr val="5C5C6C"/>
            </a:solidFill>
            <a:prstDash val="solid"/>
          </a:ln>
        </p:spPr>
      </p:sp>
      <p:sp>
        <p:nvSpPr>
          <p:cNvPr id="5" name="Shape 3"/>
          <p:cNvSpPr/>
          <p:nvPr/>
        </p:nvSpPr>
        <p:spPr>
          <a:xfrm>
            <a:off x="896112" y="1920240"/>
            <a:ext cx="384048" cy="384048"/>
          </a:xfrm>
          <a:prstGeom prst="ellipse">
            <a:avLst/>
          </a:prstGeom>
          <a:solidFill>
            <a:srgbClr val="00B3E2"/>
          </a:solidFill>
          <a:ln w="12700">
            <a:solidFill>
              <a:srgbClr val="00B3E2"/>
            </a:solidFill>
            <a:prstDash val="solid"/>
          </a:ln>
        </p:spPr>
      </p:sp>
      <p:sp>
        <p:nvSpPr>
          <p:cNvPr id="6" name="Text 4"/>
          <p:cNvSpPr/>
          <p:nvPr/>
        </p:nvSpPr>
        <p:spPr>
          <a:xfrm>
            <a:off x="896112" y="1920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96112" y="2423160"/>
            <a:ext cx="2029968"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Connections linger</a:t>
            </a:r>
            <a:endParaRPr lang="en-US" sz="1600" dirty="0"/>
          </a:p>
        </p:txBody>
      </p:sp>
      <p:sp>
        <p:nvSpPr>
          <p:cNvPr id="8" name="Text 6"/>
          <p:cNvSpPr/>
          <p:nvPr/>
        </p:nvSpPr>
        <p:spPr>
          <a:xfrm>
            <a:off x="896112" y="288036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Closed sessions stay in the translation table during TCP TIME_WAIT, idle timeouts, and HTTP keep-alive intervals.</a:t>
            </a:r>
            <a:endParaRPr lang="en-US" sz="1250" dirty="0"/>
          </a:p>
        </p:txBody>
      </p:sp>
      <p:sp>
        <p:nvSpPr>
          <p:cNvPr id="9" name="Shape 7"/>
          <p:cNvSpPr/>
          <p:nvPr/>
        </p:nvSpPr>
        <p:spPr>
          <a:xfrm>
            <a:off x="3429000" y="1691640"/>
            <a:ext cx="2542032" cy="2377440"/>
          </a:xfrm>
          <a:prstGeom prst="roundRect">
            <a:avLst>
              <a:gd name="adj" fmla="val 2692"/>
            </a:avLst>
          </a:prstGeom>
          <a:solidFill>
            <a:srgbClr val="4A4A58"/>
          </a:solidFill>
          <a:ln w="9525">
            <a:solidFill>
              <a:srgbClr val="5C5C6C"/>
            </a:solidFill>
            <a:prstDash val="solid"/>
          </a:ln>
        </p:spPr>
      </p:sp>
      <p:sp>
        <p:nvSpPr>
          <p:cNvPr id="10" name="Shape 8"/>
          <p:cNvSpPr/>
          <p:nvPr/>
        </p:nvSpPr>
        <p:spPr>
          <a:xfrm>
            <a:off x="3685032" y="1920240"/>
            <a:ext cx="384048" cy="384048"/>
          </a:xfrm>
          <a:prstGeom prst="ellipse">
            <a:avLst/>
          </a:prstGeom>
          <a:solidFill>
            <a:srgbClr val="00B3E2"/>
          </a:solidFill>
          <a:ln w="12700">
            <a:solidFill>
              <a:srgbClr val="00B3E2"/>
            </a:solidFill>
            <a:prstDash val="solid"/>
          </a:ln>
        </p:spPr>
      </p:sp>
      <p:sp>
        <p:nvSpPr>
          <p:cNvPr id="11" name="Text 9"/>
          <p:cNvSpPr/>
          <p:nvPr/>
        </p:nvSpPr>
        <p:spPr>
          <a:xfrm>
            <a:off x="3685032" y="1920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3685032" y="2423160"/>
            <a:ext cx="2029968"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table fills</a:t>
            </a:r>
            <a:endParaRPr lang="en-US" sz="1600" dirty="0"/>
          </a:p>
        </p:txBody>
      </p:sp>
      <p:sp>
        <p:nvSpPr>
          <p:cNvPr id="13" name="Text 11"/>
          <p:cNvSpPr/>
          <p:nvPr/>
        </p:nvSpPr>
        <p:spPr>
          <a:xfrm>
            <a:off x="3685032" y="288036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Lingering entries keep consuming ports, so the table fills even when applications appear to have closed their sessions.</a:t>
            </a:r>
            <a:endParaRPr lang="en-US" sz="1250" dirty="0"/>
          </a:p>
        </p:txBody>
      </p:sp>
      <p:sp>
        <p:nvSpPr>
          <p:cNvPr id="14" name="Shape 12"/>
          <p:cNvSpPr/>
          <p:nvPr/>
        </p:nvSpPr>
        <p:spPr>
          <a:xfrm>
            <a:off x="6217920" y="1691640"/>
            <a:ext cx="2542032" cy="2377440"/>
          </a:xfrm>
          <a:prstGeom prst="roundRect">
            <a:avLst>
              <a:gd name="adj" fmla="val 2692"/>
            </a:avLst>
          </a:prstGeom>
          <a:solidFill>
            <a:srgbClr val="4A4A58"/>
          </a:solidFill>
          <a:ln w="9525">
            <a:solidFill>
              <a:srgbClr val="5C5C6C"/>
            </a:solidFill>
            <a:prstDash val="solid"/>
          </a:ln>
        </p:spPr>
      </p:sp>
      <p:sp>
        <p:nvSpPr>
          <p:cNvPr id="15" name="Shape 13"/>
          <p:cNvSpPr/>
          <p:nvPr/>
        </p:nvSpPr>
        <p:spPr>
          <a:xfrm>
            <a:off x="6473952" y="1920240"/>
            <a:ext cx="384048" cy="384048"/>
          </a:xfrm>
          <a:prstGeom prst="ellipse">
            <a:avLst/>
          </a:prstGeom>
          <a:solidFill>
            <a:srgbClr val="00B3E2"/>
          </a:solidFill>
          <a:ln w="12700">
            <a:solidFill>
              <a:srgbClr val="00B3E2"/>
            </a:solidFill>
            <a:prstDash val="solid"/>
          </a:ln>
        </p:spPr>
      </p:sp>
      <p:sp>
        <p:nvSpPr>
          <p:cNvPr id="16" name="Text 14"/>
          <p:cNvSpPr/>
          <p:nvPr/>
        </p:nvSpPr>
        <p:spPr>
          <a:xfrm>
            <a:off x="6473952" y="1920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473952" y="2423160"/>
            <a:ext cx="2029968"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New connections drop</a:t>
            </a:r>
            <a:endParaRPr lang="en-US" sz="1600" dirty="0"/>
          </a:p>
        </p:txBody>
      </p:sp>
      <p:sp>
        <p:nvSpPr>
          <p:cNvPr id="18" name="Text 16"/>
          <p:cNvSpPr/>
          <p:nvPr/>
        </p:nvSpPr>
        <p:spPr>
          <a:xfrm>
            <a:off x="6473952" y="288036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Outbound connections are silently dropped. Applications see delayed responses, random timeouts, and intermittent failures.</a:t>
            </a:r>
            <a:endParaRPr lang="en-US" sz="1250" dirty="0"/>
          </a:p>
        </p:txBody>
      </p:sp>
      <p:sp>
        <p:nvSpPr>
          <p:cNvPr id="19" name="Shape 17"/>
          <p:cNvSpPr/>
          <p:nvPr/>
        </p:nvSpPr>
        <p:spPr>
          <a:xfrm>
            <a:off x="9006840" y="1691640"/>
            <a:ext cx="2542032" cy="2377440"/>
          </a:xfrm>
          <a:prstGeom prst="roundRect">
            <a:avLst>
              <a:gd name="adj" fmla="val 2692"/>
            </a:avLst>
          </a:prstGeom>
          <a:solidFill>
            <a:srgbClr val="4A4A58"/>
          </a:solidFill>
          <a:ln w="9525">
            <a:solidFill>
              <a:srgbClr val="5C5C6C"/>
            </a:solidFill>
            <a:prstDash val="solid"/>
          </a:ln>
        </p:spPr>
      </p:sp>
      <p:sp>
        <p:nvSpPr>
          <p:cNvPr id="20" name="Shape 18"/>
          <p:cNvSpPr/>
          <p:nvPr/>
        </p:nvSpPr>
        <p:spPr>
          <a:xfrm>
            <a:off x="9262872" y="1920240"/>
            <a:ext cx="384048" cy="384048"/>
          </a:xfrm>
          <a:prstGeom prst="ellipse">
            <a:avLst/>
          </a:prstGeom>
          <a:solidFill>
            <a:srgbClr val="F15D23"/>
          </a:solidFill>
          <a:ln w="12700">
            <a:solidFill>
              <a:srgbClr val="F15D23"/>
            </a:solidFill>
            <a:prstDash val="solid"/>
          </a:ln>
        </p:spPr>
      </p:sp>
      <p:sp>
        <p:nvSpPr>
          <p:cNvPr id="21" name="Text 19"/>
          <p:cNvSpPr/>
          <p:nvPr/>
        </p:nvSpPr>
        <p:spPr>
          <a:xfrm>
            <a:off x="9262872" y="1920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262872" y="2423160"/>
            <a:ext cx="2029968"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Diagnosis stalls</a:t>
            </a:r>
            <a:endParaRPr lang="en-US" sz="1600" dirty="0"/>
          </a:p>
        </p:txBody>
      </p:sp>
      <p:sp>
        <p:nvSpPr>
          <p:cNvPr id="23" name="Text 21"/>
          <p:cNvSpPr/>
          <p:nvPr/>
        </p:nvSpPr>
        <p:spPr>
          <a:xfrm>
            <a:off x="9262872" y="2880360"/>
            <a:ext cx="2029968" cy="10515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Engineers cannot inspect the managed NAT translation table. The service behaves as a black box.</a:t>
            </a:r>
            <a:endParaRPr lang="en-US" sz="1250" dirty="0"/>
          </a:p>
        </p:txBody>
      </p:sp>
      <p:sp>
        <p:nvSpPr>
          <p:cNvPr id="24" name="Shape 22"/>
          <p:cNvSpPr/>
          <p:nvPr/>
        </p:nvSpPr>
        <p:spPr>
          <a:xfrm>
            <a:off x="640080" y="4389120"/>
            <a:ext cx="5486400" cy="1463040"/>
          </a:xfrm>
          <a:prstGeom prst="roundRect">
            <a:avLst>
              <a:gd name="adj" fmla="val 4375"/>
            </a:avLst>
          </a:prstGeom>
          <a:solidFill>
            <a:srgbClr val="2F2F3A"/>
          </a:solidFill>
          <a:ln w="9525">
            <a:solidFill>
              <a:srgbClr val="5C5C6C"/>
            </a:solidFill>
            <a:prstDash val="solid"/>
          </a:ln>
        </p:spPr>
      </p:sp>
      <p:sp>
        <p:nvSpPr>
          <p:cNvPr id="25" name="Text 23"/>
          <p:cNvSpPr/>
          <p:nvPr/>
        </p:nvSpPr>
        <p:spPr>
          <a:xfrm>
            <a:off x="960120" y="4572000"/>
            <a:ext cx="4846320" cy="320040"/>
          </a:xfrm>
          <a:prstGeom prst="rect">
            <a:avLst/>
          </a:prstGeom>
          <a:noFill/>
          <a:ln/>
        </p:spPr>
        <p:txBody>
          <a:bodyPr wrap="square" lIns="0" tIns="0" rIns="0" bIns="0" rtlCol="0" anchor="ctr"/>
          <a:lstStyle/>
          <a:p>
            <a:pPr indent="0" marL="0">
              <a:buNone/>
            </a:pPr>
            <a:r>
              <a:rPr lang="en-US" sz="1700" b="1" dirty="0">
                <a:solidFill>
                  <a:srgbClr val="F15D23"/>
                </a:solidFill>
                <a:latin typeface="Calibri" pitchFamily="34" charset="0"/>
                <a:ea typeface="Calibri" pitchFamily="34" charset="-122"/>
                <a:cs typeface="Calibri" pitchFamily="34" charset="-120"/>
              </a:rPr>
              <a:t>Managed SNAT drops ICMP</a:t>
            </a:r>
            <a:endParaRPr lang="en-US" sz="1700" dirty="0"/>
          </a:p>
        </p:txBody>
      </p:sp>
      <p:sp>
        <p:nvSpPr>
          <p:cNvPr id="26" name="Text 24"/>
          <p:cNvSpPr/>
          <p:nvPr/>
        </p:nvSpPr>
        <p:spPr>
          <a:xfrm>
            <a:off x="960120" y="4937760"/>
            <a:ext cx="4846320" cy="77724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Ping and traditional traceroute are unavailable, so the usual first-line diagnostics return nothing useful.</a:t>
            </a:r>
            <a:endParaRPr lang="en-US" sz="1300" dirty="0"/>
          </a:p>
        </p:txBody>
      </p:sp>
      <p:sp>
        <p:nvSpPr>
          <p:cNvPr id="27" name="Shape 25"/>
          <p:cNvSpPr/>
          <p:nvPr/>
        </p:nvSpPr>
        <p:spPr>
          <a:xfrm>
            <a:off x="6519672" y="4389120"/>
            <a:ext cx="5029200" cy="1463040"/>
          </a:xfrm>
          <a:prstGeom prst="roundRect">
            <a:avLst>
              <a:gd name="adj" fmla="val 4375"/>
            </a:avLst>
          </a:prstGeom>
          <a:solidFill>
            <a:srgbClr val="2F2F3A"/>
          </a:solidFill>
          <a:ln w="9525">
            <a:solidFill>
              <a:srgbClr val="5C5C6C"/>
            </a:solidFill>
            <a:prstDash val="solid"/>
          </a:ln>
        </p:spPr>
      </p:sp>
      <p:sp>
        <p:nvSpPr>
          <p:cNvPr id="28" name="Text 26"/>
          <p:cNvSpPr/>
          <p:nvPr/>
        </p:nvSpPr>
        <p:spPr>
          <a:xfrm>
            <a:off x="6839712" y="4572000"/>
            <a:ext cx="4389120" cy="320040"/>
          </a:xfrm>
          <a:prstGeom prst="rect">
            <a:avLst/>
          </a:prstGeom>
          <a:noFill/>
          <a:ln/>
        </p:spPr>
        <p:txBody>
          <a:bodyPr wrap="square" lIns="0" tIns="0" rIns="0" bIns="0" rtlCol="0" anchor="ctr"/>
          <a:lstStyle/>
          <a:p>
            <a:pPr indent="0" marL="0">
              <a:buNone/>
            </a:pPr>
            <a:r>
              <a:rPr lang="en-US" sz="1700" b="1" dirty="0">
                <a:solidFill>
                  <a:srgbClr val="00AD93"/>
                </a:solidFill>
                <a:latin typeface="Calibri" pitchFamily="34" charset="0"/>
                <a:ea typeface="Calibri" pitchFamily="34" charset="-122"/>
                <a:cs typeface="Calibri" pitchFamily="34" charset="-120"/>
              </a:rPr>
              <a:t>Use TCP-oriented tools instead</a:t>
            </a:r>
            <a:endParaRPr lang="en-US" sz="1700" dirty="0"/>
          </a:p>
        </p:txBody>
      </p:sp>
      <p:sp>
        <p:nvSpPr>
          <p:cNvPr id="29" name="Text 27"/>
          <p:cNvSpPr/>
          <p:nvPr/>
        </p:nvSpPr>
        <p:spPr>
          <a:xfrm>
            <a:off x="6839712" y="4983480"/>
            <a:ext cx="43891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TCPing      ·      Nmap      ·      Application-level tests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INTERNET EGRESS · GENERATION 2</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Bring your own egress</a:t>
            </a:r>
            <a:endParaRPr lang="en-US" sz="3400" dirty="0"/>
          </a:p>
        </p:txBody>
      </p:sp>
      <p:sp>
        <p:nvSpPr>
          <p:cNvPr id="4" name="Text 2"/>
          <p:cNvSpPr/>
          <p:nvPr/>
        </p:nvSpPr>
        <p:spPr>
          <a:xfrm>
            <a:off x="640080" y="1371600"/>
            <a:ext cx="9326880" cy="45720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Generation 2 removes the managed SNAT model and integrates AVS with a native Azure virtual network. Customers deploy their own egress platform.</a:t>
            </a:r>
            <a:endParaRPr lang="en-US" sz="1500" dirty="0"/>
          </a:p>
        </p:txBody>
      </p:sp>
      <p:sp>
        <p:nvSpPr>
          <p:cNvPr id="5" name="Shape 3"/>
          <p:cNvSpPr/>
          <p:nvPr/>
        </p:nvSpPr>
        <p:spPr>
          <a:xfrm>
            <a:off x="640080" y="2057400"/>
            <a:ext cx="2542032" cy="868680"/>
          </a:xfrm>
          <a:prstGeom prst="roundRect">
            <a:avLst>
              <a:gd name="adj" fmla="val 7368"/>
            </a:avLst>
          </a:prstGeom>
          <a:solidFill>
            <a:srgbClr val="3E3E4B"/>
          </a:solidFill>
          <a:ln w="9525">
            <a:solidFill>
              <a:srgbClr val="3E3E4B"/>
            </a:solidFill>
            <a:prstDash val="solid"/>
          </a:ln>
        </p:spPr>
      </p:sp>
      <p:sp>
        <p:nvSpPr>
          <p:cNvPr id="6" name="Text 4"/>
          <p:cNvSpPr/>
          <p:nvPr/>
        </p:nvSpPr>
        <p:spPr>
          <a:xfrm>
            <a:off x="868680" y="2057400"/>
            <a:ext cx="2084832"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Azure Firewall</a:t>
            </a:r>
            <a:endParaRPr lang="en-US" sz="1500" dirty="0"/>
          </a:p>
        </p:txBody>
      </p:sp>
      <p:sp>
        <p:nvSpPr>
          <p:cNvPr id="7" name="Shape 5"/>
          <p:cNvSpPr/>
          <p:nvPr/>
        </p:nvSpPr>
        <p:spPr>
          <a:xfrm>
            <a:off x="3429000" y="2057400"/>
            <a:ext cx="2542032" cy="868680"/>
          </a:xfrm>
          <a:prstGeom prst="roundRect">
            <a:avLst>
              <a:gd name="adj" fmla="val 7368"/>
            </a:avLst>
          </a:prstGeom>
          <a:solidFill>
            <a:srgbClr val="3E3E4B"/>
          </a:solidFill>
          <a:ln w="9525">
            <a:solidFill>
              <a:srgbClr val="3E3E4B"/>
            </a:solidFill>
            <a:prstDash val="solid"/>
          </a:ln>
        </p:spPr>
      </p:sp>
      <p:sp>
        <p:nvSpPr>
          <p:cNvPr id="8" name="Text 6"/>
          <p:cNvSpPr/>
          <p:nvPr/>
        </p:nvSpPr>
        <p:spPr>
          <a:xfrm>
            <a:off x="3657600" y="2057400"/>
            <a:ext cx="2084832"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Palo Alto Networks NVA</a:t>
            </a:r>
            <a:endParaRPr lang="en-US" sz="1500" dirty="0"/>
          </a:p>
        </p:txBody>
      </p:sp>
      <p:sp>
        <p:nvSpPr>
          <p:cNvPr id="9" name="Shape 7"/>
          <p:cNvSpPr/>
          <p:nvPr/>
        </p:nvSpPr>
        <p:spPr>
          <a:xfrm>
            <a:off x="6217920" y="2057400"/>
            <a:ext cx="2542032" cy="868680"/>
          </a:xfrm>
          <a:prstGeom prst="roundRect">
            <a:avLst>
              <a:gd name="adj" fmla="val 7368"/>
            </a:avLst>
          </a:prstGeom>
          <a:solidFill>
            <a:srgbClr val="3E3E4B"/>
          </a:solidFill>
          <a:ln w="9525">
            <a:solidFill>
              <a:srgbClr val="3E3E4B"/>
            </a:solidFill>
            <a:prstDash val="solid"/>
          </a:ln>
        </p:spPr>
      </p:sp>
      <p:sp>
        <p:nvSpPr>
          <p:cNvPr id="10" name="Text 8"/>
          <p:cNvSpPr/>
          <p:nvPr/>
        </p:nvSpPr>
        <p:spPr>
          <a:xfrm>
            <a:off x="6446520" y="2057400"/>
            <a:ext cx="2084832"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Fortinet NVA</a:t>
            </a:r>
            <a:endParaRPr lang="en-US" sz="1500" dirty="0"/>
          </a:p>
        </p:txBody>
      </p:sp>
      <p:sp>
        <p:nvSpPr>
          <p:cNvPr id="11" name="Shape 9"/>
          <p:cNvSpPr/>
          <p:nvPr/>
        </p:nvSpPr>
        <p:spPr>
          <a:xfrm>
            <a:off x="9006840" y="2057400"/>
            <a:ext cx="2542032" cy="868680"/>
          </a:xfrm>
          <a:prstGeom prst="roundRect">
            <a:avLst>
              <a:gd name="adj" fmla="val 7368"/>
            </a:avLst>
          </a:prstGeom>
          <a:solidFill>
            <a:srgbClr val="3E3E4B"/>
          </a:solidFill>
          <a:ln w="9525">
            <a:solidFill>
              <a:srgbClr val="3E3E4B"/>
            </a:solidFill>
            <a:prstDash val="solid"/>
          </a:ln>
        </p:spPr>
      </p:sp>
      <p:sp>
        <p:nvSpPr>
          <p:cNvPr id="12" name="Text 10"/>
          <p:cNvSpPr/>
          <p:nvPr/>
        </p:nvSpPr>
        <p:spPr>
          <a:xfrm>
            <a:off x="9235440" y="2057400"/>
            <a:ext cx="2084832"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Other third-party appliance</a:t>
            </a:r>
            <a:endParaRPr lang="en-US" sz="1500" dirty="0"/>
          </a:p>
        </p:txBody>
      </p:sp>
      <p:sp>
        <p:nvSpPr>
          <p:cNvPr id="13" name="Shape 11"/>
          <p:cNvSpPr/>
          <p:nvPr/>
        </p:nvSpPr>
        <p:spPr>
          <a:xfrm>
            <a:off x="640080" y="3200400"/>
            <a:ext cx="2542032" cy="2651760"/>
          </a:xfrm>
          <a:prstGeom prst="roundRect">
            <a:avLst>
              <a:gd name="adj" fmla="val 2518"/>
            </a:avLst>
          </a:prstGeom>
          <a:solidFill>
            <a:srgbClr val="F4F7F8"/>
          </a:solidFill>
          <a:ln w="9525">
            <a:solidFill>
              <a:srgbClr val="DDE2E2"/>
            </a:solidFill>
            <a:prstDash val="solid"/>
          </a:ln>
        </p:spPr>
      </p:sp>
      <p:sp>
        <p:nvSpPr>
          <p:cNvPr id="14" name="Shape 12"/>
          <p:cNvSpPr/>
          <p:nvPr/>
        </p:nvSpPr>
        <p:spPr>
          <a:xfrm>
            <a:off x="896112" y="3429000"/>
            <a:ext cx="274320" cy="274320"/>
          </a:xfrm>
          <a:prstGeom prst="ellipse">
            <a:avLst/>
          </a:prstGeom>
          <a:solidFill>
            <a:srgbClr val="00AD93"/>
          </a:solidFill>
          <a:ln w="12700">
            <a:solidFill>
              <a:srgbClr val="00AD93"/>
            </a:solidFill>
            <a:prstDash val="solid"/>
          </a:ln>
        </p:spPr>
      </p:sp>
      <p:sp>
        <p:nvSpPr>
          <p:cNvPr id="15" name="Text 13"/>
          <p:cNvSpPr/>
          <p:nvPr/>
        </p:nvSpPr>
        <p:spPr>
          <a:xfrm>
            <a:off x="896112" y="3840480"/>
            <a:ext cx="2029968" cy="777240"/>
          </a:xfrm>
          <a:prstGeom prst="rect">
            <a:avLst/>
          </a:prstGeom>
          <a:noFill/>
          <a:ln/>
        </p:spPr>
        <p:txBody>
          <a:bodyPr wrap="square" lIns="0" tIns="0" rIns="0" bIns="0" rtlCol="0" anchor="ctr"/>
          <a:lstStyle/>
          <a:p>
            <a:pPr indent="0" marL="0">
              <a:buNone/>
            </a:pPr>
            <a:r>
              <a:rPr lang="en-US" sz="1550" b="1" dirty="0">
                <a:solidFill>
                  <a:srgbClr val="3E3E4B"/>
                </a:solidFill>
                <a:latin typeface="Calibri" pitchFamily="34" charset="0"/>
                <a:ea typeface="Calibri" pitchFamily="34" charset="-122"/>
                <a:cs typeface="Calibri" pitchFamily="34" charset="-120"/>
              </a:rPr>
              <a:t>Customer-controlled public IPs</a:t>
            </a:r>
            <a:endParaRPr lang="en-US" sz="1550" dirty="0"/>
          </a:p>
        </p:txBody>
      </p:sp>
      <p:sp>
        <p:nvSpPr>
          <p:cNvPr id="16" name="Text 14"/>
          <p:cNvSpPr/>
          <p:nvPr/>
        </p:nvSpPr>
        <p:spPr>
          <a:xfrm>
            <a:off x="896112" y="4617720"/>
            <a:ext cx="2029968" cy="109728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Egress addresses belong to the customer, not the platform.</a:t>
            </a:r>
            <a:endParaRPr lang="en-US" sz="1250" dirty="0"/>
          </a:p>
        </p:txBody>
      </p:sp>
      <p:sp>
        <p:nvSpPr>
          <p:cNvPr id="17" name="Shape 15"/>
          <p:cNvSpPr/>
          <p:nvPr/>
        </p:nvSpPr>
        <p:spPr>
          <a:xfrm>
            <a:off x="3429000" y="3200400"/>
            <a:ext cx="2542032" cy="2651760"/>
          </a:xfrm>
          <a:prstGeom prst="roundRect">
            <a:avLst>
              <a:gd name="adj" fmla="val 2518"/>
            </a:avLst>
          </a:prstGeom>
          <a:solidFill>
            <a:srgbClr val="F4F7F8"/>
          </a:solidFill>
          <a:ln w="9525">
            <a:solidFill>
              <a:srgbClr val="DDE2E2"/>
            </a:solidFill>
            <a:prstDash val="solid"/>
          </a:ln>
        </p:spPr>
      </p:sp>
      <p:sp>
        <p:nvSpPr>
          <p:cNvPr id="18" name="Shape 16"/>
          <p:cNvSpPr/>
          <p:nvPr/>
        </p:nvSpPr>
        <p:spPr>
          <a:xfrm>
            <a:off x="3685032" y="3429000"/>
            <a:ext cx="274320" cy="274320"/>
          </a:xfrm>
          <a:prstGeom prst="ellipse">
            <a:avLst/>
          </a:prstGeom>
          <a:solidFill>
            <a:srgbClr val="00AD93"/>
          </a:solidFill>
          <a:ln w="12700">
            <a:solidFill>
              <a:srgbClr val="00AD93"/>
            </a:solidFill>
            <a:prstDash val="solid"/>
          </a:ln>
        </p:spPr>
      </p:sp>
      <p:sp>
        <p:nvSpPr>
          <p:cNvPr id="19" name="Text 17"/>
          <p:cNvSpPr/>
          <p:nvPr/>
        </p:nvSpPr>
        <p:spPr>
          <a:xfrm>
            <a:off x="3685032" y="3840480"/>
            <a:ext cx="2029968" cy="777240"/>
          </a:xfrm>
          <a:prstGeom prst="rect">
            <a:avLst/>
          </a:prstGeom>
          <a:noFill/>
          <a:ln/>
        </p:spPr>
        <p:txBody>
          <a:bodyPr wrap="square" lIns="0" tIns="0" rIns="0" bIns="0" rtlCol="0" anchor="ctr"/>
          <a:lstStyle/>
          <a:p>
            <a:pPr indent="0" marL="0">
              <a:buNone/>
            </a:pPr>
            <a:r>
              <a:rPr lang="en-US" sz="1550" b="1" dirty="0">
                <a:solidFill>
                  <a:srgbClr val="3E3E4B"/>
                </a:solidFill>
                <a:latin typeface="Calibri" pitchFamily="34" charset="0"/>
                <a:ea typeface="Calibri" pitchFamily="34" charset="-122"/>
                <a:cs typeface="Calibri" pitchFamily="34" charset="-120"/>
              </a:rPr>
              <a:t>Full visibility</a:t>
            </a:r>
            <a:endParaRPr lang="en-US" sz="1550" dirty="0"/>
          </a:p>
        </p:txBody>
      </p:sp>
      <p:sp>
        <p:nvSpPr>
          <p:cNvPr id="20" name="Text 18"/>
          <p:cNvSpPr/>
          <p:nvPr/>
        </p:nvSpPr>
        <p:spPr>
          <a:xfrm>
            <a:off x="3685032" y="4617720"/>
            <a:ext cx="2029968" cy="109728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Firewall logs, NAT translations, connection state, and security events are all inspectable.</a:t>
            </a:r>
            <a:endParaRPr lang="en-US" sz="1250" dirty="0"/>
          </a:p>
        </p:txBody>
      </p:sp>
      <p:sp>
        <p:nvSpPr>
          <p:cNvPr id="21" name="Shape 19"/>
          <p:cNvSpPr/>
          <p:nvPr/>
        </p:nvSpPr>
        <p:spPr>
          <a:xfrm>
            <a:off x="6217920" y="3200400"/>
            <a:ext cx="2542032" cy="2651760"/>
          </a:xfrm>
          <a:prstGeom prst="roundRect">
            <a:avLst>
              <a:gd name="adj" fmla="val 2518"/>
            </a:avLst>
          </a:prstGeom>
          <a:solidFill>
            <a:srgbClr val="F4F7F8"/>
          </a:solidFill>
          <a:ln w="9525">
            <a:solidFill>
              <a:srgbClr val="DDE2E2"/>
            </a:solidFill>
            <a:prstDash val="solid"/>
          </a:ln>
        </p:spPr>
      </p:sp>
      <p:sp>
        <p:nvSpPr>
          <p:cNvPr id="22" name="Shape 20"/>
          <p:cNvSpPr/>
          <p:nvPr/>
        </p:nvSpPr>
        <p:spPr>
          <a:xfrm>
            <a:off x="6473952" y="3429000"/>
            <a:ext cx="274320" cy="274320"/>
          </a:xfrm>
          <a:prstGeom prst="ellipse">
            <a:avLst/>
          </a:prstGeom>
          <a:solidFill>
            <a:srgbClr val="00AD93"/>
          </a:solidFill>
          <a:ln w="12700">
            <a:solidFill>
              <a:srgbClr val="00AD93"/>
            </a:solidFill>
            <a:prstDash val="solid"/>
          </a:ln>
        </p:spPr>
      </p:sp>
      <p:sp>
        <p:nvSpPr>
          <p:cNvPr id="23" name="Text 21"/>
          <p:cNvSpPr/>
          <p:nvPr/>
        </p:nvSpPr>
        <p:spPr>
          <a:xfrm>
            <a:off x="6473952" y="3840480"/>
            <a:ext cx="2029968" cy="777240"/>
          </a:xfrm>
          <a:prstGeom prst="rect">
            <a:avLst/>
          </a:prstGeom>
          <a:noFill/>
          <a:ln/>
        </p:spPr>
        <p:txBody>
          <a:bodyPr wrap="square" lIns="0" tIns="0" rIns="0" bIns="0" rtlCol="0" anchor="ctr"/>
          <a:lstStyle/>
          <a:p>
            <a:pPr indent="0" marL="0">
              <a:buNone/>
            </a:pPr>
            <a:r>
              <a:rPr lang="en-US" sz="1550" b="1" dirty="0">
                <a:solidFill>
                  <a:srgbClr val="3E3E4B"/>
                </a:solidFill>
                <a:latin typeface="Calibri" pitchFamily="34" charset="0"/>
                <a:ea typeface="Calibri" pitchFamily="34" charset="-122"/>
                <a:cs typeface="Calibri" pitchFamily="34" charset="-120"/>
              </a:rPr>
              <a:t>Centralized policy</a:t>
            </a:r>
            <a:endParaRPr lang="en-US" sz="1550" dirty="0"/>
          </a:p>
        </p:txBody>
      </p:sp>
      <p:sp>
        <p:nvSpPr>
          <p:cNvPr id="24" name="Text 22"/>
          <p:cNvSpPr/>
          <p:nvPr/>
        </p:nvSpPr>
        <p:spPr>
          <a:xfrm>
            <a:off x="6473952" y="4617720"/>
            <a:ext cx="2029968" cy="109728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Egress policy is enforced in the same place as the rest of the Azure estate.</a:t>
            </a:r>
            <a:endParaRPr lang="en-US" sz="1250" dirty="0"/>
          </a:p>
        </p:txBody>
      </p:sp>
      <p:sp>
        <p:nvSpPr>
          <p:cNvPr id="25" name="Shape 23"/>
          <p:cNvSpPr/>
          <p:nvPr/>
        </p:nvSpPr>
        <p:spPr>
          <a:xfrm>
            <a:off x="9006840" y="3200400"/>
            <a:ext cx="2542032" cy="2651760"/>
          </a:xfrm>
          <a:prstGeom prst="roundRect">
            <a:avLst>
              <a:gd name="adj" fmla="val 2518"/>
            </a:avLst>
          </a:prstGeom>
          <a:solidFill>
            <a:srgbClr val="F4F7F8"/>
          </a:solidFill>
          <a:ln w="9525">
            <a:solidFill>
              <a:srgbClr val="DDE2E2"/>
            </a:solidFill>
            <a:prstDash val="solid"/>
          </a:ln>
        </p:spPr>
      </p:sp>
      <p:sp>
        <p:nvSpPr>
          <p:cNvPr id="26" name="Shape 24"/>
          <p:cNvSpPr/>
          <p:nvPr/>
        </p:nvSpPr>
        <p:spPr>
          <a:xfrm>
            <a:off x="9262872" y="3429000"/>
            <a:ext cx="274320" cy="274320"/>
          </a:xfrm>
          <a:prstGeom prst="ellipse">
            <a:avLst/>
          </a:prstGeom>
          <a:solidFill>
            <a:srgbClr val="00AD93"/>
          </a:solidFill>
          <a:ln w="12700">
            <a:solidFill>
              <a:srgbClr val="00AD93"/>
            </a:solidFill>
            <a:prstDash val="solid"/>
          </a:ln>
        </p:spPr>
      </p:sp>
      <p:sp>
        <p:nvSpPr>
          <p:cNvPr id="27" name="Text 25"/>
          <p:cNvSpPr/>
          <p:nvPr/>
        </p:nvSpPr>
        <p:spPr>
          <a:xfrm>
            <a:off x="9262872" y="3840480"/>
            <a:ext cx="2029968" cy="777240"/>
          </a:xfrm>
          <a:prstGeom prst="rect">
            <a:avLst/>
          </a:prstGeom>
          <a:noFill/>
          <a:ln/>
        </p:spPr>
        <p:txBody>
          <a:bodyPr wrap="square" lIns="0" tIns="0" rIns="0" bIns="0" rtlCol="0" anchor="ctr"/>
          <a:lstStyle/>
          <a:p>
            <a:pPr indent="0" marL="0">
              <a:buNone/>
            </a:pPr>
            <a:r>
              <a:rPr lang="en-US" sz="1550" b="1" dirty="0">
                <a:solidFill>
                  <a:srgbClr val="3E3E4B"/>
                </a:solidFill>
                <a:latin typeface="Calibri" pitchFamily="34" charset="0"/>
                <a:ea typeface="Calibri" pitchFamily="34" charset="-122"/>
                <a:cs typeface="Calibri" pitchFamily="34" charset="-120"/>
              </a:rPr>
              <a:t>Real troubleshooting</a:t>
            </a:r>
            <a:endParaRPr lang="en-US" sz="1550" dirty="0"/>
          </a:p>
        </p:txBody>
      </p:sp>
      <p:sp>
        <p:nvSpPr>
          <p:cNvPr id="28" name="Text 26"/>
          <p:cNvSpPr/>
          <p:nvPr/>
        </p:nvSpPr>
        <p:spPr>
          <a:xfrm>
            <a:off x="9262872" y="4617720"/>
            <a:ext cx="2029968" cy="109728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A measurable improvement over the Generation 1 black-box service.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INTERNET EGRESS · GENERATION 2</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The route that makes the design work</a:t>
            </a:r>
            <a:endParaRPr lang="en-US" sz="3400" dirty="0"/>
          </a:p>
        </p:txBody>
      </p:sp>
      <p:sp>
        <p:nvSpPr>
          <p:cNvPr id="4" name="Shape 2"/>
          <p:cNvSpPr/>
          <p:nvPr/>
        </p:nvSpPr>
        <p:spPr>
          <a:xfrm>
            <a:off x="640080" y="1600200"/>
            <a:ext cx="1965960" cy="1005840"/>
          </a:xfrm>
          <a:prstGeom prst="roundRect">
            <a:avLst>
              <a:gd name="adj" fmla="val 6364"/>
            </a:avLst>
          </a:prstGeom>
          <a:solidFill>
            <a:srgbClr val="F4F7F8"/>
          </a:solidFill>
          <a:ln w="9525">
            <a:solidFill>
              <a:srgbClr val="DDE2E2"/>
            </a:solidFill>
            <a:prstDash val="solid"/>
          </a:ln>
        </p:spPr>
      </p:sp>
      <p:sp>
        <p:nvSpPr>
          <p:cNvPr id="5" name="Text 3"/>
          <p:cNvSpPr/>
          <p:nvPr/>
        </p:nvSpPr>
        <p:spPr>
          <a:xfrm>
            <a:off x="749808" y="1600200"/>
            <a:ext cx="1746504" cy="1005840"/>
          </a:xfrm>
          <a:prstGeom prst="rect">
            <a:avLst/>
          </a:prstGeom>
          <a:noFill/>
          <a:ln/>
        </p:spPr>
        <p:txBody>
          <a:bodyPr wrap="square" lIns="0" tIns="0" rIns="0" bIns="0" rtlCol="0" anchor="ctr"/>
          <a:lstStyle/>
          <a:p>
            <a:pPr algn="ctr" indent="0" marL="0">
              <a:buNone/>
            </a:pPr>
            <a:r>
              <a:rPr lang="en-US" sz="1350" b="1" dirty="0">
                <a:solidFill>
                  <a:srgbClr val="3E3E4B"/>
                </a:solidFill>
                <a:latin typeface="Calibri" pitchFamily="34" charset="0"/>
                <a:ea typeface="Calibri" pitchFamily="34" charset="-122"/>
                <a:cs typeface="Calibri" pitchFamily="34" charset="-120"/>
              </a:rPr>
              <a:t>AVS workloads</a:t>
            </a:r>
            <a:endParaRPr lang="en-US" sz="1350" dirty="0"/>
          </a:p>
        </p:txBody>
      </p:sp>
      <p:sp>
        <p:nvSpPr>
          <p:cNvPr id="6" name="Shape 4"/>
          <p:cNvSpPr/>
          <p:nvPr/>
        </p:nvSpPr>
        <p:spPr>
          <a:xfrm>
            <a:off x="2651760" y="1993392"/>
            <a:ext cx="173736" cy="219456"/>
          </a:xfrm>
          <a:prstGeom prst="rightArrow">
            <a:avLst/>
          </a:prstGeom>
          <a:solidFill>
            <a:srgbClr val="8DB9D9"/>
          </a:solidFill>
          <a:ln w="12700">
            <a:solidFill>
              <a:srgbClr val="8DB9D9"/>
            </a:solidFill>
            <a:prstDash val="solid"/>
          </a:ln>
        </p:spPr>
      </p:sp>
      <p:sp>
        <p:nvSpPr>
          <p:cNvPr id="7" name="Shape 5"/>
          <p:cNvSpPr/>
          <p:nvPr/>
        </p:nvSpPr>
        <p:spPr>
          <a:xfrm>
            <a:off x="2871216" y="1600200"/>
            <a:ext cx="1965960" cy="1005840"/>
          </a:xfrm>
          <a:prstGeom prst="roundRect">
            <a:avLst>
              <a:gd name="adj" fmla="val 6364"/>
            </a:avLst>
          </a:prstGeom>
          <a:solidFill>
            <a:srgbClr val="F4F7F8"/>
          </a:solidFill>
          <a:ln w="9525">
            <a:solidFill>
              <a:srgbClr val="DDE2E2"/>
            </a:solidFill>
            <a:prstDash val="solid"/>
          </a:ln>
        </p:spPr>
      </p:sp>
      <p:sp>
        <p:nvSpPr>
          <p:cNvPr id="8" name="Text 6"/>
          <p:cNvSpPr/>
          <p:nvPr/>
        </p:nvSpPr>
        <p:spPr>
          <a:xfrm>
            <a:off x="2980944" y="1600200"/>
            <a:ext cx="1746504" cy="1005840"/>
          </a:xfrm>
          <a:prstGeom prst="rect">
            <a:avLst/>
          </a:prstGeom>
          <a:noFill/>
          <a:ln/>
        </p:spPr>
        <p:txBody>
          <a:bodyPr wrap="square" lIns="0" tIns="0" rIns="0" bIns="0" rtlCol="0" anchor="ctr"/>
          <a:lstStyle/>
          <a:p>
            <a:pPr algn="ctr" indent="0" marL="0">
              <a:buNone/>
            </a:pPr>
            <a:r>
              <a:rPr lang="en-US" sz="1350" b="1" dirty="0">
                <a:solidFill>
                  <a:srgbClr val="3E3E4B"/>
                </a:solidFill>
                <a:latin typeface="Calibri" pitchFamily="34" charset="0"/>
                <a:ea typeface="Calibri" pitchFamily="34" charset="-122"/>
                <a:cs typeface="Calibri" pitchFamily="34" charset="-120"/>
              </a:rPr>
              <a:t>NSX-T Tier-0</a:t>
            </a:r>
            <a:endParaRPr lang="en-US" sz="1350" dirty="0"/>
          </a:p>
        </p:txBody>
      </p:sp>
      <p:sp>
        <p:nvSpPr>
          <p:cNvPr id="9" name="Shape 7"/>
          <p:cNvSpPr/>
          <p:nvPr/>
        </p:nvSpPr>
        <p:spPr>
          <a:xfrm>
            <a:off x="4882896" y="1993392"/>
            <a:ext cx="173736" cy="219456"/>
          </a:xfrm>
          <a:prstGeom prst="rightArrow">
            <a:avLst/>
          </a:prstGeom>
          <a:solidFill>
            <a:srgbClr val="8DB9D9"/>
          </a:solidFill>
          <a:ln w="12700">
            <a:solidFill>
              <a:srgbClr val="8DB9D9"/>
            </a:solidFill>
            <a:prstDash val="solid"/>
          </a:ln>
        </p:spPr>
      </p:sp>
      <p:sp>
        <p:nvSpPr>
          <p:cNvPr id="10" name="Shape 8"/>
          <p:cNvSpPr/>
          <p:nvPr/>
        </p:nvSpPr>
        <p:spPr>
          <a:xfrm>
            <a:off x="5102352" y="1600200"/>
            <a:ext cx="1965960" cy="1005840"/>
          </a:xfrm>
          <a:prstGeom prst="roundRect">
            <a:avLst>
              <a:gd name="adj" fmla="val 6364"/>
            </a:avLst>
          </a:prstGeom>
          <a:solidFill>
            <a:srgbClr val="00B3E2"/>
          </a:solidFill>
          <a:ln w="9525">
            <a:solidFill>
              <a:srgbClr val="00B3E2"/>
            </a:solidFill>
            <a:prstDash val="solid"/>
          </a:ln>
        </p:spPr>
      </p:sp>
      <p:sp>
        <p:nvSpPr>
          <p:cNvPr id="11" name="Text 9"/>
          <p:cNvSpPr/>
          <p:nvPr/>
        </p:nvSpPr>
        <p:spPr>
          <a:xfrm>
            <a:off x="5212080" y="1600200"/>
            <a:ext cx="1746504" cy="10058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avs-nsx-gw</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avs-nsx-gw-1</a:t>
            </a:r>
            <a:endParaRPr lang="en-US" sz="1350" dirty="0"/>
          </a:p>
        </p:txBody>
      </p:sp>
      <p:sp>
        <p:nvSpPr>
          <p:cNvPr id="12" name="Shape 10"/>
          <p:cNvSpPr/>
          <p:nvPr/>
        </p:nvSpPr>
        <p:spPr>
          <a:xfrm>
            <a:off x="7114032" y="1993392"/>
            <a:ext cx="173736" cy="219456"/>
          </a:xfrm>
          <a:prstGeom prst="rightArrow">
            <a:avLst/>
          </a:prstGeom>
          <a:solidFill>
            <a:srgbClr val="8DB9D9"/>
          </a:solidFill>
          <a:ln w="12700">
            <a:solidFill>
              <a:srgbClr val="8DB9D9"/>
            </a:solidFill>
            <a:prstDash val="solid"/>
          </a:ln>
        </p:spPr>
      </p:sp>
      <p:sp>
        <p:nvSpPr>
          <p:cNvPr id="13" name="Shape 11"/>
          <p:cNvSpPr/>
          <p:nvPr/>
        </p:nvSpPr>
        <p:spPr>
          <a:xfrm>
            <a:off x="7333488" y="1600200"/>
            <a:ext cx="1965960" cy="1005840"/>
          </a:xfrm>
          <a:prstGeom prst="roundRect">
            <a:avLst>
              <a:gd name="adj" fmla="val 6364"/>
            </a:avLst>
          </a:prstGeom>
          <a:solidFill>
            <a:srgbClr val="F4F7F8"/>
          </a:solidFill>
          <a:ln w="9525">
            <a:solidFill>
              <a:srgbClr val="DDE2E2"/>
            </a:solidFill>
            <a:prstDash val="solid"/>
          </a:ln>
        </p:spPr>
      </p:sp>
      <p:sp>
        <p:nvSpPr>
          <p:cNvPr id="14" name="Text 12"/>
          <p:cNvSpPr/>
          <p:nvPr/>
        </p:nvSpPr>
        <p:spPr>
          <a:xfrm>
            <a:off x="7443216" y="1600200"/>
            <a:ext cx="1746504" cy="1005840"/>
          </a:xfrm>
          <a:prstGeom prst="rect">
            <a:avLst/>
          </a:prstGeom>
          <a:noFill/>
          <a:ln/>
        </p:spPr>
        <p:txBody>
          <a:bodyPr wrap="square" lIns="0" tIns="0" rIns="0" bIns="0" rtlCol="0" anchor="ctr"/>
          <a:lstStyle/>
          <a:p>
            <a:pPr algn="ctr" indent="0" marL="0">
              <a:buNone/>
            </a:pPr>
            <a:r>
              <a:rPr lang="en-US" sz="1350" b="1" dirty="0">
                <a:solidFill>
                  <a:srgbClr val="3E3E4B"/>
                </a:solidFill>
                <a:latin typeface="Calibri" pitchFamily="34" charset="0"/>
                <a:ea typeface="Calibri" pitchFamily="34" charset="-122"/>
                <a:cs typeface="Calibri" pitchFamily="34" charset="-120"/>
              </a:rPr>
              <a:t>Firewall or NVA</a:t>
            </a:r>
            <a:endParaRPr lang="en-US" sz="1350" dirty="0"/>
          </a:p>
        </p:txBody>
      </p:sp>
      <p:sp>
        <p:nvSpPr>
          <p:cNvPr id="15" name="Shape 13"/>
          <p:cNvSpPr/>
          <p:nvPr/>
        </p:nvSpPr>
        <p:spPr>
          <a:xfrm>
            <a:off x="9345168" y="1993392"/>
            <a:ext cx="173736" cy="219456"/>
          </a:xfrm>
          <a:prstGeom prst="rightArrow">
            <a:avLst/>
          </a:prstGeom>
          <a:solidFill>
            <a:srgbClr val="8DB9D9"/>
          </a:solidFill>
          <a:ln w="12700">
            <a:solidFill>
              <a:srgbClr val="8DB9D9"/>
            </a:solidFill>
            <a:prstDash val="solid"/>
          </a:ln>
        </p:spPr>
      </p:sp>
      <p:sp>
        <p:nvSpPr>
          <p:cNvPr id="16" name="Shape 14"/>
          <p:cNvSpPr/>
          <p:nvPr/>
        </p:nvSpPr>
        <p:spPr>
          <a:xfrm>
            <a:off x="9564624" y="1600200"/>
            <a:ext cx="1965960" cy="1005840"/>
          </a:xfrm>
          <a:prstGeom prst="roundRect">
            <a:avLst>
              <a:gd name="adj" fmla="val 6364"/>
            </a:avLst>
          </a:prstGeom>
          <a:solidFill>
            <a:srgbClr val="F4F7F8"/>
          </a:solidFill>
          <a:ln w="9525">
            <a:solidFill>
              <a:srgbClr val="DDE2E2"/>
            </a:solidFill>
            <a:prstDash val="solid"/>
          </a:ln>
        </p:spPr>
      </p:sp>
      <p:sp>
        <p:nvSpPr>
          <p:cNvPr id="17" name="Text 15"/>
          <p:cNvSpPr/>
          <p:nvPr/>
        </p:nvSpPr>
        <p:spPr>
          <a:xfrm>
            <a:off x="9674352" y="1600200"/>
            <a:ext cx="1746504" cy="1005840"/>
          </a:xfrm>
          <a:prstGeom prst="rect">
            <a:avLst/>
          </a:prstGeom>
          <a:noFill/>
          <a:ln/>
        </p:spPr>
        <p:txBody>
          <a:bodyPr wrap="square" lIns="0" tIns="0" rIns="0" bIns="0" rtlCol="0" anchor="ctr"/>
          <a:lstStyle/>
          <a:p>
            <a:pPr algn="ctr" indent="0" marL="0">
              <a:buNone/>
            </a:pPr>
            <a:r>
              <a:rPr lang="en-US" sz="1350" b="1" dirty="0">
                <a:solidFill>
                  <a:srgbClr val="3E3E4B"/>
                </a:solidFill>
                <a:latin typeface="Calibri" pitchFamily="34" charset="0"/>
                <a:ea typeface="Calibri" pitchFamily="34" charset="-122"/>
                <a:cs typeface="Calibri" pitchFamily="34" charset="-120"/>
              </a:rPr>
              <a:t>Internet</a:t>
            </a:r>
            <a:endParaRPr lang="en-US" sz="1350" dirty="0"/>
          </a:p>
        </p:txBody>
      </p:sp>
      <p:sp>
        <p:nvSpPr>
          <p:cNvPr id="18" name="Shape 16"/>
          <p:cNvSpPr/>
          <p:nvPr/>
        </p:nvSpPr>
        <p:spPr>
          <a:xfrm>
            <a:off x="640080" y="2880360"/>
            <a:ext cx="5486400" cy="2971800"/>
          </a:xfrm>
          <a:prstGeom prst="roundRect">
            <a:avLst>
              <a:gd name="adj" fmla="val 2154"/>
            </a:avLst>
          </a:prstGeom>
          <a:solidFill>
            <a:srgbClr val="F4F7F8"/>
          </a:solidFill>
          <a:ln w="9525">
            <a:solidFill>
              <a:srgbClr val="DDE2E2"/>
            </a:solidFill>
            <a:prstDash val="solid"/>
          </a:ln>
        </p:spPr>
      </p:sp>
      <p:sp>
        <p:nvSpPr>
          <p:cNvPr id="19" name="Text 17"/>
          <p:cNvSpPr/>
          <p:nvPr/>
        </p:nvSpPr>
        <p:spPr>
          <a:xfrm>
            <a:off x="960120" y="3108960"/>
            <a:ext cx="4846320" cy="32004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The configuration</a:t>
            </a:r>
            <a:endParaRPr lang="en-US" sz="1800" dirty="0"/>
          </a:p>
        </p:txBody>
      </p:sp>
      <p:sp>
        <p:nvSpPr>
          <p:cNvPr id="20" name="Text 18"/>
          <p:cNvSpPr/>
          <p:nvPr/>
        </p:nvSpPr>
        <p:spPr>
          <a:xfrm>
            <a:off x="960120" y="3520440"/>
            <a:ext cx="4846320" cy="2103120"/>
          </a:xfrm>
          <a:prstGeom prst="rect">
            <a:avLst/>
          </a:prstGeom>
          <a:noFill/>
          <a:ln/>
        </p:spPr>
        <p:txBody>
          <a:bodyPr wrap="square" lIns="0" tIns="0" rIns="0" bIns="0" rtlCol="0" anchor="ctr"/>
          <a:lstStyle/>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A user-defined route directs 0.0.0.0/0 to the firewall's private IP address.</a:t>
            </a:r>
            <a:endParaRPr lang="en-US" sz="1400" dirty="0"/>
          </a:p>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The route table must be associated with the Generation 2 subnets avs-nsx-gw and avs-nsx-gw-1.</a:t>
            </a:r>
            <a:endParaRPr lang="en-US" sz="1400" dirty="0"/>
          </a:p>
          <a:p>
            <a:pPr marL="177800" indent="-177800">
              <a:spcAft>
                <a:spcPts val="900"/>
              </a:spcAft>
              <a:buSzPct val="100000"/>
              <a:buChar char="•"/>
            </a:pPr>
            <a:r>
              <a:rPr lang="en-US" sz="1400" dirty="0">
                <a:solidFill>
                  <a:srgbClr val="55555F"/>
                </a:solidFill>
                <a:latin typeface="Calibri" pitchFamily="34" charset="0"/>
                <a:ea typeface="Calibri" pitchFamily="34" charset="-122"/>
                <a:cs typeface="Calibri" pitchFamily="34" charset="-120"/>
              </a:rPr>
              <a:t>These are the AVS-specific NSX gateway uplink subnets in the virtual network associated with the private cloud.</a:t>
            </a:r>
            <a:endParaRPr lang="en-US" sz="1400" dirty="0"/>
          </a:p>
        </p:txBody>
      </p:sp>
      <p:sp>
        <p:nvSpPr>
          <p:cNvPr id="21" name="Shape 19"/>
          <p:cNvSpPr/>
          <p:nvPr/>
        </p:nvSpPr>
        <p:spPr>
          <a:xfrm>
            <a:off x="6519672" y="2880360"/>
            <a:ext cx="5029200" cy="1371600"/>
          </a:xfrm>
          <a:prstGeom prst="roundRect">
            <a:avLst>
              <a:gd name="adj" fmla="val 4667"/>
            </a:avLst>
          </a:prstGeom>
          <a:solidFill>
            <a:srgbClr val="E5F7FC"/>
          </a:solidFill>
          <a:ln w="9525">
            <a:solidFill>
              <a:srgbClr val="B2E8F6"/>
            </a:solidFill>
            <a:prstDash val="solid"/>
          </a:ln>
        </p:spPr>
      </p:sp>
      <p:sp>
        <p:nvSpPr>
          <p:cNvPr id="22" name="Text 20"/>
          <p:cNvSpPr/>
          <p:nvPr/>
        </p:nvSpPr>
        <p:spPr>
          <a:xfrm>
            <a:off x="6839712" y="3063240"/>
            <a:ext cx="4389120" cy="292608"/>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Why at the transit layer</a:t>
            </a:r>
            <a:endParaRPr lang="en-US" sz="1500" dirty="0"/>
          </a:p>
        </p:txBody>
      </p:sp>
      <p:sp>
        <p:nvSpPr>
          <p:cNvPr id="23" name="Text 21"/>
          <p:cNvSpPr/>
          <p:nvPr/>
        </p:nvSpPr>
        <p:spPr>
          <a:xfrm>
            <a:off x="6839712" y="3383280"/>
            <a:ext cx="4389120" cy="777240"/>
          </a:xfrm>
          <a:prstGeom prst="rect">
            <a:avLst/>
          </a:prstGeom>
          <a:noFill/>
          <a:ln/>
        </p:spPr>
        <p:txBody>
          <a:bodyPr wrap="square" lIns="0" tIns="0" rIns="0" bIns="0" rtlCol="0" anchor="ctr"/>
          <a:lstStyle/>
          <a:p>
            <a:pPr indent="0" marL="0">
              <a:buNone/>
            </a:pPr>
            <a:r>
              <a:rPr lang="en-US" sz="1250" dirty="0">
                <a:solidFill>
                  <a:srgbClr val="1A5F7A"/>
                </a:solidFill>
                <a:latin typeface="Calibri" pitchFamily="34" charset="0"/>
                <a:ea typeface="Calibri" pitchFamily="34" charset="-122"/>
                <a:cs typeface="Calibri" pitchFamily="34" charset="-120"/>
              </a:rPr>
              <a:t>These subnets are the injection point between Azure's software-defined routers and the NSX-T Tier-0 layer. Applying the UDR there forces internet-bound traffic into the inspection path rather than relying on dynamically learned default routes.</a:t>
            </a:r>
            <a:endParaRPr lang="en-US" sz="1250" dirty="0"/>
          </a:p>
        </p:txBody>
      </p:sp>
      <p:sp>
        <p:nvSpPr>
          <p:cNvPr id="24" name="Shape 22"/>
          <p:cNvSpPr/>
          <p:nvPr/>
        </p:nvSpPr>
        <p:spPr>
          <a:xfrm>
            <a:off x="6519672" y="4480560"/>
            <a:ext cx="5029200" cy="1371600"/>
          </a:xfrm>
          <a:prstGeom prst="roundRect">
            <a:avLst>
              <a:gd name="adj" fmla="val 4667"/>
            </a:avLst>
          </a:prstGeom>
          <a:solidFill>
            <a:srgbClr val="FDF0EB"/>
          </a:solidFill>
          <a:ln w="9525">
            <a:solidFill>
              <a:srgbClr val="F6C9B4"/>
            </a:solidFill>
            <a:prstDash val="solid"/>
          </a:ln>
        </p:spPr>
      </p:sp>
      <p:sp>
        <p:nvSpPr>
          <p:cNvPr id="25" name="Text 23"/>
          <p:cNvSpPr/>
          <p:nvPr/>
        </p:nvSpPr>
        <p:spPr>
          <a:xfrm>
            <a:off x="6839712" y="4663440"/>
            <a:ext cx="4389120" cy="292608"/>
          </a:xfrm>
          <a:prstGeom prst="rect">
            <a:avLst/>
          </a:prstGeom>
          <a:noFill/>
          <a:ln/>
        </p:spPr>
        <p:txBody>
          <a:bodyPr wrap="square" lIns="0" tIns="0" rIns="0" bIns="0" rtlCol="0" anchor="ctr"/>
          <a:lstStyle/>
          <a:p>
            <a:pPr indent="0" marL="0">
              <a:buNone/>
            </a:pPr>
            <a:r>
              <a:rPr lang="en-US" sz="1500" b="1" dirty="0">
                <a:solidFill>
                  <a:srgbClr val="F15D23"/>
                </a:solidFill>
                <a:latin typeface="Calibri" pitchFamily="34" charset="0"/>
                <a:ea typeface="Calibri" pitchFamily="34" charset="-122"/>
                <a:cs typeface="Calibri" pitchFamily="34" charset="-120"/>
              </a:rPr>
              <a:t>What it prevents</a:t>
            </a:r>
            <a:endParaRPr lang="en-US" sz="1500" dirty="0"/>
          </a:p>
        </p:txBody>
      </p:sp>
      <p:sp>
        <p:nvSpPr>
          <p:cNvPr id="26" name="Text 24"/>
          <p:cNvSpPr/>
          <p:nvPr/>
        </p:nvSpPr>
        <p:spPr>
          <a:xfrm>
            <a:off x="6839712" y="4983480"/>
            <a:ext cx="4389120" cy="7772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A BGP-learned default route can send outbound traffic through Azure Firewall while return traffic arrives via ExpressRoute. A stateful firewall drops return traffic it never saw open. The targeted UDR keeps the path symmetric.</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HYBRID CONNECTIVITY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Connecting multiple private clouds</a:t>
            </a:r>
            <a:endParaRPr lang="en-US" sz="3400" dirty="0"/>
          </a:p>
        </p:txBody>
      </p:sp>
      <p:sp>
        <p:nvSpPr>
          <p:cNvPr id="4" name="Shape 2"/>
          <p:cNvSpPr/>
          <p:nvPr/>
        </p:nvSpPr>
        <p:spPr>
          <a:xfrm>
            <a:off x="640080" y="1600200"/>
            <a:ext cx="5257800" cy="4251960"/>
          </a:xfrm>
          <a:prstGeom prst="roundRect">
            <a:avLst>
              <a:gd name="adj" fmla="val 1505"/>
            </a:avLst>
          </a:prstGeom>
          <a:solidFill>
            <a:srgbClr val="F4F7F8"/>
          </a:solidFill>
          <a:ln w="9525">
            <a:solidFill>
              <a:srgbClr val="DDE2E2"/>
            </a:solidFill>
            <a:prstDash val="solid"/>
          </a:ln>
        </p:spPr>
      </p:sp>
      <p:sp>
        <p:nvSpPr>
          <p:cNvPr id="5" name="Shape 3"/>
          <p:cNvSpPr/>
          <p:nvPr/>
        </p:nvSpPr>
        <p:spPr>
          <a:xfrm>
            <a:off x="640080" y="1600200"/>
            <a:ext cx="5257800" cy="566928"/>
          </a:xfrm>
          <a:prstGeom prst="roundRect">
            <a:avLst>
              <a:gd name="adj" fmla="val 11290"/>
            </a:avLst>
          </a:prstGeom>
          <a:solidFill>
            <a:srgbClr val="3E3E4B"/>
          </a:solidFill>
          <a:ln w="12700">
            <a:solidFill>
              <a:srgbClr val="3E3E4B"/>
            </a:solidFill>
            <a:prstDash val="solid"/>
          </a:ln>
        </p:spPr>
      </p:sp>
      <p:sp>
        <p:nvSpPr>
          <p:cNvPr id="6" name="Text 4"/>
          <p:cNvSpPr/>
          <p:nvPr/>
        </p:nvSpPr>
        <p:spPr>
          <a:xfrm>
            <a:off x="960120" y="1600200"/>
            <a:ext cx="4617720" cy="56692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Generation 1  ·  AVS Interconnect</a:t>
            </a:r>
            <a:endParaRPr lang="en-US" sz="1600" dirty="0"/>
          </a:p>
        </p:txBody>
      </p:sp>
      <p:sp>
        <p:nvSpPr>
          <p:cNvPr id="7" name="Text 5"/>
          <p:cNvSpPr/>
          <p:nvPr/>
        </p:nvSpPr>
        <p:spPr>
          <a:xfrm>
            <a:off x="960120" y="2377440"/>
            <a:ext cx="4617720" cy="1737360"/>
          </a:xfrm>
          <a:prstGeom prst="rect">
            <a:avLst/>
          </a:prstGeom>
          <a:noFill/>
          <a:ln/>
        </p:spPr>
        <p:txBody>
          <a:bodyPr wrap="square" lIns="0" tIns="0" rIns="0" bIns="0" rtlCol="0" anchor="ctr"/>
          <a:lstStyle/>
          <a:p>
            <a:pPr marL="177800" indent="-177800">
              <a:spcAft>
                <a:spcPts val="800"/>
              </a:spcAft>
              <a:buSzPct val="100000"/>
              <a:buChar char="•"/>
            </a:pPr>
            <a:r>
              <a:rPr lang="en-US" sz="1350" dirty="0">
                <a:solidFill>
                  <a:srgbClr val="55555F"/>
                </a:solidFill>
                <a:latin typeface="Calibri" pitchFamily="34" charset="0"/>
                <a:ea typeface="Calibri" pitchFamily="34" charset="-122"/>
                <a:cs typeface="Calibri" pitchFamily="34" charset="-120"/>
              </a:rPr>
              <a:t>AVS Interconnect linked multiple private clouds and was explicitly non-transitive.</a:t>
            </a:r>
            <a:endParaRPr lang="en-US" sz="1350" dirty="0"/>
          </a:p>
          <a:p>
            <a:pPr marL="177800" indent="-177800">
              <a:spcAft>
                <a:spcPts val="800"/>
              </a:spcAft>
              <a:buSzPct val="100000"/>
              <a:buChar char="•"/>
            </a:pPr>
            <a:r>
              <a:rPr lang="en-US" sz="1350" dirty="0">
                <a:solidFill>
                  <a:srgbClr val="55555F"/>
                </a:solidFill>
                <a:latin typeface="Calibri" pitchFamily="34" charset="0"/>
                <a:ea typeface="Calibri" pitchFamily="34" charset="-122"/>
                <a:cs typeface="Calibri" pitchFamily="34" charset="-120"/>
              </a:rPr>
              <a:t>If Cloud A connects to Cloud B, and Cloud B connects to Cloud C, then A cannot reach C through B.</a:t>
            </a:r>
            <a:endParaRPr lang="en-US" sz="1350" dirty="0"/>
          </a:p>
          <a:p>
            <a:pPr marL="177800" indent="-177800">
              <a:spcAft>
                <a:spcPts val="800"/>
              </a:spcAft>
              <a:buSzPct val="100000"/>
              <a:buChar char="•"/>
            </a:pPr>
            <a:r>
              <a:rPr lang="en-US" sz="1350" dirty="0">
                <a:solidFill>
                  <a:srgbClr val="55555F"/>
                </a:solidFill>
                <a:latin typeface="Calibri" pitchFamily="34" charset="0"/>
                <a:ea typeface="Calibri" pitchFamily="34" charset="-122"/>
                <a:cs typeface="Calibri" pitchFamily="34" charset="-120"/>
              </a:rPr>
              <a:t>Architects used to hub-and-spoke transit often see this as a limitation requiring direct or full-mesh connections.</a:t>
            </a:r>
            <a:endParaRPr lang="en-US" sz="1350" dirty="0"/>
          </a:p>
        </p:txBody>
      </p:sp>
      <p:sp>
        <p:nvSpPr>
          <p:cNvPr id="8" name="Shape 6"/>
          <p:cNvSpPr/>
          <p:nvPr/>
        </p:nvSpPr>
        <p:spPr>
          <a:xfrm>
            <a:off x="960120" y="4114800"/>
            <a:ext cx="4617720" cy="1508760"/>
          </a:xfrm>
          <a:prstGeom prst="roundRect">
            <a:avLst>
              <a:gd name="adj" fmla="val 4242"/>
            </a:avLst>
          </a:prstGeom>
          <a:solidFill>
            <a:srgbClr val="E5F7FC"/>
          </a:solidFill>
          <a:ln w="9525">
            <a:solidFill>
              <a:srgbClr val="B2E8F6"/>
            </a:solidFill>
            <a:prstDash val="solid"/>
          </a:ln>
        </p:spPr>
      </p:sp>
      <p:sp>
        <p:nvSpPr>
          <p:cNvPr id="9" name="Text 7"/>
          <p:cNvSpPr/>
          <p:nvPr/>
        </p:nvSpPr>
        <p:spPr>
          <a:xfrm>
            <a:off x="1188720" y="4279392"/>
            <a:ext cx="4160520" cy="274320"/>
          </a:xfrm>
          <a:prstGeom prst="rect">
            <a:avLst/>
          </a:prstGeom>
          <a:noFill/>
          <a:ln/>
        </p:spPr>
        <p:txBody>
          <a:bodyPr wrap="square" lIns="0" tIns="0" rIns="0" bIns="0" rtlCol="0" anchor="ctr"/>
          <a:lstStyle/>
          <a:p>
            <a:pPr indent="0" marL="0">
              <a:buNone/>
            </a:pPr>
            <a:r>
              <a:rPr lang="en-US" sz="1400" b="1" dirty="0">
                <a:solidFill>
                  <a:srgbClr val="3E3E4B"/>
                </a:solidFill>
                <a:latin typeface="Calibri" pitchFamily="34" charset="0"/>
                <a:ea typeface="Calibri" pitchFamily="34" charset="-122"/>
                <a:cs typeface="Calibri" pitchFamily="34" charset="-120"/>
              </a:rPr>
              <a:t>Why non-transitive is deliberate</a:t>
            </a:r>
            <a:endParaRPr lang="en-US" sz="1400" dirty="0"/>
          </a:p>
        </p:txBody>
      </p:sp>
      <p:sp>
        <p:nvSpPr>
          <p:cNvPr id="10" name="Text 8"/>
          <p:cNvSpPr/>
          <p:nvPr/>
        </p:nvSpPr>
        <p:spPr>
          <a:xfrm>
            <a:off x="1188720" y="4572000"/>
            <a:ext cx="4160520" cy="960120"/>
          </a:xfrm>
          <a:prstGeom prst="rect">
            <a:avLst/>
          </a:prstGeom>
          <a:noFill/>
          <a:ln/>
        </p:spPr>
        <p:txBody>
          <a:bodyPr wrap="square" lIns="0" tIns="0" rIns="0" bIns="0" rtlCol="0" anchor="ctr"/>
          <a:lstStyle/>
          <a:p>
            <a:pPr indent="0" marL="0">
              <a:buNone/>
            </a:pPr>
            <a:r>
              <a:rPr lang="en-US" sz="1200" dirty="0">
                <a:solidFill>
                  <a:srgbClr val="1A5F7A"/>
                </a:solidFill>
                <a:latin typeface="Calibri" pitchFamily="34" charset="0"/>
                <a:ea typeface="Calibri" pitchFamily="34" charset="-122"/>
                <a:cs typeface="Calibri" pitchFamily="34" charset="-120"/>
              </a:rPr>
              <a:t>Interconnect traffic runs over dedicated ExpressRoute infrastructure. Letting one cloud act as a transit hub would force its edge devices to carry unrelated traffic, creating a noisy-neighbor condition. Non-transitivity protects performance isolation, failure-domain boundaries, and latency predictability.</a:t>
            </a:r>
            <a:endParaRPr lang="en-US" sz="1200" dirty="0"/>
          </a:p>
        </p:txBody>
      </p:sp>
      <p:sp>
        <p:nvSpPr>
          <p:cNvPr id="11" name="Shape 9"/>
          <p:cNvSpPr/>
          <p:nvPr/>
        </p:nvSpPr>
        <p:spPr>
          <a:xfrm>
            <a:off x="6291072" y="1600200"/>
            <a:ext cx="5257800" cy="4251960"/>
          </a:xfrm>
          <a:prstGeom prst="roundRect">
            <a:avLst>
              <a:gd name="adj" fmla="val 1505"/>
            </a:avLst>
          </a:prstGeom>
          <a:solidFill>
            <a:srgbClr val="F4F7F8"/>
          </a:solidFill>
          <a:ln w="9525">
            <a:solidFill>
              <a:srgbClr val="DDE2E2"/>
            </a:solidFill>
            <a:prstDash val="solid"/>
          </a:ln>
        </p:spPr>
      </p:sp>
      <p:sp>
        <p:nvSpPr>
          <p:cNvPr id="12" name="Shape 10"/>
          <p:cNvSpPr/>
          <p:nvPr/>
        </p:nvSpPr>
        <p:spPr>
          <a:xfrm>
            <a:off x="6291072" y="1600200"/>
            <a:ext cx="5257800" cy="566928"/>
          </a:xfrm>
          <a:prstGeom prst="roundRect">
            <a:avLst>
              <a:gd name="adj" fmla="val 11290"/>
            </a:avLst>
          </a:prstGeom>
          <a:solidFill>
            <a:srgbClr val="00B3E2"/>
          </a:solidFill>
          <a:ln w="12700">
            <a:solidFill>
              <a:srgbClr val="00B3E2"/>
            </a:solidFill>
            <a:prstDash val="solid"/>
          </a:ln>
        </p:spPr>
      </p:sp>
      <p:sp>
        <p:nvSpPr>
          <p:cNvPr id="13" name="Text 11"/>
          <p:cNvSpPr/>
          <p:nvPr/>
        </p:nvSpPr>
        <p:spPr>
          <a:xfrm>
            <a:off x="6611112" y="1600200"/>
            <a:ext cx="4617720" cy="56692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Generation 2  ·  Native Azure networking</a:t>
            </a:r>
            <a:endParaRPr lang="en-US" sz="1600" dirty="0"/>
          </a:p>
        </p:txBody>
      </p:sp>
      <p:sp>
        <p:nvSpPr>
          <p:cNvPr id="14" name="Text 12"/>
          <p:cNvSpPr/>
          <p:nvPr/>
        </p:nvSpPr>
        <p:spPr>
          <a:xfrm>
            <a:off x="6611112" y="2377440"/>
            <a:ext cx="4617720" cy="2011680"/>
          </a:xfrm>
          <a:prstGeom prst="rect">
            <a:avLst/>
          </a:prstGeom>
          <a:noFill/>
          <a:ln/>
        </p:spPr>
        <p:txBody>
          <a:bodyPr wrap="square" lIns="0" tIns="0" rIns="0" bIns="0" rtlCol="0" anchor="ctr"/>
          <a:lstStyle/>
          <a:p>
            <a:pPr marL="177800" indent="-177800">
              <a:spcAft>
                <a:spcPts val="800"/>
              </a:spcAft>
              <a:buSzPct val="100000"/>
              <a:buChar char="•"/>
            </a:pPr>
            <a:r>
              <a:rPr lang="en-US" sz="1350" dirty="0">
                <a:solidFill>
                  <a:srgbClr val="55555F"/>
                </a:solidFill>
                <a:latin typeface="Calibri" pitchFamily="34" charset="0"/>
                <a:ea typeface="Calibri" pitchFamily="34" charset="-122"/>
                <a:cs typeface="Calibri" pitchFamily="34" charset="-120"/>
              </a:rPr>
              <a:t>Generation 2 moves toward native Azure networking constructs.</a:t>
            </a:r>
            <a:endParaRPr lang="en-US" sz="1350" dirty="0"/>
          </a:p>
          <a:p>
            <a:pPr marL="177800" indent="-177800">
              <a:spcAft>
                <a:spcPts val="800"/>
              </a:spcAft>
              <a:buSzPct val="100000"/>
              <a:buChar char="•"/>
            </a:pPr>
            <a:r>
              <a:rPr lang="en-US" sz="1350" dirty="0">
                <a:solidFill>
                  <a:srgbClr val="55555F"/>
                </a:solidFill>
                <a:latin typeface="Calibri" pitchFamily="34" charset="0"/>
                <a:ea typeface="Calibri" pitchFamily="34" charset="-122"/>
                <a:cs typeface="Calibri" pitchFamily="34" charset="-120"/>
              </a:rPr>
              <a:t>Azure VNet peering uses Microsoft's software-defined backbone.</a:t>
            </a:r>
            <a:endParaRPr lang="en-US" sz="1350" dirty="0"/>
          </a:p>
          <a:p>
            <a:pPr marL="177800" indent="-177800">
              <a:spcAft>
                <a:spcPts val="800"/>
              </a:spcAft>
              <a:buSzPct val="100000"/>
              <a:buChar char="•"/>
            </a:pPr>
            <a:r>
              <a:rPr lang="en-US" sz="1350" dirty="0">
                <a:solidFill>
                  <a:srgbClr val="55555F"/>
                </a:solidFill>
                <a:latin typeface="Calibri" pitchFamily="34" charset="0"/>
                <a:ea typeface="Calibri" pitchFamily="34" charset="-122"/>
                <a:cs typeface="Calibri" pitchFamily="34" charset="-120"/>
              </a:rPr>
              <a:t>ExpressRoute Global Reach connects circuits across Microsoft's global network.</a:t>
            </a:r>
            <a:endParaRPr lang="en-US" sz="1350" dirty="0"/>
          </a:p>
          <a:p>
            <a:pPr marL="177800" indent="-177800">
              <a:spcAft>
                <a:spcPts val="800"/>
              </a:spcAft>
              <a:buSzPct val="100000"/>
              <a:buChar char="•"/>
            </a:pPr>
            <a:r>
              <a:rPr lang="en-US" sz="1350" dirty="0">
                <a:solidFill>
                  <a:srgbClr val="55555F"/>
                </a:solidFill>
                <a:latin typeface="Calibri" pitchFamily="34" charset="0"/>
                <a:ea typeface="Calibri" pitchFamily="34" charset="-122"/>
                <a:cs typeface="Calibri" pitchFamily="34" charset="-120"/>
              </a:rPr>
              <a:t>Both reduce reliance on AVS-specific interconnect constructs.</a:t>
            </a:r>
            <a:endParaRPr lang="en-US" sz="1350" dirty="0"/>
          </a:p>
        </p:txBody>
      </p:sp>
      <p:sp>
        <p:nvSpPr>
          <p:cNvPr id="15" name="Shape 13"/>
          <p:cNvSpPr/>
          <p:nvPr/>
        </p:nvSpPr>
        <p:spPr>
          <a:xfrm>
            <a:off x="6611112" y="4480560"/>
            <a:ext cx="4617720" cy="1143000"/>
          </a:xfrm>
          <a:prstGeom prst="roundRect">
            <a:avLst>
              <a:gd name="adj" fmla="val 5600"/>
            </a:avLst>
          </a:prstGeom>
          <a:solidFill>
            <a:srgbClr val="E9F7F2"/>
          </a:solidFill>
          <a:ln w="9525">
            <a:solidFill>
              <a:srgbClr val="9FD9C9"/>
            </a:solidFill>
            <a:prstDash val="solid"/>
          </a:ln>
        </p:spPr>
      </p:sp>
      <p:sp>
        <p:nvSpPr>
          <p:cNvPr id="16" name="Text 14"/>
          <p:cNvSpPr/>
          <p:nvPr/>
        </p:nvSpPr>
        <p:spPr>
          <a:xfrm>
            <a:off x="6839712" y="4645152"/>
            <a:ext cx="4160520" cy="274320"/>
          </a:xfrm>
          <a:prstGeom prst="rect">
            <a:avLst/>
          </a:prstGeom>
          <a:noFill/>
          <a:ln/>
        </p:spPr>
        <p:txBody>
          <a:bodyPr wrap="square" lIns="0" tIns="0" rIns="0" bIns="0" rtlCol="0" anchor="ctr"/>
          <a:lstStyle/>
          <a:p>
            <a:pPr indent="0" marL="0">
              <a:buNone/>
            </a:pPr>
            <a:r>
              <a:rPr lang="en-US" sz="1400" b="1" dirty="0">
                <a:solidFill>
                  <a:srgbClr val="00795F"/>
                </a:solidFill>
                <a:latin typeface="Calibri" pitchFamily="34" charset="0"/>
                <a:ea typeface="Calibri" pitchFamily="34" charset="-122"/>
                <a:cs typeface="Calibri" pitchFamily="34" charset="-120"/>
              </a:rPr>
              <a:t>Design consequence</a:t>
            </a:r>
            <a:endParaRPr lang="en-US" sz="1400" dirty="0"/>
          </a:p>
        </p:txBody>
      </p:sp>
      <p:sp>
        <p:nvSpPr>
          <p:cNvPr id="17" name="Text 15"/>
          <p:cNvSpPr/>
          <p:nvPr/>
        </p:nvSpPr>
        <p:spPr>
          <a:xfrm>
            <a:off x="6839712" y="4937760"/>
            <a:ext cx="4160520" cy="59436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Inter-region connectivity becomes an ordinary Azure networking decision rather than an AVS-specific one.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HYBRID CONNECTIVITY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Virtual WAN scale units and branch traffic</a:t>
            </a:r>
            <a:endParaRPr lang="en-US" sz="3400" dirty="0"/>
          </a:p>
        </p:txBody>
      </p:sp>
      <p:sp>
        <p:nvSpPr>
          <p:cNvPr id="4" name="Shape 2"/>
          <p:cNvSpPr/>
          <p:nvPr/>
        </p:nvSpPr>
        <p:spPr>
          <a:xfrm>
            <a:off x="640080" y="1600200"/>
            <a:ext cx="4114800" cy="2286000"/>
          </a:xfrm>
          <a:prstGeom prst="roundRect">
            <a:avLst>
              <a:gd name="adj" fmla="val 2800"/>
            </a:avLst>
          </a:prstGeom>
          <a:solidFill>
            <a:srgbClr val="3E3E4B"/>
          </a:solidFill>
          <a:ln w="9525">
            <a:solidFill>
              <a:srgbClr val="3E3E4B"/>
            </a:solidFill>
            <a:prstDash val="solid"/>
          </a:ln>
        </p:spPr>
      </p:sp>
      <p:sp>
        <p:nvSpPr>
          <p:cNvPr id="5" name="Text 3"/>
          <p:cNvSpPr/>
          <p:nvPr/>
        </p:nvSpPr>
        <p:spPr>
          <a:xfrm>
            <a:off x="1005840" y="1828800"/>
            <a:ext cx="3383280" cy="777240"/>
          </a:xfrm>
          <a:prstGeom prst="rect">
            <a:avLst/>
          </a:prstGeom>
          <a:noFill/>
          <a:ln/>
        </p:spPr>
        <p:txBody>
          <a:bodyPr wrap="square" lIns="0" tIns="0" rIns="0" bIns="0" rtlCol="0" anchor="ctr"/>
          <a:lstStyle/>
          <a:p>
            <a:pPr indent="0" marL="0">
              <a:buNone/>
            </a:pPr>
            <a:r>
              <a:rPr lang="en-US" sz="4600" b="1" dirty="0">
                <a:solidFill>
                  <a:srgbClr val="00B3E2"/>
                </a:solidFill>
                <a:latin typeface="Calibri" pitchFamily="34" charset="0"/>
                <a:ea typeface="Calibri" pitchFamily="34" charset="-122"/>
                <a:cs typeface="Calibri" pitchFamily="34" charset="-120"/>
              </a:rPr>
              <a:t>500 Mbps</a:t>
            </a:r>
            <a:endParaRPr lang="en-US" sz="4600" dirty="0"/>
          </a:p>
        </p:txBody>
      </p:sp>
      <p:sp>
        <p:nvSpPr>
          <p:cNvPr id="6" name="Text 4"/>
          <p:cNvSpPr/>
          <p:nvPr/>
        </p:nvSpPr>
        <p:spPr>
          <a:xfrm>
            <a:off x="1005840" y="2606040"/>
            <a:ext cx="33832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per site-to-site VPN gateway scale unit</a:t>
            </a:r>
            <a:endParaRPr lang="en-US" sz="1500" dirty="0"/>
          </a:p>
        </p:txBody>
      </p:sp>
      <p:sp>
        <p:nvSpPr>
          <p:cNvPr id="7" name="Text 5"/>
          <p:cNvSpPr/>
          <p:nvPr/>
        </p:nvSpPr>
        <p:spPr>
          <a:xfrm>
            <a:off x="1005840" y="3017520"/>
            <a:ext cx="3383280" cy="68580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Two gateway instances are deployed for redundancy. Their capacity should not be added together when sizing supported aggregate throughput.</a:t>
            </a:r>
            <a:endParaRPr lang="en-US" sz="1250" dirty="0"/>
          </a:p>
        </p:txBody>
      </p:sp>
      <p:sp>
        <p:nvSpPr>
          <p:cNvPr id="8" name="Shape 6"/>
          <p:cNvSpPr/>
          <p:nvPr/>
        </p:nvSpPr>
        <p:spPr>
          <a:xfrm>
            <a:off x="640080" y="4069080"/>
            <a:ext cx="4114800" cy="1783080"/>
          </a:xfrm>
          <a:prstGeom prst="roundRect">
            <a:avLst>
              <a:gd name="adj" fmla="val 3590"/>
            </a:avLst>
          </a:prstGeom>
          <a:solidFill>
            <a:srgbClr val="E5F7FC"/>
          </a:solidFill>
          <a:ln w="9525">
            <a:solidFill>
              <a:srgbClr val="B2E8F6"/>
            </a:solidFill>
            <a:prstDash val="solid"/>
          </a:ln>
        </p:spPr>
      </p:sp>
      <p:sp>
        <p:nvSpPr>
          <p:cNvPr id="9" name="Text 7"/>
          <p:cNvSpPr/>
          <p:nvPr/>
        </p:nvSpPr>
        <p:spPr>
          <a:xfrm>
            <a:off x="960120" y="4251960"/>
            <a:ext cx="3474720" cy="274320"/>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Capacity planning</a:t>
            </a:r>
            <a:endParaRPr lang="en-US" sz="1500" dirty="0"/>
          </a:p>
        </p:txBody>
      </p:sp>
      <p:sp>
        <p:nvSpPr>
          <p:cNvPr id="10" name="Text 8"/>
          <p:cNvSpPr/>
          <p:nvPr/>
        </p:nvSpPr>
        <p:spPr>
          <a:xfrm>
            <a:off x="960120" y="4572000"/>
            <a:ext cx="3474720" cy="1097280"/>
          </a:xfrm>
          <a:prstGeom prst="rect">
            <a:avLst/>
          </a:prstGeom>
          <a:noFill/>
          <a:ln/>
        </p:spPr>
        <p:txBody>
          <a:bodyPr wrap="square" lIns="0" tIns="0" rIns="0" bIns="0" rtlCol="0" anchor="ctr"/>
          <a:lstStyle/>
          <a:p>
            <a:pPr marL="177800" indent="-177800">
              <a:spcAft>
                <a:spcPts val="400"/>
              </a:spcAft>
              <a:buSzPct val="100000"/>
              <a:buChar char="•"/>
            </a:pPr>
            <a:r>
              <a:rPr lang="en-US" sz="1250" dirty="0">
                <a:solidFill>
                  <a:srgbClr val="1A5F7A"/>
                </a:solidFill>
                <a:latin typeface="Calibri" pitchFamily="34" charset="0"/>
                <a:ea typeface="Calibri" pitchFamily="34" charset="-122"/>
                <a:cs typeface="Calibri" pitchFamily="34" charset="-120"/>
              </a:rPr>
              <a:t>Add the aggregate throughput of all branches.</a:t>
            </a:r>
            <a:endParaRPr lang="en-US" sz="1250" dirty="0"/>
          </a:p>
          <a:p>
            <a:pPr marL="177800" indent="-177800">
              <a:spcAft>
                <a:spcPts val="400"/>
              </a:spcAft>
              <a:buSzPct val="100000"/>
              <a:buChar char="•"/>
            </a:pPr>
            <a:r>
              <a:rPr lang="en-US" sz="1250" dirty="0">
                <a:solidFill>
                  <a:srgbClr val="1A5F7A"/>
                </a:solidFill>
                <a:latin typeface="Calibri" pitchFamily="34" charset="0"/>
                <a:ea typeface="Calibri" pitchFamily="34" charset="-122"/>
                <a:cs typeface="Calibri" pitchFamily="34" charset="-120"/>
              </a:rPr>
              <a:t>Account for packet rate and encryption overhead.</a:t>
            </a:r>
            <a:endParaRPr lang="en-US" sz="1250" dirty="0"/>
          </a:p>
          <a:p>
            <a:pPr marL="177800" indent="-177800">
              <a:spcAft>
                <a:spcPts val="400"/>
              </a:spcAft>
              <a:buSzPct val="100000"/>
              <a:buChar char="•"/>
            </a:pPr>
            <a:r>
              <a:rPr lang="en-US" sz="1250" dirty="0">
                <a:solidFill>
                  <a:srgbClr val="1A5F7A"/>
                </a:solidFill>
                <a:latin typeface="Calibri" pitchFamily="34" charset="0"/>
                <a:ea typeface="Calibri" pitchFamily="34" charset="-122"/>
                <a:cs typeface="Calibri" pitchFamily="34" charset="-120"/>
              </a:rPr>
              <a:t>Provision for peak, not average, conditions.</a:t>
            </a:r>
            <a:endParaRPr lang="en-US" sz="1250" dirty="0"/>
          </a:p>
        </p:txBody>
      </p:sp>
      <p:sp>
        <p:nvSpPr>
          <p:cNvPr id="11" name="Text 9"/>
          <p:cNvSpPr/>
          <p:nvPr/>
        </p:nvSpPr>
        <p:spPr>
          <a:xfrm>
            <a:off x="5074920" y="1645920"/>
            <a:ext cx="6492240" cy="32004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Bandwidth totals alone are not enough</a:t>
            </a:r>
            <a:endParaRPr lang="en-US" sz="1900" dirty="0"/>
          </a:p>
        </p:txBody>
      </p:sp>
      <p:sp>
        <p:nvSpPr>
          <p:cNvPr id="12" name="Text 10"/>
          <p:cNvSpPr/>
          <p:nvPr/>
        </p:nvSpPr>
        <p:spPr>
          <a:xfrm>
            <a:off x="5074920" y="2057400"/>
            <a:ext cx="6492240" cy="155448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VPN gateways perform IPsec encryption and decryption, which consumes CPU.</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Required operations include IKEv2, ESP processing, and AES-256 encryption.</a:t>
            </a:r>
            <a:endParaRPr lang="en-US" sz="1400" dirty="0"/>
          </a:p>
          <a:p>
            <a:pPr marL="177800" indent="-177800">
              <a:spcAft>
                <a:spcPts val="800"/>
              </a:spcAft>
              <a:buSzPct val="100000"/>
              <a:buChar char="•"/>
            </a:pPr>
            <a:r>
              <a:rPr lang="en-US" sz="1400" dirty="0">
                <a:solidFill>
                  <a:srgbClr val="55555F"/>
                </a:solidFill>
                <a:latin typeface="Calibri" pitchFamily="34" charset="0"/>
                <a:ea typeface="Calibri" pitchFamily="34" charset="-122"/>
                <a:cs typeface="Calibri" pitchFamily="34" charset="-120"/>
              </a:rPr>
              <a:t>A large number of tunnels and packets can exhaust gateway compute even when nominal bandwidth looks sufficient.</a:t>
            </a:r>
            <a:endParaRPr lang="en-US" sz="1400" dirty="0"/>
          </a:p>
        </p:txBody>
      </p:sp>
      <p:sp>
        <p:nvSpPr>
          <p:cNvPr id="13" name="Text 11"/>
          <p:cNvSpPr/>
          <p:nvPr/>
        </p:nvSpPr>
        <p:spPr>
          <a:xfrm>
            <a:off x="5074920" y="3703320"/>
            <a:ext cx="6492240" cy="320040"/>
          </a:xfrm>
          <a:prstGeom prst="rect">
            <a:avLst/>
          </a:prstGeom>
          <a:noFill/>
          <a:ln/>
        </p:spPr>
        <p:txBody>
          <a:bodyPr wrap="square" lIns="0" tIns="0" rIns="0" bIns="0" rtlCol="0" anchor="ctr"/>
          <a:lstStyle/>
          <a:p>
            <a:pPr indent="0" marL="0">
              <a:buNone/>
            </a:pPr>
            <a:r>
              <a:rPr lang="en-US" sz="1900" b="1" dirty="0">
                <a:solidFill>
                  <a:srgbClr val="F15D23"/>
                </a:solidFill>
                <a:latin typeface="Calibri" pitchFamily="34" charset="0"/>
                <a:ea typeface="Calibri" pitchFamily="34" charset="-122"/>
                <a:cs typeface="Calibri" pitchFamily="34" charset="-120"/>
              </a:rPr>
              <a:t>What under-provisioning looks like</a:t>
            </a:r>
            <a:endParaRPr lang="en-US" sz="1900" dirty="0"/>
          </a:p>
        </p:txBody>
      </p:sp>
      <p:sp>
        <p:nvSpPr>
          <p:cNvPr id="14" name="Shape 12"/>
          <p:cNvSpPr/>
          <p:nvPr/>
        </p:nvSpPr>
        <p:spPr>
          <a:xfrm>
            <a:off x="5074920" y="4114800"/>
            <a:ext cx="3108960" cy="777240"/>
          </a:xfrm>
          <a:prstGeom prst="roundRect">
            <a:avLst>
              <a:gd name="adj" fmla="val 8235"/>
            </a:avLst>
          </a:prstGeom>
          <a:solidFill>
            <a:srgbClr val="FDF0EB"/>
          </a:solidFill>
          <a:ln w="9525">
            <a:solidFill>
              <a:srgbClr val="F6C9B4"/>
            </a:solidFill>
            <a:prstDash val="solid"/>
          </a:ln>
        </p:spPr>
      </p:sp>
      <p:sp>
        <p:nvSpPr>
          <p:cNvPr id="15" name="Text 13"/>
          <p:cNvSpPr/>
          <p:nvPr/>
        </p:nvSpPr>
        <p:spPr>
          <a:xfrm>
            <a:off x="5276088" y="4206240"/>
            <a:ext cx="2706624" cy="2743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Gateway CPU reaches 100%</a:t>
            </a:r>
            <a:endParaRPr lang="en-US" sz="1300" dirty="0"/>
          </a:p>
        </p:txBody>
      </p:sp>
      <p:sp>
        <p:nvSpPr>
          <p:cNvPr id="16" name="Text 14"/>
          <p:cNvSpPr/>
          <p:nvPr/>
        </p:nvSpPr>
        <p:spPr>
          <a:xfrm>
            <a:off x="5276088" y="4480560"/>
            <a:ext cx="2706624"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Packets are queued in memory.</a:t>
            </a:r>
            <a:endParaRPr lang="en-US" sz="1150" dirty="0"/>
          </a:p>
        </p:txBody>
      </p:sp>
      <p:sp>
        <p:nvSpPr>
          <p:cNvPr id="17" name="Shape 15"/>
          <p:cNvSpPr/>
          <p:nvPr/>
        </p:nvSpPr>
        <p:spPr>
          <a:xfrm>
            <a:off x="8458200" y="4114800"/>
            <a:ext cx="3108960" cy="777240"/>
          </a:xfrm>
          <a:prstGeom prst="roundRect">
            <a:avLst>
              <a:gd name="adj" fmla="val 8235"/>
            </a:avLst>
          </a:prstGeom>
          <a:solidFill>
            <a:srgbClr val="FDF0EB"/>
          </a:solidFill>
          <a:ln w="9525">
            <a:solidFill>
              <a:srgbClr val="F6C9B4"/>
            </a:solidFill>
            <a:prstDash val="solid"/>
          </a:ln>
        </p:spPr>
      </p:sp>
      <p:sp>
        <p:nvSpPr>
          <p:cNvPr id="18" name="Text 16"/>
          <p:cNvSpPr/>
          <p:nvPr/>
        </p:nvSpPr>
        <p:spPr>
          <a:xfrm>
            <a:off x="8659368" y="4206240"/>
            <a:ext cx="2706624" cy="2743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Queuing introduces jitter</a:t>
            </a:r>
            <a:endParaRPr lang="en-US" sz="1300" dirty="0"/>
          </a:p>
        </p:txBody>
      </p:sp>
      <p:sp>
        <p:nvSpPr>
          <p:cNvPr id="19" name="Text 17"/>
          <p:cNvSpPr/>
          <p:nvPr/>
        </p:nvSpPr>
        <p:spPr>
          <a:xfrm>
            <a:off x="8659368" y="4480560"/>
            <a:ext cx="2706624"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Voice, real-time apps, and synchronous replication degrade.</a:t>
            </a:r>
            <a:endParaRPr lang="en-US" sz="1150" dirty="0"/>
          </a:p>
        </p:txBody>
      </p:sp>
      <p:sp>
        <p:nvSpPr>
          <p:cNvPr id="20" name="Shape 18"/>
          <p:cNvSpPr/>
          <p:nvPr/>
        </p:nvSpPr>
        <p:spPr>
          <a:xfrm>
            <a:off x="5074920" y="5093208"/>
            <a:ext cx="3108960" cy="777240"/>
          </a:xfrm>
          <a:prstGeom prst="roundRect">
            <a:avLst>
              <a:gd name="adj" fmla="val 8235"/>
            </a:avLst>
          </a:prstGeom>
          <a:solidFill>
            <a:srgbClr val="FDF0EB"/>
          </a:solidFill>
          <a:ln w="9525">
            <a:solidFill>
              <a:srgbClr val="F6C9B4"/>
            </a:solidFill>
            <a:prstDash val="solid"/>
          </a:ln>
        </p:spPr>
      </p:sp>
      <p:sp>
        <p:nvSpPr>
          <p:cNvPr id="21" name="Text 19"/>
          <p:cNvSpPr/>
          <p:nvPr/>
        </p:nvSpPr>
        <p:spPr>
          <a:xfrm>
            <a:off x="5276088" y="5184648"/>
            <a:ext cx="2706624" cy="2743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Buffers exhaust</a:t>
            </a:r>
            <a:endParaRPr lang="en-US" sz="1300" dirty="0"/>
          </a:p>
        </p:txBody>
      </p:sp>
      <p:sp>
        <p:nvSpPr>
          <p:cNvPr id="22" name="Text 20"/>
          <p:cNvSpPr/>
          <p:nvPr/>
        </p:nvSpPr>
        <p:spPr>
          <a:xfrm>
            <a:off x="5276088" y="5458968"/>
            <a:ext cx="2706624"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Packets are dropped outright.</a:t>
            </a:r>
            <a:endParaRPr lang="en-US" sz="1150" dirty="0"/>
          </a:p>
        </p:txBody>
      </p:sp>
      <p:sp>
        <p:nvSpPr>
          <p:cNvPr id="23" name="Shape 21"/>
          <p:cNvSpPr/>
          <p:nvPr/>
        </p:nvSpPr>
        <p:spPr>
          <a:xfrm>
            <a:off x="8458200" y="5093208"/>
            <a:ext cx="3108960" cy="777240"/>
          </a:xfrm>
          <a:prstGeom prst="roundRect">
            <a:avLst>
              <a:gd name="adj" fmla="val 8235"/>
            </a:avLst>
          </a:prstGeom>
          <a:solidFill>
            <a:srgbClr val="FDF0EB"/>
          </a:solidFill>
          <a:ln w="9525">
            <a:solidFill>
              <a:srgbClr val="F6C9B4"/>
            </a:solidFill>
            <a:prstDash val="solid"/>
          </a:ln>
        </p:spPr>
      </p:sp>
      <p:sp>
        <p:nvSpPr>
          <p:cNvPr id="24" name="Text 22"/>
          <p:cNvSpPr/>
          <p:nvPr/>
        </p:nvSpPr>
        <p:spPr>
          <a:xfrm>
            <a:off x="8659368" y="5184648"/>
            <a:ext cx="2706624" cy="27432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TCP reacts</a:t>
            </a:r>
            <a:endParaRPr lang="en-US" sz="1300" dirty="0"/>
          </a:p>
        </p:txBody>
      </p:sp>
      <p:sp>
        <p:nvSpPr>
          <p:cNvPr id="25" name="Text 23"/>
          <p:cNvSpPr/>
          <p:nvPr/>
        </p:nvSpPr>
        <p:spPr>
          <a:xfrm>
            <a:off x="8659368" y="5458968"/>
            <a:ext cx="2706624" cy="347472"/>
          </a:xfrm>
          <a:prstGeom prst="rect">
            <a:avLst/>
          </a:prstGeom>
          <a:noFill/>
          <a:ln/>
        </p:spPr>
        <p:txBody>
          <a:bodyPr wrap="square" lIns="0" tIns="0" rIns="0" bIns="0" rtlCol="0" anchor="ctr"/>
          <a:lstStyle/>
          <a:p>
            <a:pPr indent="0" marL="0">
              <a:buNone/>
            </a:pPr>
            <a:r>
              <a:rPr lang="en-US" sz="1150" dirty="0">
                <a:solidFill>
                  <a:srgbClr val="55555F"/>
                </a:solidFill>
                <a:latin typeface="Calibri" pitchFamily="34" charset="0"/>
                <a:ea typeface="Calibri" pitchFamily="34" charset="-122"/>
                <a:cs typeface="Calibri" pitchFamily="34" charset="-120"/>
              </a:rPr>
              <a:t>Window sizes shrink and branch performance collapses.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ROUTING PREFERENCE</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Hot potato or cold potato</a:t>
            </a:r>
            <a:endParaRPr lang="en-US" sz="3400" dirty="0"/>
          </a:p>
        </p:txBody>
      </p:sp>
      <p:sp>
        <p:nvSpPr>
          <p:cNvPr id="4" name="Text 2"/>
          <p:cNvSpPr/>
          <p:nvPr/>
        </p:nvSpPr>
        <p:spPr>
          <a:xfrm>
            <a:off x="640080" y="1371600"/>
            <a:ext cx="9326880" cy="41148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Azure lets you choose between ISP network routing and Microsoft network routing. The choice is a cost and predictability trade-off.</a:t>
            </a:r>
            <a:endParaRPr lang="en-US" sz="1500" dirty="0"/>
          </a:p>
        </p:txBody>
      </p:sp>
      <p:sp>
        <p:nvSpPr>
          <p:cNvPr id="5" name="Shape 3"/>
          <p:cNvSpPr/>
          <p:nvPr/>
        </p:nvSpPr>
        <p:spPr>
          <a:xfrm>
            <a:off x="640080" y="1965960"/>
            <a:ext cx="5257800" cy="3886200"/>
          </a:xfrm>
          <a:prstGeom prst="roundRect">
            <a:avLst>
              <a:gd name="adj" fmla="val 1647"/>
            </a:avLst>
          </a:prstGeom>
          <a:solidFill>
            <a:srgbClr val="F4F7F8"/>
          </a:solidFill>
          <a:ln w="9525">
            <a:solidFill>
              <a:srgbClr val="DDE2E2"/>
            </a:solidFill>
            <a:prstDash val="solid"/>
          </a:ln>
        </p:spPr>
      </p:sp>
      <p:sp>
        <p:nvSpPr>
          <p:cNvPr id="6" name="Shape 4"/>
          <p:cNvSpPr/>
          <p:nvPr/>
        </p:nvSpPr>
        <p:spPr>
          <a:xfrm>
            <a:off x="640080" y="1965960"/>
            <a:ext cx="5257800" cy="566928"/>
          </a:xfrm>
          <a:prstGeom prst="roundRect">
            <a:avLst>
              <a:gd name="adj" fmla="val 11290"/>
            </a:avLst>
          </a:prstGeom>
          <a:solidFill>
            <a:srgbClr val="FAC458"/>
          </a:solidFill>
          <a:ln w="12700">
            <a:solidFill>
              <a:srgbClr val="FAC458"/>
            </a:solidFill>
            <a:prstDash val="solid"/>
          </a:ln>
        </p:spPr>
      </p:sp>
      <p:sp>
        <p:nvSpPr>
          <p:cNvPr id="7" name="Text 5"/>
          <p:cNvSpPr/>
          <p:nvPr/>
        </p:nvSpPr>
        <p:spPr>
          <a:xfrm>
            <a:off x="960120" y="1965960"/>
            <a:ext cx="2194560" cy="566928"/>
          </a:xfrm>
          <a:prstGeom prst="rect">
            <a:avLst/>
          </a:prstGeom>
          <a:noFill/>
          <a:ln/>
        </p:spPr>
        <p:txBody>
          <a:bodyPr wrap="square" lIns="0" tIns="0" rIns="0" bIns="0" rtlCol="0" anchor="ctr"/>
          <a:lstStyle/>
          <a:p>
            <a:pPr indent="0" marL="0">
              <a:buNone/>
            </a:pPr>
            <a:r>
              <a:rPr lang="en-US" sz="1900" b="1" dirty="0">
                <a:solidFill>
                  <a:srgbClr val="0F0F14"/>
                </a:solidFill>
                <a:latin typeface="Calibri" pitchFamily="34" charset="0"/>
                <a:ea typeface="Calibri" pitchFamily="34" charset="-122"/>
                <a:cs typeface="Calibri" pitchFamily="34" charset="-120"/>
              </a:rPr>
              <a:t>Hot potato</a:t>
            </a:r>
            <a:endParaRPr lang="en-US" sz="1900" dirty="0"/>
          </a:p>
        </p:txBody>
      </p:sp>
      <p:sp>
        <p:nvSpPr>
          <p:cNvPr id="8" name="Text 6"/>
          <p:cNvSpPr/>
          <p:nvPr/>
        </p:nvSpPr>
        <p:spPr>
          <a:xfrm>
            <a:off x="3108960" y="1965960"/>
            <a:ext cx="2468880" cy="566928"/>
          </a:xfrm>
          <a:prstGeom prst="rect">
            <a:avLst/>
          </a:prstGeom>
          <a:noFill/>
          <a:ln/>
        </p:spPr>
        <p:txBody>
          <a:bodyPr wrap="square" lIns="0" tIns="0" rIns="0" bIns="0" rtlCol="0" anchor="ctr"/>
          <a:lstStyle/>
          <a:p>
            <a:pPr algn="r" indent="0" marL="0">
              <a:buNone/>
            </a:pPr>
            <a:r>
              <a:rPr lang="en-US" sz="1300" b="1" dirty="0">
                <a:solidFill>
                  <a:srgbClr val="0F0F14"/>
                </a:solidFill>
                <a:latin typeface="Calibri" pitchFamily="34" charset="0"/>
                <a:ea typeface="Calibri" pitchFamily="34" charset="-122"/>
                <a:cs typeface="Calibri" pitchFamily="34" charset="-120"/>
              </a:rPr>
              <a:t>ISP network routing</a:t>
            </a:r>
            <a:endParaRPr lang="en-US" sz="1300" dirty="0"/>
          </a:p>
        </p:txBody>
      </p:sp>
      <p:sp>
        <p:nvSpPr>
          <p:cNvPr id="9" name="Text 7"/>
          <p:cNvSpPr/>
          <p:nvPr/>
        </p:nvSpPr>
        <p:spPr>
          <a:xfrm>
            <a:off x="960120" y="2697480"/>
            <a:ext cx="4617720" cy="1051560"/>
          </a:xfrm>
          <a:prstGeom prst="rect">
            <a:avLst/>
          </a:prstGeom>
          <a:noFill/>
          <a:ln/>
        </p:spPr>
        <p:txBody>
          <a:bodyPr wrap="square" lIns="0" tIns="0" rIns="0" bIns="0" rtlCol="0" anchor="ctr"/>
          <a:lstStyle/>
          <a:p>
            <a:pPr indent="0" marL="0">
              <a:buNone/>
            </a:pPr>
            <a:r>
              <a:rPr lang="en-US" sz="1350" dirty="0">
                <a:solidFill>
                  <a:srgbClr val="55555F"/>
                </a:solidFill>
                <a:latin typeface="Calibri" pitchFamily="34" charset="0"/>
                <a:ea typeface="Calibri" pitchFamily="34" charset="-122"/>
                <a:cs typeface="Calibri" pitchFamily="34" charset="-120"/>
              </a:rPr>
              <a:t>Microsoft hands traffic to the public internet as soon as possible. Traffic from an AVS environment in Virginia reaches a nearby peering point, then crosses public transit providers to the destination.</a:t>
            </a:r>
            <a:endParaRPr lang="en-US" sz="1350" dirty="0"/>
          </a:p>
        </p:txBody>
      </p:sp>
      <p:sp>
        <p:nvSpPr>
          <p:cNvPr id="10" name="Text 8"/>
          <p:cNvSpPr/>
          <p:nvPr/>
        </p:nvSpPr>
        <p:spPr>
          <a:xfrm>
            <a:off x="960120" y="3840480"/>
            <a:ext cx="4617720" cy="228600"/>
          </a:xfrm>
          <a:prstGeom prst="rect">
            <a:avLst/>
          </a:prstGeom>
          <a:noFill/>
          <a:ln/>
        </p:spPr>
        <p:txBody>
          <a:bodyPr wrap="square" lIns="0" tIns="0" rIns="0" bIns="0" rtlCol="0" anchor="ctr"/>
          <a:lstStyle/>
          <a:p>
            <a:pPr indent="0" marL="0">
              <a:buNone/>
            </a:pPr>
            <a:r>
              <a:rPr lang="en-US" sz="1050" b="1" spc="150" kern="0" dirty="0">
                <a:solidFill>
                  <a:srgbClr val="00AD93"/>
                </a:solidFill>
                <a:latin typeface="Calibri" pitchFamily="34" charset="0"/>
                <a:ea typeface="Calibri" pitchFamily="34" charset="-122"/>
                <a:cs typeface="Calibri" pitchFamily="34" charset="-120"/>
              </a:rPr>
              <a:t>BENEFITS</a:t>
            </a:r>
            <a:endParaRPr lang="en-US" sz="1050" dirty="0"/>
          </a:p>
        </p:txBody>
      </p:sp>
      <p:sp>
        <p:nvSpPr>
          <p:cNvPr id="11" name="Text 9"/>
          <p:cNvSpPr/>
          <p:nvPr/>
        </p:nvSpPr>
        <p:spPr>
          <a:xfrm>
            <a:off x="960120" y="4114800"/>
            <a:ext cx="4617720" cy="685800"/>
          </a:xfrm>
          <a:prstGeom prst="rect">
            <a:avLst/>
          </a:prstGeom>
          <a:noFill/>
          <a:ln/>
        </p:spPr>
        <p:txBody>
          <a:bodyPr wrap="square" lIns="0" tIns="0" rIns="0" bIns="0" rtlCol="0" anchor="ctr"/>
          <a:lstStyle/>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Lower Azure egress cost</a:t>
            </a:r>
            <a:endParaRPr lang="en-US" sz="1250" dirty="0"/>
          </a:p>
        </p:txBody>
      </p:sp>
      <p:sp>
        <p:nvSpPr>
          <p:cNvPr id="12" name="Text 10"/>
          <p:cNvSpPr/>
          <p:nvPr/>
        </p:nvSpPr>
        <p:spPr>
          <a:xfrm>
            <a:off x="960120" y="4846320"/>
            <a:ext cx="4617720" cy="228600"/>
          </a:xfrm>
          <a:prstGeom prst="rect">
            <a:avLst/>
          </a:prstGeom>
          <a:noFill/>
          <a:ln/>
        </p:spPr>
        <p:txBody>
          <a:bodyPr wrap="square" lIns="0" tIns="0" rIns="0" bIns="0" rtlCol="0" anchor="ctr"/>
          <a:lstStyle/>
          <a:p>
            <a:pPr indent="0" marL="0">
              <a:buNone/>
            </a:pPr>
            <a:r>
              <a:rPr lang="en-US" sz="1050" b="1" spc="150" kern="0" dirty="0">
                <a:solidFill>
                  <a:srgbClr val="F15D23"/>
                </a:solidFill>
                <a:latin typeface="Calibri" pitchFamily="34" charset="0"/>
                <a:ea typeface="Calibri" pitchFamily="34" charset="-122"/>
                <a:cs typeface="Calibri" pitchFamily="34" charset="-120"/>
              </a:rPr>
              <a:t>TRADE-OFFS</a:t>
            </a:r>
            <a:endParaRPr lang="en-US" sz="1050" dirty="0"/>
          </a:p>
        </p:txBody>
      </p:sp>
      <p:sp>
        <p:nvSpPr>
          <p:cNvPr id="13" name="Text 11"/>
          <p:cNvSpPr/>
          <p:nvPr/>
        </p:nvSpPr>
        <p:spPr>
          <a:xfrm>
            <a:off x="960120" y="5120640"/>
            <a:ext cx="4617720" cy="59436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Route changes   ·   Unpredictable latency   ·   Variable jitter   ·   Dependence on multiple public ISPs</a:t>
            </a:r>
            <a:endParaRPr lang="en-US" sz="1250" dirty="0"/>
          </a:p>
        </p:txBody>
      </p:sp>
      <p:sp>
        <p:nvSpPr>
          <p:cNvPr id="14" name="Shape 12"/>
          <p:cNvSpPr/>
          <p:nvPr/>
        </p:nvSpPr>
        <p:spPr>
          <a:xfrm>
            <a:off x="6291072" y="1965960"/>
            <a:ext cx="5257800" cy="3886200"/>
          </a:xfrm>
          <a:prstGeom prst="roundRect">
            <a:avLst>
              <a:gd name="adj" fmla="val 1647"/>
            </a:avLst>
          </a:prstGeom>
          <a:solidFill>
            <a:srgbClr val="F4F7F8"/>
          </a:solidFill>
          <a:ln w="9525">
            <a:solidFill>
              <a:srgbClr val="DDE2E2"/>
            </a:solidFill>
            <a:prstDash val="solid"/>
          </a:ln>
        </p:spPr>
      </p:sp>
      <p:sp>
        <p:nvSpPr>
          <p:cNvPr id="15" name="Shape 13"/>
          <p:cNvSpPr/>
          <p:nvPr/>
        </p:nvSpPr>
        <p:spPr>
          <a:xfrm>
            <a:off x="6291072" y="1965960"/>
            <a:ext cx="5257800" cy="566928"/>
          </a:xfrm>
          <a:prstGeom prst="roundRect">
            <a:avLst>
              <a:gd name="adj" fmla="val 11290"/>
            </a:avLst>
          </a:prstGeom>
          <a:solidFill>
            <a:srgbClr val="00AD93"/>
          </a:solidFill>
          <a:ln w="12700">
            <a:solidFill>
              <a:srgbClr val="00AD93"/>
            </a:solidFill>
            <a:prstDash val="solid"/>
          </a:ln>
        </p:spPr>
      </p:sp>
      <p:sp>
        <p:nvSpPr>
          <p:cNvPr id="16" name="Text 14"/>
          <p:cNvSpPr/>
          <p:nvPr/>
        </p:nvSpPr>
        <p:spPr>
          <a:xfrm>
            <a:off x="6611112" y="1965960"/>
            <a:ext cx="2194560" cy="56692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Cold potato</a:t>
            </a:r>
            <a:endParaRPr lang="en-US" sz="1900" dirty="0"/>
          </a:p>
        </p:txBody>
      </p:sp>
      <p:sp>
        <p:nvSpPr>
          <p:cNvPr id="17" name="Text 15"/>
          <p:cNvSpPr/>
          <p:nvPr/>
        </p:nvSpPr>
        <p:spPr>
          <a:xfrm>
            <a:off x="8759952" y="1965960"/>
            <a:ext cx="2468880" cy="566928"/>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Microsoft network routing</a:t>
            </a:r>
            <a:endParaRPr lang="en-US" sz="1300" dirty="0"/>
          </a:p>
        </p:txBody>
      </p:sp>
      <p:sp>
        <p:nvSpPr>
          <p:cNvPr id="18" name="Text 16"/>
          <p:cNvSpPr/>
          <p:nvPr/>
        </p:nvSpPr>
        <p:spPr>
          <a:xfrm>
            <a:off x="6611112" y="2697480"/>
            <a:ext cx="4617720" cy="1051560"/>
          </a:xfrm>
          <a:prstGeom prst="rect">
            <a:avLst/>
          </a:prstGeom>
          <a:noFill/>
          <a:ln/>
        </p:spPr>
        <p:txBody>
          <a:bodyPr wrap="square" lIns="0" tIns="0" rIns="0" bIns="0" rtlCol="0" anchor="ctr"/>
          <a:lstStyle/>
          <a:p>
            <a:pPr indent="0" marL="0">
              <a:buNone/>
            </a:pPr>
            <a:r>
              <a:rPr lang="en-US" sz="1350" dirty="0">
                <a:solidFill>
                  <a:srgbClr val="55555F"/>
                </a:solidFill>
                <a:latin typeface="Calibri" pitchFamily="34" charset="0"/>
                <a:ea typeface="Calibri" pitchFamily="34" charset="-122"/>
                <a:cs typeface="Calibri" pitchFamily="34" charset="-120"/>
              </a:rPr>
              <a:t>Microsoft keeps traffic on its own network as long as possible. It crosses Microsoft's private global backbone and is handed to a local ISP near the destination.</a:t>
            </a:r>
            <a:endParaRPr lang="en-US" sz="1350" dirty="0"/>
          </a:p>
        </p:txBody>
      </p:sp>
      <p:sp>
        <p:nvSpPr>
          <p:cNvPr id="19" name="Text 17"/>
          <p:cNvSpPr/>
          <p:nvPr/>
        </p:nvSpPr>
        <p:spPr>
          <a:xfrm>
            <a:off x="6611112" y="3840480"/>
            <a:ext cx="4617720" cy="228600"/>
          </a:xfrm>
          <a:prstGeom prst="rect">
            <a:avLst/>
          </a:prstGeom>
          <a:noFill/>
          <a:ln/>
        </p:spPr>
        <p:txBody>
          <a:bodyPr wrap="square" lIns="0" tIns="0" rIns="0" bIns="0" rtlCol="0" anchor="ctr"/>
          <a:lstStyle/>
          <a:p>
            <a:pPr indent="0" marL="0">
              <a:buNone/>
            </a:pPr>
            <a:r>
              <a:rPr lang="en-US" sz="1050" b="1" spc="150" kern="0" dirty="0">
                <a:solidFill>
                  <a:srgbClr val="00AD93"/>
                </a:solidFill>
                <a:latin typeface="Calibri" pitchFamily="34" charset="0"/>
                <a:ea typeface="Calibri" pitchFamily="34" charset="-122"/>
                <a:cs typeface="Calibri" pitchFamily="34" charset="-120"/>
              </a:rPr>
              <a:t>BENEFITS</a:t>
            </a:r>
            <a:endParaRPr lang="en-US" sz="1050" dirty="0"/>
          </a:p>
        </p:txBody>
      </p:sp>
      <p:sp>
        <p:nvSpPr>
          <p:cNvPr id="20" name="Text 18"/>
          <p:cNvSpPr/>
          <p:nvPr/>
        </p:nvSpPr>
        <p:spPr>
          <a:xfrm>
            <a:off x="6611112" y="4114800"/>
            <a:ext cx="4617720" cy="685800"/>
          </a:xfrm>
          <a:prstGeom prst="rect">
            <a:avLst/>
          </a:prstGeom>
          <a:noFill/>
          <a:ln/>
        </p:spPr>
        <p:txBody>
          <a:bodyPr wrap="square" lIns="0" tIns="0" rIns="0" bIns="0" rtlCol="0" anchor="ctr"/>
          <a:lstStyle/>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Stable latency</a:t>
            </a:r>
            <a:endParaRPr lang="en-US" sz="1250" dirty="0"/>
          </a:p>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Lower jitter</a:t>
            </a:r>
            <a:endParaRPr lang="en-US" sz="1250" dirty="0"/>
          </a:p>
          <a:p>
            <a:pPr marL="177800" indent="-177800">
              <a:spcAft>
                <a:spcPts val="300"/>
              </a:spcAft>
              <a:buSzPct val="100000"/>
              <a:buChar char="•"/>
            </a:pPr>
            <a:r>
              <a:rPr lang="en-US" sz="1250" dirty="0">
                <a:solidFill>
                  <a:srgbClr val="55555F"/>
                </a:solidFill>
                <a:latin typeface="Calibri" pitchFamily="34" charset="0"/>
                <a:ea typeface="Calibri" pitchFamily="34" charset="-122"/>
                <a:cs typeface="Calibri" pitchFamily="34" charset="-120"/>
              </a:rPr>
              <a:t>Reduced public-internet exposure</a:t>
            </a:r>
            <a:endParaRPr lang="en-US" sz="1250" dirty="0"/>
          </a:p>
        </p:txBody>
      </p:sp>
      <p:sp>
        <p:nvSpPr>
          <p:cNvPr id="21" name="Text 19"/>
          <p:cNvSpPr/>
          <p:nvPr/>
        </p:nvSpPr>
        <p:spPr>
          <a:xfrm>
            <a:off x="6611112" y="4846320"/>
            <a:ext cx="4617720" cy="228600"/>
          </a:xfrm>
          <a:prstGeom prst="rect">
            <a:avLst/>
          </a:prstGeom>
          <a:noFill/>
          <a:ln/>
        </p:spPr>
        <p:txBody>
          <a:bodyPr wrap="square" lIns="0" tIns="0" rIns="0" bIns="0" rtlCol="0" anchor="ctr"/>
          <a:lstStyle/>
          <a:p>
            <a:pPr indent="0" marL="0">
              <a:buNone/>
            </a:pPr>
            <a:r>
              <a:rPr lang="en-US" sz="1050" b="1" spc="150" kern="0" dirty="0">
                <a:solidFill>
                  <a:srgbClr val="F15D23"/>
                </a:solidFill>
                <a:latin typeface="Calibri" pitchFamily="34" charset="0"/>
                <a:ea typeface="Calibri" pitchFamily="34" charset="-122"/>
                <a:cs typeface="Calibri" pitchFamily="34" charset="-120"/>
              </a:rPr>
              <a:t>TRADE-OFFS</a:t>
            </a:r>
            <a:endParaRPr lang="en-US" sz="1050" dirty="0"/>
          </a:p>
        </p:txBody>
      </p:sp>
      <p:sp>
        <p:nvSpPr>
          <p:cNvPr id="22" name="Text 20"/>
          <p:cNvSpPr/>
          <p:nvPr/>
        </p:nvSpPr>
        <p:spPr>
          <a:xfrm>
            <a:off x="6611112" y="5120640"/>
            <a:ext cx="4617720" cy="59436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Higher egress cost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NSX-T</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Internal routing architecture</a:t>
            </a:r>
            <a:endParaRPr lang="en-US" sz="3400" dirty="0"/>
          </a:p>
        </p:txBody>
      </p:sp>
      <p:sp>
        <p:nvSpPr>
          <p:cNvPr id="4" name="Text 2"/>
          <p:cNvSpPr/>
          <p:nvPr/>
        </p:nvSpPr>
        <p:spPr>
          <a:xfrm>
            <a:off x="640080" y="1371600"/>
            <a:ext cx="9326880" cy="41148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AVS workload networks are implemented as NSX-T segments, with logical routing provided by Tier-0 and Tier-1 gateways.</a:t>
            </a:r>
            <a:endParaRPr lang="en-US" sz="1500" dirty="0"/>
          </a:p>
        </p:txBody>
      </p:sp>
      <p:sp>
        <p:nvSpPr>
          <p:cNvPr id="5" name="Shape 3"/>
          <p:cNvSpPr/>
          <p:nvPr/>
        </p:nvSpPr>
        <p:spPr>
          <a:xfrm>
            <a:off x="640080" y="2011680"/>
            <a:ext cx="3511296" cy="3840480"/>
          </a:xfrm>
          <a:prstGeom prst="roundRect">
            <a:avLst>
              <a:gd name="adj" fmla="val 1823"/>
            </a:avLst>
          </a:prstGeom>
          <a:solidFill>
            <a:srgbClr val="F4F7F8"/>
          </a:solidFill>
          <a:ln w="9525">
            <a:solidFill>
              <a:srgbClr val="DDE2E2"/>
            </a:solidFill>
            <a:prstDash val="solid"/>
          </a:ln>
        </p:spPr>
      </p:sp>
      <p:sp>
        <p:nvSpPr>
          <p:cNvPr id="6" name="Shape 4"/>
          <p:cNvSpPr/>
          <p:nvPr/>
        </p:nvSpPr>
        <p:spPr>
          <a:xfrm>
            <a:off x="640080" y="2011680"/>
            <a:ext cx="3511296" cy="548640"/>
          </a:xfrm>
          <a:prstGeom prst="roundRect">
            <a:avLst>
              <a:gd name="adj" fmla="val 11667"/>
            </a:avLst>
          </a:prstGeom>
          <a:solidFill>
            <a:srgbClr val="2DCCD3"/>
          </a:solidFill>
          <a:ln w="12700">
            <a:solidFill>
              <a:srgbClr val="2DCCD3"/>
            </a:solidFill>
            <a:prstDash val="solid"/>
          </a:ln>
        </p:spPr>
      </p:sp>
      <p:sp>
        <p:nvSpPr>
          <p:cNvPr id="7" name="Text 5"/>
          <p:cNvSpPr/>
          <p:nvPr/>
        </p:nvSpPr>
        <p:spPr>
          <a:xfrm>
            <a:off x="896112" y="2011680"/>
            <a:ext cx="2999232"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Tier-1 gateway</a:t>
            </a:r>
            <a:endParaRPr lang="en-US" sz="1700" dirty="0"/>
          </a:p>
        </p:txBody>
      </p:sp>
      <p:sp>
        <p:nvSpPr>
          <p:cNvPr id="8" name="Text 6"/>
          <p:cNvSpPr/>
          <p:nvPr/>
        </p:nvSpPr>
        <p:spPr>
          <a:xfrm>
            <a:off x="896112" y="2697480"/>
            <a:ext cx="2999232" cy="237744"/>
          </a:xfrm>
          <a:prstGeom prst="rect">
            <a:avLst/>
          </a:prstGeom>
          <a:noFill/>
          <a:ln/>
        </p:spPr>
        <p:txBody>
          <a:bodyPr wrap="square" lIns="0" tIns="0" rIns="0" bIns="0" rtlCol="0" anchor="ctr"/>
          <a:lstStyle/>
          <a:p>
            <a:pPr indent="0" marL="0">
              <a:buNone/>
            </a:pPr>
            <a:r>
              <a:rPr lang="en-US" sz="1050" b="1" spc="150" kern="0" dirty="0">
                <a:solidFill>
                  <a:srgbClr val="55555F"/>
                </a:solidFill>
                <a:latin typeface="Calibri" pitchFamily="34" charset="0"/>
                <a:ea typeface="Calibri" pitchFamily="34" charset="-122"/>
                <a:cs typeface="Calibri" pitchFamily="34" charset="-120"/>
              </a:rPr>
              <a:t>EAST-WEST TRAFFIC</a:t>
            </a:r>
            <a:endParaRPr lang="en-US" sz="1050" dirty="0"/>
          </a:p>
        </p:txBody>
      </p:sp>
      <p:sp>
        <p:nvSpPr>
          <p:cNvPr id="9" name="Text 7"/>
          <p:cNvSpPr/>
          <p:nvPr/>
        </p:nvSpPr>
        <p:spPr>
          <a:xfrm>
            <a:off x="896112" y="3017520"/>
            <a:ext cx="2999232" cy="2606040"/>
          </a:xfrm>
          <a:prstGeom prst="rect">
            <a:avLst/>
          </a:prstGeom>
          <a:noFill/>
          <a:ln/>
        </p:spPr>
        <p:txBody>
          <a:bodyPr wrap="square" lIns="0" tIns="0" rIns="0" bIns="0" rtlCol="0" anchor="ctr"/>
          <a:lstStyle/>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Moves traffic between internal workload segments.</a:t>
            </a:r>
            <a:endParaRPr lang="en-US" sz="1300" dirty="0"/>
          </a:p>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Operates in active-standby high availability.</a:t>
            </a:r>
            <a:endParaRPr lang="en-US" sz="1300" dirty="0"/>
          </a:p>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Traffic may be processed by distributed logical routing close to the workloads.</a:t>
            </a:r>
            <a:endParaRPr lang="en-US" sz="1300" dirty="0"/>
          </a:p>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Internal communication can stay inside the AVS environment.</a:t>
            </a:r>
            <a:endParaRPr lang="en-US" sz="1300" dirty="0"/>
          </a:p>
        </p:txBody>
      </p:sp>
      <p:sp>
        <p:nvSpPr>
          <p:cNvPr id="10" name="Shape 8"/>
          <p:cNvSpPr/>
          <p:nvPr/>
        </p:nvSpPr>
        <p:spPr>
          <a:xfrm>
            <a:off x="4535424" y="2011680"/>
            <a:ext cx="3511296" cy="3840480"/>
          </a:xfrm>
          <a:prstGeom prst="roundRect">
            <a:avLst>
              <a:gd name="adj" fmla="val 1823"/>
            </a:avLst>
          </a:prstGeom>
          <a:solidFill>
            <a:srgbClr val="F4F7F8"/>
          </a:solidFill>
          <a:ln w="9525">
            <a:solidFill>
              <a:srgbClr val="DDE2E2"/>
            </a:solidFill>
            <a:prstDash val="solid"/>
          </a:ln>
        </p:spPr>
      </p:sp>
      <p:sp>
        <p:nvSpPr>
          <p:cNvPr id="11" name="Shape 9"/>
          <p:cNvSpPr/>
          <p:nvPr/>
        </p:nvSpPr>
        <p:spPr>
          <a:xfrm>
            <a:off x="4535424" y="2011680"/>
            <a:ext cx="3511296" cy="548640"/>
          </a:xfrm>
          <a:prstGeom prst="roundRect">
            <a:avLst>
              <a:gd name="adj" fmla="val 11667"/>
            </a:avLst>
          </a:prstGeom>
          <a:solidFill>
            <a:srgbClr val="00B3E2"/>
          </a:solidFill>
          <a:ln w="12700">
            <a:solidFill>
              <a:srgbClr val="00B3E2"/>
            </a:solidFill>
            <a:prstDash val="solid"/>
          </a:ln>
        </p:spPr>
      </p:sp>
      <p:sp>
        <p:nvSpPr>
          <p:cNvPr id="12" name="Text 10"/>
          <p:cNvSpPr/>
          <p:nvPr/>
        </p:nvSpPr>
        <p:spPr>
          <a:xfrm>
            <a:off x="4791456" y="2011680"/>
            <a:ext cx="2999232"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Tier-0 gateway</a:t>
            </a:r>
            <a:endParaRPr lang="en-US" sz="1700" dirty="0"/>
          </a:p>
        </p:txBody>
      </p:sp>
      <p:sp>
        <p:nvSpPr>
          <p:cNvPr id="13" name="Text 11"/>
          <p:cNvSpPr/>
          <p:nvPr/>
        </p:nvSpPr>
        <p:spPr>
          <a:xfrm>
            <a:off x="4791456" y="2697480"/>
            <a:ext cx="2999232" cy="237744"/>
          </a:xfrm>
          <a:prstGeom prst="rect">
            <a:avLst/>
          </a:prstGeom>
          <a:noFill/>
          <a:ln/>
        </p:spPr>
        <p:txBody>
          <a:bodyPr wrap="square" lIns="0" tIns="0" rIns="0" bIns="0" rtlCol="0" anchor="ctr"/>
          <a:lstStyle/>
          <a:p>
            <a:pPr indent="0" marL="0">
              <a:buNone/>
            </a:pPr>
            <a:r>
              <a:rPr lang="en-US" sz="1050" b="1" spc="150" kern="0" dirty="0">
                <a:solidFill>
                  <a:srgbClr val="55555F"/>
                </a:solidFill>
                <a:latin typeface="Calibri" pitchFamily="34" charset="0"/>
                <a:ea typeface="Calibri" pitchFamily="34" charset="-122"/>
                <a:cs typeface="Calibri" pitchFamily="34" charset="-120"/>
              </a:rPr>
              <a:t>NORTH-SOUTH TRAFFIC</a:t>
            </a:r>
            <a:endParaRPr lang="en-US" sz="1050" dirty="0"/>
          </a:p>
        </p:txBody>
      </p:sp>
      <p:sp>
        <p:nvSpPr>
          <p:cNvPr id="14" name="Text 12"/>
          <p:cNvSpPr/>
          <p:nvPr/>
        </p:nvSpPr>
        <p:spPr>
          <a:xfrm>
            <a:off x="4791456" y="3017520"/>
            <a:ext cx="2999232" cy="2606040"/>
          </a:xfrm>
          <a:prstGeom prst="rect">
            <a:avLst/>
          </a:prstGeom>
          <a:noFill/>
          <a:ln/>
        </p:spPr>
        <p:txBody>
          <a:bodyPr wrap="square" lIns="0" tIns="0" rIns="0" bIns="0" rtlCol="0" anchor="ctr"/>
          <a:lstStyle/>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Connects workloads to Azure, on-premises networks, and the internet.</a:t>
            </a:r>
            <a:endParaRPr lang="en-US" sz="1300" dirty="0"/>
          </a:p>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Operates in active-active mode.</a:t>
            </a:r>
            <a:endParaRPr lang="en-US" sz="1300" dirty="0"/>
          </a:p>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Processes BGP routes, NAT, firewall policy, and external traffic.</a:t>
            </a:r>
            <a:endParaRPr lang="en-US" sz="1300" dirty="0"/>
          </a:p>
        </p:txBody>
      </p:sp>
      <p:sp>
        <p:nvSpPr>
          <p:cNvPr id="15" name="Shape 13"/>
          <p:cNvSpPr/>
          <p:nvPr/>
        </p:nvSpPr>
        <p:spPr>
          <a:xfrm>
            <a:off x="8430768" y="2011680"/>
            <a:ext cx="3511296" cy="3840480"/>
          </a:xfrm>
          <a:prstGeom prst="roundRect">
            <a:avLst>
              <a:gd name="adj" fmla="val 1823"/>
            </a:avLst>
          </a:prstGeom>
          <a:solidFill>
            <a:srgbClr val="F4F7F8"/>
          </a:solidFill>
          <a:ln w="9525">
            <a:solidFill>
              <a:srgbClr val="DDE2E2"/>
            </a:solidFill>
            <a:prstDash val="solid"/>
          </a:ln>
        </p:spPr>
      </p:sp>
      <p:sp>
        <p:nvSpPr>
          <p:cNvPr id="16" name="Shape 14"/>
          <p:cNvSpPr/>
          <p:nvPr/>
        </p:nvSpPr>
        <p:spPr>
          <a:xfrm>
            <a:off x="8430768" y="2011680"/>
            <a:ext cx="3511296" cy="548640"/>
          </a:xfrm>
          <a:prstGeom prst="roundRect">
            <a:avLst>
              <a:gd name="adj" fmla="val 11667"/>
            </a:avLst>
          </a:prstGeom>
          <a:solidFill>
            <a:srgbClr val="00AD93"/>
          </a:solidFill>
          <a:ln w="12700">
            <a:solidFill>
              <a:srgbClr val="00AD93"/>
            </a:solidFill>
            <a:prstDash val="solid"/>
          </a:ln>
        </p:spPr>
      </p:sp>
      <p:sp>
        <p:nvSpPr>
          <p:cNvPr id="17" name="Text 15"/>
          <p:cNvSpPr/>
          <p:nvPr/>
        </p:nvSpPr>
        <p:spPr>
          <a:xfrm>
            <a:off x="8686800" y="2011680"/>
            <a:ext cx="2999232"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Equal-Cost Multipath</a:t>
            </a:r>
            <a:endParaRPr lang="en-US" sz="1700" dirty="0"/>
          </a:p>
        </p:txBody>
      </p:sp>
      <p:sp>
        <p:nvSpPr>
          <p:cNvPr id="18" name="Text 16"/>
          <p:cNvSpPr/>
          <p:nvPr/>
        </p:nvSpPr>
        <p:spPr>
          <a:xfrm>
            <a:off x="8686800" y="2697480"/>
            <a:ext cx="2999232" cy="237744"/>
          </a:xfrm>
          <a:prstGeom prst="rect">
            <a:avLst/>
          </a:prstGeom>
          <a:noFill/>
          <a:ln/>
        </p:spPr>
        <p:txBody>
          <a:bodyPr wrap="square" lIns="0" tIns="0" rIns="0" bIns="0" rtlCol="0" anchor="ctr"/>
          <a:lstStyle/>
          <a:p>
            <a:pPr indent="0" marL="0">
              <a:buNone/>
            </a:pPr>
            <a:r>
              <a:rPr lang="en-US" sz="1050" b="1" spc="150" kern="0" dirty="0">
                <a:solidFill>
                  <a:srgbClr val="55555F"/>
                </a:solidFill>
                <a:latin typeface="Calibri" pitchFamily="34" charset="0"/>
                <a:ea typeface="Calibri" pitchFamily="34" charset="-122"/>
                <a:cs typeface="Calibri" pitchFamily="34" charset="-120"/>
              </a:rPr>
              <a:t>FLOW DISTRIBUTION</a:t>
            </a:r>
            <a:endParaRPr lang="en-US" sz="1050" dirty="0"/>
          </a:p>
        </p:txBody>
      </p:sp>
      <p:sp>
        <p:nvSpPr>
          <p:cNvPr id="19" name="Text 17"/>
          <p:cNvSpPr/>
          <p:nvPr/>
        </p:nvSpPr>
        <p:spPr>
          <a:xfrm>
            <a:off x="8686800" y="3017520"/>
            <a:ext cx="2999232" cy="2606040"/>
          </a:xfrm>
          <a:prstGeom prst="rect">
            <a:avLst/>
          </a:prstGeom>
          <a:noFill/>
          <a:ln/>
        </p:spPr>
        <p:txBody>
          <a:bodyPr wrap="square" lIns="0" tIns="0" rIns="0" bIns="0" rtlCol="0" anchor="ctr"/>
          <a:lstStyle/>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Tier-0 uses ECMP to distribute traffic across gateways.</a:t>
            </a:r>
            <a:endParaRPr lang="en-US" sz="1300" dirty="0"/>
          </a:p>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A deterministic hash over source IP, destination IP, source port, and destination port selects the path.</a:t>
            </a:r>
            <a:endParaRPr lang="en-US" sz="1300" dirty="0"/>
          </a:p>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All packets in a flow stay on one path; different flows spread across Tier-0 nodes.</a:t>
            </a:r>
            <a:endParaRPr lang="en-US" sz="1300" dirty="0"/>
          </a:p>
          <a:p>
            <a:pPr marL="177800" indent="-177800">
              <a:spcAft>
                <a:spcPts val="700"/>
              </a:spcAft>
              <a:buSzPct val="100000"/>
              <a:buChar char="•"/>
            </a:pPr>
            <a:r>
              <a:rPr lang="en-US" sz="1300" dirty="0">
                <a:solidFill>
                  <a:srgbClr val="55555F"/>
                </a:solidFill>
                <a:latin typeface="Calibri" pitchFamily="34" charset="0"/>
                <a:ea typeface="Calibri" pitchFamily="34" charset="-122"/>
                <a:cs typeface="Calibri" pitchFamily="34" charset="-120"/>
              </a:rPr>
              <a:t>This prevents out-of-order delivery and increases aggregate throughput.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HCX LAYER-2 STRETCH</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The DHCP broadcast trap</a:t>
            </a:r>
            <a:endParaRPr lang="en-US" sz="3400" dirty="0"/>
          </a:p>
        </p:txBody>
      </p:sp>
      <p:sp>
        <p:nvSpPr>
          <p:cNvPr id="4" name="Text 2"/>
          <p:cNvSpPr/>
          <p:nvPr/>
        </p:nvSpPr>
        <p:spPr>
          <a:xfrm>
            <a:off x="640080" y="1371600"/>
            <a:ext cx="10972800" cy="502920"/>
          </a:xfrm>
          <a:prstGeom prst="rect">
            <a:avLst/>
          </a:prstGeom>
          <a:noFill/>
          <a:ln/>
        </p:spPr>
        <p:txBody>
          <a:bodyPr wrap="square" lIns="0" tIns="0" rIns="0" bIns="0" rtlCol="0" anchor="ctr"/>
          <a:lstStyle/>
          <a:p>
            <a:pPr indent="0" marL="0">
              <a:buNone/>
            </a:pPr>
            <a:r>
              <a:rPr lang="en-US" sz="1500" dirty="0">
                <a:solidFill>
                  <a:srgbClr val="55555F"/>
                </a:solidFill>
                <a:latin typeface="Calibri" pitchFamily="34" charset="0"/>
                <a:ea typeface="Calibri" pitchFamily="34" charset="-122"/>
                <a:cs typeface="Calibri" pitchFamily="34" charset="-120"/>
              </a:rPr>
              <a:t>Layer-2 stretching lets migrated VMs keep their IP addresses, original subnet, and original default gateway, which supports migration without immediate readdressing. It also introduces a failure that looks like a broken network.</a:t>
            </a:r>
            <a:endParaRPr lang="en-US" sz="1500" dirty="0"/>
          </a:p>
        </p:txBody>
      </p:sp>
      <p:sp>
        <p:nvSpPr>
          <p:cNvPr id="5" name="Shape 3"/>
          <p:cNvSpPr/>
          <p:nvPr/>
        </p:nvSpPr>
        <p:spPr>
          <a:xfrm>
            <a:off x="640080" y="2103120"/>
            <a:ext cx="2542032" cy="1874520"/>
          </a:xfrm>
          <a:prstGeom prst="roundRect">
            <a:avLst>
              <a:gd name="adj" fmla="val 3415"/>
            </a:avLst>
          </a:prstGeom>
          <a:solidFill>
            <a:srgbClr val="F4F7F8"/>
          </a:solidFill>
          <a:ln w="9525">
            <a:solidFill>
              <a:srgbClr val="DDE2E2"/>
            </a:solidFill>
            <a:prstDash val="solid"/>
          </a:ln>
        </p:spPr>
      </p:sp>
      <p:sp>
        <p:nvSpPr>
          <p:cNvPr id="6" name="Shape 4"/>
          <p:cNvSpPr/>
          <p:nvPr/>
        </p:nvSpPr>
        <p:spPr>
          <a:xfrm>
            <a:off x="896112" y="2304288"/>
            <a:ext cx="384048" cy="384048"/>
          </a:xfrm>
          <a:prstGeom prst="ellipse">
            <a:avLst/>
          </a:prstGeom>
          <a:solidFill>
            <a:srgbClr val="3E3E4B"/>
          </a:solidFill>
          <a:ln w="12700">
            <a:solidFill>
              <a:srgbClr val="3E3E4B"/>
            </a:solidFill>
            <a:prstDash val="solid"/>
          </a:ln>
        </p:spPr>
      </p:sp>
      <p:sp>
        <p:nvSpPr>
          <p:cNvPr id="7" name="Text 5"/>
          <p:cNvSpPr/>
          <p:nvPr/>
        </p:nvSpPr>
        <p:spPr>
          <a:xfrm>
            <a:off x="896112" y="2304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896112" y="2788920"/>
            <a:ext cx="2029968" cy="384048"/>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VM requests an address</a:t>
            </a:r>
            <a:endParaRPr lang="en-US" sz="1450" dirty="0"/>
          </a:p>
        </p:txBody>
      </p:sp>
      <p:sp>
        <p:nvSpPr>
          <p:cNvPr id="9" name="Text 7"/>
          <p:cNvSpPr/>
          <p:nvPr/>
        </p:nvSpPr>
        <p:spPr>
          <a:xfrm>
            <a:off x="896112" y="3200400"/>
            <a:ext cx="2029968" cy="6858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A newly created VM on the Azure side sends a DHCP Discover broadcast.</a:t>
            </a:r>
            <a:endParaRPr lang="en-US" sz="1250" dirty="0"/>
          </a:p>
        </p:txBody>
      </p:sp>
      <p:sp>
        <p:nvSpPr>
          <p:cNvPr id="10" name="Shape 8"/>
          <p:cNvSpPr/>
          <p:nvPr/>
        </p:nvSpPr>
        <p:spPr>
          <a:xfrm>
            <a:off x="3429000" y="2103120"/>
            <a:ext cx="2542032" cy="1874520"/>
          </a:xfrm>
          <a:prstGeom prst="roundRect">
            <a:avLst>
              <a:gd name="adj" fmla="val 3415"/>
            </a:avLst>
          </a:prstGeom>
          <a:solidFill>
            <a:srgbClr val="F4F7F8"/>
          </a:solidFill>
          <a:ln w="9525">
            <a:solidFill>
              <a:srgbClr val="DDE2E2"/>
            </a:solidFill>
            <a:prstDash val="solid"/>
          </a:ln>
        </p:spPr>
      </p:sp>
      <p:sp>
        <p:nvSpPr>
          <p:cNvPr id="11" name="Shape 9"/>
          <p:cNvSpPr/>
          <p:nvPr/>
        </p:nvSpPr>
        <p:spPr>
          <a:xfrm>
            <a:off x="3685032" y="2304288"/>
            <a:ext cx="384048" cy="384048"/>
          </a:xfrm>
          <a:prstGeom prst="ellipse">
            <a:avLst/>
          </a:prstGeom>
          <a:solidFill>
            <a:srgbClr val="3E3E4B"/>
          </a:solidFill>
          <a:ln w="12700">
            <a:solidFill>
              <a:srgbClr val="3E3E4B"/>
            </a:solidFill>
            <a:prstDash val="solid"/>
          </a:ln>
        </p:spPr>
      </p:sp>
      <p:sp>
        <p:nvSpPr>
          <p:cNvPr id="12" name="Text 10"/>
          <p:cNvSpPr/>
          <p:nvPr/>
        </p:nvSpPr>
        <p:spPr>
          <a:xfrm>
            <a:off x="3685032" y="2304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3685032" y="2788920"/>
            <a:ext cx="2029968" cy="384048"/>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NSX-T blocks the broadcast</a:t>
            </a:r>
            <a:endParaRPr lang="en-US" sz="1450" dirty="0"/>
          </a:p>
        </p:txBody>
      </p:sp>
      <p:sp>
        <p:nvSpPr>
          <p:cNvPr id="14" name="Text 12"/>
          <p:cNvSpPr/>
          <p:nvPr/>
        </p:nvSpPr>
        <p:spPr>
          <a:xfrm>
            <a:off x="3685032" y="3200400"/>
            <a:ext cx="2029968" cy="6858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DHCP broadcasts do not cross the HCX Layer-2 extension by default.</a:t>
            </a:r>
            <a:endParaRPr lang="en-US" sz="1250" dirty="0"/>
          </a:p>
        </p:txBody>
      </p:sp>
      <p:sp>
        <p:nvSpPr>
          <p:cNvPr id="15" name="Shape 13"/>
          <p:cNvSpPr/>
          <p:nvPr/>
        </p:nvSpPr>
        <p:spPr>
          <a:xfrm>
            <a:off x="6217920" y="2103120"/>
            <a:ext cx="2542032" cy="1874520"/>
          </a:xfrm>
          <a:prstGeom prst="roundRect">
            <a:avLst>
              <a:gd name="adj" fmla="val 3415"/>
            </a:avLst>
          </a:prstGeom>
          <a:solidFill>
            <a:srgbClr val="F4F7F8"/>
          </a:solidFill>
          <a:ln w="9525">
            <a:solidFill>
              <a:srgbClr val="DDE2E2"/>
            </a:solidFill>
            <a:prstDash val="solid"/>
          </a:ln>
        </p:spPr>
      </p:sp>
      <p:sp>
        <p:nvSpPr>
          <p:cNvPr id="16" name="Shape 14"/>
          <p:cNvSpPr/>
          <p:nvPr/>
        </p:nvSpPr>
        <p:spPr>
          <a:xfrm>
            <a:off x="6473952" y="2304288"/>
            <a:ext cx="384048" cy="384048"/>
          </a:xfrm>
          <a:prstGeom prst="ellipse">
            <a:avLst/>
          </a:prstGeom>
          <a:solidFill>
            <a:srgbClr val="3E3E4B"/>
          </a:solidFill>
          <a:ln w="12700">
            <a:solidFill>
              <a:srgbClr val="3E3E4B"/>
            </a:solidFill>
            <a:prstDash val="solid"/>
          </a:ln>
        </p:spPr>
      </p:sp>
      <p:sp>
        <p:nvSpPr>
          <p:cNvPr id="17" name="Text 15"/>
          <p:cNvSpPr/>
          <p:nvPr/>
        </p:nvSpPr>
        <p:spPr>
          <a:xfrm>
            <a:off x="6473952" y="2304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6473952" y="2788920"/>
            <a:ext cx="2029968" cy="384048"/>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No offer arrives</a:t>
            </a:r>
            <a:endParaRPr lang="en-US" sz="1450" dirty="0"/>
          </a:p>
        </p:txBody>
      </p:sp>
      <p:sp>
        <p:nvSpPr>
          <p:cNvPr id="19" name="Text 17"/>
          <p:cNvSpPr/>
          <p:nvPr/>
        </p:nvSpPr>
        <p:spPr>
          <a:xfrm>
            <a:off x="6473952" y="3200400"/>
            <a:ext cx="2029968" cy="6858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The VM never receives a DHCP offer.</a:t>
            </a:r>
            <a:endParaRPr lang="en-US" sz="1250" dirty="0"/>
          </a:p>
        </p:txBody>
      </p:sp>
      <p:sp>
        <p:nvSpPr>
          <p:cNvPr id="20" name="Shape 18"/>
          <p:cNvSpPr/>
          <p:nvPr/>
        </p:nvSpPr>
        <p:spPr>
          <a:xfrm>
            <a:off x="9006840" y="2103120"/>
            <a:ext cx="2542032" cy="1874520"/>
          </a:xfrm>
          <a:prstGeom prst="roundRect">
            <a:avLst>
              <a:gd name="adj" fmla="val 3415"/>
            </a:avLst>
          </a:prstGeom>
          <a:solidFill>
            <a:srgbClr val="F4F7F8"/>
          </a:solidFill>
          <a:ln w="9525">
            <a:solidFill>
              <a:srgbClr val="DDE2E2"/>
            </a:solidFill>
            <a:prstDash val="solid"/>
          </a:ln>
        </p:spPr>
      </p:sp>
      <p:sp>
        <p:nvSpPr>
          <p:cNvPr id="21" name="Shape 19"/>
          <p:cNvSpPr/>
          <p:nvPr/>
        </p:nvSpPr>
        <p:spPr>
          <a:xfrm>
            <a:off x="9262872" y="2304288"/>
            <a:ext cx="384048" cy="384048"/>
          </a:xfrm>
          <a:prstGeom prst="ellipse">
            <a:avLst/>
          </a:prstGeom>
          <a:solidFill>
            <a:srgbClr val="F15D23"/>
          </a:solidFill>
          <a:ln w="12700">
            <a:solidFill>
              <a:srgbClr val="F15D23"/>
            </a:solidFill>
            <a:prstDash val="solid"/>
          </a:ln>
        </p:spPr>
      </p:sp>
      <p:sp>
        <p:nvSpPr>
          <p:cNvPr id="22" name="Text 20"/>
          <p:cNvSpPr/>
          <p:nvPr/>
        </p:nvSpPr>
        <p:spPr>
          <a:xfrm>
            <a:off x="9262872" y="2304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9262872" y="2788920"/>
            <a:ext cx="2029968" cy="384048"/>
          </a:xfrm>
          <a:prstGeom prst="rect">
            <a:avLst/>
          </a:prstGeom>
          <a:noFill/>
          <a:ln/>
        </p:spPr>
        <p:txBody>
          <a:bodyPr wrap="square" lIns="0" tIns="0" rIns="0" bIns="0" rtlCol="0" anchor="ctr"/>
          <a:lstStyle/>
          <a:p>
            <a:pPr indent="0" marL="0">
              <a:buNone/>
            </a:pPr>
            <a:r>
              <a:rPr lang="en-US" sz="1450" b="1" dirty="0">
                <a:solidFill>
                  <a:srgbClr val="3E3E4B"/>
                </a:solidFill>
                <a:latin typeface="Calibri" pitchFamily="34" charset="0"/>
                <a:ea typeface="Calibri" pitchFamily="34" charset="-122"/>
                <a:cs typeface="Calibri" pitchFamily="34" charset="-120"/>
              </a:rPr>
              <a:t>It reads as a network failure</a:t>
            </a:r>
            <a:endParaRPr lang="en-US" sz="1450" dirty="0"/>
          </a:p>
        </p:txBody>
      </p:sp>
      <p:sp>
        <p:nvSpPr>
          <p:cNvPr id="24" name="Text 22"/>
          <p:cNvSpPr/>
          <p:nvPr/>
        </p:nvSpPr>
        <p:spPr>
          <a:xfrm>
            <a:off x="9262872" y="3200400"/>
            <a:ext cx="2029968" cy="68580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The symptom points at DHCP or connectivity rather than at a deliberate policy.</a:t>
            </a:r>
            <a:endParaRPr lang="en-US" sz="1250" dirty="0"/>
          </a:p>
        </p:txBody>
      </p:sp>
      <p:sp>
        <p:nvSpPr>
          <p:cNvPr id="25" name="Shape 23"/>
          <p:cNvSpPr/>
          <p:nvPr/>
        </p:nvSpPr>
        <p:spPr>
          <a:xfrm>
            <a:off x="640080" y="4206240"/>
            <a:ext cx="5257800" cy="1783080"/>
          </a:xfrm>
          <a:prstGeom prst="roundRect">
            <a:avLst>
              <a:gd name="adj" fmla="val 3590"/>
            </a:avLst>
          </a:prstGeom>
          <a:solidFill>
            <a:srgbClr val="E5F7FC"/>
          </a:solidFill>
          <a:ln w="9525">
            <a:solidFill>
              <a:srgbClr val="B2E8F6"/>
            </a:solidFill>
            <a:prstDash val="solid"/>
          </a:ln>
        </p:spPr>
      </p:sp>
      <p:sp>
        <p:nvSpPr>
          <p:cNvPr id="26" name="Text 24"/>
          <p:cNvSpPr/>
          <p:nvPr/>
        </p:nvSpPr>
        <p:spPr>
          <a:xfrm>
            <a:off x="960120" y="4389120"/>
            <a:ext cx="4617720" cy="292608"/>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Why NSX-T suppresses it</a:t>
            </a:r>
            <a:endParaRPr lang="en-US" sz="1500" dirty="0"/>
          </a:p>
        </p:txBody>
      </p:sp>
      <p:sp>
        <p:nvSpPr>
          <p:cNvPr id="27" name="Text 25"/>
          <p:cNvSpPr/>
          <p:nvPr/>
        </p:nvSpPr>
        <p:spPr>
          <a:xfrm>
            <a:off x="960120" y="4709160"/>
            <a:ext cx="4617720" cy="1051560"/>
          </a:xfrm>
          <a:prstGeom prst="rect">
            <a:avLst/>
          </a:prstGeom>
          <a:noFill/>
          <a:ln/>
        </p:spPr>
        <p:txBody>
          <a:bodyPr wrap="square" lIns="0" tIns="0" rIns="0" bIns="0" rtlCol="0" anchor="ctr"/>
          <a:lstStyle/>
          <a:p>
            <a:pPr indent="0" marL="0">
              <a:buNone/>
            </a:pPr>
            <a:r>
              <a:rPr lang="en-US" sz="1250" dirty="0">
                <a:solidFill>
                  <a:srgbClr val="1A5F7A"/>
                </a:solidFill>
                <a:latin typeface="Calibri" pitchFamily="34" charset="0"/>
                <a:ea typeface="Calibri" pitchFamily="34" charset="-122"/>
                <a:cs typeface="Calibri" pitchFamily="34" charset="-120"/>
              </a:rPr>
              <a:t>A WAN link is not a local Ethernet switch. Broadcast traffic must be replicated across the overlay, and unrestricted broadcasts can create encapsulation overhead, WAN saturation, VPN gateway CPU exhaustion, and broadcast storms.</a:t>
            </a:r>
            <a:endParaRPr lang="en-US" sz="1250" dirty="0"/>
          </a:p>
        </p:txBody>
      </p:sp>
      <p:sp>
        <p:nvSpPr>
          <p:cNvPr id="28" name="Shape 26"/>
          <p:cNvSpPr/>
          <p:nvPr/>
        </p:nvSpPr>
        <p:spPr>
          <a:xfrm>
            <a:off x="6519672" y="4206240"/>
            <a:ext cx="5029200" cy="1783080"/>
          </a:xfrm>
          <a:prstGeom prst="roundRect">
            <a:avLst>
              <a:gd name="adj" fmla="val 3590"/>
            </a:avLst>
          </a:prstGeom>
          <a:solidFill>
            <a:srgbClr val="E9F7F2"/>
          </a:solidFill>
          <a:ln w="9525">
            <a:solidFill>
              <a:srgbClr val="9FD9C9"/>
            </a:solidFill>
            <a:prstDash val="solid"/>
          </a:ln>
        </p:spPr>
      </p:sp>
      <p:sp>
        <p:nvSpPr>
          <p:cNvPr id="29" name="Text 27"/>
          <p:cNvSpPr/>
          <p:nvPr/>
        </p:nvSpPr>
        <p:spPr>
          <a:xfrm>
            <a:off x="6839712" y="4389120"/>
            <a:ext cx="4389120" cy="292608"/>
          </a:xfrm>
          <a:prstGeom prst="rect">
            <a:avLst/>
          </a:prstGeom>
          <a:noFill/>
          <a:ln/>
        </p:spPr>
        <p:txBody>
          <a:bodyPr wrap="square" lIns="0" tIns="0" rIns="0" bIns="0" rtlCol="0" anchor="ctr"/>
          <a:lstStyle/>
          <a:p>
            <a:pPr indent="0" marL="0">
              <a:buNone/>
            </a:pPr>
            <a:r>
              <a:rPr lang="en-US" sz="1500" b="1" dirty="0">
                <a:solidFill>
                  <a:srgbClr val="00795F"/>
                </a:solidFill>
                <a:latin typeface="Calibri" pitchFamily="34" charset="0"/>
                <a:ea typeface="Calibri" pitchFamily="34" charset="-122"/>
                <a:cs typeface="Calibri" pitchFamily="34" charset="-120"/>
              </a:rPr>
              <a:t>The supported workaround</a:t>
            </a:r>
            <a:endParaRPr lang="en-US" sz="1500" dirty="0"/>
          </a:p>
        </p:txBody>
      </p:sp>
      <p:sp>
        <p:nvSpPr>
          <p:cNvPr id="30" name="Text 28"/>
          <p:cNvSpPr/>
          <p:nvPr/>
        </p:nvSpPr>
        <p:spPr>
          <a:xfrm>
            <a:off x="6839712" y="4690872"/>
            <a:ext cx="4389120" cy="1234440"/>
          </a:xfrm>
          <a:prstGeom prst="rect">
            <a:avLst/>
          </a:prstGeom>
          <a:noFill/>
          <a:ln/>
        </p:spPr>
        <p:txBody>
          <a:bodyPr wrap="square" lIns="0" tIns="0" rIns="0" bIns="0" rtlCol="0" anchor="ctr"/>
          <a:lstStyle/>
          <a:p>
            <a:pPr marL="177800" indent="-177800">
              <a:spcAft>
                <a:spcPts val="300"/>
              </a:spcAft>
              <a:buSzPct val="100000"/>
              <a:buChar char="•"/>
            </a:pPr>
            <a:r>
              <a:rPr lang="en-US" sz="1150" dirty="0">
                <a:solidFill>
                  <a:srgbClr val="55555F"/>
                </a:solidFill>
                <a:latin typeface="Calibri" pitchFamily="34" charset="0"/>
                <a:ea typeface="Calibri" pitchFamily="34" charset="-122"/>
                <a:cs typeface="Calibri" pitchFamily="34" charset="-120"/>
              </a:rPr>
              <a:t>While stretched, disable the DHCP filtering options in the NSX segment-security profile so requests reach the on-premises DHCP server.</a:t>
            </a:r>
            <a:endParaRPr lang="en-US" sz="1150" dirty="0"/>
          </a:p>
          <a:p>
            <a:pPr marL="177800" indent="-177800">
              <a:spcAft>
                <a:spcPts val="300"/>
              </a:spcAft>
              <a:buSzPct val="100000"/>
              <a:buChar char="•"/>
            </a:pPr>
            <a:r>
              <a:rPr lang="en-US" sz="1150" dirty="0">
                <a:solidFill>
                  <a:srgbClr val="55555F"/>
                </a:solidFill>
                <a:latin typeface="Calibri" pitchFamily="34" charset="0"/>
                <a:ea typeface="Calibri" pitchFamily="34" charset="-122"/>
                <a:cs typeface="Calibri" pitchFamily="34" charset="-120"/>
              </a:rPr>
              <a:t>Do not configure NSX DHCP relay while the network is stretched; clients can receive incorrect or no responses.</a:t>
            </a:r>
            <a:endParaRPr lang="en-US" sz="1150" dirty="0"/>
          </a:p>
          <a:p>
            <a:pPr marL="177800" indent="-177800">
              <a:spcAft>
                <a:spcPts val="300"/>
              </a:spcAft>
              <a:buSzPct val="100000"/>
              <a:buChar char="•"/>
            </a:pPr>
            <a:r>
              <a:rPr lang="en-US" sz="1150" dirty="0">
                <a:solidFill>
                  <a:srgbClr val="55555F"/>
                </a:solidFill>
                <a:latin typeface="Calibri" pitchFamily="34" charset="0"/>
                <a:ea typeface="Calibri" pitchFamily="34" charset="-122"/>
                <a:cs typeface="Calibri" pitchFamily="34" charset="-120"/>
              </a:rPr>
              <a:t>After gateway failover or removal of the extension, configure NSX DHCP relay or an NSX DHCP server.</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HYBRID DNS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Resolving AVS names from on-premises</a:t>
            </a:r>
            <a:endParaRPr lang="en-US" sz="3400" dirty="0"/>
          </a:p>
        </p:txBody>
      </p:sp>
      <p:sp>
        <p:nvSpPr>
          <p:cNvPr id="4" name="Shape 2"/>
          <p:cNvSpPr/>
          <p:nvPr/>
        </p:nvSpPr>
        <p:spPr>
          <a:xfrm>
            <a:off x="640080" y="1600200"/>
            <a:ext cx="4937760" cy="2148840"/>
          </a:xfrm>
          <a:prstGeom prst="roundRect">
            <a:avLst>
              <a:gd name="adj" fmla="val 2979"/>
            </a:avLst>
          </a:prstGeom>
          <a:solidFill>
            <a:srgbClr val="3E3E4B"/>
          </a:solidFill>
          <a:ln w="9525">
            <a:solidFill>
              <a:srgbClr val="3E3E4B"/>
            </a:solidFill>
            <a:prstDash val="solid"/>
          </a:ln>
        </p:spPr>
      </p:sp>
      <p:sp>
        <p:nvSpPr>
          <p:cNvPr id="5" name="Text 3"/>
          <p:cNvSpPr/>
          <p:nvPr/>
        </p:nvSpPr>
        <p:spPr>
          <a:xfrm>
            <a:off x="1005840" y="1828800"/>
            <a:ext cx="4206240" cy="594360"/>
          </a:xfrm>
          <a:prstGeom prst="rect">
            <a:avLst/>
          </a:prstGeom>
          <a:noFill/>
          <a:ln/>
        </p:spPr>
        <p:txBody>
          <a:bodyPr wrap="square" lIns="0" tIns="0" rIns="0" bIns="0" rtlCol="0" anchor="ctr"/>
          <a:lstStyle/>
          <a:p>
            <a:pPr indent="0" marL="0">
              <a:buNone/>
            </a:pPr>
            <a:r>
              <a:rPr lang="en-US" sz="3400" b="1" dirty="0">
                <a:solidFill>
                  <a:srgbClr val="00B3E2"/>
                </a:solidFill>
                <a:latin typeface="Calibri" pitchFamily="34" charset="0"/>
                <a:ea typeface="Calibri" pitchFamily="34" charset="-122"/>
                <a:cs typeface="Calibri" pitchFamily="34" charset="-120"/>
              </a:rPr>
              <a:t>168.63.129.16</a:t>
            </a:r>
            <a:endParaRPr lang="en-US" sz="3400" dirty="0"/>
          </a:p>
        </p:txBody>
      </p:sp>
      <p:sp>
        <p:nvSpPr>
          <p:cNvPr id="6" name="Text 4"/>
          <p:cNvSpPr/>
          <p:nvPr/>
        </p:nvSpPr>
        <p:spPr>
          <a:xfrm>
            <a:off x="1005840" y="2377440"/>
            <a:ext cx="420624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Azure platform DNS address</a:t>
            </a:r>
            <a:endParaRPr lang="en-US" sz="1500" dirty="0"/>
          </a:p>
        </p:txBody>
      </p:sp>
      <p:sp>
        <p:nvSpPr>
          <p:cNvPr id="7" name="Text 5"/>
          <p:cNvSpPr/>
          <p:nvPr/>
        </p:nvSpPr>
        <p:spPr>
          <a:xfrm>
            <a:off x="1005840" y="2788920"/>
            <a:ext cx="4206240" cy="822960"/>
          </a:xfrm>
          <a:prstGeom prst="rect">
            <a:avLst/>
          </a:prstGeom>
          <a:noFill/>
          <a:ln/>
        </p:spPr>
        <p:txBody>
          <a:bodyPr wrap="square" lIns="0" tIns="0" rIns="0" bIns="0" rtlCol="0" anchor="ctr"/>
          <a:lstStyle/>
          <a:p>
            <a:pPr indent="0" marL="0">
              <a:buNone/>
            </a:pPr>
            <a:r>
              <a:rPr lang="en-US" sz="1250" dirty="0">
                <a:solidFill>
                  <a:srgbClr val="C9CCD6"/>
                </a:solidFill>
                <a:latin typeface="Calibri" pitchFamily="34" charset="0"/>
                <a:ea typeface="Calibri" pitchFamily="34" charset="-122"/>
                <a:cs typeface="Calibri" pitchFamily="34" charset="-120"/>
              </a:rPr>
              <a:t>An Anycast virtual address, not a normal internet-routed DNS server. Traffic to it is intercepted locally by the Azure platform and forwarded into Azure's internal DNS fabric.</a:t>
            </a:r>
            <a:endParaRPr lang="en-US" sz="1250" dirty="0"/>
          </a:p>
        </p:txBody>
      </p:sp>
      <p:sp>
        <p:nvSpPr>
          <p:cNvPr id="8" name="Shape 6"/>
          <p:cNvSpPr/>
          <p:nvPr/>
        </p:nvSpPr>
        <p:spPr>
          <a:xfrm>
            <a:off x="640080" y="3931920"/>
            <a:ext cx="4937760" cy="1920240"/>
          </a:xfrm>
          <a:prstGeom prst="roundRect">
            <a:avLst>
              <a:gd name="adj" fmla="val 3333"/>
            </a:avLst>
          </a:prstGeom>
          <a:solidFill>
            <a:srgbClr val="E5F7FC"/>
          </a:solidFill>
          <a:ln w="9525">
            <a:solidFill>
              <a:srgbClr val="B2E8F6"/>
            </a:solidFill>
            <a:prstDash val="solid"/>
          </a:ln>
        </p:spPr>
      </p:sp>
      <p:sp>
        <p:nvSpPr>
          <p:cNvPr id="9" name="Text 7"/>
          <p:cNvSpPr/>
          <p:nvPr/>
        </p:nvSpPr>
        <p:spPr>
          <a:xfrm>
            <a:off x="960120" y="4114800"/>
            <a:ext cx="4297680" cy="292608"/>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The hybrid gap</a:t>
            </a:r>
            <a:endParaRPr lang="en-US" sz="1500" dirty="0"/>
          </a:p>
        </p:txBody>
      </p:sp>
      <p:sp>
        <p:nvSpPr>
          <p:cNvPr id="10" name="Text 8"/>
          <p:cNvSpPr/>
          <p:nvPr/>
        </p:nvSpPr>
        <p:spPr>
          <a:xfrm>
            <a:off x="960120" y="4434840"/>
            <a:ext cx="4297680" cy="1280160"/>
          </a:xfrm>
          <a:prstGeom prst="rect">
            <a:avLst/>
          </a:prstGeom>
          <a:noFill/>
          <a:ln/>
        </p:spPr>
        <p:txBody>
          <a:bodyPr wrap="square" lIns="0" tIns="0" rIns="0" bIns="0" rtlCol="0" anchor="ctr"/>
          <a:lstStyle/>
          <a:p>
            <a:pPr marL="177800" indent="-177800">
              <a:spcAft>
                <a:spcPts val="500"/>
              </a:spcAft>
              <a:buSzPct val="100000"/>
              <a:buChar char="•"/>
            </a:pPr>
            <a:r>
              <a:rPr lang="en-US" sz="1250" dirty="0">
                <a:solidFill>
                  <a:srgbClr val="1A5F7A"/>
                </a:solidFill>
                <a:latin typeface="Calibri" pitchFamily="34" charset="0"/>
                <a:ea typeface="Calibri" pitchFamily="34" charset="-122"/>
                <a:cs typeface="Calibri" pitchFamily="34" charset="-120"/>
              </a:rPr>
              <a:t>On-premises users need to resolve private AVS names.</a:t>
            </a:r>
            <a:endParaRPr lang="en-US" sz="1250" dirty="0"/>
          </a:p>
          <a:p>
            <a:pPr marL="177800" indent="-177800">
              <a:spcAft>
                <a:spcPts val="500"/>
              </a:spcAft>
              <a:buSzPct val="100000"/>
              <a:buChar char="•"/>
            </a:pPr>
            <a:r>
              <a:rPr lang="en-US" sz="1250" dirty="0">
                <a:solidFill>
                  <a:srgbClr val="1A5F7A"/>
                </a:solidFill>
                <a:latin typeface="Calibri" pitchFamily="34" charset="0"/>
                <a:ea typeface="Calibri" pitchFamily="34" charset="-122"/>
                <a:cs typeface="Calibri" pitchFamily="34" charset="-120"/>
              </a:rPr>
              <a:t>Those records are not published in public DNS.</a:t>
            </a:r>
            <a:endParaRPr lang="en-US" sz="1250" dirty="0"/>
          </a:p>
          <a:p>
            <a:pPr marL="177800" indent="-177800">
              <a:spcAft>
                <a:spcPts val="500"/>
              </a:spcAft>
              <a:buSzPct val="100000"/>
              <a:buChar char="•"/>
            </a:pPr>
            <a:r>
              <a:rPr lang="en-US" sz="1250" dirty="0">
                <a:solidFill>
                  <a:srgbClr val="1A5F7A"/>
                </a:solidFill>
                <a:latin typeface="Calibri" pitchFamily="34" charset="0"/>
                <a:ea typeface="Calibri" pitchFamily="34" charset="-122"/>
                <a:cs typeface="Calibri" pitchFamily="34" charset="-120"/>
              </a:rPr>
              <a:t>Traditional on-premises DNS servers cannot reach Azure platform DNS directly.</a:t>
            </a:r>
            <a:endParaRPr lang="en-US" sz="1250" dirty="0"/>
          </a:p>
        </p:txBody>
      </p:sp>
      <p:sp>
        <p:nvSpPr>
          <p:cNvPr id="11" name="Text 9"/>
          <p:cNvSpPr/>
          <p:nvPr/>
        </p:nvSpPr>
        <p:spPr>
          <a:xfrm>
            <a:off x="5989320" y="1645920"/>
            <a:ext cx="5577840" cy="320040"/>
          </a:xfrm>
          <a:prstGeom prst="rect">
            <a:avLst/>
          </a:prstGeom>
          <a:noFill/>
          <a:ln/>
        </p:spPr>
        <p:txBody>
          <a:bodyPr wrap="square" lIns="0" tIns="0" rIns="0" bIns="0" rtlCol="0" anchor="ctr"/>
          <a:lstStyle/>
          <a:p>
            <a:pPr indent="0" marL="0">
              <a:buNone/>
            </a:pPr>
            <a:r>
              <a:rPr lang="en-US" sz="1900" b="1" dirty="0">
                <a:solidFill>
                  <a:srgbClr val="3E3E4B"/>
                </a:solidFill>
                <a:latin typeface="Calibri" pitchFamily="34" charset="0"/>
                <a:ea typeface="Calibri" pitchFamily="34" charset="-122"/>
                <a:cs typeface="Calibri" pitchFamily="34" charset="-120"/>
              </a:rPr>
              <a:t>Azure DNS Private Resolver</a:t>
            </a:r>
            <a:endParaRPr lang="en-US" sz="1900" dirty="0"/>
          </a:p>
        </p:txBody>
      </p:sp>
      <p:sp>
        <p:nvSpPr>
          <p:cNvPr id="12" name="Text 10"/>
          <p:cNvSpPr/>
          <p:nvPr/>
        </p:nvSpPr>
        <p:spPr>
          <a:xfrm>
            <a:off x="5989320" y="2011680"/>
            <a:ext cx="5577840" cy="777240"/>
          </a:xfrm>
          <a:prstGeom prst="rect">
            <a:avLst/>
          </a:prstGeom>
          <a:noFill/>
          <a:ln/>
        </p:spPr>
        <p:txBody>
          <a:bodyPr wrap="square" lIns="0" tIns="0" rIns="0" bIns="0" rtlCol="0" anchor="ctr"/>
          <a:lstStyle/>
          <a:p>
            <a:pPr indent="0" marL="0">
              <a:buNone/>
            </a:pPr>
            <a:r>
              <a:rPr lang="en-US" sz="1350" dirty="0">
                <a:solidFill>
                  <a:srgbClr val="55555F"/>
                </a:solidFill>
                <a:latin typeface="Calibri" pitchFamily="34" charset="0"/>
                <a:ea typeface="Calibri" pitchFamily="34" charset="-122"/>
                <a:cs typeface="Calibri" pitchFamily="34" charset="-120"/>
              </a:rPr>
              <a:t>Deploy the resolver in an Azure VNet with an inbound endpoint subnet and an outbound endpoint subnet. Small /28 subnets are sufficient. The inbound endpoint receives a private IP that on-premises DNS forwards to.</a:t>
            </a:r>
            <a:endParaRPr lang="en-US" sz="1350" dirty="0"/>
          </a:p>
        </p:txBody>
      </p:sp>
      <p:sp>
        <p:nvSpPr>
          <p:cNvPr id="13" name="Shape 11"/>
          <p:cNvSpPr/>
          <p:nvPr/>
        </p:nvSpPr>
        <p:spPr>
          <a:xfrm>
            <a:off x="5989320" y="2880360"/>
            <a:ext cx="5577840" cy="493776"/>
          </a:xfrm>
          <a:prstGeom prst="roundRect">
            <a:avLst>
              <a:gd name="adj" fmla="val 12963"/>
            </a:avLst>
          </a:prstGeom>
          <a:solidFill>
            <a:srgbClr val="F4F7F8"/>
          </a:solidFill>
          <a:ln w="9525">
            <a:solidFill>
              <a:srgbClr val="DDE2E2"/>
            </a:solidFill>
            <a:prstDash val="solid"/>
          </a:ln>
        </p:spPr>
      </p:sp>
      <p:sp>
        <p:nvSpPr>
          <p:cNvPr id="14" name="Shape 12"/>
          <p:cNvSpPr/>
          <p:nvPr/>
        </p:nvSpPr>
        <p:spPr>
          <a:xfrm>
            <a:off x="6117336" y="2935224"/>
            <a:ext cx="384048" cy="384048"/>
          </a:xfrm>
          <a:prstGeom prst="ellipse">
            <a:avLst/>
          </a:prstGeom>
          <a:solidFill>
            <a:srgbClr val="8DB9D9"/>
          </a:solidFill>
          <a:ln w="12700">
            <a:solidFill>
              <a:srgbClr val="8DB9D9"/>
            </a:solidFill>
            <a:prstDash val="solid"/>
          </a:ln>
        </p:spPr>
      </p:sp>
      <p:sp>
        <p:nvSpPr>
          <p:cNvPr id="15" name="Text 13"/>
          <p:cNvSpPr/>
          <p:nvPr/>
        </p:nvSpPr>
        <p:spPr>
          <a:xfrm>
            <a:off x="6117336" y="29352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4"/>
          <p:cNvSpPr/>
          <p:nvPr/>
        </p:nvSpPr>
        <p:spPr>
          <a:xfrm>
            <a:off x="6647688" y="2880360"/>
            <a:ext cx="4754880" cy="493776"/>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On-premises client</a:t>
            </a:r>
            <a:endParaRPr lang="en-US" sz="1300" dirty="0"/>
          </a:p>
        </p:txBody>
      </p:sp>
      <p:sp>
        <p:nvSpPr>
          <p:cNvPr id="17" name="Shape 15"/>
          <p:cNvSpPr/>
          <p:nvPr/>
        </p:nvSpPr>
        <p:spPr>
          <a:xfrm>
            <a:off x="6300216" y="3374136"/>
            <a:ext cx="18288" cy="109728"/>
          </a:xfrm>
          <a:prstGeom prst="rect">
            <a:avLst/>
          </a:prstGeom>
          <a:solidFill>
            <a:srgbClr val="8DB9D9"/>
          </a:solidFill>
          <a:ln w="12700">
            <a:solidFill>
              <a:srgbClr val="8DB9D9"/>
            </a:solidFill>
            <a:prstDash val="solid"/>
          </a:ln>
        </p:spPr>
      </p:sp>
      <p:sp>
        <p:nvSpPr>
          <p:cNvPr id="18" name="Shape 16"/>
          <p:cNvSpPr/>
          <p:nvPr/>
        </p:nvSpPr>
        <p:spPr>
          <a:xfrm>
            <a:off x="5989320" y="3483864"/>
            <a:ext cx="5577840" cy="493776"/>
          </a:xfrm>
          <a:prstGeom prst="roundRect">
            <a:avLst>
              <a:gd name="adj" fmla="val 12963"/>
            </a:avLst>
          </a:prstGeom>
          <a:solidFill>
            <a:srgbClr val="F4F7F8"/>
          </a:solidFill>
          <a:ln w="9525">
            <a:solidFill>
              <a:srgbClr val="DDE2E2"/>
            </a:solidFill>
            <a:prstDash val="solid"/>
          </a:ln>
        </p:spPr>
      </p:sp>
      <p:sp>
        <p:nvSpPr>
          <p:cNvPr id="19" name="Shape 17"/>
          <p:cNvSpPr/>
          <p:nvPr/>
        </p:nvSpPr>
        <p:spPr>
          <a:xfrm>
            <a:off x="6117336" y="3538728"/>
            <a:ext cx="384048" cy="384048"/>
          </a:xfrm>
          <a:prstGeom prst="ellipse">
            <a:avLst/>
          </a:prstGeom>
          <a:solidFill>
            <a:srgbClr val="8DB9D9"/>
          </a:solidFill>
          <a:ln w="12700">
            <a:solidFill>
              <a:srgbClr val="8DB9D9"/>
            </a:solidFill>
            <a:prstDash val="solid"/>
          </a:ln>
        </p:spPr>
      </p:sp>
      <p:sp>
        <p:nvSpPr>
          <p:cNvPr id="20" name="Text 18"/>
          <p:cNvSpPr/>
          <p:nvPr/>
        </p:nvSpPr>
        <p:spPr>
          <a:xfrm>
            <a:off x="6117336" y="35387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9"/>
          <p:cNvSpPr/>
          <p:nvPr/>
        </p:nvSpPr>
        <p:spPr>
          <a:xfrm>
            <a:off x="6647688" y="3483864"/>
            <a:ext cx="4754880" cy="493776"/>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On-premises DNS server (conditional forwarder)</a:t>
            </a:r>
            <a:endParaRPr lang="en-US" sz="1300" dirty="0"/>
          </a:p>
        </p:txBody>
      </p:sp>
      <p:sp>
        <p:nvSpPr>
          <p:cNvPr id="22" name="Shape 20"/>
          <p:cNvSpPr/>
          <p:nvPr/>
        </p:nvSpPr>
        <p:spPr>
          <a:xfrm>
            <a:off x="6300216" y="3977640"/>
            <a:ext cx="18288" cy="109728"/>
          </a:xfrm>
          <a:prstGeom prst="rect">
            <a:avLst/>
          </a:prstGeom>
          <a:solidFill>
            <a:srgbClr val="8DB9D9"/>
          </a:solidFill>
          <a:ln w="12700">
            <a:solidFill>
              <a:srgbClr val="8DB9D9"/>
            </a:solidFill>
            <a:prstDash val="solid"/>
          </a:ln>
        </p:spPr>
      </p:sp>
      <p:sp>
        <p:nvSpPr>
          <p:cNvPr id="23" name="Shape 21"/>
          <p:cNvSpPr/>
          <p:nvPr/>
        </p:nvSpPr>
        <p:spPr>
          <a:xfrm>
            <a:off x="5989320" y="4087368"/>
            <a:ext cx="5577840" cy="493776"/>
          </a:xfrm>
          <a:prstGeom prst="roundRect">
            <a:avLst>
              <a:gd name="adj" fmla="val 12963"/>
            </a:avLst>
          </a:prstGeom>
          <a:solidFill>
            <a:srgbClr val="F4F7F8"/>
          </a:solidFill>
          <a:ln w="9525">
            <a:solidFill>
              <a:srgbClr val="DDE2E2"/>
            </a:solidFill>
            <a:prstDash val="solid"/>
          </a:ln>
        </p:spPr>
      </p:sp>
      <p:sp>
        <p:nvSpPr>
          <p:cNvPr id="24" name="Shape 22"/>
          <p:cNvSpPr/>
          <p:nvPr/>
        </p:nvSpPr>
        <p:spPr>
          <a:xfrm>
            <a:off x="6117336" y="4142232"/>
            <a:ext cx="384048" cy="384048"/>
          </a:xfrm>
          <a:prstGeom prst="ellipse">
            <a:avLst/>
          </a:prstGeom>
          <a:solidFill>
            <a:srgbClr val="8DB9D9"/>
          </a:solidFill>
          <a:ln w="12700">
            <a:solidFill>
              <a:srgbClr val="8DB9D9"/>
            </a:solidFill>
            <a:prstDash val="solid"/>
          </a:ln>
        </p:spPr>
      </p:sp>
      <p:sp>
        <p:nvSpPr>
          <p:cNvPr id="25" name="Text 23"/>
          <p:cNvSpPr/>
          <p:nvPr/>
        </p:nvSpPr>
        <p:spPr>
          <a:xfrm>
            <a:off x="6117336" y="41422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p:nvPr/>
        </p:nvSpPr>
        <p:spPr>
          <a:xfrm>
            <a:off x="6647688" y="4087368"/>
            <a:ext cx="4754880" cy="493776"/>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VPN or ExpressRoute</a:t>
            </a:r>
            <a:endParaRPr lang="en-US" sz="1300" dirty="0"/>
          </a:p>
        </p:txBody>
      </p:sp>
      <p:sp>
        <p:nvSpPr>
          <p:cNvPr id="27" name="Shape 25"/>
          <p:cNvSpPr/>
          <p:nvPr/>
        </p:nvSpPr>
        <p:spPr>
          <a:xfrm>
            <a:off x="6300216" y="4581144"/>
            <a:ext cx="18288" cy="109728"/>
          </a:xfrm>
          <a:prstGeom prst="rect">
            <a:avLst/>
          </a:prstGeom>
          <a:solidFill>
            <a:srgbClr val="8DB9D9"/>
          </a:solidFill>
          <a:ln w="12700">
            <a:solidFill>
              <a:srgbClr val="8DB9D9"/>
            </a:solidFill>
            <a:prstDash val="solid"/>
          </a:ln>
        </p:spPr>
      </p:sp>
      <p:sp>
        <p:nvSpPr>
          <p:cNvPr id="28" name="Shape 26"/>
          <p:cNvSpPr/>
          <p:nvPr/>
        </p:nvSpPr>
        <p:spPr>
          <a:xfrm>
            <a:off x="5989320" y="4690872"/>
            <a:ext cx="5577840" cy="493776"/>
          </a:xfrm>
          <a:prstGeom prst="roundRect">
            <a:avLst>
              <a:gd name="adj" fmla="val 12963"/>
            </a:avLst>
          </a:prstGeom>
          <a:solidFill>
            <a:srgbClr val="F4F7F8"/>
          </a:solidFill>
          <a:ln w="9525">
            <a:solidFill>
              <a:srgbClr val="DDE2E2"/>
            </a:solidFill>
            <a:prstDash val="solid"/>
          </a:ln>
        </p:spPr>
      </p:sp>
      <p:sp>
        <p:nvSpPr>
          <p:cNvPr id="29" name="Shape 27"/>
          <p:cNvSpPr/>
          <p:nvPr/>
        </p:nvSpPr>
        <p:spPr>
          <a:xfrm>
            <a:off x="6117336" y="4745736"/>
            <a:ext cx="384048" cy="384048"/>
          </a:xfrm>
          <a:prstGeom prst="ellipse">
            <a:avLst/>
          </a:prstGeom>
          <a:solidFill>
            <a:srgbClr val="8DB9D9"/>
          </a:solidFill>
          <a:ln w="12700">
            <a:solidFill>
              <a:srgbClr val="8DB9D9"/>
            </a:solidFill>
            <a:prstDash val="solid"/>
          </a:ln>
        </p:spPr>
      </p:sp>
      <p:sp>
        <p:nvSpPr>
          <p:cNvPr id="30" name="Text 28"/>
          <p:cNvSpPr/>
          <p:nvPr/>
        </p:nvSpPr>
        <p:spPr>
          <a:xfrm>
            <a:off x="6117336" y="47457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1" name="Text 29"/>
          <p:cNvSpPr/>
          <p:nvPr/>
        </p:nvSpPr>
        <p:spPr>
          <a:xfrm>
            <a:off x="6647688" y="4690872"/>
            <a:ext cx="4754880" cy="493776"/>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Private Resolver inbound endpoint</a:t>
            </a:r>
            <a:endParaRPr lang="en-US" sz="1300" dirty="0"/>
          </a:p>
        </p:txBody>
      </p:sp>
      <p:sp>
        <p:nvSpPr>
          <p:cNvPr id="32" name="Shape 30"/>
          <p:cNvSpPr/>
          <p:nvPr/>
        </p:nvSpPr>
        <p:spPr>
          <a:xfrm>
            <a:off x="6300216" y="5184648"/>
            <a:ext cx="18288" cy="109728"/>
          </a:xfrm>
          <a:prstGeom prst="rect">
            <a:avLst/>
          </a:prstGeom>
          <a:solidFill>
            <a:srgbClr val="8DB9D9"/>
          </a:solidFill>
          <a:ln w="12700">
            <a:solidFill>
              <a:srgbClr val="8DB9D9"/>
            </a:solidFill>
            <a:prstDash val="solid"/>
          </a:ln>
        </p:spPr>
      </p:sp>
      <p:sp>
        <p:nvSpPr>
          <p:cNvPr id="33" name="Shape 31"/>
          <p:cNvSpPr/>
          <p:nvPr/>
        </p:nvSpPr>
        <p:spPr>
          <a:xfrm>
            <a:off x="5989320" y="5294376"/>
            <a:ext cx="5577840" cy="493776"/>
          </a:xfrm>
          <a:prstGeom prst="roundRect">
            <a:avLst>
              <a:gd name="adj" fmla="val 12963"/>
            </a:avLst>
          </a:prstGeom>
          <a:solidFill>
            <a:srgbClr val="E5F7FC"/>
          </a:solidFill>
          <a:ln w="9525">
            <a:solidFill>
              <a:srgbClr val="B2E8F6"/>
            </a:solidFill>
            <a:prstDash val="solid"/>
          </a:ln>
        </p:spPr>
      </p:sp>
      <p:sp>
        <p:nvSpPr>
          <p:cNvPr id="34" name="Shape 32"/>
          <p:cNvSpPr/>
          <p:nvPr/>
        </p:nvSpPr>
        <p:spPr>
          <a:xfrm>
            <a:off x="6117336" y="5349240"/>
            <a:ext cx="384048" cy="384048"/>
          </a:xfrm>
          <a:prstGeom prst="ellipse">
            <a:avLst/>
          </a:prstGeom>
          <a:solidFill>
            <a:srgbClr val="00B3E2"/>
          </a:solidFill>
          <a:ln w="12700">
            <a:solidFill>
              <a:srgbClr val="00B3E2"/>
            </a:solidFill>
            <a:prstDash val="solid"/>
          </a:ln>
        </p:spPr>
      </p:sp>
      <p:sp>
        <p:nvSpPr>
          <p:cNvPr id="35" name="Text 33"/>
          <p:cNvSpPr/>
          <p:nvPr/>
        </p:nvSpPr>
        <p:spPr>
          <a:xfrm>
            <a:off x="6117336" y="5349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6" name="Text 34"/>
          <p:cNvSpPr/>
          <p:nvPr/>
        </p:nvSpPr>
        <p:spPr>
          <a:xfrm>
            <a:off x="6647688" y="5294376"/>
            <a:ext cx="4754880" cy="493776"/>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Azure platform DNS</a:t>
            </a:r>
            <a:endParaRPr lang="en-US" sz="1300" dirty="0"/>
          </a:p>
        </p:txBody>
      </p:sp>
      <p:sp>
        <p:nvSpPr>
          <p:cNvPr id="37" name="Text 35"/>
          <p:cNvSpPr/>
          <p:nvPr/>
        </p:nvSpPr>
        <p:spPr>
          <a:xfrm>
            <a:off x="5989320" y="5943600"/>
            <a:ext cx="5577840" cy="320040"/>
          </a:xfrm>
          <a:prstGeom prst="rect">
            <a:avLst/>
          </a:prstGeom>
          <a:noFill/>
          <a:ln/>
        </p:spPr>
        <p:txBody>
          <a:bodyPr wrap="square" lIns="0" tIns="0" rIns="0" bIns="0" rtlCol="0" anchor="ctr"/>
          <a:lstStyle/>
          <a:p>
            <a:pPr indent="0" marL="0">
              <a:buNone/>
            </a:pPr>
            <a:r>
              <a:rPr lang="en-US" sz="1150" i="1" dirty="0">
                <a:solidFill>
                  <a:srgbClr val="55555F"/>
                </a:solidFill>
                <a:latin typeface="Calibri" pitchFamily="34" charset="0"/>
                <a:ea typeface="Calibri" pitchFamily="34" charset="-122"/>
                <a:cs typeface="Calibri" pitchFamily="34" charset="-120"/>
              </a:rPr>
              <a:t>The response returns through the same path, providing private hybrid resolution without standalone DNS servers in Azure.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ROUTE CAPACITY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The limits nobody sees until they are hit</a:t>
            </a:r>
            <a:endParaRPr lang="en-US" sz="3400" dirty="0"/>
          </a:p>
        </p:txBody>
      </p:sp>
      <p:sp>
        <p:nvSpPr>
          <p:cNvPr id="4" name="Shape 2"/>
          <p:cNvSpPr/>
          <p:nvPr/>
        </p:nvSpPr>
        <p:spPr>
          <a:xfrm>
            <a:off x="640080" y="1645920"/>
            <a:ext cx="3511296" cy="1874520"/>
          </a:xfrm>
          <a:prstGeom prst="roundRect">
            <a:avLst>
              <a:gd name="adj" fmla="val 3415"/>
            </a:avLst>
          </a:prstGeom>
          <a:solidFill>
            <a:srgbClr val="4A4A58"/>
          </a:solidFill>
          <a:ln w="9525">
            <a:solidFill>
              <a:srgbClr val="5C5C6C"/>
            </a:solidFill>
            <a:prstDash val="solid"/>
          </a:ln>
        </p:spPr>
      </p:sp>
      <p:sp>
        <p:nvSpPr>
          <p:cNvPr id="5" name="Text 3"/>
          <p:cNvSpPr/>
          <p:nvPr/>
        </p:nvSpPr>
        <p:spPr>
          <a:xfrm>
            <a:off x="914400" y="1828800"/>
            <a:ext cx="2962656" cy="777240"/>
          </a:xfrm>
          <a:prstGeom prst="rect">
            <a:avLst/>
          </a:prstGeom>
          <a:noFill/>
          <a:ln/>
        </p:spPr>
        <p:txBody>
          <a:bodyPr wrap="square" lIns="0" tIns="0" rIns="0" bIns="0" rtlCol="0" anchor="ctr"/>
          <a:lstStyle/>
          <a:p>
            <a:pPr indent="0" marL="0">
              <a:buNone/>
            </a:pPr>
            <a:r>
              <a:rPr lang="en-US" sz="4400" b="1" dirty="0">
                <a:solidFill>
                  <a:srgbClr val="00B3E2"/>
                </a:solidFill>
                <a:latin typeface="Calibri" pitchFamily="34" charset="0"/>
                <a:ea typeface="Calibri" pitchFamily="34" charset="-122"/>
                <a:cs typeface="Calibri" pitchFamily="34" charset="-120"/>
              </a:rPr>
              <a:t>~1,000</a:t>
            </a:r>
            <a:endParaRPr lang="en-US" sz="4400" dirty="0"/>
          </a:p>
        </p:txBody>
      </p:sp>
      <p:sp>
        <p:nvSpPr>
          <p:cNvPr id="6" name="Text 4"/>
          <p:cNvSpPr/>
          <p:nvPr/>
        </p:nvSpPr>
        <p:spPr>
          <a:xfrm>
            <a:off x="914400" y="2606040"/>
            <a:ext cx="29626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route prefixes</a:t>
            </a:r>
            <a:endParaRPr lang="en-US" sz="1500" dirty="0"/>
          </a:p>
        </p:txBody>
      </p:sp>
      <p:sp>
        <p:nvSpPr>
          <p:cNvPr id="7" name="Text 5"/>
          <p:cNvSpPr/>
          <p:nvPr/>
        </p:nvSpPr>
        <p:spPr>
          <a:xfrm>
            <a:off x="914400" y="2926080"/>
            <a:ext cx="2962656" cy="502920"/>
          </a:xfrm>
          <a:prstGeom prst="rect">
            <a:avLst/>
          </a:prstGeom>
          <a:noFill/>
          <a:ln/>
        </p:spPr>
        <p:txBody>
          <a:bodyPr wrap="square" lIns="0" tIns="0" rIns="0" bIns="0" rtlCol="0" anchor="ctr"/>
          <a:lstStyle/>
          <a:p>
            <a:pPr indent="0" marL="0">
              <a:buNone/>
            </a:pPr>
            <a:r>
              <a:rPr lang="en-US" sz="1200" dirty="0">
                <a:solidFill>
                  <a:srgbClr val="C9CCD6"/>
                </a:solidFill>
                <a:latin typeface="Calibri" pitchFamily="34" charset="0"/>
                <a:ea typeface="Calibri" pitchFamily="34" charset="-122"/>
                <a:cs typeface="Calibri" pitchFamily="34" charset="-120"/>
              </a:rPr>
              <a:t>Azure VNet limit</a:t>
            </a:r>
            <a:endParaRPr lang="en-US" sz="1200" dirty="0"/>
          </a:p>
        </p:txBody>
      </p:sp>
      <p:sp>
        <p:nvSpPr>
          <p:cNvPr id="8" name="Shape 6"/>
          <p:cNvSpPr/>
          <p:nvPr/>
        </p:nvSpPr>
        <p:spPr>
          <a:xfrm>
            <a:off x="4535424" y="1645920"/>
            <a:ext cx="3511296" cy="1874520"/>
          </a:xfrm>
          <a:prstGeom prst="roundRect">
            <a:avLst>
              <a:gd name="adj" fmla="val 3415"/>
            </a:avLst>
          </a:prstGeom>
          <a:solidFill>
            <a:srgbClr val="4A4A58"/>
          </a:solidFill>
          <a:ln w="9525">
            <a:solidFill>
              <a:srgbClr val="5C5C6C"/>
            </a:solidFill>
            <a:prstDash val="solid"/>
          </a:ln>
        </p:spPr>
      </p:sp>
      <p:sp>
        <p:nvSpPr>
          <p:cNvPr id="9" name="Text 7"/>
          <p:cNvSpPr/>
          <p:nvPr/>
        </p:nvSpPr>
        <p:spPr>
          <a:xfrm>
            <a:off x="4809744" y="1828800"/>
            <a:ext cx="2962656" cy="777240"/>
          </a:xfrm>
          <a:prstGeom prst="rect">
            <a:avLst/>
          </a:prstGeom>
          <a:noFill/>
          <a:ln/>
        </p:spPr>
        <p:txBody>
          <a:bodyPr wrap="square" lIns="0" tIns="0" rIns="0" bIns="0" rtlCol="0" anchor="ctr"/>
          <a:lstStyle/>
          <a:p>
            <a:pPr indent="0" marL="0">
              <a:buNone/>
            </a:pPr>
            <a:r>
              <a:rPr lang="en-US" sz="4400" b="1" dirty="0">
                <a:solidFill>
                  <a:srgbClr val="00B3E2"/>
                </a:solidFill>
                <a:latin typeface="Calibri" pitchFamily="34" charset="0"/>
                <a:ea typeface="Calibri" pitchFamily="34" charset="-122"/>
                <a:cs typeface="Calibri" pitchFamily="34" charset="-120"/>
              </a:rPr>
              <a:t>~1,024</a:t>
            </a:r>
            <a:endParaRPr lang="en-US" sz="4400" dirty="0"/>
          </a:p>
        </p:txBody>
      </p:sp>
      <p:sp>
        <p:nvSpPr>
          <p:cNvPr id="10" name="Text 8"/>
          <p:cNvSpPr/>
          <p:nvPr/>
        </p:nvSpPr>
        <p:spPr>
          <a:xfrm>
            <a:off x="4809744" y="2606040"/>
            <a:ext cx="29626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prefixes</a:t>
            </a:r>
            <a:endParaRPr lang="en-US" sz="1500" dirty="0"/>
          </a:p>
        </p:txBody>
      </p:sp>
      <p:sp>
        <p:nvSpPr>
          <p:cNvPr id="11" name="Text 9"/>
          <p:cNvSpPr/>
          <p:nvPr/>
        </p:nvSpPr>
        <p:spPr>
          <a:xfrm>
            <a:off x="4809744" y="2926080"/>
            <a:ext cx="2962656" cy="502920"/>
          </a:xfrm>
          <a:prstGeom prst="rect">
            <a:avLst/>
          </a:prstGeom>
          <a:noFill/>
          <a:ln/>
        </p:spPr>
        <p:txBody>
          <a:bodyPr wrap="square" lIns="0" tIns="0" rIns="0" bIns="0" rtlCol="0" anchor="ctr"/>
          <a:lstStyle/>
          <a:p>
            <a:pPr indent="0" marL="0">
              <a:buNone/>
            </a:pPr>
            <a:r>
              <a:rPr lang="en-US" sz="1200" dirty="0">
                <a:solidFill>
                  <a:srgbClr val="C9CCD6"/>
                </a:solidFill>
                <a:latin typeface="Calibri" pitchFamily="34" charset="0"/>
                <a:ea typeface="Calibri" pitchFamily="34" charset="-122"/>
                <a:cs typeface="Calibri" pitchFamily="34" charset="-120"/>
              </a:rPr>
              <a:t>NSX-T Tier-0 gateway virtual NIC limit</a:t>
            </a:r>
            <a:endParaRPr lang="en-US" sz="1200" dirty="0"/>
          </a:p>
        </p:txBody>
      </p:sp>
      <p:sp>
        <p:nvSpPr>
          <p:cNvPr id="12" name="Shape 10"/>
          <p:cNvSpPr/>
          <p:nvPr/>
        </p:nvSpPr>
        <p:spPr>
          <a:xfrm>
            <a:off x="8430768" y="1645920"/>
            <a:ext cx="3511296" cy="1874520"/>
          </a:xfrm>
          <a:prstGeom prst="roundRect">
            <a:avLst>
              <a:gd name="adj" fmla="val 3415"/>
            </a:avLst>
          </a:prstGeom>
          <a:solidFill>
            <a:srgbClr val="4A4A58"/>
          </a:solidFill>
          <a:ln w="9525">
            <a:solidFill>
              <a:srgbClr val="5C5C6C"/>
            </a:solidFill>
            <a:prstDash val="solid"/>
          </a:ln>
        </p:spPr>
      </p:sp>
      <p:sp>
        <p:nvSpPr>
          <p:cNvPr id="13" name="Text 11"/>
          <p:cNvSpPr/>
          <p:nvPr/>
        </p:nvSpPr>
        <p:spPr>
          <a:xfrm>
            <a:off x="8705088" y="1828800"/>
            <a:ext cx="2962656" cy="777240"/>
          </a:xfrm>
          <a:prstGeom prst="rect">
            <a:avLst/>
          </a:prstGeom>
          <a:noFill/>
          <a:ln/>
        </p:spPr>
        <p:txBody>
          <a:bodyPr wrap="square" lIns="0" tIns="0" rIns="0" bIns="0" rtlCol="0" anchor="ctr"/>
          <a:lstStyle/>
          <a:p>
            <a:pPr indent="0" marL="0">
              <a:buNone/>
            </a:pPr>
            <a:r>
              <a:rPr lang="en-US" sz="4400" b="1" dirty="0">
                <a:solidFill>
                  <a:srgbClr val="00B3E2"/>
                </a:solidFill>
                <a:latin typeface="Calibri" pitchFamily="34" charset="0"/>
                <a:ea typeface="Calibri" pitchFamily="34" charset="-122"/>
                <a:cs typeface="Calibri" pitchFamily="34" charset="-120"/>
              </a:rPr>
              <a:t>/28</a:t>
            </a:r>
            <a:endParaRPr lang="en-US" sz="4400" dirty="0"/>
          </a:p>
        </p:txBody>
      </p:sp>
      <p:sp>
        <p:nvSpPr>
          <p:cNvPr id="14" name="Text 12"/>
          <p:cNvSpPr/>
          <p:nvPr/>
        </p:nvSpPr>
        <p:spPr>
          <a:xfrm>
            <a:off x="8705088" y="2606040"/>
            <a:ext cx="29626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fragmentation unit</a:t>
            </a:r>
            <a:endParaRPr lang="en-US" sz="1500" dirty="0"/>
          </a:p>
        </p:txBody>
      </p:sp>
      <p:sp>
        <p:nvSpPr>
          <p:cNvPr id="15" name="Text 13"/>
          <p:cNvSpPr/>
          <p:nvPr/>
        </p:nvSpPr>
        <p:spPr>
          <a:xfrm>
            <a:off x="8705088" y="2926080"/>
            <a:ext cx="2962656" cy="502920"/>
          </a:xfrm>
          <a:prstGeom prst="rect">
            <a:avLst/>
          </a:prstGeom>
          <a:noFill/>
          <a:ln/>
        </p:spPr>
        <p:txBody>
          <a:bodyPr wrap="square" lIns="0" tIns="0" rIns="0" bIns="0" rtlCol="0" anchor="ctr"/>
          <a:lstStyle/>
          <a:p>
            <a:pPr indent="0" marL="0">
              <a:buNone/>
            </a:pPr>
            <a:r>
              <a:rPr lang="en-US" sz="1200" dirty="0">
                <a:solidFill>
                  <a:srgbClr val="C9CCD6"/>
                </a:solidFill>
                <a:latin typeface="Calibri" pitchFamily="34" charset="0"/>
                <a:ea typeface="Calibri" pitchFamily="34" charset="-122"/>
                <a:cs typeface="Calibri" pitchFamily="34" charset="-120"/>
              </a:rPr>
              <a:t>Advertised space is fractured into 16-address blocks</a:t>
            </a:r>
            <a:endParaRPr lang="en-US" sz="1200" dirty="0"/>
          </a:p>
        </p:txBody>
      </p:sp>
      <p:sp>
        <p:nvSpPr>
          <p:cNvPr id="16" name="Text 14"/>
          <p:cNvSpPr/>
          <p:nvPr/>
        </p:nvSpPr>
        <p:spPr>
          <a:xfrm>
            <a:off x="640080" y="3749040"/>
            <a:ext cx="525780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Why hardware sets the ceiling</a:t>
            </a:r>
            <a:endParaRPr lang="en-US" sz="1800" dirty="0"/>
          </a:p>
        </p:txBody>
      </p:sp>
      <p:sp>
        <p:nvSpPr>
          <p:cNvPr id="17" name="Text 15"/>
          <p:cNvSpPr/>
          <p:nvPr/>
        </p:nvSpPr>
        <p:spPr>
          <a:xfrm>
            <a:off x="640080" y="4114800"/>
            <a:ext cx="5257800" cy="1737360"/>
          </a:xfrm>
          <a:prstGeom prst="rect">
            <a:avLst/>
          </a:prstGeom>
          <a:noFill/>
          <a:ln/>
        </p:spPr>
        <p:txBody>
          <a:bodyPr wrap="square" lIns="0" tIns="0" rIns="0" bIns="0" rtlCol="0" anchor="ctr"/>
          <a:lstStyle/>
          <a:p>
            <a:pPr marL="177800" indent="-177800">
              <a:spcAft>
                <a:spcPts val="600"/>
              </a:spcAft>
              <a:buSzPct val="100000"/>
              <a:buChar char="•"/>
            </a:pPr>
            <a:r>
              <a:rPr lang="en-US" sz="1300" dirty="0">
                <a:solidFill>
                  <a:srgbClr val="C9CCD6"/>
                </a:solidFill>
                <a:latin typeface="Calibri" pitchFamily="34" charset="0"/>
                <a:ea typeface="Calibri" pitchFamily="34" charset="-122"/>
                <a:cs typeface="Calibri" pitchFamily="34" charset="-120"/>
              </a:rPr>
              <a:t>Azure uses SmartNICs with programmable hardware such as FPGAs to process routes, ACLs, encapsulation, and security functions without the host CPU.</a:t>
            </a:r>
            <a:endParaRPr lang="en-US" sz="1300" dirty="0"/>
          </a:p>
          <a:p>
            <a:pPr marL="177800" indent="-177800">
              <a:spcAft>
                <a:spcPts val="600"/>
              </a:spcAft>
              <a:buSzPct val="100000"/>
              <a:buChar char="•"/>
            </a:pPr>
            <a:r>
              <a:rPr lang="en-US" sz="1300" dirty="0">
                <a:solidFill>
                  <a:srgbClr val="C9CCD6"/>
                </a:solidFill>
                <a:latin typeface="Calibri" pitchFamily="34" charset="0"/>
                <a:ea typeface="Calibri" pitchFamily="34" charset="-122"/>
                <a:cs typeface="Calibri" pitchFamily="34" charset="-120"/>
              </a:rPr>
              <a:t>Routes are stored in ternary content-addressable memory (TCAM), which is fast but physically limited and expensive.</a:t>
            </a:r>
            <a:endParaRPr lang="en-US" sz="1300" dirty="0"/>
          </a:p>
          <a:p>
            <a:pPr marL="177800" indent="-177800">
              <a:spcAft>
                <a:spcPts val="600"/>
              </a:spcAft>
              <a:buSzPct val="100000"/>
              <a:buChar char="•"/>
            </a:pPr>
            <a:r>
              <a:rPr lang="en-US" sz="1300" dirty="0">
                <a:solidFill>
                  <a:srgbClr val="C9CCD6"/>
                </a:solidFill>
                <a:latin typeface="Calibri" pitchFamily="34" charset="0"/>
                <a:ea typeface="Calibri" pitchFamily="34" charset="-122"/>
                <a:cs typeface="Calibri" pitchFamily="34" charset="-120"/>
              </a:rPr>
              <a:t>The routing fabric must standardize how address blocks consume hardware entries.</a:t>
            </a:r>
            <a:endParaRPr lang="en-US" sz="1300" dirty="0"/>
          </a:p>
        </p:txBody>
      </p:sp>
      <p:sp>
        <p:nvSpPr>
          <p:cNvPr id="18" name="Shape 16"/>
          <p:cNvSpPr/>
          <p:nvPr/>
        </p:nvSpPr>
        <p:spPr>
          <a:xfrm>
            <a:off x="6519672" y="3749040"/>
            <a:ext cx="5029200" cy="2103120"/>
          </a:xfrm>
          <a:prstGeom prst="roundRect">
            <a:avLst>
              <a:gd name="adj" fmla="val 3043"/>
            </a:avLst>
          </a:prstGeom>
          <a:solidFill>
            <a:srgbClr val="2F2F3A"/>
          </a:solidFill>
          <a:ln w="9525">
            <a:solidFill>
              <a:srgbClr val="5C5C6C"/>
            </a:solidFill>
            <a:prstDash val="solid"/>
          </a:ln>
        </p:spPr>
      </p:sp>
      <p:sp>
        <p:nvSpPr>
          <p:cNvPr id="19" name="Text 17"/>
          <p:cNvSpPr/>
          <p:nvPr/>
        </p:nvSpPr>
        <p:spPr>
          <a:xfrm>
            <a:off x="6839712" y="3931920"/>
            <a:ext cx="4389120" cy="292608"/>
          </a:xfrm>
          <a:prstGeom prst="rect">
            <a:avLst/>
          </a:prstGeom>
          <a:noFill/>
          <a:ln/>
        </p:spPr>
        <p:txBody>
          <a:bodyPr wrap="square" lIns="0" tIns="0" rIns="0" bIns="0" rtlCol="0" anchor="ctr"/>
          <a:lstStyle/>
          <a:p>
            <a:pPr indent="0" marL="0">
              <a:buNone/>
            </a:pPr>
            <a:r>
              <a:rPr lang="en-US" sz="1500" b="1" dirty="0">
                <a:solidFill>
                  <a:srgbClr val="FAC458"/>
                </a:solidFill>
                <a:latin typeface="Calibri" pitchFamily="34" charset="0"/>
                <a:ea typeface="Calibri" pitchFamily="34" charset="-122"/>
                <a:cs typeface="Calibri" pitchFamily="34" charset="-120"/>
              </a:rPr>
              <a:t>The arithmetic of /28 fragmentation</a:t>
            </a:r>
            <a:endParaRPr lang="en-US" sz="1500" dirty="0"/>
          </a:p>
        </p:txBody>
      </p:sp>
      <p:sp>
        <p:nvSpPr>
          <p:cNvPr id="20" name="Text 18"/>
          <p:cNvSpPr/>
          <p:nvPr/>
        </p:nvSpPr>
        <p:spPr>
          <a:xfrm>
            <a:off x="6839712" y="4315968"/>
            <a:ext cx="11887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One /24</a:t>
            </a:r>
            <a:endParaRPr lang="en-US" sz="1500" dirty="0"/>
          </a:p>
        </p:txBody>
      </p:sp>
      <p:sp>
        <p:nvSpPr>
          <p:cNvPr id="21" name="Text 19"/>
          <p:cNvSpPr/>
          <p:nvPr/>
        </p:nvSpPr>
        <p:spPr>
          <a:xfrm>
            <a:off x="8092440" y="4315968"/>
            <a:ext cx="1645920" cy="36576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256 addresses</a:t>
            </a:r>
            <a:endParaRPr lang="en-US" sz="1300" dirty="0"/>
          </a:p>
        </p:txBody>
      </p:sp>
      <p:sp>
        <p:nvSpPr>
          <p:cNvPr id="22" name="Text 20"/>
          <p:cNvSpPr/>
          <p:nvPr/>
        </p:nvSpPr>
        <p:spPr>
          <a:xfrm>
            <a:off x="9784080" y="4315968"/>
            <a:ext cx="1463040" cy="365760"/>
          </a:xfrm>
          <a:prstGeom prst="rect">
            <a:avLst/>
          </a:prstGeom>
          <a:noFill/>
          <a:ln/>
        </p:spPr>
        <p:txBody>
          <a:bodyPr wrap="square" lIns="0" tIns="0" rIns="0" bIns="0" rtlCol="0" anchor="ctr"/>
          <a:lstStyle/>
          <a:p>
            <a:pPr algn="r" indent="0" marL="0">
              <a:buNone/>
            </a:pPr>
            <a:r>
              <a:rPr lang="en-US" sz="1400" b="1" dirty="0">
                <a:solidFill>
                  <a:srgbClr val="00B3E2"/>
                </a:solidFill>
                <a:latin typeface="Calibri" pitchFamily="34" charset="0"/>
                <a:ea typeface="Calibri" pitchFamily="34" charset="-122"/>
                <a:cs typeface="Calibri" pitchFamily="34" charset="-120"/>
              </a:rPr>
              <a:t>16 prefix slots</a:t>
            </a:r>
            <a:endParaRPr lang="en-US" sz="1400" dirty="0"/>
          </a:p>
        </p:txBody>
      </p:sp>
      <p:sp>
        <p:nvSpPr>
          <p:cNvPr id="23" name="Text 21"/>
          <p:cNvSpPr/>
          <p:nvPr/>
        </p:nvSpPr>
        <p:spPr>
          <a:xfrm>
            <a:off x="6839712" y="4864608"/>
            <a:ext cx="11887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One /22</a:t>
            </a:r>
            <a:endParaRPr lang="en-US" sz="1500" dirty="0"/>
          </a:p>
        </p:txBody>
      </p:sp>
      <p:sp>
        <p:nvSpPr>
          <p:cNvPr id="24" name="Text 22"/>
          <p:cNvSpPr/>
          <p:nvPr/>
        </p:nvSpPr>
        <p:spPr>
          <a:xfrm>
            <a:off x="8092440" y="4864608"/>
            <a:ext cx="1645920" cy="36576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1,024 addresses</a:t>
            </a:r>
            <a:endParaRPr lang="en-US" sz="1300" dirty="0"/>
          </a:p>
        </p:txBody>
      </p:sp>
      <p:sp>
        <p:nvSpPr>
          <p:cNvPr id="25" name="Text 23"/>
          <p:cNvSpPr/>
          <p:nvPr/>
        </p:nvSpPr>
        <p:spPr>
          <a:xfrm>
            <a:off x="9784080" y="4864608"/>
            <a:ext cx="1463040" cy="365760"/>
          </a:xfrm>
          <a:prstGeom prst="rect">
            <a:avLst/>
          </a:prstGeom>
          <a:noFill/>
          <a:ln/>
        </p:spPr>
        <p:txBody>
          <a:bodyPr wrap="square" lIns="0" tIns="0" rIns="0" bIns="0" rtlCol="0" anchor="ctr"/>
          <a:lstStyle/>
          <a:p>
            <a:pPr algn="r" indent="0" marL="0">
              <a:buNone/>
            </a:pPr>
            <a:r>
              <a:rPr lang="en-US" sz="1400" b="1" dirty="0">
                <a:solidFill>
                  <a:srgbClr val="00B3E2"/>
                </a:solidFill>
                <a:latin typeface="Calibri" pitchFamily="34" charset="0"/>
                <a:ea typeface="Calibri" pitchFamily="34" charset="-122"/>
                <a:cs typeface="Calibri" pitchFamily="34" charset="-120"/>
              </a:rPr>
              <a:t>64 prefix slots</a:t>
            </a:r>
            <a:endParaRPr lang="en-US" sz="1400" dirty="0"/>
          </a:p>
        </p:txBody>
      </p:sp>
      <p:sp>
        <p:nvSpPr>
          <p:cNvPr id="26" name="Text 24"/>
          <p:cNvSpPr/>
          <p:nvPr/>
        </p:nvSpPr>
        <p:spPr>
          <a:xfrm>
            <a:off x="6839712" y="5440680"/>
            <a:ext cx="4389120" cy="320040"/>
          </a:xfrm>
          <a:prstGeom prst="rect">
            <a:avLst/>
          </a:prstGeom>
          <a:noFill/>
          <a:ln/>
        </p:spPr>
        <p:txBody>
          <a:bodyPr wrap="square" lIns="0" tIns="0" rIns="0" bIns="0" rtlCol="0" anchor="ctr"/>
          <a:lstStyle/>
          <a:p>
            <a:pPr indent="0" marL="0">
              <a:buNone/>
            </a:pPr>
            <a:r>
              <a:rPr lang="en-US" sz="1200" i="1" dirty="0">
                <a:solidFill>
                  <a:srgbClr val="C9CCD6"/>
                </a:solidFill>
                <a:latin typeface="Calibri" pitchFamily="34" charset="0"/>
                <a:ea typeface="Calibri" pitchFamily="34" charset="-122"/>
                <a:cs typeface="Calibri" pitchFamily="34" charset="-120"/>
              </a:rPr>
              <a:t>The AVS management network consumes route capacity before a single workload network is added.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ROUTE CAPACITY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How 800 migrated VMs become 800 routes</a:t>
            </a:r>
            <a:endParaRPr lang="en-US" sz="3400" dirty="0"/>
          </a:p>
        </p:txBody>
      </p:sp>
      <p:sp>
        <p:nvSpPr>
          <p:cNvPr id="4" name="Shape 2"/>
          <p:cNvSpPr/>
          <p:nvPr/>
        </p:nvSpPr>
        <p:spPr>
          <a:xfrm>
            <a:off x="640080" y="1600200"/>
            <a:ext cx="5257800" cy="1920240"/>
          </a:xfrm>
          <a:prstGeom prst="roundRect">
            <a:avLst>
              <a:gd name="adj" fmla="val 3333"/>
            </a:avLst>
          </a:prstGeom>
          <a:solidFill>
            <a:srgbClr val="F4F7F8"/>
          </a:solidFill>
          <a:ln w="9525">
            <a:solidFill>
              <a:srgbClr val="DDE2E2"/>
            </a:solidFill>
            <a:prstDash val="solid"/>
          </a:ln>
        </p:spPr>
      </p:sp>
      <p:sp>
        <p:nvSpPr>
          <p:cNvPr id="5" name="Text 3"/>
          <p:cNvSpPr/>
          <p:nvPr/>
        </p:nvSpPr>
        <p:spPr>
          <a:xfrm>
            <a:off x="960120" y="1783080"/>
            <a:ext cx="4617720" cy="292608"/>
          </a:xfrm>
          <a:prstGeom prst="rect">
            <a:avLst/>
          </a:prstGeom>
          <a:noFill/>
          <a:ln/>
        </p:spPr>
        <p:txBody>
          <a:bodyPr wrap="square" lIns="0" tIns="0" rIns="0" bIns="0" rtlCol="0" anchor="ctr"/>
          <a:lstStyle/>
          <a:p>
            <a:pPr indent="0" marL="0">
              <a:buNone/>
            </a:pPr>
            <a:r>
              <a:rPr lang="en-US" sz="1600" b="1" dirty="0">
                <a:solidFill>
                  <a:srgbClr val="3E3E4B"/>
                </a:solidFill>
                <a:latin typeface="Calibri" pitchFamily="34" charset="0"/>
                <a:ea typeface="Calibri" pitchFamily="34" charset="-122"/>
                <a:cs typeface="Calibri" pitchFamily="34" charset="-120"/>
              </a:rPr>
              <a:t>The problem MON solves</a:t>
            </a:r>
            <a:endParaRPr lang="en-US" sz="1600" dirty="0"/>
          </a:p>
        </p:txBody>
      </p:sp>
      <p:sp>
        <p:nvSpPr>
          <p:cNvPr id="6" name="Text 4"/>
          <p:cNvSpPr/>
          <p:nvPr/>
        </p:nvSpPr>
        <p:spPr>
          <a:xfrm>
            <a:off x="960120" y="2103120"/>
            <a:ext cx="4617720" cy="1234440"/>
          </a:xfrm>
          <a:prstGeom prst="rect">
            <a:avLst/>
          </a:prstGeom>
          <a:noFill/>
          <a:ln/>
        </p:spPr>
        <p:txBody>
          <a:bodyPr wrap="square" lIns="0" tIns="0" rIns="0" bIns="0" rtlCol="0" anchor="ctr"/>
          <a:lstStyle/>
          <a:p>
            <a:pPr indent="0" marL="0">
              <a:buNone/>
            </a:pPr>
            <a:r>
              <a:rPr lang="en-US" sz="1350" dirty="0">
                <a:solidFill>
                  <a:srgbClr val="55555F"/>
                </a:solidFill>
                <a:latin typeface="Calibri" pitchFamily="34" charset="0"/>
                <a:ea typeface="Calibri" pitchFamily="34" charset="-122"/>
                <a:cs typeface="Calibri" pitchFamily="34" charset="-120"/>
              </a:rPr>
              <a:t>A VM moved across a stretched Layer-2 network keeps its on-premises default gateway. Traffic travels from Azure back to on-premises, through the original gateway, and back toward Azure. This is tromboning, or hairpinning.</a:t>
            </a:r>
            <a:endParaRPr lang="en-US" sz="1350" dirty="0"/>
          </a:p>
        </p:txBody>
      </p:sp>
      <p:sp>
        <p:nvSpPr>
          <p:cNvPr id="7" name="Shape 5"/>
          <p:cNvSpPr/>
          <p:nvPr/>
        </p:nvSpPr>
        <p:spPr>
          <a:xfrm>
            <a:off x="640080" y="3703320"/>
            <a:ext cx="5257800" cy="2148840"/>
          </a:xfrm>
          <a:prstGeom prst="roundRect">
            <a:avLst>
              <a:gd name="adj" fmla="val 2979"/>
            </a:avLst>
          </a:prstGeom>
          <a:solidFill>
            <a:srgbClr val="E9F7F2"/>
          </a:solidFill>
          <a:ln w="9525">
            <a:solidFill>
              <a:srgbClr val="9FD9C9"/>
            </a:solidFill>
            <a:prstDash val="solid"/>
          </a:ln>
        </p:spPr>
      </p:sp>
      <p:sp>
        <p:nvSpPr>
          <p:cNvPr id="8" name="Text 6"/>
          <p:cNvSpPr/>
          <p:nvPr/>
        </p:nvSpPr>
        <p:spPr>
          <a:xfrm>
            <a:off x="960120" y="3886200"/>
            <a:ext cx="4617720" cy="292608"/>
          </a:xfrm>
          <a:prstGeom prst="rect">
            <a:avLst/>
          </a:prstGeom>
          <a:noFill/>
          <a:ln/>
        </p:spPr>
        <p:txBody>
          <a:bodyPr wrap="square" lIns="0" tIns="0" rIns="0" bIns="0" rtlCol="0" anchor="ctr"/>
          <a:lstStyle/>
          <a:p>
            <a:pPr indent="0" marL="0">
              <a:buNone/>
            </a:pPr>
            <a:r>
              <a:rPr lang="en-US" sz="1600" b="1" dirty="0">
                <a:solidFill>
                  <a:srgbClr val="00795F"/>
                </a:solidFill>
                <a:latin typeface="Calibri" pitchFamily="34" charset="0"/>
                <a:ea typeface="Calibri" pitchFamily="34" charset="-122"/>
                <a:cs typeface="Calibri" pitchFamily="34" charset="-120"/>
              </a:rPr>
              <a:t>What Mobility Optimized Networking does</a:t>
            </a:r>
            <a:endParaRPr lang="en-US" sz="1600" dirty="0"/>
          </a:p>
        </p:txBody>
      </p:sp>
      <p:sp>
        <p:nvSpPr>
          <p:cNvPr id="9" name="Text 7"/>
          <p:cNvSpPr/>
          <p:nvPr/>
        </p:nvSpPr>
        <p:spPr>
          <a:xfrm>
            <a:off x="960120" y="4206240"/>
            <a:ext cx="4617720" cy="150876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The VM keeps its original IP address.</a:t>
            </a:r>
            <a:endParaRPr lang="en-US" sz="1300" dirty="0"/>
          </a:p>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HCX injects a /32 host route for the migrated VM.</a:t>
            </a:r>
            <a:endParaRPr lang="en-US" sz="1300" dirty="0"/>
          </a:p>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The /32 tells Azure the individual VM is now local to AVS.</a:t>
            </a:r>
            <a:endParaRPr lang="en-US" sz="1300" dirty="0"/>
          </a:p>
          <a:p>
            <a:pPr marL="177800" indent="-177800">
              <a:spcAft>
                <a:spcPts val="500"/>
              </a:spcAft>
              <a:buSzPct val="100000"/>
              <a:buChar char="•"/>
            </a:pPr>
            <a:r>
              <a:rPr lang="en-US" sz="1300" dirty="0">
                <a:solidFill>
                  <a:srgbClr val="55555F"/>
                </a:solidFill>
                <a:latin typeface="Calibri" pitchFamily="34" charset="0"/>
                <a:ea typeface="Calibri" pitchFamily="34" charset="-122"/>
                <a:cs typeface="Calibri" pitchFamily="34" charset="-120"/>
              </a:rPr>
              <a:t>Traffic no longer returns through the on-premises gateway.</a:t>
            </a:r>
            <a:endParaRPr lang="en-US" sz="1300" dirty="0"/>
          </a:p>
        </p:txBody>
      </p:sp>
      <p:sp>
        <p:nvSpPr>
          <p:cNvPr id="10" name="Shape 8"/>
          <p:cNvSpPr/>
          <p:nvPr/>
        </p:nvSpPr>
        <p:spPr>
          <a:xfrm>
            <a:off x="6519672" y="1600200"/>
            <a:ext cx="5029200" cy="4251960"/>
          </a:xfrm>
          <a:prstGeom prst="roundRect">
            <a:avLst>
              <a:gd name="adj" fmla="val 1505"/>
            </a:avLst>
          </a:prstGeom>
          <a:solidFill>
            <a:srgbClr val="3E3E4B"/>
          </a:solidFill>
          <a:ln w="9525">
            <a:solidFill>
              <a:srgbClr val="3E3E4B"/>
            </a:solidFill>
            <a:prstDash val="solid"/>
          </a:ln>
        </p:spPr>
      </p:sp>
      <p:sp>
        <p:nvSpPr>
          <p:cNvPr id="11" name="Text 9"/>
          <p:cNvSpPr/>
          <p:nvPr/>
        </p:nvSpPr>
        <p:spPr>
          <a:xfrm>
            <a:off x="6885432" y="1828800"/>
            <a:ext cx="4297680" cy="256032"/>
          </a:xfrm>
          <a:prstGeom prst="rect">
            <a:avLst/>
          </a:prstGeom>
          <a:noFill/>
          <a:ln/>
        </p:spPr>
        <p:txBody>
          <a:bodyPr wrap="square" lIns="0" tIns="0" rIns="0" bIns="0" rtlCol="0" anchor="ctr"/>
          <a:lstStyle/>
          <a:p>
            <a:pPr indent="0" marL="0">
              <a:buNone/>
            </a:pPr>
            <a:r>
              <a:rPr lang="en-US" sz="1100" b="1" spc="200" kern="0" dirty="0">
                <a:solidFill>
                  <a:srgbClr val="F15D23"/>
                </a:solidFill>
                <a:latin typeface="Calibri" pitchFamily="34" charset="0"/>
                <a:ea typeface="Calibri" pitchFamily="34" charset="-122"/>
                <a:cs typeface="Calibri" pitchFamily="34" charset="-120"/>
              </a:rPr>
              <a:t>THE PREFIX BUDGET</a:t>
            </a:r>
            <a:endParaRPr lang="en-US" sz="1100" dirty="0"/>
          </a:p>
        </p:txBody>
      </p:sp>
      <p:sp>
        <p:nvSpPr>
          <p:cNvPr id="12" name="Text 10"/>
          <p:cNvSpPr/>
          <p:nvPr/>
        </p:nvSpPr>
        <p:spPr>
          <a:xfrm>
            <a:off x="6885432" y="2194560"/>
            <a:ext cx="3017520" cy="457200"/>
          </a:xfrm>
          <a:prstGeom prst="rect">
            <a:avLst/>
          </a:prstGeom>
          <a:noFill/>
          <a:ln/>
        </p:spPr>
        <p:txBody>
          <a:bodyPr wrap="square" lIns="0" tIns="0" rIns="0" bIns="0" rtlCol="0" anchor="ctr"/>
          <a:lstStyle/>
          <a:p>
            <a:pPr indent="0" marL="0">
              <a:buNone/>
            </a:pPr>
            <a:r>
              <a:rPr lang="en-US" sz="1400" dirty="0">
                <a:solidFill>
                  <a:srgbClr val="C9CCD6"/>
                </a:solidFill>
                <a:latin typeface="Calibri" pitchFamily="34" charset="0"/>
                <a:ea typeface="Calibri" pitchFamily="34" charset="-122"/>
                <a:cs typeface="Calibri" pitchFamily="34" charset="-120"/>
              </a:rPr>
              <a:t>Prefix limit</a:t>
            </a:r>
            <a:endParaRPr lang="en-US" sz="1400" dirty="0"/>
          </a:p>
        </p:txBody>
      </p:sp>
      <p:sp>
        <p:nvSpPr>
          <p:cNvPr id="13" name="Text 11"/>
          <p:cNvSpPr/>
          <p:nvPr/>
        </p:nvSpPr>
        <p:spPr>
          <a:xfrm>
            <a:off x="9902952" y="2194560"/>
            <a:ext cx="1280160" cy="457200"/>
          </a:xfrm>
          <a:prstGeom prst="rect">
            <a:avLst/>
          </a:prstGeom>
          <a:noFill/>
          <a:ln/>
        </p:spPr>
        <p:txBody>
          <a:bodyPr wrap="square" lIns="0" tIns="0" rIns="0" bIns="0" rtlCol="0" anchor="ctr"/>
          <a:lstStyle/>
          <a:p>
            <a:pPr algn="r" indent="0" marL="0">
              <a:buNone/>
            </a:pPr>
            <a:r>
              <a:rPr lang="en-US" sz="2400" b="1" dirty="0">
                <a:solidFill>
                  <a:srgbClr val="FFFFFF"/>
                </a:solidFill>
                <a:latin typeface="Calibri" pitchFamily="34" charset="0"/>
                <a:ea typeface="Calibri" pitchFamily="34" charset="-122"/>
                <a:cs typeface="Calibri" pitchFamily="34" charset="-120"/>
              </a:rPr>
              <a:t>~1,000</a:t>
            </a:r>
            <a:endParaRPr lang="en-US" sz="2400" dirty="0"/>
          </a:p>
        </p:txBody>
      </p:sp>
      <p:sp>
        <p:nvSpPr>
          <p:cNvPr id="14" name="Text 12"/>
          <p:cNvSpPr/>
          <p:nvPr/>
        </p:nvSpPr>
        <p:spPr>
          <a:xfrm>
            <a:off x="6885432" y="2852928"/>
            <a:ext cx="3017520" cy="457200"/>
          </a:xfrm>
          <a:prstGeom prst="rect">
            <a:avLst/>
          </a:prstGeom>
          <a:noFill/>
          <a:ln/>
        </p:spPr>
        <p:txBody>
          <a:bodyPr wrap="square" lIns="0" tIns="0" rIns="0" bIns="0" rtlCol="0" anchor="ctr"/>
          <a:lstStyle/>
          <a:p>
            <a:pPr indent="0" marL="0">
              <a:buNone/>
            </a:pPr>
            <a:r>
              <a:rPr lang="en-US" sz="1400" dirty="0">
                <a:solidFill>
                  <a:srgbClr val="C9CCD6"/>
                </a:solidFill>
                <a:latin typeface="Calibri" pitchFamily="34" charset="0"/>
                <a:ea typeface="Calibri" pitchFamily="34" charset="-122"/>
                <a:cs typeface="Calibri" pitchFamily="34" charset="-120"/>
              </a:rPr>
              <a:t>Consumed by 800 migrated VMs</a:t>
            </a:r>
            <a:endParaRPr lang="en-US" sz="1400" dirty="0"/>
          </a:p>
        </p:txBody>
      </p:sp>
      <p:sp>
        <p:nvSpPr>
          <p:cNvPr id="15" name="Text 13"/>
          <p:cNvSpPr/>
          <p:nvPr/>
        </p:nvSpPr>
        <p:spPr>
          <a:xfrm>
            <a:off x="9902952" y="2852928"/>
            <a:ext cx="1280160" cy="457200"/>
          </a:xfrm>
          <a:prstGeom prst="rect">
            <a:avLst/>
          </a:prstGeom>
          <a:noFill/>
          <a:ln/>
        </p:spPr>
        <p:txBody>
          <a:bodyPr wrap="square" lIns="0" tIns="0" rIns="0" bIns="0" rtlCol="0" anchor="ctr"/>
          <a:lstStyle/>
          <a:p>
            <a:pPr algn="r" indent="0" marL="0">
              <a:buNone/>
            </a:pPr>
            <a:r>
              <a:rPr lang="en-US" sz="2400" b="1" dirty="0">
                <a:solidFill>
                  <a:srgbClr val="F15D23"/>
                </a:solidFill>
                <a:latin typeface="Calibri" pitchFamily="34" charset="0"/>
                <a:ea typeface="Calibri" pitchFamily="34" charset="-122"/>
                <a:cs typeface="Calibri" pitchFamily="34" charset="-120"/>
              </a:rPr>
              <a:t>800</a:t>
            </a:r>
            <a:endParaRPr lang="en-US" sz="2400" dirty="0"/>
          </a:p>
        </p:txBody>
      </p:sp>
      <p:sp>
        <p:nvSpPr>
          <p:cNvPr id="16" name="Text 14"/>
          <p:cNvSpPr/>
          <p:nvPr/>
        </p:nvSpPr>
        <p:spPr>
          <a:xfrm>
            <a:off x="6885432" y="3511296"/>
            <a:ext cx="3017520" cy="457200"/>
          </a:xfrm>
          <a:prstGeom prst="rect">
            <a:avLst/>
          </a:prstGeom>
          <a:noFill/>
          <a:ln/>
        </p:spPr>
        <p:txBody>
          <a:bodyPr wrap="square" lIns="0" tIns="0" rIns="0" bIns="0" rtlCol="0" anchor="ctr"/>
          <a:lstStyle/>
          <a:p>
            <a:pPr indent="0" marL="0">
              <a:buNone/>
            </a:pPr>
            <a:r>
              <a:rPr lang="en-US" sz="1400" dirty="0">
                <a:solidFill>
                  <a:srgbClr val="C9CCD6"/>
                </a:solidFill>
                <a:latin typeface="Calibri" pitchFamily="34" charset="0"/>
                <a:ea typeface="Calibri" pitchFamily="34" charset="-122"/>
                <a:cs typeface="Calibri" pitchFamily="34" charset="-120"/>
              </a:rPr>
              <a:t>Remaining for everything else</a:t>
            </a:r>
            <a:endParaRPr lang="en-US" sz="1400" dirty="0"/>
          </a:p>
        </p:txBody>
      </p:sp>
      <p:sp>
        <p:nvSpPr>
          <p:cNvPr id="17" name="Text 15"/>
          <p:cNvSpPr/>
          <p:nvPr/>
        </p:nvSpPr>
        <p:spPr>
          <a:xfrm>
            <a:off x="9902952" y="3511296"/>
            <a:ext cx="1280160" cy="457200"/>
          </a:xfrm>
          <a:prstGeom prst="rect">
            <a:avLst/>
          </a:prstGeom>
          <a:noFill/>
          <a:ln/>
        </p:spPr>
        <p:txBody>
          <a:bodyPr wrap="square" lIns="0" tIns="0" rIns="0" bIns="0" rtlCol="0" anchor="ctr"/>
          <a:lstStyle/>
          <a:p>
            <a:pPr algn="r" indent="0" marL="0">
              <a:buNone/>
            </a:pPr>
            <a:r>
              <a:rPr lang="en-US" sz="2400" b="1" dirty="0">
                <a:solidFill>
                  <a:srgbClr val="FAC458"/>
                </a:solidFill>
                <a:latin typeface="Calibri" pitchFamily="34" charset="0"/>
                <a:ea typeface="Calibri" pitchFamily="34" charset="-122"/>
                <a:cs typeface="Calibri" pitchFamily="34" charset="-120"/>
              </a:rPr>
              <a:t>~200</a:t>
            </a:r>
            <a:endParaRPr lang="en-US" sz="2400" dirty="0"/>
          </a:p>
        </p:txBody>
      </p:sp>
      <p:sp>
        <p:nvSpPr>
          <p:cNvPr id="18" name="Shape 16"/>
          <p:cNvSpPr/>
          <p:nvPr/>
        </p:nvSpPr>
        <p:spPr>
          <a:xfrm>
            <a:off x="6885432" y="4251960"/>
            <a:ext cx="4297680" cy="18288"/>
          </a:xfrm>
          <a:prstGeom prst="rect">
            <a:avLst/>
          </a:prstGeom>
          <a:solidFill>
            <a:srgbClr val="5C5C6C"/>
          </a:solidFill>
          <a:ln w="12700">
            <a:solidFill>
              <a:srgbClr val="5C5C6C"/>
            </a:solidFill>
            <a:prstDash val="solid"/>
          </a:ln>
        </p:spPr>
      </p:sp>
      <p:sp>
        <p:nvSpPr>
          <p:cNvPr id="19" name="Text 17"/>
          <p:cNvSpPr/>
          <p:nvPr/>
        </p:nvSpPr>
        <p:spPr>
          <a:xfrm>
            <a:off x="6885432" y="4389120"/>
            <a:ext cx="42976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That remaining capacity must still cover:</a:t>
            </a:r>
            <a:endParaRPr lang="en-US" sz="1300" dirty="0"/>
          </a:p>
        </p:txBody>
      </p:sp>
      <p:sp>
        <p:nvSpPr>
          <p:cNvPr id="20" name="Text 18"/>
          <p:cNvSpPr/>
          <p:nvPr/>
        </p:nvSpPr>
        <p:spPr>
          <a:xfrm>
            <a:off x="6885432" y="4709160"/>
            <a:ext cx="4297680" cy="914400"/>
          </a:xfrm>
          <a:prstGeom prst="rect">
            <a:avLst/>
          </a:prstGeom>
          <a:noFill/>
          <a:ln/>
        </p:spPr>
        <p:txBody>
          <a:bodyPr wrap="square" lIns="0" tIns="0" rIns="0" bIns="0" rtlCol="0" anchor="ctr"/>
          <a:lstStyle/>
          <a:p>
            <a:pPr indent="0" marL="0">
              <a:buNone/>
            </a:pPr>
            <a:r>
              <a:rPr lang="en-US" sz="1300" dirty="0">
                <a:solidFill>
                  <a:srgbClr val="C9CCD6"/>
                </a:solidFill>
                <a:latin typeface="Calibri" pitchFamily="34" charset="0"/>
                <a:ea typeface="Calibri" pitchFamily="34" charset="-122"/>
                <a:cs typeface="Calibri" pitchFamily="34" charset="-120"/>
              </a:rPr>
              <a:t>Management routes   ·   VPN routes   ·   DNS routes   ·   Workload subnets   ·   Other hybrid connectivity routes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E3E4B"/>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ROUTE CAPACITY</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What happens at prefix 1,001</a:t>
            </a:r>
            <a:endParaRPr lang="en-US" sz="3400" dirty="0"/>
          </a:p>
        </p:txBody>
      </p:sp>
      <p:sp>
        <p:nvSpPr>
          <p:cNvPr id="4" name="Shape 2"/>
          <p:cNvSpPr/>
          <p:nvPr/>
        </p:nvSpPr>
        <p:spPr>
          <a:xfrm>
            <a:off x="640080" y="1737360"/>
            <a:ext cx="4937760" cy="1417320"/>
          </a:xfrm>
          <a:prstGeom prst="roundRect">
            <a:avLst>
              <a:gd name="adj" fmla="val 4516"/>
            </a:avLst>
          </a:prstGeom>
          <a:solidFill>
            <a:srgbClr val="F15D23"/>
          </a:solidFill>
          <a:ln w="9525">
            <a:solidFill>
              <a:srgbClr val="F15D23"/>
            </a:solidFill>
            <a:prstDash val="solid"/>
          </a:ln>
        </p:spPr>
      </p:sp>
      <p:sp>
        <p:nvSpPr>
          <p:cNvPr id="5" name="Text 3"/>
          <p:cNvSpPr/>
          <p:nvPr/>
        </p:nvSpPr>
        <p:spPr>
          <a:xfrm>
            <a:off x="1005840" y="1737360"/>
            <a:ext cx="4206240" cy="1417320"/>
          </a:xfrm>
          <a:prstGeom prst="rect">
            <a:avLst/>
          </a:prstGeom>
          <a:noFill/>
          <a:ln/>
        </p:spPr>
        <p:txBody>
          <a:bodyPr wrap="square" lIns="0" tIns="0" rIns="0" bIns="0" rtlCol="0" anchor="ctr"/>
          <a:lstStyle/>
          <a:p>
            <a:pPr indent="0" marL="0">
              <a:buNone/>
            </a:pPr>
            <a:r>
              <a:rPr lang="en-US" sz="2100" b="1" dirty="0">
                <a:solidFill>
                  <a:srgbClr val="1A1A22"/>
                </a:solidFill>
                <a:latin typeface="Calibri" pitchFamily="34" charset="0"/>
                <a:ea typeface="Calibri" pitchFamily="34" charset="-122"/>
                <a:cs typeface="Calibri" pitchFamily="34" charset="-120"/>
              </a:rPr>
              <a:t>The Azure forwarding table stops accepting routes</a:t>
            </a:r>
            <a:endParaRPr lang="en-US" sz="2100" dirty="0"/>
          </a:p>
        </p:txBody>
      </p:sp>
      <p:sp>
        <p:nvSpPr>
          <p:cNvPr id="6" name="Text 4"/>
          <p:cNvSpPr/>
          <p:nvPr/>
        </p:nvSpPr>
        <p:spPr>
          <a:xfrm>
            <a:off x="640080" y="3383280"/>
            <a:ext cx="49377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Newly migrated VMs will:</a:t>
            </a:r>
            <a:endParaRPr lang="en-US" sz="1500" dirty="0"/>
          </a:p>
        </p:txBody>
      </p:sp>
      <p:sp>
        <p:nvSpPr>
          <p:cNvPr id="7" name="Text 5"/>
          <p:cNvSpPr/>
          <p:nvPr/>
        </p:nvSpPr>
        <p:spPr>
          <a:xfrm>
            <a:off x="640080" y="3749040"/>
            <a:ext cx="4937760" cy="1828800"/>
          </a:xfrm>
          <a:prstGeom prst="rect">
            <a:avLst/>
          </a:prstGeom>
          <a:noFill/>
          <a:ln/>
        </p:spPr>
        <p:txBody>
          <a:bodyPr wrap="square" lIns="0" tIns="0" rIns="0" bIns="0" rtlCol="0" anchor="ctr"/>
          <a:lstStyle/>
          <a:p>
            <a:pPr marL="177800" indent="-177800">
              <a:spcAft>
                <a:spcPts val="600"/>
              </a:spcAft>
              <a:buSzPct val="100000"/>
              <a:buChar char="•"/>
            </a:pPr>
            <a:r>
              <a:rPr lang="en-US" sz="1400" dirty="0">
                <a:solidFill>
                  <a:srgbClr val="C9CCD6"/>
                </a:solidFill>
                <a:latin typeface="Calibri" pitchFamily="34" charset="0"/>
                <a:ea typeface="Calibri" pitchFamily="34" charset="-122"/>
                <a:cs typeface="Calibri" pitchFamily="34" charset="-120"/>
              </a:rPr>
              <a:t>Power on normally.</a:t>
            </a:r>
            <a:endParaRPr lang="en-US" sz="1400" dirty="0"/>
          </a:p>
          <a:p>
            <a:pPr marL="177800" indent="-177800">
              <a:spcAft>
                <a:spcPts val="600"/>
              </a:spcAft>
              <a:buSzPct val="100000"/>
              <a:buChar char="•"/>
            </a:pPr>
            <a:r>
              <a:rPr lang="en-US" sz="1400" dirty="0">
                <a:solidFill>
                  <a:srgbClr val="C9CCD6"/>
                </a:solidFill>
                <a:latin typeface="Calibri" pitchFamily="34" charset="0"/>
                <a:ea typeface="Calibri" pitchFamily="34" charset="-122"/>
                <a:cs typeface="Calibri" pitchFamily="34" charset="-120"/>
              </a:rPr>
              <a:t>Appear fully operational in vCenter.</a:t>
            </a:r>
            <a:endParaRPr lang="en-US" sz="1400" dirty="0"/>
          </a:p>
          <a:p>
            <a:pPr marL="177800" indent="-177800">
              <a:spcAft>
                <a:spcPts val="600"/>
              </a:spcAft>
              <a:buSzPct val="100000"/>
              <a:buChar char="•"/>
            </a:pPr>
            <a:r>
              <a:rPr lang="en-US" sz="1400" dirty="0">
                <a:solidFill>
                  <a:srgbClr val="C9CCD6"/>
                </a:solidFill>
                <a:latin typeface="Calibri" pitchFamily="34" charset="0"/>
                <a:ea typeface="Calibri" pitchFamily="34" charset="-122"/>
                <a:cs typeface="Calibri" pitchFamily="34" charset="-120"/>
              </a:rPr>
              <a:t>Lack a functional underlay route.</a:t>
            </a:r>
            <a:endParaRPr lang="en-US" sz="1400" dirty="0"/>
          </a:p>
          <a:p>
            <a:pPr marL="177800" indent="-177800">
              <a:spcAft>
                <a:spcPts val="600"/>
              </a:spcAft>
              <a:buSzPct val="100000"/>
              <a:buChar char="•"/>
            </a:pPr>
            <a:r>
              <a:rPr lang="en-US" sz="1400" dirty="0">
                <a:solidFill>
                  <a:srgbClr val="C9CCD6"/>
                </a:solidFill>
                <a:latin typeface="Calibri" pitchFamily="34" charset="0"/>
                <a:ea typeface="Calibri" pitchFamily="34" charset="-122"/>
                <a:cs typeface="Calibri" pitchFamily="34" charset="-120"/>
              </a:rPr>
              <a:t>Fail to communicate, with no clear signal from monitoring.</a:t>
            </a:r>
            <a:endParaRPr lang="en-US" sz="1400" dirty="0"/>
          </a:p>
        </p:txBody>
      </p:sp>
      <p:sp>
        <p:nvSpPr>
          <p:cNvPr id="8" name="Text 6"/>
          <p:cNvSpPr/>
          <p:nvPr/>
        </p:nvSpPr>
        <p:spPr>
          <a:xfrm>
            <a:off x="6126480" y="1737360"/>
            <a:ext cx="539496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Where teams look first</a:t>
            </a:r>
            <a:endParaRPr lang="en-US" sz="1800" dirty="0"/>
          </a:p>
        </p:txBody>
      </p:sp>
      <p:sp>
        <p:nvSpPr>
          <p:cNvPr id="9" name="Shape 7"/>
          <p:cNvSpPr/>
          <p:nvPr/>
        </p:nvSpPr>
        <p:spPr>
          <a:xfrm>
            <a:off x="6126480" y="2148840"/>
            <a:ext cx="2606040" cy="658368"/>
          </a:xfrm>
          <a:prstGeom prst="roundRect">
            <a:avLst>
              <a:gd name="adj" fmla="val 9722"/>
            </a:avLst>
          </a:prstGeom>
          <a:solidFill>
            <a:srgbClr val="4A4A58"/>
          </a:solidFill>
          <a:ln w="9525">
            <a:solidFill>
              <a:srgbClr val="5C5C6C"/>
            </a:solidFill>
            <a:prstDash val="solid"/>
          </a:ln>
        </p:spPr>
      </p:sp>
      <p:sp>
        <p:nvSpPr>
          <p:cNvPr id="10" name="Text 8"/>
          <p:cNvSpPr/>
          <p:nvPr/>
        </p:nvSpPr>
        <p:spPr>
          <a:xfrm>
            <a:off x="6309360" y="2148840"/>
            <a:ext cx="2240280" cy="658368"/>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Firewall rules</a:t>
            </a:r>
            <a:endParaRPr lang="en-US" sz="1350" dirty="0"/>
          </a:p>
        </p:txBody>
      </p:sp>
      <p:sp>
        <p:nvSpPr>
          <p:cNvPr id="11" name="Shape 9"/>
          <p:cNvSpPr/>
          <p:nvPr/>
        </p:nvSpPr>
        <p:spPr>
          <a:xfrm>
            <a:off x="8915400" y="2148840"/>
            <a:ext cx="2606040" cy="658368"/>
          </a:xfrm>
          <a:prstGeom prst="roundRect">
            <a:avLst>
              <a:gd name="adj" fmla="val 9722"/>
            </a:avLst>
          </a:prstGeom>
          <a:solidFill>
            <a:srgbClr val="4A4A58"/>
          </a:solidFill>
          <a:ln w="9525">
            <a:solidFill>
              <a:srgbClr val="5C5C6C"/>
            </a:solidFill>
            <a:prstDash val="solid"/>
          </a:ln>
        </p:spPr>
      </p:sp>
      <p:sp>
        <p:nvSpPr>
          <p:cNvPr id="12" name="Text 10"/>
          <p:cNvSpPr/>
          <p:nvPr/>
        </p:nvSpPr>
        <p:spPr>
          <a:xfrm>
            <a:off x="9098280" y="2148840"/>
            <a:ext cx="2240280" cy="658368"/>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Network security groups</a:t>
            </a:r>
            <a:endParaRPr lang="en-US" sz="1350" dirty="0"/>
          </a:p>
        </p:txBody>
      </p:sp>
      <p:sp>
        <p:nvSpPr>
          <p:cNvPr id="13" name="Shape 11"/>
          <p:cNvSpPr/>
          <p:nvPr/>
        </p:nvSpPr>
        <p:spPr>
          <a:xfrm>
            <a:off x="6126480" y="2990088"/>
            <a:ext cx="2606040" cy="658368"/>
          </a:xfrm>
          <a:prstGeom prst="roundRect">
            <a:avLst>
              <a:gd name="adj" fmla="val 9722"/>
            </a:avLst>
          </a:prstGeom>
          <a:solidFill>
            <a:srgbClr val="4A4A58"/>
          </a:solidFill>
          <a:ln w="9525">
            <a:solidFill>
              <a:srgbClr val="5C5C6C"/>
            </a:solidFill>
            <a:prstDash val="solid"/>
          </a:ln>
        </p:spPr>
      </p:sp>
      <p:sp>
        <p:nvSpPr>
          <p:cNvPr id="14" name="Text 12"/>
          <p:cNvSpPr/>
          <p:nvPr/>
        </p:nvSpPr>
        <p:spPr>
          <a:xfrm>
            <a:off x="6309360" y="2990088"/>
            <a:ext cx="2240280" cy="658368"/>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Application services</a:t>
            </a:r>
            <a:endParaRPr lang="en-US" sz="1350" dirty="0"/>
          </a:p>
        </p:txBody>
      </p:sp>
      <p:sp>
        <p:nvSpPr>
          <p:cNvPr id="15" name="Shape 13"/>
          <p:cNvSpPr/>
          <p:nvPr/>
        </p:nvSpPr>
        <p:spPr>
          <a:xfrm>
            <a:off x="8915400" y="2990088"/>
            <a:ext cx="2606040" cy="658368"/>
          </a:xfrm>
          <a:prstGeom prst="roundRect">
            <a:avLst>
              <a:gd name="adj" fmla="val 9722"/>
            </a:avLst>
          </a:prstGeom>
          <a:solidFill>
            <a:srgbClr val="4A4A58"/>
          </a:solidFill>
          <a:ln w="9525">
            <a:solidFill>
              <a:srgbClr val="5C5C6C"/>
            </a:solidFill>
            <a:prstDash val="solid"/>
          </a:ln>
        </p:spPr>
      </p:sp>
      <p:sp>
        <p:nvSpPr>
          <p:cNvPr id="16" name="Text 14"/>
          <p:cNvSpPr/>
          <p:nvPr/>
        </p:nvSpPr>
        <p:spPr>
          <a:xfrm>
            <a:off x="9098280" y="2990088"/>
            <a:ext cx="2240280" cy="658368"/>
          </a:xfrm>
          <a:prstGeom prst="rect">
            <a:avLst/>
          </a:prstGeom>
          <a:noFill/>
          <a:ln/>
        </p:spPr>
        <p:txBody>
          <a:bodyPr wrap="square" lIns="0" tIns="0" rIns="0" bIns="0" rtlCol="0" anchor="ctr"/>
          <a:lstStyle/>
          <a:p>
            <a:pPr indent="0" marL="0">
              <a:buNone/>
            </a:pPr>
            <a:r>
              <a:rPr lang="en-US" sz="1350" dirty="0">
                <a:solidFill>
                  <a:srgbClr val="C9CCD6"/>
                </a:solidFill>
                <a:latin typeface="Calibri" pitchFamily="34" charset="0"/>
                <a:ea typeface="Calibri" pitchFamily="34" charset="-122"/>
                <a:cs typeface="Calibri" pitchFamily="34" charset="-120"/>
              </a:rPr>
              <a:t>Guest operating systems</a:t>
            </a:r>
            <a:endParaRPr lang="en-US" sz="1350" dirty="0"/>
          </a:p>
        </p:txBody>
      </p:sp>
      <p:sp>
        <p:nvSpPr>
          <p:cNvPr id="17" name="Shape 15"/>
          <p:cNvSpPr/>
          <p:nvPr/>
        </p:nvSpPr>
        <p:spPr>
          <a:xfrm>
            <a:off x="6126480" y="3886200"/>
            <a:ext cx="5394960" cy="1737360"/>
          </a:xfrm>
          <a:prstGeom prst="roundRect">
            <a:avLst>
              <a:gd name="adj" fmla="val 3684"/>
            </a:avLst>
          </a:prstGeom>
          <a:solidFill>
            <a:srgbClr val="00B3E2"/>
          </a:solidFill>
          <a:ln w="9525">
            <a:solidFill>
              <a:srgbClr val="00B3E2"/>
            </a:solidFill>
            <a:prstDash val="solid"/>
          </a:ln>
        </p:spPr>
      </p:sp>
      <p:sp>
        <p:nvSpPr>
          <p:cNvPr id="18" name="Text 16"/>
          <p:cNvSpPr/>
          <p:nvPr/>
        </p:nvSpPr>
        <p:spPr>
          <a:xfrm>
            <a:off x="6492240" y="4114800"/>
            <a:ext cx="4663440" cy="292608"/>
          </a:xfrm>
          <a:prstGeom prst="rect">
            <a:avLst/>
          </a:prstGeom>
          <a:noFill/>
          <a:ln/>
        </p:spPr>
        <p:txBody>
          <a:bodyPr wrap="square" lIns="0" tIns="0" rIns="0" bIns="0" rtlCol="0" anchor="ctr"/>
          <a:lstStyle/>
          <a:p>
            <a:pPr indent="0" marL="0">
              <a:buNone/>
            </a:pPr>
            <a:r>
              <a:rPr lang="en-US" sz="1400" b="1" dirty="0">
                <a:solidFill>
                  <a:srgbClr val="05384A"/>
                </a:solidFill>
                <a:latin typeface="Calibri" pitchFamily="34" charset="0"/>
                <a:ea typeface="Calibri" pitchFamily="34" charset="-122"/>
                <a:cs typeface="Calibri" pitchFamily="34" charset="-120"/>
              </a:rPr>
              <a:t>The actual problem</a:t>
            </a:r>
            <a:endParaRPr lang="en-US" sz="1400" dirty="0"/>
          </a:p>
        </p:txBody>
      </p:sp>
      <p:sp>
        <p:nvSpPr>
          <p:cNvPr id="19" name="Text 17"/>
          <p:cNvSpPr/>
          <p:nvPr/>
        </p:nvSpPr>
        <p:spPr>
          <a:xfrm>
            <a:off x="6492240" y="4434840"/>
            <a:ext cx="4663440" cy="457200"/>
          </a:xfrm>
          <a:prstGeom prst="rect">
            <a:avLst/>
          </a:prstGeom>
          <a:noFill/>
          <a:ln/>
        </p:spPr>
        <p:txBody>
          <a:bodyPr wrap="square" lIns="0" tIns="0" rIns="0" bIns="0" rtlCol="0" anchor="ctr"/>
          <a:lstStyle/>
          <a:p>
            <a:pPr indent="0" marL="0">
              <a:buNone/>
            </a:pPr>
            <a:r>
              <a:rPr lang="en-US" sz="2400" b="1" dirty="0">
                <a:solidFill>
                  <a:srgbClr val="05384A"/>
                </a:solidFill>
                <a:latin typeface="Calibri" pitchFamily="34" charset="0"/>
                <a:ea typeface="Calibri" pitchFamily="34" charset="-122"/>
                <a:cs typeface="Calibri" pitchFamily="34" charset="-120"/>
              </a:rPr>
              <a:t>Exhausted hardware route capacity.</a:t>
            </a:r>
            <a:endParaRPr lang="en-US" sz="2400" dirty="0"/>
          </a:p>
        </p:txBody>
      </p:sp>
      <p:sp>
        <p:nvSpPr>
          <p:cNvPr id="20" name="Text 18"/>
          <p:cNvSpPr/>
          <p:nvPr/>
        </p:nvSpPr>
        <p:spPr>
          <a:xfrm>
            <a:off x="6492240" y="4983480"/>
            <a:ext cx="4663440" cy="411480"/>
          </a:xfrm>
          <a:prstGeom prst="rect">
            <a:avLst/>
          </a:prstGeom>
          <a:noFill/>
          <a:ln/>
        </p:spPr>
        <p:txBody>
          <a:bodyPr wrap="square" lIns="0" tIns="0" rIns="0" bIns="0" rtlCol="0" anchor="ctr"/>
          <a:lstStyle/>
          <a:p>
            <a:pPr indent="0" marL="0">
              <a:buNone/>
            </a:pPr>
            <a:r>
              <a:rPr lang="en-US" sz="1300" dirty="0">
                <a:solidFill>
                  <a:srgbClr val="05384A"/>
                </a:solidFill>
                <a:latin typeface="Calibri" pitchFamily="34" charset="0"/>
                <a:ea typeface="Calibri" pitchFamily="34" charset="-122"/>
                <a:cs typeface="Calibri" pitchFamily="34" charset="-120"/>
              </a:rPr>
              <a:t>Nothing in the guest, the firewall, or the application is at fault.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REMEDIATION</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Route summarization and gateway cutover</a:t>
            </a:r>
            <a:endParaRPr lang="en-US" sz="3400" dirty="0"/>
          </a:p>
        </p:txBody>
      </p:sp>
      <p:sp>
        <p:nvSpPr>
          <p:cNvPr id="4" name="Shape 2"/>
          <p:cNvSpPr/>
          <p:nvPr/>
        </p:nvSpPr>
        <p:spPr>
          <a:xfrm>
            <a:off x="640080" y="1600200"/>
            <a:ext cx="2542032" cy="1965960"/>
          </a:xfrm>
          <a:prstGeom prst="roundRect">
            <a:avLst>
              <a:gd name="adj" fmla="val 3256"/>
            </a:avLst>
          </a:prstGeom>
          <a:solidFill>
            <a:srgbClr val="F4F7F8"/>
          </a:solidFill>
          <a:ln w="9525">
            <a:solidFill>
              <a:srgbClr val="DDE2E2"/>
            </a:solidFill>
            <a:prstDash val="solid"/>
          </a:ln>
        </p:spPr>
      </p:sp>
      <p:sp>
        <p:nvSpPr>
          <p:cNvPr id="5" name="Shape 3"/>
          <p:cNvSpPr/>
          <p:nvPr/>
        </p:nvSpPr>
        <p:spPr>
          <a:xfrm>
            <a:off x="896112" y="1801368"/>
            <a:ext cx="384048" cy="384048"/>
          </a:xfrm>
          <a:prstGeom prst="ellipse">
            <a:avLst/>
          </a:prstGeom>
          <a:solidFill>
            <a:srgbClr val="00B3E2"/>
          </a:solidFill>
          <a:ln w="12700">
            <a:solidFill>
              <a:srgbClr val="00B3E2"/>
            </a:solidFill>
            <a:prstDash val="solid"/>
          </a:ln>
        </p:spPr>
      </p:sp>
      <p:sp>
        <p:nvSpPr>
          <p:cNvPr id="6" name="Text 4"/>
          <p:cNvSpPr/>
          <p:nvPr/>
        </p:nvSpPr>
        <p:spPr>
          <a:xfrm>
            <a:off x="896112" y="1801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96112" y="2286000"/>
            <a:ext cx="2029968" cy="384048"/>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Move the gateway</a:t>
            </a:r>
            <a:endParaRPr lang="en-US" sz="1500" dirty="0"/>
          </a:p>
        </p:txBody>
      </p:sp>
      <p:sp>
        <p:nvSpPr>
          <p:cNvPr id="8" name="Text 6"/>
          <p:cNvSpPr/>
          <p:nvPr/>
        </p:nvSpPr>
        <p:spPr>
          <a:xfrm>
            <a:off x="896112" y="2697480"/>
            <a:ext cx="2029968" cy="7772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Relocate the subnet gateway into Azure so the workload subnet becomes fully local to AVS.</a:t>
            </a:r>
            <a:endParaRPr lang="en-US" sz="1250" dirty="0"/>
          </a:p>
        </p:txBody>
      </p:sp>
      <p:sp>
        <p:nvSpPr>
          <p:cNvPr id="9" name="Shape 7"/>
          <p:cNvSpPr/>
          <p:nvPr/>
        </p:nvSpPr>
        <p:spPr>
          <a:xfrm>
            <a:off x="3429000" y="1600200"/>
            <a:ext cx="2542032" cy="1965960"/>
          </a:xfrm>
          <a:prstGeom prst="roundRect">
            <a:avLst>
              <a:gd name="adj" fmla="val 3256"/>
            </a:avLst>
          </a:prstGeom>
          <a:solidFill>
            <a:srgbClr val="F4F7F8"/>
          </a:solidFill>
          <a:ln w="9525">
            <a:solidFill>
              <a:srgbClr val="DDE2E2"/>
            </a:solidFill>
            <a:prstDash val="solid"/>
          </a:ln>
        </p:spPr>
      </p:sp>
      <p:sp>
        <p:nvSpPr>
          <p:cNvPr id="10" name="Shape 8"/>
          <p:cNvSpPr/>
          <p:nvPr/>
        </p:nvSpPr>
        <p:spPr>
          <a:xfrm>
            <a:off x="3685032" y="1801368"/>
            <a:ext cx="384048" cy="384048"/>
          </a:xfrm>
          <a:prstGeom prst="ellipse">
            <a:avLst/>
          </a:prstGeom>
          <a:solidFill>
            <a:srgbClr val="00B3E2"/>
          </a:solidFill>
          <a:ln w="12700">
            <a:solidFill>
              <a:srgbClr val="00B3E2"/>
            </a:solidFill>
            <a:prstDash val="solid"/>
          </a:ln>
        </p:spPr>
      </p:sp>
      <p:sp>
        <p:nvSpPr>
          <p:cNvPr id="11" name="Text 9"/>
          <p:cNvSpPr/>
          <p:nvPr/>
        </p:nvSpPr>
        <p:spPr>
          <a:xfrm>
            <a:off x="3685032" y="1801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3685032" y="2286000"/>
            <a:ext cx="2029968" cy="384048"/>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Unstretch the network</a:t>
            </a:r>
            <a:endParaRPr lang="en-US" sz="1500" dirty="0"/>
          </a:p>
        </p:txBody>
      </p:sp>
      <p:sp>
        <p:nvSpPr>
          <p:cNvPr id="13" name="Text 11"/>
          <p:cNvSpPr/>
          <p:nvPr/>
        </p:nvSpPr>
        <p:spPr>
          <a:xfrm>
            <a:off x="3685032" y="2697480"/>
            <a:ext cx="2029968" cy="7772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Remove the Layer-2 extension once the gateway has moved.</a:t>
            </a:r>
            <a:endParaRPr lang="en-US" sz="1250" dirty="0"/>
          </a:p>
        </p:txBody>
      </p:sp>
      <p:sp>
        <p:nvSpPr>
          <p:cNvPr id="14" name="Shape 12"/>
          <p:cNvSpPr/>
          <p:nvPr/>
        </p:nvSpPr>
        <p:spPr>
          <a:xfrm>
            <a:off x="6217920" y="1600200"/>
            <a:ext cx="2542032" cy="1965960"/>
          </a:xfrm>
          <a:prstGeom prst="roundRect">
            <a:avLst>
              <a:gd name="adj" fmla="val 3256"/>
            </a:avLst>
          </a:prstGeom>
          <a:solidFill>
            <a:srgbClr val="F4F7F8"/>
          </a:solidFill>
          <a:ln w="9525">
            <a:solidFill>
              <a:srgbClr val="DDE2E2"/>
            </a:solidFill>
            <a:prstDash val="solid"/>
          </a:ln>
        </p:spPr>
      </p:sp>
      <p:sp>
        <p:nvSpPr>
          <p:cNvPr id="15" name="Shape 13"/>
          <p:cNvSpPr/>
          <p:nvPr/>
        </p:nvSpPr>
        <p:spPr>
          <a:xfrm>
            <a:off x="6473952" y="1801368"/>
            <a:ext cx="384048" cy="384048"/>
          </a:xfrm>
          <a:prstGeom prst="ellipse">
            <a:avLst/>
          </a:prstGeom>
          <a:solidFill>
            <a:srgbClr val="00B3E2"/>
          </a:solidFill>
          <a:ln w="12700">
            <a:solidFill>
              <a:srgbClr val="00B3E2"/>
            </a:solidFill>
            <a:prstDash val="solid"/>
          </a:ln>
        </p:spPr>
      </p:sp>
      <p:sp>
        <p:nvSpPr>
          <p:cNvPr id="16" name="Text 14"/>
          <p:cNvSpPr/>
          <p:nvPr/>
        </p:nvSpPr>
        <p:spPr>
          <a:xfrm>
            <a:off x="6473952" y="1801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473952" y="2286000"/>
            <a:ext cx="2029968" cy="384048"/>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Withdraw the /32s</a:t>
            </a:r>
            <a:endParaRPr lang="en-US" sz="1500" dirty="0"/>
          </a:p>
        </p:txBody>
      </p:sp>
      <p:sp>
        <p:nvSpPr>
          <p:cNvPr id="18" name="Text 16"/>
          <p:cNvSpPr/>
          <p:nvPr/>
        </p:nvSpPr>
        <p:spPr>
          <a:xfrm>
            <a:off x="6473952" y="2697480"/>
            <a:ext cx="2029968" cy="7772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NSX-T replaces hundreds of individual host routes with one aggregate prefix.</a:t>
            </a:r>
            <a:endParaRPr lang="en-US" sz="1250" dirty="0"/>
          </a:p>
        </p:txBody>
      </p:sp>
      <p:sp>
        <p:nvSpPr>
          <p:cNvPr id="19" name="Shape 17"/>
          <p:cNvSpPr/>
          <p:nvPr/>
        </p:nvSpPr>
        <p:spPr>
          <a:xfrm>
            <a:off x="9006840" y="1600200"/>
            <a:ext cx="2542032" cy="1965960"/>
          </a:xfrm>
          <a:prstGeom prst="roundRect">
            <a:avLst>
              <a:gd name="adj" fmla="val 3256"/>
            </a:avLst>
          </a:prstGeom>
          <a:solidFill>
            <a:srgbClr val="F4F7F8"/>
          </a:solidFill>
          <a:ln w="9525">
            <a:solidFill>
              <a:srgbClr val="DDE2E2"/>
            </a:solidFill>
            <a:prstDash val="solid"/>
          </a:ln>
        </p:spPr>
      </p:sp>
      <p:sp>
        <p:nvSpPr>
          <p:cNvPr id="20" name="Shape 18"/>
          <p:cNvSpPr/>
          <p:nvPr/>
        </p:nvSpPr>
        <p:spPr>
          <a:xfrm>
            <a:off x="9262872" y="1801368"/>
            <a:ext cx="384048" cy="384048"/>
          </a:xfrm>
          <a:prstGeom prst="ellipse">
            <a:avLst/>
          </a:prstGeom>
          <a:solidFill>
            <a:srgbClr val="00B3E2"/>
          </a:solidFill>
          <a:ln w="12700">
            <a:solidFill>
              <a:srgbClr val="00B3E2"/>
            </a:solidFill>
            <a:prstDash val="solid"/>
          </a:ln>
        </p:spPr>
      </p:sp>
      <p:sp>
        <p:nvSpPr>
          <p:cNvPr id="21" name="Text 19"/>
          <p:cNvSpPr/>
          <p:nvPr/>
        </p:nvSpPr>
        <p:spPr>
          <a:xfrm>
            <a:off x="9262872" y="1801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262872" y="2286000"/>
            <a:ext cx="2029968" cy="384048"/>
          </a:xfrm>
          <a:prstGeom prst="rect">
            <a:avLst/>
          </a:prstGeom>
          <a:noFill/>
          <a:ln/>
        </p:spPr>
        <p:txBody>
          <a:bodyPr wrap="square" lIns="0" tIns="0" rIns="0" bIns="0" rtlCol="0" anchor="ctr"/>
          <a:lstStyle/>
          <a:p>
            <a:pPr indent="0" marL="0">
              <a:buNone/>
            </a:pPr>
            <a:r>
              <a:rPr lang="en-US" sz="1500" b="1" dirty="0">
                <a:solidFill>
                  <a:srgbClr val="3E3E4B"/>
                </a:solidFill>
                <a:latin typeface="Calibri" pitchFamily="34" charset="0"/>
                <a:ea typeface="Calibri" pitchFamily="34" charset="-122"/>
                <a:cs typeface="Calibri" pitchFamily="34" charset="-120"/>
              </a:rPr>
              <a:t>Advertise the summary</a:t>
            </a:r>
            <a:endParaRPr lang="en-US" sz="1500" dirty="0"/>
          </a:p>
        </p:txBody>
      </p:sp>
      <p:sp>
        <p:nvSpPr>
          <p:cNvPr id="23" name="Text 21"/>
          <p:cNvSpPr/>
          <p:nvPr/>
        </p:nvSpPr>
        <p:spPr>
          <a:xfrm>
            <a:off x="9262872" y="2697480"/>
            <a:ext cx="2029968" cy="777240"/>
          </a:xfrm>
          <a:prstGeom prst="rect">
            <a:avLst/>
          </a:prstGeom>
          <a:noFill/>
          <a:ln/>
        </p:spPr>
        <p:txBody>
          <a:bodyPr wrap="square" lIns="0" tIns="0" rIns="0" bIns="0" rtlCol="0" anchor="ctr"/>
          <a:lstStyle/>
          <a:p>
            <a:pPr indent="0" marL="0">
              <a:buNone/>
            </a:pPr>
            <a:r>
              <a:rPr lang="en-US" sz="1250" dirty="0">
                <a:solidFill>
                  <a:srgbClr val="55555F"/>
                </a:solidFill>
                <a:latin typeface="Calibri" pitchFamily="34" charset="0"/>
                <a:ea typeface="Calibri" pitchFamily="34" charset="-122"/>
                <a:cs typeface="Calibri" pitchFamily="34" charset="-120"/>
              </a:rPr>
              <a:t>A single summarized /24 replaces the host routes and reclaims route-table capacity.</a:t>
            </a:r>
            <a:endParaRPr lang="en-US" sz="1250" dirty="0"/>
          </a:p>
        </p:txBody>
      </p:sp>
      <p:sp>
        <p:nvSpPr>
          <p:cNvPr id="24" name="Shape 22"/>
          <p:cNvSpPr/>
          <p:nvPr/>
        </p:nvSpPr>
        <p:spPr>
          <a:xfrm>
            <a:off x="640080" y="3794760"/>
            <a:ext cx="4114800" cy="2057400"/>
          </a:xfrm>
          <a:prstGeom prst="roundRect">
            <a:avLst>
              <a:gd name="adj" fmla="val 3111"/>
            </a:avLst>
          </a:prstGeom>
          <a:solidFill>
            <a:srgbClr val="3E3E4B"/>
          </a:solidFill>
          <a:ln w="9525">
            <a:solidFill>
              <a:srgbClr val="3E3E4B"/>
            </a:solidFill>
            <a:prstDash val="solid"/>
          </a:ln>
        </p:spPr>
      </p:sp>
      <p:sp>
        <p:nvSpPr>
          <p:cNvPr id="25" name="Text 23"/>
          <p:cNvSpPr/>
          <p:nvPr/>
        </p:nvSpPr>
        <p:spPr>
          <a:xfrm>
            <a:off x="1005840" y="3977640"/>
            <a:ext cx="3383280" cy="777240"/>
          </a:xfrm>
          <a:prstGeom prst="rect">
            <a:avLst/>
          </a:prstGeom>
          <a:noFill/>
          <a:ln/>
        </p:spPr>
        <p:txBody>
          <a:bodyPr wrap="square" lIns="0" tIns="0" rIns="0" bIns="0" rtlCol="0" anchor="ctr"/>
          <a:lstStyle/>
          <a:p>
            <a:pPr indent="0" marL="0">
              <a:buNone/>
            </a:pPr>
            <a:r>
              <a:rPr lang="en-US" sz="5000" b="1" dirty="0">
                <a:solidFill>
                  <a:srgbClr val="FAC458"/>
                </a:solidFill>
                <a:latin typeface="Calibri" pitchFamily="34" charset="0"/>
                <a:ea typeface="Calibri" pitchFamily="34" charset="-122"/>
                <a:cs typeface="Calibri" pitchFamily="34" charset="-120"/>
              </a:rPr>
              <a:t>~30</a:t>
            </a:r>
            <a:endParaRPr lang="en-US" sz="5000" dirty="0"/>
          </a:p>
        </p:txBody>
      </p:sp>
      <p:sp>
        <p:nvSpPr>
          <p:cNvPr id="26" name="Text 24"/>
          <p:cNvSpPr/>
          <p:nvPr/>
        </p:nvSpPr>
        <p:spPr>
          <a:xfrm>
            <a:off x="1005840" y="4754880"/>
            <a:ext cx="338328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seconds of potential downtime</a:t>
            </a:r>
            <a:endParaRPr lang="en-US" sz="1600" dirty="0"/>
          </a:p>
        </p:txBody>
      </p:sp>
      <p:sp>
        <p:nvSpPr>
          <p:cNvPr id="27" name="Text 25"/>
          <p:cNvSpPr/>
          <p:nvPr/>
        </p:nvSpPr>
        <p:spPr>
          <a:xfrm>
            <a:off x="1005840" y="5120640"/>
            <a:ext cx="3383280" cy="640080"/>
          </a:xfrm>
          <a:prstGeom prst="rect">
            <a:avLst/>
          </a:prstGeom>
          <a:noFill/>
          <a:ln/>
        </p:spPr>
        <p:txBody>
          <a:bodyPr wrap="square" lIns="0" tIns="0" rIns="0" bIns="0" rtlCol="0" anchor="ctr"/>
          <a:lstStyle/>
          <a:p>
            <a:pPr indent="0" marL="0">
              <a:buNone/>
            </a:pPr>
            <a:r>
              <a:rPr lang="en-US" sz="1200" dirty="0">
                <a:solidFill>
                  <a:srgbClr val="C9CCD6"/>
                </a:solidFill>
                <a:latin typeface="Calibri" pitchFamily="34" charset="0"/>
                <a:ea typeface="Calibri" pitchFamily="34" charset="-122"/>
                <a:cs typeface="Calibri" pitchFamily="34" charset="-120"/>
              </a:rPr>
              <a:t>Route withdrawal is not instantaneous. Updates propagate through NSX Tier-0 gateways, Azure routing components, ExpressRoute, and other BGP peers.</a:t>
            </a:r>
            <a:endParaRPr lang="en-US" sz="1200" dirty="0"/>
          </a:p>
        </p:txBody>
      </p:sp>
      <p:sp>
        <p:nvSpPr>
          <p:cNvPr id="28" name="Text 26"/>
          <p:cNvSpPr/>
          <p:nvPr/>
        </p:nvSpPr>
        <p:spPr>
          <a:xfrm>
            <a:off x="5074920" y="3886200"/>
            <a:ext cx="6492240" cy="320040"/>
          </a:xfrm>
          <a:prstGeom prst="rect">
            <a:avLst/>
          </a:prstGeom>
          <a:noFill/>
          <a:ln/>
        </p:spPr>
        <p:txBody>
          <a:bodyPr wrap="square" lIns="0" tIns="0" rIns="0" bIns="0" rtlCol="0" anchor="ctr"/>
          <a:lstStyle/>
          <a:p>
            <a:pPr indent="0" marL="0">
              <a:buNone/>
            </a:pPr>
            <a:r>
              <a:rPr lang="en-US" sz="1800" b="1" dirty="0">
                <a:solidFill>
                  <a:srgbClr val="F15D23"/>
                </a:solidFill>
                <a:latin typeface="Calibri" pitchFamily="34" charset="0"/>
                <a:ea typeface="Calibri" pitchFamily="34" charset="-122"/>
                <a:cs typeface="Calibri" pitchFamily="34" charset="-120"/>
              </a:rPr>
              <a:t>What a 30-second interruption touches</a:t>
            </a:r>
            <a:endParaRPr lang="en-US" sz="1800" dirty="0"/>
          </a:p>
        </p:txBody>
      </p:sp>
      <p:sp>
        <p:nvSpPr>
          <p:cNvPr id="29" name="Shape 27"/>
          <p:cNvSpPr/>
          <p:nvPr/>
        </p:nvSpPr>
        <p:spPr>
          <a:xfrm>
            <a:off x="5074920" y="4315968"/>
            <a:ext cx="2084832" cy="658368"/>
          </a:xfrm>
          <a:prstGeom prst="roundRect">
            <a:avLst>
              <a:gd name="adj" fmla="val 9722"/>
            </a:avLst>
          </a:prstGeom>
          <a:solidFill>
            <a:srgbClr val="FDF0EB"/>
          </a:solidFill>
          <a:ln w="9525">
            <a:solidFill>
              <a:srgbClr val="F6C9B4"/>
            </a:solidFill>
            <a:prstDash val="solid"/>
          </a:ln>
        </p:spPr>
      </p:sp>
      <p:sp>
        <p:nvSpPr>
          <p:cNvPr id="30" name="Text 28"/>
          <p:cNvSpPr/>
          <p:nvPr/>
        </p:nvSpPr>
        <p:spPr>
          <a:xfrm>
            <a:off x="5239512" y="4315968"/>
            <a:ext cx="1755648" cy="658368"/>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SQL connections</a:t>
            </a:r>
            <a:endParaRPr lang="en-US" sz="1200" dirty="0"/>
          </a:p>
        </p:txBody>
      </p:sp>
      <p:sp>
        <p:nvSpPr>
          <p:cNvPr id="31" name="Shape 29"/>
          <p:cNvSpPr/>
          <p:nvPr/>
        </p:nvSpPr>
        <p:spPr>
          <a:xfrm>
            <a:off x="7278624" y="4315968"/>
            <a:ext cx="2084832" cy="658368"/>
          </a:xfrm>
          <a:prstGeom prst="roundRect">
            <a:avLst>
              <a:gd name="adj" fmla="val 9722"/>
            </a:avLst>
          </a:prstGeom>
          <a:solidFill>
            <a:srgbClr val="FDF0EB"/>
          </a:solidFill>
          <a:ln w="9525">
            <a:solidFill>
              <a:srgbClr val="F6C9B4"/>
            </a:solidFill>
            <a:prstDash val="solid"/>
          </a:ln>
        </p:spPr>
      </p:sp>
      <p:sp>
        <p:nvSpPr>
          <p:cNvPr id="32" name="Text 30"/>
          <p:cNvSpPr/>
          <p:nvPr/>
        </p:nvSpPr>
        <p:spPr>
          <a:xfrm>
            <a:off x="7443216" y="4315968"/>
            <a:ext cx="1755648" cy="658368"/>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Application connection pools</a:t>
            </a:r>
            <a:endParaRPr lang="en-US" sz="1200" dirty="0"/>
          </a:p>
        </p:txBody>
      </p:sp>
      <p:sp>
        <p:nvSpPr>
          <p:cNvPr id="33" name="Shape 31"/>
          <p:cNvSpPr/>
          <p:nvPr/>
        </p:nvSpPr>
        <p:spPr>
          <a:xfrm>
            <a:off x="9482328" y="4315968"/>
            <a:ext cx="2084832" cy="658368"/>
          </a:xfrm>
          <a:prstGeom prst="roundRect">
            <a:avLst>
              <a:gd name="adj" fmla="val 9722"/>
            </a:avLst>
          </a:prstGeom>
          <a:solidFill>
            <a:srgbClr val="FDF0EB"/>
          </a:solidFill>
          <a:ln w="9525">
            <a:solidFill>
              <a:srgbClr val="F6C9B4"/>
            </a:solidFill>
            <a:prstDash val="solid"/>
          </a:ln>
        </p:spPr>
      </p:sp>
      <p:sp>
        <p:nvSpPr>
          <p:cNvPr id="34" name="Text 32"/>
          <p:cNvSpPr/>
          <p:nvPr/>
        </p:nvSpPr>
        <p:spPr>
          <a:xfrm>
            <a:off x="9646920" y="4315968"/>
            <a:ext cx="1755648" cy="658368"/>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Stateful firewall sessions</a:t>
            </a:r>
            <a:endParaRPr lang="en-US" sz="1200" dirty="0"/>
          </a:p>
        </p:txBody>
      </p:sp>
      <p:sp>
        <p:nvSpPr>
          <p:cNvPr id="35" name="Shape 33"/>
          <p:cNvSpPr/>
          <p:nvPr/>
        </p:nvSpPr>
        <p:spPr>
          <a:xfrm>
            <a:off x="5074920" y="5120640"/>
            <a:ext cx="2084832" cy="658368"/>
          </a:xfrm>
          <a:prstGeom prst="roundRect">
            <a:avLst>
              <a:gd name="adj" fmla="val 9722"/>
            </a:avLst>
          </a:prstGeom>
          <a:solidFill>
            <a:srgbClr val="FDF0EB"/>
          </a:solidFill>
          <a:ln w="9525">
            <a:solidFill>
              <a:srgbClr val="F6C9B4"/>
            </a:solidFill>
            <a:prstDash val="solid"/>
          </a:ln>
        </p:spPr>
      </p:sp>
      <p:sp>
        <p:nvSpPr>
          <p:cNvPr id="36" name="Text 34"/>
          <p:cNvSpPr/>
          <p:nvPr/>
        </p:nvSpPr>
        <p:spPr>
          <a:xfrm>
            <a:off x="5239512" y="5120640"/>
            <a:ext cx="1755648" cy="658368"/>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Replication</a:t>
            </a:r>
            <a:endParaRPr lang="en-US" sz="1200" dirty="0"/>
          </a:p>
        </p:txBody>
      </p:sp>
      <p:sp>
        <p:nvSpPr>
          <p:cNvPr id="37" name="Shape 35"/>
          <p:cNvSpPr/>
          <p:nvPr/>
        </p:nvSpPr>
        <p:spPr>
          <a:xfrm>
            <a:off x="7278624" y="5120640"/>
            <a:ext cx="2084832" cy="658368"/>
          </a:xfrm>
          <a:prstGeom prst="roundRect">
            <a:avLst>
              <a:gd name="adj" fmla="val 9722"/>
            </a:avLst>
          </a:prstGeom>
          <a:solidFill>
            <a:srgbClr val="FDF0EB"/>
          </a:solidFill>
          <a:ln w="9525">
            <a:solidFill>
              <a:srgbClr val="F6C9B4"/>
            </a:solidFill>
            <a:prstDash val="solid"/>
          </a:ln>
        </p:spPr>
      </p:sp>
      <p:sp>
        <p:nvSpPr>
          <p:cNvPr id="38" name="Text 36"/>
          <p:cNvSpPr/>
          <p:nvPr/>
        </p:nvSpPr>
        <p:spPr>
          <a:xfrm>
            <a:off x="7443216" y="5120640"/>
            <a:ext cx="1755648" cy="658368"/>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Cluster heartbeats</a:t>
            </a:r>
            <a:endParaRPr lang="en-US" sz="1200" dirty="0"/>
          </a:p>
        </p:txBody>
      </p:sp>
      <p:sp>
        <p:nvSpPr>
          <p:cNvPr id="39" name="Shape 37"/>
          <p:cNvSpPr/>
          <p:nvPr/>
        </p:nvSpPr>
        <p:spPr>
          <a:xfrm>
            <a:off x="9482328" y="5120640"/>
            <a:ext cx="2084832" cy="658368"/>
          </a:xfrm>
          <a:prstGeom prst="roundRect">
            <a:avLst>
              <a:gd name="adj" fmla="val 9722"/>
            </a:avLst>
          </a:prstGeom>
          <a:solidFill>
            <a:srgbClr val="FDF0EB"/>
          </a:solidFill>
          <a:ln w="9525">
            <a:solidFill>
              <a:srgbClr val="F6C9B4"/>
            </a:solidFill>
            <a:prstDash val="solid"/>
          </a:ln>
        </p:spPr>
      </p:sp>
      <p:sp>
        <p:nvSpPr>
          <p:cNvPr id="40" name="Text 38"/>
          <p:cNvSpPr/>
          <p:nvPr/>
        </p:nvSpPr>
        <p:spPr>
          <a:xfrm>
            <a:off x="9646920" y="5120640"/>
            <a:ext cx="1755648" cy="658368"/>
          </a:xfrm>
          <a:prstGeom prst="rect">
            <a:avLst/>
          </a:prstGeom>
          <a:noFill/>
          <a:ln/>
        </p:spPr>
        <p:txBody>
          <a:bodyPr wrap="square" lIns="0" tIns="0" rIns="0" bIns="0" rtlCol="0" anchor="ctr"/>
          <a:lstStyle/>
          <a:p>
            <a:pPr indent="0" marL="0">
              <a:buNone/>
            </a:pPr>
            <a:r>
              <a:rPr lang="en-US" sz="1200" b="1" dirty="0">
                <a:solidFill>
                  <a:srgbClr val="3E3E4B"/>
                </a:solidFill>
                <a:latin typeface="Calibri" pitchFamily="34" charset="0"/>
                <a:ea typeface="Calibri" pitchFamily="34" charset="-122"/>
                <a:cs typeface="Calibri" pitchFamily="34" charset="-120"/>
              </a:rPr>
              <a:t>Manual restarts often required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OPERATING MODEL</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Migration discipline that prevents the outage</a:t>
            </a:r>
            <a:endParaRPr lang="en-US" sz="3400" dirty="0"/>
          </a:p>
        </p:txBody>
      </p:sp>
      <p:sp>
        <p:nvSpPr>
          <p:cNvPr id="4" name="Shape 2"/>
          <p:cNvSpPr/>
          <p:nvPr/>
        </p:nvSpPr>
        <p:spPr>
          <a:xfrm>
            <a:off x="640080" y="1691640"/>
            <a:ext cx="5257800" cy="822960"/>
          </a:xfrm>
          <a:prstGeom prst="roundRect">
            <a:avLst>
              <a:gd name="adj" fmla="val 7778"/>
            </a:avLst>
          </a:prstGeom>
          <a:solidFill>
            <a:srgbClr val="F4F7F8"/>
          </a:solidFill>
          <a:ln w="9525">
            <a:solidFill>
              <a:srgbClr val="DDE2E2"/>
            </a:solidFill>
            <a:prstDash val="solid"/>
          </a:ln>
        </p:spPr>
      </p:sp>
      <p:sp>
        <p:nvSpPr>
          <p:cNvPr id="5" name="Shape 3"/>
          <p:cNvSpPr/>
          <p:nvPr/>
        </p:nvSpPr>
        <p:spPr>
          <a:xfrm>
            <a:off x="896112" y="1911096"/>
            <a:ext cx="384048" cy="384048"/>
          </a:xfrm>
          <a:prstGeom prst="ellipse">
            <a:avLst/>
          </a:prstGeom>
          <a:solidFill>
            <a:srgbClr val="3E3E4B"/>
          </a:solidFill>
          <a:ln w="12700">
            <a:solidFill>
              <a:srgbClr val="3E3E4B"/>
            </a:solidFill>
            <a:prstDash val="solid"/>
          </a:ln>
        </p:spPr>
      </p:sp>
      <p:sp>
        <p:nvSpPr>
          <p:cNvPr id="6" name="Text 4"/>
          <p:cNvSpPr/>
          <p:nvPr/>
        </p:nvSpPr>
        <p:spPr>
          <a:xfrm>
            <a:off x="896112" y="19110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17320" y="1691640"/>
            <a:ext cx="4206240" cy="822960"/>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Migrate workloads in controlled batches sized against route-prefix capacity.</a:t>
            </a:r>
            <a:endParaRPr lang="en-US" sz="1350" dirty="0"/>
          </a:p>
        </p:txBody>
      </p:sp>
      <p:sp>
        <p:nvSpPr>
          <p:cNvPr id="8" name="Shape 6"/>
          <p:cNvSpPr/>
          <p:nvPr/>
        </p:nvSpPr>
        <p:spPr>
          <a:xfrm>
            <a:off x="6291072" y="1691640"/>
            <a:ext cx="5257800" cy="822960"/>
          </a:xfrm>
          <a:prstGeom prst="roundRect">
            <a:avLst>
              <a:gd name="adj" fmla="val 7778"/>
            </a:avLst>
          </a:prstGeom>
          <a:solidFill>
            <a:srgbClr val="F4F7F8"/>
          </a:solidFill>
          <a:ln w="9525">
            <a:solidFill>
              <a:srgbClr val="DDE2E2"/>
            </a:solidFill>
            <a:prstDash val="solid"/>
          </a:ln>
        </p:spPr>
      </p:sp>
      <p:sp>
        <p:nvSpPr>
          <p:cNvPr id="9" name="Shape 7"/>
          <p:cNvSpPr/>
          <p:nvPr/>
        </p:nvSpPr>
        <p:spPr>
          <a:xfrm>
            <a:off x="6547104" y="1911096"/>
            <a:ext cx="384048" cy="384048"/>
          </a:xfrm>
          <a:prstGeom prst="ellipse">
            <a:avLst/>
          </a:prstGeom>
          <a:solidFill>
            <a:srgbClr val="3E3E4B"/>
          </a:solidFill>
          <a:ln w="12700">
            <a:solidFill>
              <a:srgbClr val="3E3E4B"/>
            </a:solidFill>
            <a:prstDash val="solid"/>
          </a:ln>
        </p:spPr>
      </p:sp>
      <p:sp>
        <p:nvSpPr>
          <p:cNvPr id="10" name="Text 8"/>
          <p:cNvSpPr/>
          <p:nvPr/>
        </p:nvSpPr>
        <p:spPr>
          <a:xfrm>
            <a:off x="6547104" y="19110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7068312" y="1691640"/>
            <a:ext cx="4206240" cy="822960"/>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Monitor route-prefix consumption throughout the migration, not just at the end.</a:t>
            </a:r>
            <a:endParaRPr lang="en-US" sz="1350" dirty="0"/>
          </a:p>
        </p:txBody>
      </p:sp>
      <p:sp>
        <p:nvSpPr>
          <p:cNvPr id="12" name="Shape 10"/>
          <p:cNvSpPr/>
          <p:nvPr/>
        </p:nvSpPr>
        <p:spPr>
          <a:xfrm>
            <a:off x="640080" y="2770632"/>
            <a:ext cx="5257800" cy="822960"/>
          </a:xfrm>
          <a:prstGeom prst="roundRect">
            <a:avLst>
              <a:gd name="adj" fmla="val 7778"/>
            </a:avLst>
          </a:prstGeom>
          <a:solidFill>
            <a:srgbClr val="F4F7F8"/>
          </a:solidFill>
          <a:ln w="9525">
            <a:solidFill>
              <a:srgbClr val="DDE2E2"/>
            </a:solidFill>
            <a:prstDash val="solid"/>
          </a:ln>
        </p:spPr>
      </p:sp>
      <p:sp>
        <p:nvSpPr>
          <p:cNvPr id="13" name="Shape 11"/>
          <p:cNvSpPr/>
          <p:nvPr/>
        </p:nvSpPr>
        <p:spPr>
          <a:xfrm>
            <a:off x="896112" y="2990088"/>
            <a:ext cx="384048" cy="384048"/>
          </a:xfrm>
          <a:prstGeom prst="ellipse">
            <a:avLst/>
          </a:prstGeom>
          <a:solidFill>
            <a:srgbClr val="3E3E4B"/>
          </a:solidFill>
          <a:ln w="12700">
            <a:solidFill>
              <a:srgbClr val="3E3E4B"/>
            </a:solidFill>
            <a:prstDash val="solid"/>
          </a:ln>
        </p:spPr>
      </p:sp>
      <p:sp>
        <p:nvSpPr>
          <p:cNvPr id="14" name="Text 12"/>
          <p:cNvSpPr/>
          <p:nvPr/>
        </p:nvSpPr>
        <p:spPr>
          <a:xfrm>
            <a:off x="896112" y="29900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17320" y="2770632"/>
            <a:ext cx="4206240" cy="822960"/>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Schedule gateway cutovers inside maintenance windows.</a:t>
            </a:r>
            <a:endParaRPr lang="en-US" sz="1350" dirty="0"/>
          </a:p>
        </p:txBody>
      </p:sp>
      <p:sp>
        <p:nvSpPr>
          <p:cNvPr id="16" name="Shape 14"/>
          <p:cNvSpPr/>
          <p:nvPr/>
        </p:nvSpPr>
        <p:spPr>
          <a:xfrm>
            <a:off x="6291072" y="2770632"/>
            <a:ext cx="5257800" cy="822960"/>
          </a:xfrm>
          <a:prstGeom prst="roundRect">
            <a:avLst>
              <a:gd name="adj" fmla="val 7778"/>
            </a:avLst>
          </a:prstGeom>
          <a:solidFill>
            <a:srgbClr val="F4F7F8"/>
          </a:solidFill>
          <a:ln w="9525">
            <a:solidFill>
              <a:srgbClr val="DDE2E2"/>
            </a:solidFill>
            <a:prstDash val="solid"/>
          </a:ln>
        </p:spPr>
      </p:sp>
      <p:sp>
        <p:nvSpPr>
          <p:cNvPr id="17" name="Shape 15"/>
          <p:cNvSpPr/>
          <p:nvPr/>
        </p:nvSpPr>
        <p:spPr>
          <a:xfrm>
            <a:off x="6547104" y="2990088"/>
            <a:ext cx="384048" cy="384048"/>
          </a:xfrm>
          <a:prstGeom prst="ellipse">
            <a:avLst/>
          </a:prstGeom>
          <a:solidFill>
            <a:srgbClr val="3E3E4B"/>
          </a:solidFill>
          <a:ln w="12700">
            <a:solidFill>
              <a:srgbClr val="3E3E4B"/>
            </a:solidFill>
            <a:prstDash val="solid"/>
          </a:ln>
        </p:spPr>
      </p:sp>
      <p:sp>
        <p:nvSpPr>
          <p:cNvPr id="18" name="Text 16"/>
          <p:cNvSpPr/>
          <p:nvPr/>
        </p:nvSpPr>
        <p:spPr>
          <a:xfrm>
            <a:off x="6547104" y="29900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7068312" y="2770632"/>
            <a:ext cx="4206240" cy="822960"/>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Accept the convergence interruption as a planned event and communicate it to application teams.</a:t>
            </a:r>
            <a:endParaRPr lang="en-US" sz="1350" dirty="0"/>
          </a:p>
        </p:txBody>
      </p:sp>
      <p:sp>
        <p:nvSpPr>
          <p:cNvPr id="20" name="Shape 18"/>
          <p:cNvSpPr/>
          <p:nvPr/>
        </p:nvSpPr>
        <p:spPr>
          <a:xfrm>
            <a:off x="640080" y="3849624"/>
            <a:ext cx="5257800" cy="822960"/>
          </a:xfrm>
          <a:prstGeom prst="roundRect">
            <a:avLst>
              <a:gd name="adj" fmla="val 7778"/>
            </a:avLst>
          </a:prstGeom>
          <a:solidFill>
            <a:srgbClr val="F4F7F8"/>
          </a:solidFill>
          <a:ln w="9525">
            <a:solidFill>
              <a:srgbClr val="DDE2E2"/>
            </a:solidFill>
            <a:prstDash val="solid"/>
          </a:ln>
        </p:spPr>
      </p:sp>
      <p:sp>
        <p:nvSpPr>
          <p:cNvPr id="21" name="Shape 19"/>
          <p:cNvSpPr/>
          <p:nvPr/>
        </p:nvSpPr>
        <p:spPr>
          <a:xfrm>
            <a:off x="896112" y="4069080"/>
            <a:ext cx="384048" cy="384048"/>
          </a:xfrm>
          <a:prstGeom prst="ellipse">
            <a:avLst/>
          </a:prstGeom>
          <a:solidFill>
            <a:srgbClr val="3E3E4B"/>
          </a:solidFill>
          <a:ln w="12700">
            <a:solidFill>
              <a:srgbClr val="3E3E4B"/>
            </a:solidFill>
            <a:prstDash val="solid"/>
          </a:ln>
        </p:spPr>
      </p:sp>
      <p:sp>
        <p:nvSpPr>
          <p:cNvPr id="22" name="Text 20"/>
          <p:cNvSpPr/>
          <p:nvPr/>
        </p:nvSpPr>
        <p:spPr>
          <a:xfrm>
            <a:off x="896112" y="40690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17320" y="3849624"/>
            <a:ext cx="4206240" cy="822960"/>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Verify the summarized route is active and the /32 routes have been withdrawn.</a:t>
            </a:r>
            <a:endParaRPr lang="en-US" sz="1350" dirty="0"/>
          </a:p>
        </p:txBody>
      </p:sp>
      <p:sp>
        <p:nvSpPr>
          <p:cNvPr id="24" name="Shape 22"/>
          <p:cNvSpPr/>
          <p:nvPr/>
        </p:nvSpPr>
        <p:spPr>
          <a:xfrm>
            <a:off x="6291072" y="3849624"/>
            <a:ext cx="5257800" cy="822960"/>
          </a:xfrm>
          <a:prstGeom prst="roundRect">
            <a:avLst>
              <a:gd name="adj" fmla="val 7778"/>
            </a:avLst>
          </a:prstGeom>
          <a:solidFill>
            <a:srgbClr val="F4F7F8"/>
          </a:solidFill>
          <a:ln w="9525">
            <a:solidFill>
              <a:srgbClr val="DDE2E2"/>
            </a:solidFill>
            <a:prstDash val="solid"/>
          </a:ln>
        </p:spPr>
      </p:sp>
      <p:sp>
        <p:nvSpPr>
          <p:cNvPr id="25" name="Shape 23"/>
          <p:cNvSpPr/>
          <p:nvPr/>
        </p:nvSpPr>
        <p:spPr>
          <a:xfrm>
            <a:off x="6547104" y="4069080"/>
            <a:ext cx="384048" cy="384048"/>
          </a:xfrm>
          <a:prstGeom prst="ellipse">
            <a:avLst/>
          </a:prstGeom>
          <a:solidFill>
            <a:srgbClr val="3E3E4B"/>
          </a:solidFill>
          <a:ln w="12700">
            <a:solidFill>
              <a:srgbClr val="3E3E4B"/>
            </a:solidFill>
            <a:prstDash val="solid"/>
          </a:ln>
        </p:spPr>
      </p:sp>
      <p:sp>
        <p:nvSpPr>
          <p:cNvPr id="26" name="Text 24"/>
          <p:cNvSpPr/>
          <p:nvPr/>
        </p:nvSpPr>
        <p:spPr>
          <a:xfrm>
            <a:off x="6547104" y="40690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7068312" y="3849624"/>
            <a:ext cx="4206240" cy="822960"/>
          </a:xfrm>
          <a:prstGeom prst="rect">
            <a:avLst/>
          </a:prstGeom>
          <a:noFill/>
          <a:ln/>
        </p:spPr>
        <p:txBody>
          <a:bodyPr wrap="square" lIns="0" tIns="0" rIns="0" bIns="0" rtlCol="0" anchor="ctr"/>
          <a:lstStyle/>
          <a:p>
            <a:pPr indent="0" marL="0">
              <a:buNone/>
            </a:pPr>
            <a:r>
              <a:rPr lang="en-US" sz="1350" dirty="0">
                <a:solidFill>
                  <a:srgbClr val="3E3E4B"/>
                </a:solidFill>
                <a:latin typeface="Calibri" pitchFamily="34" charset="0"/>
                <a:ea typeface="Calibri" pitchFamily="34" charset="-122"/>
                <a:cs typeface="Calibri" pitchFamily="34" charset="-120"/>
              </a:rPr>
              <a:t>Confirm prefix consumption has returned to baseline before starting the next batch.</a:t>
            </a:r>
            <a:endParaRPr lang="en-US" sz="1350" dirty="0"/>
          </a:p>
        </p:txBody>
      </p:sp>
      <p:sp>
        <p:nvSpPr>
          <p:cNvPr id="28" name="Shape 26"/>
          <p:cNvSpPr/>
          <p:nvPr/>
        </p:nvSpPr>
        <p:spPr>
          <a:xfrm>
            <a:off x="640080" y="4937760"/>
            <a:ext cx="10911535" cy="960120"/>
          </a:xfrm>
          <a:prstGeom prst="roundRect">
            <a:avLst>
              <a:gd name="adj" fmla="val 6667"/>
            </a:avLst>
          </a:prstGeom>
          <a:solidFill>
            <a:srgbClr val="E5F7FC"/>
          </a:solidFill>
          <a:ln w="9525">
            <a:solidFill>
              <a:srgbClr val="B2E8F6"/>
            </a:solidFill>
            <a:prstDash val="solid"/>
          </a:ln>
        </p:spPr>
      </p:sp>
      <p:sp>
        <p:nvSpPr>
          <p:cNvPr id="29" name="Text 27"/>
          <p:cNvSpPr/>
          <p:nvPr/>
        </p:nvSpPr>
        <p:spPr>
          <a:xfrm>
            <a:off x="960120" y="5074920"/>
            <a:ext cx="10271455" cy="685800"/>
          </a:xfrm>
          <a:prstGeom prst="rect">
            <a:avLst/>
          </a:prstGeom>
          <a:noFill/>
          <a:ln/>
        </p:spPr>
        <p:txBody>
          <a:bodyPr wrap="square" lIns="0" tIns="0" rIns="0" bIns="0" rtlCol="0" anchor="ctr"/>
          <a:lstStyle/>
          <a:p>
            <a:pPr indent="0" marL="0">
              <a:buNone/>
            </a:pPr>
            <a:r>
              <a:rPr lang="en-US" sz="1400" b="1" dirty="0">
                <a:solidFill>
                  <a:srgbClr val="0A7FA6"/>
                </a:solidFill>
                <a:latin typeface="Calibri" pitchFamily="34" charset="0"/>
                <a:ea typeface="Calibri" pitchFamily="34" charset="-122"/>
                <a:cs typeface="Calibri" pitchFamily="34" charset="-120"/>
              </a:rPr>
              <a:t>Networking and project management are inseparable in AVS. Batch size depends on prefix capacity, cutover timing depends on BGP convergence, and network architects need to be in migration planning from the beginning.</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37744"/>
          </a:xfrm>
          <a:prstGeom prst="rect">
            <a:avLst/>
          </a:prstGeom>
          <a:noFill/>
          <a:ln/>
        </p:spPr>
        <p:txBody>
          <a:bodyPr wrap="square" lIns="0" tIns="0" rIns="0" bIns="0" rtlCol="0" anchor="ctr"/>
          <a:lstStyle/>
          <a:p>
            <a:pPr indent="0" marL="0">
              <a:buNone/>
            </a:pPr>
            <a:r>
              <a:rPr lang="en-US" sz="1100" b="1" spc="200" kern="0" dirty="0">
                <a:solidFill>
                  <a:srgbClr val="00B3E2"/>
                </a:solidFill>
                <a:latin typeface="Calibri" pitchFamily="34" charset="0"/>
                <a:ea typeface="Calibri" pitchFamily="34" charset="-122"/>
                <a:cs typeface="Calibri" pitchFamily="34" charset="-120"/>
              </a:rPr>
              <a:t>ARCHITECTURAL LESSONS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ctr"/>
          <a:lstStyle/>
          <a:p>
            <a:pPr indent="0" marL="0">
              <a:buNone/>
            </a:pPr>
            <a:r>
              <a:rPr lang="en-US" sz="3400" b="1" dirty="0">
                <a:solidFill>
                  <a:srgbClr val="3E3E4B"/>
                </a:solidFill>
                <a:latin typeface="Calibri" pitchFamily="34" charset="0"/>
                <a:ea typeface="Calibri" pitchFamily="34" charset="-122"/>
                <a:cs typeface="Calibri" pitchFamily="34" charset="-120"/>
              </a:rPr>
              <a:t>What AVS actually asks of you</a:t>
            </a:r>
            <a:endParaRPr lang="en-US" sz="3400" dirty="0"/>
          </a:p>
        </p:txBody>
      </p:sp>
      <p:sp>
        <p:nvSpPr>
          <p:cNvPr id="4" name="Shape 2"/>
          <p:cNvSpPr/>
          <p:nvPr/>
        </p:nvSpPr>
        <p:spPr>
          <a:xfrm>
            <a:off x="640080" y="1691640"/>
            <a:ext cx="3511296" cy="3931920"/>
          </a:xfrm>
          <a:prstGeom prst="roundRect">
            <a:avLst>
              <a:gd name="adj" fmla="val 1823"/>
            </a:avLst>
          </a:prstGeom>
          <a:solidFill>
            <a:srgbClr val="F4F7F8"/>
          </a:solidFill>
          <a:ln w="9525">
            <a:solidFill>
              <a:srgbClr val="DDE2E2"/>
            </a:solidFill>
            <a:prstDash val="solid"/>
          </a:ln>
        </p:spPr>
      </p:sp>
      <p:sp>
        <p:nvSpPr>
          <p:cNvPr id="5" name="Shape 3"/>
          <p:cNvSpPr/>
          <p:nvPr/>
        </p:nvSpPr>
        <p:spPr>
          <a:xfrm>
            <a:off x="914400" y="1965960"/>
            <a:ext cx="310896" cy="310896"/>
          </a:xfrm>
          <a:prstGeom prst="ellipse">
            <a:avLst/>
          </a:prstGeom>
          <a:solidFill>
            <a:srgbClr val="00B3E2"/>
          </a:solidFill>
          <a:ln w="12700">
            <a:solidFill>
              <a:srgbClr val="00B3E2"/>
            </a:solidFill>
            <a:prstDash val="solid"/>
          </a:ln>
        </p:spPr>
      </p:sp>
      <p:sp>
        <p:nvSpPr>
          <p:cNvPr id="6" name="Text 4"/>
          <p:cNvSpPr/>
          <p:nvPr/>
        </p:nvSpPr>
        <p:spPr>
          <a:xfrm>
            <a:off x="914400" y="2450592"/>
            <a:ext cx="2962656" cy="86868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AVS is not simple VMware hosting</a:t>
            </a:r>
            <a:endParaRPr lang="en-US" sz="1800" dirty="0"/>
          </a:p>
        </p:txBody>
      </p:sp>
      <p:sp>
        <p:nvSpPr>
          <p:cNvPr id="7" name="Text 5"/>
          <p:cNvSpPr/>
          <p:nvPr/>
        </p:nvSpPr>
        <p:spPr>
          <a:xfrm>
            <a:off x="914400" y="3383280"/>
            <a:ext cx="2962656" cy="201168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It is an integration of VMware management tools, NSX-T networking, ExpressRoute, Azure VNets, and Azure's physical fabric. Traditional data-center practice cannot be transferred without modification.</a:t>
            </a:r>
            <a:endParaRPr lang="en-US" sz="1300" dirty="0"/>
          </a:p>
        </p:txBody>
      </p:sp>
      <p:sp>
        <p:nvSpPr>
          <p:cNvPr id="8" name="Shape 6"/>
          <p:cNvSpPr/>
          <p:nvPr/>
        </p:nvSpPr>
        <p:spPr>
          <a:xfrm>
            <a:off x="4535424" y="1691640"/>
            <a:ext cx="3511296" cy="3931920"/>
          </a:xfrm>
          <a:prstGeom prst="roundRect">
            <a:avLst>
              <a:gd name="adj" fmla="val 1823"/>
            </a:avLst>
          </a:prstGeom>
          <a:solidFill>
            <a:srgbClr val="F4F7F8"/>
          </a:solidFill>
          <a:ln w="9525">
            <a:solidFill>
              <a:srgbClr val="DDE2E2"/>
            </a:solidFill>
            <a:prstDash val="solid"/>
          </a:ln>
        </p:spPr>
      </p:sp>
      <p:sp>
        <p:nvSpPr>
          <p:cNvPr id="9" name="Shape 7"/>
          <p:cNvSpPr/>
          <p:nvPr/>
        </p:nvSpPr>
        <p:spPr>
          <a:xfrm>
            <a:off x="4809744" y="1965960"/>
            <a:ext cx="310896" cy="310896"/>
          </a:xfrm>
          <a:prstGeom prst="ellipse">
            <a:avLst/>
          </a:prstGeom>
          <a:solidFill>
            <a:srgbClr val="F15D23"/>
          </a:solidFill>
          <a:ln w="12700">
            <a:solidFill>
              <a:srgbClr val="F15D23"/>
            </a:solidFill>
            <a:prstDash val="solid"/>
          </a:ln>
        </p:spPr>
      </p:sp>
      <p:sp>
        <p:nvSpPr>
          <p:cNvPr id="10" name="Text 8"/>
          <p:cNvSpPr/>
          <p:nvPr/>
        </p:nvSpPr>
        <p:spPr>
          <a:xfrm>
            <a:off x="4809744" y="2450592"/>
            <a:ext cx="2962656" cy="86868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Hidden limits matter</a:t>
            </a:r>
            <a:endParaRPr lang="en-US" sz="1800" dirty="0"/>
          </a:p>
        </p:txBody>
      </p:sp>
      <p:sp>
        <p:nvSpPr>
          <p:cNvPr id="11" name="Text 9"/>
          <p:cNvSpPr/>
          <p:nvPr/>
        </p:nvSpPr>
        <p:spPr>
          <a:xfrm>
            <a:off x="4809744" y="3383280"/>
            <a:ext cx="2962656" cy="201168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IP-block exclusions cause black holes. Managed SNAT tables exhaust. VPN gateways are constrained by encryption CPU. Hardware route tables fill. Broadcast suppression breaks DHCP. BGP convergence interrupts applications.</a:t>
            </a:r>
            <a:endParaRPr lang="en-US" sz="1300" dirty="0"/>
          </a:p>
        </p:txBody>
      </p:sp>
      <p:sp>
        <p:nvSpPr>
          <p:cNvPr id="12" name="Shape 10"/>
          <p:cNvSpPr/>
          <p:nvPr/>
        </p:nvSpPr>
        <p:spPr>
          <a:xfrm>
            <a:off x="8430768" y="1691640"/>
            <a:ext cx="3511296" cy="3931920"/>
          </a:xfrm>
          <a:prstGeom prst="roundRect">
            <a:avLst>
              <a:gd name="adj" fmla="val 1823"/>
            </a:avLst>
          </a:prstGeom>
          <a:solidFill>
            <a:srgbClr val="F4F7F8"/>
          </a:solidFill>
          <a:ln w="9525">
            <a:solidFill>
              <a:srgbClr val="DDE2E2"/>
            </a:solidFill>
            <a:prstDash val="solid"/>
          </a:ln>
        </p:spPr>
      </p:sp>
      <p:sp>
        <p:nvSpPr>
          <p:cNvPr id="13" name="Shape 11"/>
          <p:cNvSpPr/>
          <p:nvPr/>
        </p:nvSpPr>
        <p:spPr>
          <a:xfrm>
            <a:off x="8705088" y="1965960"/>
            <a:ext cx="310896" cy="310896"/>
          </a:xfrm>
          <a:prstGeom prst="ellipse">
            <a:avLst/>
          </a:prstGeom>
          <a:solidFill>
            <a:srgbClr val="00AD93"/>
          </a:solidFill>
          <a:ln w="12700">
            <a:solidFill>
              <a:srgbClr val="00AD93"/>
            </a:solidFill>
            <a:prstDash val="solid"/>
          </a:ln>
        </p:spPr>
      </p:sp>
      <p:sp>
        <p:nvSpPr>
          <p:cNvPr id="14" name="Text 12"/>
          <p:cNvSpPr/>
          <p:nvPr/>
        </p:nvSpPr>
        <p:spPr>
          <a:xfrm>
            <a:off x="8705088" y="2450592"/>
            <a:ext cx="2962656" cy="868680"/>
          </a:xfrm>
          <a:prstGeom prst="rect">
            <a:avLst/>
          </a:prstGeom>
          <a:noFill/>
          <a:ln/>
        </p:spPr>
        <p:txBody>
          <a:bodyPr wrap="square" lIns="0" tIns="0" rIns="0" bIns="0" rtlCol="0" anchor="ctr"/>
          <a:lstStyle/>
          <a:p>
            <a:pPr indent="0" marL="0">
              <a:buNone/>
            </a:pPr>
            <a:r>
              <a:rPr lang="en-US" sz="1800" b="1" dirty="0">
                <a:solidFill>
                  <a:srgbClr val="3E3E4B"/>
                </a:solidFill>
                <a:latin typeface="Calibri" pitchFamily="34" charset="0"/>
                <a:ea typeface="Calibri" pitchFamily="34" charset="-122"/>
                <a:cs typeface="Calibri" pitchFamily="34" charset="-120"/>
              </a:rPr>
              <a:t>Visibility comes with responsibility</a:t>
            </a:r>
            <a:endParaRPr lang="en-US" sz="1800" dirty="0"/>
          </a:p>
        </p:txBody>
      </p:sp>
      <p:sp>
        <p:nvSpPr>
          <p:cNvPr id="15" name="Text 13"/>
          <p:cNvSpPr/>
          <p:nvPr/>
        </p:nvSpPr>
        <p:spPr>
          <a:xfrm>
            <a:off x="8705088" y="3383280"/>
            <a:ext cx="2962656" cy="2011680"/>
          </a:xfrm>
          <a:prstGeom prst="rect">
            <a:avLst/>
          </a:prstGeom>
          <a:noFill/>
          <a:ln/>
        </p:spPr>
        <p:txBody>
          <a:bodyPr wrap="square" lIns="0" tIns="0" rIns="0" bIns="0" rtlCol="0" anchor="ctr"/>
          <a:lstStyle/>
          <a:p>
            <a:pPr indent="0" marL="0">
              <a:buNone/>
            </a:pPr>
            <a:r>
              <a:rPr lang="en-US" sz="1300" dirty="0">
                <a:solidFill>
                  <a:srgbClr val="55555F"/>
                </a:solidFill>
                <a:latin typeface="Calibri" pitchFamily="34" charset="0"/>
                <a:ea typeface="Calibri" pitchFamily="34" charset="-122"/>
                <a:cs typeface="Calibri" pitchFamily="34" charset="-120"/>
              </a:rPr>
              <a:t>Generation 1 prioritized simplicity but concealed internal state. Generation 2 gives firewall visibility, routing control, and native Azure integration, and hands back UDR design, symmetric routing, capacity management, and summarization.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509760" y="822960"/>
            <a:ext cx="4206240" cy="4206240"/>
          </a:xfrm>
          <a:prstGeom prst="ellipse">
            <a:avLst/>
          </a:prstGeom>
          <a:solidFill>
            <a:srgbClr val="3E3E4B"/>
          </a:solidFill>
          <a:ln w="12700">
            <a:solidFill>
              <a:srgbClr val="5A5A6B"/>
            </a:solidFill>
            <a:prstDash val="solid"/>
          </a:ln>
        </p:spPr>
      </p:sp>
      <p:sp>
        <p:nvSpPr>
          <p:cNvPr id="3" name="Shape 1"/>
          <p:cNvSpPr/>
          <p:nvPr/>
        </p:nvSpPr>
        <p:spPr>
          <a:xfrm>
            <a:off x="10515600" y="1828800"/>
            <a:ext cx="2194560" cy="2194560"/>
          </a:xfrm>
          <a:prstGeom prst="ellipse">
            <a:avLst/>
          </a:prstGeom>
          <a:solidFill>
            <a:srgbClr val="00B3E2"/>
          </a:solidFill>
          <a:ln w="12700">
            <a:solidFill>
              <a:srgbClr val="00B3E2"/>
            </a:solidFill>
            <a:prstDash val="solid"/>
          </a:ln>
        </p:spPr>
      </p:sp>
      <p:sp>
        <p:nvSpPr>
          <p:cNvPr id="4" name="Text 2"/>
          <p:cNvSpPr/>
          <p:nvPr/>
        </p:nvSpPr>
        <p:spPr>
          <a:xfrm>
            <a:off x="640080" y="914400"/>
            <a:ext cx="7772400" cy="274320"/>
          </a:xfrm>
          <a:prstGeom prst="rect">
            <a:avLst/>
          </a:prstGeom>
          <a:noFill/>
          <a:ln/>
        </p:spPr>
        <p:txBody>
          <a:bodyPr wrap="square" lIns="0" tIns="0" rIns="0" bIns="0" rtlCol="0" anchor="ctr"/>
          <a:lstStyle/>
          <a:p>
            <a:pPr indent="0" marL="0">
              <a:buNone/>
            </a:pPr>
            <a:r>
              <a:rPr lang="en-US" sz="1100" b="1" spc="250" kern="0" dirty="0">
                <a:solidFill>
                  <a:srgbClr val="00B3E2"/>
                </a:solidFill>
                <a:latin typeface="Calibri" pitchFamily="34" charset="0"/>
                <a:ea typeface="Calibri" pitchFamily="34" charset="-122"/>
                <a:cs typeface="Calibri" pitchFamily="34" charset="-120"/>
              </a:rPr>
              <a:t>IN CLOSING</a:t>
            </a:r>
            <a:endParaRPr lang="en-US" sz="1100" dirty="0"/>
          </a:p>
        </p:txBody>
      </p:sp>
      <p:sp>
        <p:nvSpPr>
          <p:cNvPr id="5" name="Text 3"/>
          <p:cNvSpPr/>
          <p:nvPr/>
        </p:nvSpPr>
        <p:spPr>
          <a:xfrm>
            <a:off x="640080" y="1280160"/>
            <a:ext cx="8412480" cy="10972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Cloud networking is not the virtualization of physical cables.</a:t>
            </a:r>
            <a:endParaRPr lang="en-US" sz="3200" dirty="0"/>
          </a:p>
        </p:txBody>
      </p:sp>
      <p:sp>
        <p:nvSpPr>
          <p:cNvPr id="6" name="Text 4"/>
          <p:cNvSpPr/>
          <p:nvPr/>
        </p:nvSpPr>
        <p:spPr>
          <a:xfrm>
            <a:off x="640080" y="2514600"/>
            <a:ext cx="8138160" cy="914400"/>
          </a:xfrm>
          <a:prstGeom prst="rect">
            <a:avLst/>
          </a:prstGeom>
          <a:noFill/>
          <a:ln/>
        </p:spPr>
        <p:txBody>
          <a:bodyPr wrap="square" lIns="0" tIns="0" rIns="0" bIns="0" rtlCol="0" anchor="ctr"/>
          <a:lstStyle/>
          <a:p>
            <a:pPr indent="0" marL="0">
              <a:buNone/>
            </a:pPr>
            <a:r>
              <a:rPr lang="en-US" sz="1500" dirty="0">
                <a:solidFill>
                  <a:srgbClr val="C9CCD6"/>
                </a:solidFill>
                <a:latin typeface="Calibri" pitchFamily="34" charset="0"/>
                <a:ea typeface="Calibri" pitchFamily="34" charset="-122"/>
                <a:cs typeface="Calibri" pitchFamily="34" charset="-120"/>
              </a:rPr>
              <a:t>It is an interaction between software engineering, distributed control planes, hardware memory, routing mathematics, and operational procedure. Successful AVS architecture requires strict design discipline and continuous capacity monitoring.</a:t>
            </a:r>
            <a:endParaRPr lang="en-US" sz="1500" dirty="0"/>
          </a:p>
        </p:txBody>
      </p:sp>
      <p:sp>
        <p:nvSpPr>
          <p:cNvPr id="7" name="Shape 5"/>
          <p:cNvSpPr/>
          <p:nvPr/>
        </p:nvSpPr>
        <p:spPr>
          <a:xfrm>
            <a:off x="640080" y="3703320"/>
            <a:ext cx="8138160" cy="2103120"/>
          </a:xfrm>
          <a:prstGeom prst="roundRect">
            <a:avLst>
              <a:gd name="adj" fmla="val 3043"/>
            </a:avLst>
          </a:prstGeom>
          <a:solidFill>
            <a:srgbClr val="2F2F3A"/>
          </a:solidFill>
          <a:ln w="9525">
            <a:solidFill>
              <a:srgbClr val="5C5C6C"/>
            </a:solidFill>
            <a:prstDash val="solid"/>
          </a:ln>
        </p:spPr>
      </p:sp>
      <p:sp>
        <p:nvSpPr>
          <p:cNvPr id="8" name="Text 6"/>
          <p:cNvSpPr/>
          <p:nvPr/>
        </p:nvSpPr>
        <p:spPr>
          <a:xfrm>
            <a:off x="1005840" y="3913632"/>
            <a:ext cx="7406640" cy="292608"/>
          </a:xfrm>
          <a:prstGeom prst="rect">
            <a:avLst/>
          </a:prstGeom>
          <a:noFill/>
          <a:ln/>
        </p:spPr>
        <p:txBody>
          <a:bodyPr wrap="square" lIns="0" tIns="0" rIns="0" bIns="0" rtlCol="0" anchor="ctr"/>
          <a:lstStyle/>
          <a:p>
            <a:pPr indent="0" marL="0">
              <a:buNone/>
            </a:pPr>
            <a:r>
              <a:rPr lang="en-US" sz="1500" b="1" dirty="0">
                <a:solidFill>
                  <a:srgbClr val="2DCCD3"/>
                </a:solidFill>
                <a:latin typeface="Calibri" pitchFamily="34" charset="0"/>
                <a:ea typeface="Calibri" pitchFamily="34" charset="-122"/>
                <a:cs typeface="Calibri" pitchFamily="34" charset="-120"/>
              </a:rPr>
              <a:t>A question worth carrying forward</a:t>
            </a:r>
            <a:endParaRPr lang="en-US" sz="1500" dirty="0"/>
          </a:p>
        </p:txBody>
      </p:sp>
      <p:sp>
        <p:nvSpPr>
          <p:cNvPr id="9" name="Text 7"/>
          <p:cNvSpPr/>
          <p:nvPr/>
        </p:nvSpPr>
        <p:spPr>
          <a:xfrm>
            <a:off x="1005840" y="4279392"/>
            <a:ext cx="7406640" cy="1325880"/>
          </a:xfrm>
          <a:prstGeom prst="rect">
            <a:avLst/>
          </a:prstGeom>
          <a:noFill/>
          <a:ln/>
        </p:spPr>
        <p:txBody>
          <a:bodyPr wrap="square" lIns="0" tIns="0" rIns="0" bIns="0" rtlCol="0" anchor="ctr"/>
          <a:lstStyle/>
          <a:p>
            <a:pPr indent="0" marL="0">
              <a:buNone/>
            </a:pPr>
            <a:r>
              <a:rPr lang="en-US" sz="1400" dirty="0">
                <a:solidFill>
                  <a:srgbClr val="C9CCD6"/>
                </a:solidFill>
                <a:latin typeface="Calibri" pitchFamily="34" charset="0"/>
                <a:ea typeface="Calibri" pitchFamily="34" charset="-122"/>
                <a:cs typeface="Calibri" pitchFamily="34" charset="-120"/>
              </a:rPr>
              <a:t>If AI-driven control planes eventually summarize routes, resize boundaries, and optimize prefix usage in real time, will network architects still count IP addresses, plan route-table capacity, and manage summarization by hand? And if the limits become invisible, who notices when they are reached?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Quisitive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Silent Packet Death in Azure VMware Solution</dc:title>
  <dc:subject>PptxGenJS Presentation</dc:subject>
  <dc:creator>Quisitive</dc:creator>
  <cp:lastModifiedBy>Quisitive</cp:lastModifiedBy>
  <cp:revision>1</cp:revision>
  <dcterms:created xsi:type="dcterms:W3CDTF">2026-07-24T09:26:30Z</dcterms:created>
  <dcterms:modified xsi:type="dcterms:W3CDTF">2026-07-24T09:26:30Z</dcterms:modified>
</cp:coreProperties>
</file>