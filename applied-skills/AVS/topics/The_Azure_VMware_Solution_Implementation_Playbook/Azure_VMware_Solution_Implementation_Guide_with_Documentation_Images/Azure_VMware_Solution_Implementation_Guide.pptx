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AVS is a hybrid integration project, not a standalone cloud deployment. The risk sits in the seams between two operational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workstreams. They are interdependent: capacity, addressing, identity, and lifecycle must be designed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example: a tier-one SQL estate processing thousands of card transactions per minute. Downtime is not an option, so the plan has to be right before hosts are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 stack means the customer never gets ESXi root. That single fact drives most third-party tooling decisions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sizing error in customer conversations. Catch it before a capacity plan gets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AV64 uses OSA in Generation 1 and ESA in Generation 2. AV48 uses ESA. Confirm current specs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analogy: leasing a commercial kitchen. Microsoft owns the building and equipment. The customer controls the menu and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VADP helps because it integrates through supported VMware data-protection APIs rather than unrestricted host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invisible taxes. Explain all four before purchase approval, or the client will feel misled when usable capacity lands well below the purchased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publishes the fixed management reservation and the one-node reserve. The just over one host estimate is an interpretation, so present it as planning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RAID-1 is printing two full copies of a book. Erasure coding splits the book into chunks and stores parity so missing pieces can be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1 NetApp Files connectivity needs ExpressRoute through a virtual network. Gen 2 can use the same or a peered VNet. Ultra Performance gateway with FastPath is recommended for the 10 Gbps soft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the second reserved range is 169.254.2.0/23, not 169.254.0.0/23. Gen 2 design docs also reserve 100.73.x.x for Microsoft management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standard Gen 1 on-premises pattern, Global Reach is the connectivity design. Confirm the generation before quoting any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reviewed documentation does not confirm that a bogon advertisement automatically drops the session, or that 2,000 routes universally severs BGP. Present the requirement, not the folklore.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documented LDAP ports are TCP 389 and 636. Microsoft recommends 636 for secure LDAP. Prepare these rules before anyone attempts administrative access or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documents the need for connected AD and DNS resolution but does not mandate a dedicated identity subscription or specific controller placement. Adapt to the customer identity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documents role assignment but does not prescribe cloning CloudAdmin as the only method. Least privilege is the goal, not a specific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compromise in either control plane can affect the private cloud. Design notification endpoints as nonhuman integrations, not privileged alert receiver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estates may need phased network migration and gateway retirement. WAN Optimization provides deduplication and compression, selected on measured bandwidth and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configure per-VM EVC to a baseline supported by all intended source and destination hosts before the VM is exposed to newer CPU features. Otherwise AV64 becomes a place VMs check in but cannot check out of without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documents supported VADP backup solutions and external storage but does not phrase backup placement as an absolute prohibition. Present it as a failure-domain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transcript claim that two customer ExpressRoute circuits and two Global Reach connections are universally required is not stated in the reviewed design article. Design for surviving-zone reachability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current region mapping table during design. Fault-domain counts vary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management plane lock is the part clients forget. Build it into the change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vDefend support matrix immediately before licensing or architecture approval. Capabilities depend on both AVS platform support and Broadcom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sustained cluster CPU threshold such as 80 percent is a useful starting point, but Microsoft does not publish it as a universal requirement. Tune to workload patterns, HA reserve, and scaling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the generation distinction: Gen 1 uses the AVS-managed ExpressRoute attachment and a /22 management block. Gen 2 deploys into an Azure VNet with delegated subnets and needs no seed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interdependence. Any one of these designed in isolation becomes the constraint that limits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0" y="0"/>
            <a:ext cx="914" cy="914"/>
          </a:xfrm>
          <a:prstGeom prst="rect">
            <a:avLst/>
          </a:prstGeom>
          <a:solidFill>
            <a:srgbClr val="3E3E4B"/>
          </a:solidFill>
          <a:ln w="12700">
            <a:solidFill>
              <a:srgbClr val="3E3E4B"/>
            </a:solidFill>
            <a:prstDash val="solid"/>
          </a:ln>
        </p:spPr>
      </p:sp>
      <p:sp>
        <p:nvSpPr>
          <p:cNvPr id="3" name="Text 1"/>
          <p:cNvSpPr/>
          <p:nvPr/>
        </p:nvSpPr>
        <p:spPr>
          <a:xfrm>
            <a:off x="822960" y="1600200"/>
            <a:ext cx="7863840" cy="292608"/>
          </a:xfrm>
          <a:prstGeom prst="rect">
            <a:avLst/>
          </a:prstGeom>
          <a:noFill/>
          <a:ln/>
        </p:spPr>
        <p:txBody>
          <a:bodyPr wrap="square" lIns="0" tIns="0" rIns="0" bIns="0" rtlCol="0" anchor="ctr"/>
          <a:lstStyle/>
          <a:p>
            <a:pPr indent="0" marL="0">
              <a:buNone/>
            </a:pPr>
            <a:r>
              <a:rPr lang="en-US" sz="1300" b="1" spc="300" kern="0" dirty="0">
                <a:solidFill>
                  <a:srgbClr val="00B3E2"/>
                </a:solidFill>
                <a:latin typeface="Calibri" pitchFamily="34" charset="0"/>
                <a:ea typeface="Calibri" pitchFamily="34" charset="-122"/>
                <a:cs typeface="Calibri" pitchFamily="34" charset="-120"/>
              </a:rPr>
              <a:t>IMPLEMENTATION GUIDE</a:t>
            </a:r>
            <a:endParaRPr lang="en-US" sz="1300" dirty="0"/>
          </a:p>
        </p:txBody>
      </p:sp>
      <p:sp>
        <p:nvSpPr>
          <p:cNvPr id="4" name="Text 2"/>
          <p:cNvSpPr/>
          <p:nvPr/>
        </p:nvSpPr>
        <p:spPr>
          <a:xfrm>
            <a:off x="822960" y="1965960"/>
            <a:ext cx="8412480" cy="86868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Azure VMware Solution</a:t>
            </a:r>
            <a:endParaRPr lang="en-US" sz="4600" dirty="0"/>
          </a:p>
        </p:txBody>
      </p:sp>
      <p:sp>
        <p:nvSpPr>
          <p:cNvPr id="5" name="Text 3"/>
          <p:cNvSpPr/>
          <p:nvPr/>
        </p:nvSpPr>
        <p:spPr>
          <a:xfrm>
            <a:off x="822960" y="2834640"/>
            <a:ext cx="8412480" cy="502920"/>
          </a:xfrm>
          <a:prstGeom prst="rect">
            <a:avLst/>
          </a:prstGeom>
          <a:noFill/>
          <a:ln/>
        </p:spPr>
        <p:txBody>
          <a:bodyPr wrap="square" lIns="0" tIns="0" rIns="0" bIns="0" rtlCol="0" anchor="ctr"/>
          <a:lstStyle/>
          <a:p>
            <a:pPr indent="0" marL="0">
              <a:buNone/>
            </a:pPr>
            <a:r>
              <a:rPr lang="en-US" sz="2000" dirty="0">
                <a:solidFill>
                  <a:srgbClr val="B2E8F6"/>
                </a:solidFill>
                <a:latin typeface="Calibri" pitchFamily="34" charset="0"/>
                <a:ea typeface="Calibri" pitchFamily="34" charset="-122"/>
                <a:cs typeface="Calibri" pitchFamily="34" charset="-120"/>
              </a:rPr>
              <a:t>Planning, migration, security, and day-two operations</a:t>
            </a:r>
            <a:endParaRPr lang="en-US" sz="2000" dirty="0"/>
          </a:p>
        </p:txBody>
      </p:sp>
      <p:sp>
        <p:nvSpPr>
          <p:cNvPr id="6" name="Text 4"/>
          <p:cNvSpPr/>
          <p:nvPr/>
        </p:nvSpPr>
        <p:spPr>
          <a:xfrm>
            <a:off x="822960" y="3520440"/>
            <a:ext cx="7589520" cy="822960"/>
          </a:xfrm>
          <a:prstGeom prst="rect">
            <a:avLst/>
          </a:prstGeom>
          <a:noFill/>
          <a:ln/>
        </p:spPr>
        <p:txBody>
          <a:bodyPr wrap="square" lIns="0" tIns="0" rIns="0" bIns="0" rtlCol="0" anchor="ctr"/>
          <a:lstStyle/>
          <a:p>
            <a:pPr indent="0" marL="0">
              <a:buNone/>
            </a:pPr>
            <a:r>
              <a:rPr lang="en-US" sz="1400" dirty="0">
                <a:solidFill>
                  <a:srgbClr val="C9CBD6"/>
                </a:solidFill>
                <a:latin typeface="Calibri" pitchFamily="34" charset="0"/>
                <a:ea typeface="Calibri" pitchFamily="34" charset="-122"/>
                <a:cs typeface="Calibri" pitchFamily="34" charset="-120"/>
              </a:rPr>
              <a:t>A consultant reference for connecting on-premises vSphere estates to Azure dedicated infrastructure without disrupting production workloads.</a:t>
            </a:r>
            <a:endParaRPr lang="en-US" sz="1400" dirty="0"/>
          </a:p>
        </p:txBody>
      </p:sp>
      <p:sp>
        <p:nvSpPr>
          <p:cNvPr id="7" name="Shape 5"/>
          <p:cNvSpPr/>
          <p:nvPr/>
        </p:nvSpPr>
        <p:spPr>
          <a:xfrm>
            <a:off x="822960" y="4617720"/>
            <a:ext cx="219456" cy="219456"/>
          </a:xfrm>
          <a:prstGeom prst="ellipse">
            <a:avLst/>
          </a:prstGeom>
          <a:solidFill>
            <a:srgbClr val="00B3E2"/>
          </a:solidFill>
          <a:ln w="12700">
            <a:solidFill>
              <a:srgbClr val="00B3E2"/>
            </a:solidFill>
            <a:prstDash val="solid"/>
          </a:ln>
        </p:spPr>
      </p:sp>
      <p:sp>
        <p:nvSpPr>
          <p:cNvPr id="8" name="Shape 6"/>
          <p:cNvSpPr/>
          <p:nvPr/>
        </p:nvSpPr>
        <p:spPr>
          <a:xfrm>
            <a:off x="1207008" y="4617720"/>
            <a:ext cx="219456" cy="219456"/>
          </a:xfrm>
          <a:prstGeom prst="ellipse">
            <a:avLst/>
          </a:prstGeom>
          <a:solidFill>
            <a:srgbClr val="2DCCD3"/>
          </a:solidFill>
          <a:ln w="12700">
            <a:solidFill>
              <a:srgbClr val="2DCCD3"/>
            </a:solidFill>
            <a:prstDash val="solid"/>
          </a:ln>
        </p:spPr>
      </p:sp>
      <p:sp>
        <p:nvSpPr>
          <p:cNvPr id="9" name="Shape 7"/>
          <p:cNvSpPr/>
          <p:nvPr/>
        </p:nvSpPr>
        <p:spPr>
          <a:xfrm>
            <a:off x="1591056" y="4617720"/>
            <a:ext cx="219456" cy="219456"/>
          </a:xfrm>
          <a:prstGeom prst="ellipse">
            <a:avLst/>
          </a:prstGeom>
          <a:solidFill>
            <a:srgbClr val="00AD93"/>
          </a:solidFill>
          <a:ln w="12700">
            <a:solidFill>
              <a:srgbClr val="00AD93"/>
            </a:solidFill>
            <a:prstDash val="solid"/>
          </a:ln>
        </p:spPr>
      </p:sp>
      <p:sp>
        <p:nvSpPr>
          <p:cNvPr id="10" name="Text 8"/>
          <p:cNvSpPr/>
          <p:nvPr/>
        </p:nvSpPr>
        <p:spPr>
          <a:xfrm>
            <a:off x="822960" y="507492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Quisitive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CONTENTS</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What this guide covers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508760"/>
            <a:ext cx="5346040" cy="1234440"/>
          </a:xfrm>
          <a:prstGeom prst="roundRect">
            <a:avLst>
              <a:gd name="adj" fmla="val 6667"/>
            </a:avLst>
          </a:prstGeom>
          <a:solidFill>
            <a:srgbClr val="E5F7FC"/>
          </a:solidFill>
          <a:ln w="12700">
            <a:solidFill>
              <a:srgbClr val="E5F7FC"/>
            </a:solidFill>
            <a:prstDash val="solid"/>
          </a:ln>
        </p:spPr>
      </p:sp>
      <p:sp>
        <p:nvSpPr>
          <p:cNvPr id="7" name="Shape 5"/>
          <p:cNvSpPr/>
          <p:nvPr/>
        </p:nvSpPr>
        <p:spPr>
          <a:xfrm>
            <a:off x="841248" y="1764792"/>
            <a:ext cx="384048" cy="384048"/>
          </a:xfrm>
          <a:prstGeom prst="ellipse">
            <a:avLst/>
          </a:prstGeom>
          <a:solidFill>
            <a:srgbClr val="00B3E2"/>
          </a:solidFill>
          <a:ln w="12700">
            <a:solidFill>
              <a:srgbClr val="00B3E2"/>
            </a:solidFill>
            <a:prstDash val="solid"/>
          </a:ln>
        </p:spPr>
      </p:sp>
      <p:sp>
        <p:nvSpPr>
          <p:cNvPr id="8" name="Text 6"/>
          <p:cNvSpPr/>
          <p:nvPr/>
        </p:nvSpPr>
        <p:spPr>
          <a:xfrm>
            <a:off x="841248"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9" name="Text 7"/>
          <p:cNvSpPr/>
          <p:nvPr/>
        </p:nvSpPr>
        <p:spPr>
          <a:xfrm>
            <a:off x="1389888" y="170992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Service model and scale</a:t>
            </a:r>
            <a:endParaRPr lang="en-US" sz="1600" dirty="0"/>
          </a:p>
        </p:txBody>
      </p:sp>
      <p:sp>
        <p:nvSpPr>
          <p:cNvPr id="10" name="Text 8"/>
          <p:cNvSpPr/>
          <p:nvPr/>
        </p:nvSpPr>
        <p:spPr>
          <a:xfrm>
            <a:off x="1389888" y="207568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Architecture, host SKUs, and the hard limits that govern design.</a:t>
            </a:r>
            <a:endParaRPr lang="en-US" sz="1300" dirty="0"/>
          </a:p>
        </p:txBody>
      </p:sp>
      <p:sp>
        <p:nvSpPr>
          <p:cNvPr id="11" name="Shape 9"/>
          <p:cNvSpPr/>
          <p:nvPr/>
        </p:nvSpPr>
        <p:spPr>
          <a:xfrm>
            <a:off x="6278728" y="1508760"/>
            <a:ext cx="5346040" cy="1234440"/>
          </a:xfrm>
          <a:prstGeom prst="roundRect">
            <a:avLst>
              <a:gd name="adj" fmla="val 6667"/>
            </a:avLst>
          </a:prstGeom>
          <a:solidFill>
            <a:srgbClr val="E5F7FC"/>
          </a:solidFill>
          <a:ln w="12700">
            <a:solidFill>
              <a:srgbClr val="E5F7FC"/>
            </a:solidFill>
            <a:prstDash val="solid"/>
          </a:ln>
        </p:spPr>
      </p:sp>
      <p:sp>
        <p:nvSpPr>
          <p:cNvPr id="12" name="Shape 10"/>
          <p:cNvSpPr/>
          <p:nvPr/>
        </p:nvSpPr>
        <p:spPr>
          <a:xfrm>
            <a:off x="6553048" y="1764792"/>
            <a:ext cx="384048" cy="384048"/>
          </a:xfrm>
          <a:prstGeom prst="ellipse">
            <a:avLst/>
          </a:prstGeom>
          <a:solidFill>
            <a:srgbClr val="2DCCD3"/>
          </a:solidFill>
          <a:ln w="12700">
            <a:solidFill>
              <a:srgbClr val="2DCCD3"/>
            </a:solidFill>
            <a:prstDash val="solid"/>
          </a:ln>
        </p:spPr>
      </p:sp>
      <p:sp>
        <p:nvSpPr>
          <p:cNvPr id="13" name="Text 11"/>
          <p:cNvSpPr/>
          <p:nvPr/>
        </p:nvSpPr>
        <p:spPr>
          <a:xfrm>
            <a:off x="6553048"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4" name="Text 12"/>
          <p:cNvSpPr/>
          <p:nvPr/>
        </p:nvSpPr>
        <p:spPr>
          <a:xfrm>
            <a:off x="7101688" y="170992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Capacity and storage</a:t>
            </a:r>
            <a:endParaRPr lang="en-US" sz="1600" dirty="0"/>
          </a:p>
        </p:txBody>
      </p:sp>
      <p:sp>
        <p:nvSpPr>
          <p:cNvPr id="15" name="Text 13"/>
          <p:cNvSpPr/>
          <p:nvPr/>
        </p:nvSpPr>
        <p:spPr>
          <a:xfrm>
            <a:off x="7101688" y="207568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Quota lead time, reserved overhead, and vSAN slack space.</a:t>
            </a:r>
            <a:endParaRPr lang="en-US" sz="1300" dirty="0"/>
          </a:p>
        </p:txBody>
      </p:sp>
      <p:sp>
        <p:nvSpPr>
          <p:cNvPr id="16" name="Shape 14"/>
          <p:cNvSpPr/>
          <p:nvPr/>
        </p:nvSpPr>
        <p:spPr>
          <a:xfrm>
            <a:off x="566928" y="3063240"/>
            <a:ext cx="5346040" cy="1234440"/>
          </a:xfrm>
          <a:prstGeom prst="roundRect">
            <a:avLst>
              <a:gd name="adj" fmla="val 6667"/>
            </a:avLst>
          </a:prstGeom>
          <a:solidFill>
            <a:srgbClr val="E5F7FC"/>
          </a:solidFill>
          <a:ln w="12700">
            <a:solidFill>
              <a:srgbClr val="E5F7FC"/>
            </a:solidFill>
            <a:prstDash val="solid"/>
          </a:ln>
        </p:spPr>
      </p:sp>
      <p:sp>
        <p:nvSpPr>
          <p:cNvPr id="17" name="Shape 15"/>
          <p:cNvSpPr/>
          <p:nvPr/>
        </p:nvSpPr>
        <p:spPr>
          <a:xfrm>
            <a:off x="841248" y="3319272"/>
            <a:ext cx="384048" cy="384048"/>
          </a:xfrm>
          <a:prstGeom prst="ellipse">
            <a:avLst/>
          </a:prstGeom>
          <a:solidFill>
            <a:srgbClr val="00AD93"/>
          </a:solidFill>
          <a:ln w="12700">
            <a:solidFill>
              <a:srgbClr val="00AD93"/>
            </a:solidFill>
            <a:prstDash val="solid"/>
          </a:ln>
        </p:spPr>
      </p:sp>
      <p:sp>
        <p:nvSpPr>
          <p:cNvPr id="18" name="Text 16"/>
          <p:cNvSpPr/>
          <p:nvPr/>
        </p:nvSpPr>
        <p:spPr>
          <a:xfrm>
            <a:off x="841248" y="3319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1389888" y="326440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Network foundation</a:t>
            </a:r>
            <a:endParaRPr lang="en-US" sz="1600" dirty="0"/>
          </a:p>
        </p:txBody>
      </p:sp>
      <p:sp>
        <p:nvSpPr>
          <p:cNvPr id="20" name="Text 18"/>
          <p:cNvSpPr/>
          <p:nvPr/>
        </p:nvSpPr>
        <p:spPr>
          <a:xfrm>
            <a:off x="1389888" y="363016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Addressing, ExpressRoute, BGP controls, and firewall ports.</a:t>
            </a:r>
            <a:endParaRPr lang="en-US" sz="1300" dirty="0"/>
          </a:p>
        </p:txBody>
      </p:sp>
      <p:sp>
        <p:nvSpPr>
          <p:cNvPr id="21" name="Shape 19"/>
          <p:cNvSpPr/>
          <p:nvPr/>
        </p:nvSpPr>
        <p:spPr>
          <a:xfrm>
            <a:off x="6278728" y="3063240"/>
            <a:ext cx="5346040" cy="1234440"/>
          </a:xfrm>
          <a:prstGeom prst="roundRect">
            <a:avLst>
              <a:gd name="adj" fmla="val 6667"/>
            </a:avLst>
          </a:prstGeom>
          <a:solidFill>
            <a:srgbClr val="E5F7FC"/>
          </a:solidFill>
          <a:ln w="12700">
            <a:solidFill>
              <a:srgbClr val="E5F7FC"/>
            </a:solidFill>
            <a:prstDash val="solid"/>
          </a:ln>
        </p:spPr>
      </p:sp>
      <p:sp>
        <p:nvSpPr>
          <p:cNvPr id="22" name="Shape 20"/>
          <p:cNvSpPr/>
          <p:nvPr/>
        </p:nvSpPr>
        <p:spPr>
          <a:xfrm>
            <a:off x="6553048" y="3319272"/>
            <a:ext cx="384048" cy="384048"/>
          </a:xfrm>
          <a:prstGeom prst="ellipse">
            <a:avLst/>
          </a:prstGeom>
          <a:solidFill>
            <a:srgbClr val="AD1AAC"/>
          </a:solidFill>
          <a:ln w="12700">
            <a:solidFill>
              <a:srgbClr val="AD1AAC"/>
            </a:solidFill>
            <a:prstDash val="solid"/>
          </a:ln>
        </p:spPr>
      </p:sp>
      <p:sp>
        <p:nvSpPr>
          <p:cNvPr id="23" name="Text 21"/>
          <p:cNvSpPr/>
          <p:nvPr/>
        </p:nvSpPr>
        <p:spPr>
          <a:xfrm>
            <a:off x="6553048" y="3319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4" name="Text 22"/>
          <p:cNvSpPr/>
          <p:nvPr/>
        </p:nvSpPr>
        <p:spPr>
          <a:xfrm>
            <a:off x="7101688" y="326440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Identity and control plane</a:t>
            </a:r>
            <a:endParaRPr lang="en-US" sz="1600" dirty="0"/>
          </a:p>
        </p:txBody>
      </p:sp>
      <p:sp>
        <p:nvSpPr>
          <p:cNvPr id="25" name="Text 23"/>
          <p:cNvSpPr/>
          <p:nvPr/>
        </p:nvSpPr>
        <p:spPr>
          <a:xfrm>
            <a:off x="7101688" y="363016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LDAPS, CloudAdmin, RBAC, and privileged access.</a:t>
            </a:r>
            <a:endParaRPr lang="en-US" sz="1300" dirty="0"/>
          </a:p>
        </p:txBody>
      </p:sp>
      <p:sp>
        <p:nvSpPr>
          <p:cNvPr id="26" name="Shape 24"/>
          <p:cNvSpPr/>
          <p:nvPr/>
        </p:nvSpPr>
        <p:spPr>
          <a:xfrm>
            <a:off x="566928" y="4617720"/>
            <a:ext cx="5346040" cy="1234440"/>
          </a:xfrm>
          <a:prstGeom prst="roundRect">
            <a:avLst>
              <a:gd name="adj" fmla="val 6667"/>
            </a:avLst>
          </a:prstGeom>
          <a:solidFill>
            <a:srgbClr val="E5F7FC"/>
          </a:solidFill>
          <a:ln w="12700">
            <a:solidFill>
              <a:srgbClr val="E5F7FC"/>
            </a:solidFill>
            <a:prstDash val="solid"/>
          </a:ln>
        </p:spPr>
      </p:sp>
      <p:sp>
        <p:nvSpPr>
          <p:cNvPr id="27" name="Shape 25"/>
          <p:cNvSpPr/>
          <p:nvPr/>
        </p:nvSpPr>
        <p:spPr>
          <a:xfrm>
            <a:off x="841248" y="4873752"/>
            <a:ext cx="384048" cy="384048"/>
          </a:xfrm>
          <a:prstGeom prst="ellipse">
            <a:avLst/>
          </a:prstGeom>
          <a:solidFill>
            <a:srgbClr val="F15D23"/>
          </a:solidFill>
          <a:ln w="12700">
            <a:solidFill>
              <a:srgbClr val="F15D23"/>
            </a:solidFill>
            <a:prstDash val="solid"/>
          </a:ln>
        </p:spPr>
      </p:sp>
      <p:sp>
        <p:nvSpPr>
          <p:cNvPr id="28" name="Text 26"/>
          <p:cNvSpPr/>
          <p:nvPr/>
        </p:nvSpPr>
        <p:spPr>
          <a:xfrm>
            <a:off x="841248" y="4873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29" name="Text 27"/>
          <p:cNvSpPr/>
          <p:nvPr/>
        </p:nvSpPr>
        <p:spPr>
          <a:xfrm>
            <a:off x="1389888" y="481888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Migration and resilience</a:t>
            </a:r>
            <a:endParaRPr lang="en-US" sz="1600" dirty="0"/>
          </a:p>
        </p:txBody>
      </p:sp>
      <p:sp>
        <p:nvSpPr>
          <p:cNvPr id="30" name="Text 28"/>
          <p:cNvSpPr/>
          <p:nvPr/>
        </p:nvSpPr>
        <p:spPr>
          <a:xfrm>
            <a:off x="1389888" y="518464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HCX design, the EVC trap, backup, DR, and stretched clusters.</a:t>
            </a:r>
            <a:endParaRPr lang="en-US" sz="1300" dirty="0"/>
          </a:p>
        </p:txBody>
      </p:sp>
      <p:sp>
        <p:nvSpPr>
          <p:cNvPr id="31" name="Shape 29"/>
          <p:cNvSpPr/>
          <p:nvPr/>
        </p:nvSpPr>
        <p:spPr>
          <a:xfrm>
            <a:off x="6278728" y="4617720"/>
            <a:ext cx="5346040" cy="1234440"/>
          </a:xfrm>
          <a:prstGeom prst="roundRect">
            <a:avLst>
              <a:gd name="adj" fmla="val 6667"/>
            </a:avLst>
          </a:prstGeom>
          <a:solidFill>
            <a:srgbClr val="E5F7FC"/>
          </a:solidFill>
          <a:ln w="12700">
            <a:solidFill>
              <a:srgbClr val="E5F7FC"/>
            </a:solidFill>
            <a:prstDash val="solid"/>
          </a:ln>
        </p:spPr>
      </p:sp>
      <p:sp>
        <p:nvSpPr>
          <p:cNvPr id="32" name="Shape 30"/>
          <p:cNvSpPr/>
          <p:nvPr/>
        </p:nvSpPr>
        <p:spPr>
          <a:xfrm>
            <a:off x="6553048" y="4873752"/>
            <a:ext cx="384048" cy="384048"/>
          </a:xfrm>
          <a:prstGeom prst="ellipse">
            <a:avLst/>
          </a:prstGeom>
          <a:solidFill>
            <a:srgbClr val="FAC458"/>
          </a:solidFill>
          <a:ln w="12700">
            <a:solidFill>
              <a:srgbClr val="FAC458"/>
            </a:solidFill>
            <a:prstDash val="solid"/>
          </a:ln>
        </p:spPr>
      </p:sp>
      <p:sp>
        <p:nvSpPr>
          <p:cNvPr id="33" name="Text 31"/>
          <p:cNvSpPr/>
          <p:nvPr/>
        </p:nvSpPr>
        <p:spPr>
          <a:xfrm>
            <a:off x="6553048" y="4873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34" name="Text 32"/>
          <p:cNvSpPr/>
          <p:nvPr/>
        </p:nvSpPr>
        <p:spPr>
          <a:xfrm>
            <a:off x="7101688" y="4818888"/>
            <a:ext cx="4294480" cy="347472"/>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Day-two operations</a:t>
            </a:r>
            <a:endParaRPr lang="en-US" sz="1600" dirty="0"/>
          </a:p>
        </p:txBody>
      </p:sp>
      <p:sp>
        <p:nvSpPr>
          <p:cNvPr id="35" name="Text 33"/>
          <p:cNvSpPr/>
          <p:nvPr/>
        </p:nvSpPr>
        <p:spPr>
          <a:xfrm>
            <a:off x="7101688" y="5184648"/>
            <a:ext cx="4294480" cy="548640"/>
          </a:xfrm>
          <a:prstGeom prst="rect">
            <a:avLst/>
          </a:prstGeom>
          <a:noFill/>
          <a:ln/>
        </p:spPr>
        <p:txBody>
          <a:bodyPr wrap="square" lIns="0" tIns="0" rIns="0" bIns="0" rtlCol="0" anchor="ctr"/>
          <a:lstStyle/>
          <a:p>
            <a:pPr indent="0" marL="0">
              <a:buNone/>
            </a:pPr>
            <a:r>
              <a:rPr lang="en-US" sz="1300" dirty="0">
                <a:solidFill>
                  <a:srgbClr val="6E6E7C"/>
                </a:solidFill>
                <a:latin typeface="Calibri" pitchFamily="34" charset="0"/>
                <a:ea typeface="Calibri" pitchFamily="34" charset="-122"/>
                <a:cs typeface="Calibri" pitchFamily="34" charset="-120"/>
              </a:rPr>
              <a:t>Patching windows, Arc, Defender, scaling, and alerting.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00B3E2"/>
                </a:solidFill>
                <a:latin typeface="Arial" pitchFamily="34" charset="0"/>
                <a:ea typeface="Arial" pitchFamily="34" charset="-122"/>
                <a:cs typeface="Arial" pitchFamily="34" charset="-120"/>
              </a:rPr>
              <a:t>01</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Service Model and Scale</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What Microsoft runs, what you run, and where the hard limits sit.</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Purpose and deployment context</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2517572" cy="2606040"/>
          </a:xfrm>
          <a:prstGeom prst="roundRect">
            <a:avLst>
              <a:gd name="adj" fmla="val 3269"/>
            </a:avLst>
          </a:prstGeom>
          <a:solidFill>
            <a:srgbClr val="E5F7FC"/>
          </a:solidFill>
          <a:ln w="12700">
            <a:solidFill>
              <a:srgbClr val="E5F7FC"/>
            </a:solidFill>
            <a:prstDash val="solid"/>
          </a:ln>
        </p:spPr>
      </p:sp>
      <p:sp>
        <p:nvSpPr>
          <p:cNvPr id="7" name="Shape 5"/>
          <p:cNvSpPr/>
          <p:nvPr/>
        </p:nvSpPr>
        <p:spPr>
          <a:xfrm>
            <a:off x="822960" y="1737360"/>
            <a:ext cx="274320" cy="274320"/>
          </a:xfrm>
          <a:prstGeom prst="ellipse">
            <a:avLst/>
          </a:prstGeom>
          <a:solidFill>
            <a:srgbClr val="00B3E2"/>
          </a:solidFill>
          <a:ln w="12700">
            <a:solidFill>
              <a:srgbClr val="00B3E2"/>
            </a:solidFill>
            <a:prstDash val="solid"/>
          </a:ln>
        </p:spPr>
      </p:sp>
      <p:sp>
        <p:nvSpPr>
          <p:cNvPr id="8" name="Text 6"/>
          <p:cNvSpPr/>
          <p:nvPr/>
        </p:nvSpPr>
        <p:spPr>
          <a:xfrm>
            <a:off x="822960" y="2139696"/>
            <a:ext cx="2005508" cy="38404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Purpose</a:t>
            </a:r>
            <a:endParaRPr lang="en-US" sz="1500" dirty="0"/>
          </a:p>
        </p:txBody>
      </p:sp>
      <p:sp>
        <p:nvSpPr>
          <p:cNvPr id="9" name="Text 7"/>
          <p:cNvSpPr/>
          <p:nvPr/>
        </p:nvSpPr>
        <p:spPr>
          <a:xfrm>
            <a:off x="822960" y="2542032"/>
            <a:ext cx="2005508" cy="13716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VMware private clouds on Azure dedicated infrastructure, with familiar vSphere operations and Azure service integration.</a:t>
            </a:r>
            <a:endParaRPr lang="en-US" sz="1250" dirty="0"/>
          </a:p>
        </p:txBody>
      </p:sp>
      <p:sp>
        <p:nvSpPr>
          <p:cNvPr id="10" name="Shape 8"/>
          <p:cNvSpPr/>
          <p:nvPr/>
        </p:nvSpPr>
        <p:spPr>
          <a:xfrm>
            <a:off x="3413684" y="1481328"/>
            <a:ext cx="2517572" cy="2606040"/>
          </a:xfrm>
          <a:prstGeom prst="roundRect">
            <a:avLst>
              <a:gd name="adj" fmla="val 3269"/>
            </a:avLst>
          </a:prstGeom>
          <a:solidFill>
            <a:srgbClr val="E5F7FC"/>
          </a:solidFill>
          <a:ln w="12700">
            <a:solidFill>
              <a:srgbClr val="E5F7FC"/>
            </a:solidFill>
            <a:prstDash val="solid"/>
          </a:ln>
        </p:spPr>
      </p:sp>
      <p:sp>
        <p:nvSpPr>
          <p:cNvPr id="11" name="Shape 9"/>
          <p:cNvSpPr/>
          <p:nvPr/>
        </p:nvSpPr>
        <p:spPr>
          <a:xfrm>
            <a:off x="3669716" y="1737360"/>
            <a:ext cx="274320" cy="274320"/>
          </a:xfrm>
          <a:prstGeom prst="ellipse">
            <a:avLst/>
          </a:prstGeom>
          <a:solidFill>
            <a:srgbClr val="2DCCD3"/>
          </a:solidFill>
          <a:ln w="12700">
            <a:solidFill>
              <a:srgbClr val="2DCCD3"/>
            </a:solidFill>
            <a:prstDash val="solid"/>
          </a:ln>
        </p:spPr>
      </p:sp>
      <p:sp>
        <p:nvSpPr>
          <p:cNvPr id="12" name="Text 10"/>
          <p:cNvSpPr/>
          <p:nvPr/>
        </p:nvSpPr>
        <p:spPr>
          <a:xfrm>
            <a:off x="3669716" y="2139696"/>
            <a:ext cx="2005508" cy="38404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Use case</a:t>
            </a:r>
            <a:endParaRPr lang="en-US" sz="1500" dirty="0"/>
          </a:p>
        </p:txBody>
      </p:sp>
      <p:sp>
        <p:nvSpPr>
          <p:cNvPr id="13" name="Text 11"/>
          <p:cNvSpPr/>
          <p:nvPr/>
        </p:nvSpPr>
        <p:spPr>
          <a:xfrm>
            <a:off x="3669716" y="2542032"/>
            <a:ext cx="2005508" cy="13716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Migrate and operate VMware workloads without an immediate application refactor.</a:t>
            </a:r>
            <a:endParaRPr lang="en-US" sz="1250" dirty="0"/>
          </a:p>
        </p:txBody>
      </p:sp>
      <p:sp>
        <p:nvSpPr>
          <p:cNvPr id="14" name="Shape 12"/>
          <p:cNvSpPr/>
          <p:nvPr/>
        </p:nvSpPr>
        <p:spPr>
          <a:xfrm>
            <a:off x="6260440" y="1481328"/>
            <a:ext cx="2517572" cy="2606040"/>
          </a:xfrm>
          <a:prstGeom prst="roundRect">
            <a:avLst>
              <a:gd name="adj" fmla="val 3269"/>
            </a:avLst>
          </a:prstGeom>
          <a:solidFill>
            <a:srgbClr val="E5F7FC"/>
          </a:solidFill>
          <a:ln w="12700">
            <a:solidFill>
              <a:srgbClr val="E5F7FC"/>
            </a:solidFill>
            <a:prstDash val="solid"/>
          </a:ln>
        </p:spPr>
      </p:sp>
      <p:sp>
        <p:nvSpPr>
          <p:cNvPr id="15" name="Shape 13"/>
          <p:cNvSpPr/>
          <p:nvPr/>
        </p:nvSpPr>
        <p:spPr>
          <a:xfrm>
            <a:off x="6516472" y="1737360"/>
            <a:ext cx="274320" cy="274320"/>
          </a:xfrm>
          <a:prstGeom prst="ellipse">
            <a:avLst/>
          </a:prstGeom>
          <a:solidFill>
            <a:srgbClr val="F15D23"/>
          </a:solidFill>
          <a:ln w="12700">
            <a:solidFill>
              <a:srgbClr val="F15D23"/>
            </a:solidFill>
            <a:prstDash val="solid"/>
          </a:ln>
        </p:spPr>
      </p:sp>
      <p:sp>
        <p:nvSpPr>
          <p:cNvPr id="16" name="Text 14"/>
          <p:cNvSpPr/>
          <p:nvPr/>
        </p:nvSpPr>
        <p:spPr>
          <a:xfrm>
            <a:off x="6516472" y="2139696"/>
            <a:ext cx="2005508" cy="38404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Implementation risk</a:t>
            </a:r>
            <a:endParaRPr lang="en-US" sz="1500" dirty="0"/>
          </a:p>
        </p:txBody>
      </p:sp>
      <p:sp>
        <p:nvSpPr>
          <p:cNvPr id="17" name="Text 15"/>
          <p:cNvSpPr/>
          <p:nvPr/>
        </p:nvSpPr>
        <p:spPr>
          <a:xfrm>
            <a:off x="6516472" y="2542032"/>
            <a:ext cx="2005508" cy="13716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Tier-one workloads need migration planning that avoids downtime, packet loss, routing failure, and storage exhaustion.</a:t>
            </a:r>
            <a:endParaRPr lang="en-US" sz="1250" dirty="0"/>
          </a:p>
        </p:txBody>
      </p:sp>
      <p:sp>
        <p:nvSpPr>
          <p:cNvPr id="18" name="Shape 16"/>
          <p:cNvSpPr/>
          <p:nvPr/>
        </p:nvSpPr>
        <p:spPr>
          <a:xfrm>
            <a:off x="9107195" y="1481328"/>
            <a:ext cx="2517572" cy="2606040"/>
          </a:xfrm>
          <a:prstGeom prst="roundRect">
            <a:avLst>
              <a:gd name="adj" fmla="val 3269"/>
            </a:avLst>
          </a:prstGeom>
          <a:solidFill>
            <a:srgbClr val="E5F7FC"/>
          </a:solidFill>
          <a:ln w="12700">
            <a:solidFill>
              <a:srgbClr val="E5F7FC"/>
            </a:solidFill>
            <a:prstDash val="solid"/>
          </a:ln>
        </p:spPr>
      </p:sp>
      <p:sp>
        <p:nvSpPr>
          <p:cNvPr id="19" name="Shape 17"/>
          <p:cNvSpPr/>
          <p:nvPr/>
        </p:nvSpPr>
        <p:spPr>
          <a:xfrm>
            <a:off x="9363227" y="1737360"/>
            <a:ext cx="274320" cy="274320"/>
          </a:xfrm>
          <a:prstGeom prst="ellipse">
            <a:avLst/>
          </a:prstGeom>
          <a:solidFill>
            <a:srgbClr val="00AD93"/>
          </a:solidFill>
          <a:ln w="12700">
            <a:solidFill>
              <a:srgbClr val="00AD93"/>
            </a:solidFill>
            <a:prstDash val="solid"/>
          </a:ln>
        </p:spPr>
      </p:sp>
      <p:sp>
        <p:nvSpPr>
          <p:cNvPr id="20" name="Text 18"/>
          <p:cNvSpPr/>
          <p:nvPr/>
        </p:nvSpPr>
        <p:spPr>
          <a:xfrm>
            <a:off x="9363227" y="2139696"/>
            <a:ext cx="2005508" cy="38404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Consultant role</a:t>
            </a:r>
            <a:endParaRPr lang="en-US" sz="1500" dirty="0"/>
          </a:p>
        </p:txBody>
      </p:sp>
      <p:sp>
        <p:nvSpPr>
          <p:cNvPr id="21" name="Text 19"/>
          <p:cNvSpPr/>
          <p:nvPr/>
        </p:nvSpPr>
        <p:spPr>
          <a:xfrm>
            <a:off x="9363227" y="2542032"/>
            <a:ext cx="2005508" cy="13716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Explain the service model, identify hard limits, design network and identity, plan migration, prepare day-two operations.</a:t>
            </a:r>
            <a:endParaRPr lang="en-US" sz="1250" dirty="0"/>
          </a:p>
        </p:txBody>
      </p:sp>
      <p:sp>
        <p:nvSpPr>
          <p:cNvPr id="22" name="Shape 20"/>
          <p:cNvSpPr/>
          <p:nvPr/>
        </p:nvSpPr>
        <p:spPr>
          <a:xfrm>
            <a:off x="566928" y="4343400"/>
            <a:ext cx="11057839" cy="1417320"/>
          </a:xfrm>
          <a:prstGeom prst="roundRect">
            <a:avLst>
              <a:gd name="adj" fmla="val 5806"/>
            </a:avLst>
          </a:prstGeom>
          <a:solidFill>
            <a:srgbClr val="3E3E4B"/>
          </a:solidFill>
          <a:ln w="12700">
            <a:solidFill>
              <a:srgbClr val="3E3E4B"/>
            </a:solidFill>
            <a:prstDash val="solid"/>
          </a:ln>
        </p:spPr>
      </p:sp>
      <p:sp>
        <p:nvSpPr>
          <p:cNvPr id="23" name="Text 21"/>
          <p:cNvSpPr/>
          <p:nvPr/>
        </p:nvSpPr>
        <p:spPr>
          <a:xfrm>
            <a:off x="886968" y="4498848"/>
            <a:ext cx="10417759" cy="310896"/>
          </a:xfrm>
          <a:prstGeom prst="rect">
            <a:avLst/>
          </a:prstGeom>
          <a:noFill/>
          <a:ln/>
        </p:spPr>
        <p:txBody>
          <a:bodyPr wrap="square" lIns="0" tIns="0" rIns="0" bIns="0" rtlCol="0" anchor="ctr"/>
          <a:lstStyle/>
          <a:p>
            <a:pPr indent="0" marL="0">
              <a:buNone/>
            </a:pPr>
            <a:r>
              <a:rPr lang="en-US" sz="1400" b="1" dirty="0">
                <a:solidFill>
                  <a:srgbClr val="00B3E2"/>
                </a:solidFill>
                <a:latin typeface="Arial" pitchFamily="34" charset="0"/>
                <a:ea typeface="Arial" pitchFamily="34" charset="-122"/>
                <a:cs typeface="Arial" pitchFamily="34" charset="-120"/>
              </a:rPr>
              <a:t>The framing that matters</a:t>
            </a:r>
            <a:endParaRPr lang="en-US" sz="1400" dirty="0"/>
          </a:p>
        </p:txBody>
      </p:sp>
      <p:sp>
        <p:nvSpPr>
          <p:cNvPr id="24" name="Text 22"/>
          <p:cNvSpPr/>
          <p:nvPr/>
        </p:nvSpPr>
        <p:spPr>
          <a:xfrm>
            <a:off x="886968" y="4828032"/>
            <a:ext cx="10417759"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AVS is not a standalone cloud server deployment. It is a hybrid integration project. The challenge is safely docking two operational worlds together, so networking, identity, and capacity decisions carry more risk than the deployment itself.</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Service model and core architecture</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Text 4"/>
          <p:cNvSpPr/>
          <p:nvPr/>
        </p:nvSpPr>
        <p:spPr>
          <a:xfrm>
            <a:off x="566928" y="1481328"/>
            <a:ext cx="5486400" cy="1188720"/>
          </a:xfrm>
          <a:prstGeom prst="rect">
            <a:avLst/>
          </a:prstGeom>
          <a:noFill/>
          <a:ln/>
        </p:spPr>
        <p:txBody>
          <a:bodyPr wrap="square" lIns="0" tIns="0" rIns="0" bIns="0" rtlCol="0" anchor="t"/>
          <a:lstStyle/>
          <a:p>
            <a:pPr indent="0" marL="0">
              <a:spcAft>
                <a:spcPts val="600"/>
              </a:spcAft>
              <a:buNone/>
            </a:pPr>
            <a:r>
              <a:rPr lang="en-US" sz="1500" b="1" dirty="0">
                <a:solidFill>
                  <a:srgbClr val="3E3E4B"/>
                </a:solidFill>
                <a:latin typeface="Calibri" pitchFamily="34" charset="0"/>
                <a:ea typeface="Calibri" pitchFamily="34" charset="-122"/>
                <a:cs typeface="Calibri" pitchFamily="34" charset="-120"/>
              </a:rPr>
              <a:t>Dedicated bare metal, not nested virtualization.</a:t>
            </a:r>
            <a:endParaRPr lang="en-US" sz="1500" dirty="0"/>
          </a:p>
          <a:p>
            <a:pPr indent="0" marL="0">
              <a:spcAft>
                <a:spcPts val="1000"/>
              </a:spcAft>
              <a:buNone/>
            </a:pPr>
            <a:r>
              <a:rPr lang="en-US" sz="1350" dirty="0">
                <a:solidFill>
                  <a:srgbClr val="6E6E7C"/>
                </a:solidFill>
                <a:latin typeface="Calibri" pitchFamily="34" charset="0"/>
                <a:ea typeface="Calibri" pitchFamily="34" charset="-122"/>
                <a:cs typeface="Calibri" pitchFamily="34" charset="-120"/>
              </a:rPr>
              <a:t>Microsoft provides dedicated bare-metal hosts in Azure data centers. Private-cloud hosts and clusters are not shared with other customers, and Azure automates deployment and lifecycle of the VMware stack.</a:t>
            </a:r>
            <a:endParaRPr lang="en-US" sz="1500" dirty="0"/>
          </a:p>
        </p:txBody>
      </p:sp>
      <p:sp>
        <p:nvSpPr>
          <p:cNvPr id="7" name="Shape 5"/>
          <p:cNvSpPr/>
          <p:nvPr/>
        </p:nvSpPr>
        <p:spPr>
          <a:xfrm>
            <a:off x="566928" y="2724912"/>
            <a:ext cx="5486400" cy="621792"/>
          </a:xfrm>
          <a:prstGeom prst="roundRect">
            <a:avLst>
              <a:gd name="adj" fmla="val 13235"/>
            </a:avLst>
          </a:prstGeom>
          <a:solidFill>
            <a:srgbClr val="E5F7FC"/>
          </a:solidFill>
          <a:ln w="12700">
            <a:solidFill>
              <a:srgbClr val="E5F7FC"/>
            </a:solidFill>
            <a:prstDash val="solid"/>
          </a:ln>
        </p:spPr>
      </p:sp>
      <p:sp>
        <p:nvSpPr>
          <p:cNvPr id="8" name="Shape 6"/>
          <p:cNvSpPr/>
          <p:nvPr/>
        </p:nvSpPr>
        <p:spPr>
          <a:xfrm>
            <a:off x="786384" y="2898648"/>
            <a:ext cx="274320" cy="274320"/>
          </a:xfrm>
          <a:prstGeom prst="ellipse">
            <a:avLst/>
          </a:prstGeom>
          <a:solidFill>
            <a:srgbClr val="00B3E2"/>
          </a:solidFill>
          <a:ln w="12700">
            <a:solidFill>
              <a:srgbClr val="00B3E2"/>
            </a:solidFill>
            <a:prstDash val="solid"/>
          </a:ln>
        </p:spPr>
      </p:sp>
      <p:sp>
        <p:nvSpPr>
          <p:cNvPr id="9" name="Text 7"/>
          <p:cNvSpPr/>
          <p:nvPr/>
        </p:nvSpPr>
        <p:spPr>
          <a:xfrm>
            <a:off x="1207008" y="2779776"/>
            <a:ext cx="18288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vCenter Server</a:t>
            </a:r>
            <a:endParaRPr lang="en-US" sz="1300" dirty="0"/>
          </a:p>
        </p:txBody>
      </p:sp>
      <p:sp>
        <p:nvSpPr>
          <p:cNvPr id="10" name="Text 8"/>
          <p:cNvSpPr/>
          <p:nvPr/>
        </p:nvSpPr>
        <p:spPr>
          <a:xfrm>
            <a:off x="1207008" y="3035808"/>
            <a:ext cx="466344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Central management plane</a:t>
            </a:r>
            <a:endParaRPr lang="en-US" sz="1150" dirty="0"/>
          </a:p>
        </p:txBody>
      </p:sp>
      <p:sp>
        <p:nvSpPr>
          <p:cNvPr id="11" name="Shape 9"/>
          <p:cNvSpPr/>
          <p:nvPr/>
        </p:nvSpPr>
        <p:spPr>
          <a:xfrm>
            <a:off x="566928" y="3456432"/>
            <a:ext cx="5486400" cy="621792"/>
          </a:xfrm>
          <a:prstGeom prst="roundRect">
            <a:avLst>
              <a:gd name="adj" fmla="val 13235"/>
            </a:avLst>
          </a:prstGeom>
          <a:solidFill>
            <a:srgbClr val="E5F7FC"/>
          </a:solidFill>
          <a:ln w="12700">
            <a:solidFill>
              <a:srgbClr val="E5F7FC"/>
            </a:solidFill>
            <a:prstDash val="solid"/>
          </a:ln>
        </p:spPr>
      </p:sp>
      <p:sp>
        <p:nvSpPr>
          <p:cNvPr id="12" name="Shape 10"/>
          <p:cNvSpPr/>
          <p:nvPr/>
        </p:nvSpPr>
        <p:spPr>
          <a:xfrm>
            <a:off x="786384" y="3630168"/>
            <a:ext cx="274320" cy="274320"/>
          </a:xfrm>
          <a:prstGeom prst="ellipse">
            <a:avLst/>
          </a:prstGeom>
          <a:solidFill>
            <a:srgbClr val="2DCCD3"/>
          </a:solidFill>
          <a:ln w="12700">
            <a:solidFill>
              <a:srgbClr val="2DCCD3"/>
            </a:solidFill>
            <a:prstDash val="solid"/>
          </a:ln>
        </p:spPr>
      </p:sp>
      <p:sp>
        <p:nvSpPr>
          <p:cNvPr id="13" name="Text 11"/>
          <p:cNvSpPr/>
          <p:nvPr/>
        </p:nvSpPr>
        <p:spPr>
          <a:xfrm>
            <a:off x="1207008" y="3511296"/>
            <a:ext cx="18288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vSAN</a:t>
            </a:r>
            <a:endParaRPr lang="en-US" sz="1300" dirty="0"/>
          </a:p>
        </p:txBody>
      </p:sp>
      <p:sp>
        <p:nvSpPr>
          <p:cNvPr id="14" name="Text 12"/>
          <p:cNvSpPr/>
          <p:nvPr/>
        </p:nvSpPr>
        <p:spPr>
          <a:xfrm>
            <a:off x="1207008" y="3767328"/>
            <a:ext cx="466344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Software-defined storage pooling local drives</a:t>
            </a:r>
            <a:endParaRPr lang="en-US" sz="1150" dirty="0"/>
          </a:p>
        </p:txBody>
      </p:sp>
      <p:sp>
        <p:nvSpPr>
          <p:cNvPr id="15" name="Shape 13"/>
          <p:cNvSpPr/>
          <p:nvPr/>
        </p:nvSpPr>
        <p:spPr>
          <a:xfrm>
            <a:off x="566928" y="4187952"/>
            <a:ext cx="5486400" cy="621792"/>
          </a:xfrm>
          <a:prstGeom prst="roundRect">
            <a:avLst>
              <a:gd name="adj" fmla="val 13235"/>
            </a:avLst>
          </a:prstGeom>
          <a:solidFill>
            <a:srgbClr val="E5F7FC"/>
          </a:solidFill>
          <a:ln w="12700">
            <a:solidFill>
              <a:srgbClr val="E5F7FC"/>
            </a:solidFill>
            <a:prstDash val="solid"/>
          </a:ln>
        </p:spPr>
      </p:sp>
      <p:sp>
        <p:nvSpPr>
          <p:cNvPr id="16" name="Shape 14"/>
          <p:cNvSpPr/>
          <p:nvPr/>
        </p:nvSpPr>
        <p:spPr>
          <a:xfrm>
            <a:off x="786384" y="4361688"/>
            <a:ext cx="274320" cy="274320"/>
          </a:xfrm>
          <a:prstGeom prst="ellipse">
            <a:avLst/>
          </a:prstGeom>
          <a:solidFill>
            <a:srgbClr val="00AD93"/>
          </a:solidFill>
          <a:ln w="12700">
            <a:solidFill>
              <a:srgbClr val="00AD93"/>
            </a:solidFill>
            <a:prstDash val="solid"/>
          </a:ln>
        </p:spPr>
      </p:sp>
      <p:sp>
        <p:nvSpPr>
          <p:cNvPr id="17" name="Text 15"/>
          <p:cNvSpPr/>
          <p:nvPr/>
        </p:nvSpPr>
        <p:spPr>
          <a:xfrm>
            <a:off x="1207008" y="4242816"/>
            <a:ext cx="18288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vSphere / ESXi</a:t>
            </a:r>
            <a:endParaRPr lang="en-US" sz="1300" dirty="0"/>
          </a:p>
        </p:txBody>
      </p:sp>
      <p:sp>
        <p:nvSpPr>
          <p:cNvPr id="18" name="Text 16"/>
          <p:cNvSpPr/>
          <p:nvPr/>
        </p:nvSpPr>
        <p:spPr>
          <a:xfrm>
            <a:off x="1207008" y="4498848"/>
            <a:ext cx="466344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Compute virtualization layer</a:t>
            </a:r>
            <a:endParaRPr lang="en-US" sz="1150" dirty="0"/>
          </a:p>
        </p:txBody>
      </p:sp>
      <p:sp>
        <p:nvSpPr>
          <p:cNvPr id="19" name="Shape 17"/>
          <p:cNvSpPr/>
          <p:nvPr/>
        </p:nvSpPr>
        <p:spPr>
          <a:xfrm>
            <a:off x="566928" y="4919472"/>
            <a:ext cx="5486400" cy="621792"/>
          </a:xfrm>
          <a:prstGeom prst="roundRect">
            <a:avLst>
              <a:gd name="adj" fmla="val 13235"/>
            </a:avLst>
          </a:prstGeom>
          <a:solidFill>
            <a:srgbClr val="E5F7FC"/>
          </a:solidFill>
          <a:ln w="12700">
            <a:solidFill>
              <a:srgbClr val="E5F7FC"/>
            </a:solidFill>
            <a:prstDash val="solid"/>
          </a:ln>
        </p:spPr>
      </p:sp>
      <p:sp>
        <p:nvSpPr>
          <p:cNvPr id="20" name="Shape 18"/>
          <p:cNvSpPr/>
          <p:nvPr/>
        </p:nvSpPr>
        <p:spPr>
          <a:xfrm>
            <a:off x="786384" y="5093208"/>
            <a:ext cx="274320" cy="274320"/>
          </a:xfrm>
          <a:prstGeom prst="ellipse">
            <a:avLst/>
          </a:prstGeom>
          <a:solidFill>
            <a:srgbClr val="AD1AAC"/>
          </a:solidFill>
          <a:ln w="12700">
            <a:solidFill>
              <a:srgbClr val="AD1AAC"/>
            </a:solidFill>
            <a:prstDash val="solid"/>
          </a:ln>
        </p:spPr>
      </p:sp>
      <p:sp>
        <p:nvSpPr>
          <p:cNvPr id="21" name="Text 19"/>
          <p:cNvSpPr/>
          <p:nvPr/>
        </p:nvSpPr>
        <p:spPr>
          <a:xfrm>
            <a:off x="1207008" y="4974336"/>
            <a:ext cx="18288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NSX</a:t>
            </a:r>
            <a:endParaRPr lang="en-US" sz="1300" dirty="0"/>
          </a:p>
        </p:txBody>
      </p:sp>
      <p:sp>
        <p:nvSpPr>
          <p:cNvPr id="22" name="Text 20"/>
          <p:cNvSpPr/>
          <p:nvPr/>
        </p:nvSpPr>
        <p:spPr>
          <a:xfrm>
            <a:off x="1207008" y="5230368"/>
            <a:ext cx="466344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Software-defined networking and security</a:t>
            </a:r>
            <a:endParaRPr lang="en-US" sz="1150" dirty="0"/>
          </a:p>
        </p:txBody>
      </p:sp>
      <p:pic>
        <p:nvPicPr>
          <p:cNvPr id="23" name="Image 0" descr="images/avs-private-cloud-architecture.png">    </p:cNvPr>
          <p:cNvPicPr>
            <a:picLocks noChangeAspect="1"/>
          </p:cNvPicPr>
          <p:nvPr/>
        </p:nvPicPr>
        <p:blipFill>
          <a:blip r:embed="rId1"/>
          <a:srcRect l="0" r="0" t="0" b="0"/>
          <a:stretch/>
        </p:blipFill>
        <p:spPr>
          <a:xfrm>
            <a:off x="6400800" y="1481328"/>
            <a:ext cx="5212080" cy="4160520"/>
          </a:xfrm>
          <a:prstGeom prst="rect">
            <a:avLst/>
          </a:prstGeom>
        </p:spPr>
      </p:pic>
      <p:sp>
        <p:nvSpPr>
          <p:cNvPr id="24" name="Text 21"/>
          <p:cNvSpPr/>
          <p:nvPr/>
        </p:nvSpPr>
        <p:spPr>
          <a:xfrm>
            <a:off x="6400800" y="5696712"/>
            <a:ext cx="521208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private cloud and cluster concepts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Cluster and private cloud limits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508760"/>
            <a:ext cx="2517572" cy="2103120"/>
          </a:xfrm>
          <a:prstGeom prst="roundRect">
            <a:avLst>
              <a:gd name="adj" fmla="val 3913"/>
            </a:avLst>
          </a:prstGeom>
          <a:solidFill>
            <a:srgbClr val="E5F7FC"/>
          </a:solidFill>
          <a:ln w="12700">
            <a:solidFill>
              <a:srgbClr val="E5F7FC"/>
            </a:solidFill>
            <a:prstDash val="solid"/>
          </a:ln>
        </p:spPr>
      </p:sp>
      <p:sp>
        <p:nvSpPr>
          <p:cNvPr id="7" name="Text 5"/>
          <p:cNvSpPr/>
          <p:nvPr/>
        </p:nvSpPr>
        <p:spPr>
          <a:xfrm>
            <a:off x="795528" y="1664208"/>
            <a:ext cx="2060372" cy="914400"/>
          </a:xfrm>
          <a:prstGeom prst="rect">
            <a:avLst/>
          </a:prstGeom>
          <a:noFill/>
          <a:ln/>
        </p:spPr>
        <p:txBody>
          <a:bodyPr wrap="square" lIns="0" tIns="0" rIns="0" bIns="0" rtlCol="0" anchor="ctr"/>
          <a:lstStyle/>
          <a:p>
            <a:pPr indent="0" marL="0">
              <a:buNone/>
            </a:pPr>
            <a:r>
              <a:rPr lang="en-US" sz="5400" b="1" dirty="0">
                <a:solidFill>
                  <a:srgbClr val="00B3E2"/>
                </a:solidFill>
                <a:latin typeface="Arial" pitchFamily="34" charset="0"/>
                <a:ea typeface="Arial" pitchFamily="34" charset="-122"/>
                <a:cs typeface="Arial" pitchFamily="34" charset="-120"/>
              </a:rPr>
              <a:t>3</a:t>
            </a:r>
            <a:endParaRPr lang="en-US" sz="5400" dirty="0"/>
          </a:p>
        </p:txBody>
      </p:sp>
      <p:sp>
        <p:nvSpPr>
          <p:cNvPr id="8" name="Text 6"/>
          <p:cNvSpPr/>
          <p:nvPr/>
        </p:nvSpPr>
        <p:spPr>
          <a:xfrm>
            <a:off x="795528" y="2633472"/>
            <a:ext cx="2060372"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hosts minimum</a:t>
            </a:r>
            <a:endParaRPr lang="en-US" sz="1400" dirty="0"/>
          </a:p>
        </p:txBody>
      </p:sp>
      <p:sp>
        <p:nvSpPr>
          <p:cNvPr id="9" name="Text 7"/>
          <p:cNvSpPr/>
          <p:nvPr/>
        </p:nvSpPr>
        <p:spPr>
          <a:xfrm>
            <a:off x="795528" y="2944368"/>
            <a:ext cx="2060372" cy="502920"/>
          </a:xfrm>
          <a:prstGeom prst="rect">
            <a:avLst/>
          </a:prstGeom>
          <a:noFill/>
          <a:ln/>
        </p:spPr>
        <p:txBody>
          <a:bodyPr wrap="square" lIns="0" tIns="0" rIns="0" bIns="0" rtlCol="0" anchor="ctr"/>
          <a:lstStyle/>
          <a:p>
            <a:pPr indent="0" marL="0">
              <a:buNone/>
            </a:pPr>
            <a:r>
              <a:rPr lang="en-US" sz="1200" dirty="0">
                <a:solidFill>
                  <a:srgbClr val="6E6E7C"/>
                </a:solidFill>
                <a:latin typeface="Calibri" pitchFamily="34" charset="0"/>
                <a:ea typeface="Calibri" pitchFamily="34" charset="-122"/>
                <a:cs typeface="Calibri" pitchFamily="34" charset="-120"/>
              </a:rPr>
              <a:t>Smallest supported cluster</a:t>
            </a:r>
            <a:endParaRPr lang="en-US" sz="1200" dirty="0"/>
          </a:p>
        </p:txBody>
      </p:sp>
      <p:sp>
        <p:nvSpPr>
          <p:cNvPr id="10" name="Shape 8"/>
          <p:cNvSpPr/>
          <p:nvPr/>
        </p:nvSpPr>
        <p:spPr>
          <a:xfrm>
            <a:off x="3413684" y="1508760"/>
            <a:ext cx="2517572" cy="2103120"/>
          </a:xfrm>
          <a:prstGeom prst="roundRect">
            <a:avLst>
              <a:gd name="adj" fmla="val 3913"/>
            </a:avLst>
          </a:prstGeom>
          <a:solidFill>
            <a:srgbClr val="E5F7FC"/>
          </a:solidFill>
          <a:ln w="12700">
            <a:solidFill>
              <a:srgbClr val="E5F7FC"/>
            </a:solidFill>
            <a:prstDash val="solid"/>
          </a:ln>
        </p:spPr>
      </p:sp>
      <p:sp>
        <p:nvSpPr>
          <p:cNvPr id="11" name="Text 9"/>
          <p:cNvSpPr/>
          <p:nvPr/>
        </p:nvSpPr>
        <p:spPr>
          <a:xfrm>
            <a:off x="3642284" y="1664208"/>
            <a:ext cx="2060372" cy="914400"/>
          </a:xfrm>
          <a:prstGeom prst="rect">
            <a:avLst/>
          </a:prstGeom>
          <a:noFill/>
          <a:ln/>
        </p:spPr>
        <p:txBody>
          <a:bodyPr wrap="square" lIns="0" tIns="0" rIns="0" bIns="0" rtlCol="0" anchor="ctr"/>
          <a:lstStyle/>
          <a:p>
            <a:pPr indent="0" marL="0">
              <a:buNone/>
            </a:pPr>
            <a:r>
              <a:rPr lang="en-US" sz="5400" b="1" dirty="0">
                <a:solidFill>
                  <a:srgbClr val="2DCCD3"/>
                </a:solidFill>
                <a:latin typeface="Arial" pitchFamily="34" charset="0"/>
                <a:ea typeface="Arial" pitchFamily="34" charset="-122"/>
                <a:cs typeface="Arial" pitchFamily="34" charset="-120"/>
              </a:rPr>
              <a:t>16</a:t>
            </a:r>
            <a:endParaRPr lang="en-US" sz="5400" dirty="0"/>
          </a:p>
        </p:txBody>
      </p:sp>
      <p:sp>
        <p:nvSpPr>
          <p:cNvPr id="12" name="Text 10"/>
          <p:cNvSpPr/>
          <p:nvPr/>
        </p:nvSpPr>
        <p:spPr>
          <a:xfrm>
            <a:off x="3642284" y="2633472"/>
            <a:ext cx="2060372"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hosts per cluster</a:t>
            </a:r>
            <a:endParaRPr lang="en-US" sz="1400" dirty="0"/>
          </a:p>
        </p:txBody>
      </p:sp>
      <p:sp>
        <p:nvSpPr>
          <p:cNvPr id="13" name="Text 11"/>
          <p:cNvSpPr/>
          <p:nvPr/>
        </p:nvSpPr>
        <p:spPr>
          <a:xfrm>
            <a:off x="3642284" y="2944368"/>
            <a:ext cx="2060372" cy="502920"/>
          </a:xfrm>
          <a:prstGeom prst="rect">
            <a:avLst/>
          </a:prstGeom>
          <a:noFill/>
          <a:ln/>
        </p:spPr>
        <p:txBody>
          <a:bodyPr wrap="square" lIns="0" tIns="0" rIns="0" bIns="0" rtlCol="0" anchor="ctr"/>
          <a:lstStyle/>
          <a:p>
            <a:pPr indent="0" marL="0">
              <a:buNone/>
            </a:pPr>
            <a:r>
              <a:rPr lang="en-US" sz="1200" dirty="0">
                <a:solidFill>
                  <a:srgbClr val="6E6E7C"/>
                </a:solidFill>
                <a:latin typeface="Calibri" pitchFamily="34" charset="0"/>
                <a:ea typeface="Calibri" pitchFamily="34" charset="-122"/>
                <a:cs typeface="Calibri" pitchFamily="34" charset="-120"/>
              </a:rPr>
              <a:t>Single cluster maximum</a:t>
            </a:r>
            <a:endParaRPr lang="en-US" sz="1200" dirty="0"/>
          </a:p>
        </p:txBody>
      </p:sp>
      <p:sp>
        <p:nvSpPr>
          <p:cNvPr id="14" name="Shape 12"/>
          <p:cNvSpPr/>
          <p:nvPr/>
        </p:nvSpPr>
        <p:spPr>
          <a:xfrm>
            <a:off x="6260440" y="1508760"/>
            <a:ext cx="2517572" cy="2103120"/>
          </a:xfrm>
          <a:prstGeom prst="roundRect">
            <a:avLst>
              <a:gd name="adj" fmla="val 3913"/>
            </a:avLst>
          </a:prstGeom>
          <a:solidFill>
            <a:srgbClr val="E5F7FC"/>
          </a:solidFill>
          <a:ln w="12700">
            <a:solidFill>
              <a:srgbClr val="E5F7FC"/>
            </a:solidFill>
            <a:prstDash val="solid"/>
          </a:ln>
        </p:spPr>
      </p:sp>
      <p:sp>
        <p:nvSpPr>
          <p:cNvPr id="15" name="Text 13"/>
          <p:cNvSpPr/>
          <p:nvPr/>
        </p:nvSpPr>
        <p:spPr>
          <a:xfrm>
            <a:off x="6489040" y="1664208"/>
            <a:ext cx="2060372" cy="914400"/>
          </a:xfrm>
          <a:prstGeom prst="rect">
            <a:avLst/>
          </a:prstGeom>
          <a:noFill/>
          <a:ln/>
        </p:spPr>
        <p:txBody>
          <a:bodyPr wrap="square" lIns="0" tIns="0" rIns="0" bIns="0" rtlCol="0" anchor="ctr"/>
          <a:lstStyle/>
          <a:p>
            <a:pPr indent="0" marL="0">
              <a:buNone/>
            </a:pPr>
            <a:r>
              <a:rPr lang="en-US" sz="5400" b="1" dirty="0">
                <a:solidFill>
                  <a:srgbClr val="00AD93"/>
                </a:solidFill>
                <a:latin typeface="Arial" pitchFamily="34" charset="0"/>
                <a:ea typeface="Arial" pitchFamily="34" charset="-122"/>
                <a:cs typeface="Arial" pitchFamily="34" charset="-120"/>
              </a:rPr>
              <a:t>12</a:t>
            </a:r>
            <a:endParaRPr lang="en-US" sz="5400" dirty="0"/>
          </a:p>
        </p:txBody>
      </p:sp>
      <p:sp>
        <p:nvSpPr>
          <p:cNvPr id="16" name="Text 14"/>
          <p:cNvSpPr/>
          <p:nvPr/>
        </p:nvSpPr>
        <p:spPr>
          <a:xfrm>
            <a:off x="6489040" y="2633472"/>
            <a:ext cx="2060372"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clusters</a:t>
            </a:r>
            <a:endParaRPr lang="en-US" sz="1400" dirty="0"/>
          </a:p>
        </p:txBody>
      </p:sp>
      <p:sp>
        <p:nvSpPr>
          <p:cNvPr id="17" name="Text 15"/>
          <p:cNvSpPr/>
          <p:nvPr/>
        </p:nvSpPr>
        <p:spPr>
          <a:xfrm>
            <a:off x="6489040" y="2944368"/>
            <a:ext cx="2060372" cy="502920"/>
          </a:xfrm>
          <a:prstGeom prst="rect">
            <a:avLst/>
          </a:prstGeom>
          <a:noFill/>
          <a:ln/>
        </p:spPr>
        <p:txBody>
          <a:bodyPr wrap="square" lIns="0" tIns="0" rIns="0" bIns="0" rtlCol="0" anchor="ctr"/>
          <a:lstStyle/>
          <a:p>
            <a:pPr indent="0" marL="0">
              <a:buNone/>
            </a:pPr>
            <a:r>
              <a:rPr lang="en-US" sz="1200" dirty="0">
                <a:solidFill>
                  <a:srgbClr val="6E6E7C"/>
                </a:solidFill>
                <a:latin typeface="Calibri" pitchFamily="34" charset="0"/>
                <a:ea typeface="Calibri" pitchFamily="34" charset="-122"/>
                <a:cs typeface="Calibri" pitchFamily="34" charset="-120"/>
              </a:rPr>
              <a:t>Per private cloud</a:t>
            </a:r>
            <a:endParaRPr lang="en-US" sz="1200" dirty="0"/>
          </a:p>
        </p:txBody>
      </p:sp>
      <p:sp>
        <p:nvSpPr>
          <p:cNvPr id="18" name="Shape 16"/>
          <p:cNvSpPr/>
          <p:nvPr/>
        </p:nvSpPr>
        <p:spPr>
          <a:xfrm>
            <a:off x="9107195" y="1508760"/>
            <a:ext cx="2517572" cy="2103120"/>
          </a:xfrm>
          <a:prstGeom prst="roundRect">
            <a:avLst>
              <a:gd name="adj" fmla="val 3913"/>
            </a:avLst>
          </a:prstGeom>
          <a:solidFill>
            <a:srgbClr val="E5F7FC"/>
          </a:solidFill>
          <a:ln w="12700">
            <a:solidFill>
              <a:srgbClr val="E5F7FC"/>
            </a:solidFill>
            <a:prstDash val="solid"/>
          </a:ln>
        </p:spPr>
      </p:sp>
      <p:sp>
        <p:nvSpPr>
          <p:cNvPr id="19" name="Text 17"/>
          <p:cNvSpPr/>
          <p:nvPr/>
        </p:nvSpPr>
        <p:spPr>
          <a:xfrm>
            <a:off x="9335795" y="1664208"/>
            <a:ext cx="2060372" cy="914400"/>
          </a:xfrm>
          <a:prstGeom prst="rect">
            <a:avLst/>
          </a:prstGeom>
          <a:noFill/>
          <a:ln/>
        </p:spPr>
        <p:txBody>
          <a:bodyPr wrap="square" lIns="0" tIns="0" rIns="0" bIns="0" rtlCol="0" anchor="ctr"/>
          <a:lstStyle/>
          <a:p>
            <a:pPr indent="0" marL="0">
              <a:buNone/>
            </a:pPr>
            <a:r>
              <a:rPr lang="en-US" sz="5400" b="1" dirty="0">
                <a:solidFill>
                  <a:srgbClr val="F15D23"/>
                </a:solidFill>
                <a:latin typeface="Arial" pitchFamily="34" charset="0"/>
                <a:ea typeface="Arial" pitchFamily="34" charset="-122"/>
                <a:cs typeface="Arial" pitchFamily="34" charset="-120"/>
              </a:rPr>
              <a:t>96</a:t>
            </a:r>
            <a:endParaRPr lang="en-US" sz="5400" dirty="0"/>
          </a:p>
        </p:txBody>
      </p:sp>
      <p:sp>
        <p:nvSpPr>
          <p:cNvPr id="20" name="Text 18"/>
          <p:cNvSpPr/>
          <p:nvPr/>
        </p:nvSpPr>
        <p:spPr>
          <a:xfrm>
            <a:off x="9335795" y="2633472"/>
            <a:ext cx="2060372"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ESXi hosts</a:t>
            </a:r>
            <a:endParaRPr lang="en-US" sz="1400" dirty="0"/>
          </a:p>
        </p:txBody>
      </p:sp>
      <p:sp>
        <p:nvSpPr>
          <p:cNvPr id="21" name="Text 19"/>
          <p:cNvSpPr/>
          <p:nvPr/>
        </p:nvSpPr>
        <p:spPr>
          <a:xfrm>
            <a:off x="9335795" y="2944368"/>
            <a:ext cx="2060372" cy="502920"/>
          </a:xfrm>
          <a:prstGeom prst="rect">
            <a:avLst/>
          </a:prstGeom>
          <a:noFill/>
          <a:ln/>
        </p:spPr>
        <p:txBody>
          <a:bodyPr wrap="square" lIns="0" tIns="0" rIns="0" bIns="0" rtlCol="0" anchor="ctr"/>
          <a:lstStyle/>
          <a:p>
            <a:pPr indent="0" marL="0">
              <a:buNone/>
            </a:pPr>
            <a:r>
              <a:rPr lang="en-US" sz="1200" dirty="0">
                <a:solidFill>
                  <a:srgbClr val="6E6E7C"/>
                </a:solidFill>
                <a:latin typeface="Calibri" pitchFamily="34" charset="0"/>
                <a:ea typeface="Calibri" pitchFamily="34" charset="-122"/>
                <a:cs typeface="Calibri" pitchFamily="34" charset="-120"/>
              </a:rPr>
              <a:t>Hard cap per private cloud</a:t>
            </a:r>
            <a:endParaRPr lang="en-US" sz="1200" dirty="0"/>
          </a:p>
        </p:txBody>
      </p:sp>
      <p:sp>
        <p:nvSpPr>
          <p:cNvPr id="22" name="Shape 20"/>
          <p:cNvSpPr/>
          <p:nvPr/>
        </p:nvSpPr>
        <p:spPr>
          <a:xfrm>
            <a:off x="566928" y="3886200"/>
            <a:ext cx="11057839" cy="1874520"/>
          </a:xfrm>
          <a:prstGeom prst="roundRect">
            <a:avLst>
              <a:gd name="adj" fmla="val 4390"/>
            </a:avLst>
          </a:prstGeom>
          <a:solidFill>
            <a:srgbClr val="3E3E4B"/>
          </a:solidFill>
          <a:ln w="12700">
            <a:solidFill>
              <a:srgbClr val="3E3E4B"/>
            </a:solidFill>
            <a:prstDash val="solid"/>
          </a:ln>
        </p:spPr>
      </p:sp>
      <p:sp>
        <p:nvSpPr>
          <p:cNvPr id="23" name="Text 21"/>
          <p:cNvSpPr/>
          <p:nvPr/>
        </p:nvSpPr>
        <p:spPr>
          <a:xfrm>
            <a:off x="886968" y="4069080"/>
            <a:ext cx="10417759" cy="310896"/>
          </a:xfrm>
          <a:prstGeom prst="rect">
            <a:avLst/>
          </a:prstGeom>
          <a:noFill/>
          <a:ln/>
        </p:spPr>
        <p:txBody>
          <a:bodyPr wrap="square" lIns="0" tIns="0" rIns="0" bIns="0" rtlCol="0" anchor="ctr"/>
          <a:lstStyle/>
          <a:p>
            <a:pPr indent="0" marL="0">
              <a:buNone/>
            </a:pPr>
            <a:r>
              <a:rPr lang="en-US" sz="1600" b="1" dirty="0">
                <a:solidFill>
                  <a:srgbClr val="FAC458"/>
                </a:solidFill>
                <a:latin typeface="Arial" pitchFamily="34" charset="0"/>
                <a:ea typeface="Arial" pitchFamily="34" charset="-122"/>
                <a:cs typeface="Arial" pitchFamily="34" charset="-120"/>
              </a:rPr>
              <a:t>Correction: do not multiply the two limits</a:t>
            </a:r>
            <a:endParaRPr lang="en-US" sz="1600" dirty="0"/>
          </a:p>
        </p:txBody>
      </p:sp>
      <p:sp>
        <p:nvSpPr>
          <p:cNvPr id="24" name="Text 22"/>
          <p:cNvSpPr/>
          <p:nvPr/>
        </p:nvSpPr>
        <p:spPr>
          <a:xfrm>
            <a:off x="886968" y="4407408"/>
            <a:ext cx="10417759"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12 clusters multiplied by 16 hosts gives 192, but that number is not deployable. Microsoft separately enforces 96 ESXi hosts per private cloud, so all 12 clusters cannot each hold 16 hosts. Size against the 96-host ceiling, not the arithmetic.</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Host SKUs and hardware planning</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6</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1371600"/>
                <a:gridCol w="3291840"/>
                <a:gridCol w="2194560"/>
                <a:gridCol w="2468880"/>
                <a:gridCol w="1730959"/>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SKU</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Processor</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Generation</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Cores (physical / logical)</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r>
              <a:tr h="420624">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AV36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Dual Intel Xeon Gold 6140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Skylake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36 / 72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576 GB</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r h="420624">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AV36P</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Dual Intel Xeon Gold 6240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Cascade Lake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36 / 72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768 GB</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r>
              <a:tr h="420624">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AV48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Dual Intel Xeon Gold 6442Y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Sapphire Rapids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48 / 96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1,024 GB</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r h="420624">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AV52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Dual Intel Xeon Platinum 8270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Cascade Lake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52 / 104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1,536 GB</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r>
              <a:tr h="420624">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AV64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Dual Intel Xeon Platinum 8370C</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Ice Lake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64 / 128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1,024 GB</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bl>
          </a:graphicData>
        </a:graphic>
      </p:graphicFrame>
      <p:sp>
        <p:nvSpPr>
          <p:cNvPr id="7" name="Shape 4"/>
          <p:cNvSpPr/>
          <p:nvPr/>
        </p:nvSpPr>
        <p:spPr>
          <a:xfrm>
            <a:off x="566928" y="4297680"/>
            <a:ext cx="3466490" cy="1481328"/>
          </a:xfrm>
          <a:prstGeom prst="roundRect">
            <a:avLst>
              <a:gd name="adj" fmla="val 5556"/>
            </a:avLst>
          </a:prstGeom>
          <a:solidFill>
            <a:srgbClr val="E5F7FC"/>
          </a:solidFill>
          <a:ln w="12700">
            <a:solidFill>
              <a:srgbClr val="E5F7FC"/>
            </a:solidFill>
            <a:prstDash val="solid"/>
          </a:ln>
        </p:spPr>
      </p:sp>
      <p:sp>
        <p:nvSpPr>
          <p:cNvPr id="8" name="Text 5"/>
          <p:cNvSpPr/>
          <p:nvPr/>
        </p:nvSpPr>
        <p:spPr>
          <a:xfrm>
            <a:off x="804672" y="4443984"/>
            <a:ext cx="2991002" cy="292608"/>
          </a:xfrm>
          <a:prstGeom prst="rect">
            <a:avLst/>
          </a:prstGeom>
          <a:noFill/>
          <a:ln/>
        </p:spPr>
        <p:txBody>
          <a:bodyPr wrap="square" lIns="0" tIns="0" rIns="0" bIns="0" rtlCol="0" anchor="ctr"/>
          <a:lstStyle/>
          <a:p>
            <a:pPr indent="0" marL="0">
              <a:buNone/>
            </a:pPr>
            <a:r>
              <a:rPr lang="en-US" sz="1350" b="1" dirty="0">
                <a:solidFill>
                  <a:srgbClr val="00B3E2"/>
                </a:solidFill>
                <a:latin typeface="Arial" pitchFamily="34" charset="0"/>
                <a:ea typeface="Arial" pitchFamily="34" charset="-122"/>
                <a:cs typeface="Arial" pitchFamily="34" charset="-120"/>
              </a:rPr>
              <a:t>Gen 1 AV64 prerequisite</a:t>
            </a:r>
            <a:endParaRPr lang="en-US" sz="1350" dirty="0"/>
          </a:p>
        </p:txBody>
      </p:sp>
      <p:sp>
        <p:nvSpPr>
          <p:cNvPr id="9" name="Text 6"/>
          <p:cNvSpPr/>
          <p:nvPr/>
        </p:nvSpPr>
        <p:spPr>
          <a:xfrm>
            <a:off x="804672" y="4754880"/>
            <a:ext cx="2991002" cy="86868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An existing AV36, AV36P, AV48, or AV52 private cloud is required before adding a separate AV64 cluster.</a:t>
            </a:r>
            <a:endParaRPr lang="en-US" sz="1250" dirty="0"/>
          </a:p>
        </p:txBody>
      </p:sp>
      <p:sp>
        <p:nvSpPr>
          <p:cNvPr id="10" name="Shape 7"/>
          <p:cNvSpPr/>
          <p:nvPr/>
        </p:nvSpPr>
        <p:spPr>
          <a:xfrm>
            <a:off x="4362602" y="4297680"/>
            <a:ext cx="3466490" cy="1481328"/>
          </a:xfrm>
          <a:prstGeom prst="roundRect">
            <a:avLst>
              <a:gd name="adj" fmla="val 5556"/>
            </a:avLst>
          </a:prstGeom>
          <a:solidFill>
            <a:srgbClr val="E5F7FC"/>
          </a:solidFill>
          <a:ln w="12700">
            <a:solidFill>
              <a:srgbClr val="E5F7FC"/>
            </a:solidFill>
            <a:prstDash val="solid"/>
          </a:ln>
        </p:spPr>
      </p:sp>
      <p:sp>
        <p:nvSpPr>
          <p:cNvPr id="11" name="Text 8"/>
          <p:cNvSpPr/>
          <p:nvPr/>
        </p:nvSpPr>
        <p:spPr>
          <a:xfrm>
            <a:off x="4600346" y="4443984"/>
            <a:ext cx="2991002" cy="292608"/>
          </a:xfrm>
          <a:prstGeom prst="rect">
            <a:avLst/>
          </a:prstGeom>
          <a:noFill/>
          <a:ln/>
        </p:spPr>
        <p:txBody>
          <a:bodyPr wrap="square" lIns="0" tIns="0" rIns="0" bIns="0" rtlCol="0" anchor="ctr"/>
          <a:lstStyle/>
          <a:p>
            <a:pPr indent="0" marL="0">
              <a:buNone/>
            </a:pPr>
            <a:r>
              <a:rPr lang="en-US" sz="1350" b="1" dirty="0">
                <a:solidFill>
                  <a:srgbClr val="00AD93"/>
                </a:solidFill>
                <a:latin typeface="Arial" pitchFamily="34" charset="0"/>
                <a:ea typeface="Arial" pitchFamily="34" charset="-122"/>
                <a:cs typeface="Arial" pitchFamily="34" charset="-120"/>
              </a:rPr>
              <a:t>Gen 2 changes this</a:t>
            </a:r>
            <a:endParaRPr lang="en-US" sz="1350" dirty="0"/>
          </a:p>
        </p:txBody>
      </p:sp>
      <p:sp>
        <p:nvSpPr>
          <p:cNvPr id="12" name="Text 9"/>
          <p:cNvSpPr/>
          <p:nvPr/>
        </p:nvSpPr>
        <p:spPr>
          <a:xfrm>
            <a:off x="4600346" y="4754880"/>
            <a:ext cx="2991002" cy="86868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Generation 2 deploys directly as a minimum three-host AV64 private cloud with no seed cluster.</a:t>
            </a:r>
            <a:endParaRPr lang="en-US" sz="1250" dirty="0"/>
          </a:p>
        </p:txBody>
      </p:sp>
      <p:sp>
        <p:nvSpPr>
          <p:cNvPr id="13" name="Shape 10"/>
          <p:cNvSpPr/>
          <p:nvPr/>
        </p:nvSpPr>
        <p:spPr>
          <a:xfrm>
            <a:off x="8158277" y="4297680"/>
            <a:ext cx="3466490" cy="1481328"/>
          </a:xfrm>
          <a:prstGeom prst="roundRect">
            <a:avLst>
              <a:gd name="adj" fmla="val 5556"/>
            </a:avLst>
          </a:prstGeom>
          <a:solidFill>
            <a:srgbClr val="E5F7FC"/>
          </a:solidFill>
          <a:ln w="12700">
            <a:solidFill>
              <a:srgbClr val="E5F7FC"/>
            </a:solidFill>
            <a:prstDash val="solid"/>
          </a:ln>
        </p:spPr>
      </p:sp>
      <p:sp>
        <p:nvSpPr>
          <p:cNvPr id="14" name="Text 11"/>
          <p:cNvSpPr/>
          <p:nvPr/>
        </p:nvSpPr>
        <p:spPr>
          <a:xfrm>
            <a:off x="8396021" y="4443984"/>
            <a:ext cx="2991002" cy="292608"/>
          </a:xfrm>
          <a:prstGeom prst="rect">
            <a:avLst/>
          </a:prstGeom>
          <a:noFill/>
          <a:ln/>
        </p:spPr>
        <p:txBody>
          <a:bodyPr wrap="square" lIns="0" tIns="0" rIns="0" bIns="0" rtlCol="0" anchor="ctr"/>
          <a:lstStyle/>
          <a:p>
            <a:pPr indent="0" marL="0">
              <a:buNone/>
            </a:pPr>
            <a:r>
              <a:rPr lang="en-US" sz="1350" b="1" dirty="0">
                <a:solidFill>
                  <a:srgbClr val="F15D23"/>
                </a:solidFill>
                <a:latin typeface="Arial" pitchFamily="34" charset="0"/>
                <a:ea typeface="Arial" pitchFamily="34" charset="-122"/>
                <a:cs typeface="Arial" pitchFamily="34" charset="-120"/>
              </a:rPr>
              <a:t>Migration implication</a:t>
            </a:r>
            <a:endParaRPr lang="en-US" sz="1350" dirty="0"/>
          </a:p>
        </p:txBody>
      </p:sp>
      <p:sp>
        <p:nvSpPr>
          <p:cNvPr id="15" name="Text 12"/>
          <p:cNvSpPr/>
          <p:nvPr/>
        </p:nvSpPr>
        <p:spPr>
          <a:xfrm>
            <a:off x="8396021" y="4754880"/>
            <a:ext cx="2991002" cy="86868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Adding AV64 to a Gen 1 private cloud creates a heterogeneous CPU estate with documented EVC issues.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Operational responsibility boundaries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3063240"/>
          </a:xfrm>
          <a:prstGeom prst="roundRect">
            <a:avLst>
              <a:gd name="adj" fmla="val 2687"/>
            </a:avLst>
          </a:prstGeom>
          <a:solidFill>
            <a:srgbClr val="E5F7FC"/>
          </a:solidFill>
          <a:ln w="12700">
            <a:solidFill>
              <a:srgbClr val="E5F7FC"/>
            </a:solidFill>
            <a:prstDash val="solid"/>
          </a:ln>
        </p:spPr>
      </p:sp>
      <p:sp>
        <p:nvSpPr>
          <p:cNvPr id="7" name="Text 5"/>
          <p:cNvSpPr/>
          <p:nvPr/>
        </p:nvSpPr>
        <p:spPr>
          <a:xfrm>
            <a:off x="841248" y="1645920"/>
            <a:ext cx="4797400" cy="329184"/>
          </a:xfrm>
          <a:prstGeom prst="rect">
            <a:avLst/>
          </a:prstGeom>
          <a:noFill/>
          <a:ln/>
        </p:spPr>
        <p:txBody>
          <a:bodyPr wrap="square" lIns="0" tIns="0" rIns="0" bIns="0" rtlCol="0" anchor="ctr"/>
          <a:lstStyle/>
          <a:p>
            <a:pPr indent="0" marL="0">
              <a:buNone/>
            </a:pPr>
            <a:r>
              <a:rPr lang="en-US" sz="1700" b="1" dirty="0">
                <a:solidFill>
                  <a:srgbClr val="00B3E2"/>
                </a:solidFill>
                <a:latin typeface="Arial" pitchFamily="34" charset="0"/>
                <a:ea typeface="Arial" pitchFamily="34" charset="-122"/>
                <a:cs typeface="Arial" pitchFamily="34" charset="-120"/>
              </a:rPr>
              <a:t>Microsoft manages</a:t>
            </a:r>
            <a:endParaRPr lang="en-US" sz="1700" dirty="0"/>
          </a:p>
        </p:txBody>
      </p:sp>
      <p:sp>
        <p:nvSpPr>
          <p:cNvPr id="8" name="Text 6"/>
          <p:cNvSpPr/>
          <p:nvPr/>
        </p:nvSpPr>
        <p:spPr>
          <a:xfrm>
            <a:off x="841248" y="2029968"/>
            <a:ext cx="4797400" cy="233172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Physical infrastructure and dedicated host hardware</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Lifecycle of ESXi, vCenter Server, vSAN, and NSX</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Platform patching, updates, and upgrades</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The vSAN witness in stretched cluster designs</a:t>
            </a:r>
            <a:endParaRPr lang="en-US" sz="1350" dirty="0"/>
          </a:p>
        </p:txBody>
      </p:sp>
      <p:sp>
        <p:nvSpPr>
          <p:cNvPr id="9" name="Shape 7"/>
          <p:cNvSpPr/>
          <p:nvPr/>
        </p:nvSpPr>
        <p:spPr>
          <a:xfrm>
            <a:off x="6278728" y="1481328"/>
            <a:ext cx="5346040" cy="3063240"/>
          </a:xfrm>
          <a:prstGeom prst="roundRect">
            <a:avLst>
              <a:gd name="adj" fmla="val 2687"/>
            </a:avLst>
          </a:prstGeom>
          <a:solidFill>
            <a:srgbClr val="D3EDF1"/>
          </a:solidFill>
          <a:ln w="12700">
            <a:solidFill>
              <a:srgbClr val="D3EDF1"/>
            </a:solidFill>
            <a:prstDash val="solid"/>
          </a:ln>
        </p:spPr>
      </p:sp>
      <p:sp>
        <p:nvSpPr>
          <p:cNvPr id="10" name="Text 8"/>
          <p:cNvSpPr/>
          <p:nvPr/>
        </p:nvSpPr>
        <p:spPr>
          <a:xfrm>
            <a:off x="6553048" y="1645920"/>
            <a:ext cx="4797400" cy="329184"/>
          </a:xfrm>
          <a:prstGeom prst="rect">
            <a:avLst/>
          </a:prstGeom>
          <a:noFill/>
          <a:ln/>
        </p:spPr>
        <p:txBody>
          <a:bodyPr wrap="square" lIns="0" tIns="0" rIns="0" bIns="0" rtlCol="0" anchor="ctr"/>
          <a:lstStyle/>
          <a:p>
            <a:pPr indent="0" marL="0">
              <a:buNone/>
            </a:pPr>
            <a:r>
              <a:rPr lang="en-US" sz="1700" b="1" dirty="0">
                <a:solidFill>
                  <a:srgbClr val="00AD93"/>
                </a:solidFill>
                <a:latin typeface="Arial" pitchFamily="34" charset="0"/>
                <a:ea typeface="Arial" pitchFamily="34" charset="-122"/>
                <a:cs typeface="Arial" pitchFamily="34" charset="-120"/>
              </a:rPr>
              <a:t>The customer manages</a:t>
            </a:r>
            <a:endParaRPr lang="en-US" sz="1700" dirty="0"/>
          </a:p>
        </p:txBody>
      </p:sp>
      <p:sp>
        <p:nvSpPr>
          <p:cNvPr id="11" name="Text 9"/>
          <p:cNvSpPr/>
          <p:nvPr/>
        </p:nvSpPr>
        <p:spPr>
          <a:xfrm>
            <a:off x="6553048" y="2029968"/>
            <a:ext cx="4797400" cy="233172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Guest operating systems, applications, and workload VMs</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vSAN storage policies and capacity consumption</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NSX workload networking and segmentation</a:t>
            </a:r>
            <a:endParaRPr lang="en-US" sz="1350" dirty="0"/>
          </a:p>
          <a:p>
            <a:pPr marL="203200" indent="-2032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Third-party solutions within exposed permissions</a:t>
            </a:r>
            <a:endParaRPr lang="en-US" sz="1350" dirty="0"/>
          </a:p>
        </p:txBody>
      </p:sp>
      <p:sp>
        <p:nvSpPr>
          <p:cNvPr id="12" name="Shape 10"/>
          <p:cNvSpPr/>
          <p:nvPr/>
        </p:nvSpPr>
        <p:spPr>
          <a:xfrm>
            <a:off x="566928" y="4754880"/>
            <a:ext cx="11057839" cy="1005840"/>
          </a:xfrm>
          <a:prstGeom prst="roundRect">
            <a:avLst>
              <a:gd name="adj" fmla="val 8182"/>
            </a:avLst>
          </a:prstGeom>
          <a:solidFill>
            <a:srgbClr val="3E3E4B"/>
          </a:solidFill>
          <a:ln w="12700">
            <a:solidFill>
              <a:srgbClr val="3E3E4B"/>
            </a:solidFill>
            <a:prstDash val="solid"/>
          </a:ln>
        </p:spPr>
      </p:sp>
      <p:sp>
        <p:nvSpPr>
          <p:cNvPr id="13" name="Text 11"/>
          <p:cNvSpPr/>
          <p:nvPr/>
        </p:nvSpPr>
        <p:spPr>
          <a:xfrm>
            <a:off x="886968" y="4882896"/>
            <a:ext cx="2743200" cy="292608"/>
          </a:xfrm>
          <a:prstGeom prst="rect">
            <a:avLst/>
          </a:prstGeom>
          <a:noFill/>
          <a:ln/>
        </p:spPr>
        <p:txBody>
          <a:bodyPr wrap="square" lIns="0" tIns="0" rIns="0" bIns="0" rtlCol="0" anchor="ctr"/>
          <a:lstStyle/>
          <a:p>
            <a:pPr indent="0" marL="0">
              <a:buNone/>
            </a:pPr>
            <a:r>
              <a:rPr lang="en-US" sz="1400" b="1" dirty="0">
                <a:solidFill>
                  <a:srgbClr val="FAC458"/>
                </a:solidFill>
                <a:latin typeface="Arial" pitchFamily="34" charset="0"/>
                <a:ea typeface="Arial" pitchFamily="34" charset="-122"/>
                <a:cs typeface="Arial" pitchFamily="34" charset="-120"/>
              </a:rPr>
              <a:t>No ESXi root access</a:t>
            </a:r>
            <a:endParaRPr lang="en-US" sz="1400" dirty="0"/>
          </a:p>
        </p:txBody>
      </p:sp>
      <p:sp>
        <p:nvSpPr>
          <p:cNvPr id="14" name="Text 12"/>
          <p:cNvSpPr/>
          <p:nvPr/>
        </p:nvSpPr>
        <p:spPr>
          <a:xfrm>
            <a:off x="3721608" y="4882896"/>
            <a:ext cx="7583119"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Customers do not receive ESXi administrator or root access. Elevated operations, where supported, run through curated Run Commands or product-specific installation workflows.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1</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Third-party tooling requirements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Text 4"/>
          <p:cNvSpPr/>
          <p:nvPr/>
        </p:nvSpPr>
        <p:spPr>
          <a:xfrm>
            <a:off x="566928" y="1444752"/>
            <a:ext cx="11057839" cy="365760"/>
          </a:xfrm>
          <a:prstGeom prst="rect">
            <a:avLst/>
          </a:prstGeom>
          <a:noFill/>
          <a:ln/>
        </p:spPr>
        <p:txBody>
          <a:bodyPr wrap="square" lIns="0" tIns="0" rIns="0" bIns="0" rtlCol="0" anchor="ctr"/>
          <a:lstStyle/>
          <a:p>
            <a:pPr indent="0" marL="0">
              <a:buNone/>
            </a:pPr>
            <a:r>
              <a:rPr lang="en-US" sz="1500" dirty="0">
                <a:solidFill>
                  <a:srgbClr val="6E6E7C"/>
                </a:solidFill>
                <a:latin typeface="Calibri" pitchFamily="34" charset="0"/>
                <a:ea typeface="Calibri" pitchFamily="34" charset="-122"/>
                <a:cs typeface="Calibri" pitchFamily="34" charset="-120"/>
              </a:rPr>
              <a:t>Audit every backup, monitoring, security, and performance tool against the responsibility boundary before the design is approved.</a:t>
            </a:r>
            <a:endParaRPr lang="en-US" sz="1500" dirty="0"/>
          </a:p>
        </p:txBody>
      </p:sp>
      <p:sp>
        <p:nvSpPr>
          <p:cNvPr id="7" name="Shape 5"/>
          <p:cNvSpPr/>
          <p:nvPr/>
        </p:nvSpPr>
        <p:spPr>
          <a:xfrm>
            <a:off x="566928" y="1874520"/>
            <a:ext cx="11057839" cy="804672"/>
          </a:xfrm>
          <a:prstGeom prst="roundRect">
            <a:avLst>
              <a:gd name="adj" fmla="val 10227"/>
            </a:avLst>
          </a:prstGeom>
          <a:solidFill>
            <a:srgbClr val="E5F7FC"/>
          </a:solidFill>
          <a:ln w="12700">
            <a:solidFill>
              <a:srgbClr val="E5F7FC"/>
            </a:solidFill>
            <a:prstDash val="solid"/>
          </a:ln>
        </p:spPr>
      </p:sp>
      <p:sp>
        <p:nvSpPr>
          <p:cNvPr id="8" name="Shape 6"/>
          <p:cNvSpPr/>
          <p:nvPr/>
        </p:nvSpPr>
        <p:spPr>
          <a:xfrm>
            <a:off x="822960" y="2084832"/>
            <a:ext cx="384048" cy="384048"/>
          </a:xfrm>
          <a:prstGeom prst="ellipse">
            <a:avLst/>
          </a:prstGeom>
          <a:solidFill>
            <a:srgbClr val="00B3E2"/>
          </a:solidFill>
          <a:ln w="12700">
            <a:solidFill>
              <a:srgbClr val="00B3E2"/>
            </a:solidFill>
            <a:prstDash val="solid"/>
          </a:ln>
        </p:spPr>
      </p:sp>
      <p:sp>
        <p:nvSpPr>
          <p:cNvPr id="9" name="Text 7"/>
          <p:cNvSpPr/>
          <p:nvPr/>
        </p:nvSpPr>
        <p:spPr>
          <a:xfrm>
            <a:off x="822960" y="2084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10" name="Text 8"/>
          <p:cNvSpPr/>
          <p:nvPr/>
        </p:nvSpPr>
        <p:spPr>
          <a:xfrm>
            <a:off x="1389888" y="1975104"/>
            <a:ext cx="26517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Discovery</a:t>
            </a:r>
            <a:endParaRPr lang="en-US" sz="1400" dirty="0"/>
          </a:p>
        </p:txBody>
      </p:sp>
      <p:sp>
        <p:nvSpPr>
          <p:cNvPr id="11" name="Text 9"/>
          <p:cNvSpPr/>
          <p:nvPr/>
        </p:nvSpPr>
        <p:spPr>
          <a:xfrm>
            <a:off x="4133088" y="1975104"/>
            <a:ext cx="7217359" cy="603504"/>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Inventory all tools that touch the hypervisor and check each against the supported integration model.</a:t>
            </a:r>
            <a:endParaRPr lang="en-US" sz="1300" dirty="0"/>
          </a:p>
        </p:txBody>
      </p:sp>
      <p:sp>
        <p:nvSpPr>
          <p:cNvPr id="12" name="Shape 10"/>
          <p:cNvSpPr/>
          <p:nvPr/>
        </p:nvSpPr>
        <p:spPr>
          <a:xfrm>
            <a:off x="566928" y="2807208"/>
            <a:ext cx="11057839" cy="804672"/>
          </a:xfrm>
          <a:prstGeom prst="roundRect">
            <a:avLst>
              <a:gd name="adj" fmla="val 10227"/>
            </a:avLst>
          </a:prstGeom>
          <a:solidFill>
            <a:srgbClr val="EBEDED"/>
          </a:solidFill>
          <a:ln w="12700">
            <a:solidFill>
              <a:srgbClr val="EBEDED"/>
            </a:solidFill>
            <a:prstDash val="solid"/>
          </a:ln>
        </p:spPr>
      </p:sp>
      <p:sp>
        <p:nvSpPr>
          <p:cNvPr id="13" name="Shape 11"/>
          <p:cNvSpPr/>
          <p:nvPr/>
        </p:nvSpPr>
        <p:spPr>
          <a:xfrm>
            <a:off x="822960" y="3017520"/>
            <a:ext cx="384048" cy="384048"/>
          </a:xfrm>
          <a:prstGeom prst="ellipse">
            <a:avLst/>
          </a:prstGeom>
          <a:solidFill>
            <a:srgbClr val="F15D23"/>
          </a:solidFill>
          <a:ln w="12700">
            <a:solidFill>
              <a:srgbClr val="F15D23"/>
            </a:solidFill>
            <a:prstDash val="solid"/>
          </a:ln>
        </p:spPr>
      </p:sp>
      <p:sp>
        <p:nvSpPr>
          <p:cNvPr id="14" name="Text 12"/>
          <p:cNvSpPr/>
          <p:nvPr/>
        </p:nvSpPr>
        <p:spPr>
          <a:xfrm>
            <a:off x="82296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1389888" y="2907792"/>
            <a:ext cx="26517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Failure condition</a:t>
            </a:r>
            <a:endParaRPr lang="en-US" sz="1400" dirty="0"/>
          </a:p>
        </p:txBody>
      </p:sp>
      <p:sp>
        <p:nvSpPr>
          <p:cNvPr id="16" name="Text 14"/>
          <p:cNvSpPr/>
          <p:nvPr/>
        </p:nvSpPr>
        <p:spPr>
          <a:xfrm>
            <a:off x="4133088" y="2907792"/>
            <a:ext cx="7217359" cy="603504"/>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Legacy tools that need ESXi root access or customer-installed VIBs may be blocked entirely.</a:t>
            </a:r>
            <a:endParaRPr lang="en-US" sz="1300" dirty="0"/>
          </a:p>
        </p:txBody>
      </p:sp>
      <p:sp>
        <p:nvSpPr>
          <p:cNvPr id="17" name="Shape 15"/>
          <p:cNvSpPr/>
          <p:nvPr/>
        </p:nvSpPr>
        <p:spPr>
          <a:xfrm>
            <a:off x="566928" y="3739896"/>
            <a:ext cx="11057839" cy="804672"/>
          </a:xfrm>
          <a:prstGeom prst="roundRect">
            <a:avLst>
              <a:gd name="adj" fmla="val 10227"/>
            </a:avLst>
          </a:prstGeom>
          <a:solidFill>
            <a:srgbClr val="E5F7FC"/>
          </a:solidFill>
          <a:ln w="12700">
            <a:solidFill>
              <a:srgbClr val="E5F7FC"/>
            </a:solidFill>
            <a:prstDash val="solid"/>
          </a:ln>
        </p:spPr>
      </p:sp>
      <p:sp>
        <p:nvSpPr>
          <p:cNvPr id="18" name="Shape 16"/>
          <p:cNvSpPr/>
          <p:nvPr/>
        </p:nvSpPr>
        <p:spPr>
          <a:xfrm>
            <a:off x="822960" y="3950208"/>
            <a:ext cx="384048" cy="384048"/>
          </a:xfrm>
          <a:prstGeom prst="ellipse">
            <a:avLst/>
          </a:prstGeom>
          <a:solidFill>
            <a:srgbClr val="00AD93"/>
          </a:solidFill>
          <a:ln w="12700">
            <a:solidFill>
              <a:srgbClr val="00AD93"/>
            </a:solidFill>
            <a:prstDash val="solid"/>
          </a:ln>
        </p:spPr>
      </p:sp>
      <p:sp>
        <p:nvSpPr>
          <p:cNvPr id="19" name="Text 17"/>
          <p:cNvSpPr/>
          <p:nvPr/>
        </p:nvSpPr>
        <p:spPr>
          <a:xfrm>
            <a:off x="82296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20" name="Text 18"/>
          <p:cNvSpPr/>
          <p:nvPr/>
        </p:nvSpPr>
        <p:spPr>
          <a:xfrm>
            <a:off x="1389888" y="3840480"/>
            <a:ext cx="26517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Preferred remediation</a:t>
            </a:r>
            <a:endParaRPr lang="en-US" sz="1400" dirty="0"/>
          </a:p>
        </p:txBody>
      </p:sp>
      <p:sp>
        <p:nvSpPr>
          <p:cNvPr id="21" name="Text 19"/>
          <p:cNvSpPr/>
          <p:nvPr/>
        </p:nvSpPr>
        <p:spPr>
          <a:xfrm>
            <a:off x="4133088" y="3840480"/>
            <a:ext cx="7217359" cy="603504"/>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Use backup products supporting VMware VADP with HotAdd transport, which Microsoft says works out of the box.</a:t>
            </a:r>
            <a:endParaRPr lang="en-US" sz="1300" dirty="0"/>
          </a:p>
        </p:txBody>
      </p:sp>
      <p:sp>
        <p:nvSpPr>
          <p:cNvPr id="22" name="Shape 20"/>
          <p:cNvSpPr/>
          <p:nvPr/>
        </p:nvSpPr>
        <p:spPr>
          <a:xfrm>
            <a:off x="566928" y="4672584"/>
            <a:ext cx="11057839" cy="804672"/>
          </a:xfrm>
          <a:prstGeom prst="roundRect">
            <a:avLst>
              <a:gd name="adj" fmla="val 10227"/>
            </a:avLst>
          </a:prstGeom>
          <a:solidFill>
            <a:srgbClr val="EBEDED"/>
          </a:solidFill>
          <a:ln w="12700">
            <a:solidFill>
              <a:srgbClr val="EBEDED"/>
            </a:solidFill>
            <a:prstDash val="solid"/>
          </a:ln>
        </p:spPr>
      </p:sp>
      <p:sp>
        <p:nvSpPr>
          <p:cNvPr id="23" name="Shape 21"/>
          <p:cNvSpPr/>
          <p:nvPr/>
        </p:nvSpPr>
        <p:spPr>
          <a:xfrm>
            <a:off x="822960" y="4882896"/>
            <a:ext cx="384048" cy="384048"/>
          </a:xfrm>
          <a:prstGeom prst="ellipse">
            <a:avLst/>
          </a:prstGeom>
          <a:solidFill>
            <a:srgbClr val="2DCCD3"/>
          </a:solidFill>
          <a:ln w="12700">
            <a:solidFill>
              <a:srgbClr val="2DCCD3"/>
            </a:solidFill>
            <a:prstDash val="solid"/>
          </a:ln>
        </p:spPr>
      </p:sp>
      <p:sp>
        <p:nvSpPr>
          <p:cNvPr id="24" name="Text 22"/>
          <p:cNvSpPr/>
          <p:nvPr/>
        </p:nvSpPr>
        <p:spPr>
          <a:xfrm>
            <a:off x="82296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5" name="Text 23"/>
          <p:cNvSpPr/>
          <p:nvPr/>
        </p:nvSpPr>
        <p:spPr>
          <a:xfrm>
            <a:off x="1389888" y="4773168"/>
            <a:ext cx="26517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Exception path</a:t>
            </a:r>
            <a:endParaRPr lang="en-US" sz="1400" dirty="0"/>
          </a:p>
        </p:txBody>
      </p:sp>
      <p:sp>
        <p:nvSpPr>
          <p:cNvPr id="26" name="Text 24"/>
          <p:cNvSpPr/>
          <p:nvPr/>
        </p:nvSpPr>
        <p:spPr>
          <a:xfrm>
            <a:off x="4133088" y="4773168"/>
            <a:ext cx="7217359" cy="603504"/>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For tools needing elevated host operations, validate the Run Command or partner workflow and engage support first.</a:t>
            </a:r>
            <a:endParaRPr lang="en-US" sz="1300" dirty="0"/>
          </a:p>
        </p:txBody>
      </p:sp>
      <p:sp>
        <p:nvSpPr>
          <p:cNvPr id="27" name="Shape 25"/>
          <p:cNvSpPr/>
          <p:nvPr/>
        </p:nvSpPr>
        <p:spPr>
          <a:xfrm>
            <a:off x="566928" y="5623560"/>
            <a:ext cx="11057839" cy="658368"/>
          </a:xfrm>
          <a:prstGeom prst="roundRect">
            <a:avLst>
              <a:gd name="adj" fmla="val 12500"/>
            </a:avLst>
          </a:prstGeom>
          <a:solidFill>
            <a:srgbClr val="3E3E4B"/>
          </a:solidFill>
          <a:ln w="12700">
            <a:solidFill>
              <a:srgbClr val="3E3E4B"/>
            </a:solidFill>
            <a:prstDash val="solid"/>
          </a:ln>
        </p:spPr>
      </p:sp>
      <p:sp>
        <p:nvSpPr>
          <p:cNvPr id="28" name="Text 26"/>
          <p:cNvSpPr/>
          <p:nvPr/>
        </p:nvSpPr>
        <p:spPr>
          <a:xfrm>
            <a:off x="795528" y="5678424"/>
            <a:ext cx="10600639"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Operational warning: do not assume Microsoft will approve or deploy custom host agents.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2DCCD3"/>
                </a:solidFill>
                <a:latin typeface="Arial" pitchFamily="34" charset="0"/>
                <a:ea typeface="Arial" pitchFamily="34" charset="-122"/>
                <a:cs typeface="Arial" pitchFamily="34" charset="-120"/>
              </a:rPr>
              <a:t>02</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Capacity and Storage</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The reservations and thresholds that quietly reduce usable capacity.</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2</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Quotas, reservations, and the capacity you do not get</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2531288" cy="4224528"/>
          </a:xfrm>
          <a:prstGeom prst="roundRect">
            <a:avLst>
              <a:gd name="adj" fmla="val 3251"/>
            </a:avLst>
          </a:prstGeom>
          <a:solidFill>
            <a:srgbClr val="E5F7FC"/>
          </a:solidFill>
          <a:ln w="12700">
            <a:solidFill>
              <a:srgbClr val="E5F7FC"/>
            </a:solidFill>
            <a:prstDash val="solid"/>
          </a:ln>
        </p:spPr>
      </p:sp>
      <p:sp>
        <p:nvSpPr>
          <p:cNvPr id="7" name="Shape 5"/>
          <p:cNvSpPr/>
          <p:nvPr/>
        </p:nvSpPr>
        <p:spPr>
          <a:xfrm>
            <a:off x="804672" y="1700784"/>
            <a:ext cx="2055800" cy="54864"/>
          </a:xfrm>
          <a:prstGeom prst="roundRect">
            <a:avLst>
              <a:gd name="adj" fmla="val 50000"/>
            </a:avLst>
          </a:prstGeom>
          <a:solidFill>
            <a:srgbClr val="00B3E2"/>
          </a:solidFill>
          <a:ln w="12700">
            <a:solidFill>
              <a:srgbClr val="00B3E2"/>
            </a:solidFill>
            <a:prstDash val="solid"/>
          </a:ln>
        </p:spPr>
      </p:sp>
      <p:sp>
        <p:nvSpPr>
          <p:cNvPr id="8" name="Text 6"/>
          <p:cNvSpPr/>
          <p:nvPr/>
        </p:nvSpPr>
        <p:spPr>
          <a:xfrm>
            <a:off x="804672" y="1883664"/>
            <a:ext cx="2055800" cy="566928"/>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Host quota lead time</a:t>
            </a:r>
            <a:endParaRPr lang="en-US" sz="1500" dirty="0"/>
          </a:p>
        </p:txBody>
      </p:sp>
      <p:sp>
        <p:nvSpPr>
          <p:cNvPr id="9" name="Text 7"/>
          <p:cNvSpPr/>
          <p:nvPr/>
        </p:nvSpPr>
        <p:spPr>
          <a:xfrm>
            <a:off x="804672" y="2505456"/>
            <a:ext cx="2055800" cy="777240"/>
          </a:xfrm>
          <a:prstGeom prst="rect">
            <a:avLst/>
          </a:prstGeom>
          <a:noFill/>
          <a:ln/>
        </p:spPr>
        <p:txBody>
          <a:bodyPr wrap="square" lIns="0" tIns="0" rIns="0" bIns="0" rtlCol="0" anchor="t"/>
          <a:lstStyle/>
          <a:p>
            <a:pPr indent="0" marL="0">
              <a:buNone/>
            </a:pPr>
            <a:r>
              <a:rPr lang="en-US" sz="1900" b="1" dirty="0">
                <a:solidFill>
                  <a:srgbClr val="00B3E2"/>
                </a:solidFill>
                <a:latin typeface="Arial" pitchFamily="34" charset="0"/>
                <a:ea typeface="Arial" pitchFamily="34" charset="-122"/>
                <a:cs typeface="Arial" pitchFamily="34" charset="-120"/>
              </a:rPr>
              <a:t>Up to five business days</a:t>
            </a:r>
            <a:endParaRPr lang="en-US" sz="1900" dirty="0"/>
          </a:p>
        </p:txBody>
      </p:sp>
      <p:sp>
        <p:nvSpPr>
          <p:cNvPr id="10" name="Text 8"/>
          <p:cNvSpPr/>
          <p:nvPr/>
        </p:nvSpPr>
        <p:spPr>
          <a:xfrm>
            <a:off x="804672" y="3346704"/>
            <a:ext cx="2055800" cy="214884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Request AVS host quota early. Hosts are dedicated bare metal allocated from regional capacity, so do not schedule work that assumes instant availability.</a:t>
            </a:r>
            <a:endParaRPr lang="en-US" sz="1250" dirty="0"/>
          </a:p>
        </p:txBody>
      </p:sp>
      <p:sp>
        <p:nvSpPr>
          <p:cNvPr id="11" name="Shape 9"/>
          <p:cNvSpPr/>
          <p:nvPr/>
        </p:nvSpPr>
        <p:spPr>
          <a:xfrm>
            <a:off x="3409112" y="1481328"/>
            <a:ext cx="2531288" cy="4224528"/>
          </a:xfrm>
          <a:prstGeom prst="roundRect">
            <a:avLst>
              <a:gd name="adj" fmla="val 3251"/>
            </a:avLst>
          </a:prstGeom>
          <a:solidFill>
            <a:srgbClr val="E5F7FC"/>
          </a:solidFill>
          <a:ln w="12700">
            <a:solidFill>
              <a:srgbClr val="E5F7FC"/>
            </a:solidFill>
            <a:prstDash val="solid"/>
          </a:ln>
        </p:spPr>
      </p:sp>
      <p:sp>
        <p:nvSpPr>
          <p:cNvPr id="12" name="Shape 10"/>
          <p:cNvSpPr/>
          <p:nvPr/>
        </p:nvSpPr>
        <p:spPr>
          <a:xfrm>
            <a:off x="3646856" y="1700784"/>
            <a:ext cx="2055800" cy="54864"/>
          </a:xfrm>
          <a:prstGeom prst="roundRect">
            <a:avLst>
              <a:gd name="adj" fmla="val 50000"/>
            </a:avLst>
          </a:prstGeom>
          <a:solidFill>
            <a:srgbClr val="2DCCD3"/>
          </a:solidFill>
          <a:ln w="12700">
            <a:solidFill>
              <a:srgbClr val="2DCCD3"/>
            </a:solidFill>
            <a:prstDash val="solid"/>
          </a:ln>
        </p:spPr>
      </p:sp>
      <p:sp>
        <p:nvSpPr>
          <p:cNvPr id="13" name="Text 11"/>
          <p:cNvSpPr/>
          <p:nvPr/>
        </p:nvSpPr>
        <p:spPr>
          <a:xfrm>
            <a:off x="3646856" y="1883664"/>
            <a:ext cx="2055800" cy="566928"/>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Management resource pool</a:t>
            </a:r>
            <a:endParaRPr lang="en-US" sz="1500" dirty="0"/>
          </a:p>
        </p:txBody>
      </p:sp>
      <p:sp>
        <p:nvSpPr>
          <p:cNvPr id="14" name="Text 12"/>
          <p:cNvSpPr/>
          <p:nvPr/>
        </p:nvSpPr>
        <p:spPr>
          <a:xfrm>
            <a:off x="3646856" y="2505456"/>
            <a:ext cx="2055800" cy="777240"/>
          </a:xfrm>
          <a:prstGeom prst="rect">
            <a:avLst/>
          </a:prstGeom>
          <a:noFill/>
          <a:ln/>
        </p:spPr>
        <p:txBody>
          <a:bodyPr wrap="square" lIns="0" tIns="0" rIns="0" bIns="0" rtlCol="0" anchor="t"/>
          <a:lstStyle/>
          <a:p>
            <a:pPr indent="0" marL="0">
              <a:buNone/>
            </a:pPr>
            <a:r>
              <a:rPr lang="en-US" sz="1900" b="1" dirty="0">
                <a:solidFill>
                  <a:srgbClr val="2DCCD3"/>
                </a:solidFill>
                <a:latin typeface="Arial" pitchFamily="34" charset="0"/>
                <a:ea typeface="Arial" pitchFamily="34" charset="-122"/>
                <a:cs typeface="Arial" pitchFamily="34" charset="-120"/>
              </a:rPr>
              <a:t>46 GHz CPU, 171.88 GB RAM</a:t>
            </a:r>
            <a:endParaRPr lang="en-US" sz="1900" dirty="0"/>
          </a:p>
        </p:txBody>
      </p:sp>
      <p:sp>
        <p:nvSpPr>
          <p:cNvPr id="15" name="Text 13"/>
          <p:cNvSpPr/>
          <p:nvPr/>
        </p:nvSpPr>
        <p:spPr>
          <a:xfrm>
            <a:off x="3646856" y="3346704"/>
            <a:ext cx="2055800" cy="214884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AVS creates MGMT-ResourcePool for vCenter, NSX appliances, ESXi system usage, and add-ons such as HCX. The reservation cannot be changed.</a:t>
            </a:r>
            <a:endParaRPr lang="en-US" sz="1250" dirty="0"/>
          </a:p>
        </p:txBody>
      </p:sp>
      <p:sp>
        <p:nvSpPr>
          <p:cNvPr id="16" name="Shape 14"/>
          <p:cNvSpPr/>
          <p:nvPr/>
        </p:nvSpPr>
        <p:spPr>
          <a:xfrm>
            <a:off x="6251296" y="1481328"/>
            <a:ext cx="2531288" cy="4224528"/>
          </a:xfrm>
          <a:prstGeom prst="roundRect">
            <a:avLst>
              <a:gd name="adj" fmla="val 3251"/>
            </a:avLst>
          </a:prstGeom>
          <a:solidFill>
            <a:srgbClr val="E5F7FC"/>
          </a:solidFill>
          <a:ln w="12700">
            <a:solidFill>
              <a:srgbClr val="E5F7FC"/>
            </a:solidFill>
            <a:prstDash val="solid"/>
          </a:ln>
        </p:spPr>
      </p:sp>
      <p:sp>
        <p:nvSpPr>
          <p:cNvPr id="17" name="Shape 15"/>
          <p:cNvSpPr/>
          <p:nvPr/>
        </p:nvSpPr>
        <p:spPr>
          <a:xfrm>
            <a:off x="6489040" y="1700784"/>
            <a:ext cx="2055800" cy="54864"/>
          </a:xfrm>
          <a:prstGeom prst="roundRect">
            <a:avLst>
              <a:gd name="adj" fmla="val 50000"/>
            </a:avLst>
          </a:prstGeom>
          <a:solidFill>
            <a:srgbClr val="00AD93"/>
          </a:solidFill>
          <a:ln w="12700">
            <a:solidFill>
              <a:srgbClr val="00AD93"/>
            </a:solidFill>
            <a:prstDash val="solid"/>
          </a:ln>
        </p:spPr>
      </p:sp>
      <p:sp>
        <p:nvSpPr>
          <p:cNvPr id="18" name="Text 16"/>
          <p:cNvSpPr/>
          <p:nvPr/>
        </p:nvSpPr>
        <p:spPr>
          <a:xfrm>
            <a:off x="6489040" y="1883664"/>
            <a:ext cx="2055800" cy="566928"/>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High availability reserve</a:t>
            </a:r>
            <a:endParaRPr lang="en-US" sz="1500" dirty="0"/>
          </a:p>
        </p:txBody>
      </p:sp>
      <p:sp>
        <p:nvSpPr>
          <p:cNvPr id="19" name="Text 17"/>
          <p:cNvSpPr/>
          <p:nvPr/>
        </p:nvSpPr>
        <p:spPr>
          <a:xfrm>
            <a:off x="6489040" y="2505456"/>
            <a:ext cx="2055800" cy="777240"/>
          </a:xfrm>
          <a:prstGeom prst="rect">
            <a:avLst/>
          </a:prstGeom>
          <a:noFill/>
          <a:ln/>
        </p:spPr>
        <p:txBody>
          <a:bodyPr wrap="square" lIns="0" tIns="0" rIns="0" bIns="0" rtlCol="0" anchor="t"/>
          <a:lstStyle/>
          <a:p>
            <a:pPr indent="0" marL="0">
              <a:buNone/>
            </a:pPr>
            <a:r>
              <a:rPr lang="en-US" sz="1900" b="1" dirty="0">
                <a:solidFill>
                  <a:srgbClr val="00AD93"/>
                </a:solidFill>
                <a:latin typeface="Arial" pitchFamily="34" charset="0"/>
                <a:ea typeface="Arial" pitchFamily="34" charset="-122"/>
                <a:cs typeface="Arial" pitchFamily="34" charset="-120"/>
              </a:rPr>
              <a:t>One node in a three-node cluster</a:t>
            </a:r>
            <a:endParaRPr lang="en-US" sz="1900" dirty="0"/>
          </a:p>
        </p:txBody>
      </p:sp>
      <p:sp>
        <p:nvSpPr>
          <p:cNvPr id="20" name="Text 18"/>
          <p:cNvSpPr/>
          <p:nvPr/>
        </p:nvSpPr>
        <p:spPr>
          <a:xfrm>
            <a:off x="6489040" y="3346704"/>
            <a:ext cx="2055800" cy="214884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One node of resources is held for node failure. Stretched clusters use an N+2 percentage-based admission control policy instead.</a:t>
            </a:r>
            <a:endParaRPr lang="en-US" sz="1250" dirty="0"/>
          </a:p>
        </p:txBody>
      </p:sp>
      <p:sp>
        <p:nvSpPr>
          <p:cNvPr id="21" name="Shape 19"/>
          <p:cNvSpPr/>
          <p:nvPr/>
        </p:nvSpPr>
        <p:spPr>
          <a:xfrm>
            <a:off x="9093479" y="1481328"/>
            <a:ext cx="2531288" cy="4224528"/>
          </a:xfrm>
          <a:prstGeom prst="roundRect">
            <a:avLst>
              <a:gd name="adj" fmla="val 3251"/>
            </a:avLst>
          </a:prstGeom>
          <a:solidFill>
            <a:srgbClr val="E5F7FC"/>
          </a:solidFill>
          <a:ln w="12700">
            <a:solidFill>
              <a:srgbClr val="E5F7FC"/>
            </a:solidFill>
            <a:prstDash val="solid"/>
          </a:ln>
        </p:spPr>
      </p:sp>
      <p:sp>
        <p:nvSpPr>
          <p:cNvPr id="22" name="Shape 20"/>
          <p:cNvSpPr/>
          <p:nvPr/>
        </p:nvSpPr>
        <p:spPr>
          <a:xfrm>
            <a:off x="9331223" y="1700784"/>
            <a:ext cx="2055800" cy="54864"/>
          </a:xfrm>
          <a:prstGeom prst="roundRect">
            <a:avLst>
              <a:gd name="adj" fmla="val 50000"/>
            </a:avLst>
          </a:prstGeom>
          <a:solidFill>
            <a:srgbClr val="F15D23"/>
          </a:solidFill>
          <a:ln w="12700">
            <a:solidFill>
              <a:srgbClr val="F15D23"/>
            </a:solidFill>
            <a:prstDash val="solid"/>
          </a:ln>
        </p:spPr>
      </p:sp>
      <p:sp>
        <p:nvSpPr>
          <p:cNvPr id="23" name="Text 21"/>
          <p:cNvSpPr/>
          <p:nvPr/>
        </p:nvSpPr>
        <p:spPr>
          <a:xfrm>
            <a:off x="9331223" y="1883664"/>
            <a:ext cx="2055800" cy="566928"/>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vSAN slack space</a:t>
            </a:r>
            <a:endParaRPr lang="en-US" sz="1500" dirty="0"/>
          </a:p>
        </p:txBody>
      </p:sp>
      <p:sp>
        <p:nvSpPr>
          <p:cNvPr id="24" name="Text 22"/>
          <p:cNvSpPr/>
          <p:nvPr/>
        </p:nvSpPr>
        <p:spPr>
          <a:xfrm>
            <a:off x="9331223" y="2505456"/>
            <a:ext cx="2055800" cy="777240"/>
          </a:xfrm>
          <a:prstGeom prst="rect">
            <a:avLst/>
          </a:prstGeom>
          <a:noFill/>
          <a:ln/>
        </p:spPr>
        <p:txBody>
          <a:bodyPr wrap="square" lIns="0" tIns="0" rIns="0" bIns="0" rtlCol="0" anchor="t"/>
          <a:lstStyle/>
          <a:p>
            <a:pPr indent="0" marL="0">
              <a:buNone/>
            </a:pPr>
            <a:r>
              <a:rPr lang="en-US" sz="1900" b="1" dirty="0">
                <a:solidFill>
                  <a:srgbClr val="F15D23"/>
                </a:solidFill>
                <a:latin typeface="Arial" pitchFamily="34" charset="0"/>
                <a:ea typeface="Arial" pitchFamily="34" charset="-122"/>
                <a:cs typeface="Arial" pitchFamily="34" charset="-120"/>
              </a:rPr>
              <a:t>25 percent kept free</a:t>
            </a:r>
            <a:endParaRPr lang="en-US" sz="1900" dirty="0"/>
          </a:p>
        </p:txBody>
      </p:sp>
      <p:sp>
        <p:nvSpPr>
          <p:cNvPr id="25" name="Text 23"/>
          <p:cNvSpPr/>
          <p:nvPr/>
        </p:nvSpPr>
        <p:spPr>
          <a:xfrm>
            <a:off x="9331223" y="3346704"/>
            <a:ext cx="2055800" cy="214884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Utilization is limited to 75 percent of usable capacity. Above that is an error condition that can degrade performance and block maintenance.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2</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Worked example: what three AV36 hosts actually give you</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554480"/>
            <a:ext cx="2490140" cy="2148840"/>
          </a:xfrm>
          <a:prstGeom prst="roundRect">
            <a:avLst>
              <a:gd name="adj" fmla="val 3830"/>
            </a:avLst>
          </a:prstGeom>
          <a:solidFill>
            <a:srgbClr val="E5F7FC"/>
          </a:solidFill>
          <a:ln w="12700">
            <a:solidFill>
              <a:srgbClr val="E5F7FC"/>
            </a:solidFill>
            <a:prstDash val="solid"/>
          </a:ln>
        </p:spPr>
      </p:sp>
      <p:sp>
        <p:nvSpPr>
          <p:cNvPr id="7" name="Text 5"/>
          <p:cNvSpPr/>
          <p:nvPr/>
        </p:nvSpPr>
        <p:spPr>
          <a:xfrm>
            <a:off x="795528" y="1737360"/>
            <a:ext cx="2032940" cy="384048"/>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3 x 576 GB</a:t>
            </a:r>
            <a:endParaRPr lang="en-US" sz="1600" dirty="0"/>
          </a:p>
        </p:txBody>
      </p:sp>
      <p:sp>
        <p:nvSpPr>
          <p:cNvPr id="8" name="Text 6"/>
          <p:cNvSpPr/>
          <p:nvPr/>
        </p:nvSpPr>
        <p:spPr>
          <a:xfrm>
            <a:off x="795528" y="2139696"/>
            <a:ext cx="2032940" cy="658368"/>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Raw memory</a:t>
            </a:r>
            <a:endParaRPr lang="en-US" sz="1250" dirty="0"/>
          </a:p>
        </p:txBody>
      </p:sp>
      <p:sp>
        <p:nvSpPr>
          <p:cNvPr id="9" name="Text 7"/>
          <p:cNvSpPr/>
          <p:nvPr/>
        </p:nvSpPr>
        <p:spPr>
          <a:xfrm>
            <a:off x="795528" y="2852928"/>
            <a:ext cx="2032940" cy="640080"/>
          </a:xfrm>
          <a:prstGeom prst="rect">
            <a:avLst/>
          </a:prstGeom>
          <a:noFill/>
          <a:ln/>
        </p:spPr>
        <p:txBody>
          <a:bodyPr wrap="square" lIns="0" tIns="0" rIns="0" bIns="0" rtlCol="0" anchor="t"/>
          <a:lstStyle/>
          <a:p>
            <a:pPr indent="0" marL="0">
              <a:buNone/>
            </a:pPr>
            <a:r>
              <a:rPr lang="en-US" sz="2000" b="1" dirty="0">
                <a:solidFill>
                  <a:srgbClr val="3E3E4B"/>
                </a:solidFill>
                <a:latin typeface="Arial" pitchFamily="34" charset="0"/>
                <a:ea typeface="Arial" pitchFamily="34" charset="-122"/>
                <a:cs typeface="Arial" pitchFamily="34" charset="-120"/>
              </a:rPr>
              <a:t>1,728 GB</a:t>
            </a:r>
            <a:endParaRPr lang="en-US" sz="2000" dirty="0"/>
          </a:p>
        </p:txBody>
      </p:sp>
      <p:sp>
        <p:nvSpPr>
          <p:cNvPr id="10" name="Text 8"/>
          <p:cNvSpPr/>
          <p:nvPr/>
        </p:nvSpPr>
        <p:spPr>
          <a:xfrm>
            <a:off x="3093644" y="2395728"/>
            <a:ext cx="292608" cy="365760"/>
          </a:xfrm>
          <a:prstGeom prst="rect">
            <a:avLst/>
          </a:prstGeom>
          <a:noFill/>
          <a:ln/>
        </p:spPr>
        <p:txBody>
          <a:bodyPr wrap="square" lIns="0" tIns="0" rIns="0" bIns="0" rtlCol="0" anchor="ctr"/>
          <a:lstStyle/>
          <a:p>
            <a:pPr algn="ctr" indent="0" marL="0">
              <a:buNone/>
            </a:pPr>
            <a:r>
              <a:rPr lang="en-US" sz="2000" b="1" dirty="0">
                <a:solidFill>
                  <a:srgbClr val="8DB9D9"/>
                </a:solidFill>
                <a:latin typeface="Arial" pitchFamily="34" charset="0"/>
                <a:ea typeface="Arial" pitchFamily="34" charset="-122"/>
                <a:cs typeface="Arial" pitchFamily="34" charset="-120"/>
              </a:rPr>
              <a:t>&gt;</a:t>
            </a:r>
            <a:endParaRPr lang="en-US" sz="2000" dirty="0"/>
          </a:p>
        </p:txBody>
      </p:sp>
      <p:sp>
        <p:nvSpPr>
          <p:cNvPr id="11" name="Shape 9"/>
          <p:cNvSpPr/>
          <p:nvPr/>
        </p:nvSpPr>
        <p:spPr>
          <a:xfrm>
            <a:off x="3422828" y="1554480"/>
            <a:ext cx="2490140" cy="2148840"/>
          </a:xfrm>
          <a:prstGeom prst="roundRect">
            <a:avLst>
              <a:gd name="adj" fmla="val 3830"/>
            </a:avLst>
          </a:prstGeom>
          <a:solidFill>
            <a:srgbClr val="EBEDED"/>
          </a:solidFill>
          <a:ln w="12700">
            <a:solidFill>
              <a:srgbClr val="EBEDED"/>
            </a:solidFill>
            <a:prstDash val="solid"/>
          </a:ln>
        </p:spPr>
      </p:sp>
      <p:sp>
        <p:nvSpPr>
          <p:cNvPr id="12" name="Text 10"/>
          <p:cNvSpPr/>
          <p:nvPr/>
        </p:nvSpPr>
        <p:spPr>
          <a:xfrm>
            <a:off x="3651428" y="1737360"/>
            <a:ext cx="2032940" cy="384048"/>
          </a:xfrm>
          <a:prstGeom prst="rect">
            <a:avLst/>
          </a:prstGeom>
          <a:noFill/>
          <a:ln/>
        </p:spPr>
        <p:txBody>
          <a:bodyPr wrap="square" lIns="0" tIns="0" rIns="0" bIns="0" rtlCol="0" anchor="ctr"/>
          <a:lstStyle/>
          <a:p>
            <a:pPr indent="0" marL="0">
              <a:buNone/>
            </a:pPr>
            <a:r>
              <a:rPr lang="en-US" sz="1600" b="1" dirty="0">
                <a:solidFill>
                  <a:srgbClr val="2DCCD3"/>
                </a:solidFill>
                <a:latin typeface="Arial" pitchFamily="34" charset="0"/>
                <a:ea typeface="Arial" pitchFamily="34" charset="-122"/>
                <a:cs typeface="Arial" pitchFamily="34" charset="-120"/>
              </a:rPr>
              <a:t>minus 172 GB</a:t>
            </a:r>
            <a:endParaRPr lang="en-US" sz="1600" dirty="0"/>
          </a:p>
        </p:txBody>
      </p:sp>
      <p:sp>
        <p:nvSpPr>
          <p:cNvPr id="13" name="Text 11"/>
          <p:cNvSpPr/>
          <p:nvPr/>
        </p:nvSpPr>
        <p:spPr>
          <a:xfrm>
            <a:off x="3651428" y="2139696"/>
            <a:ext cx="2032940" cy="658368"/>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Management reservation</a:t>
            </a:r>
            <a:endParaRPr lang="en-US" sz="1250" dirty="0"/>
          </a:p>
        </p:txBody>
      </p:sp>
      <p:sp>
        <p:nvSpPr>
          <p:cNvPr id="14" name="Text 12"/>
          <p:cNvSpPr/>
          <p:nvPr/>
        </p:nvSpPr>
        <p:spPr>
          <a:xfrm>
            <a:off x="3651428" y="2852928"/>
            <a:ext cx="2032940" cy="640080"/>
          </a:xfrm>
          <a:prstGeom prst="rect">
            <a:avLst/>
          </a:prstGeom>
          <a:noFill/>
          <a:ln/>
        </p:spPr>
        <p:txBody>
          <a:bodyPr wrap="square" lIns="0" tIns="0" rIns="0" bIns="0" rtlCol="0" anchor="t"/>
          <a:lstStyle/>
          <a:p>
            <a:pPr indent="0" marL="0">
              <a:buNone/>
            </a:pPr>
            <a:r>
              <a:rPr lang="en-US" sz="2000" b="1" dirty="0">
                <a:solidFill>
                  <a:srgbClr val="3E3E4B"/>
                </a:solidFill>
                <a:latin typeface="Arial" pitchFamily="34" charset="0"/>
                <a:ea typeface="Arial" pitchFamily="34" charset="-122"/>
                <a:cs typeface="Arial" pitchFamily="34" charset="-120"/>
              </a:rPr>
              <a:t>1,556 GB</a:t>
            </a:r>
            <a:endParaRPr lang="en-US" sz="2000" dirty="0"/>
          </a:p>
        </p:txBody>
      </p:sp>
      <p:sp>
        <p:nvSpPr>
          <p:cNvPr id="15" name="Text 13"/>
          <p:cNvSpPr/>
          <p:nvPr/>
        </p:nvSpPr>
        <p:spPr>
          <a:xfrm>
            <a:off x="5949544" y="2395728"/>
            <a:ext cx="292608" cy="365760"/>
          </a:xfrm>
          <a:prstGeom prst="rect">
            <a:avLst/>
          </a:prstGeom>
          <a:noFill/>
          <a:ln/>
        </p:spPr>
        <p:txBody>
          <a:bodyPr wrap="square" lIns="0" tIns="0" rIns="0" bIns="0" rtlCol="0" anchor="ctr"/>
          <a:lstStyle/>
          <a:p>
            <a:pPr algn="ctr" indent="0" marL="0">
              <a:buNone/>
            </a:pPr>
            <a:r>
              <a:rPr lang="en-US" sz="2000" b="1" dirty="0">
                <a:solidFill>
                  <a:srgbClr val="8DB9D9"/>
                </a:solidFill>
                <a:latin typeface="Arial" pitchFamily="34" charset="0"/>
                <a:ea typeface="Arial" pitchFamily="34" charset="-122"/>
                <a:cs typeface="Arial" pitchFamily="34" charset="-120"/>
              </a:rPr>
              <a:t>&gt;</a:t>
            </a:r>
            <a:endParaRPr lang="en-US" sz="2000" dirty="0"/>
          </a:p>
        </p:txBody>
      </p:sp>
      <p:sp>
        <p:nvSpPr>
          <p:cNvPr id="16" name="Shape 14"/>
          <p:cNvSpPr/>
          <p:nvPr/>
        </p:nvSpPr>
        <p:spPr>
          <a:xfrm>
            <a:off x="6278728" y="1554480"/>
            <a:ext cx="2490140" cy="2148840"/>
          </a:xfrm>
          <a:prstGeom prst="roundRect">
            <a:avLst>
              <a:gd name="adj" fmla="val 3830"/>
            </a:avLst>
          </a:prstGeom>
          <a:solidFill>
            <a:srgbClr val="EBEDED"/>
          </a:solidFill>
          <a:ln w="12700">
            <a:solidFill>
              <a:srgbClr val="EBEDED"/>
            </a:solidFill>
            <a:prstDash val="solid"/>
          </a:ln>
        </p:spPr>
      </p:sp>
      <p:sp>
        <p:nvSpPr>
          <p:cNvPr id="17" name="Text 15"/>
          <p:cNvSpPr/>
          <p:nvPr/>
        </p:nvSpPr>
        <p:spPr>
          <a:xfrm>
            <a:off x="6507328" y="1737360"/>
            <a:ext cx="2032940" cy="384048"/>
          </a:xfrm>
          <a:prstGeom prst="rect">
            <a:avLst/>
          </a:prstGeom>
          <a:noFill/>
          <a:ln/>
        </p:spPr>
        <p:txBody>
          <a:bodyPr wrap="square" lIns="0" tIns="0" rIns="0" bIns="0" rtlCol="0" anchor="ctr"/>
          <a:lstStyle/>
          <a:p>
            <a:pPr indent="0" marL="0">
              <a:buNone/>
            </a:pPr>
            <a:r>
              <a:rPr lang="en-US" sz="1600" b="1" dirty="0">
                <a:solidFill>
                  <a:srgbClr val="F15D23"/>
                </a:solidFill>
                <a:latin typeface="Arial" pitchFamily="34" charset="0"/>
                <a:ea typeface="Arial" pitchFamily="34" charset="-122"/>
                <a:cs typeface="Arial" pitchFamily="34" charset="-120"/>
              </a:rPr>
              <a:t>minus HA reserve</a:t>
            </a:r>
            <a:endParaRPr lang="en-US" sz="1600" dirty="0"/>
          </a:p>
        </p:txBody>
      </p:sp>
      <p:sp>
        <p:nvSpPr>
          <p:cNvPr id="18" name="Text 16"/>
          <p:cNvSpPr/>
          <p:nvPr/>
        </p:nvSpPr>
        <p:spPr>
          <a:xfrm>
            <a:off x="6507328" y="2139696"/>
            <a:ext cx="2032940" cy="658368"/>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One node held for failure</a:t>
            </a:r>
            <a:endParaRPr lang="en-US" sz="1250" dirty="0"/>
          </a:p>
        </p:txBody>
      </p:sp>
      <p:sp>
        <p:nvSpPr>
          <p:cNvPr id="19" name="Text 17"/>
          <p:cNvSpPr/>
          <p:nvPr/>
        </p:nvSpPr>
        <p:spPr>
          <a:xfrm>
            <a:off x="6507328" y="2852928"/>
            <a:ext cx="2032940" cy="640080"/>
          </a:xfrm>
          <a:prstGeom prst="rect">
            <a:avLst/>
          </a:prstGeom>
          <a:noFill/>
          <a:ln/>
        </p:spPr>
        <p:txBody>
          <a:bodyPr wrap="square" lIns="0" tIns="0" rIns="0" bIns="0" rtlCol="0" anchor="t"/>
          <a:lstStyle/>
          <a:p>
            <a:pPr indent="0" marL="0">
              <a:buNone/>
            </a:pPr>
            <a:r>
              <a:rPr lang="en-US" sz="2000" b="1" dirty="0">
                <a:solidFill>
                  <a:srgbClr val="3E3E4B"/>
                </a:solidFill>
                <a:latin typeface="Arial" pitchFamily="34" charset="0"/>
                <a:ea typeface="Arial" pitchFamily="34" charset="-122"/>
                <a:cs typeface="Arial" pitchFamily="34" charset="-120"/>
              </a:rPr>
              <a:t>Roughly one host less</a:t>
            </a:r>
            <a:endParaRPr lang="en-US" sz="2000" dirty="0"/>
          </a:p>
        </p:txBody>
      </p:sp>
      <p:sp>
        <p:nvSpPr>
          <p:cNvPr id="20" name="Text 18"/>
          <p:cNvSpPr/>
          <p:nvPr/>
        </p:nvSpPr>
        <p:spPr>
          <a:xfrm>
            <a:off x="8805443" y="2395728"/>
            <a:ext cx="292608" cy="365760"/>
          </a:xfrm>
          <a:prstGeom prst="rect">
            <a:avLst/>
          </a:prstGeom>
          <a:noFill/>
          <a:ln/>
        </p:spPr>
        <p:txBody>
          <a:bodyPr wrap="square" lIns="0" tIns="0" rIns="0" bIns="0" rtlCol="0" anchor="ctr"/>
          <a:lstStyle/>
          <a:p>
            <a:pPr algn="ctr" indent="0" marL="0">
              <a:buNone/>
            </a:pPr>
            <a:r>
              <a:rPr lang="en-US" sz="2000" b="1" dirty="0">
                <a:solidFill>
                  <a:srgbClr val="8DB9D9"/>
                </a:solidFill>
                <a:latin typeface="Arial" pitchFamily="34" charset="0"/>
                <a:ea typeface="Arial" pitchFamily="34" charset="-122"/>
                <a:cs typeface="Arial" pitchFamily="34" charset="-120"/>
              </a:rPr>
              <a:t>&gt;</a:t>
            </a:r>
            <a:endParaRPr lang="en-US" sz="2000" dirty="0"/>
          </a:p>
        </p:txBody>
      </p:sp>
      <p:sp>
        <p:nvSpPr>
          <p:cNvPr id="21" name="Shape 19"/>
          <p:cNvSpPr/>
          <p:nvPr/>
        </p:nvSpPr>
        <p:spPr>
          <a:xfrm>
            <a:off x="9134627" y="1554480"/>
            <a:ext cx="2490140" cy="2148840"/>
          </a:xfrm>
          <a:prstGeom prst="roundRect">
            <a:avLst>
              <a:gd name="adj" fmla="val 3830"/>
            </a:avLst>
          </a:prstGeom>
          <a:solidFill>
            <a:srgbClr val="EBEDED"/>
          </a:solidFill>
          <a:ln w="12700">
            <a:solidFill>
              <a:srgbClr val="EBEDED"/>
            </a:solidFill>
            <a:prstDash val="solid"/>
          </a:ln>
        </p:spPr>
      </p:sp>
      <p:sp>
        <p:nvSpPr>
          <p:cNvPr id="22" name="Text 20"/>
          <p:cNvSpPr/>
          <p:nvPr/>
        </p:nvSpPr>
        <p:spPr>
          <a:xfrm>
            <a:off x="9363227" y="1737360"/>
            <a:ext cx="2032940" cy="384048"/>
          </a:xfrm>
          <a:prstGeom prst="rect">
            <a:avLst/>
          </a:prstGeom>
          <a:noFill/>
          <a:ln/>
        </p:spPr>
        <p:txBody>
          <a:bodyPr wrap="square" lIns="0" tIns="0" rIns="0" bIns="0" rtlCol="0" anchor="ctr"/>
          <a:lstStyle/>
          <a:p>
            <a:pPr indent="0" marL="0">
              <a:buNone/>
            </a:pPr>
            <a:r>
              <a:rPr lang="en-US" sz="1600" b="1" dirty="0">
                <a:solidFill>
                  <a:srgbClr val="AD1AAC"/>
                </a:solidFill>
                <a:latin typeface="Arial" pitchFamily="34" charset="0"/>
                <a:ea typeface="Arial" pitchFamily="34" charset="-122"/>
                <a:cs typeface="Arial" pitchFamily="34" charset="-120"/>
              </a:rPr>
              <a:t>minus overhead</a:t>
            </a:r>
            <a:endParaRPr lang="en-US" sz="1600" dirty="0"/>
          </a:p>
        </p:txBody>
      </p:sp>
      <p:sp>
        <p:nvSpPr>
          <p:cNvPr id="23" name="Text 21"/>
          <p:cNvSpPr/>
          <p:nvPr/>
        </p:nvSpPr>
        <p:spPr>
          <a:xfrm>
            <a:off x="9363227" y="2139696"/>
            <a:ext cx="2032940" cy="658368"/>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Storage policy and workload overhead</a:t>
            </a:r>
            <a:endParaRPr lang="en-US" sz="1250" dirty="0"/>
          </a:p>
        </p:txBody>
      </p:sp>
      <p:sp>
        <p:nvSpPr>
          <p:cNvPr id="24" name="Text 22"/>
          <p:cNvSpPr/>
          <p:nvPr/>
        </p:nvSpPr>
        <p:spPr>
          <a:xfrm>
            <a:off x="9363227" y="2852928"/>
            <a:ext cx="2032940" cy="640080"/>
          </a:xfrm>
          <a:prstGeom prst="rect">
            <a:avLst/>
          </a:prstGeom>
          <a:noFill/>
          <a:ln/>
        </p:spPr>
        <p:txBody>
          <a:bodyPr wrap="square" lIns="0" tIns="0" rIns="0" bIns="0" rtlCol="0" anchor="t"/>
          <a:lstStyle/>
          <a:p>
            <a:pPr indent="0" marL="0">
              <a:buNone/>
            </a:pPr>
            <a:r>
              <a:rPr lang="en-US" sz="2000" b="1" dirty="0">
                <a:solidFill>
                  <a:srgbClr val="3E3E4B"/>
                </a:solidFill>
                <a:latin typeface="Arial" pitchFamily="34" charset="0"/>
                <a:ea typeface="Arial" pitchFamily="34" charset="-122"/>
                <a:cs typeface="Arial" pitchFamily="34" charset="-120"/>
              </a:rPr>
              <a:t>Lower still</a:t>
            </a:r>
            <a:endParaRPr lang="en-US" sz="2000" dirty="0"/>
          </a:p>
        </p:txBody>
      </p:sp>
      <p:sp>
        <p:nvSpPr>
          <p:cNvPr id="25" name="Shape 23"/>
          <p:cNvSpPr/>
          <p:nvPr/>
        </p:nvSpPr>
        <p:spPr>
          <a:xfrm>
            <a:off x="566928" y="3977640"/>
            <a:ext cx="11057839" cy="1783080"/>
          </a:xfrm>
          <a:prstGeom prst="roundRect">
            <a:avLst>
              <a:gd name="adj" fmla="val 4615"/>
            </a:avLst>
          </a:prstGeom>
          <a:solidFill>
            <a:srgbClr val="3E3E4B"/>
          </a:solidFill>
          <a:ln w="12700">
            <a:solidFill>
              <a:srgbClr val="3E3E4B"/>
            </a:solidFill>
            <a:prstDash val="solid"/>
          </a:ln>
        </p:spPr>
      </p:sp>
      <p:sp>
        <p:nvSpPr>
          <p:cNvPr id="26" name="Text 24"/>
          <p:cNvSpPr/>
          <p:nvPr/>
        </p:nvSpPr>
        <p:spPr>
          <a:xfrm>
            <a:off x="886968" y="4133088"/>
            <a:ext cx="10417759" cy="310896"/>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How to present this</a:t>
            </a:r>
            <a:endParaRPr lang="en-US" sz="1600" dirty="0"/>
          </a:p>
        </p:txBody>
      </p:sp>
      <p:sp>
        <p:nvSpPr>
          <p:cNvPr id="27" name="Text 25"/>
          <p:cNvSpPr/>
          <p:nvPr/>
        </p:nvSpPr>
        <p:spPr>
          <a:xfrm>
            <a:off x="886968" y="4462272"/>
            <a:ext cx="10417759" cy="118872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The client does not receive all purchased RAM. Management appliances consume reserved capacity first.</a:t>
            </a:r>
            <a:endParaRPr lang="en-US" sz="1350" dirty="0"/>
          </a:p>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Real usable capacity also depends on HA reserve, workload overhead, storage policy, and cluster configuration.</a:t>
            </a:r>
            <a:endParaRPr lang="en-US" sz="1350" dirty="0"/>
          </a:p>
          <a:p>
            <a:pPr marL="203200" indent="-2032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Set this expectation before purchase approval, not after the first capacity review.</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2</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vSAN storage design and failure tolerance</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103120"/>
                <a:gridCol w="3017520"/>
                <a:gridCol w="2377440"/>
                <a:gridCol w="3559759"/>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Cluster size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Policy example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Protection</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Capacity impact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r>
              <a:tr h="54864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3 hosts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Default RAID-1, FTT-1</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Tolerates one failure</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Roughly 2x data-component capacity before overhead</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r h="54864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4 or more hosts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RAID-5, FTT-1 where supported</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Tolerates one failure</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Erasure coding is more capacity efficient than RAID-1</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r>
              <a:tr h="54864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More than 6 hosts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RAID-6, FTT-2 where supported</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Tolerates two failures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More efficient than RAID-1 FTT-2 for the same protection</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bl>
          </a:graphicData>
        </a:graphic>
      </p:graphicFrame>
      <p:sp>
        <p:nvSpPr>
          <p:cNvPr id="7" name="Shape 4"/>
          <p:cNvSpPr/>
          <p:nvPr/>
        </p:nvSpPr>
        <p:spPr>
          <a:xfrm>
            <a:off x="566928" y="3794760"/>
            <a:ext cx="6309360" cy="1965960"/>
          </a:xfrm>
          <a:prstGeom prst="roundRect">
            <a:avLst>
              <a:gd name="adj" fmla="val 4186"/>
            </a:avLst>
          </a:prstGeom>
          <a:solidFill>
            <a:srgbClr val="E5F7FC"/>
          </a:solidFill>
          <a:ln w="12700">
            <a:solidFill>
              <a:srgbClr val="E5F7FC"/>
            </a:solidFill>
            <a:prstDash val="solid"/>
          </a:ln>
        </p:spPr>
      </p:sp>
      <p:sp>
        <p:nvSpPr>
          <p:cNvPr id="8" name="Text 5"/>
          <p:cNvSpPr/>
          <p:nvPr/>
        </p:nvSpPr>
        <p:spPr>
          <a:xfrm>
            <a:off x="822960" y="3950208"/>
            <a:ext cx="5760720" cy="292608"/>
          </a:xfrm>
          <a:prstGeom prst="rect">
            <a:avLst/>
          </a:prstGeom>
          <a:noFill/>
          <a:ln/>
        </p:spPr>
        <p:txBody>
          <a:bodyPr wrap="square" lIns="0" tIns="0" rIns="0" bIns="0" rtlCol="0" anchor="ctr"/>
          <a:lstStyle/>
          <a:p>
            <a:pPr indent="0" marL="0">
              <a:buNone/>
            </a:pPr>
            <a:r>
              <a:rPr lang="en-US" sz="1400" b="1" dirty="0">
                <a:solidFill>
                  <a:srgbClr val="00B3E2"/>
                </a:solidFill>
                <a:latin typeface="Arial" pitchFamily="34" charset="0"/>
                <a:ea typeface="Arial" pitchFamily="34" charset="-122"/>
                <a:cs typeface="Arial" pitchFamily="34" charset="-120"/>
              </a:rPr>
              <a:t>Policy notes</a:t>
            </a:r>
            <a:endParaRPr lang="en-US" sz="1400" dirty="0"/>
          </a:p>
        </p:txBody>
      </p:sp>
      <p:sp>
        <p:nvSpPr>
          <p:cNvPr id="9" name="Text 6"/>
          <p:cNvSpPr/>
          <p:nvPr/>
        </p:nvSpPr>
        <p:spPr>
          <a:xfrm>
            <a:off x="822960" y="4279392"/>
            <a:ext cx="5806440" cy="137160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FTT defines how many failures a vSAN object is configured to tolerate.</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RAID-1 mirrors data components. The doubling figure excludes metadata, witnesses, checksums, and snapshots.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RAID-5 becomes possible at four hosts. Microsoft states more than six hosts for an AVS FTT-2 policy under the referenced SLA condition.</a:t>
            </a:r>
            <a:endParaRPr lang="en-US" sz="1250" dirty="0"/>
          </a:p>
        </p:txBody>
      </p:sp>
      <p:sp>
        <p:nvSpPr>
          <p:cNvPr id="10" name="Shape 7"/>
          <p:cNvSpPr/>
          <p:nvPr/>
        </p:nvSpPr>
        <p:spPr>
          <a:xfrm>
            <a:off x="7150608" y="3794760"/>
            <a:ext cx="4474159" cy="1965960"/>
          </a:xfrm>
          <a:prstGeom prst="roundRect">
            <a:avLst>
              <a:gd name="adj" fmla="val 4186"/>
            </a:avLst>
          </a:prstGeom>
          <a:solidFill>
            <a:srgbClr val="3E3E4B"/>
          </a:solidFill>
          <a:ln w="12700">
            <a:solidFill>
              <a:srgbClr val="3E3E4B"/>
            </a:solidFill>
            <a:prstDash val="solid"/>
          </a:ln>
        </p:spPr>
      </p:sp>
      <p:sp>
        <p:nvSpPr>
          <p:cNvPr id="11" name="Text 8"/>
          <p:cNvSpPr/>
          <p:nvPr/>
        </p:nvSpPr>
        <p:spPr>
          <a:xfrm>
            <a:off x="7379208" y="3950208"/>
            <a:ext cx="3931920" cy="292608"/>
          </a:xfrm>
          <a:prstGeom prst="rect">
            <a:avLst/>
          </a:prstGeom>
          <a:noFill/>
          <a:ln/>
        </p:spPr>
        <p:txBody>
          <a:bodyPr wrap="square" lIns="0" tIns="0" rIns="0" bIns="0" rtlCol="0" anchor="ctr"/>
          <a:lstStyle/>
          <a:p>
            <a:pPr indent="0" marL="0">
              <a:buNone/>
            </a:pPr>
            <a:r>
              <a:rPr lang="en-US" sz="1400" b="1" dirty="0">
                <a:solidFill>
                  <a:srgbClr val="FAC458"/>
                </a:solidFill>
                <a:latin typeface="Arial" pitchFamily="34" charset="0"/>
                <a:ea typeface="Arial" pitchFamily="34" charset="-122"/>
                <a:cs typeface="Arial" pitchFamily="34" charset="-120"/>
              </a:rPr>
              <a:t>The 75 percent wall</a:t>
            </a:r>
            <a:endParaRPr lang="en-US" sz="1400" dirty="0"/>
          </a:p>
        </p:txBody>
      </p:sp>
      <p:sp>
        <p:nvSpPr>
          <p:cNvPr id="12" name="Text 9"/>
          <p:cNvSpPr/>
          <p:nvPr/>
        </p:nvSpPr>
        <p:spPr>
          <a:xfrm>
            <a:off x="7379208" y="4297680"/>
            <a:ext cx="4016959" cy="1325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Free capacity supports maintenance, repair, rebalance, policy changes, and object growth. Cross the threshold and those operations can be impaired or blocked, which makes the cluster hard to maintain.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2</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Provisioning format and external storage</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Text 4"/>
          <p:cNvSpPr/>
          <p:nvPr/>
        </p:nvSpPr>
        <p:spPr>
          <a:xfrm>
            <a:off x="566928" y="1444752"/>
            <a:ext cx="5760720" cy="1097280"/>
          </a:xfrm>
          <a:prstGeom prst="rect">
            <a:avLst/>
          </a:prstGeom>
          <a:noFill/>
          <a:ln/>
        </p:spPr>
        <p:txBody>
          <a:bodyPr wrap="square" lIns="0" tIns="0" rIns="0" bIns="0" rtlCol="0" anchor="t"/>
          <a:lstStyle/>
          <a:p>
            <a:pPr indent="0" marL="0">
              <a:spcAft>
                <a:spcPts val="600"/>
              </a:spcAft>
              <a:buNone/>
            </a:pPr>
            <a:r>
              <a:rPr lang="en-US" sz="1450" b="1" dirty="0">
                <a:solidFill>
                  <a:srgbClr val="3E3E4B"/>
                </a:solidFill>
                <a:latin typeface="Calibri" pitchFamily="34" charset="0"/>
                <a:ea typeface="Calibri" pitchFamily="34" charset="-122"/>
                <a:cs typeface="Calibri" pitchFamily="34" charset="-120"/>
              </a:rPr>
              <a:t>Default policy is RAID-1 FTT-1 and thin provisioned.</a:t>
            </a:r>
            <a:endParaRPr lang="en-US" sz="1450" dirty="0"/>
          </a:p>
          <a:p>
            <a:pPr indent="0" marL="0">
              <a:buNone/>
            </a:pPr>
            <a:r>
              <a:rPr lang="en-US" sz="1300" dirty="0">
                <a:solidFill>
                  <a:srgbClr val="6E6E7C"/>
                </a:solidFill>
                <a:latin typeface="Calibri" pitchFamily="34" charset="0"/>
                <a:ea typeface="Calibri" pitchFamily="34" charset="-122"/>
                <a:cs typeface="Calibri" pitchFamily="34" charset="-120"/>
              </a:rPr>
              <a:t>Verify the target storage policy and migration format rather than assuming thick provisioning. HCX lets you specify the destination format. Migrating many VMs with oversized empty disks can hit the 75 percent wall immediately.</a:t>
            </a:r>
            <a:endParaRPr lang="en-US" sz="1450" dirty="0"/>
          </a:p>
        </p:txBody>
      </p:sp>
      <p:sp>
        <p:nvSpPr>
          <p:cNvPr id="7" name="Text 5"/>
          <p:cNvSpPr/>
          <p:nvPr/>
        </p:nvSpPr>
        <p:spPr>
          <a:xfrm>
            <a:off x="566928" y="2651760"/>
            <a:ext cx="5760720" cy="29260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External datastore options</a:t>
            </a:r>
            <a:endParaRPr lang="en-US" sz="1500" dirty="0"/>
          </a:p>
        </p:txBody>
      </p:sp>
      <p:sp>
        <p:nvSpPr>
          <p:cNvPr id="8" name="Shape 6"/>
          <p:cNvSpPr/>
          <p:nvPr/>
        </p:nvSpPr>
        <p:spPr>
          <a:xfrm>
            <a:off x="566928" y="3017520"/>
            <a:ext cx="5760720" cy="603504"/>
          </a:xfrm>
          <a:prstGeom prst="roundRect">
            <a:avLst>
              <a:gd name="adj" fmla="val 13636"/>
            </a:avLst>
          </a:prstGeom>
          <a:solidFill>
            <a:srgbClr val="E5F7FC"/>
          </a:solidFill>
          <a:ln w="12700">
            <a:solidFill>
              <a:srgbClr val="E5F7FC"/>
            </a:solidFill>
            <a:prstDash val="solid"/>
          </a:ln>
        </p:spPr>
      </p:sp>
      <p:sp>
        <p:nvSpPr>
          <p:cNvPr id="9" name="Shape 7"/>
          <p:cNvSpPr/>
          <p:nvPr/>
        </p:nvSpPr>
        <p:spPr>
          <a:xfrm>
            <a:off x="786384" y="3182112"/>
            <a:ext cx="274320" cy="274320"/>
          </a:xfrm>
          <a:prstGeom prst="ellipse">
            <a:avLst/>
          </a:prstGeom>
          <a:solidFill>
            <a:srgbClr val="00AD93"/>
          </a:solidFill>
          <a:ln w="12700">
            <a:solidFill>
              <a:srgbClr val="00AD93"/>
            </a:solidFill>
            <a:prstDash val="solid"/>
          </a:ln>
        </p:spPr>
      </p:sp>
      <p:sp>
        <p:nvSpPr>
          <p:cNvPr id="10" name="Text 8"/>
          <p:cNvSpPr/>
          <p:nvPr/>
        </p:nvSpPr>
        <p:spPr>
          <a:xfrm>
            <a:off x="1207008" y="3063240"/>
            <a:ext cx="27432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Azure NetApp Files</a:t>
            </a:r>
            <a:endParaRPr lang="en-US" sz="1300" dirty="0"/>
          </a:p>
        </p:txBody>
      </p:sp>
      <p:sp>
        <p:nvSpPr>
          <p:cNvPr id="11" name="Text 9"/>
          <p:cNvSpPr/>
          <p:nvPr/>
        </p:nvSpPr>
        <p:spPr>
          <a:xfrm>
            <a:off x="1207008" y="3319272"/>
            <a:ext cx="493776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NFS datastores</a:t>
            </a:r>
            <a:endParaRPr lang="en-US" sz="1150" dirty="0"/>
          </a:p>
        </p:txBody>
      </p:sp>
      <p:sp>
        <p:nvSpPr>
          <p:cNvPr id="12" name="Shape 10"/>
          <p:cNvSpPr/>
          <p:nvPr/>
        </p:nvSpPr>
        <p:spPr>
          <a:xfrm>
            <a:off x="566928" y="3730752"/>
            <a:ext cx="5760720" cy="603504"/>
          </a:xfrm>
          <a:prstGeom prst="roundRect">
            <a:avLst>
              <a:gd name="adj" fmla="val 13636"/>
            </a:avLst>
          </a:prstGeom>
          <a:solidFill>
            <a:srgbClr val="E5F7FC"/>
          </a:solidFill>
          <a:ln w="12700">
            <a:solidFill>
              <a:srgbClr val="E5F7FC"/>
            </a:solidFill>
            <a:prstDash val="solid"/>
          </a:ln>
        </p:spPr>
      </p:sp>
      <p:sp>
        <p:nvSpPr>
          <p:cNvPr id="13" name="Shape 11"/>
          <p:cNvSpPr/>
          <p:nvPr/>
        </p:nvSpPr>
        <p:spPr>
          <a:xfrm>
            <a:off x="786384" y="3895344"/>
            <a:ext cx="274320" cy="274320"/>
          </a:xfrm>
          <a:prstGeom prst="ellipse">
            <a:avLst/>
          </a:prstGeom>
          <a:solidFill>
            <a:srgbClr val="2DCCD3"/>
          </a:solidFill>
          <a:ln w="12700">
            <a:solidFill>
              <a:srgbClr val="2DCCD3"/>
            </a:solidFill>
            <a:prstDash val="solid"/>
          </a:ln>
        </p:spPr>
      </p:sp>
      <p:sp>
        <p:nvSpPr>
          <p:cNvPr id="14" name="Text 12"/>
          <p:cNvSpPr/>
          <p:nvPr/>
        </p:nvSpPr>
        <p:spPr>
          <a:xfrm>
            <a:off x="1207008" y="3776472"/>
            <a:ext cx="27432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Azure Elastic SAN</a:t>
            </a:r>
            <a:endParaRPr lang="en-US" sz="1300" dirty="0"/>
          </a:p>
        </p:txBody>
      </p:sp>
      <p:sp>
        <p:nvSpPr>
          <p:cNvPr id="15" name="Text 13"/>
          <p:cNvSpPr/>
          <p:nvPr/>
        </p:nvSpPr>
        <p:spPr>
          <a:xfrm>
            <a:off x="1207008" y="4032504"/>
            <a:ext cx="493776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iSCSI block storage, not NFS</a:t>
            </a:r>
            <a:endParaRPr lang="en-US" sz="1150" dirty="0"/>
          </a:p>
        </p:txBody>
      </p:sp>
      <p:sp>
        <p:nvSpPr>
          <p:cNvPr id="16" name="Shape 14"/>
          <p:cNvSpPr/>
          <p:nvPr/>
        </p:nvSpPr>
        <p:spPr>
          <a:xfrm>
            <a:off x="566928" y="4443984"/>
            <a:ext cx="5760720" cy="603504"/>
          </a:xfrm>
          <a:prstGeom prst="roundRect">
            <a:avLst>
              <a:gd name="adj" fmla="val 13636"/>
            </a:avLst>
          </a:prstGeom>
          <a:solidFill>
            <a:srgbClr val="E5F7FC"/>
          </a:solidFill>
          <a:ln w="12700">
            <a:solidFill>
              <a:srgbClr val="E5F7FC"/>
            </a:solidFill>
            <a:prstDash val="solid"/>
          </a:ln>
        </p:spPr>
      </p:sp>
      <p:sp>
        <p:nvSpPr>
          <p:cNvPr id="17" name="Shape 15"/>
          <p:cNvSpPr/>
          <p:nvPr/>
        </p:nvSpPr>
        <p:spPr>
          <a:xfrm>
            <a:off x="786384" y="4608576"/>
            <a:ext cx="274320" cy="274320"/>
          </a:xfrm>
          <a:prstGeom prst="ellipse">
            <a:avLst/>
          </a:prstGeom>
          <a:solidFill>
            <a:srgbClr val="AD1AAC"/>
          </a:solidFill>
          <a:ln w="12700">
            <a:solidFill>
              <a:srgbClr val="AD1AAC"/>
            </a:solidFill>
            <a:prstDash val="solid"/>
          </a:ln>
        </p:spPr>
      </p:sp>
      <p:sp>
        <p:nvSpPr>
          <p:cNvPr id="18" name="Text 16"/>
          <p:cNvSpPr/>
          <p:nvPr/>
        </p:nvSpPr>
        <p:spPr>
          <a:xfrm>
            <a:off x="1207008" y="4489704"/>
            <a:ext cx="27432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Azure Native Pure Storage</a:t>
            </a:r>
            <a:endParaRPr lang="en-US" sz="1300" dirty="0"/>
          </a:p>
        </p:txBody>
      </p:sp>
      <p:sp>
        <p:nvSpPr>
          <p:cNvPr id="19" name="Text 17"/>
          <p:cNvSpPr/>
          <p:nvPr/>
        </p:nvSpPr>
        <p:spPr>
          <a:xfrm>
            <a:off x="1207008" y="4745736"/>
            <a:ext cx="4937760" cy="256032"/>
          </a:xfrm>
          <a:prstGeom prst="rect">
            <a:avLst/>
          </a:prstGeom>
          <a:noFill/>
          <a:ln/>
        </p:spPr>
        <p:txBody>
          <a:bodyPr wrap="square" lIns="0" tIns="0" rIns="0" bIns="0" rtlCol="0" anchor="ctr"/>
          <a:lstStyle/>
          <a:p>
            <a:pPr indent="0" marL="0">
              <a:buNone/>
            </a:pPr>
            <a:r>
              <a:rPr lang="en-US" sz="1150" dirty="0">
                <a:solidFill>
                  <a:srgbClr val="6E6E7C"/>
                </a:solidFill>
                <a:latin typeface="Calibri" pitchFamily="34" charset="0"/>
                <a:ea typeface="Calibri" pitchFamily="34" charset="-122"/>
                <a:cs typeface="Calibri" pitchFamily="34" charset="-120"/>
              </a:rPr>
              <a:t>Partner block storage integration</a:t>
            </a:r>
            <a:endParaRPr lang="en-US" sz="1150" dirty="0"/>
          </a:p>
        </p:txBody>
      </p:sp>
      <p:sp>
        <p:nvSpPr>
          <p:cNvPr id="20" name="Shape 18"/>
          <p:cNvSpPr/>
          <p:nvPr/>
        </p:nvSpPr>
        <p:spPr>
          <a:xfrm>
            <a:off x="566928" y="5230368"/>
            <a:ext cx="5760720" cy="822960"/>
          </a:xfrm>
          <a:prstGeom prst="roundRect">
            <a:avLst>
              <a:gd name="adj" fmla="val 10000"/>
            </a:avLst>
          </a:prstGeom>
          <a:solidFill>
            <a:srgbClr val="EBEDED"/>
          </a:solidFill>
          <a:ln w="12700">
            <a:solidFill>
              <a:srgbClr val="EBEDED"/>
            </a:solidFill>
            <a:prstDash val="solid"/>
          </a:ln>
        </p:spPr>
      </p:sp>
      <p:sp>
        <p:nvSpPr>
          <p:cNvPr id="21" name="Text 19"/>
          <p:cNvSpPr/>
          <p:nvPr/>
        </p:nvSpPr>
        <p:spPr>
          <a:xfrm>
            <a:off x="804672" y="5321808"/>
            <a:ext cx="5303520" cy="658368"/>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Latency caveat: storage traffic leaves AVS and returns. Placement, generation, protocol, gateway design, and availability-zone alignment all affect performance and cost.</a:t>
            </a:r>
            <a:endParaRPr lang="en-US" sz="1200" dirty="0"/>
          </a:p>
        </p:txBody>
      </p:sp>
      <p:pic>
        <p:nvPicPr>
          <p:cNvPr id="22" name="Image 0" descr="images/avs-netapp-files-gen1-architecture.png">    </p:cNvPr>
          <p:cNvPicPr>
            <a:picLocks noChangeAspect="1"/>
          </p:cNvPicPr>
          <p:nvPr/>
        </p:nvPicPr>
        <p:blipFill>
          <a:blip r:embed="rId1"/>
          <a:srcRect l="0" r="0" t="0" b="0"/>
          <a:stretch/>
        </p:blipFill>
        <p:spPr>
          <a:xfrm>
            <a:off x="6629400" y="2103120"/>
            <a:ext cx="4983480" cy="2377440"/>
          </a:xfrm>
          <a:prstGeom prst="rect">
            <a:avLst/>
          </a:prstGeom>
        </p:spPr>
      </p:pic>
      <p:sp>
        <p:nvSpPr>
          <p:cNvPr id="23" name="Text 20"/>
          <p:cNvSpPr/>
          <p:nvPr/>
        </p:nvSpPr>
        <p:spPr>
          <a:xfrm>
            <a:off x="6629400" y="4535424"/>
            <a:ext cx="498348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attach Azure NetApp Files datastores to AVS hosts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00AD93"/>
                </a:solidFill>
                <a:latin typeface="Arial" pitchFamily="34" charset="0"/>
                <a:ea typeface="Arial" pitchFamily="34" charset="-122"/>
                <a:cs typeface="Arial" pitchFamily="34" charset="-120"/>
              </a:rPr>
              <a:t>03</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Network Foundation</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The highest-risk domain. Addressing and routing decide whether the estate works.</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14</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3</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Addressing and reserved NSX ranges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760720" cy="2057400"/>
          </a:xfrm>
          <a:prstGeom prst="roundRect">
            <a:avLst>
              <a:gd name="adj" fmla="val 4000"/>
            </a:avLst>
          </a:prstGeom>
          <a:solidFill>
            <a:srgbClr val="E5F7FC"/>
          </a:solidFill>
          <a:ln w="12700">
            <a:solidFill>
              <a:srgbClr val="E5F7FC"/>
            </a:solidFill>
            <a:prstDash val="solid"/>
          </a:ln>
        </p:spPr>
      </p:sp>
      <p:sp>
        <p:nvSpPr>
          <p:cNvPr id="7" name="Text 5"/>
          <p:cNvSpPr/>
          <p:nvPr/>
        </p:nvSpPr>
        <p:spPr>
          <a:xfrm>
            <a:off x="822960" y="1645920"/>
            <a:ext cx="5303520" cy="310896"/>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Generation 1 requires a /22</a:t>
            </a:r>
            <a:endParaRPr lang="en-US" sz="1600" dirty="0"/>
          </a:p>
        </p:txBody>
      </p:sp>
      <p:sp>
        <p:nvSpPr>
          <p:cNvPr id="8" name="Text 6"/>
          <p:cNvSpPr/>
          <p:nvPr/>
        </p:nvSpPr>
        <p:spPr>
          <a:xfrm>
            <a:off x="822960" y="1993392"/>
            <a:ext cx="5303520" cy="146304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 non-overlapping private /22 block, giving 1,024 addresses, is subdivided for platform and host services.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HCX needs separately planned network profiles and appliance IP pools.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Generation 2 deploys inside an Azure virtual network with delegated subnets and a different addressing model.</a:t>
            </a:r>
            <a:endParaRPr lang="en-US" sz="1250" dirty="0"/>
          </a:p>
        </p:txBody>
      </p:sp>
      <p:sp>
        <p:nvSpPr>
          <p:cNvPr id="9" name="Shape 7"/>
          <p:cNvSpPr/>
          <p:nvPr/>
        </p:nvSpPr>
        <p:spPr>
          <a:xfrm>
            <a:off x="566928" y="3703320"/>
            <a:ext cx="5760720" cy="2057400"/>
          </a:xfrm>
          <a:prstGeom prst="roundRect">
            <a:avLst>
              <a:gd name="adj" fmla="val 4000"/>
            </a:avLst>
          </a:prstGeom>
          <a:solidFill>
            <a:srgbClr val="3E3E4B"/>
          </a:solidFill>
          <a:ln w="12700">
            <a:solidFill>
              <a:srgbClr val="3E3E4B"/>
            </a:solidFill>
            <a:prstDash val="solid"/>
          </a:ln>
        </p:spPr>
      </p:sp>
      <p:sp>
        <p:nvSpPr>
          <p:cNvPr id="10" name="Text 8"/>
          <p:cNvSpPr/>
          <p:nvPr/>
        </p:nvSpPr>
        <p:spPr>
          <a:xfrm>
            <a:off x="822960" y="3858768"/>
            <a:ext cx="5303520" cy="310896"/>
          </a:xfrm>
          <a:prstGeom prst="rect">
            <a:avLst/>
          </a:prstGeom>
          <a:noFill/>
          <a:ln/>
        </p:spPr>
        <p:txBody>
          <a:bodyPr wrap="square" lIns="0" tIns="0" rIns="0" bIns="0" rtlCol="0" anchor="ctr"/>
          <a:lstStyle/>
          <a:p>
            <a:pPr indent="0" marL="0">
              <a:buNone/>
            </a:pPr>
            <a:r>
              <a:rPr lang="en-US" sz="1600" b="1" dirty="0">
                <a:solidFill>
                  <a:srgbClr val="FAC458"/>
                </a:solidFill>
                <a:latin typeface="Arial" pitchFamily="34" charset="0"/>
                <a:ea typeface="Arial" pitchFamily="34" charset="-122"/>
                <a:cs typeface="Arial" pitchFamily="34" charset="-120"/>
              </a:rPr>
              <a:t>Reserved ranges to avoid</a:t>
            </a:r>
            <a:endParaRPr lang="en-US" sz="1600" dirty="0"/>
          </a:p>
        </p:txBody>
      </p:sp>
      <p:sp>
        <p:nvSpPr>
          <p:cNvPr id="11" name="Text 9"/>
          <p:cNvSpPr/>
          <p:nvPr/>
        </p:nvSpPr>
        <p:spPr>
          <a:xfrm>
            <a:off x="822960" y="4242816"/>
            <a:ext cx="2011680" cy="310896"/>
          </a:xfrm>
          <a:prstGeom prst="rect">
            <a:avLst/>
          </a:prstGeom>
          <a:noFill/>
          <a:ln/>
        </p:spPr>
        <p:txBody>
          <a:bodyPr wrap="square" lIns="0" tIns="0" rIns="0" bIns="0" rtlCol="0" anchor="ctr"/>
          <a:lstStyle/>
          <a:p>
            <a:pPr indent="0" marL="0">
              <a:buNone/>
            </a:pPr>
            <a:r>
              <a:rPr lang="en-US" sz="1300" b="1" dirty="0">
                <a:solidFill>
                  <a:srgbClr val="00B3E2"/>
                </a:solidFill>
                <a:latin typeface="Courier New" pitchFamily="34" charset="0"/>
                <a:ea typeface="Courier New" pitchFamily="34" charset="-122"/>
                <a:cs typeface="Courier New" pitchFamily="34" charset="-120"/>
              </a:rPr>
              <a:t>169.254.0.0/24</a:t>
            </a:r>
            <a:endParaRPr lang="en-US" sz="1300" dirty="0"/>
          </a:p>
        </p:txBody>
      </p:sp>
      <p:sp>
        <p:nvSpPr>
          <p:cNvPr id="12" name="Text 10"/>
          <p:cNvSpPr/>
          <p:nvPr/>
        </p:nvSpPr>
        <p:spPr>
          <a:xfrm>
            <a:off x="2898648" y="4242816"/>
            <a:ext cx="329184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Internal transit</a:t>
            </a:r>
            <a:endParaRPr lang="en-US" sz="1250" dirty="0"/>
          </a:p>
        </p:txBody>
      </p:sp>
      <p:sp>
        <p:nvSpPr>
          <p:cNvPr id="13" name="Text 11"/>
          <p:cNvSpPr/>
          <p:nvPr/>
        </p:nvSpPr>
        <p:spPr>
          <a:xfrm>
            <a:off x="822960" y="4700016"/>
            <a:ext cx="2011680" cy="310896"/>
          </a:xfrm>
          <a:prstGeom prst="rect">
            <a:avLst/>
          </a:prstGeom>
          <a:noFill/>
          <a:ln/>
        </p:spPr>
        <p:txBody>
          <a:bodyPr wrap="square" lIns="0" tIns="0" rIns="0" bIns="0" rtlCol="0" anchor="ctr"/>
          <a:lstStyle/>
          <a:p>
            <a:pPr indent="0" marL="0">
              <a:buNone/>
            </a:pPr>
            <a:r>
              <a:rPr lang="en-US" sz="1300" b="1" dirty="0">
                <a:solidFill>
                  <a:srgbClr val="00B3E2"/>
                </a:solidFill>
                <a:latin typeface="Courier New" pitchFamily="34" charset="0"/>
                <a:ea typeface="Courier New" pitchFamily="34" charset="-122"/>
                <a:cs typeface="Courier New" pitchFamily="34" charset="-120"/>
              </a:rPr>
              <a:t>169.254.2.0/23</a:t>
            </a:r>
            <a:endParaRPr lang="en-US" sz="1300" dirty="0"/>
          </a:p>
        </p:txBody>
      </p:sp>
      <p:sp>
        <p:nvSpPr>
          <p:cNvPr id="14" name="Text 12"/>
          <p:cNvSpPr/>
          <p:nvPr/>
        </p:nvSpPr>
        <p:spPr>
          <a:xfrm>
            <a:off x="2898648" y="4700016"/>
            <a:ext cx="329184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Inter-VRF transit</a:t>
            </a:r>
            <a:endParaRPr lang="en-US" sz="1250" dirty="0"/>
          </a:p>
        </p:txBody>
      </p:sp>
      <p:sp>
        <p:nvSpPr>
          <p:cNvPr id="15" name="Text 13"/>
          <p:cNvSpPr/>
          <p:nvPr/>
        </p:nvSpPr>
        <p:spPr>
          <a:xfrm>
            <a:off x="822960" y="5157216"/>
            <a:ext cx="2011680" cy="310896"/>
          </a:xfrm>
          <a:prstGeom prst="rect">
            <a:avLst/>
          </a:prstGeom>
          <a:noFill/>
          <a:ln/>
        </p:spPr>
        <p:txBody>
          <a:bodyPr wrap="square" lIns="0" tIns="0" rIns="0" bIns="0" rtlCol="0" anchor="ctr"/>
          <a:lstStyle/>
          <a:p>
            <a:pPr indent="0" marL="0">
              <a:buNone/>
            </a:pPr>
            <a:r>
              <a:rPr lang="en-US" sz="1300" b="1" dirty="0">
                <a:solidFill>
                  <a:srgbClr val="00B3E2"/>
                </a:solidFill>
                <a:latin typeface="Courier New" pitchFamily="34" charset="0"/>
                <a:ea typeface="Courier New" pitchFamily="34" charset="-122"/>
                <a:cs typeface="Courier New" pitchFamily="34" charset="-120"/>
              </a:rPr>
              <a:t>100.64.0.0/16</a:t>
            </a:r>
            <a:endParaRPr lang="en-US" sz="1300" dirty="0"/>
          </a:p>
        </p:txBody>
      </p:sp>
      <p:sp>
        <p:nvSpPr>
          <p:cNvPr id="16" name="Text 14"/>
          <p:cNvSpPr/>
          <p:nvPr/>
        </p:nvSpPr>
        <p:spPr>
          <a:xfrm>
            <a:off x="2898648" y="5157216"/>
            <a:ext cx="3291840" cy="31089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Internal T1 to T0 connectivity</a:t>
            </a:r>
            <a:endParaRPr lang="en-US" sz="1250" dirty="0"/>
          </a:p>
        </p:txBody>
      </p:sp>
      <p:pic>
        <p:nvPicPr>
          <p:cNvPr id="17" name="Image 0" descr="images/avs-gen2-virtual-network-connectivity.png">    </p:cNvPr>
          <p:cNvPicPr>
            <a:picLocks noChangeAspect="1"/>
          </p:cNvPicPr>
          <p:nvPr/>
        </p:nvPicPr>
        <p:blipFill>
          <a:blip r:embed="rId1"/>
          <a:srcRect l="0" r="0" t="0" b="0"/>
          <a:stretch/>
        </p:blipFill>
        <p:spPr>
          <a:xfrm>
            <a:off x="6629400" y="1737360"/>
            <a:ext cx="4983480" cy="2560320"/>
          </a:xfrm>
          <a:prstGeom prst="rect">
            <a:avLst/>
          </a:prstGeom>
        </p:spPr>
      </p:pic>
      <p:sp>
        <p:nvSpPr>
          <p:cNvPr id="18" name="Text 15"/>
          <p:cNvSpPr/>
          <p:nvPr/>
        </p:nvSpPr>
        <p:spPr>
          <a:xfrm>
            <a:off x="6629400" y="4352544"/>
            <a:ext cx="498348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Generation 2 private clouds</a:t>
            </a:r>
            <a:endParaRPr lang="en-US" sz="1000" dirty="0"/>
          </a:p>
        </p:txBody>
      </p:sp>
      <p:sp>
        <p:nvSpPr>
          <p:cNvPr id="19" name="Shape 16"/>
          <p:cNvSpPr/>
          <p:nvPr/>
        </p:nvSpPr>
        <p:spPr>
          <a:xfrm>
            <a:off x="6629400" y="4617720"/>
            <a:ext cx="4983480" cy="1143000"/>
          </a:xfrm>
          <a:prstGeom prst="roundRect">
            <a:avLst>
              <a:gd name="adj" fmla="val 7200"/>
            </a:avLst>
          </a:prstGeom>
          <a:solidFill>
            <a:srgbClr val="EBEDED"/>
          </a:solidFill>
          <a:ln w="12700">
            <a:solidFill>
              <a:srgbClr val="EBEDED"/>
            </a:solidFill>
            <a:prstDash val="solid"/>
          </a:ln>
        </p:spPr>
      </p:sp>
      <p:sp>
        <p:nvSpPr>
          <p:cNvPr id="20" name="Text 17"/>
          <p:cNvSpPr/>
          <p:nvPr/>
        </p:nvSpPr>
        <p:spPr>
          <a:xfrm>
            <a:off x="6858000" y="4718304"/>
            <a:ext cx="4526280" cy="960120"/>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Failure condition: overlap causes routing ambiguity, dropped packets, black holes, or private cloud isolation. Advertising a reserved range can collide with NSX internal plumbing and create routing loops.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3</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ExpressRoute and Global Reach</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16</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pic>
        <p:nvPicPr>
          <p:cNvPr id="6" name="Image 0" descr="images/avs-expressroute-global-reach.png">    </p:cNvPr>
          <p:cNvPicPr>
            <a:picLocks noChangeAspect="1"/>
          </p:cNvPicPr>
          <p:nvPr/>
        </p:nvPicPr>
        <p:blipFill>
          <a:blip r:embed="rId1"/>
          <a:srcRect l="0" r="0" t="0" b="0"/>
          <a:stretch/>
        </p:blipFill>
        <p:spPr>
          <a:xfrm>
            <a:off x="5989320" y="1463040"/>
            <a:ext cx="5623560" cy="3246120"/>
          </a:xfrm>
          <a:prstGeom prst="rect">
            <a:avLst/>
          </a:prstGeom>
        </p:spPr>
      </p:pic>
      <p:sp>
        <p:nvSpPr>
          <p:cNvPr id="7" name="Text 4"/>
          <p:cNvSpPr/>
          <p:nvPr/>
        </p:nvSpPr>
        <p:spPr>
          <a:xfrm>
            <a:off x="5989320" y="4764024"/>
            <a:ext cx="562356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peer on-premises environments to AVS</a:t>
            </a:r>
            <a:endParaRPr lang="en-US" sz="1000" dirty="0"/>
          </a:p>
        </p:txBody>
      </p:sp>
      <p:sp>
        <p:nvSpPr>
          <p:cNvPr id="8" name="Shape 5"/>
          <p:cNvSpPr/>
          <p:nvPr/>
        </p:nvSpPr>
        <p:spPr>
          <a:xfrm>
            <a:off x="566928" y="1481328"/>
            <a:ext cx="5212080" cy="960120"/>
          </a:xfrm>
          <a:prstGeom prst="roundRect">
            <a:avLst>
              <a:gd name="adj" fmla="val 8571"/>
            </a:avLst>
          </a:prstGeom>
          <a:solidFill>
            <a:srgbClr val="E5F7FC"/>
          </a:solidFill>
          <a:ln w="12700">
            <a:solidFill>
              <a:srgbClr val="E5F7FC"/>
            </a:solidFill>
            <a:prstDash val="solid"/>
          </a:ln>
        </p:spPr>
      </p:sp>
      <p:sp>
        <p:nvSpPr>
          <p:cNvPr id="9" name="Shape 6"/>
          <p:cNvSpPr/>
          <p:nvPr/>
        </p:nvSpPr>
        <p:spPr>
          <a:xfrm>
            <a:off x="804672" y="1792224"/>
            <a:ext cx="292608" cy="292608"/>
          </a:xfrm>
          <a:prstGeom prst="ellipse">
            <a:avLst/>
          </a:prstGeom>
          <a:solidFill>
            <a:srgbClr val="00B3E2"/>
          </a:solidFill>
          <a:ln w="12700">
            <a:solidFill>
              <a:srgbClr val="00B3E2"/>
            </a:solidFill>
            <a:prstDash val="solid"/>
          </a:ln>
        </p:spPr>
      </p:sp>
      <p:sp>
        <p:nvSpPr>
          <p:cNvPr id="10" name="Text 7"/>
          <p:cNvSpPr/>
          <p:nvPr/>
        </p:nvSpPr>
        <p:spPr>
          <a:xfrm>
            <a:off x="1243584" y="1591056"/>
            <a:ext cx="429768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1 circuit</a:t>
            </a:r>
            <a:endParaRPr lang="en-US" sz="1400" dirty="0"/>
          </a:p>
        </p:txBody>
      </p:sp>
      <p:sp>
        <p:nvSpPr>
          <p:cNvPr id="11" name="Text 8"/>
          <p:cNvSpPr/>
          <p:nvPr/>
        </p:nvSpPr>
        <p:spPr>
          <a:xfrm>
            <a:off x="1243584" y="1883664"/>
            <a:ext cx="4297680" cy="50292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Includes a Microsoft-managed ExpressRoute circuit for private cloud connectivity.</a:t>
            </a:r>
            <a:endParaRPr lang="en-US" sz="1250" dirty="0"/>
          </a:p>
        </p:txBody>
      </p:sp>
      <p:sp>
        <p:nvSpPr>
          <p:cNvPr id="12" name="Shape 9"/>
          <p:cNvSpPr/>
          <p:nvPr/>
        </p:nvSpPr>
        <p:spPr>
          <a:xfrm>
            <a:off x="566928" y="2505456"/>
            <a:ext cx="5212080" cy="960120"/>
          </a:xfrm>
          <a:prstGeom prst="roundRect">
            <a:avLst>
              <a:gd name="adj" fmla="val 8571"/>
            </a:avLst>
          </a:prstGeom>
          <a:solidFill>
            <a:srgbClr val="EBEDED"/>
          </a:solidFill>
          <a:ln w="12700">
            <a:solidFill>
              <a:srgbClr val="EBEDED"/>
            </a:solidFill>
            <a:prstDash val="solid"/>
          </a:ln>
        </p:spPr>
      </p:sp>
      <p:sp>
        <p:nvSpPr>
          <p:cNvPr id="13" name="Shape 10"/>
          <p:cNvSpPr/>
          <p:nvPr/>
        </p:nvSpPr>
        <p:spPr>
          <a:xfrm>
            <a:off x="804672" y="2816352"/>
            <a:ext cx="292608" cy="292608"/>
          </a:xfrm>
          <a:prstGeom prst="ellipse">
            <a:avLst/>
          </a:prstGeom>
          <a:solidFill>
            <a:srgbClr val="2DCCD3"/>
          </a:solidFill>
          <a:ln w="12700">
            <a:solidFill>
              <a:srgbClr val="2DCCD3"/>
            </a:solidFill>
            <a:prstDash val="solid"/>
          </a:ln>
        </p:spPr>
      </p:sp>
      <p:sp>
        <p:nvSpPr>
          <p:cNvPr id="14" name="Text 11"/>
          <p:cNvSpPr/>
          <p:nvPr/>
        </p:nvSpPr>
        <p:spPr>
          <a:xfrm>
            <a:off x="1243584" y="2615184"/>
            <a:ext cx="429768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Global Reach</a:t>
            </a:r>
            <a:endParaRPr lang="en-US" sz="1400" dirty="0"/>
          </a:p>
        </p:txBody>
      </p:sp>
      <p:sp>
        <p:nvSpPr>
          <p:cNvPr id="15" name="Text 12"/>
          <p:cNvSpPr/>
          <p:nvPr/>
        </p:nvSpPr>
        <p:spPr>
          <a:xfrm>
            <a:off x="1243584" y="2907792"/>
            <a:ext cx="4297680" cy="50292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Connects the on-premises circuit to the Gen 1 AVS circuit at the Microsoft Edge.</a:t>
            </a:r>
            <a:endParaRPr lang="en-US" sz="1250" dirty="0"/>
          </a:p>
        </p:txBody>
      </p:sp>
      <p:sp>
        <p:nvSpPr>
          <p:cNvPr id="16" name="Shape 13"/>
          <p:cNvSpPr/>
          <p:nvPr/>
        </p:nvSpPr>
        <p:spPr>
          <a:xfrm>
            <a:off x="566928" y="3529584"/>
            <a:ext cx="5212080" cy="960120"/>
          </a:xfrm>
          <a:prstGeom prst="roundRect">
            <a:avLst>
              <a:gd name="adj" fmla="val 8571"/>
            </a:avLst>
          </a:prstGeom>
          <a:solidFill>
            <a:srgbClr val="E5F7FC"/>
          </a:solidFill>
          <a:ln w="12700">
            <a:solidFill>
              <a:srgbClr val="E5F7FC"/>
            </a:solidFill>
            <a:prstDash val="solid"/>
          </a:ln>
        </p:spPr>
      </p:sp>
      <p:sp>
        <p:nvSpPr>
          <p:cNvPr id="17" name="Shape 14"/>
          <p:cNvSpPr/>
          <p:nvPr/>
        </p:nvSpPr>
        <p:spPr>
          <a:xfrm>
            <a:off x="804672" y="3840480"/>
            <a:ext cx="292608" cy="292608"/>
          </a:xfrm>
          <a:prstGeom prst="ellipse">
            <a:avLst/>
          </a:prstGeom>
          <a:solidFill>
            <a:srgbClr val="00AD93"/>
          </a:solidFill>
          <a:ln w="12700">
            <a:solidFill>
              <a:srgbClr val="00AD93"/>
            </a:solidFill>
            <a:prstDash val="solid"/>
          </a:ln>
        </p:spPr>
      </p:sp>
      <p:sp>
        <p:nvSpPr>
          <p:cNvPr id="18" name="Text 15"/>
          <p:cNvSpPr/>
          <p:nvPr/>
        </p:nvSpPr>
        <p:spPr>
          <a:xfrm>
            <a:off x="1243584" y="3639312"/>
            <a:ext cx="429768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Preferred path</a:t>
            </a:r>
            <a:endParaRPr lang="en-US" sz="1400" dirty="0"/>
          </a:p>
        </p:txBody>
      </p:sp>
      <p:sp>
        <p:nvSpPr>
          <p:cNvPr id="19" name="Text 16"/>
          <p:cNvSpPr/>
          <p:nvPr/>
        </p:nvSpPr>
        <p:spPr>
          <a:xfrm>
            <a:off x="1243584" y="3931920"/>
            <a:ext cx="4297680" cy="50292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Direct circuit-to-circuit connection rather than relying on an ExpressRoute gateway for transit.</a:t>
            </a:r>
            <a:endParaRPr lang="en-US" sz="1250" dirty="0"/>
          </a:p>
        </p:txBody>
      </p:sp>
      <p:sp>
        <p:nvSpPr>
          <p:cNvPr id="20" name="Shape 17"/>
          <p:cNvSpPr/>
          <p:nvPr/>
        </p:nvSpPr>
        <p:spPr>
          <a:xfrm>
            <a:off x="566928" y="4553712"/>
            <a:ext cx="5212080" cy="960120"/>
          </a:xfrm>
          <a:prstGeom prst="roundRect">
            <a:avLst>
              <a:gd name="adj" fmla="val 8571"/>
            </a:avLst>
          </a:prstGeom>
          <a:solidFill>
            <a:srgbClr val="EBEDED"/>
          </a:solidFill>
          <a:ln w="12700">
            <a:solidFill>
              <a:srgbClr val="EBEDED"/>
            </a:solidFill>
            <a:prstDash val="solid"/>
          </a:ln>
        </p:spPr>
      </p:sp>
      <p:sp>
        <p:nvSpPr>
          <p:cNvPr id="21" name="Shape 18"/>
          <p:cNvSpPr/>
          <p:nvPr/>
        </p:nvSpPr>
        <p:spPr>
          <a:xfrm>
            <a:off x="804672" y="4864608"/>
            <a:ext cx="292608" cy="292608"/>
          </a:xfrm>
          <a:prstGeom prst="ellipse">
            <a:avLst/>
          </a:prstGeom>
          <a:solidFill>
            <a:srgbClr val="AD1AAC"/>
          </a:solidFill>
          <a:ln w="12700">
            <a:solidFill>
              <a:srgbClr val="AD1AAC"/>
            </a:solidFill>
            <a:prstDash val="solid"/>
          </a:ln>
        </p:spPr>
      </p:sp>
      <p:sp>
        <p:nvSpPr>
          <p:cNvPr id="22" name="Text 19"/>
          <p:cNvSpPr/>
          <p:nvPr/>
        </p:nvSpPr>
        <p:spPr>
          <a:xfrm>
            <a:off x="1243584" y="4663440"/>
            <a:ext cx="429768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2</a:t>
            </a:r>
            <a:endParaRPr lang="en-US" sz="1400" dirty="0"/>
          </a:p>
        </p:txBody>
      </p:sp>
      <p:sp>
        <p:nvSpPr>
          <p:cNvPr id="23" name="Text 20"/>
          <p:cNvSpPr/>
          <p:nvPr/>
        </p:nvSpPr>
        <p:spPr>
          <a:xfrm>
            <a:off x="1243584" y="4956048"/>
            <a:ext cx="4297680" cy="50292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Attaches to an Azure virtual network and does not require ExpressRoute for native VNet connectivity.</a:t>
            </a:r>
            <a:endParaRPr lang="en-US" sz="1250" dirty="0"/>
          </a:p>
        </p:txBody>
      </p:sp>
      <p:sp>
        <p:nvSpPr>
          <p:cNvPr id="24" name="Shape 21"/>
          <p:cNvSpPr/>
          <p:nvPr/>
        </p:nvSpPr>
        <p:spPr>
          <a:xfrm>
            <a:off x="566928" y="5623560"/>
            <a:ext cx="11057839" cy="658368"/>
          </a:xfrm>
          <a:prstGeom prst="roundRect">
            <a:avLst>
              <a:gd name="adj" fmla="val 12500"/>
            </a:avLst>
          </a:prstGeom>
          <a:solidFill>
            <a:srgbClr val="D3EDF1"/>
          </a:solidFill>
          <a:ln w="12700">
            <a:solidFill>
              <a:srgbClr val="D3EDF1"/>
            </a:solidFill>
            <a:prstDash val="solid"/>
          </a:ln>
        </p:spPr>
      </p:sp>
      <p:sp>
        <p:nvSpPr>
          <p:cNvPr id="25" name="Text 22"/>
          <p:cNvSpPr/>
          <p:nvPr/>
        </p:nvSpPr>
        <p:spPr>
          <a:xfrm>
            <a:off x="795528" y="5678424"/>
            <a:ext cx="10600639" cy="54864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Realized latency depends on circuit, peering, geography, and workload path. Global Reach avoids using a VNet gateway as a transit router.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3</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BGP route controls and the default route trap</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4279392"/>
          </a:xfrm>
          <a:prstGeom prst="roundRect">
            <a:avLst>
              <a:gd name="adj" fmla="val 1923"/>
            </a:avLst>
          </a:prstGeom>
          <a:solidFill>
            <a:srgbClr val="E5F7FC"/>
          </a:solidFill>
          <a:ln w="12700">
            <a:solidFill>
              <a:srgbClr val="E5F7FC"/>
            </a:solidFill>
            <a:prstDash val="solid"/>
          </a:ln>
        </p:spPr>
      </p:sp>
      <p:sp>
        <p:nvSpPr>
          <p:cNvPr id="7" name="Text 5"/>
          <p:cNvSpPr/>
          <p:nvPr/>
        </p:nvSpPr>
        <p:spPr>
          <a:xfrm>
            <a:off x="841248" y="1645920"/>
            <a:ext cx="4797400" cy="310896"/>
          </a:xfrm>
          <a:prstGeom prst="rect">
            <a:avLst/>
          </a:prstGeom>
          <a:noFill/>
          <a:ln/>
        </p:spPr>
        <p:txBody>
          <a:bodyPr wrap="square" lIns="0" tIns="0" rIns="0" bIns="0" rtlCol="0" anchor="ctr"/>
          <a:lstStyle/>
          <a:p>
            <a:pPr indent="0" marL="0">
              <a:buNone/>
            </a:pPr>
            <a:r>
              <a:rPr lang="en-US" sz="1700" b="1" dirty="0">
                <a:solidFill>
                  <a:srgbClr val="00B3E2"/>
                </a:solidFill>
                <a:latin typeface="Arial" pitchFamily="34" charset="0"/>
                <a:ea typeface="Arial" pitchFamily="34" charset="-122"/>
                <a:cs typeface="Arial" pitchFamily="34" charset="-120"/>
              </a:rPr>
              <a:t>Route hygiene</a:t>
            </a:r>
            <a:endParaRPr lang="en-US" sz="1700" dirty="0"/>
          </a:p>
        </p:txBody>
      </p:sp>
      <p:sp>
        <p:nvSpPr>
          <p:cNvPr id="8" name="Text 6"/>
          <p:cNvSpPr/>
          <p:nvPr/>
        </p:nvSpPr>
        <p:spPr>
          <a:xfrm>
            <a:off x="841248" y="2029968"/>
            <a:ext cx="4797400" cy="35661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ExpressRoute uses BGP to exchange prefixes between customer and Microsoft edge routers.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On-premises advertisements must comply with ExpressRoute route and prefix requirements. Filter invalid or unintended prefixes.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Route limits are architecture specific. Generation 2 documents a combined prefix and host-route limit of 1,000 in its internal routing architecture.</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Azure Route Server and ExpressRoute gateways carry their own separately documented limits.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Summarize routes where the design safely permits and stay inside the limit for the architecture actually deployed.</a:t>
            </a:r>
            <a:endParaRPr lang="en-US" sz="1300" dirty="0"/>
          </a:p>
        </p:txBody>
      </p:sp>
      <p:sp>
        <p:nvSpPr>
          <p:cNvPr id="9" name="Shape 7"/>
          <p:cNvSpPr/>
          <p:nvPr/>
        </p:nvSpPr>
        <p:spPr>
          <a:xfrm>
            <a:off x="6278728" y="1481328"/>
            <a:ext cx="5346040" cy="4279392"/>
          </a:xfrm>
          <a:prstGeom prst="roundRect">
            <a:avLst>
              <a:gd name="adj" fmla="val 1923"/>
            </a:avLst>
          </a:prstGeom>
          <a:solidFill>
            <a:srgbClr val="3E3E4B"/>
          </a:solidFill>
          <a:ln w="12700">
            <a:solidFill>
              <a:srgbClr val="3E3E4B"/>
            </a:solidFill>
            <a:prstDash val="solid"/>
          </a:ln>
        </p:spPr>
      </p:sp>
      <p:sp>
        <p:nvSpPr>
          <p:cNvPr id="10" name="Text 8"/>
          <p:cNvSpPr/>
          <p:nvPr/>
        </p:nvSpPr>
        <p:spPr>
          <a:xfrm>
            <a:off x="6553048" y="1645920"/>
            <a:ext cx="4797400" cy="548640"/>
          </a:xfrm>
          <a:prstGeom prst="rect">
            <a:avLst/>
          </a:prstGeom>
          <a:noFill/>
          <a:ln/>
        </p:spPr>
        <p:txBody>
          <a:bodyPr wrap="square" lIns="0" tIns="0" rIns="0" bIns="0" rtlCol="0" anchor="t"/>
          <a:lstStyle/>
          <a:p>
            <a:pPr indent="0" marL="0">
              <a:buNone/>
            </a:pPr>
            <a:r>
              <a:rPr lang="en-US" sz="1700" b="1" dirty="0">
                <a:solidFill>
                  <a:srgbClr val="FAC458"/>
                </a:solidFill>
                <a:latin typeface="Arial" pitchFamily="34" charset="0"/>
                <a:ea typeface="Arial" pitchFamily="34" charset="-122"/>
                <a:cs typeface="Arial" pitchFamily="34" charset="-120"/>
              </a:rPr>
              <a:t>Advertising only 0.0.0.0/0 breaks admin access</a:t>
            </a:r>
            <a:endParaRPr lang="en-US" sz="1700" dirty="0"/>
          </a:p>
        </p:txBody>
      </p:sp>
      <p:sp>
        <p:nvSpPr>
          <p:cNvPr id="11" name="Text 9"/>
          <p:cNvSpPr/>
          <p:nvPr/>
        </p:nvSpPr>
        <p:spPr>
          <a:xfrm>
            <a:off x="6553048" y="2304288"/>
            <a:ext cx="1554480" cy="274320"/>
          </a:xfrm>
          <a:prstGeom prst="rect">
            <a:avLst/>
          </a:prstGeom>
          <a:noFill/>
          <a:ln/>
        </p:spPr>
        <p:txBody>
          <a:bodyPr wrap="square" lIns="0" tIns="0" rIns="0" bIns="0" rtlCol="0" anchor="ctr"/>
          <a:lstStyle/>
          <a:p>
            <a:pPr indent="0" marL="0">
              <a:buNone/>
            </a:pPr>
            <a:r>
              <a:rPr lang="en-US" sz="1300" b="1" dirty="0">
                <a:solidFill>
                  <a:srgbClr val="B2E8F6"/>
                </a:solidFill>
                <a:latin typeface="Arial" pitchFamily="34" charset="0"/>
                <a:ea typeface="Arial" pitchFamily="34" charset="-122"/>
                <a:cs typeface="Arial" pitchFamily="34" charset="-120"/>
              </a:rPr>
              <a:t>Request</a:t>
            </a:r>
            <a:endParaRPr lang="en-US" sz="1300" dirty="0"/>
          </a:p>
        </p:txBody>
      </p:sp>
      <p:sp>
        <p:nvSpPr>
          <p:cNvPr id="12" name="Text 10"/>
          <p:cNvSpPr/>
          <p:nvPr/>
        </p:nvSpPr>
        <p:spPr>
          <a:xfrm>
            <a:off x="6553048" y="2578608"/>
            <a:ext cx="47974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user sends a request from on-premises to AVS vCenter.</a:t>
            </a:r>
            <a:endParaRPr lang="en-US" sz="1250" dirty="0"/>
          </a:p>
        </p:txBody>
      </p:sp>
      <p:sp>
        <p:nvSpPr>
          <p:cNvPr id="13" name="Text 11"/>
          <p:cNvSpPr/>
          <p:nvPr/>
        </p:nvSpPr>
        <p:spPr>
          <a:xfrm>
            <a:off x="6553048" y="3172968"/>
            <a:ext cx="1554480" cy="274320"/>
          </a:xfrm>
          <a:prstGeom prst="rect">
            <a:avLst/>
          </a:prstGeom>
          <a:noFill/>
          <a:ln/>
        </p:spPr>
        <p:txBody>
          <a:bodyPr wrap="square" lIns="0" tIns="0" rIns="0" bIns="0" rtlCol="0" anchor="ctr"/>
          <a:lstStyle/>
          <a:p>
            <a:pPr indent="0" marL="0">
              <a:buNone/>
            </a:pPr>
            <a:r>
              <a:rPr lang="en-US" sz="1300" b="1" dirty="0">
                <a:solidFill>
                  <a:srgbClr val="B2E8F6"/>
                </a:solidFill>
                <a:latin typeface="Arial" pitchFamily="34" charset="0"/>
                <a:ea typeface="Arial" pitchFamily="34" charset="-122"/>
                <a:cs typeface="Arial" pitchFamily="34" charset="-120"/>
              </a:rPr>
              <a:t>Return path</a:t>
            </a:r>
            <a:endParaRPr lang="en-US" sz="1300" dirty="0"/>
          </a:p>
        </p:txBody>
      </p:sp>
      <p:sp>
        <p:nvSpPr>
          <p:cNvPr id="14" name="Text 12"/>
          <p:cNvSpPr/>
          <p:nvPr/>
        </p:nvSpPr>
        <p:spPr>
          <a:xfrm>
            <a:off x="6553048" y="3447288"/>
            <a:ext cx="47974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vCenter may have no more specific route back to the user subnet.</a:t>
            </a:r>
            <a:endParaRPr lang="en-US" sz="1250" dirty="0"/>
          </a:p>
        </p:txBody>
      </p:sp>
      <p:sp>
        <p:nvSpPr>
          <p:cNvPr id="15" name="Text 13"/>
          <p:cNvSpPr/>
          <p:nvPr/>
        </p:nvSpPr>
        <p:spPr>
          <a:xfrm>
            <a:off x="6553048" y="4041648"/>
            <a:ext cx="1554480" cy="274320"/>
          </a:xfrm>
          <a:prstGeom prst="rect">
            <a:avLst/>
          </a:prstGeom>
          <a:noFill/>
          <a:ln/>
        </p:spPr>
        <p:txBody>
          <a:bodyPr wrap="square" lIns="0" tIns="0" rIns="0" bIns="0" rtlCol="0" anchor="ctr"/>
          <a:lstStyle/>
          <a:p>
            <a:pPr indent="0" marL="0">
              <a:buNone/>
            </a:pPr>
            <a:r>
              <a:rPr lang="en-US" sz="1300" b="1" dirty="0">
                <a:solidFill>
                  <a:srgbClr val="B2E8F6"/>
                </a:solidFill>
                <a:latin typeface="Arial" pitchFamily="34" charset="0"/>
                <a:ea typeface="Arial" pitchFamily="34" charset="-122"/>
                <a:cs typeface="Arial" pitchFamily="34" charset="-120"/>
              </a:rPr>
              <a:t>Platform behavior</a:t>
            </a:r>
            <a:endParaRPr lang="en-US" sz="1300" dirty="0"/>
          </a:p>
        </p:txBody>
      </p:sp>
      <p:sp>
        <p:nvSpPr>
          <p:cNvPr id="16" name="Text 14"/>
          <p:cNvSpPr/>
          <p:nvPr/>
        </p:nvSpPr>
        <p:spPr>
          <a:xfrm>
            <a:off x="6553048" y="4315968"/>
            <a:ext cx="47974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single 0.0.0.0/0 route is discarded by the AVS management network to preserve service operation.</a:t>
            </a:r>
            <a:endParaRPr lang="en-US" sz="1250" dirty="0"/>
          </a:p>
        </p:txBody>
      </p:sp>
      <p:sp>
        <p:nvSpPr>
          <p:cNvPr id="17" name="Text 15"/>
          <p:cNvSpPr/>
          <p:nvPr/>
        </p:nvSpPr>
        <p:spPr>
          <a:xfrm>
            <a:off x="6553048" y="4910328"/>
            <a:ext cx="1554480" cy="274320"/>
          </a:xfrm>
          <a:prstGeom prst="rect">
            <a:avLst/>
          </a:prstGeom>
          <a:noFill/>
          <a:ln/>
        </p:spPr>
        <p:txBody>
          <a:bodyPr wrap="square" lIns="0" tIns="0" rIns="0" bIns="0" rtlCol="0" anchor="ctr"/>
          <a:lstStyle/>
          <a:p>
            <a:pPr indent="0" marL="0">
              <a:buNone/>
            </a:pPr>
            <a:r>
              <a:rPr lang="en-US" sz="1300" b="1" dirty="0">
                <a:solidFill>
                  <a:srgbClr val="00B3E2"/>
                </a:solidFill>
                <a:latin typeface="Arial" pitchFamily="34" charset="0"/>
                <a:ea typeface="Arial" pitchFamily="34" charset="-122"/>
                <a:cs typeface="Arial" pitchFamily="34" charset="-120"/>
              </a:rPr>
              <a:t>Fix</a:t>
            </a:r>
            <a:endParaRPr lang="en-US" sz="1300" dirty="0"/>
          </a:p>
        </p:txBody>
      </p:sp>
      <p:sp>
        <p:nvSpPr>
          <p:cNvPr id="18" name="Text 16"/>
          <p:cNvSpPr/>
          <p:nvPr/>
        </p:nvSpPr>
        <p:spPr>
          <a:xfrm>
            <a:off x="6553048" y="5184648"/>
            <a:ext cx="47974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When advertising a default route, also advertise the more specific on-premises routes needed for AVS management access.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3</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Firewall ports and HCX tunnels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6400800"/>
                <a:gridCol w="4657039"/>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Protocol and port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vCenter Server web access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443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NSX Manager web access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443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Active Directory / LDAP authentication</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389, with TCP 636 recommended for LDAPS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Active Directory Global Catalog</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3268, TCP 3269 for secure Global Catalog</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HCX Cloud Manager appliance administration</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9443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HCX Manager to Interconnect and Network Extension REST API</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TCP 9443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r h="402336">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HCX source-to-destination IPsec / IKEv2 tunnels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300" dirty="0">
                          <a:solidFill>
                            <a:srgbClr val="3E3E4B"/>
                          </a:solidFill>
                          <a:latin typeface="Calibri" pitchFamily="34" charset="0"/>
                          <a:ea typeface="Calibri" pitchFamily="34" charset="-122"/>
                          <a:cs typeface="Calibri" pitchFamily="34" charset="-120"/>
                        </a:rPr>
                        <a:t>UDP 4500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r>
            </a:tbl>
          </a:graphicData>
        </a:graphic>
      </p:graphicFrame>
      <p:sp>
        <p:nvSpPr>
          <p:cNvPr id="7" name="Shape 4"/>
          <p:cNvSpPr/>
          <p:nvPr/>
        </p:nvSpPr>
        <p:spPr>
          <a:xfrm>
            <a:off x="566928" y="4864608"/>
            <a:ext cx="5346040" cy="896112"/>
          </a:xfrm>
          <a:prstGeom prst="roundRect">
            <a:avLst>
              <a:gd name="adj" fmla="val 9184"/>
            </a:avLst>
          </a:prstGeom>
          <a:solidFill>
            <a:srgbClr val="E5F7FC"/>
          </a:solidFill>
          <a:ln w="12700">
            <a:solidFill>
              <a:srgbClr val="E5F7FC"/>
            </a:solidFill>
            <a:prstDash val="solid"/>
          </a:ln>
        </p:spPr>
      </p:sp>
      <p:sp>
        <p:nvSpPr>
          <p:cNvPr id="8" name="Text 5"/>
          <p:cNvSpPr/>
          <p:nvPr/>
        </p:nvSpPr>
        <p:spPr>
          <a:xfrm>
            <a:off x="804672" y="4956048"/>
            <a:ext cx="4870552" cy="731520"/>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HCX Network Extension provides Layer-2 extension across the IPsec interconnect between paired sites.</a:t>
            </a:r>
            <a:endParaRPr lang="en-US" sz="1250" dirty="0"/>
          </a:p>
        </p:txBody>
      </p:sp>
      <p:sp>
        <p:nvSpPr>
          <p:cNvPr id="9" name="Shape 6"/>
          <p:cNvSpPr/>
          <p:nvPr/>
        </p:nvSpPr>
        <p:spPr>
          <a:xfrm>
            <a:off x="6278728" y="4864608"/>
            <a:ext cx="5346040" cy="896112"/>
          </a:xfrm>
          <a:prstGeom prst="roundRect">
            <a:avLst>
              <a:gd name="adj" fmla="val 9184"/>
            </a:avLst>
          </a:prstGeom>
          <a:solidFill>
            <a:srgbClr val="3E3E4B"/>
          </a:solidFill>
          <a:ln w="12700">
            <a:solidFill>
              <a:srgbClr val="3E3E4B"/>
            </a:solidFill>
            <a:prstDash val="solid"/>
          </a:ln>
        </p:spPr>
      </p:sp>
      <p:sp>
        <p:nvSpPr>
          <p:cNvPr id="10" name="Text 7"/>
          <p:cNvSpPr/>
          <p:nvPr/>
        </p:nvSpPr>
        <p:spPr>
          <a:xfrm>
            <a:off x="6516472" y="4956048"/>
            <a:ext cx="4870552" cy="7315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Blocking UDP 4500 prevents the required interconnect and network-extension tunnels from forming.</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AD1AAC"/>
                </a:solidFill>
                <a:latin typeface="Arial" pitchFamily="34" charset="0"/>
                <a:ea typeface="Arial" pitchFamily="34" charset="-122"/>
                <a:cs typeface="Arial" pitchFamily="34" charset="-120"/>
              </a:rPr>
              <a:t>04</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Identity and Control Plane</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Two control planes, two attack surfaces, one break-glass account.</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19</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4</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Identity design and external authentication</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20</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pic>
        <p:nvPicPr>
          <p:cNvPr id="6" name="Image 0" descr="images/avs-vcenter-ldaps-connectivity.png">    </p:cNvPr>
          <p:cNvPicPr>
            <a:picLocks noChangeAspect="1"/>
          </p:cNvPicPr>
          <p:nvPr/>
        </p:nvPicPr>
        <p:blipFill>
          <a:blip r:embed="rId1"/>
          <a:srcRect l="0" r="0" t="0" b="0"/>
          <a:stretch/>
        </p:blipFill>
        <p:spPr>
          <a:xfrm>
            <a:off x="6172200" y="1508760"/>
            <a:ext cx="5440680" cy="2011680"/>
          </a:xfrm>
          <a:prstGeom prst="rect">
            <a:avLst/>
          </a:prstGeom>
        </p:spPr>
      </p:pic>
      <p:sp>
        <p:nvSpPr>
          <p:cNvPr id="7" name="Text 4"/>
          <p:cNvSpPr/>
          <p:nvPr/>
        </p:nvSpPr>
        <p:spPr>
          <a:xfrm>
            <a:off x="6172200" y="3575304"/>
            <a:ext cx="544068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set an external identity source for vCenter Server</a:t>
            </a:r>
            <a:endParaRPr lang="en-US" sz="1000" dirty="0"/>
          </a:p>
        </p:txBody>
      </p:sp>
      <p:sp>
        <p:nvSpPr>
          <p:cNvPr id="8" name="Shape 5"/>
          <p:cNvSpPr/>
          <p:nvPr/>
        </p:nvSpPr>
        <p:spPr>
          <a:xfrm>
            <a:off x="566928" y="1481328"/>
            <a:ext cx="5394960" cy="4279392"/>
          </a:xfrm>
          <a:prstGeom prst="roundRect">
            <a:avLst>
              <a:gd name="adj" fmla="val 1923"/>
            </a:avLst>
          </a:prstGeom>
          <a:solidFill>
            <a:srgbClr val="E5F7FC"/>
          </a:solidFill>
          <a:ln w="12700">
            <a:solidFill>
              <a:srgbClr val="E5F7FC"/>
            </a:solidFill>
            <a:prstDash val="solid"/>
          </a:ln>
        </p:spPr>
      </p:sp>
      <p:sp>
        <p:nvSpPr>
          <p:cNvPr id="9" name="Text 6"/>
          <p:cNvSpPr/>
          <p:nvPr/>
        </p:nvSpPr>
        <p:spPr>
          <a:xfrm>
            <a:off x="822960" y="1645920"/>
            <a:ext cx="4892040" cy="566928"/>
          </a:xfrm>
          <a:prstGeom prst="rect">
            <a:avLst/>
          </a:prstGeom>
          <a:noFill/>
          <a:ln/>
        </p:spPr>
        <p:txBody>
          <a:bodyPr wrap="square" lIns="0" tIns="0" rIns="0" bIns="0" rtlCol="0" anchor="t"/>
          <a:lstStyle/>
          <a:p>
            <a:pPr indent="0" marL="0">
              <a:buNone/>
            </a:pPr>
            <a:r>
              <a:rPr lang="en-US" sz="1600" b="1" dirty="0">
                <a:solidFill>
                  <a:srgbClr val="00B3E2"/>
                </a:solidFill>
                <a:latin typeface="Arial" pitchFamily="34" charset="0"/>
                <a:ea typeface="Arial" pitchFamily="34" charset="-122"/>
                <a:cs typeface="Arial" pitchFamily="34" charset="-120"/>
              </a:rPr>
              <a:t>Do not depend on the WAN for administration</a:t>
            </a:r>
            <a:endParaRPr lang="en-US" sz="1600" dirty="0"/>
          </a:p>
        </p:txBody>
      </p:sp>
      <p:sp>
        <p:nvSpPr>
          <p:cNvPr id="10" name="Text 7"/>
          <p:cNvSpPr/>
          <p:nvPr/>
        </p:nvSpPr>
        <p:spPr>
          <a:xfrm>
            <a:off x="822960" y="2212848"/>
            <a:ext cx="4892040" cy="342900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Deploy resilient AD DS and DNS reachable from AVS, commonly including Azure-resident domain controllers.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Relying only on on-premises controllers makes authentication depend on ExpressRoute.</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If the circuit fails, workloads keep running but administrators may be unable to sign in to vCenter or NSX.</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Configure AD Sites and Services and DNS so AVS uses an appropriate reachable controller.</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Add Active Directory over LDAPS as the external vCenter identity source. TLS protects directory traffic in transit.</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Use named AD identities and groups, then assign vCenter and NSX roles by least privilege.</a:t>
            </a:r>
            <a:endParaRPr lang="en-US" sz="1250" dirty="0"/>
          </a:p>
        </p:txBody>
      </p:sp>
      <p:sp>
        <p:nvSpPr>
          <p:cNvPr id="11" name="Shape 8"/>
          <p:cNvSpPr/>
          <p:nvPr/>
        </p:nvSpPr>
        <p:spPr>
          <a:xfrm>
            <a:off x="6172200" y="3913632"/>
            <a:ext cx="5440680" cy="1847088"/>
          </a:xfrm>
          <a:prstGeom prst="roundRect">
            <a:avLst>
              <a:gd name="adj" fmla="val 4455"/>
            </a:avLst>
          </a:prstGeom>
          <a:solidFill>
            <a:srgbClr val="3E3E4B"/>
          </a:solidFill>
          <a:ln w="12700">
            <a:solidFill>
              <a:srgbClr val="3E3E4B"/>
            </a:solidFill>
            <a:prstDash val="solid"/>
          </a:ln>
        </p:spPr>
      </p:sp>
      <p:sp>
        <p:nvSpPr>
          <p:cNvPr id="12" name="Text 9"/>
          <p:cNvSpPr/>
          <p:nvPr/>
        </p:nvSpPr>
        <p:spPr>
          <a:xfrm>
            <a:off x="6419088" y="4059936"/>
            <a:ext cx="4937760" cy="292608"/>
          </a:xfrm>
          <a:prstGeom prst="rect">
            <a:avLst/>
          </a:prstGeom>
          <a:noFill/>
          <a:ln/>
        </p:spPr>
        <p:txBody>
          <a:bodyPr wrap="square" lIns="0" tIns="0" rIns="0" bIns="0" rtlCol="0" anchor="ctr"/>
          <a:lstStyle/>
          <a:p>
            <a:pPr indent="0" marL="0">
              <a:buNone/>
            </a:pPr>
            <a:r>
              <a:rPr lang="en-US" sz="1500" b="1" dirty="0">
                <a:solidFill>
                  <a:srgbClr val="FAC458"/>
                </a:solidFill>
                <a:latin typeface="Arial" pitchFamily="34" charset="0"/>
                <a:ea typeface="Arial" pitchFamily="34" charset="-122"/>
                <a:cs typeface="Arial" pitchFamily="34" charset="-120"/>
              </a:rPr>
              <a:t>Design goal</a:t>
            </a:r>
            <a:endParaRPr lang="en-US" sz="1500" dirty="0"/>
          </a:p>
        </p:txBody>
      </p:sp>
      <p:sp>
        <p:nvSpPr>
          <p:cNvPr id="13" name="Text 10"/>
          <p:cNvSpPr/>
          <p:nvPr/>
        </p:nvSpPr>
        <p:spPr>
          <a:xfrm>
            <a:off x="6419088" y="4389120"/>
            <a:ext cx="4956048" cy="120700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Local AVS administration should remain possible even when the on-premises connection is down. Test that assumption before go-live rather than discovering it during an outage.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4</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CloudAdmin as break-glass, not a daily account</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4279392"/>
          </a:xfrm>
          <a:prstGeom prst="roundRect">
            <a:avLst>
              <a:gd name="adj" fmla="val 1923"/>
            </a:avLst>
          </a:prstGeom>
          <a:solidFill>
            <a:srgbClr val="E5F7FC"/>
          </a:solidFill>
          <a:ln w="12700">
            <a:solidFill>
              <a:srgbClr val="E5F7FC"/>
            </a:solidFill>
            <a:prstDash val="solid"/>
          </a:ln>
        </p:spPr>
      </p:sp>
      <p:sp>
        <p:nvSpPr>
          <p:cNvPr id="7" name="Text 5"/>
          <p:cNvSpPr/>
          <p:nvPr/>
        </p:nvSpPr>
        <p:spPr>
          <a:xfrm>
            <a:off x="841248" y="1645920"/>
            <a:ext cx="4797400" cy="310896"/>
          </a:xfrm>
          <a:prstGeom prst="rect">
            <a:avLst/>
          </a:prstGeom>
          <a:noFill/>
          <a:ln/>
        </p:spPr>
        <p:txBody>
          <a:bodyPr wrap="square" lIns="0" tIns="0" rIns="0" bIns="0" rtlCol="0" anchor="ctr"/>
          <a:lstStyle/>
          <a:p>
            <a:pPr indent="0" marL="0">
              <a:buNone/>
            </a:pPr>
            <a:r>
              <a:rPr lang="en-US" sz="1600" b="1" dirty="0">
                <a:solidFill>
                  <a:srgbClr val="AD1AAC"/>
                </a:solidFill>
                <a:latin typeface="Arial" pitchFamily="34" charset="0"/>
                <a:ea typeface="Arial" pitchFamily="34" charset="-122"/>
                <a:cs typeface="Arial" pitchFamily="34" charset="-120"/>
              </a:rPr>
              <a:t>Handling cloudadmin@vsphere.local</a:t>
            </a:r>
            <a:endParaRPr lang="en-US" sz="1600" dirty="0"/>
          </a:p>
        </p:txBody>
      </p:sp>
      <p:sp>
        <p:nvSpPr>
          <p:cNvPr id="8" name="Text 6"/>
          <p:cNvSpPr/>
          <p:nvPr/>
        </p:nvSpPr>
        <p:spPr>
          <a:xfrm>
            <a:off x="841248" y="2029968"/>
            <a:ext cx="4797400" cy="35661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Use it initially to configure LDAPS and grant named accounts the rights they need.</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Store the credential in an enterprise secrets vault with controlled access and auditing.</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Rotate after emergency use or suspected exposure, after checking dependent services.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Identify dependencies before rotation. If a script or service account locks out CloudAdmin, top-tier access may be lost.</a:t>
            </a:r>
            <a:endParaRPr lang="en-US" sz="1300" dirty="0"/>
          </a:p>
        </p:txBody>
      </p:sp>
      <p:sp>
        <p:nvSpPr>
          <p:cNvPr id="9" name="Shape 7"/>
          <p:cNvSpPr/>
          <p:nvPr/>
        </p:nvSpPr>
        <p:spPr>
          <a:xfrm>
            <a:off x="6278728" y="1481328"/>
            <a:ext cx="5346040" cy="4279392"/>
          </a:xfrm>
          <a:prstGeom prst="roundRect">
            <a:avLst>
              <a:gd name="adj" fmla="val 1923"/>
            </a:avLst>
          </a:prstGeom>
          <a:solidFill>
            <a:srgbClr val="D3EDF1"/>
          </a:solidFill>
          <a:ln w="12700">
            <a:solidFill>
              <a:srgbClr val="D3EDF1"/>
            </a:solidFill>
            <a:prstDash val="solid"/>
          </a:ln>
        </p:spPr>
      </p:sp>
      <p:sp>
        <p:nvSpPr>
          <p:cNvPr id="10" name="Text 8"/>
          <p:cNvSpPr/>
          <p:nvPr/>
        </p:nvSpPr>
        <p:spPr>
          <a:xfrm>
            <a:off x="6553048" y="1645920"/>
            <a:ext cx="4797400" cy="310896"/>
          </a:xfrm>
          <a:prstGeom prst="rect">
            <a:avLst/>
          </a:prstGeom>
          <a:noFill/>
          <a:ln/>
        </p:spPr>
        <p:txBody>
          <a:bodyPr wrap="square" lIns="0" tIns="0" rIns="0" bIns="0" rtlCol="0" anchor="ctr"/>
          <a:lstStyle/>
          <a:p>
            <a:pPr indent="0" marL="0">
              <a:buNone/>
            </a:pPr>
            <a:r>
              <a:rPr lang="en-US" sz="1600" b="1" dirty="0">
                <a:solidFill>
                  <a:srgbClr val="00AD93"/>
                </a:solidFill>
                <a:latin typeface="Arial" pitchFamily="34" charset="0"/>
                <a:ea typeface="Arial" pitchFamily="34" charset="-122"/>
                <a:cs typeface="Arial" pitchFamily="34" charset="-120"/>
              </a:rPr>
              <a:t>Custom vCenter RBAC</a:t>
            </a:r>
            <a:endParaRPr lang="en-US" sz="1600" dirty="0"/>
          </a:p>
        </p:txBody>
      </p:sp>
      <p:sp>
        <p:nvSpPr>
          <p:cNvPr id="11" name="Text 9"/>
          <p:cNvSpPr/>
          <p:nvPr/>
        </p:nvSpPr>
        <p:spPr>
          <a:xfrm>
            <a:off x="6553048" y="2029968"/>
            <a:ext cx="4797400" cy="35661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Administrators operate within CloudAdmin privileges and cannot manage Microsoft-controlled platform objects.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vCenter rejects role creation if the role includes privileges higher than CloudAdmin holds.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Build least-privilege roles from the available permissions and test them on noncritical objects first.</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Example: a tier-one support role allowing VM reboot and console access while denying datastore deletion and segment changes.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4</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Azure control plane security and PIM</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1554480"/>
          </a:xfrm>
          <a:prstGeom prst="roundRect">
            <a:avLst>
              <a:gd name="adj" fmla="val 5294"/>
            </a:avLst>
          </a:prstGeom>
          <a:solidFill>
            <a:srgbClr val="E5F7FC"/>
          </a:solidFill>
          <a:ln w="12700">
            <a:solidFill>
              <a:srgbClr val="E5F7FC"/>
            </a:solidFill>
            <a:prstDash val="solid"/>
          </a:ln>
        </p:spPr>
      </p:sp>
      <p:sp>
        <p:nvSpPr>
          <p:cNvPr id="7" name="Text 5"/>
          <p:cNvSpPr/>
          <p:nvPr/>
        </p:nvSpPr>
        <p:spPr>
          <a:xfrm>
            <a:off x="841248" y="1627632"/>
            <a:ext cx="4797400" cy="292608"/>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Azure plane</a:t>
            </a:r>
            <a:endParaRPr lang="en-US" sz="1500" dirty="0"/>
          </a:p>
        </p:txBody>
      </p:sp>
      <p:sp>
        <p:nvSpPr>
          <p:cNvPr id="8" name="Text 6"/>
          <p:cNvSpPr/>
          <p:nvPr/>
        </p:nvSpPr>
        <p:spPr>
          <a:xfrm>
            <a:off x="841248" y="1956816"/>
            <a:ext cx="4797400" cy="960120"/>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Azure Resource Manager controls the AVS resource lifecycle, including deployment, scaling, and destructive cluster operations.</a:t>
            </a:r>
            <a:endParaRPr lang="en-US" sz="1300" dirty="0"/>
          </a:p>
        </p:txBody>
      </p:sp>
      <p:sp>
        <p:nvSpPr>
          <p:cNvPr id="9" name="Shape 7"/>
          <p:cNvSpPr/>
          <p:nvPr/>
        </p:nvSpPr>
        <p:spPr>
          <a:xfrm>
            <a:off x="6278728" y="1481328"/>
            <a:ext cx="5346040" cy="1554480"/>
          </a:xfrm>
          <a:prstGeom prst="roundRect">
            <a:avLst>
              <a:gd name="adj" fmla="val 5294"/>
            </a:avLst>
          </a:prstGeom>
          <a:solidFill>
            <a:srgbClr val="D3EDF1"/>
          </a:solidFill>
          <a:ln w="12700">
            <a:solidFill>
              <a:srgbClr val="D3EDF1"/>
            </a:solidFill>
            <a:prstDash val="solid"/>
          </a:ln>
        </p:spPr>
      </p:sp>
      <p:sp>
        <p:nvSpPr>
          <p:cNvPr id="10" name="Text 8"/>
          <p:cNvSpPr/>
          <p:nvPr/>
        </p:nvSpPr>
        <p:spPr>
          <a:xfrm>
            <a:off x="6553048" y="1627632"/>
            <a:ext cx="4797400" cy="292608"/>
          </a:xfrm>
          <a:prstGeom prst="rect">
            <a:avLst/>
          </a:prstGeom>
          <a:noFill/>
          <a:ln/>
        </p:spPr>
        <p:txBody>
          <a:bodyPr wrap="square" lIns="0" tIns="0" rIns="0" bIns="0" rtlCol="0" anchor="ctr"/>
          <a:lstStyle/>
          <a:p>
            <a:pPr indent="0" marL="0">
              <a:buNone/>
            </a:pPr>
            <a:r>
              <a:rPr lang="en-US" sz="1500" b="1" dirty="0">
                <a:solidFill>
                  <a:srgbClr val="00AD93"/>
                </a:solidFill>
                <a:latin typeface="Arial" pitchFamily="34" charset="0"/>
                <a:ea typeface="Arial" pitchFamily="34" charset="-122"/>
                <a:cs typeface="Arial" pitchFamily="34" charset="-120"/>
              </a:rPr>
              <a:t>VMware plane</a:t>
            </a:r>
            <a:endParaRPr lang="en-US" sz="1500" dirty="0"/>
          </a:p>
        </p:txBody>
      </p:sp>
      <p:sp>
        <p:nvSpPr>
          <p:cNvPr id="11" name="Text 9"/>
          <p:cNvSpPr/>
          <p:nvPr/>
        </p:nvSpPr>
        <p:spPr>
          <a:xfrm>
            <a:off x="6553048" y="1956816"/>
            <a:ext cx="4797400" cy="960120"/>
          </a:xfrm>
          <a:prstGeom prst="rect">
            <a:avLst/>
          </a:prstGeom>
          <a:noFill/>
          <a:ln/>
        </p:spPr>
        <p:txBody>
          <a:bodyPr wrap="square" lIns="0" tIns="0" rIns="0" bIns="0" rtlCol="0" anchor="t"/>
          <a:lstStyle/>
          <a:p>
            <a:pPr indent="0" marL="0">
              <a:buNone/>
            </a:pPr>
            <a:r>
              <a:rPr lang="en-US" sz="1300" dirty="0">
                <a:solidFill>
                  <a:srgbClr val="6E6E7C"/>
                </a:solidFill>
                <a:latin typeface="Calibri" pitchFamily="34" charset="0"/>
                <a:ea typeface="Calibri" pitchFamily="34" charset="-122"/>
                <a:cs typeface="Calibri" pitchFamily="34" charset="-120"/>
              </a:rPr>
              <a:t>vCenter Server and NSX Manager control permitted workload compute, storage policy, networking, and security operations.</a:t>
            </a:r>
            <a:endParaRPr lang="en-US" sz="1300" dirty="0"/>
          </a:p>
        </p:txBody>
      </p:sp>
      <p:sp>
        <p:nvSpPr>
          <p:cNvPr id="12" name="Shape 10"/>
          <p:cNvSpPr/>
          <p:nvPr/>
        </p:nvSpPr>
        <p:spPr>
          <a:xfrm>
            <a:off x="566928" y="3246120"/>
            <a:ext cx="11057839" cy="1234440"/>
          </a:xfrm>
          <a:prstGeom prst="roundRect">
            <a:avLst>
              <a:gd name="adj" fmla="val 6667"/>
            </a:avLst>
          </a:prstGeom>
          <a:solidFill>
            <a:srgbClr val="EBEDED"/>
          </a:solidFill>
          <a:ln w="12700">
            <a:solidFill>
              <a:srgbClr val="EBEDED"/>
            </a:solidFill>
            <a:prstDash val="solid"/>
          </a:ln>
        </p:spPr>
      </p:sp>
      <p:sp>
        <p:nvSpPr>
          <p:cNvPr id="13" name="Text 11"/>
          <p:cNvSpPr/>
          <p:nvPr/>
        </p:nvSpPr>
        <p:spPr>
          <a:xfrm>
            <a:off x="841248" y="3364992"/>
            <a:ext cx="3840480" cy="29260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Privileged Identity Management</a:t>
            </a:r>
            <a:endParaRPr lang="en-US" sz="1500" dirty="0"/>
          </a:p>
        </p:txBody>
      </p:sp>
      <p:sp>
        <p:nvSpPr>
          <p:cNvPr id="14" name="Text 12"/>
          <p:cNvSpPr/>
          <p:nvPr/>
        </p:nvSpPr>
        <p:spPr>
          <a:xfrm>
            <a:off x="4864608" y="3364992"/>
            <a:ext cx="6485839" cy="960120"/>
          </a:xfrm>
          <a:prstGeom prst="rect">
            <a:avLst/>
          </a:prstGeom>
          <a:noFill/>
          <a:ln/>
        </p:spPr>
        <p:txBody>
          <a:bodyPr wrap="square" lIns="0" tIns="0" rIns="0" bIns="0" rtlCol="0" anchor="t"/>
          <a:lstStyle/>
          <a:p>
            <a:pPr indent="0" marL="0">
              <a:buNone/>
            </a:pPr>
            <a:r>
              <a:rPr lang="en-US" sz="1300" dirty="0">
                <a:solidFill>
                  <a:srgbClr val="3E3E4B"/>
                </a:solidFill>
                <a:latin typeface="Calibri" pitchFamily="34" charset="0"/>
                <a:ea typeface="Calibri" pitchFamily="34" charset="-122"/>
                <a:cs typeface="Calibri" pitchFamily="34" charset="-120"/>
              </a:rPr>
              <a:t>Eligible users activate roles when needed. PIM supports just-in-time, time-bound, approval-based access with MFA, justification, notifications, and audit history. Role settings can require approval, MFA, justification, a maximum activation duration, and notifications.</a:t>
            </a:r>
            <a:endParaRPr lang="en-US" sz="1300" dirty="0"/>
          </a:p>
        </p:txBody>
      </p:sp>
      <p:sp>
        <p:nvSpPr>
          <p:cNvPr id="15" name="Shape 13"/>
          <p:cNvSpPr/>
          <p:nvPr/>
        </p:nvSpPr>
        <p:spPr>
          <a:xfrm>
            <a:off x="566928" y="4663440"/>
            <a:ext cx="11057839" cy="1097280"/>
          </a:xfrm>
          <a:prstGeom prst="roundRect">
            <a:avLst>
              <a:gd name="adj" fmla="val 7500"/>
            </a:avLst>
          </a:prstGeom>
          <a:solidFill>
            <a:srgbClr val="3E3E4B"/>
          </a:solidFill>
          <a:ln w="12700">
            <a:solidFill>
              <a:srgbClr val="3E3E4B"/>
            </a:solidFill>
            <a:prstDash val="solid"/>
          </a:ln>
        </p:spPr>
      </p:sp>
      <p:sp>
        <p:nvSpPr>
          <p:cNvPr id="16" name="Text 14"/>
          <p:cNvSpPr/>
          <p:nvPr/>
        </p:nvSpPr>
        <p:spPr>
          <a:xfrm>
            <a:off x="886968" y="4773168"/>
            <a:ext cx="10417759" cy="292608"/>
          </a:xfrm>
          <a:prstGeom prst="rect">
            <a:avLst/>
          </a:prstGeom>
          <a:noFill/>
          <a:ln/>
        </p:spPr>
        <p:txBody>
          <a:bodyPr wrap="square" lIns="0" tIns="0" rIns="0" bIns="0" rtlCol="0" anchor="ctr"/>
          <a:lstStyle/>
          <a:p>
            <a:pPr indent="0" marL="0">
              <a:buNone/>
            </a:pPr>
            <a:r>
              <a:rPr lang="en-US" sz="1500" b="1" dirty="0">
                <a:solidFill>
                  <a:srgbClr val="FAC458"/>
                </a:solidFill>
                <a:latin typeface="Arial" pitchFamily="34" charset="0"/>
                <a:ea typeface="Arial" pitchFamily="34" charset="-122"/>
                <a:cs typeface="Arial" pitchFamily="34" charset="-120"/>
              </a:rPr>
              <a:t>Correction: alerting does not need a standing privileged identity</a:t>
            </a:r>
            <a:endParaRPr lang="en-US" sz="1500" dirty="0"/>
          </a:p>
        </p:txBody>
      </p:sp>
      <p:sp>
        <p:nvSpPr>
          <p:cNvPr id="17" name="Text 15"/>
          <p:cNvSpPr/>
          <p:nvPr/>
        </p:nvSpPr>
        <p:spPr>
          <a:xfrm>
            <a:off x="886968" y="5084064"/>
            <a:ext cx="10417759" cy="640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Azure Monitor, Service Health, and Resource Health alerts do not require a human administrator to hold an active PIM role at the time of the event. Route notifications through action groups, distribution lists, webhooks, ITSM connectors, or a pager workflow instead of creating standing permissions for SMTP delivery.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F15D23"/>
                </a:solidFill>
                <a:latin typeface="Arial" pitchFamily="34" charset="0"/>
                <a:ea typeface="Arial" pitchFamily="34" charset="-122"/>
                <a:cs typeface="Arial" pitchFamily="34" charset="-120"/>
              </a:rPr>
              <a:t>05</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Migration and Resilience</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HCX design, the AV64 EVC trap, backup, DR, and stretched clusters.</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23</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5</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HCX migration design and Mobility Optimized Networking</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24</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pic>
        <p:nvPicPr>
          <p:cNvPr id="6" name="Image 0" descr="images/avs-hcx-mon-traffic-optimization.png">    </p:cNvPr>
          <p:cNvPicPr>
            <a:picLocks noChangeAspect="1"/>
          </p:cNvPicPr>
          <p:nvPr/>
        </p:nvPicPr>
        <p:blipFill>
          <a:blip r:embed="rId1"/>
          <a:srcRect l="0" r="0" t="0" b="0"/>
          <a:stretch/>
        </p:blipFill>
        <p:spPr>
          <a:xfrm>
            <a:off x="6263640" y="1481328"/>
            <a:ext cx="5349240" cy="3063240"/>
          </a:xfrm>
          <a:prstGeom prst="rect">
            <a:avLst/>
          </a:prstGeom>
        </p:spPr>
      </p:pic>
      <p:sp>
        <p:nvSpPr>
          <p:cNvPr id="7" name="Text 4"/>
          <p:cNvSpPr/>
          <p:nvPr/>
        </p:nvSpPr>
        <p:spPr>
          <a:xfrm>
            <a:off x="6263640" y="4599432"/>
            <a:ext cx="534924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HCX Mobility Optimized Networking guidance</a:t>
            </a:r>
            <a:endParaRPr lang="en-US" sz="1000" dirty="0"/>
          </a:p>
        </p:txBody>
      </p:sp>
      <p:sp>
        <p:nvSpPr>
          <p:cNvPr id="8" name="Shape 5"/>
          <p:cNvSpPr/>
          <p:nvPr/>
        </p:nvSpPr>
        <p:spPr>
          <a:xfrm>
            <a:off x="566928" y="1481328"/>
            <a:ext cx="5486400" cy="1691640"/>
          </a:xfrm>
          <a:prstGeom prst="roundRect">
            <a:avLst>
              <a:gd name="adj" fmla="val 4865"/>
            </a:avLst>
          </a:prstGeom>
          <a:solidFill>
            <a:srgbClr val="E5F7FC"/>
          </a:solidFill>
          <a:ln w="12700">
            <a:solidFill>
              <a:srgbClr val="E5F7FC"/>
            </a:solidFill>
            <a:prstDash val="solid"/>
          </a:ln>
        </p:spPr>
      </p:sp>
      <p:sp>
        <p:nvSpPr>
          <p:cNvPr id="9" name="Text 6"/>
          <p:cNvSpPr/>
          <p:nvPr/>
        </p:nvSpPr>
        <p:spPr>
          <a:xfrm>
            <a:off x="822960" y="1627632"/>
            <a:ext cx="4983480" cy="292608"/>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Migration direction</a:t>
            </a:r>
            <a:endParaRPr lang="en-US" sz="1500" dirty="0"/>
          </a:p>
        </p:txBody>
      </p:sp>
      <p:sp>
        <p:nvSpPr>
          <p:cNvPr id="10" name="Text 7"/>
          <p:cNvSpPr/>
          <p:nvPr/>
        </p:nvSpPr>
        <p:spPr>
          <a:xfrm>
            <a:off x="822960" y="1956816"/>
            <a:ext cx="4983480" cy="11430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The on-premises HCX Connector pairs with HCX Cloud Manager in AVS and deploys paired service-mesh appliances. In the standard Connector-to-Cloud topology the Connector is the source for mobility and network extension. Do not initiate bulk migrations from the cloud-side appliance.</a:t>
            </a:r>
            <a:endParaRPr lang="en-US" sz="1250" dirty="0"/>
          </a:p>
        </p:txBody>
      </p:sp>
      <p:sp>
        <p:nvSpPr>
          <p:cNvPr id="11" name="Shape 8"/>
          <p:cNvSpPr/>
          <p:nvPr/>
        </p:nvSpPr>
        <p:spPr>
          <a:xfrm>
            <a:off x="566928" y="3364992"/>
            <a:ext cx="5486400" cy="1691640"/>
          </a:xfrm>
          <a:prstGeom prst="roundRect">
            <a:avLst>
              <a:gd name="adj" fmla="val 4865"/>
            </a:avLst>
          </a:prstGeom>
          <a:solidFill>
            <a:srgbClr val="D3EDF1"/>
          </a:solidFill>
          <a:ln w="12700">
            <a:solidFill>
              <a:srgbClr val="D3EDF1"/>
            </a:solidFill>
            <a:prstDash val="solid"/>
          </a:ln>
        </p:spPr>
      </p:sp>
      <p:sp>
        <p:nvSpPr>
          <p:cNvPr id="12" name="Text 9"/>
          <p:cNvSpPr/>
          <p:nvPr/>
        </p:nvSpPr>
        <p:spPr>
          <a:xfrm>
            <a:off x="822960" y="3511296"/>
            <a:ext cx="4983480" cy="292608"/>
          </a:xfrm>
          <a:prstGeom prst="rect">
            <a:avLst/>
          </a:prstGeom>
          <a:noFill/>
          <a:ln/>
        </p:spPr>
        <p:txBody>
          <a:bodyPr wrap="square" lIns="0" tIns="0" rIns="0" bIns="0" rtlCol="0" anchor="ctr"/>
          <a:lstStyle/>
          <a:p>
            <a:pPr indent="0" marL="0">
              <a:buNone/>
            </a:pPr>
            <a:r>
              <a:rPr lang="en-US" sz="1500" b="1" dirty="0">
                <a:solidFill>
                  <a:srgbClr val="00AD93"/>
                </a:solidFill>
                <a:latin typeface="Arial" pitchFamily="34" charset="0"/>
                <a:ea typeface="Arial" pitchFamily="34" charset="-122"/>
                <a:cs typeface="Arial" pitchFamily="34" charset="-120"/>
              </a:rPr>
              <a:t>Why MON matters</a:t>
            </a:r>
            <a:endParaRPr lang="en-US" sz="1500" dirty="0"/>
          </a:p>
        </p:txBody>
      </p:sp>
      <p:sp>
        <p:nvSpPr>
          <p:cNvPr id="13" name="Text 10"/>
          <p:cNvSpPr/>
          <p:nvPr/>
        </p:nvSpPr>
        <p:spPr>
          <a:xfrm>
            <a:off x="822960" y="3840480"/>
            <a:ext cx="4983480" cy="114300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Without MON, cloud-based VMs may route traffic back to an on-premises gateway and then return to Azure. That tromboning adds latency and reduces application performance. Properly configured MON keeps eligible destination-site traffic local.</a:t>
            </a:r>
            <a:endParaRPr lang="en-US" sz="1250" dirty="0"/>
          </a:p>
        </p:txBody>
      </p:sp>
      <p:sp>
        <p:nvSpPr>
          <p:cNvPr id="14" name="Shape 11"/>
          <p:cNvSpPr/>
          <p:nvPr/>
        </p:nvSpPr>
        <p:spPr>
          <a:xfrm>
            <a:off x="566928" y="5230368"/>
            <a:ext cx="11057839" cy="822960"/>
          </a:xfrm>
          <a:prstGeom prst="roundRect">
            <a:avLst>
              <a:gd name="adj" fmla="val 10000"/>
            </a:avLst>
          </a:prstGeom>
          <a:solidFill>
            <a:srgbClr val="3E3E4B"/>
          </a:solidFill>
          <a:ln w="12700">
            <a:solidFill>
              <a:srgbClr val="3E3E4B"/>
            </a:solidFill>
            <a:prstDash val="solid"/>
          </a:ln>
        </p:spPr>
      </p:sp>
      <p:sp>
        <p:nvSpPr>
          <p:cNvPr id="15" name="Text 12"/>
          <p:cNvSpPr/>
          <p:nvPr/>
        </p:nvSpPr>
        <p:spPr>
          <a:xfrm>
            <a:off x="841248" y="5321808"/>
            <a:ext cx="10509199"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Validate scale figures before design approval. Transcript-stated MON limits of roughly 400 VMs on a standard appliance, 1,000 on a large appliance, 100 stretched networks, and a 500 Mbps WAN optimization trigger were not confirmed in current documentation. Check the Broadcom configuration maximums for the exact HCX version.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5</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The AV64 heterogeneous CPU and EVC trap</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44752"/>
            <a:ext cx="11057839" cy="777240"/>
          </a:xfrm>
          <a:prstGeom prst="roundRect">
            <a:avLst>
              <a:gd name="adj" fmla="val 10588"/>
            </a:avLst>
          </a:prstGeom>
          <a:solidFill>
            <a:srgbClr val="E5F7FC"/>
          </a:solidFill>
          <a:ln w="12700">
            <a:solidFill>
              <a:srgbClr val="E5F7FC"/>
            </a:solidFill>
            <a:prstDash val="solid"/>
          </a:ln>
        </p:spPr>
      </p:sp>
      <p:sp>
        <p:nvSpPr>
          <p:cNvPr id="7" name="Text 5"/>
          <p:cNvSpPr/>
          <p:nvPr/>
        </p:nvSpPr>
        <p:spPr>
          <a:xfrm>
            <a:off x="841248" y="1536192"/>
            <a:ext cx="10509199"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In Generation 1, adding an Ice Lake AV64 cluster to a private cloud seeded by AV36, AV36P, AV48, or AV52 creates a heterogeneous CPU environment with documented EVC implications.</a:t>
            </a:r>
            <a:endParaRPr lang="en-US" sz="1350" dirty="0"/>
          </a:p>
        </p:txBody>
      </p:sp>
      <p:sp>
        <p:nvSpPr>
          <p:cNvPr id="8" name="Shape 6"/>
          <p:cNvSpPr/>
          <p:nvPr/>
        </p:nvSpPr>
        <p:spPr>
          <a:xfrm>
            <a:off x="566928" y="2395728"/>
            <a:ext cx="5346040" cy="1783080"/>
          </a:xfrm>
          <a:prstGeom prst="roundRect">
            <a:avLst>
              <a:gd name="adj" fmla="val 4615"/>
            </a:avLst>
          </a:prstGeom>
          <a:solidFill>
            <a:srgbClr val="E2F2E8"/>
          </a:solidFill>
          <a:ln w="12700">
            <a:solidFill>
              <a:srgbClr val="E2F2E8"/>
            </a:solidFill>
            <a:prstDash val="solid"/>
          </a:ln>
        </p:spPr>
      </p:sp>
      <p:sp>
        <p:nvSpPr>
          <p:cNvPr id="9" name="Text 7"/>
          <p:cNvSpPr/>
          <p:nvPr/>
        </p:nvSpPr>
        <p:spPr>
          <a:xfrm>
            <a:off x="841248" y="2542032"/>
            <a:ext cx="4797400" cy="292608"/>
          </a:xfrm>
          <a:prstGeom prst="rect">
            <a:avLst/>
          </a:prstGeom>
          <a:noFill/>
          <a:ln/>
        </p:spPr>
        <p:txBody>
          <a:bodyPr wrap="square" lIns="0" tIns="0" rIns="0" bIns="0" rtlCol="0" anchor="ctr"/>
          <a:lstStyle/>
          <a:p>
            <a:pPr indent="0" marL="0">
              <a:buNone/>
            </a:pPr>
            <a:r>
              <a:rPr lang="en-US" sz="1500" b="1" dirty="0">
                <a:solidFill>
                  <a:srgbClr val="00AD93"/>
                </a:solidFill>
                <a:latin typeface="Arial" pitchFamily="34" charset="0"/>
                <a:ea typeface="Arial" pitchFamily="34" charset="-122"/>
                <a:cs typeface="Arial" pitchFamily="34" charset="-120"/>
              </a:rPr>
              <a:t>Forward motion works</a:t>
            </a:r>
            <a:endParaRPr lang="en-US" sz="1500" dirty="0"/>
          </a:p>
        </p:txBody>
      </p:sp>
      <p:sp>
        <p:nvSpPr>
          <p:cNvPr id="10" name="Text 8"/>
          <p:cNvSpPr/>
          <p:nvPr/>
        </p:nvSpPr>
        <p:spPr>
          <a:xfrm>
            <a:off x="841248" y="2871216"/>
            <a:ext cx="4797400" cy="1188720"/>
          </a:xfrm>
          <a:prstGeom prst="rect">
            <a:avLst/>
          </a:prstGeom>
          <a:noFill/>
          <a:ln/>
        </p:spPr>
        <p:txBody>
          <a:bodyPr wrap="square" lIns="0" tIns="0" rIns="0" bIns="0" rtlCol="0" anchor="t"/>
          <a:lstStyle/>
          <a:p>
            <a:pPr indent="0" marL="0">
              <a:buNone/>
            </a:pPr>
            <a:r>
              <a:rPr lang="en-US" sz="1300" dirty="0">
                <a:solidFill>
                  <a:srgbClr val="3E3E4B"/>
                </a:solidFill>
                <a:latin typeface="Calibri" pitchFamily="34" charset="0"/>
                <a:ea typeface="Calibri" pitchFamily="34" charset="-122"/>
                <a:cs typeface="Calibri" pitchFamily="34" charset="-120"/>
              </a:rPr>
              <a:t>Microsoft documents that live vMotion from a base-SKU cluster to an AV64 cluster succeeds in the described EVC scenario.</a:t>
            </a:r>
            <a:endParaRPr lang="en-US" sz="1300" dirty="0"/>
          </a:p>
        </p:txBody>
      </p:sp>
      <p:sp>
        <p:nvSpPr>
          <p:cNvPr id="11" name="Shape 9"/>
          <p:cNvSpPr/>
          <p:nvPr/>
        </p:nvSpPr>
        <p:spPr>
          <a:xfrm>
            <a:off x="6278728" y="2395728"/>
            <a:ext cx="5346040" cy="1783080"/>
          </a:xfrm>
          <a:prstGeom prst="roundRect">
            <a:avLst>
              <a:gd name="adj" fmla="val 4615"/>
            </a:avLst>
          </a:prstGeom>
          <a:solidFill>
            <a:srgbClr val="3E3E4B"/>
          </a:solidFill>
          <a:ln w="12700">
            <a:solidFill>
              <a:srgbClr val="3E3E4B"/>
            </a:solidFill>
            <a:prstDash val="solid"/>
          </a:ln>
        </p:spPr>
      </p:sp>
      <p:sp>
        <p:nvSpPr>
          <p:cNvPr id="12" name="Text 10"/>
          <p:cNvSpPr/>
          <p:nvPr/>
        </p:nvSpPr>
        <p:spPr>
          <a:xfrm>
            <a:off x="6553048" y="2542032"/>
            <a:ext cx="4797400" cy="292608"/>
          </a:xfrm>
          <a:prstGeom prst="rect">
            <a:avLst/>
          </a:prstGeom>
          <a:noFill/>
          <a:ln/>
        </p:spPr>
        <p:txBody>
          <a:bodyPr wrap="square" lIns="0" tIns="0" rIns="0" bIns="0" rtlCol="0" anchor="ctr"/>
          <a:lstStyle/>
          <a:p>
            <a:pPr indent="0" marL="0">
              <a:buNone/>
            </a:pPr>
            <a:r>
              <a:rPr lang="en-US" sz="1500" b="1" dirty="0">
                <a:solidFill>
                  <a:srgbClr val="F15D23"/>
                </a:solidFill>
                <a:latin typeface="Arial" pitchFamily="34" charset="0"/>
                <a:ea typeface="Arial" pitchFamily="34" charset="-122"/>
                <a:cs typeface="Arial" pitchFamily="34" charset="-120"/>
              </a:rPr>
              <a:t>Backward motion is the risk</a:t>
            </a:r>
            <a:endParaRPr lang="en-US" sz="1500" dirty="0"/>
          </a:p>
        </p:txBody>
      </p:sp>
      <p:sp>
        <p:nvSpPr>
          <p:cNvPr id="13" name="Text 11"/>
          <p:cNvSpPr/>
          <p:nvPr/>
        </p:nvSpPr>
        <p:spPr>
          <a:xfrm>
            <a:off x="6553048" y="2871216"/>
            <a:ext cx="479740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powered-on VM exposed to newer CPU features might not be live-migratable back to an older baseline. EVC blocks the move because the target cannot supply the instructions the VM has already seen.</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4370832"/>
          <a:ext cx="11057839" cy="914400"/>
        </p:xfrm>
        <a:graphic>
          <a:graphicData uri="http://schemas.openxmlformats.org/drawingml/2006/table">
            <a:tbl>
              <a:tblPr/>
              <a:tblGrid>
                <a:gridCol w="2743200"/>
                <a:gridCol w="4206240"/>
                <a:gridCol w="4108399"/>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Operational impact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r>
              <a:tr h="54864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Reactive cold migration</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Power off the VM, move it, and boot it on the older host.</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Requires downtime and is unacceptable for many tier-one workloads.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r h="54864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Proactive VM-level EVC</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Configure per-VM EVC before migration to mask newer CPU features.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2E8"/>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Enables bidirectional live vMotion across heterogeneous clusters.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2E8"/>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5</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Backup placement and disaster recovery</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26</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577840" cy="2103120"/>
          </a:xfrm>
          <a:prstGeom prst="roundRect">
            <a:avLst>
              <a:gd name="adj" fmla="val 3913"/>
            </a:avLst>
          </a:prstGeom>
          <a:solidFill>
            <a:srgbClr val="E5F7FC"/>
          </a:solidFill>
          <a:ln w="12700">
            <a:solidFill>
              <a:srgbClr val="E5F7FC"/>
            </a:solidFill>
            <a:prstDash val="solid"/>
          </a:ln>
        </p:spPr>
      </p:sp>
      <p:sp>
        <p:nvSpPr>
          <p:cNvPr id="7" name="Text 5"/>
          <p:cNvSpPr/>
          <p:nvPr/>
        </p:nvSpPr>
        <p:spPr>
          <a:xfrm>
            <a:off x="822960" y="1627632"/>
            <a:ext cx="5074920" cy="310896"/>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Keep backups off the workload datastore</a:t>
            </a:r>
            <a:endParaRPr lang="en-US" sz="1500" dirty="0"/>
          </a:p>
        </p:txBody>
      </p:sp>
      <p:sp>
        <p:nvSpPr>
          <p:cNvPr id="8" name="Text 6"/>
          <p:cNvSpPr/>
          <p:nvPr/>
        </p:nvSpPr>
        <p:spPr>
          <a:xfrm>
            <a:off x="822960" y="1993392"/>
            <a:ext cx="5074920" cy="150876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vSAN is high-performance NVMe capacity intended for active workloads.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Large backup files can push the datastore past the 75 percent threshold.</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Use Azure Blob-backed protection or an external datastore, based on the vendor AVS design.</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3794760"/>
          <a:ext cx="5577840" cy="914400"/>
        </p:xfrm>
        <a:graphic>
          <a:graphicData uri="http://schemas.openxmlformats.org/drawingml/2006/table">
            <a:tbl>
              <a:tblPr/>
              <a:tblGrid>
                <a:gridCol w="2377440"/>
                <a:gridCol w="32004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 approach</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 case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3E4B"/>
                    </a:solidFill>
                  </a:tcPr>
                </a:tc>
              </a:tr>
              <a:tr h="45720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Azure Site Recovery</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Fail VMware workloads into native Azure IaaS virtual machines.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r h="45720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VMware Site Recovery Manager</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Fail VMware workloads to a secondary AVS private cloud.</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2E2"/>
                    </a:solidFill>
                  </a:tcPr>
                </a:tc>
              </a:tr>
              <a:tr h="457200">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Zerto or JetStream</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E8F6"/>
                    </a:solidFill>
                  </a:tcPr>
                </a:tc>
                <a:tc>
                  <a:txBody>
                    <a:bodyPr/>
                    <a:lstStyle/>
                    <a:p>
                      <a:pPr indent="0" marL="0">
                        <a:buNone/>
                      </a:pPr>
                      <a:r>
                        <a:rPr lang="en-US" sz="1250" dirty="0">
                          <a:solidFill>
                            <a:srgbClr val="3E3E4B"/>
                          </a:solidFill>
                          <a:latin typeface="Calibri" pitchFamily="34" charset="0"/>
                          <a:ea typeface="Calibri" pitchFamily="34" charset="-122"/>
                          <a:cs typeface="Calibri" pitchFamily="34" charset="-120"/>
                        </a:rPr>
                        <a:t>Third-party VMware-to-VMware replication options.</a:t>
                      </a:r>
                      <a:endParaRPr lang="en-US" sz="12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DED"/>
                    </a:solidFill>
                  </a:tcPr>
                </a:tc>
              </a:tr>
            </a:tbl>
          </a:graphicData>
        </a:graphic>
      </p:graphicFrame>
      <p:pic>
        <p:nvPicPr>
          <p:cNvPr id="10" name="Image 0" descr="images/avs-jetstream-cloud-to-cloud-dr.png">    </p:cNvPr>
          <p:cNvPicPr>
            <a:picLocks noChangeAspect="1"/>
          </p:cNvPicPr>
          <p:nvPr/>
        </p:nvPicPr>
        <p:blipFill>
          <a:blip r:embed="rId1"/>
          <a:srcRect l="0" r="0" t="0" b="0"/>
          <a:stretch/>
        </p:blipFill>
        <p:spPr>
          <a:xfrm>
            <a:off x="6446520" y="1481328"/>
            <a:ext cx="5166360" cy="3017520"/>
          </a:xfrm>
          <a:prstGeom prst="rect">
            <a:avLst/>
          </a:prstGeom>
        </p:spPr>
      </p:pic>
      <p:sp>
        <p:nvSpPr>
          <p:cNvPr id="11" name="Text 7"/>
          <p:cNvSpPr/>
          <p:nvPr/>
        </p:nvSpPr>
        <p:spPr>
          <a:xfrm>
            <a:off x="6446520" y="4553712"/>
            <a:ext cx="516636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deploy disaster recovery using JetStream DR</a:t>
            </a:r>
            <a:endParaRPr lang="en-US" sz="1000" dirty="0"/>
          </a:p>
        </p:txBody>
      </p:sp>
      <p:sp>
        <p:nvSpPr>
          <p:cNvPr id="12" name="Shape 8"/>
          <p:cNvSpPr/>
          <p:nvPr/>
        </p:nvSpPr>
        <p:spPr>
          <a:xfrm>
            <a:off x="6446520" y="4754880"/>
            <a:ext cx="5166360" cy="1005840"/>
          </a:xfrm>
          <a:prstGeom prst="roundRect">
            <a:avLst>
              <a:gd name="adj" fmla="val 8182"/>
            </a:avLst>
          </a:prstGeom>
          <a:solidFill>
            <a:srgbClr val="3E3E4B"/>
          </a:solidFill>
          <a:ln w="12700">
            <a:solidFill>
              <a:srgbClr val="3E3E4B"/>
            </a:solidFill>
            <a:prstDash val="solid"/>
          </a:ln>
        </p:spPr>
      </p:sp>
      <p:sp>
        <p:nvSpPr>
          <p:cNvPr id="13" name="Text 9"/>
          <p:cNvSpPr/>
          <p:nvPr/>
        </p:nvSpPr>
        <p:spPr>
          <a:xfrm>
            <a:off x="6675120" y="4846320"/>
            <a:ext cx="4709160" cy="8412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Use non-overlapping routed address spaces between connected private clouds. Overlap is rejected by supported interconnect workflows. Example: 10.0.0.0/16 primary, 192.168.0.0/16 secondary.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5</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Stretched clusters and vSAN witness behavior</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27</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pic>
        <p:nvPicPr>
          <p:cNvPr id="6" name="Image 0" descr="images/avs-stretched-cluster-witness.png">    </p:cNvPr>
          <p:cNvPicPr>
            <a:picLocks noChangeAspect="1"/>
          </p:cNvPicPr>
          <p:nvPr/>
        </p:nvPicPr>
        <p:blipFill>
          <a:blip r:embed="rId1"/>
          <a:srcRect l="0" r="0" t="0" b="0"/>
          <a:stretch/>
        </p:blipFill>
        <p:spPr>
          <a:xfrm>
            <a:off x="6309360" y="1481328"/>
            <a:ext cx="5303520" cy="3154680"/>
          </a:xfrm>
          <a:prstGeom prst="rect">
            <a:avLst/>
          </a:prstGeom>
        </p:spPr>
      </p:pic>
      <p:sp>
        <p:nvSpPr>
          <p:cNvPr id="7" name="Text 4"/>
          <p:cNvSpPr/>
          <p:nvPr/>
        </p:nvSpPr>
        <p:spPr>
          <a:xfrm>
            <a:off x="6309360" y="4690872"/>
            <a:ext cx="530352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design vSAN stretched clusters</a:t>
            </a:r>
            <a:endParaRPr lang="en-US" sz="1000" dirty="0"/>
          </a:p>
        </p:txBody>
      </p:sp>
      <p:sp>
        <p:nvSpPr>
          <p:cNvPr id="8" name="Shape 5"/>
          <p:cNvSpPr/>
          <p:nvPr/>
        </p:nvSpPr>
        <p:spPr>
          <a:xfrm>
            <a:off x="566928" y="1481328"/>
            <a:ext cx="5440680" cy="896112"/>
          </a:xfrm>
          <a:prstGeom prst="roundRect">
            <a:avLst>
              <a:gd name="adj" fmla="val 9184"/>
            </a:avLst>
          </a:prstGeom>
          <a:solidFill>
            <a:srgbClr val="E5F7FC"/>
          </a:solidFill>
          <a:ln w="12700">
            <a:solidFill>
              <a:srgbClr val="E5F7FC"/>
            </a:solidFill>
            <a:prstDash val="solid"/>
          </a:ln>
        </p:spPr>
      </p:sp>
      <p:sp>
        <p:nvSpPr>
          <p:cNvPr id="9" name="Text 6"/>
          <p:cNvSpPr/>
          <p:nvPr/>
        </p:nvSpPr>
        <p:spPr>
          <a:xfrm>
            <a:off x="804672" y="1591056"/>
            <a:ext cx="960120" cy="658368"/>
          </a:xfrm>
          <a:prstGeom prst="rect">
            <a:avLst/>
          </a:prstGeom>
          <a:noFill/>
          <a:ln/>
        </p:spPr>
        <p:txBody>
          <a:bodyPr wrap="square" lIns="0" tIns="0" rIns="0" bIns="0" rtlCol="0" anchor="ctr"/>
          <a:lstStyle/>
          <a:p>
            <a:pPr indent="0" marL="0">
              <a:buNone/>
            </a:pPr>
            <a:r>
              <a:rPr lang="en-US" sz="2800" b="1" dirty="0">
                <a:solidFill>
                  <a:srgbClr val="00B3E2"/>
                </a:solidFill>
                <a:latin typeface="Arial" pitchFamily="34" charset="0"/>
                <a:ea typeface="Arial" pitchFamily="34" charset="-122"/>
                <a:cs typeface="Arial" pitchFamily="34" charset="-120"/>
              </a:rPr>
              <a:t>6</a:t>
            </a:r>
            <a:endParaRPr lang="en-US" sz="2800" dirty="0"/>
          </a:p>
        </p:txBody>
      </p:sp>
      <p:sp>
        <p:nvSpPr>
          <p:cNvPr id="10" name="Text 7"/>
          <p:cNvSpPr/>
          <p:nvPr/>
        </p:nvSpPr>
        <p:spPr>
          <a:xfrm>
            <a:off x="1847088" y="1591056"/>
            <a:ext cx="3977640" cy="658368"/>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hosts minimum, three per data availability zone</a:t>
            </a:r>
            <a:endParaRPr lang="en-US" sz="1300" dirty="0"/>
          </a:p>
        </p:txBody>
      </p:sp>
      <p:sp>
        <p:nvSpPr>
          <p:cNvPr id="11" name="Shape 8"/>
          <p:cNvSpPr/>
          <p:nvPr/>
        </p:nvSpPr>
        <p:spPr>
          <a:xfrm>
            <a:off x="566928" y="2505456"/>
            <a:ext cx="5440680" cy="896112"/>
          </a:xfrm>
          <a:prstGeom prst="roundRect">
            <a:avLst>
              <a:gd name="adj" fmla="val 9184"/>
            </a:avLst>
          </a:prstGeom>
          <a:solidFill>
            <a:srgbClr val="E5F7FC"/>
          </a:solidFill>
          <a:ln w="12700">
            <a:solidFill>
              <a:srgbClr val="E5F7FC"/>
            </a:solidFill>
            <a:prstDash val="solid"/>
          </a:ln>
        </p:spPr>
      </p:sp>
      <p:sp>
        <p:nvSpPr>
          <p:cNvPr id="12" name="Text 9"/>
          <p:cNvSpPr/>
          <p:nvPr/>
        </p:nvSpPr>
        <p:spPr>
          <a:xfrm>
            <a:off x="804672" y="2615184"/>
            <a:ext cx="960120" cy="658368"/>
          </a:xfrm>
          <a:prstGeom prst="rect">
            <a:avLst/>
          </a:prstGeom>
          <a:noFill/>
          <a:ln/>
        </p:spPr>
        <p:txBody>
          <a:bodyPr wrap="square" lIns="0" tIns="0" rIns="0" bIns="0" rtlCol="0" anchor="ctr"/>
          <a:lstStyle/>
          <a:p>
            <a:pPr indent="0" marL="0">
              <a:buNone/>
            </a:pPr>
            <a:r>
              <a:rPr lang="en-US" sz="2800" b="1" dirty="0">
                <a:solidFill>
                  <a:srgbClr val="2DCCD3"/>
                </a:solidFill>
                <a:latin typeface="Arial" pitchFamily="34" charset="0"/>
                <a:ea typeface="Arial" pitchFamily="34" charset="-122"/>
                <a:cs typeface="Arial" pitchFamily="34" charset="-120"/>
              </a:rPr>
              <a:t>16</a:t>
            </a:r>
            <a:endParaRPr lang="en-US" sz="2800" dirty="0"/>
          </a:p>
        </p:txBody>
      </p:sp>
      <p:sp>
        <p:nvSpPr>
          <p:cNvPr id="13" name="Text 10"/>
          <p:cNvSpPr/>
          <p:nvPr/>
        </p:nvSpPr>
        <p:spPr>
          <a:xfrm>
            <a:off x="1847088" y="2615184"/>
            <a:ext cx="3977640" cy="658368"/>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hosts maximum, scaled in and out in pairs</a:t>
            </a:r>
            <a:endParaRPr lang="en-US" sz="1300" dirty="0"/>
          </a:p>
        </p:txBody>
      </p:sp>
      <p:sp>
        <p:nvSpPr>
          <p:cNvPr id="14" name="Shape 11"/>
          <p:cNvSpPr/>
          <p:nvPr/>
        </p:nvSpPr>
        <p:spPr>
          <a:xfrm>
            <a:off x="566928" y="3529584"/>
            <a:ext cx="5440680" cy="896112"/>
          </a:xfrm>
          <a:prstGeom prst="roundRect">
            <a:avLst>
              <a:gd name="adj" fmla="val 9184"/>
            </a:avLst>
          </a:prstGeom>
          <a:solidFill>
            <a:srgbClr val="E5F7FC"/>
          </a:solidFill>
          <a:ln w="12700">
            <a:solidFill>
              <a:srgbClr val="E5F7FC"/>
            </a:solidFill>
            <a:prstDash val="solid"/>
          </a:ln>
        </p:spPr>
      </p:sp>
      <p:sp>
        <p:nvSpPr>
          <p:cNvPr id="15" name="Text 12"/>
          <p:cNvSpPr/>
          <p:nvPr/>
        </p:nvSpPr>
        <p:spPr>
          <a:xfrm>
            <a:off x="804672" y="3639312"/>
            <a:ext cx="960120" cy="658368"/>
          </a:xfrm>
          <a:prstGeom prst="rect">
            <a:avLst/>
          </a:prstGeom>
          <a:noFill/>
          <a:ln/>
        </p:spPr>
        <p:txBody>
          <a:bodyPr wrap="square" lIns="0" tIns="0" rIns="0" bIns="0" rtlCol="0" anchor="ctr"/>
          <a:lstStyle/>
          <a:p>
            <a:pPr indent="0" marL="0">
              <a:buNone/>
            </a:pPr>
            <a:r>
              <a:rPr lang="en-US" sz="2800" b="1" dirty="0">
                <a:solidFill>
                  <a:srgbClr val="00AD93"/>
                </a:solidFill>
                <a:latin typeface="Arial" pitchFamily="34" charset="0"/>
                <a:ea typeface="Arial" pitchFamily="34" charset="-122"/>
                <a:cs typeface="Arial" pitchFamily="34" charset="-120"/>
              </a:rPr>
              <a:t>3rd</a:t>
            </a:r>
            <a:endParaRPr lang="en-US" sz="2800" dirty="0"/>
          </a:p>
        </p:txBody>
      </p:sp>
      <p:sp>
        <p:nvSpPr>
          <p:cNvPr id="16" name="Text 13"/>
          <p:cNvSpPr/>
          <p:nvPr/>
        </p:nvSpPr>
        <p:spPr>
          <a:xfrm>
            <a:off x="1847088" y="3639312"/>
            <a:ext cx="3977640" cy="658368"/>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availability zone holds the Microsoft-managed witness</a:t>
            </a:r>
            <a:endParaRPr lang="en-US" sz="1300" dirty="0"/>
          </a:p>
        </p:txBody>
      </p:sp>
      <p:sp>
        <p:nvSpPr>
          <p:cNvPr id="17" name="Shape 14"/>
          <p:cNvSpPr/>
          <p:nvPr/>
        </p:nvSpPr>
        <p:spPr>
          <a:xfrm>
            <a:off x="566928" y="4590288"/>
            <a:ext cx="5440680" cy="1170432"/>
          </a:xfrm>
          <a:prstGeom prst="roundRect">
            <a:avLst>
              <a:gd name="adj" fmla="val 7031"/>
            </a:avLst>
          </a:prstGeom>
          <a:solidFill>
            <a:srgbClr val="3E3E4B"/>
          </a:solidFill>
          <a:ln w="12700">
            <a:solidFill>
              <a:srgbClr val="3E3E4B"/>
            </a:solidFill>
            <a:prstDash val="solid"/>
          </a:ln>
        </p:spPr>
      </p:sp>
      <p:sp>
        <p:nvSpPr>
          <p:cNvPr id="18" name="Text 15"/>
          <p:cNvSpPr/>
          <p:nvPr/>
        </p:nvSpPr>
        <p:spPr>
          <a:xfrm>
            <a:off x="822960" y="4700016"/>
            <a:ext cx="4937760" cy="274320"/>
          </a:xfrm>
          <a:prstGeom prst="rect">
            <a:avLst/>
          </a:prstGeom>
          <a:noFill/>
          <a:ln/>
        </p:spPr>
        <p:txBody>
          <a:bodyPr wrap="square" lIns="0" tIns="0" rIns="0" bIns="0" rtlCol="0" anchor="ctr"/>
          <a:lstStyle/>
          <a:p>
            <a:pPr indent="0" marL="0">
              <a:buNone/>
            </a:pPr>
            <a:r>
              <a:rPr lang="en-US" sz="1400" b="1" dirty="0">
                <a:solidFill>
                  <a:srgbClr val="FAC458"/>
                </a:solidFill>
                <a:latin typeface="Arial" pitchFamily="34" charset="0"/>
                <a:ea typeface="Arial" pitchFamily="34" charset="-122"/>
                <a:cs typeface="Arial" pitchFamily="34" charset="-120"/>
              </a:rPr>
              <a:t>Availability, not disaster recovery</a:t>
            </a:r>
            <a:endParaRPr lang="en-US" sz="1400" dirty="0"/>
          </a:p>
        </p:txBody>
      </p:sp>
      <p:sp>
        <p:nvSpPr>
          <p:cNvPr id="19" name="Text 16"/>
          <p:cNvSpPr/>
          <p:nvPr/>
        </p:nvSpPr>
        <p:spPr>
          <a:xfrm>
            <a:off x="822960" y="4992624"/>
            <a:ext cx="493776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stretched cluster spans two zones in one region with a single management plane. It does not replace regional DR. Design redundant connectivity so the surviving zone keeps required on-premises reachability.</a:t>
            </a:r>
            <a:endParaRPr lang="en-US" sz="1200" dirty="0"/>
          </a:p>
        </p:txBody>
      </p:sp>
      <p:sp>
        <p:nvSpPr>
          <p:cNvPr id="20" name="Shape 17"/>
          <p:cNvSpPr/>
          <p:nvPr/>
        </p:nvSpPr>
        <p:spPr>
          <a:xfrm>
            <a:off x="6309360" y="4956048"/>
            <a:ext cx="5303520" cy="804672"/>
          </a:xfrm>
          <a:prstGeom prst="roundRect">
            <a:avLst>
              <a:gd name="adj" fmla="val 10227"/>
            </a:avLst>
          </a:prstGeom>
          <a:solidFill>
            <a:srgbClr val="EBEDED"/>
          </a:solidFill>
          <a:ln w="12700">
            <a:solidFill>
              <a:srgbClr val="EBEDED"/>
            </a:solidFill>
            <a:prstDash val="solid"/>
          </a:ln>
        </p:spPr>
      </p:sp>
      <p:sp>
        <p:nvSpPr>
          <p:cNvPr id="21" name="Text 18"/>
          <p:cNvSpPr/>
          <p:nvPr/>
        </p:nvSpPr>
        <p:spPr>
          <a:xfrm>
            <a:off x="6528816" y="5029200"/>
            <a:ext cx="4892040" cy="658368"/>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If one data zone fails, the surviving zone plus witness maintain quorum. The exact list of blocked repair and rebalance operations during a witness-only outage was not confirmed in current documentation.</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5</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AV64 fault domains and the scale-down trap</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28</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2331720"/>
          </a:xfrm>
          <a:prstGeom prst="roundRect">
            <a:avLst>
              <a:gd name="adj" fmla="val 3529"/>
            </a:avLst>
          </a:prstGeom>
          <a:solidFill>
            <a:srgbClr val="E5F7FC"/>
          </a:solidFill>
          <a:ln w="12700">
            <a:solidFill>
              <a:srgbClr val="E5F7FC"/>
            </a:solidFill>
            <a:prstDash val="solid"/>
          </a:ln>
        </p:spPr>
      </p:sp>
      <p:sp>
        <p:nvSpPr>
          <p:cNvPr id="7" name="Text 5"/>
          <p:cNvSpPr/>
          <p:nvPr/>
        </p:nvSpPr>
        <p:spPr>
          <a:xfrm>
            <a:off x="841248" y="1627632"/>
            <a:ext cx="4797400" cy="310896"/>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How the balance rule works</a:t>
            </a:r>
            <a:endParaRPr lang="en-US" sz="1600" dirty="0"/>
          </a:p>
        </p:txBody>
      </p:sp>
      <p:sp>
        <p:nvSpPr>
          <p:cNvPr id="8" name="Text 6"/>
          <p:cNvSpPr/>
          <p:nvPr/>
        </p:nvSpPr>
        <p:spPr>
          <a:xfrm>
            <a:off x="841248" y="1993392"/>
            <a:ext cx="4797400" cy="16916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A fault domain represents physical separation such as server racks.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Microsoft documents five or seven fault domains depending on region and deployment context.</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Scale-out spreads AV64 hosts across available fault domains to maintain balance.</a:t>
            </a:r>
            <a:endParaRPr lang="en-US" sz="1300" dirty="0"/>
          </a:p>
        </p:txBody>
      </p:sp>
      <p:sp>
        <p:nvSpPr>
          <p:cNvPr id="9" name="Shape 7"/>
          <p:cNvSpPr/>
          <p:nvPr/>
        </p:nvSpPr>
        <p:spPr>
          <a:xfrm>
            <a:off x="566928" y="3950208"/>
            <a:ext cx="5346040" cy="1810512"/>
          </a:xfrm>
          <a:prstGeom prst="roundRect">
            <a:avLst>
              <a:gd name="adj" fmla="val 4545"/>
            </a:avLst>
          </a:prstGeom>
          <a:solidFill>
            <a:srgbClr val="3E3E4B"/>
          </a:solidFill>
          <a:ln w="12700">
            <a:solidFill>
              <a:srgbClr val="3E3E4B"/>
            </a:solidFill>
            <a:prstDash val="solid"/>
          </a:ln>
        </p:spPr>
      </p:sp>
      <p:sp>
        <p:nvSpPr>
          <p:cNvPr id="10" name="Text 8"/>
          <p:cNvSpPr/>
          <p:nvPr/>
        </p:nvSpPr>
        <p:spPr>
          <a:xfrm>
            <a:off x="841248" y="4096512"/>
            <a:ext cx="4797400" cy="329184"/>
          </a:xfrm>
          <a:prstGeom prst="rect">
            <a:avLst/>
          </a:prstGeom>
          <a:noFill/>
          <a:ln/>
        </p:spPr>
        <p:txBody>
          <a:bodyPr wrap="square" lIns="0" tIns="0" rIns="0" bIns="0" rtlCol="0" anchor="ctr"/>
          <a:lstStyle/>
          <a:p>
            <a:pPr indent="0" marL="0">
              <a:buNone/>
            </a:pPr>
            <a:r>
              <a:rPr lang="en-US" sz="1800" b="1" dirty="0">
                <a:solidFill>
                  <a:srgbClr val="F15D23"/>
                </a:solidFill>
                <a:latin typeface="Arial" pitchFamily="34" charset="0"/>
                <a:ea typeface="Arial" pitchFamily="34" charset="-122"/>
                <a:cs typeface="Arial" pitchFamily="34" charset="-120"/>
              </a:rPr>
              <a:t>HTTP 409 Conflict</a:t>
            </a:r>
            <a:endParaRPr lang="en-US" sz="1800" dirty="0"/>
          </a:p>
        </p:txBody>
      </p:sp>
      <p:sp>
        <p:nvSpPr>
          <p:cNvPr id="11" name="Text 9"/>
          <p:cNvSpPr/>
          <p:nvPr/>
        </p:nvSpPr>
        <p:spPr>
          <a:xfrm>
            <a:off x="841248" y="4462272"/>
            <a:ext cx="4797400" cy="11430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 removal request is checked for resulting fault-domain imbalance. If the difference between the most and least populated domains would exceed one, the request is rejected.</a:t>
            </a:r>
            <a:endParaRPr lang="en-US" sz="1350" dirty="0"/>
          </a:p>
        </p:txBody>
      </p:sp>
      <p:sp>
        <p:nvSpPr>
          <p:cNvPr id="12" name="Shape 10"/>
          <p:cNvSpPr/>
          <p:nvPr/>
        </p:nvSpPr>
        <p:spPr>
          <a:xfrm>
            <a:off x="6278728" y="1481328"/>
            <a:ext cx="5346040" cy="4279392"/>
          </a:xfrm>
          <a:prstGeom prst="roundRect">
            <a:avLst>
              <a:gd name="adj" fmla="val 1923"/>
            </a:avLst>
          </a:prstGeom>
          <a:solidFill>
            <a:srgbClr val="D3EDF1"/>
          </a:solidFill>
          <a:ln w="12700">
            <a:solidFill>
              <a:srgbClr val="D3EDF1"/>
            </a:solidFill>
            <a:prstDash val="solid"/>
          </a:ln>
        </p:spPr>
      </p:sp>
      <p:sp>
        <p:nvSpPr>
          <p:cNvPr id="13" name="Text 11"/>
          <p:cNvSpPr/>
          <p:nvPr/>
        </p:nvSpPr>
        <p:spPr>
          <a:xfrm>
            <a:off x="6553048" y="1627632"/>
            <a:ext cx="4797400" cy="310896"/>
          </a:xfrm>
          <a:prstGeom prst="rect">
            <a:avLst/>
          </a:prstGeom>
          <a:noFill/>
          <a:ln/>
        </p:spPr>
        <p:txBody>
          <a:bodyPr wrap="square" lIns="0" tIns="0" rIns="0" bIns="0" rtlCol="0" anchor="ctr"/>
          <a:lstStyle/>
          <a:p>
            <a:pPr indent="0" marL="0">
              <a:buNone/>
            </a:pPr>
            <a:r>
              <a:rPr lang="en-US" sz="1600" b="1" dirty="0">
                <a:solidFill>
                  <a:srgbClr val="00AD93"/>
                </a:solidFill>
                <a:latin typeface="Arial" pitchFamily="34" charset="0"/>
                <a:ea typeface="Arial" pitchFamily="34" charset="-122"/>
                <a:cs typeface="Arial" pitchFamily="34" charset="-120"/>
              </a:rPr>
              <a:t>Scale-down procedure</a:t>
            </a:r>
            <a:endParaRPr lang="en-US" sz="1600" dirty="0"/>
          </a:p>
        </p:txBody>
      </p:sp>
      <p:sp>
        <p:nvSpPr>
          <p:cNvPr id="14" name="Shape 12"/>
          <p:cNvSpPr/>
          <p:nvPr/>
        </p:nvSpPr>
        <p:spPr>
          <a:xfrm>
            <a:off x="6553048" y="2066544"/>
            <a:ext cx="384048" cy="384048"/>
          </a:xfrm>
          <a:prstGeom prst="ellipse">
            <a:avLst/>
          </a:prstGeom>
          <a:solidFill>
            <a:srgbClr val="00AD93"/>
          </a:solidFill>
          <a:ln w="12700">
            <a:solidFill>
              <a:srgbClr val="00AD93"/>
            </a:solidFill>
            <a:prstDash val="solid"/>
          </a:ln>
        </p:spPr>
      </p:sp>
      <p:sp>
        <p:nvSpPr>
          <p:cNvPr id="15" name="Text 13"/>
          <p:cNvSpPr/>
          <p:nvPr/>
        </p:nvSpPr>
        <p:spPr>
          <a:xfrm>
            <a:off x="6553048"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6" name="Text 14"/>
          <p:cNvSpPr/>
          <p:nvPr/>
        </p:nvSpPr>
        <p:spPr>
          <a:xfrm>
            <a:off x="7101688" y="2048256"/>
            <a:ext cx="4203040" cy="45720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Open the vSphere client.</a:t>
            </a:r>
            <a:endParaRPr lang="en-US" sz="1300" dirty="0"/>
          </a:p>
        </p:txBody>
      </p:sp>
      <p:sp>
        <p:nvSpPr>
          <p:cNvPr id="17" name="Shape 15"/>
          <p:cNvSpPr/>
          <p:nvPr/>
        </p:nvSpPr>
        <p:spPr>
          <a:xfrm>
            <a:off x="6553048" y="2779776"/>
            <a:ext cx="384048" cy="384048"/>
          </a:xfrm>
          <a:prstGeom prst="ellipse">
            <a:avLst/>
          </a:prstGeom>
          <a:solidFill>
            <a:srgbClr val="00AD93"/>
          </a:solidFill>
          <a:ln w="12700">
            <a:solidFill>
              <a:srgbClr val="00AD93"/>
            </a:solidFill>
            <a:prstDash val="solid"/>
          </a:ln>
        </p:spPr>
      </p:sp>
      <p:sp>
        <p:nvSpPr>
          <p:cNvPr id="18" name="Text 16"/>
          <p:cNvSpPr/>
          <p:nvPr/>
        </p:nvSpPr>
        <p:spPr>
          <a:xfrm>
            <a:off x="6553048"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Text 17"/>
          <p:cNvSpPr/>
          <p:nvPr/>
        </p:nvSpPr>
        <p:spPr>
          <a:xfrm>
            <a:off x="7101688" y="2761488"/>
            <a:ext cx="4203040" cy="45720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Inspect the vSAN cluster fault-domain layout.</a:t>
            </a:r>
            <a:endParaRPr lang="en-US" sz="1300" dirty="0"/>
          </a:p>
        </p:txBody>
      </p:sp>
      <p:sp>
        <p:nvSpPr>
          <p:cNvPr id="20" name="Shape 18"/>
          <p:cNvSpPr/>
          <p:nvPr/>
        </p:nvSpPr>
        <p:spPr>
          <a:xfrm>
            <a:off x="6553048" y="3493008"/>
            <a:ext cx="384048" cy="384048"/>
          </a:xfrm>
          <a:prstGeom prst="ellipse">
            <a:avLst/>
          </a:prstGeom>
          <a:solidFill>
            <a:srgbClr val="00AD93"/>
          </a:solidFill>
          <a:ln w="12700">
            <a:solidFill>
              <a:srgbClr val="00AD93"/>
            </a:solidFill>
            <a:prstDash val="solid"/>
          </a:ln>
        </p:spPr>
      </p:sp>
      <p:sp>
        <p:nvSpPr>
          <p:cNvPr id="21" name="Text 19"/>
          <p:cNvSpPr/>
          <p:nvPr/>
        </p:nvSpPr>
        <p:spPr>
          <a:xfrm>
            <a:off x="6553048" y="3493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7101688" y="3474720"/>
            <a:ext cx="4203040" cy="45720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Identify the most populated fault domain.</a:t>
            </a:r>
            <a:endParaRPr lang="en-US" sz="1300" dirty="0"/>
          </a:p>
        </p:txBody>
      </p:sp>
      <p:sp>
        <p:nvSpPr>
          <p:cNvPr id="23" name="Shape 21"/>
          <p:cNvSpPr/>
          <p:nvPr/>
        </p:nvSpPr>
        <p:spPr>
          <a:xfrm>
            <a:off x="6553048" y="4206240"/>
            <a:ext cx="384048" cy="384048"/>
          </a:xfrm>
          <a:prstGeom prst="ellipse">
            <a:avLst/>
          </a:prstGeom>
          <a:solidFill>
            <a:srgbClr val="00AD93"/>
          </a:solidFill>
          <a:ln w="12700">
            <a:solidFill>
              <a:srgbClr val="00AD93"/>
            </a:solidFill>
            <a:prstDash val="solid"/>
          </a:ln>
        </p:spPr>
      </p:sp>
      <p:sp>
        <p:nvSpPr>
          <p:cNvPr id="24" name="Text 22"/>
          <p:cNvSpPr/>
          <p:nvPr/>
        </p:nvSpPr>
        <p:spPr>
          <a:xfrm>
            <a:off x="6553048" y="4206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p:nvPr/>
        </p:nvSpPr>
        <p:spPr>
          <a:xfrm>
            <a:off x="7101688" y="4187952"/>
            <a:ext cx="4203040" cy="45720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Select a host from that domain for removal.</a:t>
            </a:r>
            <a:endParaRPr lang="en-US" sz="1300" dirty="0"/>
          </a:p>
        </p:txBody>
      </p:sp>
      <p:sp>
        <p:nvSpPr>
          <p:cNvPr id="26" name="Shape 24"/>
          <p:cNvSpPr/>
          <p:nvPr/>
        </p:nvSpPr>
        <p:spPr>
          <a:xfrm>
            <a:off x="6553048" y="4919472"/>
            <a:ext cx="384048" cy="384048"/>
          </a:xfrm>
          <a:prstGeom prst="ellipse">
            <a:avLst/>
          </a:prstGeom>
          <a:solidFill>
            <a:srgbClr val="00AD93"/>
          </a:solidFill>
          <a:ln w="12700">
            <a:solidFill>
              <a:srgbClr val="00AD93"/>
            </a:solidFill>
            <a:prstDash val="solid"/>
          </a:ln>
        </p:spPr>
      </p:sp>
      <p:sp>
        <p:nvSpPr>
          <p:cNvPr id="27" name="Text 25"/>
          <p:cNvSpPr/>
          <p:nvPr/>
        </p:nvSpPr>
        <p:spPr>
          <a:xfrm>
            <a:off x="6553048" y="4919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p:nvPr/>
        </p:nvSpPr>
        <p:spPr>
          <a:xfrm>
            <a:off x="7101688" y="4901184"/>
            <a:ext cx="4203040" cy="45720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Submit the request only for a host that preserves balance.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2148840"/>
            <a:ext cx="2011680" cy="1371600"/>
          </a:xfrm>
          <a:prstGeom prst="rect">
            <a:avLst/>
          </a:prstGeom>
          <a:noFill/>
          <a:ln/>
        </p:spPr>
        <p:txBody>
          <a:bodyPr wrap="square" lIns="0" tIns="0" rIns="0" bIns="0" rtlCol="0" anchor="ctr"/>
          <a:lstStyle/>
          <a:p>
            <a:pPr indent="0" marL="0">
              <a:buNone/>
            </a:pPr>
            <a:r>
              <a:rPr lang="en-US" sz="9600" b="1" dirty="0">
                <a:solidFill>
                  <a:srgbClr val="FAC458"/>
                </a:solidFill>
                <a:latin typeface="Arial" pitchFamily="34" charset="0"/>
                <a:ea typeface="Arial" pitchFamily="34" charset="-122"/>
                <a:cs typeface="Arial" pitchFamily="34" charset="-120"/>
              </a:rPr>
              <a:t>06</a:t>
            </a:r>
            <a:endParaRPr lang="en-US" sz="9600" dirty="0"/>
          </a:p>
        </p:txBody>
      </p:sp>
      <p:sp>
        <p:nvSpPr>
          <p:cNvPr id="3" name="Text 1"/>
          <p:cNvSpPr/>
          <p:nvPr/>
        </p:nvSpPr>
        <p:spPr>
          <a:xfrm>
            <a:off x="2880360" y="2331720"/>
            <a:ext cx="850392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Day-Two Operations</a:t>
            </a:r>
            <a:endParaRPr lang="en-US" sz="3600" dirty="0"/>
          </a:p>
        </p:txBody>
      </p:sp>
      <p:sp>
        <p:nvSpPr>
          <p:cNvPr id="4" name="Text 2"/>
          <p:cNvSpPr/>
          <p:nvPr/>
        </p:nvSpPr>
        <p:spPr>
          <a:xfrm>
            <a:off x="2926080" y="3154680"/>
            <a:ext cx="8412480" cy="502920"/>
          </a:xfrm>
          <a:prstGeom prst="rect">
            <a:avLst/>
          </a:prstGeom>
          <a:noFill/>
          <a:ln/>
        </p:spPr>
        <p:txBody>
          <a:bodyPr wrap="square" lIns="0" tIns="0" rIns="0" bIns="0" rtlCol="0" anchor="ctr"/>
          <a:lstStyle/>
          <a:p>
            <a:pPr indent="0" marL="0">
              <a:buNone/>
            </a:pPr>
            <a:r>
              <a:rPr lang="en-US" sz="1600" dirty="0">
                <a:solidFill>
                  <a:srgbClr val="B2E8F6"/>
                </a:solidFill>
                <a:latin typeface="Calibri" pitchFamily="34" charset="0"/>
                <a:ea typeface="Calibri" pitchFamily="34" charset="-122"/>
                <a:cs typeface="Calibri" pitchFamily="34" charset="-120"/>
              </a:rPr>
              <a:t>Patching windows, governance, scaling limits, and alert thresholds.</a:t>
            </a:r>
            <a:endParaRPr lang="en-US" sz="1600" dirty="0"/>
          </a:p>
        </p:txBody>
      </p:sp>
      <p:sp>
        <p:nvSpPr>
          <p:cNvPr id="5" name="Text 3"/>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29</a:t>
            </a:r>
            <a:endParaRPr lang="en-US" sz="1000" dirty="0"/>
          </a:p>
        </p:txBody>
      </p:sp>
      <p:sp>
        <p:nvSpPr>
          <p:cNvPr id="6" name="Text 4"/>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6</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Microsoft-managed patching and maintenance windows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3466490" cy="3246120"/>
          </a:xfrm>
          <a:prstGeom prst="roundRect">
            <a:avLst>
              <a:gd name="adj" fmla="val 2535"/>
            </a:avLst>
          </a:prstGeom>
          <a:solidFill>
            <a:srgbClr val="E5F7FC"/>
          </a:solidFill>
          <a:ln w="12700">
            <a:solidFill>
              <a:srgbClr val="E5F7FC"/>
            </a:solidFill>
            <a:prstDash val="solid"/>
          </a:ln>
        </p:spPr>
      </p:sp>
      <p:sp>
        <p:nvSpPr>
          <p:cNvPr id="7" name="Text 5"/>
          <p:cNvSpPr/>
          <p:nvPr/>
        </p:nvSpPr>
        <p:spPr>
          <a:xfrm>
            <a:off x="822960" y="1645920"/>
            <a:ext cx="2954426" cy="329184"/>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What Microsoft does</a:t>
            </a:r>
            <a:endParaRPr lang="en-US" sz="1500" dirty="0"/>
          </a:p>
        </p:txBody>
      </p:sp>
      <p:sp>
        <p:nvSpPr>
          <p:cNvPr id="8" name="Text 6"/>
          <p:cNvSpPr/>
          <p:nvPr/>
        </p:nvSpPr>
        <p:spPr>
          <a:xfrm>
            <a:off x="822960" y="2048256"/>
            <a:ext cx="2954426" cy="251460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Applies patches, updates, and upgrades to ESXi, vCenter Server, vSAN, and NSX.</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Uses host maintenance mode and vMotion, upgrading hosts sequentially.</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Avoids workload impact when cluster capacity and VM constraints permit.</a:t>
            </a:r>
            <a:endParaRPr lang="en-US" sz="1250" dirty="0"/>
          </a:p>
        </p:txBody>
      </p:sp>
      <p:sp>
        <p:nvSpPr>
          <p:cNvPr id="9" name="Shape 7"/>
          <p:cNvSpPr/>
          <p:nvPr/>
        </p:nvSpPr>
        <p:spPr>
          <a:xfrm>
            <a:off x="4362602" y="1481328"/>
            <a:ext cx="3466490" cy="3246120"/>
          </a:xfrm>
          <a:prstGeom prst="roundRect">
            <a:avLst>
              <a:gd name="adj" fmla="val 2535"/>
            </a:avLst>
          </a:prstGeom>
          <a:solidFill>
            <a:srgbClr val="EBEDED"/>
          </a:solidFill>
          <a:ln w="12700">
            <a:solidFill>
              <a:srgbClr val="EBEDED"/>
            </a:solidFill>
            <a:prstDash val="solid"/>
          </a:ln>
        </p:spPr>
      </p:sp>
      <p:sp>
        <p:nvSpPr>
          <p:cNvPr id="10" name="Text 8"/>
          <p:cNvSpPr/>
          <p:nvPr/>
        </p:nvSpPr>
        <p:spPr>
          <a:xfrm>
            <a:off x="4618634" y="1645920"/>
            <a:ext cx="2954426" cy="329184"/>
          </a:xfrm>
          <a:prstGeom prst="rect">
            <a:avLst/>
          </a:prstGeom>
          <a:noFill/>
          <a:ln/>
        </p:spPr>
        <p:txBody>
          <a:bodyPr wrap="square" lIns="0" tIns="0" rIns="0" bIns="0" rtlCol="0" anchor="ctr"/>
          <a:lstStyle/>
          <a:p>
            <a:pPr indent="0" marL="0">
              <a:buNone/>
            </a:pPr>
            <a:r>
              <a:rPr lang="en-US" sz="1500" b="1" dirty="0">
                <a:solidFill>
                  <a:srgbClr val="F15D23"/>
                </a:solidFill>
                <a:latin typeface="Arial" pitchFamily="34" charset="0"/>
                <a:ea typeface="Arial" pitchFamily="34" charset="-122"/>
                <a:cs typeface="Arial" pitchFamily="34" charset="-120"/>
              </a:rPr>
              <a:t>What breaks temporarily</a:t>
            </a:r>
            <a:endParaRPr lang="en-US" sz="1500" dirty="0"/>
          </a:p>
        </p:txBody>
      </p:sp>
      <p:sp>
        <p:nvSpPr>
          <p:cNvPr id="11" name="Text 9"/>
          <p:cNvSpPr/>
          <p:nvPr/>
        </p:nvSpPr>
        <p:spPr>
          <a:xfrm>
            <a:off x="4618634" y="2048256"/>
            <a:ext cx="2954426" cy="251460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During vCenter maintenance, vCenter is unavailable.</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During NSX maintenance, management access or configuration can be blocked.</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Workloads continue running throughout.</a:t>
            </a:r>
            <a:endParaRPr lang="en-US" sz="1250" dirty="0"/>
          </a:p>
        </p:txBody>
      </p:sp>
      <p:sp>
        <p:nvSpPr>
          <p:cNvPr id="12" name="Shape 10"/>
          <p:cNvSpPr/>
          <p:nvPr/>
        </p:nvSpPr>
        <p:spPr>
          <a:xfrm>
            <a:off x="8158277" y="1481328"/>
            <a:ext cx="3466490" cy="3246120"/>
          </a:xfrm>
          <a:prstGeom prst="roundRect">
            <a:avLst>
              <a:gd name="adj" fmla="val 2535"/>
            </a:avLst>
          </a:prstGeom>
          <a:solidFill>
            <a:srgbClr val="3E3E4B"/>
          </a:solidFill>
          <a:ln w="12700">
            <a:solidFill>
              <a:srgbClr val="3E3E4B"/>
            </a:solidFill>
            <a:prstDash val="solid"/>
          </a:ln>
        </p:spPr>
      </p:sp>
      <p:sp>
        <p:nvSpPr>
          <p:cNvPr id="13" name="Text 11"/>
          <p:cNvSpPr/>
          <p:nvPr/>
        </p:nvSpPr>
        <p:spPr>
          <a:xfrm>
            <a:off x="8414309" y="1645920"/>
            <a:ext cx="2954426" cy="329184"/>
          </a:xfrm>
          <a:prstGeom prst="rect">
            <a:avLst/>
          </a:prstGeom>
          <a:noFill/>
          <a:ln/>
        </p:spPr>
        <p:txBody>
          <a:bodyPr wrap="square" lIns="0" tIns="0" rIns="0" bIns="0" rtlCol="0" anchor="ctr"/>
          <a:lstStyle/>
          <a:p>
            <a:pPr indent="0" marL="0">
              <a:buNone/>
            </a:pPr>
            <a:r>
              <a:rPr lang="en-US" sz="1500" b="1" dirty="0">
                <a:solidFill>
                  <a:srgbClr val="FAC458"/>
                </a:solidFill>
                <a:latin typeface="Arial" pitchFamily="34" charset="0"/>
                <a:ea typeface="Arial" pitchFamily="34" charset="-122"/>
                <a:cs typeface="Arial" pitchFamily="34" charset="-120"/>
              </a:rPr>
              <a:t>What you must not do</a:t>
            </a:r>
            <a:endParaRPr lang="en-US" sz="1500" dirty="0"/>
          </a:p>
        </p:txBody>
      </p:sp>
      <p:sp>
        <p:nvSpPr>
          <p:cNvPr id="14" name="Text 12"/>
          <p:cNvSpPr/>
          <p:nvPr/>
        </p:nvSpPr>
        <p:spPr>
          <a:xfrm>
            <a:off x="8414309" y="2048256"/>
            <a:ext cx="2954426" cy="251460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Avoid scaling and provisioning during the maintenance window.</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Avoid network changes and HCX configuration changes.</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Do not start migrations. Pause automated provisioning scripts.</a:t>
            </a:r>
            <a:endParaRPr lang="en-US" sz="1250" dirty="0"/>
          </a:p>
        </p:txBody>
      </p:sp>
      <p:sp>
        <p:nvSpPr>
          <p:cNvPr id="15" name="Shape 13"/>
          <p:cNvSpPr/>
          <p:nvPr/>
        </p:nvSpPr>
        <p:spPr>
          <a:xfrm>
            <a:off x="566928" y="4956048"/>
            <a:ext cx="11057839" cy="658368"/>
          </a:xfrm>
          <a:prstGeom prst="roundRect">
            <a:avLst>
              <a:gd name="adj" fmla="val 12500"/>
            </a:avLst>
          </a:prstGeom>
          <a:solidFill>
            <a:srgbClr val="E2F2E8"/>
          </a:solidFill>
          <a:ln w="12700">
            <a:solidFill>
              <a:srgbClr val="E2F2E8"/>
            </a:solidFill>
            <a:prstDash val="solid"/>
          </a:ln>
        </p:spPr>
      </p:sp>
      <p:sp>
        <p:nvSpPr>
          <p:cNvPr id="16" name="Text 14"/>
          <p:cNvSpPr/>
          <p:nvPr/>
        </p:nvSpPr>
        <p:spPr>
          <a:xfrm>
            <a:off x="795528" y="5010912"/>
            <a:ext cx="10600639" cy="548640"/>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Workloads stay online like tenants remaining in an apartment building, but management actions are blocked while maintenance is underway. Plan change freezes around the documented window.</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6</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Governance and security tooling</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31</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Text 4"/>
          <p:cNvSpPr/>
          <p:nvPr/>
        </p:nvSpPr>
        <p:spPr>
          <a:xfrm>
            <a:off x="566928" y="1417320"/>
            <a:ext cx="5486400" cy="292608"/>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Azure Arc-enabled VMware vSphere</a:t>
            </a:r>
            <a:endParaRPr lang="en-US" sz="1500" dirty="0"/>
          </a:p>
        </p:txBody>
      </p:sp>
      <p:sp>
        <p:nvSpPr>
          <p:cNvPr id="7" name="Text 5"/>
          <p:cNvSpPr/>
          <p:nvPr/>
        </p:nvSpPr>
        <p:spPr>
          <a:xfrm>
            <a:off x="566928" y="1737360"/>
            <a:ext cx="5440680" cy="64008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Registers vCenter inventory with Azure. Guest management installs the Connected Machine agent so Azure services can govern, monitor, patch, and secure selected VMs.</a:t>
            </a:r>
            <a:endParaRPr lang="en-US" sz="1250" dirty="0"/>
          </a:p>
        </p:txBody>
      </p:sp>
      <p:pic>
        <p:nvPicPr>
          <p:cNvPr id="8" name="Image 0" descr="images/azure-arc-enabled-vmware-architecture.png">    </p:cNvPr>
          <p:cNvPicPr>
            <a:picLocks noChangeAspect="1"/>
          </p:cNvPicPr>
          <p:nvPr/>
        </p:nvPicPr>
        <p:blipFill>
          <a:blip r:embed="rId1"/>
          <a:srcRect l="0" r="0" t="0" b="0"/>
          <a:stretch/>
        </p:blipFill>
        <p:spPr>
          <a:xfrm>
            <a:off x="566928" y="2395728"/>
            <a:ext cx="5440680" cy="2331720"/>
          </a:xfrm>
          <a:prstGeom prst="rect">
            <a:avLst/>
          </a:prstGeom>
        </p:spPr>
      </p:pic>
      <p:sp>
        <p:nvSpPr>
          <p:cNvPr id="9" name="Text 6"/>
          <p:cNvSpPr/>
          <p:nvPr/>
        </p:nvSpPr>
        <p:spPr>
          <a:xfrm>
            <a:off x="566928" y="4782312"/>
            <a:ext cx="544068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Azure Arc-enabled VMware vSphere</a:t>
            </a:r>
            <a:endParaRPr lang="en-US" sz="1000" dirty="0"/>
          </a:p>
        </p:txBody>
      </p:sp>
      <p:sp>
        <p:nvSpPr>
          <p:cNvPr id="10" name="Text 7"/>
          <p:cNvSpPr/>
          <p:nvPr/>
        </p:nvSpPr>
        <p:spPr>
          <a:xfrm>
            <a:off x="6446520" y="1417320"/>
            <a:ext cx="5166360" cy="292608"/>
          </a:xfrm>
          <a:prstGeom prst="rect">
            <a:avLst/>
          </a:prstGeom>
          <a:noFill/>
          <a:ln/>
        </p:spPr>
        <p:txBody>
          <a:bodyPr wrap="square" lIns="0" tIns="0" rIns="0" bIns="0" rtlCol="0" anchor="ctr"/>
          <a:lstStyle/>
          <a:p>
            <a:pPr indent="0" marL="0">
              <a:buNone/>
            </a:pPr>
            <a:r>
              <a:rPr lang="en-US" sz="1500" b="1" dirty="0">
                <a:solidFill>
                  <a:srgbClr val="00AD93"/>
                </a:solidFill>
                <a:latin typeface="Arial" pitchFamily="34" charset="0"/>
                <a:ea typeface="Arial" pitchFamily="34" charset="-122"/>
                <a:cs typeface="Arial" pitchFamily="34" charset="-120"/>
              </a:rPr>
              <a:t>Defender for Cloud integration</a:t>
            </a:r>
            <a:endParaRPr lang="en-US" sz="1500" dirty="0"/>
          </a:p>
        </p:txBody>
      </p:sp>
      <p:sp>
        <p:nvSpPr>
          <p:cNvPr id="11" name="Text 8"/>
          <p:cNvSpPr/>
          <p:nvPr/>
        </p:nvSpPr>
        <p:spPr>
          <a:xfrm>
            <a:off x="6446520" y="1737360"/>
            <a:ext cx="5166360" cy="640080"/>
          </a:xfrm>
          <a:prstGeom prst="rect">
            <a:avLst/>
          </a:prstGeom>
          <a:noFill/>
          <a:ln/>
        </p:spPr>
        <p:txBody>
          <a:bodyPr wrap="square" lIns="0" tIns="0" rIns="0" bIns="0" rtlCol="0" anchor="t"/>
          <a:lstStyle/>
          <a:p>
            <a:pPr indent="0" marL="0">
              <a:buNone/>
            </a:pPr>
            <a:r>
              <a:rPr lang="en-US" sz="1250" dirty="0">
                <a:solidFill>
                  <a:srgbClr val="6E6E7C"/>
                </a:solidFill>
                <a:latin typeface="Calibri" pitchFamily="34" charset="0"/>
                <a:ea typeface="Calibri" pitchFamily="34" charset="-122"/>
                <a:cs typeface="Calibri" pitchFamily="34" charset="-120"/>
              </a:rPr>
              <a:t>Microsoft Defender for Cloud can assess and protect AVS VMs, commonly through Azure Arc and Azure monitoring and security agents.</a:t>
            </a:r>
            <a:endParaRPr lang="en-US" sz="1250" dirty="0"/>
          </a:p>
        </p:txBody>
      </p:sp>
      <p:pic>
        <p:nvPicPr>
          <p:cNvPr id="12" name="Image 1" descr="images/avs-defender-security-monitoring.png">    </p:cNvPr>
          <p:cNvPicPr>
            <a:picLocks noChangeAspect="1"/>
          </p:cNvPicPr>
          <p:nvPr/>
        </p:nvPicPr>
        <p:blipFill>
          <a:blip r:embed="rId2"/>
          <a:srcRect l="0" r="0" t="0" b="0"/>
          <a:stretch/>
        </p:blipFill>
        <p:spPr>
          <a:xfrm>
            <a:off x="6446520" y="2395728"/>
            <a:ext cx="5166360" cy="2331720"/>
          </a:xfrm>
          <a:prstGeom prst="rect">
            <a:avLst/>
          </a:prstGeom>
        </p:spPr>
      </p:pic>
      <p:sp>
        <p:nvSpPr>
          <p:cNvPr id="13" name="Text 9"/>
          <p:cNvSpPr/>
          <p:nvPr/>
        </p:nvSpPr>
        <p:spPr>
          <a:xfrm>
            <a:off x="6446520" y="4782312"/>
            <a:ext cx="5166360" cy="274320"/>
          </a:xfrm>
          <a:prstGeom prst="rect">
            <a:avLst/>
          </a:prstGeom>
          <a:noFill/>
          <a:ln/>
        </p:spPr>
        <p:txBody>
          <a:bodyPr wrap="square" lIns="0" tIns="0" rIns="0" bIns="0" rtlCol="0" anchor="ctr"/>
          <a:lstStyle/>
          <a:p>
            <a:pPr algn="ctr" indent="0" marL="0">
              <a:buNone/>
            </a:pPr>
            <a:r>
              <a:rPr lang="en-US" sz="1000" i="1" dirty="0">
                <a:solidFill>
                  <a:srgbClr val="6E6E7C"/>
                </a:solidFill>
                <a:latin typeface="Calibri" pitchFamily="34" charset="0"/>
                <a:ea typeface="Calibri" pitchFamily="34" charset="-122"/>
                <a:cs typeface="Calibri" pitchFamily="34" charset="-120"/>
              </a:rPr>
              <a:t>Source: Microsoft Learn, integrate Defender for Cloud with AVS</a:t>
            </a:r>
            <a:endParaRPr lang="en-US" sz="1000" dirty="0"/>
          </a:p>
        </p:txBody>
      </p:sp>
      <p:sp>
        <p:nvSpPr>
          <p:cNvPr id="14" name="Shape 10"/>
          <p:cNvSpPr/>
          <p:nvPr/>
        </p:nvSpPr>
        <p:spPr>
          <a:xfrm>
            <a:off x="566928" y="5138928"/>
            <a:ext cx="11057839" cy="868680"/>
          </a:xfrm>
          <a:prstGeom prst="roundRect">
            <a:avLst>
              <a:gd name="adj" fmla="val 9474"/>
            </a:avLst>
          </a:prstGeom>
          <a:solidFill>
            <a:srgbClr val="3E3E4B"/>
          </a:solidFill>
          <a:ln w="12700">
            <a:solidFill>
              <a:srgbClr val="3E3E4B"/>
            </a:solidFill>
            <a:prstDash val="solid"/>
          </a:ln>
        </p:spPr>
      </p:sp>
      <p:sp>
        <p:nvSpPr>
          <p:cNvPr id="15" name="Text 11"/>
          <p:cNvSpPr/>
          <p:nvPr/>
        </p:nvSpPr>
        <p:spPr>
          <a:xfrm>
            <a:off x="841248" y="5230368"/>
            <a:ext cx="10509199" cy="7132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vDefend: revalidate before licensing. Add-on firewall capabilities require customer-provided Broadcom licensing. Microsoft lists unsupported capabilities including Security Intelligence, Malicious IP Filtering, Distributed Malware Detection and Prevention, Cloud Sandboxing, Network Detection and Response, and Gateway Malware Detection.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SECTION 6</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Automated scaling and alert thresholds</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32</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Shape 4"/>
          <p:cNvSpPr/>
          <p:nvPr/>
        </p:nvSpPr>
        <p:spPr>
          <a:xfrm>
            <a:off x="566928" y="1481328"/>
            <a:ext cx="5346040" cy="4279392"/>
          </a:xfrm>
          <a:prstGeom prst="roundRect">
            <a:avLst>
              <a:gd name="adj" fmla="val 1923"/>
            </a:avLst>
          </a:prstGeom>
          <a:solidFill>
            <a:srgbClr val="E5F7FC"/>
          </a:solidFill>
          <a:ln w="12700">
            <a:solidFill>
              <a:srgbClr val="E5F7FC"/>
            </a:solidFill>
            <a:prstDash val="solid"/>
          </a:ln>
        </p:spPr>
      </p:sp>
      <p:sp>
        <p:nvSpPr>
          <p:cNvPr id="7" name="Text 5"/>
          <p:cNvSpPr/>
          <p:nvPr/>
        </p:nvSpPr>
        <p:spPr>
          <a:xfrm>
            <a:off x="841248" y="1645920"/>
            <a:ext cx="4797400" cy="310896"/>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Scaling automation</a:t>
            </a:r>
            <a:endParaRPr lang="en-US" sz="1600" dirty="0"/>
          </a:p>
        </p:txBody>
      </p:sp>
      <p:sp>
        <p:nvSpPr>
          <p:cNvPr id="8" name="Text 6"/>
          <p:cNvSpPr/>
          <p:nvPr/>
        </p:nvSpPr>
        <p:spPr>
          <a:xfrm>
            <a:off x="841248" y="2029968"/>
            <a:ext cx="4797400" cy="35661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Scaling can be automated through Azure APIs and orchestration, but must respect quota, cluster limits, and maintenance states.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Treat scale operations as long running and serialize them unless Microsoft Support confirms safe concurrency.</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Queue and monitor operations, handle conflict and throttling responses, and verify completion before dependent changes.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Use idempotency, state checks, retry with backoff, and hard capacity limits.</a:t>
            </a:r>
            <a:endParaRPr lang="en-US" sz="1300" dirty="0"/>
          </a:p>
          <a:p>
            <a:pPr marL="203200" indent="-203200">
              <a:spcAft>
                <a:spcPts val="800"/>
              </a:spcAft>
              <a:buSzPct val="100000"/>
              <a:buChar char="•"/>
            </a:pPr>
            <a:r>
              <a:rPr lang="en-US" sz="1300" dirty="0">
                <a:solidFill>
                  <a:srgbClr val="3E3E4B"/>
                </a:solidFill>
                <a:latin typeface="Calibri" pitchFamily="34" charset="0"/>
                <a:ea typeface="Calibri" pitchFamily="34" charset="-122"/>
                <a:cs typeface="Calibri" pitchFamily="34" charset="-120"/>
              </a:rPr>
              <a:t>Set a hard maximum so a runaway script cannot order excessive bare-metal hosts.</a:t>
            </a:r>
            <a:endParaRPr lang="en-US" sz="1300" dirty="0"/>
          </a:p>
        </p:txBody>
      </p:sp>
      <p:sp>
        <p:nvSpPr>
          <p:cNvPr id="9" name="Shape 7"/>
          <p:cNvSpPr/>
          <p:nvPr/>
        </p:nvSpPr>
        <p:spPr>
          <a:xfrm>
            <a:off x="6278728" y="1481328"/>
            <a:ext cx="5346040" cy="2011680"/>
          </a:xfrm>
          <a:prstGeom prst="roundRect">
            <a:avLst>
              <a:gd name="adj" fmla="val 4091"/>
            </a:avLst>
          </a:prstGeom>
          <a:solidFill>
            <a:srgbClr val="D3EDF1"/>
          </a:solidFill>
          <a:ln w="12700">
            <a:solidFill>
              <a:srgbClr val="D3EDF1"/>
            </a:solidFill>
            <a:prstDash val="solid"/>
          </a:ln>
        </p:spPr>
      </p:sp>
      <p:sp>
        <p:nvSpPr>
          <p:cNvPr id="10" name="Text 8"/>
          <p:cNvSpPr/>
          <p:nvPr/>
        </p:nvSpPr>
        <p:spPr>
          <a:xfrm>
            <a:off x="6553048" y="1627632"/>
            <a:ext cx="4797400" cy="310896"/>
          </a:xfrm>
          <a:prstGeom prst="rect">
            <a:avLst/>
          </a:prstGeom>
          <a:noFill/>
          <a:ln/>
        </p:spPr>
        <p:txBody>
          <a:bodyPr wrap="square" lIns="0" tIns="0" rIns="0" bIns="0" rtlCol="0" anchor="ctr"/>
          <a:lstStyle/>
          <a:p>
            <a:pPr indent="0" marL="0">
              <a:buNone/>
            </a:pPr>
            <a:r>
              <a:rPr lang="en-US" sz="1600" b="1" dirty="0">
                <a:solidFill>
                  <a:srgbClr val="00AD93"/>
                </a:solidFill>
                <a:latin typeface="Arial" pitchFamily="34" charset="0"/>
                <a:ea typeface="Arial" pitchFamily="34" charset="-122"/>
                <a:cs typeface="Arial" pitchFamily="34" charset="-120"/>
              </a:rPr>
              <a:t>Monitoring stack</a:t>
            </a:r>
            <a:endParaRPr lang="en-US" sz="1600" dirty="0"/>
          </a:p>
        </p:txBody>
      </p:sp>
      <p:sp>
        <p:nvSpPr>
          <p:cNvPr id="11" name="Text 9"/>
          <p:cNvSpPr/>
          <p:nvPr/>
        </p:nvSpPr>
        <p:spPr>
          <a:xfrm>
            <a:off x="6553048" y="1993392"/>
            <a:ext cx="4797400" cy="1371600"/>
          </a:xfrm>
          <a:prstGeom prst="rect">
            <a:avLst/>
          </a:prstGeom>
          <a:noFill/>
          <a:ln/>
        </p:spPr>
        <p:txBody>
          <a:bodyPr wrap="square" lIns="0" tIns="0" rIns="0" bIns="0" rtlCol="0" anchor="t"/>
          <a:lstStyle/>
          <a:p>
            <a:pPr indent="0" marL="0">
              <a:buNone/>
            </a:pPr>
            <a:r>
              <a:rPr lang="en-US" sz="1300" dirty="0">
                <a:solidFill>
                  <a:srgbClr val="3E3E4B"/>
                </a:solidFill>
                <a:latin typeface="Calibri" pitchFamily="34" charset="0"/>
                <a:ea typeface="Calibri" pitchFamily="34" charset="-122"/>
                <a:cs typeface="Calibri" pitchFamily="34" charset="-120"/>
              </a:rPr>
              <a:t>Azure Monitor, Log Analytics, Resource Health, Service Health, vCenter and vSAN monitoring, and guest-level monitoring. AMBA gives a structured baseline-alert approach to customize for AVS, connected services, and guest VMs.</a:t>
            </a:r>
            <a:endParaRPr lang="en-US" sz="1300" dirty="0"/>
          </a:p>
        </p:txBody>
      </p:sp>
      <p:sp>
        <p:nvSpPr>
          <p:cNvPr id="12" name="Shape 10"/>
          <p:cNvSpPr/>
          <p:nvPr/>
        </p:nvSpPr>
        <p:spPr>
          <a:xfrm>
            <a:off x="6278728" y="3639312"/>
            <a:ext cx="5346040" cy="2121408"/>
          </a:xfrm>
          <a:prstGeom prst="roundRect">
            <a:avLst>
              <a:gd name="adj" fmla="val 3879"/>
            </a:avLst>
          </a:prstGeom>
          <a:solidFill>
            <a:srgbClr val="3E3E4B"/>
          </a:solidFill>
          <a:ln w="12700">
            <a:solidFill>
              <a:srgbClr val="3E3E4B"/>
            </a:solidFill>
            <a:prstDash val="solid"/>
          </a:ln>
        </p:spPr>
      </p:sp>
      <p:sp>
        <p:nvSpPr>
          <p:cNvPr id="13" name="Text 11"/>
          <p:cNvSpPr/>
          <p:nvPr/>
        </p:nvSpPr>
        <p:spPr>
          <a:xfrm>
            <a:off x="6553048" y="3785616"/>
            <a:ext cx="4797400" cy="310896"/>
          </a:xfrm>
          <a:prstGeom prst="rect">
            <a:avLst/>
          </a:prstGeom>
          <a:noFill/>
          <a:ln/>
        </p:spPr>
        <p:txBody>
          <a:bodyPr wrap="square" lIns="0" tIns="0" rIns="0" bIns="0" rtlCol="0" anchor="ctr"/>
          <a:lstStyle/>
          <a:p>
            <a:pPr indent="0" marL="0">
              <a:buNone/>
            </a:pPr>
            <a:r>
              <a:rPr lang="en-US" sz="1600" b="1" dirty="0">
                <a:solidFill>
                  <a:srgbClr val="FAC458"/>
                </a:solidFill>
                <a:latin typeface="Arial" pitchFamily="34" charset="0"/>
                <a:ea typeface="Arial" pitchFamily="34" charset="-122"/>
                <a:cs typeface="Arial" pitchFamily="34" charset="-120"/>
              </a:rPr>
              <a:t>Alert before the wall, not at it</a:t>
            </a:r>
            <a:endParaRPr lang="en-US" sz="1600" dirty="0"/>
          </a:p>
        </p:txBody>
      </p:sp>
      <p:sp>
        <p:nvSpPr>
          <p:cNvPr id="14" name="Text 12"/>
          <p:cNvSpPr/>
          <p:nvPr/>
        </p:nvSpPr>
        <p:spPr>
          <a:xfrm>
            <a:off x="6553048" y="4133088"/>
            <a:ext cx="2377440" cy="438912"/>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70 percent</a:t>
            </a:r>
            <a:endParaRPr lang="en-US" sz="2600" dirty="0"/>
          </a:p>
        </p:txBody>
      </p:sp>
      <p:sp>
        <p:nvSpPr>
          <p:cNvPr id="15" name="Text 13"/>
          <p:cNvSpPr/>
          <p:nvPr/>
        </p:nvSpPr>
        <p:spPr>
          <a:xfrm>
            <a:off x="6553048" y="4626864"/>
            <a:ext cx="4797400" cy="10058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reasonable vSAN planning threshold, giving time to migrate data or add hosts before the documented 75 percent ceiling. It is a planning value, not a Microsoft mandate.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566928" y="621792"/>
            <a:ext cx="11057839" cy="548640"/>
          </a:xfrm>
          <a:prstGeom prst="rect">
            <a:avLst/>
          </a:prstGeom>
          <a:noFill/>
          <a:ln/>
        </p:spPr>
        <p:txBody>
          <a:bodyPr wrap="square" lIns="0" tIns="0" rIns="0" bIns="0" rtlCol="0" anchor="ctr"/>
          <a:lstStyle/>
          <a:p>
            <a:pPr indent="0" marL="0">
              <a:buNone/>
            </a:pPr>
            <a:r>
              <a:rPr lang="en-US" sz="2800" b="1" dirty="0">
                <a:solidFill>
                  <a:srgbClr val="3E3E4B"/>
                </a:solidFill>
                <a:latin typeface="Arial" pitchFamily="34" charset="0"/>
                <a:ea typeface="Arial" pitchFamily="34" charset="-122"/>
                <a:cs typeface="Arial" pitchFamily="34" charset="-120"/>
              </a:rPr>
              <a:t>Corrections and claims to verify</a:t>
            </a:r>
            <a:endParaRPr lang="en-US" sz="2800" dirty="0"/>
          </a:p>
        </p:txBody>
      </p:sp>
      <p:sp>
        <p:nvSpPr>
          <p:cNvPr id="4" name="Text 2"/>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33</a:t>
            </a:r>
            <a:endParaRPr lang="en-US" sz="1000" dirty="0"/>
          </a:p>
        </p:txBody>
      </p:sp>
      <p:sp>
        <p:nvSpPr>
          <p:cNvPr id="5" name="Text 3"/>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
        <p:nvSpPr>
          <p:cNvPr id="6" name="Text 4"/>
          <p:cNvSpPr/>
          <p:nvPr/>
        </p:nvSpPr>
        <p:spPr>
          <a:xfrm>
            <a:off x="566928" y="1389888"/>
            <a:ext cx="11057839" cy="329184"/>
          </a:xfrm>
          <a:prstGeom prst="rect">
            <a:avLst/>
          </a:prstGeom>
          <a:noFill/>
          <a:ln/>
        </p:spPr>
        <p:txBody>
          <a:bodyPr wrap="square" lIns="0" tIns="0" rIns="0" bIns="0" rtlCol="0" anchor="ctr"/>
          <a:lstStyle/>
          <a:p>
            <a:pPr indent="0" marL="0">
              <a:buNone/>
            </a:pPr>
            <a:r>
              <a:rPr lang="en-US" sz="1350" dirty="0">
                <a:solidFill>
                  <a:srgbClr val="6E6E7C"/>
                </a:solidFill>
                <a:latin typeface="Calibri" pitchFamily="34" charset="0"/>
                <a:ea typeface="Calibri" pitchFamily="34" charset="-122"/>
                <a:cs typeface="Calibri" pitchFamily="34" charset="-120"/>
              </a:rPr>
              <a:t>Carry these into the design review. The left column corrects common misstatements. The right column lists claims that current documentation did not confirm.</a:t>
            </a:r>
            <a:endParaRPr lang="en-US" sz="1350" dirty="0"/>
          </a:p>
        </p:txBody>
      </p:sp>
      <p:sp>
        <p:nvSpPr>
          <p:cNvPr id="7" name="Shape 5"/>
          <p:cNvSpPr/>
          <p:nvPr/>
        </p:nvSpPr>
        <p:spPr>
          <a:xfrm>
            <a:off x="566928" y="1810512"/>
            <a:ext cx="5346040" cy="3950208"/>
          </a:xfrm>
          <a:prstGeom prst="roundRect">
            <a:avLst>
              <a:gd name="adj" fmla="val 2083"/>
            </a:avLst>
          </a:prstGeom>
          <a:solidFill>
            <a:srgbClr val="E5F7FC"/>
          </a:solidFill>
          <a:ln w="12700">
            <a:solidFill>
              <a:srgbClr val="E5F7FC"/>
            </a:solidFill>
            <a:prstDash val="solid"/>
          </a:ln>
        </p:spPr>
      </p:sp>
      <p:sp>
        <p:nvSpPr>
          <p:cNvPr id="8" name="Text 6"/>
          <p:cNvSpPr/>
          <p:nvPr/>
        </p:nvSpPr>
        <p:spPr>
          <a:xfrm>
            <a:off x="841248" y="1956816"/>
            <a:ext cx="4797400" cy="310896"/>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Material corrections</a:t>
            </a:r>
            <a:endParaRPr lang="en-US" sz="1600" dirty="0"/>
          </a:p>
        </p:txBody>
      </p:sp>
      <p:sp>
        <p:nvSpPr>
          <p:cNvPr id="9" name="Text 7"/>
          <p:cNvSpPr/>
          <p:nvPr/>
        </p:nvSpPr>
        <p:spPr>
          <a:xfrm>
            <a:off x="841248" y="2340864"/>
            <a:ext cx="4797400" cy="32461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Limits are 12 clusters, 16 hosts per cluster, and 96 hosts per private cloud. Do not multiply to 192.</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LDAP uses TCP 389 and LDAPS uses TCP 636.</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reserved NSX range is 169.254.2.0/23.</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default vSAN datastore policy is RAID-1 FTT-1 and thin provisioned.</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Azure Elastic SAN is iSCSI block storage, not NFS.</a:t>
            </a:r>
            <a:endParaRPr lang="en-US" sz="1250" dirty="0"/>
          </a:p>
          <a:p>
            <a:pPr marL="203200" indent="-2032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AV36 is Skylake, AV36P and AV52 are Cascade Lake, AV48 is Sapphire Rapids, AV64 is Ice Lake.</a:t>
            </a:r>
            <a:endParaRPr lang="en-US" sz="1250" dirty="0"/>
          </a:p>
        </p:txBody>
      </p:sp>
      <p:sp>
        <p:nvSpPr>
          <p:cNvPr id="10" name="Shape 8"/>
          <p:cNvSpPr/>
          <p:nvPr/>
        </p:nvSpPr>
        <p:spPr>
          <a:xfrm>
            <a:off x="6278728" y="1810512"/>
            <a:ext cx="5346040" cy="3950208"/>
          </a:xfrm>
          <a:prstGeom prst="roundRect">
            <a:avLst>
              <a:gd name="adj" fmla="val 2083"/>
            </a:avLst>
          </a:prstGeom>
          <a:solidFill>
            <a:srgbClr val="3E3E4B"/>
          </a:solidFill>
          <a:ln w="12700">
            <a:solidFill>
              <a:srgbClr val="3E3E4B"/>
            </a:solidFill>
            <a:prstDash val="solid"/>
          </a:ln>
        </p:spPr>
      </p:sp>
      <p:sp>
        <p:nvSpPr>
          <p:cNvPr id="11" name="Text 9"/>
          <p:cNvSpPr/>
          <p:nvPr/>
        </p:nvSpPr>
        <p:spPr>
          <a:xfrm>
            <a:off x="6553048" y="1956816"/>
            <a:ext cx="4797400" cy="310896"/>
          </a:xfrm>
          <a:prstGeom prst="rect">
            <a:avLst/>
          </a:prstGeom>
          <a:noFill/>
          <a:ln/>
        </p:spPr>
        <p:txBody>
          <a:bodyPr wrap="square" lIns="0" tIns="0" rIns="0" bIns="0" rtlCol="0" anchor="ctr"/>
          <a:lstStyle/>
          <a:p>
            <a:pPr indent="0" marL="0">
              <a:buNone/>
            </a:pPr>
            <a:r>
              <a:rPr lang="en-US" sz="1600" b="1" dirty="0">
                <a:solidFill>
                  <a:srgbClr val="FAC458"/>
                </a:solidFill>
                <a:latin typeface="Arial" pitchFamily="34" charset="0"/>
                <a:ea typeface="Arial" pitchFamily="34" charset="-122"/>
                <a:cs typeface="Arial" pitchFamily="34" charset="-120"/>
              </a:rPr>
              <a:t>Not confirmed in reviewed documentation</a:t>
            </a:r>
            <a:endParaRPr lang="en-US" sz="1600" dirty="0"/>
          </a:p>
        </p:txBody>
      </p:sp>
      <p:sp>
        <p:nvSpPr>
          <p:cNvPr id="12" name="Text 10"/>
          <p:cNvSpPr/>
          <p:nvPr/>
        </p:nvSpPr>
        <p:spPr>
          <a:xfrm>
            <a:off x="6553048" y="2340864"/>
            <a:ext cx="4797400" cy="32461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HCX MON limits of 400 and 1,000 VMs, and 100 stretched networks.</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The 500 Mbps WAN optimization trigger.</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required standing privileged identity with SMTP for infrastructure alerts.</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Detailed vSAN witness-only outage restrictions.</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private-cloud-wide single concurrent scale operation limit.</a:t>
            </a:r>
            <a:endParaRPr lang="en-US" sz="1250" dirty="0"/>
          </a:p>
          <a:p>
            <a:pPr marL="203200" indent="-2032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That a bogon advertisement automatically drops the BGP session.</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777240"/>
            <a:ext cx="10515600" cy="292608"/>
          </a:xfrm>
          <a:prstGeom prst="rect">
            <a:avLst/>
          </a:prstGeom>
          <a:noFill/>
          <a:ln/>
        </p:spPr>
        <p:txBody>
          <a:bodyPr wrap="square" lIns="0" tIns="0" rIns="0" bIns="0" rtlCol="0" anchor="ctr"/>
          <a:lstStyle/>
          <a:p>
            <a:pPr indent="0" marL="0">
              <a:buNone/>
            </a:pPr>
            <a:r>
              <a:rPr lang="en-US" sz="1200" b="1" spc="300" kern="0" dirty="0">
                <a:solidFill>
                  <a:srgbClr val="00B3E2"/>
                </a:solidFill>
                <a:latin typeface="Calibri" pitchFamily="34" charset="0"/>
                <a:ea typeface="Calibri" pitchFamily="34" charset="-122"/>
                <a:cs typeface="Calibri" pitchFamily="34" charset="-120"/>
              </a:rPr>
              <a:t>ARCHITECTURE SUMMARY</a:t>
            </a:r>
            <a:endParaRPr lang="en-US" sz="1200" dirty="0"/>
          </a:p>
        </p:txBody>
      </p:sp>
      <p:sp>
        <p:nvSpPr>
          <p:cNvPr id="3" name="Text 1"/>
          <p:cNvSpPr/>
          <p:nvPr/>
        </p:nvSpPr>
        <p:spPr>
          <a:xfrm>
            <a:off x="822960" y="1097280"/>
            <a:ext cx="1051560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Design the pieces together, or they fail together</a:t>
            </a:r>
            <a:endParaRPr lang="en-US" sz="3200" dirty="0"/>
          </a:p>
        </p:txBody>
      </p:sp>
      <p:sp>
        <p:nvSpPr>
          <p:cNvPr id="4" name="Shape 2"/>
          <p:cNvSpPr/>
          <p:nvPr/>
        </p:nvSpPr>
        <p:spPr>
          <a:xfrm>
            <a:off x="822960" y="2103120"/>
            <a:ext cx="3297936" cy="1417320"/>
          </a:xfrm>
          <a:prstGeom prst="roundRect">
            <a:avLst>
              <a:gd name="adj" fmla="val 5806"/>
            </a:avLst>
          </a:prstGeom>
          <a:solidFill>
            <a:srgbClr val="4B4B59"/>
          </a:solidFill>
          <a:ln w="12700">
            <a:solidFill>
              <a:srgbClr val="4B4B59"/>
            </a:solidFill>
            <a:prstDash val="solid"/>
          </a:ln>
        </p:spPr>
      </p:sp>
      <p:sp>
        <p:nvSpPr>
          <p:cNvPr id="5" name="Shape 3"/>
          <p:cNvSpPr/>
          <p:nvPr/>
        </p:nvSpPr>
        <p:spPr>
          <a:xfrm>
            <a:off x="1060704" y="2322576"/>
            <a:ext cx="237744" cy="237744"/>
          </a:xfrm>
          <a:prstGeom prst="ellipse">
            <a:avLst/>
          </a:prstGeom>
          <a:solidFill>
            <a:srgbClr val="00B3E2"/>
          </a:solidFill>
          <a:ln w="12700">
            <a:solidFill>
              <a:srgbClr val="00B3E2"/>
            </a:solidFill>
            <a:prstDash val="solid"/>
          </a:ln>
        </p:spPr>
      </p:sp>
      <p:sp>
        <p:nvSpPr>
          <p:cNvPr id="6" name="Text 4"/>
          <p:cNvSpPr/>
          <p:nvPr/>
        </p:nvSpPr>
        <p:spPr>
          <a:xfrm>
            <a:off x="1389888" y="2286000"/>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Capacity</a:t>
            </a:r>
            <a:endParaRPr lang="en-US" sz="1500" dirty="0"/>
          </a:p>
        </p:txBody>
      </p:sp>
      <p:sp>
        <p:nvSpPr>
          <p:cNvPr id="7" name="Text 5"/>
          <p:cNvSpPr/>
          <p:nvPr/>
        </p:nvSpPr>
        <p:spPr>
          <a:xfrm>
            <a:off x="1060704" y="2670048"/>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Quota lead time, fixed management reservation, HA reserve, and the 75 percent vSAN ceiling.</a:t>
            </a:r>
            <a:endParaRPr lang="en-US" sz="1200" dirty="0"/>
          </a:p>
        </p:txBody>
      </p:sp>
      <p:sp>
        <p:nvSpPr>
          <p:cNvPr id="8" name="Shape 6"/>
          <p:cNvSpPr/>
          <p:nvPr/>
        </p:nvSpPr>
        <p:spPr>
          <a:xfrm>
            <a:off x="4431792" y="2103120"/>
            <a:ext cx="3297936" cy="1417320"/>
          </a:xfrm>
          <a:prstGeom prst="roundRect">
            <a:avLst>
              <a:gd name="adj" fmla="val 5806"/>
            </a:avLst>
          </a:prstGeom>
          <a:solidFill>
            <a:srgbClr val="4B4B59"/>
          </a:solidFill>
          <a:ln w="12700">
            <a:solidFill>
              <a:srgbClr val="4B4B59"/>
            </a:solidFill>
            <a:prstDash val="solid"/>
          </a:ln>
        </p:spPr>
      </p:sp>
      <p:sp>
        <p:nvSpPr>
          <p:cNvPr id="9" name="Shape 7"/>
          <p:cNvSpPr/>
          <p:nvPr/>
        </p:nvSpPr>
        <p:spPr>
          <a:xfrm>
            <a:off x="4669536" y="2322576"/>
            <a:ext cx="237744" cy="237744"/>
          </a:xfrm>
          <a:prstGeom prst="ellipse">
            <a:avLst/>
          </a:prstGeom>
          <a:solidFill>
            <a:srgbClr val="2DCCD3"/>
          </a:solidFill>
          <a:ln w="12700">
            <a:solidFill>
              <a:srgbClr val="2DCCD3"/>
            </a:solidFill>
            <a:prstDash val="solid"/>
          </a:ln>
        </p:spPr>
      </p:sp>
      <p:sp>
        <p:nvSpPr>
          <p:cNvPr id="10" name="Text 8"/>
          <p:cNvSpPr/>
          <p:nvPr/>
        </p:nvSpPr>
        <p:spPr>
          <a:xfrm>
            <a:off x="4998720" y="2286000"/>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Connectivity</a:t>
            </a:r>
            <a:endParaRPr lang="en-US" sz="1500" dirty="0"/>
          </a:p>
        </p:txBody>
      </p:sp>
      <p:sp>
        <p:nvSpPr>
          <p:cNvPr id="11" name="Text 9"/>
          <p:cNvSpPr/>
          <p:nvPr/>
        </p:nvSpPr>
        <p:spPr>
          <a:xfrm>
            <a:off x="4669536" y="2670048"/>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Non-overlapping addressing, Global Reach or VNet attachment, controlled BGP, and open ports.</a:t>
            </a:r>
            <a:endParaRPr lang="en-US" sz="1200" dirty="0"/>
          </a:p>
        </p:txBody>
      </p:sp>
      <p:sp>
        <p:nvSpPr>
          <p:cNvPr id="12" name="Shape 10"/>
          <p:cNvSpPr/>
          <p:nvPr/>
        </p:nvSpPr>
        <p:spPr>
          <a:xfrm>
            <a:off x="8040624" y="2103120"/>
            <a:ext cx="3297936" cy="1417320"/>
          </a:xfrm>
          <a:prstGeom prst="roundRect">
            <a:avLst>
              <a:gd name="adj" fmla="val 5806"/>
            </a:avLst>
          </a:prstGeom>
          <a:solidFill>
            <a:srgbClr val="4B4B59"/>
          </a:solidFill>
          <a:ln w="12700">
            <a:solidFill>
              <a:srgbClr val="4B4B59"/>
            </a:solidFill>
            <a:prstDash val="solid"/>
          </a:ln>
        </p:spPr>
      </p:sp>
      <p:sp>
        <p:nvSpPr>
          <p:cNvPr id="13" name="Shape 11"/>
          <p:cNvSpPr/>
          <p:nvPr/>
        </p:nvSpPr>
        <p:spPr>
          <a:xfrm>
            <a:off x="8278368" y="2322576"/>
            <a:ext cx="237744" cy="237744"/>
          </a:xfrm>
          <a:prstGeom prst="ellipse">
            <a:avLst/>
          </a:prstGeom>
          <a:solidFill>
            <a:srgbClr val="00AD93"/>
          </a:solidFill>
          <a:ln w="12700">
            <a:solidFill>
              <a:srgbClr val="00AD93"/>
            </a:solidFill>
            <a:prstDash val="solid"/>
          </a:ln>
        </p:spPr>
      </p:sp>
      <p:sp>
        <p:nvSpPr>
          <p:cNvPr id="14" name="Text 12"/>
          <p:cNvSpPr/>
          <p:nvPr/>
        </p:nvSpPr>
        <p:spPr>
          <a:xfrm>
            <a:off x="8607552" y="2286000"/>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Identity</a:t>
            </a:r>
            <a:endParaRPr lang="en-US" sz="1500" dirty="0"/>
          </a:p>
        </p:txBody>
      </p:sp>
      <p:sp>
        <p:nvSpPr>
          <p:cNvPr id="15" name="Text 13"/>
          <p:cNvSpPr/>
          <p:nvPr/>
        </p:nvSpPr>
        <p:spPr>
          <a:xfrm>
            <a:off x="8278368" y="2670048"/>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Reachable AD DS and DNS, LDAPS, named accounts, least privilege, CloudAdmin as break-glass.</a:t>
            </a:r>
            <a:endParaRPr lang="en-US" sz="1200" dirty="0"/>
          </a:p>
        </p:txBody>
      </p:sp>
      <p:sp>
        <p:nvSpPr>
          <p:cNvPr id="16" name="Shape 14"/>
          <p:cNvSpPr/>
          <p:nvPr/>
        </p:nvSpPr>
        <p:spPr>
          <a:xfrm>
            <a:off x="822960" y="3813048"/>
            <a:ext cx="3297936" cy="1417320"/>
          </a:xfrm>
          <a:prstGeom prst="roundRect">
            <a:avLst>
              <a:gd name="adj" fmla="val 5806"/>
            </a:avLst>
          </a:prstGeom>
          <a:solidFill>
            <a:srgbClr val="4B4B59"/>
          </a:solidFill>
          <a:ln w="12700">
            <a:solidFill>
              <a:srgbClr val="4B4B59"/>
            </a:solidFill>
            <a:prstDash val="solid"/>
          </a:ln>
        </p:spPr>
      </p:sp>
      <p:sp>
        <p:nvSpPr>
          <p:cNvPr id="17" name="Shape 15"/>
          <p:cNvSpPr/>
          <p:nvPr/>
        </p:nvSpPr>
        <p:spPr>
          <a:xfrm>
            <a:off x="1060704" y="4032504"/>
            <a:ext cx="237744" cy="237744"/>
          </a:xfrm>
          <a:prstGeom prst="ellipse">
            <a:avLst/>
          </a:prstGeom>
          <a:solidFill>
            <a:srgbClr val="F15D23"/>
          </a:solidFill>
          <a:ln w="12700">
            <a:solidFill>
              <a:srgbClr val="F15D23"/>
            </a:solidFill>
            <a:prstDash val="solid"/>
          </a:ln>
        </p:spPr>
      </p:sp>
      <p:sp>
        <p:nvSpPr>
          <p:cNvPr id="18" name="Text 16"/>
          <p:cNvSpPr/>
          <p:nvPr/>
        </p:nvSpPr>
        <p:spPr>
          <a:xfrm>
            <a:off x="1389888" y="3995928"/>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Migration</a:t>
            </a:r>
            <a:endParaRPr lang="en-US" sz="1500" dirty="0"/>
          </a:p>
        </p:txBody>
      </p:sp>
      <p:sp>
        <p:nvSpPr>
          <p:cNvPr id="19" name="Text 17"/>
          <p:cNvSpPr/>
          <p:nvPr/>
        </p:nvSpPr>
        <p:spPr>
          <a:xfrm>
            <a:off x="1060704" y="4379976"/>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Connector-to-Cloud direction, MON for local routing, per-VM EVC before AV64 exposure.</a:t>
            </a:r>
            <a:endParaRPr lang="en-US" sz="1200" dirty="0"/>
          </a:p>
        </p:txBody>
      </p:sp>
      <p:sp>
        <p:nvSpPr>
          <p:cNvPr id="20" name="Shape 18"/>
          <p:cNvSpPr/>
          <p:nvPr/>
        </p:nvSpPr>
        <p:spPr>
          <a:xfrm>
            <a:off x="4431792" y="3813048"/>
            <a:ext cx="3297936" cy="1417320"/>
          </a:xfrm>
          <a:prstGeom prst="roundRect">
            <a:avLst>
              <a:gd name="adj" fmla="val 5806"/>
            </a:avLst>
          </a:prstGeom>
          <a:solidFill>
            <a:srgbClr val="4B4B59"/>
          </a:solidFill>
          <a:ln w="12700">
            <a:solidFill>
              <a:srgbClr val="4B4B59"/>
            </a:solidFill>
            <a:prstDash val="solid"/>
          </a:ln>
        </p:spPr>
      </p:sp>
      <p:sp>
        <p:nvSpPr>
          <p:cNvPr id="21" name="Shape 19"/>
          <p:cNvSpPr/>
          <p:nvPr/>
        </p:nvSpPr>
        <p:spPr>
          <a:xfrm>
            <a:off x="4669536" y="4032504"/>
            <a:ext cx="237744" cy="237744"/>
          </a:xfrm>
          <a:prstGeom prst="ellipse">
            <a:avLst/>
          </a:prstGeom>
          <a:solidFill>
            <a:srgbClr val="AD1AAC"/>
          </a:solidFill>
          <a:ln w="12700">
            <a:solidFill>
              <a:srgbClr val="AD1AAC"/>
            </a:solidFill>
            <a:prstDash val="solid"/>
          </a:ln>
        </p:spPr>
      </p:sp>
      <p:sp>
        <p:nvSpPr>
          <p:cNvPr id="22" name="Text 20"/>
          <p:cNvSpPr/>
          <p:nvPr/>
        </p:nvSpPr>
        <p:spPr>
          <a:xfrm>
            <a:off x="4998720" y="3995928"/>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Resilience</a:t>
            </a:r>
            <a:endParaRPr lang="en-US" sz="1500" dirty="0"/>
          </a:p>
        </p:txBody>
      </p:sp>
      <p:sp>
        <p:nvSpPr>
          <p:cNvPr id="23" name="Text 21"/>
          <p:cNvSpPr/>
          <p:nvPr/>
        </p:nvSpPr>
        <p:spPr>
          <a:xfrm>
            <a:off x="4669536" y="4379976"/>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Backups off vSAN, non-overlapping DR address space, stretched clusters for zone failure.</a:t>
            </a:r>
            <a:endParaRPr lang="en-US" sz="1200" dirty="0"/>
          </a:p>
        </p:txBody>
      </p:sp>
      <p:sp>
        <p:nvSpPr>
          <p:cNvPr id="24" name="Shape 22"/>
          <p:cNvSpPr/>
          <p:nvPr/>
        </p:nvSpPr>
        <p:spPr>
          <a:xfrm>
            <a:off x="8040624" y="3813048"/>
            <a:ext cx="3297936" cy="1417320"/>
          </a:xfrm>
          <a:prstGeom prst="roundRect">
            <a:avLst>
              <a:gd name="adj" fmla="val 5806"/>
            </a:avLst>
          </a:prstGeom>
          <a:solidFill>
            <a:srgbClr val="4B4B59"/>
          </a:solidFill>
          <a:ln w="12700">
            <a:solidFill>
              <a:srgbClr val="4B4B59"/>
            </a:solidFill>
            <a:prstDash val="solid"/>
          </a:ln>
        </p:spPr>
      </p:sp>
      <p:sp>
        <p:nvSpPr>
          <p:cNvPr id="25" name="Shape 23"/>
          <p:cNvSpPr/>
          <p:nvPr/>
        </p:nvSpPr>
        <p:spPr>
          <a:xfrm>
            <a:off x="8278368" y="4032504"/>
            <a:ext cx="237744" cy="237744"/>
          </a:xfrm>
          <a:prstGeom prst="ellipse">
            <a:avLst/>
          </a:prstGeom>
          <a:solidFill>
            <a:srgbClr val="FAC458"/>
          </a:solidFill>
          <a:ln w="12700">
            <a:solidFill>
              <a:srgbClr val="FAC458"/>
            </a:solidFill>
            <a:prstDash val="solid"/>
          </a:ln>
        </p:spPr>
      </p:sp>
      <p:sp>
        <p:nvSpPr>
          <p:cNvPr id="26" name="Text 24"/>
          <p:cNvSpPr/>
          <p:nvPr/>
        </p:nvSpPr>
        <p:spPr>
          <a:xfrm>
            <a:off x="8607552" y="3995928"/>
            <a:ext cx="247497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Operations</a:t>
            </a:r>
            <a:endParaRPr lang="en-US" sz="1500" dirty="0"/>
          </a:p>
        </p:txBody>
      </p:sp>
      <p:sp>
        <p:nvSpPr>
          <p:cNvPr id="27" name="Text 25"/>
          <p:cNvSpPr/>
          <p:nvPr/>
        </p:nvSpPr>
        <p:spPr>
          <a:xfrm>
            <a:off x="8278368" y="4379976"/>
            <a:ext cx="2822448" cy="731520"/>
          </a:xfrm>
          <a:prstGeom prst="rect">
            <a:avLst/>
          </a:prstGeom>
          <a:noFill/>
          <a:ln/>
        </p:spPr>
        <p:txBody>
          <a:bodyPr wrap="square" lIns="0" tIns="0" rIns="0" bIns="0" rtlCol="0" anchor="t"/>
          <a:lstStyle/>
          <a:p>
            <a:pPr indent="0" marL="0">
              <a:buNone/>
            </a:pPr>
            <a:r>
              <a:rPr lang="en-US" sz="1200" dirty="0">
                <a:solidFill>
                  <a:srgbClr val="D6D8E0"/>
                </a:solidFill>
                <a:latin typeface="Calibri" pitchFamily="34" charset="0"/>
                <a:ea typeface="Calibri" pitchFamily="34" charset="-122"/>
                <a:cs typeface="Calibri" pitchFamily="34" charset="-120"/>
              </a:rPr>
              <a:t>Microsoft patching windows, Arc and Defender governance, serialized scaling, early alerts.</a:t>
            </a:r>
            <a:endParaRPr lang="en-US" sz="1200" dirty="0"/>
          </a:p>
        </p:txBody>
      </p:sp>
      <p:sp>
        <p:nvSpPr>
          <p:cNvPr id="28" name="Text 26"/>
          <p:cNvSpPr/>
          <p:nvPr/>
        </p:nvSpPr>
        <p:spPr>
          <a:xfrm>
            <a:off x="822960" y="5577840"/>
            <a:ext cx="10515600" cy="502920"/>
          </a:xfrm>
          <a:prstGeom prst="rect">
            <a:avLst/>
          </a:prstGeom>
          <a:noFill/>
          <a:ln/>
        </p:spPr>
        <p:txBody>
          <a:bodyPr wrap="square" lIns="0" tIns="0" rIns="0" bIns="0" rtlCol="0" anchor="ctr"/>
          <a:lstStyle/>
          <a:p>
            <a:pPr indent="0" marL="0">
              <a:buNone/>
            </a:pPr>
            <a:r>
              <a:rPr lang="en-US" sz="1400" i="1" dirty="0">
                <a:solidFill>
                  <a:srgbClr val="B2E8F6"/>
                </a:solidFill>
                <a:latin typeface="Calibri" pitchFamily="34" charset="0"/>
                <a:ea typeface="Calibri" pitchFamily="34" charset="-122"/>
                <a:cs typeface="Calibri" pitchFamily="34" charset="-120"/>
              </a:rPr>
              <a:t>Success depends on capacity reservations, storage policy, IP addressing, routing, identity, and lifecycle operations being designed as one system.</a:t>
            </a:r>
            <a:endParaRPr lang="en-US" sz="1400" dirty="0"/>
          </a:p>
        </p:txBody>
      </p:sp>
      <p:sp>
        <p:nvSpPr>
          <p:cNvPr id="29" name="Text 27"/>
          <p:cNvSpPr/>
          <p:nvPr/>
        </p:nvSpPr>
        <p:spPr>
          <a:xfrm>
            <a:off x="11231575" y="6382512"/>
            <a:ext cx="457200" cy="256032"/>
          </a:xfrm>
          <a:prstGeom prst="rect">
            <a:avLst/>
          </a:prstGeom>
          <a:noFill/>
          <a:ln/>
        </p:spPr>
        <p:txBody>
          <a:bodyPr wrap="square" lIns="0" tIns="0" rIns="0" bIns="0" rtlCol="0" anchor="ctr"/>
          <a:lstStyle/>
          <a:p>
            <a:pPr algn="r" indent="0" marL="0">
              <a:buNone/>
            </a:pPr>
            <a:r>
              <a:rPr lang="en-US" sz="1000" dirty="0">
                <a:solidFill>
                  <a:srgbClr val="6E6E7C"/>
                </a:solidFill>
                <a:latin typeface="Calibri" pitchFamily="34" charset="0"/>
                <a:ea typeface="Calibri" pitchFamily="34" charset="-122"/>
                <a:cs typeface="Calibri" pitchFamily="34" charset="-120"/>
              </a:rPr>
              <a:t>34</a:t>
            </a:r>
            <a:endParaRPr lang="en-US" sz="1000" dirty="0"/>
          </a:p>
        </p:txBody>
      </p:sp>
      <p:sp>
        <p:nvSpPr>
          <p:cNvPr id="30" name="Text 28"/>
          <p:cNvSpPr/>
          <p:nvPr/>
        </p:nvSpPr>
        <p:spPr>
          <a:xfrm>
            <a:off x="566928" y="6382512"/>
            <a:ext cx="4114800" cy="256032"/>
          </a:xfrm>
          <a:prstGeom prst="rect">
            <a:avLst/>
          </a:prstGeom>
          <a:noFill/>
          <a:ln/>
        </p:spPr>
        <p:txBody>
          <a:bodyPr wrap="square" lIns="0" tIns="0" rIns="0" bIns="0" rtlCol="0" anchor="ctr"/>
          <a:lstStyle/>
          <a:p>
            <a:pPr indent="0" marL="0">
              <a:buNone/>
            </a:pPr>
            <a:r>
              <a:rPr lang="en-US" sz="1000" dirty="0">
                <a:solidFill>
                  <a:srgbClr val="6E6E7C"/>
                </a:solidFill>
                <a:latin typeface="Calibri" pitchFamily="34" charset="0"/>
                <a:ea typeface="Calibri" pitchFamily="34" charset="-122"/>
                <a:cs typeface="Calibri" pitchFamily="34" charset="-120"/>
              </a:rPr>
              <a:t>Azure VMware Solution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VMware Solution Implementation Guide</dc:title>
  <dc:subject>PptxGenJS Presentation</dc:subject>
  <dc:creator>Quisitive</dc:creator>
  <cp:lastModifiedBy>Quisitive</cp:lastModifiedBy>
  <cp:revision>1</cp:revision>
  <dcterms:created xsi:type="dcterms:W3CDTF">2026-07-26T10:38:41Z</dcterms:created>
  <dcterms:modified xsi:type="dcterms:W3CDTF">2026-07-26T10:38:41Z</dcterms:modified>
</cp:coreProperties>
</file>