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Companion session to the networking discussion. This one is about the numbers behind AVS: how much capacity is really usable, what the platform reserves, and what customer configuration can stop the platform from maintaining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Worth opening with: the failure had nothing to do with capacity, licensing, or design. It was hygiene. That is the pattern the rest of the session keeps returning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split is clean on paper and messy in practice. Almost every failure later in this deck sits on the customer side of the line but presents as a platform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Flag the documentation difference rather than repeating the transcript wording as fact. Generation 2 is bare metal attached to Azure networking, not standard Azure VMs.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comparison the source uses is structured memory allocation in software. The block is handed over once and partitioned by the platform, not managed incrementally by the customer.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thesis of the session in one number. The same reasoning reappears in the 75 percent vSAN rule and in route-table planning.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merger and acquisition item is the one most often missed. Address space that is not yours today may be yours in eighteen months.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connection ceiling and the visibility limits are separate problems. Estates hit the first one under load and the second one during incident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this as a deliberate design choice rather than a defect helps clients understand why Generation 2 hands the responsibility back rather than raising the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Microsoft connects AVS to the Azure network. The path from the VNet to the public internet is entirely the customer's to build and operate.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distinction to land: a processor bottleneck and a link-bandwidth bottleneck produce the same user complaint but require completely different remediation.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decision as in the networking session, framed here as a cost conversation the architect has to own rather than inherit.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conceptual setup for the next two slides: /32 host routes from HCX on one side, automatic /28 decomposition inside NSX on the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Cleanup is the step that gets dropped when a migration runs long. Put route withdrawal in the wave exit criteria, not in a backlog.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Architects need both numbers: the customer-visible route count and the way NSX transforms those routes internally. Only one of them appears in the portal.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Useful in commercial conversations. When a client resists adding a host, the additional route capacity may be the deciding argument rather than compute.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stateless versus stateful distinction explains a whole category of intermittent connection failures, and it generalizes well beyond NSX.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practical planning note: multi-tenant or isolation-heavy designs should assume NSX Manager access from day one rather than discovering the portal limitation mid-build.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APIPA on a freshly migrated VM is the tell. It usually sends people looking at the guest OS rather than at segment configuration.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one of these produces a partial success, which is worse than a clean failure because it validates the wrong hypothesis.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Worth raising early with application owners. Retry behavior is not something the infrastructure team can add later on their behalf.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here: single-host protection is a restart, measured in minutes, not a live migration. Application owners often assume the latter.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SKU restriction is a real constraint on deal shaping. A client who wants AV64 density and zone redundancy has to choose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corruption risk is why the platform prefers to stop one side entirely rather than let both continue. That tradeoff is the subject of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design favors service continuity on the quorum side while preserving data integrity globally. Suspending writes on the isolated side is the point, not a side effect.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recovery is genuinely fast, but it is a restart. Anything holding long-lived connections will notice.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bridge into the blockers. Everything that follows is a customer setting that stops a Microsoft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principle as the 96-host limit. Clients who budget storage to the last terabyte are buying capacity they cannot safely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quarterly hygiene sweep for mounted media, host-specific devices, and FTT 0 policies costs very little and removes most of this category.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Scheduling control is a genuine benefit of keeping the environment compliant. It is worth naming as an incentive for the hygiene work in the previous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Operational readiness is continuous configuration hygiene, not one-time deployment validation. That is the sentence to leave the room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asking the room which of these limits they have already hit, and whether they found it through monitoring or through an outage.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E3E4B"/>
        </a:solidFill>
      </p:bgPr>
    </p:bg>
    <p:spTree>
      <p:nvGrpSpPr>
        <p:cNvPr id="1" name=""/>
        <p:cNvGrpSpPr/>
        <p:nvPr/>
      </p:nvGrpSpPr>
      <p:grpSpPr>
        <a:xfrm>
          <a:off x="0" y="0"/>
          <a:ext cx="0" cy="0"/>
          <a:chOff x="0" y="0"/>
          <a:chExt cx="0" cy="0"/>
        </a:xfrm>
      </p:grpSpPr>
      <p:sp>
        <p:nvSpPr>
          <p:cNvPr id="2" name="Shape 0"/>
          <p:cNvSpPr/>
          <p:nvPr/>
        </p:nvSpPr>
        <p:spPr>
          <a:xfrm>
            <a:off x="9052560" y="1005840"/>
            <a:ext cx="4846320" cy="4846320"/>
          </a:xfrm>
          <a:prstGeom prst="ellipse">
            <a:avLst/>
          </a:prstGeom>
          <a:solidFill>
            <a:srgbClr val="3E3E4B"/>
          </a:solidFill>
          <a:ln w="15875">
            <a:solidFill>
              <a:srgbClr val="00B3E2"/>
            </a:solidFill>
            <a:prstDash val="solid"/>
          </a:ln>
        </p:spPr>
      </p:sp>
      <p:sp>
        <p:nvSpPr>
          <p:cNvPr id="3" name="Shape 1"/>
          <p:cNvSpPr/>
          <p:nvPr/>
        </p:nvSpPr>
        <p:spPr>
          <a:xfrm>
            <a:off x="9966960" y="1920240"/>
            <a:ext cx="3017520" cy="3017520"/>
          </a:xfrm>
          <a:prstGeom prst="ellipse">
            <a:avLst/>
          </a:prstGeom>
          <a:solidFill>
            <a:srgbClr val="3E3E4B"/>
          </a:solidFill>
          <a:ln w="12700">
            <a:solidFill>
              <a:srgbClr val="5A5A6B"/>
            </a:solidFill>
            <a:prstDash val="solid"/>
          </a:ln>
        </p:spPr>
      </p:sp>
      <p:sp>
        <p:nvSpPr>
          <p:cNvPr id="4" name="Shape 2"/>
          <p:cNvSpPr/>
          <p:nvPr/>
        </p:nvSpPr>
        <p:spPr>
          <a:xfrm>
            <a:off x="10744200" y="2697480"/>
            <a:ext cx="1463040" cy="1463040"/>
          </a:xfrm>
          <a:prstGeom prst="ellipse">
            <a:avLst/>
          </a:prstGeom>
          <a:solidFill>
            <a:srgbClr val="00B3E2"/>
          </a:solidFill>
          <a:ln w="12700">
            <a:solidFill>
              <a:srgbClr val="00B3E2"/>
            </a:solidFill>
            <a:prstDash val="solid"/>
          </a:ln>
        </p:spPr>
      </p:sp>
      <p:sp>
        <p:nvSpPr>
          <p:cNvPr id="5" name="Text 3"/>
          <p:cNvSpPr/>
          <p:nvPr/>
        </p:nvSpPr>
        <p:spPr>
          <a:xfrm>
            <a:off x="640080" y="1417320"/>
            <a:ext cx="7863840" cy="274320"/>
          </a:xfrm>
          <a:prstGeom prst="rect">
            <a:avLst/>
          </a:prstGeom>
          <a:noFill/>
          <a:ln/>
        </p:spPr>
        <p:txBody>
          <a:bodyPr wrap="square" lIns="0" tIns="0" rIns="0" bIns="0" rtlCol="0" anchor="ctr"/>
          <a:lstStyle/>
          <a:p>
            <a:pPr indent="0" marL="0">
              <a:buNone/>
            </a:pPr>
            <a:r>
              <a:rPr lang="en-US" sz="1200" b="1" spc="250" kern="0" dirty="0">
                <a:solidFill>
                  <a:srgbClr val="00B3E2"/>
                </a:solidFill>
                <a:latin typeface="Calibri" pitchFamily="34" charset="0"/>
                <a:ea typeface="Calibri" pitchFamily="34" charset="-122"/>
                <a:cs typeface="Calibri" pitchFamily="34" charset="-120"/>
              </a:rPr>
              <a:t>QUISITIVE  |  SECURE INFRASTRUCTURE</a:t>
            </a:r>
            <a:endParaRPr lang="en-US" sz="1200" dirty="0"/>
          </a:p>
        </p:txBody>
      </p:sp>
      <p:sp>
        <p:nvSpPr>
          <p:cNvPr id="6" name="Text 4"/>
          <p:cNvSpPr/>
          <p:nvPr/>
        </p:nvSpPr>
        <p:spPr>
          <a:xfrm>
            <a:off x="640080" y="1874520"/>
            <a:ext cx="7955280" cy="1737360"/>
          </a:xfrm>
          <a:prstGeom prst="rect">
            <a:avLst/>
          </a:prstGeom>
          <a:noFill/>
          <a:ln/>
        </p:spPr>
        <p:txBody>
          <a:bodyPr wrap="square" lIns="0" tIns="0" rIns="0" bIns="0" rtlCol="0" anchor="ctr"/>
          <a:lstStyle/>
          <a:p>
            <a:pPr indent="0" marL="0">
              <a:lnSpc>
                <a:spcPts val="5200"/>
              </a:lnSpc>
              <a:buNone/>
            </a:pPr>
            <a:r>
              <a:rPr lang="en-US" sz="4600" b="1" dirty="0">
                <a:solidFill>
                  <a:srgbClr val="FFFFFF"/>
                </a:solidFill>
                <a:latin typeface="Calibri" pitchFamily="34" charset="0"/>
                <a:ea typeface="Calibri" pitchFamily="34" charset="-122"/>
                <a:cs typeface="Calibri" pitchFamily="34" charset="-120"/>
              </a:rPr>
              <a:t>The Brutal Math of</a:t>
            </a:r>
            <a:endParaRPr lang="en-US" sz="4600" dirty="0"/>
          </a:p>
          <a:p>
            <a:pPr indent="0" marL="0">
              <a:lnSpc>
                <a:spcPts val="5200"/>
              </a:lnSpc>
              <a:buNone/>
            </a:pPr>
            <a:r>
              <a:rPr lang="en-US" sz="4600" b="1" dirty="0">
                <a:solidFill>
                  <a:srgbClr val="FFFFFF"/>
                </a:solidFill>
                <a:latin typeface="Calibri" pitchFamily="34" charset="0"/>
                <a:ea typeface="Calibri" pitchFamily="34" charset="-122"/>
                <a:cs typeface="Calibri" pitchFamily="34" charset="-120"/>
              </a:rPr>
              <a:t>Azure VMware Solution</a:t>
            </a:r>
            <a:endParaRPr lang="en-US" sz="4600" dirty="0"/>
          </a:p>
        </p:txBody>
      </p:sp>
      <p:sp>
        <p:nvSpPr>
          <p:cNvPr id="7" name="Text 5"/>
          <p:cNvSpPr/>
          <p:nvPr/>
        </p:nvSpPr>
        <p:spPr>
          <a:xfrm>
            <a:off x="640080" y="3794760"/>
            <a:ext cx="7589520" cy="777240"/>
          </a:xfrm>
          <a:prstGeom prst="rect">
            <a:avLst/>
          </a:prstGeom>
          <a:noFill/>
          <a:ln/>
        </p:spPr>
        <p:txBody>
          <a:bodyPr wrap="square" lIns="0" tIns="0" rIns="0" bIns="0" rtlCol="0" anchor="ctr"/>
          <a:lstStyle/>
          <a:p>
            <a:pPr indent="0" marL="0">
              <a:buNone/>
            </a:pPr>
            <a:r>
              <a:rPr lang="en-US" sz="1600" dirty="0">
                <a:solidFill>
                  <a:srgbClr val="C9CCD6"/>
                </a:solidFill>
                <a:latin typeface="Calibri" pitchFamily="34" charset="0"/>
                <a:ea typeface="Calibri" pitchFamily="34" charset="-122"/>
                <a:cs typeface="Calibri" pitchFamily="34" charset="-120"/>
              </a:rPr>
              <a:t>Address arithmetic, route ceilings, quorum, and the VM hygiene that decides whether the platform can maintain itself.</a:t>
            </a:r>
            <a:endParaRPr lang="en-US" sz="1600" dirty="0"/>
          </a:p>
        </p:txBody>
      </p:sp>
      <p:sp>
        <p:nvSpPr>
          <p:cNvPr id="8" name="Text 6"/>
          <p:cNvSpPr/>
          <p:nvPr/>
        </p:nvSpPr>
        <p:spPr>
          <a:xfrm>
            <a:off x="640080" y="4937760"/>
            <a:ext cx="7589520" cy="274320"/>
          </a:xfrm>
          <a:prstGeom prst="rect">
            <a:avLst/>
          </a:prstGeom>
          <a:noFill/>
          <a:ln/>
        </p:spPr>
        <p:txBody>
          <a:bodyPr wrap="square" lIns="0" tIns="0" rIns="0" bIns="0" rtlCol="0" anchor="ctr"/>
          <a:lstStyle/>
          <a:p>
            <a:pPr indent="0" marL="0">
              <a:buNone/>
            </a:pPr>
            <a:r>
              <a:rPr lang="en-US" sz="1200" b="1" dirty="0">
                <a:solidFill>
                  <a:srgbClr val="2DCCD3"/>
                </a:solidFill>
                <a:latin typeface="Calibri" pitchFamily="34" charset="0"/>
                <a:ea typeface="Calibri" pitchFamily="34" charset="-122"/>
                <a:cs typeface="Calibri" pitchFamily="34" charset="-120"/>
              </a:rPr>
              <a:t>Infrastructure architects  ·  Cloud engineers  ·  VMware administrators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3E3E4B"/>
        </a:solidFill>
      </p:bgPr>
    </p:bg>
    <p:spTree>
      <p:nvGrpSpPr>
        <p:cNvPr id="1" name=""/>
        <p:cNvGrpSpPr/>
        <p:nvPr/>
      </p:nvGrpSpPr>
      <p:grpSpPr>
        <a:xfrm>
          <a:off x="0" y="0"/>
          <a:ext cx="0" cy="0"/>
          <a:chOff x="0" y="0"/>
          <a:chExt cx="0" cy="0"/>
        </a:xfrm>
      </p:grpSpPr>
      <p:sp>
        <p:nvSpPr>
          <p:cNvPr id="2" name="Text 0"/>
          <p:cNvSpPr/>
          <p:nvPr/>
        </p:nvSpPr>
        <p:spPr>
          <a:xfrm>
            <a:off x="640080" y="384048"/>
            <a:ext cx="10911535" cy="237744"/>
          </a:xfrm>
          <a:prstGeom prst="rect">
            <a:avLst/>
          </a:prstGeom>
          <a:noFill/>
          <a:ln/>
        </p:spPr>
        <p:txBody>
          <a:bodyPr wrap="square" lIns="0" tIns="0" rIns="0" bIns="0" rtlCol="0" anchor="ctr"/>
          <a:lstStyle/>
          <a:p>
            <a:pPr indent="0" marL="0">
              <a:buNone/>
            </a:pPr>
            <a:r>
              <a:rPr lang="en-US" sz="1100" b="1" spc="200" kern="0" dirty="0">
                <a:solidFill>
                  <a:srgbClr val="00B3E2"/>
                </a:solidFill>
                <a:latin typeface="Calibri" pitchFamily="34" charset="0"/>
                <a:ea typeface="Calibri" pitchFamily="34" charset="-122"/>
                <a:cs typeface="Calibri" pitchFamily="34" charset="-120"/>
              </a:rPr>
              <a:t>OPENING SCENARIO</a:t>
            </a:r>
            <a:endParaRPr lang="en-US" sz="1100" dirty="0"/>
          </a:p>
        </p:txBody>
      </p:sp>
      <p:sp>
        <p:nvSpPr>
          <p:cNvPr id="3" name="Text 1"/>
          <p:cNvSpPr/>
          <p:nvPr/>
        </p:nvSpPr>
        <p:spPr>
          <a:xfrm>
            <a:off x="640080" y="658368"/>
            <a:ext cx="10911535" cy="566928"/>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A $50 million environment stopped by a mounted ISO</a:t>
            </a:r>
            <a:endParaRPr lang="en-US" sz="3400" dirty="0"/>
          </a:p>
        </p:txBody>
      </p:sp>
      <p:sp>
        <p:nvSpPr>
          <p:cNvPr id="4" name="Text 2"/>
          <p:cNvSpPr/>
          <p:nvPr/>
        </p:nvSpPr>
        <p:spPr>
          <a:xfrm>
            <a:off x="640080" y="1371600"/>
            <a:ext cx="10972800" cy="548640"/>
          </a:xfrm>
          <a:prstGeom prst="rect">
            <a:avLst/>
          </a:prstGeom>
          <a:noFill/>
          <a:ln/>
        </p:spPr>
        <p:txBody>
          <a:bodyPr wrap="square" lIns="0" tIns="0" rIns="0" bIns="0" rtlCol="0" anchor="ctr"/>
          <a:lstStyle/>
          <a:p>
            <a:pPr indent="0" marL="0">
              <a:buNone/>
            </a:pPr>
            <a:r>
              <a:rPr lang="en-US" sz="1500" dirty="0">
                <a:solidFill>
                  <a:srgbClr val="C9CCD6"/>
                </a:solidFill>
                <a:latin typeface="Calibri" pitchFamily="34" charset="0"/>
                <a:ea typeface="Calibri" pitchFamily="34" charset="-122"/>
                <a:cs typeface="Calibri" pitchFamily="34" charset="-120"/>
              </a:rPr>
              <a:t>The environment looks healthy: high-end compute deployed, mission-critical workloads migrated, monitoring dashboards normal. Then Microsoft announces a critical hypervisor-level zero-day and automated global patching begins.</a:t>
            </a:r>
            <a:endParaRPr lang="en-US" sz="1500" dirty="0"/>
          </a:p>
        </p:txBody>
      </p:sp>
      <p:sp>
        <p:nvSpPr>
          <p:cNvPr id="5" name="Shape 3"/>
          <p:cNvSpPr/>
          <p:nvPr/>
        </p:nvSpPr>
        <p:spPr>
          <a:xfrm>
            <a:off x="640080" y="2103120"/>
            <a:ext cx="2542032" cy="2331720"/>
          </a:xfrm>
          <a:prstGeom prst="roundRect">
            <a:avLst>
              <a:gd name="adj" fmla="val 2745"/>
            </a:avLst>
          </a:prstGeom>
          <a:solidFill>
            <a:srgbClr val="4A4A58"/>
          </a:solidFill>
          <a:ln w="9525">
            <a:solidFill>
              <a:srgbClr val="5C5C6C"/>
            </a:solidFill>
            <a:prstDash val="solid"/>
          </a:ln>
        </p:spPr>
      </p:sp>
      <p:sp>
        <p:nvSpPr>
          <p:cNvPr id="6" name="Shape 4"/>
          <p:cNvSpPr/>
          <p:nvPr/>
        </p:nvSpPr>
        <p:spPr>
          <a:xfrm>
            <a:off x="896112" y="2304288"/>
            <a:ext cx="384048" cy="384048"/>
          </a:xfrm>
          <a:prstGeom prst="ellipse">
            <a:avLst/>
          </a:prstGeom>
          <a:solidFill>
            <a:srgbClr val="00B3E2"/>
          </a:solidFill>
          <a:ln w="12700">
            <a:solidFill>
              <a:srgbClr val="00B3E2"/>
            </a:solidFill>
            <a:prstDash val="solid"/>
          </a:ln>
        </p:spPr>
      </p:sp>
      <p:sp>
        <p:nvSpPr>
          <p:cNvPr id="7" name="Text 5"/>
          <p:cNvSpPr/>
          <p:nvPr/>
        </p:nvSpPr>
        <p:spPr>
          <a:xfrm>
            <a:off x="896112" y="230428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p:nvPr/>
        </p:nvSpPr>
        <p:spPr>
          <a:xfrm>
            <a:off x="896112" y="2788920"/>
            <a:ext cx="2029968" cy="411480"/>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Device left attached</a:t>
            </a:r>
            <a:endParaRPr lang="en-US" sz="1550" dirty="0"/>
          </a:p>
        </p:txBody>
      </p:sp>
      <p:sp>
        <p:nvSpPr>
          <p:cNvPr id="9" name="Text 7"/>
          <p:cNvSpPr/>
          <p:nvPr/>
        </p:nvSpPr>
        <p:spPr>
          <a:xfrm>
            <a:off x="896112" y="3246120"/>
            <a:ext cx="2029968" cy="1051560"/>
          </a:xfrm>
          <a:prstGeom prst="rect">
            <a:avLst/>
          </a:prstGeom>
          <a:noFill/>
          <a:ln/>
        </p:spPr>
        <p:txBody>
          <a:bodyPr wrap="square" lIns="0" tIns="0" rIns="0" bIns="0" rtlCol="0" anchor="ctr"/>
          <a:lstStyle/>
          <a:p>
            <a:pPr indent="0" marL="0">
              <a:buNone/>
            </a:pPr>
            <a:r>
              <a:rPr lang="en-US" sz="1250" dirty="0">
                <a:solidFill>
                  <a:srgbClr val="C9CCD6"/>
                </a:solidFill>
                <a:latin typeface="Calibri" pitchFamily="34" charset="0"/>
                <a:ea typeface="Calibri" pitchFamily="34" charset="-122"/>
                <a:cs typeface="Calibri" pitchFamily="34" charset="-120"/>
              </a:rPr>
              <a:t>A virtual CD-ROM was left mounted to a VM, possibly attached years earlier for a legacy operating system or application.</a:t>
            </a:r>
            <a:endParaRPr lang="en-US" sz="1250" dirty="0"/>
          </a:p>
        </p:txBody>
      </p:sp>
      <p:sp>
        <p:nvSpPr>
          <p:cNvPr id="10" name="Shape 8"/>
          <p:cNvSpPr/>
          <p:nvPr/>
        </p:nvSpPr>
        <p:spPr>
          <a:xfrm>
            <a:off x="3429000" y="2103120"/>
            <a:ext cx="2542032" cy="2331720"/>
          </a:xfrm>
          <a:prstGeom prst="roundRect">
            <a:avLst>
              <a:gd name="adj" fmla="val 2745"/>
            </a:avLst>
          </a:prstGeom>
          <a:solidFill>
            <a:srgbClr val="4A4A58"/>
          </a:solidFill>
          <a:ln w="9525">
            <a:solidFill>
              <a:srgbClr val="5C5C6C"/>
            </a:solidFill>
            <a:prstDash val="solid"/>
          </a:ln>
        </p:spPr>
      </p:sp>
      <p:sp>
        <p:nvSpPr>
          <p:cNvPr id="11" name="Shape 9"/>
          <p:cNvSpPr/>
          <p:nvPr/>
        </p:nvSpPr>
        <p:spPr>
          <a:xfrm>
            <a:off x="3685032" y="2304288"/>
            <a:ext cx="384048" cy="384048"/>
          </a:xfrm>
          <a:prstGeom prst="ellipse">
            <a:avLst/>
          </a:prstGeom>
          <a:solidFill>
            <a:srgbClr val="00B3E2"/>
          </a:solidFill>
          <a:ln w="12700">
            <a:solidFill>
              <a:srgbClr val="00B3E2"/>
            </a:solidFill>
            <a:prstDash val="solid"/>
          </a:ln>
        </p:spPr>
      </p:sp>
      <p:sp>
        <p:nvSpPr>
          <p:cNvPr id="12" name="Text 10"/>
          <p:cNvSpPr/>
          <p:nvPr/>
        </p:nvSpPr>
        <p:spPr>
          <a:xfrm>
            <a:off x="3685032" y="230428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p:nvPr/>
        </p:nvSpPr>
        <p:spPr>
          <a:xfrm>
            <a:off x="3685032" y="2788920"/>
            <a:ext cx="2029968" cy="411480"/>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VM cannot move</a:t>
            </a:r>
            <a:endParaRPr lang="en-US" sz="1550" dirty="0"/>
          </a:p>
        </p:txBody>
      </p:sp>
      <p:sp>
        <p:nvSpPr>
          <p:cNvPr id="14" name="Text 12"/>
          <p:cNvSpPr/>
          <p:nvPr/>
        </p:nvSpPr>
        <p:spPr>
          <a:xfrm>
            <a:off x="3685032" y="3246120"/>
            <a:ext cx="2029968" cy="1051560"/>
          </a:xfrm>
          <a:prstGeom prst="rect">
            <a:avLst/>
          </a:prstGeom>
          <a:noFill/>
          <a:ln/>
        </p:spPr>
        <p:txBody>
          <a:bodyPr wrap="square" lIns="0" tIns="0" rIns="0" bIns="0" rtlCol="0" anchor="ctr"/>
          <a:lstStyle/>
          <a:p>
            <a:pPr indent="0" marL="0">
              <a:buNone/>
            </a:pPr>
            <a:r>
              <a:rPr lang="en-US" sz="1250" dirty="0">
                <a:solidFill>
                  <a:srgbClr val="C9CCD6"/>
                </a:solidFill>
                <a:latin typeface="Calibri" pitchFamily="34" charset="0"/>
                <a:ea typeface="Calibri" pitchFamily="34" charset="-122"/>
                <a:cs typeface="Calibri" pitchFamily="34" charset="-120"/>
              </a:rPr>
              <a:t>The virtual device prevents the machine from being migrated to another host.</a:t>
            </a:r>
            <a:endParaRPr lang="en-US" sz="1250" dirty="0"/>
          </a:p>
        </p:txBody>
      </p:sp>
      <p:sp>
        <p:nvSpPr>
          <p:cNvPr id="15" name="Shape 13"/>
          <p:cNvSpPr/>
          <p:nvPr/>
        </p:nvSpPr>
        <p:spPr>
          <a:xfrm>
            <a:off x="6217920" y="2103120"/>
            <a:ext cx="2542032" cy="2331720"/>
          </a:xfrm>
          <a:prstGeom prst="roundRect">
            <a:avLst>
              <a:gd name="adj" fmla="val 2745"/>
            </a:avLst>
          </a:prstGeom>
          <a:solidFill>
            <a:srgbClr val="4A4A58"/>
          </a:solidFill>
          <a:ln w="9525">
            <a:solidFill>
              <a:srgbClr val="5C5C6C"/>
            </a:solidFill>
            <a:prstDash val="solid"/>
          </a:ln>
        </p:spPr>
      </p:sp>
      <p:sp>
        <p:nvSpPr>
          <p:cNvPr id="16" name="Shape 14"/>
          <p:cNvSpPr/>
          <p:nvPr/>
        </p:nvSpPr>
        <p:spPr>
          <a:xfrm>
            <a:off x="6473952" y="2304288"/>
            <a:ext cx="384048" cy="384048"/>
          </a:xfrm>
          <a:prstGeom prst="ellipse">
            <a:avLst/>
          </a:prstGeom>
          <a:solidFill>
            <a:srgbClr val="00B3E2"/>
          </a:solidFill>
          <a:ln w="12700">
            <a:solidFill>
              <a:srgbClr val="00B3E2"/>
            </a:solidFill>
            <a:prstDash val="solid"/>
          </a:ln>
        </p:spPr>
      </p:sp>
      <p:sp>
        <p:nvSpPr>
          <p:cNvPr id="17" name="Text 15"/>
          <p:cNvSpPr/>
          <p:nvPr/>
        </p:nvSpPr>
        <p:spPr>
          <a:xfrm>
            <a:off x="6473952" y="230428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8" name="Text 16"/>
          <p:cNvSpPr/>
          <p:nvPr/>
        </p:nvSpPr>
        <p:spPr>
          <a:xfrm>
            <a:off x="6473952" y="2788920"/>
            <a:ext cx="2029968" cy="411480"/>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Host cannot drain</a:t>
            </a:r>
            <a:endParaRPr lang="en-US" sz="1550" dirty="0"/>
          </a:p>
        </p:txBody>
      </p:sp>
      <p:sp>
        <p:nvSpPr>
          <p:cNvPr id="19" name="Text 17"/>
          <p:cNvSpPr/>
          <p:nvPr/>
        </p:nvSpPr>
        <p:spPr>
          <a:xfrm>
            <a:off x="6473952" y="3246120"/>
            <a:ext cx="2029968" cy="1051560"/>
          </a:xfrm>
          <a:prstGeom prst="rect">
            <a:avLst/>
          </a:prstGeom>
          <a:noFill/>
          <a:ln/>
        </p:spPr>
        <p:txBody>
          <a:bodyPr wrap="square" lIns="0" tIns="0" rIns="0" bIns="0" rtlCol="0" anchor="ctr"/>
          <a:lstStyle/>
          <a:p>
            <a:pPr indent="0" marL="0">
              <a:buNone/>
            </a:pPr>
            <a:r>
              <a:rPr lang="en-US" sz="1250" dirty="0">
                <a:solidFill>
                  <a:srgbClr val="C9CCD6"/>
                </a:solidFill>
                <a:latin typeface="Calibri" pitchFamily="34" charset="0"/>
                <a:ea typeface="Calibri" pitchFamily="34" charset="-122"/>
                <a:cs typeface="Calibri" pitchFamily="34" charset="-120"/>
              </a:rPr>
              <a:t>Because the VM is pinned, the ESXi host cannot enter maintenance mode.</a:t>
            </a:r>
            <a:endParaRPr lang="en-US" sz="1250" dirty="0"/>
          </a:p>
        </p:txBody>
      </p:sp>
      <p:sp>
        <p:nvSpPr>
          <p:cNvPr id="20" name="Shape 18"/>
          <p:cNvSpPr/>
          <p:nvPr/>
        </p:nvSpPr>
        <p:spPr>
          <a:xfrm>
            <a:off x="9006840" y="2103120"/>
            <a:ext cx="2542032" cy="2331720"/>
          </a:xfrm>
          <a:prstGeom prst="roundRect">
            <a:avLst>
              <a:gd name="adj" fmla="val 2745"/>
            </a:avLst>
          </a:prstGeom>
          <a:solidFill>
            <a:srgbClr val="4A4A58"/>
          </a:solidFill>
          <a:ln w="9525">
            <a:solidFill>
              <a:srgbClr val="5C5C6C"/>
            </a:solidFill>
            <a:prstDash val="solid"/>
          </a:ln>
        </p:spPr>
      </p:sp>
      <p:sp>
        <p:nvSpPr>
          <p:cNvPr id="21" name="Shape 19"/>
          <p:cNvSpPr/>
          <p:nvPr/>
        </p:nvSpPr>
        <p:spPr>
          <a:xfrm>
            <a:off x="9262872" y="2304288"/>
            <a:ext cx="384048" cy="384048"/>
          </a:xfrm>
          <a:prstGeom prst="ellipse">
            <a:avLst/>
          </a:prstGeom>
          <a:solidFill>
            <a:srgbClr val="F15D23"/>
          </a:solidFill>
          <a:ln w="12700">
            <a:solidFill>
              <a:srgbClr val="F15D23"/>
            </a:solidFill>
            <a:prstDash val="solid"/>
          </a:ln>
        </p:spPr>
      </p:sp>
      <p:sp>
        <p:nvSpPr>
          <p:cNvPr id="22" name="Text 20"/>
          <p:cNvSpPr/>
          <p:nvPr/>
        </p:nvSpPr>
        <p:spPr>
          <a:xfrm>
            <a:off x="9262872" y="230428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3" name="Text 21"/>
          <p:cNvSpPr/>
          <p:nvPr/>
        </p:nvSpPr>
        <p:spPr>
          <a:xfrm>
            <a:off x="9262872" y="2788920"/>
            <a:ext cx="2029968" cy="411480"/>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Remediation stops</a:t>
            </a:r>
            <a:endParaRPr lang="en-US" sz="1550" dirty="0"/>
          </a:p>
        </p:txBody>
      </p:sp>
      <p:sp>
        <p:nvSpPr>
          <p:cNvPr id="24" name="Text 22"/>
          <p:cNvSpPr/>
          <p:nvPr/>
        </p:nvSpPr>
        <p:spPr>
          <a:xfrm>
            <a:off x="9262872" y="3246120"/>
            <a:ext cx="2029968" cy="1051560"/>
          </a:xfrm>
          <a:prstGeom prst="rect">
            <a:avLst/>
          </a:prstGeom>
          <a:noFill/>
          <a:ln/>
        </p:spPr>
        <p:txBody>
          <a:bodyPr wrap="square" lIns="0" tIns="0" rIns="0" bIns="0" rtlCol="0" anchor="ctr"/>
          <a:lstStyle/>
          <a:p>
            <a:pPr indent="0" marL="0">
              <a:buNone/>
            </a:pPr>
            <a:r>
              <a:rPr lang="en-US" sz="1250" dirty="0">
                <a:solidFill>
                  <a:srgbClr val="C9CCD6"/>
                </a:solidFill>
                <a:latin typeface="Calibri" pitchFamily="34" charset="0"/>
                <a:ea typeface="Calibri" pitchFamily="34" charset="-122"/>
                <a:cs typeface="Calibri" pitchFamily="34" charset="-120"/>
              </a:rPr>
              <a:t>The automated workflow cannot continue. A trivial legacy setting blocks a major platform security update.</a:t>
            </a:r>
            <a:endParaRPr lang="en-US" sz="1250" dirty="0"/>
          </a:p>
        </p:txBody>
      </p:sp>
      <p:sp>
        <p:nvSpPr>
          <p:cNvPr id="25" name="Shape 23"/>
          <p:cNvSpPr/>
          <p:nvPr/>
        </p:nvSpPr>
        <p:spPr>
          <a:xfrm>
            <a:off x="640080" y="4754880"/>
            <a:ext cx="10911535" cy="1188720"/>
          </a:xfrm>
          <a:prstGeom prst="roundRect">
            <a:avLst>
              <a:gd name="adj" fmla="val 5385"/>
            </a:avLst>
          </a:prstGeom>
          <a:solidFill>
            <a:srgbClr val="2F2F3A"/>
          </a:solidFill>
          <a:ln w="9525">
            <a:solidFill>
              <a:srgbClr val="5C5C6C"/>
            </a:solidFill>
            <a:prstDash val="solid"/>
          </a:ln>
        </p:spPr>
      </p:sp>
      <p:sp>
        <p:nvSpPr>
          <p:cNvPr id="26" name="Text 24"/>
          <p:cNvSpPr/>
          <p:nvPr/>
        </p:nvSpPr>
        <p:spPr>
          <a:xfrm>
            <a:off x="960120" y="4892040"/>
            <a:ext cx="4206240" cy="274320"/>
          </a:xfrm>
          <a:prstGeom prst="rect">
            <a:avLst/>
          </a:prstGeom>
          <a:noFill/>
          <a:ln/>
        </p:spPr>
        <p:txBody>
          <a:bodyPr wrap="square" lIns="0" tIns="0" rIns="0" bIns="0" rtlCol="0" anchor="ctr"/>
          <a:lstStyle/>
          <a:p>
            <a:pPr indent="0" marL="0">
              <a:buNone/>
            </a:pPr>
            <a:r>
              <a:rPr lang="en-US" sz="1500" b="1" dirty="0">
                <a:solidFill>
                  <a:srgbClr val="F15D23"/>
                </a:solidFill>
                <a:latin typeface="Calibri" pitchFamily="34" charset="0"/>
                <a:ea typeface="Calibri" pitchFamily="34" charset="-122"/>
                <a:cs typeface="Calibri" pitchFamily="34" charset="-120"/>
              </a:rPr>
              <a:t>The theme for the session</a:t>
            </a:r>
            <a:endParaRPr lang="en-US" sz="1500" dirty="0"/>
          </a:p>
        </p:txBody>
      </p:sp>
      <p:sp>
        <p:nvSpPr>
          <p:cNvPr id="27" name="Text 25"/>
          <p:cNvSpPr/>
          <p:nvPr/>
        </p:nvSpPr>
        <p:spPr>
          <a:xfrm>
            <a:off x="960120" y="5212080"/>
            <a:ext cx="10271455" cy="548640"/>
          </a:xfrm>
          <a:prstGeom prst="rect">
            <a:avLst/>
          </a:prstGeom>
          <a:noFill/>
          <a:ln/>
        </p:spPr>
        <p:txBody>
          <a:bodyPr wrap="square" lIns="0" tIns="0" rIns="0" bIns="0" rtlCol="0" anchor="ctr"/>
          <a:lstStyle/>
          <a:p>
            <a:pPr indent="0" marL="0">
              <a:buNone/>
            </a:pPr>
            <a:r>
              <a:rPr lang="en-US" sz="1400" dirty="0">
                <a:solidFill>
                  <a:srgbClr val="C9CCD6"/>
                </a:solidFill>
                <a:latin typeface="Calibri" pitchFamily="34" charset="0"/>
                <a:ea typeface="Calibri" pitchFamily="34" charset="-122"/>
                <a:cs typeface="Calibri" pitchFamily="34" charset="-120"/>
              </a:rPr>
              <a:t>Traditional VMware administration habits collide with hyperscale cloud automation. AVS has hidden, strict, and sometimes unforgiving rules, and most of them are arithmetic.</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37744"/>
          </a:xfrm>
          <a:prstGeom prst="rect">
            <a:avLst/>
          </a:prstGeom>
          <a:noFill/>
          <a:ln/>
        </p:spPr>
        <p:txBody>
          <a:bodyPr wrap="square" lIns="0" tIns="0" rIns="0" bIns="0" rtlCol="0" anchor="ctr"/>
          <a:lstStyle/>
          <a:p>
            <a:pPr indent="0" marL="0">
              <a:buNone/>
            </a:pPr>
            <a:r>
              <a:rPr lang="en-US" sz="1100" b="1" spc="200" kern="0" dirty="0">
                <a:solidFill>
                  <a:srgbClr val="00B3E2"/>
                </a:solidFill>
                <a:latin typeface="Calibri" pitchFamily="34" charset="0"/>
                <a:ea typeface="Calibri" pitchFamily="34" charset="-122"/>
                <a:cs typeface="Calibri" pitchFamily="34" charset="-120"/>
              </a:rPr>
              <a:t>SHARED RESPONSIBILITY</a:t>
            </a:r>
            <a:endParaRPr lang="en-US" sz="1100" dirty="0"/>
          </a:p>
        </p:txBody>
      </p:sp>
      <p:sp>
        <p:nvSpPr>
          <p:cNvPr id="3" name="Text 1"/>
          <p:cNvSpPr/>
          <p:nvPr/>
        </p:nvSpPr>
        <p:spPr>
          <a:xfrm>
            <a:off x="640080" y="658368"/>
            <a:ext cx="10911535" cy="566928"/>
          </a:xfrm>
          <a:prstGeom prst="rect">
            <a:avLst/>
          </a:prstGeom>
          <a:noFill/>
          <a:ln/>
        </p:spPr>
        <p:txBody>
          <a:bodyPr wrap="square" lIns="0" tIns="0" rIns="0" bIns="0" rtlCol="0" anchor="ctr"/>
          <a:lstStyle/>
          <a:p>
            <a:pPr indent="0" marL="0">
              <a:buNone/>
            </a:pPr>
            <a:r>
              <a:rPr lang="en-US" sz="3400" b="1" dirty="0">
                <a:solidFill>
                  <a:srgbClr val="3E3E4B"/>
                </a:solidFill>
                <a:latin typeface="Calibri" pitchFamily="34" charset="0"/>
                <a:ea typeface="Calibri" pitchFamily="34" charset="-122"/>
                <a:cs typeface="Calibri" pitchFamily="34" charset="-120"/>
              </a:rPr>
              <a:t>Who owns what in AVS</a:t>
            </a:r>
            <a:endParaRPr lang="en-US" sz="3400" dirty="0"/>
          </a:p>
        </p:txBody>
      </p:sp>
      <p:sp>
        <p:nvSpPr>
          <p:cNvPr id="4" name="Shape 2"/>
          <p:cNvSpPr/>
          <p:nvPr/>
        </p:nvSpPr>
        <p:spPr>
          <a:xfrm>
            <a:off x="640080" y="1600200"/>
            <a:ext cx="5257800" cy="3063240"/>
          </a:xfrm>
          <a:prstGeom prst="roundRect">
            <a:avLst>
              <a:gd name="adj" fmla="val 2090"/>
            </a:avLst>
          </a:prstGeom>
          <a:solidFill>
            <a:srgbClr val="F4F7F8"/>
          </a:solidFill>
          <a:ln w="9525">
            <a:solidFill>
              <a:srgbClr val="DDE2E2"/>
            </a:solidFill>
            <a:prstDash val="solid"/>
          </a:ln>
        </p:spPr>
      </p:sp>
      <p:sp>
        <p:nvSpPr>
          <p:cNvPr id="5" name="Shape 3"/>
          <p:cNvSpPr/>
          <p:nvPr/>
        </p:nvSpPr>
        <p:spPr>
          <a:xfrm>
            <a:off x="640080" y="1600200"/>
            <a:ext cx="5257800" cy="566928"/>
          </a:xfrm>
          <a:prstGeom prst="roundRect">
            <a:avLst>
              <a:gd name="adj" fmla="val 11290"/>
            </a:avLst>
          </a:prstGeom>
          <a:solidFill>
            <a:srgbClr val="00B3E2"/>
          </a:solidFill>
          <a:ln w="12700">
            <a:solidFill>
              <a:srgbClr val="00B3E2"/>
            </a:solidFill>
            <a:prstDash val="solid"/>
          </a:ln>
        </p:spPr>
      </p:sp>
      <p:sp>
        <p:nvSpPr>
          <p:cNvPr id="6" name="Text 4"/>
          <p:cNvSpPr/>
          <p:nvPr/>
        </p:nvSpPr>
        <p:spPr>
          <a:xfrm>
            <a:off x="960120" y="1600200"/>
            <a:ext cx="4617720" cy="566928"/>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Microsoft owns</a:t>
            </a:r>
            <a:endParaRPr lang="en-US" sz="1800" dirty="0"/>
          </a:p>
        </p:txBody>
      </p:sp>
      <p:sp>
        <p:nvSpPr>
          <p:cNvPr id="7" name="Text 5"/>
          <p:cNvSpPr/>
          <p:nvPr/>
        </p:nvSpPr>
        <p:spPr>
          <a:xfrm>
            <a:off x="960120" y="2377440"/>
            <a:ext cx="4617720" cy="2148840"/>
          </a:xfrm>
          <a:prstGeom prst="rect">
            <a:avLst/>
          </a:prstGeom>
          <a:noFill/>
          <a:ln/>
        </p:spPr>
        <p:txBody>
          <a:bodyPr wrap="square" lIns="0" tIns="0" rIns="0" bIns="0" rtlCol="0" anchor="ctr"/>
          <a:lstStyle/>
          <a:p>
            <a:pPr marL="177800" indent="-177800">
              <a:spcAft>
                <a:spcPts val="800"/>
              </a:spcAft>
              <a:buSzPct val="100000"/>
              <a:buChar char="•"/>
            </a:pPr>
            <a:r>
              <a:rPr lang="en-US" sz="1400" dirty="0">
                <a:solidFill>
                  <a:srgbClr val="55555F"/>
                </a:solidFill>
                <a:latin typeface="Calibri" pitchFamily="34" charset="0"/>
                <a:ea typeface="Calibri" pitchFamily="34" charset="-122"/>
                <a:cs typeface="Calibri" pitchFamily="34" charset="-120"/>
              </a:rPr>
              <a:t>Physical servers</a:t>
            </a:r>
            <a:endParaRPr lang="en-US" sz="1400" dirty="0"/>
          </a:p>
          <a:p>
            <a:pPr marL="177800" indent="-177800">
              <a:spcAft>
                <a:spcPts val="800"/>
              </a:spcAft>
              <a:buSzPct val="100000"/>
              <a:buChar char="•"/>
            </a:pPr>
            <a:r>
              <a:rPr lang="en-US" sz="1400" dirty="0">
                <a:solidFill>
                  <a:srgbClr val="55555F"/>
                </a:solidFill>
                <a:latin typeface="Calibri" pitchFamily="34" charset="0"/>
                <a:ea typeface="Calibri" pitchFamily="34" charset="-122"/>
                <a:cs typeface="Calibri" pitchFamily="34" charset="-120"/>
              </a:rPr>
              <a:t>Underlying data-center infrastructure</a:t>
            </a:r>
            <a:endParaRPr lang="en-US" sz="1400" dirty="0"/>
          </a:p>
          <a:p>
            <a:pPr marL="177800" indent="-177800">
              <a:spcAft>
                <a:spcPts val="800"/>
              </a:spcAft>
              <a:buSzPct val="100000"/>
              <a:buChar char="•"/>
            </a:pPr>
            <a:r>
              <a:rPr lang="en-US" sz="1400" dirty="0">
                <a:solidFill>
                  <a:srgbClr val="55555F"/>
                </a:solidFill>
                <a:latin typeface="Calibri" pitchFamily="34" charset="0"/>
                <a:ea typeface="Calibri" pitchFamily="34" charset="-122"/>
                <a:cs typeface="Calibri" pitchFamily="34" charset="-120"/>
              </a:rPr>
              <a:t>Hypervisor platform lifecycle</a:t>
            </a:r>
            <a:endParaRPr lang="en-US" sz="1400" dirty="0"/>
          </a:p>
          <a:p>
            <a:pPr marL="177800" indent="-177800">
              <a:spcAft>
                <a:spcPts val="800"/>
              </a:spcAft>
              <a:buSzPct val="100000"/>
              <a:buChar char="•"/>
            </a:pPr>
            <a:r>
              <a:rPr lang="en-US" sz="1400" dirty="0">
                <a:solidFill>
                  <a:srgbClr val="55555F"/>
                </a:solidFill>
                <a:latin typeface="Calibri" pitchFamily="34" charset="0"/>
                <a:ea typeface="Calibri" pitchFamily="34" charset="-122"/>
                <a:cs typeface="Calibri" pitchFamily="34" charset="-120"/>
              </a:rPr>
              <a:t>Core VMware platform updates</a:t>
            </a:r>
            <a:endParaRPr lang="en-US" sz="1400" dirty="0"/>
          </a:p>
          <a:p>
            <a:pPr marL="177800" indent="-177800">
              <a:spcAft>
                <a:spcPts val="800"/>
              </a:spcAft>
              <a:buSzPct val="100000"/>
              <a:buChar char="•"/>
            </a:pPr>
            <a:r>
              <a:rPr lang="en-US" sz="1400" dirty="0">
                <a:solidFill>
                  <a:srgbClr val="55555F"/>
                </a:solidFill>
                <a:latin typeface="Calibri" pitchFamily="34" charset="0"/>
                <a:ea typeface="Calibri" pitchFamily="34" charset="-122"/>
                <a:cs typeface="Calibri" pitchFamily="34" charset="-120"/>
              </a:rPr>
              <a:t>Hardware remediation</a:t>
            </a:r>
            <a:endParaRPr lang="en-US" sz="1400" dirty="0"/>
          </a:p>
        </p:txBody>
      </p:sp>
      <p:sp>
        <p:nvSpPr>
          <p:cNvPr id="8" name="Shape 6"/>
          <p:cNvSpPr/>
          <p:nvPr/>
        </p:nvSpPr>
        <p:spPr>
          <a:xfrm>
            <a:off x="6291072" y="1600200"/>
            <a:ext cx="5257800" cy="3063240"/>
          </a:xfrm>
          <a:prstGeom prst="roundRect">
            <a:avLst>
              <a:gd name="adj" fmla="val 2090"/>
            </a:avLst>
          </a:prstGeom>
          <a:solidFill>
            <a:srgbClr val="F4F7F8"/>
          </a:solidFill>
          <a:ln w="9525">
            <a:solidFill>
              <a:srgbClr val="DDE2E2"/>
            </a:solidFill>
            <a:prstDash val="solid"/>
          </a:ln>
        </p:spPr>
      </p:sp>
      <p:sp>
        <p:nvSpPr>
          <p:cNvPr id="9" name="Shape 7"/>
          <p:cNvSpPr/>
          <p:nvPr/>
        </p:nvSpPr>
        <p:spPr>
          <a:xfrm>
            <a:off x="6291072" y="1600200"/>
            <a:ext cx="5257800" cy="566928"/>
          </a:xfrm>
          <a:prstGeom prst="roundRect">
            <a:avLst>
              <a:gd name="adj" fmla="val 11290"/>
            </a:avLst>
          </a:prstGeom>
          <a:solidFill>
            <a:srgbClr val="3E3E4B"/>
          </a:solidFill>
          <a:ln w="12700">
            <a:solidFill>
              <a:srgbClr val="3E3E4B"/>
            </a:solidFill>
            <a:prstDash val="solid"/>
          </a:ln>
        </p:spPr>
      </p:sp>
      <p:sp>
        <p:nvSpPr>
          <p:cNvPr id="10" name="Text 8"/>
          <p:cNvSpPr/>
          <p:nvPr/>
        </p:nvSpPr>
        <p:spPr>
          <a:xfrm>
            <a:off x="6611112" y="1600200"/>
            <a:ext cx="4617720" cy="566928"/>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The customer owns</a:t>
            </a:r>
            <a:endParaRPr lang="en-US" sz="1800" dirty="0"/>
          </a:p>
        </p:txBody>
      </p:sp>
      <p:sp>
        <p:nvSpPr>
          <p:cNvPr id="11" name="Text 9"/>
          <p:cNvSpPr/>
          <p:nvPr/>
        </p:nvSpPr>
        <p:spPr>
          <a:xfrm>
            <a:off x="6611112" y="2377440"/>
            <a:ext cx="4617720" cy="2148840"/>
          </a:xfrm>
          <a:prstGeom prst="rect">
            <a:avLst/>
          </a:prstGeom>
          <a:noFill/>
          <a:ln/>
        </p:spPr>
        <p:txBody>
          <a:bodyPr wrap="square" lIns="0" tIns="0" rIns="0" bIns="0" rtlCol="0" anchor="ctr"/>
          <a:lstStyle/>
          <a:p>
            <a:pPr marL="177800" indent="-177800">
              <a:spcAft>
                <a:spcPts val="800"/>
              </a:spcAft>
              <a:buSzPct val="100000"/>
              <a:buChar char="•"/>
            </a:pPr>
            <a:r>
              <a:rPr lang="en-US" sz="1400" dirty="0">
                <a:solidFill>
                  <a:srgbClr val="55555F"/>
                </a:solidFill>
                <a:latin typeface="Calibri" pitchFamily="34" charset="0"/>
                <a:ea typeface="Calibri" pitchFamily="34" charset="-122"/>
                <a:cs typeface="Calibri" pitchFamily="34" charset="-120"/>
              </a:rPr>
              <a:t>IP addressing and Azure virtual networks</a:t>
            </a:r>
            <a:endParaRPr lang="en-US" sz="1400" dirty="0"/>
          </a:p>
          <a:p>
            <a:pPr marL="177800" indent="-177800">
              <a:spcAft>
                <a:spcPts val="800"/>
              </a:spcAft>
              <a:buSzPct val="100000"/>
              <a:buChar char="•"/>
            </a:pPr>
            <a:r>
              <a:rPr lang="en-US" sz="1400" dirty="0">
                <a:solidFill>
                  <a:srgbClr val="55555F"/>
                </a:solidFill>
                <a:latin typeface="Calibri" pitchFamily="34" charset="0"/>
                <a:ea typeface="Calibri" pitchFamily="34" charset="-122"/>
                <a:cs typeface="Calibri" pitchFamily="34" charset="-120"/>
              </a:rPr>
              <a:t>Routing boundaries and network segments</a:t>
            </a:r>
            <a:endParaRPr lang="en-US" sz="1400" dirty="0"/>
          </a:p>
          <a:p>
            <a:pPr marL="177800" indent="-177800">
              <a:spcAft>
                <a:spcPts val="800"/>
              </a:spcAft>
              <a:buSzPct val="100000"/>
              <a:buChar char="•"/>
            </a:pPr>
            <a:r>
              <a:rPr lang="en-US" sz="1400" dirty="0">
                <a:solidFill>
                  <a:srgbClr val="55555F"/>
                </a:solidFill>
                <a:latin typeface="Calibri" pitchFamily="34" charset="0"/>
                <a:ea typeface="Calibri" pitchFamily="34" charset="-122"/>
                <a:cs typeface="Calibri" pitchFamily="34" charset="-120"/>
              </a:rPr>
              <a:t>Firewall policy</a:t>
            </a:r>
            <a:endParaRPr lang="en-US" sz="1400" dirty="0"/>
          </a:p>
          <a:p>
            <a:pPr marL="177800" indent="-177800">
              <a:spcAft>
                <a:spcPts val="800"/>
              </a:spcAft>
              <a:buSzPct val="100000"/>
              <a:buChar char="•"/>
            </a:pPr>
            <a:r>
              <a:rPr lang="en-US" sz="1400" dirty="0">
                <a:solidFill>
                  <a:srgbClr val="55555F"/>
                </a:solidFill>
                <a:latin typeface="Calibri" pitchFamily="34" charset="0"/>
                <a:ea typeface="Calibri" pitchFamily="34" charset="-122"/>
                <a:cs typeface="Calibri" pitchFamily="34" charset="-120"/>
              </a:rPr>
              <a:t>Workload configuration</a:t>
            </a:r>
            <a:endParaRPr lang="en-US" sz="1400" dirty="0"/>
          </a:p>
          <a:p>
            <a:pPr marL="177800" indent="-177800">
              <a:spcAft>
                <a:spcPts val="800"/>
              </a:spcAft>
              <a:buSzPct val="100000"/>
              <a:buChar char="•"/>
            </a:pPr>
            <a:r>
              <a:rPr lang="en-US" sz="1400" dirty="0">
                <a:solidFill>
                  <a:srgbClr val="55555F"/>
                </a:solidFill>
                <a:latin typeface="Calibri" pitchFamily="34" charset="0"/>
                <a:ea typeface="Calibri" pitchFamily="34" charset="-122"/>
                <a:cs typeface="Calibri" pitchFamily="34" charset="-120"/>
              </a:rPr>
              <a:t>Virtual hardware attached to VMs</a:t>
            </a:r>
            <a:endParaRPr lang="en-US" sz="1400" dirty="0"/>
          </a:p>
          <a:p>
            <a:pPr marL="177800" indent="-177800">
              <a:spcAft>
                <a:spcPts val="800"/>
              </a:spcAft>
              <a:buSzPct val="100000"/>
              <a:buChar char="•"/>
            </a:pPr>
            <a:r>
              <a:rPr lang="en-US" sz="1400" dirty="0">
                <a:solidFill>
                  <a:srgbClr val="55555F"/>
                </a:solidFill>
                <a:latin typeface="Calibri" pitchFamily="34" charset="0"/>
                <a:ea typeface="Calibri" pitchFamily="34" charset="-122"/>
                <a:cs typeface="Calibri" pitchFamily="34" charset="-120"/>
              </a:rPr>
              <a:t>Application-level resilience</a:t>
            </a:r>
            <a:endParaRPr lang="en-US" sz="1400" dirty="0"/>
          </a:p>
        </p:txBody>
      </p:sp>
      <p:sp>
        <p:nvSpPr>
          <p:cNvPr id="12" name="Shape 10"/>
          <p:cNvSpPr/>
          <p:nvPr/>
        </p:nvSpPr>
        <p:spPr>
          <a:xfrm>
            <a:off x="640080" y="4846320"/>
            <a:ext cx="10911535" cy="1051560"/>
          </a:xfrm>
          <a:prstGeom prst="roundRect">
            <a:avLst>
              <a:gd name="adj" fmla="val 6087"/>
            </a:avLst>
          </a:prstGeom>
          <a:solidFill>
            <a:srgbClr val="FDF0EB"/>
          </a:solidFill>
          <a:ln w="9525">
            <a:solidFill>
              <a:srgbClr val="F6C9B4"/>
            </a:solidFill>
            <a:prstDash val="solid"/>
          </a:ln>
        </p:spPr>
      </p:sp>
      <p:sp>
        <p:nvSpPr>
          <p:cNvPr id="13" name="Text 11"/>
          <p:cNvSpPr/>
          <p:nvPr/>
        </p:nvSpPr>
        <p:spPr>
          <a:xfrm>
            <a:off x="960120" y="4983480"/>
            <a:ext cx="1737360" cy="274320"/>
          </a:xfrm>
          <a:prstGeom prst="rect">
            <a:avLst/>
          </a:prstGeom>
          <a:noFill/>
          <a:ln/>
        </p:spPr>
        <p:txBody>
          <a:bodyPr wrap="square" lIns="0" tIns="0" rIns="0" bIns="0" rtlCol="0" anchor="ctr"/>
          <a:lstStyle/>
          <a:p>
            <a:pPr indent="0" marL="0">
              <a:buNone/>
            </a:pPr>
            <a:r>
              <a:rPr lang="en-US" sz="1400" b="1" dirty="0">
                <a:solidFill>
                  <a:srgbClr val="F15D23"/>
                </a:solidFill>
                <a:latin typeface="Calibri" pitchFamily="34" charset="0"/>
                <a:ea typeface="Calibri" pitchFamily="34" charset="-122"/>
                <a:cs typeface="Calibri" pitchFamily="34" charset="-120"/>
              </a:rPr>
              <a:t>The consequence:</a:t>
            </a:r>
            <a:endParaRPr lang="en-US" sz="1400" dirty="0"/>
          </a:p>
        </p:txBody>
      </p:sp>
      <p:sp>
        <p:nvSpPr>
          <p:cNvPr id="14" name="Text 12"/>
          <p:cNvSpPr/>
          <p:nvPr/>
        </p:nvSpPr>
        <p:spPr>
          <a:xfrm>
            <a:off x="960120" y="5285232"/>
            <a:ext cx="10271455" cy="502920"/>
          </a:xfrm>
          <a:prstGeom prst="rect">
            <a:avLst/>
          </a:prstGeom>
          <a:noFill/>
          <a:ln/>
        </p:spPr>
        <p:txBody>
          <a:bodyPr wrap="square" lIns="0" tIns="0" rIns="0" bIns="0" rtlCol="0" anchor="ctr"/>
          <a:lstStyle/>
          <a:p>
            <a:pPr indent="0" marL="0">
              <a:buNone/>
            </a:pPr>
            <a:r>
              <a:rPr lang="en-US" sz="1300" dirty="0">
                <a:solidFill>
                  <a:srgbClr val="55555F"/>
                </a:solidFill>
                <a:latin typeface="Calibri" pitchFamily="34" charset="0"/>
                <a:ea typeface="Calibri" pitchFamily="34" charset="-122"/>
                <a:cs typeface="Calibri" pitchFamily="34" charset="-120"/>
              </a:rPr>
              <a:t>An environment can work correctly at initial deployment and fail later when it scales, when workloads are migrated, when hardware fails, when platform updates are attempted, or when routing tables reach capacity. Understanding AVS takes more than following the deployment steps.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37744"/>
          </a:xfrm>
          <a:prstGeom prst="rect">
            <a:avLst/>
          </a:prstGeom>
          <a:noFill/>
          <a:ln/>
        </p:spPr>
        <p:txBody>
          <a:bodyPr wrap="square" lIns="0" tIns="0" rIns="0" bIns="0" rtlCol="0" anchor="ctr"/>
          <a:lstStyle/>
          <a:p>
            <a:pPr indent="0" marL="0">
              <a:buNone/>
            </a:pPr>
            <a:r>
              <a:rPr lang="en-US" sz="1100" b="1" spc="200" kern="0" dirty="0">
                <a:solidFill>
                  <a:srgbClr val="00B3E2"/>
                </a:solidFill>
                <a:latin typeface="Calibri" pitchFamily="34" charset="0"/>
                <a:ea typeface="Calibri" pitchFamily="34" charset="-122"/>
                <a:cs typeface="Calibri" pitchFamily="34" charset="-120"/>
              </a:rPr>
              <a:t>PLATFORM GENERATIONS</a:t>
            </a:r>
            <a:endParaRPr lang="en-US" sz="1100" dirty="0"/>
          </a:p>
        </p:txBody>
      </p:sp>
      <p:sp>
        <p:nvSpPr>
          <p:cNvPr id="3" name="Text 1"/>
          <p:cNvSpPr/>
          <p:nvPr/>
        </p:nvSpPr>
        <p:spPr>
          <a:xfrm>
            <a:off x="640080" y="658368"/>
            <a:ext cx="10911535" cy="566928"/>
          </a:xfrm>
          <a:prstGeom prst="rect">
            <a:avLst/>
          </a:prstGeom>
          <a:noFill/>
          <a:ln/>
        </p:spPr>
        <p:txBody>
          <a:bodyPr wrap="square" lIns="0" tIns="0" rIns="0" bIns="0" rtlCol="0" anchor="ctr"/>
          <a:lstStyle/>
          <a:p>
            <a:pPr indent="0" marL="0">
              <a:buNone/>
            </a:pPr>
            <a:r>
              <a:rPr lang="en-US" sz="3400" b="1" dirty="0">
                <a:solidFill>
                  <a:srgbClr val="3E3E4B"/>
                </a:solidFill>
                <a:latin typeface="Calibri" pitchFamily="34" charset="0"/>
                <a:ea typeface="Calibri" pitchFamily="34" charset="-122"/>
                <a:cs typeface="Calibri" pitchFamily="34" charset="-120"/>
              </a:rPr>
              <a:t>Generation 1 and Generation 2</a:t>
            </a:r>
            <a:endParaRPr lang="en-US" sz="3400" dirty="0"/>
          </a:p>
        </p:txBody>
      </p:sp>
      <p:sp>
        <p:nvSpPr>
          <p:cNvPr id="4" name="Shape 2"/>
          <p:cNvSpPr/>
          <p:nvPr/>
        </p:nvSpPr>
        <p:spPr>
          <a:xfrm>
            <a:off x="640080" y="1600200"/>
            <a:ext cx="5257800" cy="2834640"/>
          </a:xfrm>
          <a:prstGeom prst="roundRect">
            <a:avLst>
              <a:gd name="adj" fmla="val 2258"/>
            </a:avLst>
          </a:prstGeom>
          <a:solidFill>
            <a:srgbClr val="F4F7F8"/>
          </a:solidFill>
          <a:ln w="9525">
            <a:solidFill>
              <a:srgbClr val="DDE2E2"/>
            </a:solidFill>
            <a:prstDash val="solid"/>
          </a:ln>
        </p:spPr>
      </p:sp>
      <p:sp>
        <p:nvSpPr>
          <p:cNvPr id="5" name="Shape 3"/>
          <p:cNvSpPr/>
          <p:nvPr/>
        </p:nvSpPr>
        <p:spPr>
          <a:xfrm>
            <a:off x="640080" y="1600200"/>
            <a:ext cx="5257800" cy="566928"/>
          </a:xfrm>
          <a:prstGeom prst="roundRect">
            <a:avLst>
              <a:gd name="adj" fmla="val 11290"/>
            </a:avLst>
          </a:prstGeom>
          <a:solidFill>
            <a:srgbClr val="3E3E4B"/>
          </a:solidFill>
          <a:ln w="12700">
            <a:solidFill>
              <a:srgbClr val="3E3E4B"/>
            </a:solidFill>
            <a:prstDash val="solid"/>
          </a:ln>
        </p:spPr>
      </p:sp>
      <p:sp>
        <p:nvSpPr>
          <p:cNvPr id="6" name="Text 4"/>
          <p:cNvSpPr/>
          <p:nvPr/>
        </p:nvSpPr>
        <p:spPr>
          <a:xfrm>
            <a:off x="960120" y="1600200"/>
            <a:ext cx="4617720" cy="566928"/>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Generation 1</a:t>
            </a:r>
            <a:endParaRPr lang="en-US" sz="1800" dirty="0"/>
          </a:p>
        </p:txBody>
      </p:sp>
      <p:sp>
        <p:nvSpPr>
          <p:cNvPr id="7" name="Text 5"/>
          <p:cNvSpPr/>
          <p:nvPr/>
        </p:nvSpPr>
        <p:spPr>
          <a:xfrm>
            <a:off x="960120" y="2377440"/>
            <a:ext cx="4617720" cy="1920240"/>
          </a:xfrm>
          <a:prstGeom prst="rect">
            <a:avLst/>
          </a:prstGeom>
          <a:noFill/>
          <a:ln/>
        </p:spPr>
        <p:txBody>
          <a:bodyPr wrap="square" lIns="0" tIns="0" rIns="0" bIns="0" rtlCol="0" anchor="ctr"/>
          <a:lstStyle/>
          <a:p>
            <a:pPr marL="177800" indent="-177800">
              <a:spcAft>
                <a:spcPts val="1000"/>
              </a:spcAft>
              <a:buSzPct val="100000"/>
              <a:buChar char="•"/>
            </a:pPr>
            <a:r>
              <a:rPr lang="en-US" sz="1400" dirty="0">
                <a:solidFill>
                  <a:srgbClr val="55555F"/>
                </a:solidFill>
                <a:latin typeface="Calibri" pitchFamily="34" charset="0"/>
                <a:ea typeface="Calibri" pitchFamily="34" charset="-122"/>
                <a:cs typeface="Calibri" pitchFamily="34" charset="-120"/>
              </a:rPr>
              <a:t>Built on specialized bare-metal hardware dedicated to AVS.</a:t>
            </a:r>
            <a:endParaRPr lang="en-US" sz="1400" dirty="0"/>
          </a:p>
          <a:p>
            <a:pPr marL="177800" indent="-177800">
              <a:spcAft>
                <a:spcPts val="1000"/>
              </a:spcAft>
              <a:buSzPct val="100000"/>
              <a:buChar char="•"/>
            </a:pPr>
            <a:r>
              <a:rPr lang="en-US" sz="1400" dirty="0">
                <a:solidFill>
                  <a:srgbClr val="55555F"/>
                </a:solidFill>
                <a:latin typeface="Calibri" pitchFamily="34" charset="0"/>
                <a:ea typeface="Calibri" pitchFamily="34" charset="-122"/>
                <a:cs typeface="Calibri" pitchFamily="34" charset="-120"/>
              </a:rPr>
              <a:t>Uses more rigid connectivity mechanisms between VMware and Azure.</a:t>
            </a:r>
            <a:endParaRPr lang="en-US" sz="1400" dirty="0"/>
          </a:p>
          <a:p>
            <a:pPr marL="177800" indent="-177800">
              <a:spcAft>
                <a:spcPts val="1000"/>
              </a:spcAft>
              <a:buSzPct val="100000"/>
              <a:buChar char="•"/>
            </a:pPr>
            <a:r>
              <a:rPr lang="en-US" sz="1400" dirty="0">
                <a:solidFill>
                  <a:srgbClr val="55555F"/>
                </a:solidFill>
                <a:latin typeface="Calibri" pitchFamily="34" charset="0"/>
                <a:ea typeface="Calibri" pitchFamily="34" charset="-122"/>
                <a:cs typeface="Calibri" pitchFamily="34" charset="-120"/>
              </a:rPr>
              <a:t>Treats the private cloud as an isolated environment reached through specialized edge services.</a:t>
            </a:r>
            <a:endParaRPr lang="en-US" sz="1400" dirty="0"/>
          </a:p>
        </p:txBody>
      </p:sp>
      <p:sp>
        <p:nvSpPr>
          <p:cNvPr id="8" name="Shape 6"/>
          <p:cNvSpPr/>
          <p:nvPr/>
        </p:nvSpPr>
        <p:spPr>
          <a:xfrm>
            <a:off x="6291072" y="1600200"/>
            <a:ext cx="5257800" cy="2834640"/>
          </a:xfrm>
          <a:prstGeom prst="roundRect">
            <a:avLst>
              <a:gd name="adj" fmla="val 2258"/>
            </a:avLst>
          </a:prstGeom>
          <a:solidFill>
            <a:srgbClr val="F4F7F8"/>
          </a:solidFill>
          <a:ln w="9525">
            <a:solidFill>
              <a:srgbClr val="DDE2E2"/>
            </a:solidFill>
            <a:prstDash val="solid"/>
          </a:ln>
        </p:spPr>
      </p:sp>
      <p:sp>
        <p:nvSpPr>
          <p:cNvPr id="9" name="Shape 7"/>
          <p:cNvSpPr/>
          <p:nvPr/>
        </p:nvSpPr>
        <p:spPr>
          <a:xfrm>
            <a:off x="6291072" y="1600200"/>
            <a:ext cx="5257800" cy="566928"/>
          </a:xfrm>
          <a:prstGeom prst="roundRect">
            <a:avLst>
              <a:gd name="adj" fmla="val 11290"/>
            </a:avLst>
          </a:prstGeom>
          <a:solidFill>
            <a:srgbClr val="00B3E2"/>
          </a:solidFill>
          <a:ln w="12700">
            <a:solidFill>
              <a:srgbClr val="00B3E2"/>
            </a:solidFill>
            <a:prstDash val="solid"/>
          </a:ln>
        </p:spPr>
      </p:sp>
      <p:sp>
        <p:nvSpPr>
          <p:cNvPr id="10" name="Text 8"/>
          <p:cNvSpPr/>
          <p:nvPr/>
        </p:nvSpPr>
        <p:spPr>
          <a:xfrm>
            <a:off x="6611112" y="1600200"/>
            <a:ext cx="4617720" cy="566928"/>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Generation 2</a:t>
            </a:r>
            <a:endParaRPr lang="en-US" sz="1800" dirty="0"/>
          </a:p>
        </p:txBody>
      </p:sp>
      <p:sp>
        <p:nvSpPr>
          <p:cNvPr id="11" name="Text 9"/>
          <p:cNvSpPr/>
          <p:nvPr/>
        </p:nvSpPr>
        <p:spPr>
          <a:xfrm>
            <a:off x="6611112" y="2377440"/>
            <a:ext cx="4617720" cy="1920240"/>
          </a:xfrm>
          <a:prstGeom prst="rect">
            <a:avLst/>
          </a:prstGeom>
          <a:noFill/>
          <a:ln/>
        </p:spPr>
        <p:txBody>
          <a:bodyPr wrap="square" lIns="0" tIns="0" rIns="0" bIns="0" rtlCol="0" anchor="ctr"/>
          <a:lstStyle/>
          <a:p>
            <a:pPr marL="177800" indent="-177800">
              <a:spcAft>
                <a:spcPts val="1000"/>
              </a:spcAft>
              <a:buSzPct val="100000"/>
              <a:buChar char="•"/>
            </a:pPr>
            <a:r>
              <a:rPr lang="en-US" sz="1400" dirty="0">
                <a:solidFill>
                  <a:srgbClr val="55555F"/>
                </a:solidFill>
                <a:latin typeface="Calibri" pitchFamily="34" charset="0"/>
                <a:ea typeface="Calibri" pitchFamily="34" charset="-122"/>
                <a:cs typeface="Calibri" pitchFamily="34" charset="-120"/>
              </a:rPr>
              <a:t>Relies far more heavily on native Azure virtual networking.</a:t>
            </a:r>
            <a:endParaRPr lang="en-US" sz="1400" dirty="0"/>
          </a:p>
          <a:p>
            <a:pPr marL="177800" indent="-177800">
              <a:spcAft>
                <a:spcPts val="1000"/>
              </a:spcAft>
              <a:buSzPct val="100000"/>
              <a:buChar char="•"/>
            </a:pPr>
            <a:r>
              <a:rPr lang="en-US" sz="1400" dirty="0">
                <a:solidFill>
                  <a:srgbClr val="55555F"/>
                </a:solidFill>
                <a:latin typeface="Calibri" pitchFamily="34" charset="0"/>
                <a:ea typeface="Calibri" pitchFamily="34" charset="-122"/>
                <a:cs typeface="Calibri" pitchFamily="34" charset="-120"/>
              </a:rPr>
              <a:t>Intended benefits: simpler topology, faster data transfer, lower latency for some workloads, better access to native Azure services.</a:t>
            </a:r>
            <a:endParaRPr lang="en-US" sz="1400" dirty="0"/>
          </a:p>
          <a:p>
            <a:pPr marL="177800" indent="-177800">
              <a:spcAft>
                <a:spcPts val="1000"/>
              </a:spcAft>
              <a:buSzPct val="100000"/>
              <a:buChar char="•"/>
            </a:pPr>
            <a:r>
              <a:rPr lang="en-US" sz="1400" dirty="0">
                <a:solidFill>
                  <a:srgbClr val="55555F"/>
                </a:solidFill>
                <a:latin typeface="Calibri" pitchFamily="34" charset="0"/>
                <a:ea typeface="Calibri" pitchFamily="34" charset="-122"/>
                <a:cs typeface="Calibri" pitchFamily="34" charset="-120"/>
              </a:rPr>
              <a:t>Conceptually moves AVS from an island to an integrated part of the Azure network.</a:t>
            </a:r>
            <a:endParaRPr lang="en-US" sz="1400" dirty="0"/>
          </a:p>
        </p:txBody>
      </p:sp>
      <p:sp>
        <p:nvSpPr>
          <p:cNvPr id="12" name="Shape 10"/>
          <p:cNvSpPr/>
          <p:nvPr/>
        </p:nvSpPr>
        <p:spPr>
          <a:xfrm>
            <a:off x="640080" y="4617720"/>
            <a:ext cx="10911535" cy="1051560"/>
          </a:xfrm>
          <a:prstGeom prst="roundRect">
            <a:avLst>
              <a:gd name="adj" fmla="val 6087"/>
            </a:avLst>
          </a:prstGeom>
          <a:solidFill>
            <a:srgbClr val="E5F7FC"/>
          </a:solidFill>
          <a:ln w="9525">
            <a:solidFill>
              <a:srgbClr val="B2E8F6"/>
            </a:solidFill>
            <a:prstDash val="solid"/>
          </a:ln>
        </p:spPr>
      </p:sp>
      <p:sp>
        <p:nvSpPr>
          <p:cNvPr id="13" name="Text 11"/>
          <p:cNvSpPr/>
          <p:nvPr/>
        </p:nvSpPr>
        <p:spPr>
          <a:xfrm>
            <a:off x="960120" y="4754880"/>
            <a:ext cx="4572000" cy="274320"/>
          </a:xfrm>
          <a:prstGeom prst="rect">
            <a:avLst/>
          </a:prstGeom>
          <a:noFill/>
          <a:ln/>
        </p:spPr>
        <p:txBody>
          <a:bodyPr wrap="square" lIns="0" tIns="0" rIns="0" bIns="0" rtlCol="0" anchor="ctr"/>
          <a:lstStyle/>
          <a:p>
            <a:pPr indent="0" marL="0">
              <a:buNone/>
            </a:pPr>
            <a:r>
              <a:rPr lang="en-US" sz="1400" b="1" dirty="0">
                <a:solidFill>
                  <a:srgbClr val="3E3E4B"/>
                </a:solidFill>
                <a:latin typeface="Calibri" pitchFamily="34" charset="0"/>
                <a:ea typeface="Calibri" pitchFamily="34" charset="-122"/>
                <a:cs typeface="Calibri" pitchFamily="34" charset="-120"/>
              </a:rPr>
              <a:t>Unchanged across both generations</a:t>
            </a:r>
            <a:endParaRPr lang="en-US" sz="1400" dirty="0"/>
          </a:p>
        </p:txBody>
      </p:sp>
      <p:sp>
        <p:nvSpPr>
          <p:cNvPr id="14" name="Text 12"/>
          <p:cNvSpPr/>
          <p:nvPr/>
        </p:nvSpPr>
        <p:spPr>
          <a:xfrm>
            <a:off x="960120" y="5047488"/>
            <a:ext cx="10271455" cy="502920"/>
          </a:xfrm>
          <a:prstGeom prst="rect">
            <a:avLst/>
          </a:prstGeom>
          <a:noFill/>
          <a:ln/>
        </p:spPr>
        <p:txBody>
          <a:bodyPr wrap="square" lIns="0" tIns="0" rIns="0" bIns="0" rtlCol="0" anchor="ctr"/>
          <a:lstStyle/>
          <a:p>
            <a:pPr indent="0" marL="0">
              <a:buNone/>
            </a:pPr>
            <a:r>
              <a:rPr lang="en-US" sz="1400" dirty="0">
                <a:solidFill>
                  <a:srgbClr val="1A5F7A"/>
                </a:solidFill>
                <a:latin typeface="Calibri" pitchFamily="34" charset="0"/>
                <a:ea typeface="Calibri" pitchFamily="34" charset="-122"/>
                <a:cs typeface="Calibri" pitchFamily="34" charset="-120"/>
              </a:rPr>
              <a:t>Deployment still begins with a tightly controlled network foundation: a contiguous management CIDR block that AVS divides for its own internal use.</a:t>
            </a:r>
            <a:endParaRPr lang="en-US" sz="1400" dirty="0"/>
          </a:p>
        </p:txBody>
      </p:sp>
      <p:sp>
        <p:nvSpPr>
          <p:cNvPr id="15" name="Text 13"/>
          <p:cNvSpPr/>
          <p:nvPr/>
        </p:nvSpPr>
        <p:spPr>
          <a:xfrm>
            <a:off x="640080" y="5852160"/>
            <a:ext cx="10911535" cy="365760"/>
          </a:xfrm>
          <a:prstGeom prst="rect">
            <a:avLst/>
          </a:prstGeom>
          <a:noFill/>
          <a:ln/>
        </p:spPr>
        <p:txBody>
          <a:bodyPr wrap="square" lIns="0" tIns="0" rIns="0" bIns="0" rtlCol="0" anchor="ctr"/>
          <a:lstStyle/>
          <a:p>
            <a:pPr indent="0" marL="0">
              <a:buNone/>
            </a:pPr>
            <a:r>
              <a:rPr lang="en-US" sz="1100" i="1" dirty="0">
                <a:solidFill>
                  <a:srgbClr val="7A7A86"/>
                </a:solidFill>
                <a:latin typeface="Calibri" pitchFamily="34" charset="0"/>
                <a:ea typeface="Calibri" pitchFamily="34" charset="-122"/>
                <a:cs typeface="Calibri" pitchFamily="34" charset="-120"/>
              </a:rPr>
              <a:t>Documentation note: Current Microsoft Learn describes Generation 2 as dedicated Azure bare-metal hosts on the AV64 SKU attaching directly to Azure virtual networks, rather than as standard Azure VM instances.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37744"/>
          </a:xfrm>
          <a:prstGeom prst="rect">
            <a:avLst/>
          </a:prstGeom>
          <a:noFill/>
          <a:ln/>
        </p:spPr>
        <p:txBody>
          <a:bodyPr wrap="square" lIns="0" tIns="0" rIns="0" bIns="0" rtlCol="0" anchor="ctr"/>
          <a:lstStyle/>
          <a:p>
            <a:pPr indent="0" marL="0">
              <a:buNone/>
            </a:pPr>
            <a:r>
              <a:rPr lang="en-US" sz="1100" b="1" spc="200" kern="0" dirty="0">
                <a:solidFill>
                  <a:srgbClr val="00B3E2"/>
                </a:solidFill>
                <a:latin typeface="Calibri" pitchFamily="34" charset="0"/>
                <a:ea typeface="Calibri" pitchFamily="34" charset="-122"/>
                <a:cs typeface="Calibri" pitchFamily="34" charset="-120"/>
              </a:rPr>
              <a:t>NETWORK FOUNDATION</a:t>
            </a:r>
            <a:endParaRPr lang="en-US" sz="1100" dirty="0"/>
          </a:p>
        </p:txBody>
      </p:sp>
      <p:sp>
        <p:nvSpPr>
          <p:cNvPr id="3" name="Text 1"/>
          <p:cNvSpPr/>
          <p:nvPr/>
        </p:nvSpPr>
        <p:spPr>
          <a:xfrm>
            <a:off x="640080" y="658368"/>
            <a:ext cx="10911535" cy="566928"/>
          </a:xfrm>
          <a:prstGeom prst="rect">
            <a:avLst/>
          </a:prstGeom>
          <a:noFill/>
          <a:ln/>
        </p:spPr>
        <p:txBody>
          <a:bodyPr wrap="square" lIns="0" tIns="0" rIns="0" bIns="0" rtlCol="0" anchor="ctr"/>
          <a:lstStyle/>
          <a:p>
            <a:pPr indent="0" marL="0">
              <a:buNone/>
            </a:pPr>
            <a:r>
              <a:rPr lang="en-US" sz="3400" b="1" dirty="0">
                <a:solidFill>
                  <a:srgbClr val="3E3E4B"/>
                </a:solidFill>
                <a:latin typeface="Calibri" pitchFamily="34" charset="0"/>
                <a:ea typeface="Calibri" pitchFamily="34" charset="-122"/>
                <a:cs typeface="Calibri" pitchFamily="34" charset="-120"/>
              </a:rPr>
              <a:t>The /22 and what AVS does with it</a:t>
            </a:r>
            <a:endParaRPr lang="en-US" sz="3400" dirty="0"/>
          </a:p>
        </p:txBody>
      </p:sp>
      <p:sp>
        <p:nvSpPr>
          <p:cNvPr id="4" name="Text 2"/>
          <p:cNvSpPr/>
          <p:nvPr/>
        </p:nvSpPr>
        <p:spPr>
          <a:xfrm>
            <a:off x="640080" y="1371600"/>
            <a:ext cx="10972800" cy="457200"/>
          </a:xfrm>
          <a:prstGeom prst="rect">
            <a:avLst/>
          </a:prstGeom>
          <a:noFill/>
          <a:ln/>
        </p:spPr>
        <p:txBody>
          <a:bodyPr wrap="square" lIns="0" tIns="0" rIns="0" bIns="0" rtlCol="0" anchor="ctr"/>
          <a:lstStyle/>
          <a:p>
            <a:pPr indent="0" marL="0">
              <a:buNone/>
            </a:pPr>
            <a:r>
              <a:rPr lang="en-US" sz="1500" dirty="0">
                <a:solidFill>
                  <a:srgbClr val="55555F"/>
                </a:solidFill>
                <a:latin typeface="Calibri" pitchFamily="34" charset="0"/>
                <a:ea typeface="Calibri" pitchFamily="34" charset="-122"/>
                <a:cs typeface="Calibri" pitchFamily="34" charset="-120"/>
              </a:rPr>
              <a:t>The deployment requires a minimum contiguous /22, or 1,024 addresses. Once supplied, AVS takes control of the block and divides it into deterministic internal subnets.</a:t>
            </a:r>
            <a:endParaRPr lang="en-US" sz="1500" dirty="0"/>
          </a:p>
        </p:txBody>
      </p:sp>
      <p:sp>
        <p:nvSpPr>
          <p:cNvPr id="5" name="Shape 3"/>
          <p:cNvSpPr/>
          <p:nvPr/>
        </p:nvSpPr>
        <p:spPr>
          <a:xfrm>
            <a:off x="640080" y="2011680"/>
            <a:ext cx="2542032" cy="2606040"/>
          </a:xfrm>
          <a:prstGeom prst="roundRect">
            <a:avLst>
              <a:gd name="adj" fmla="val 2518"/>
            </a:avLst>
          </a:prstGeom>
          <a:solidFill>
            <a:srgbClr val="F4F7F8"/>
          </a:solidFill>
          <a:ln w="9525">
            <a:solidFill>
              <a:srgbClr val="DDE2E2"/>
            </a:solidFill>
            <a:prstDash val="solid"/>
          </a:ln>
        </p:spPr>
      </p:sp>
      <p:sp>
        <p:nvSpPr>
          <p:cNvPr id="6" name="Shape 4"/>
          <p:cNvSpPr/>
          <p:nvPr/>
        </p:nvSpPr>
        <p:spPr>
          <a:xfrm>
            <a:off x="640080" y="2011680"/>
            <a:ext cx="2542032" cy="502920"/>
          </a:xfrm>
          <a:prstGeom prst="roundRect">
            <a:avLst>
              <a:gd name="adj" fmla="val 12727"/>
            </a:avLst>
          </a:prstGeom>
          <a:solidFill>
            <a:srgbClr val="00B3E2"/>
          </a:solidFill>
          <a:ln w="12700">
            <a:solidFill>
              <a:srgbClr val="00B3E2"/>
            </a:solidFill>
            <a:prstDash val="solid"/>
          </a:ln>
        </p:spPr>
      </p:sp>
      <p:sp>
        <p:nvSpPr>
          <p:cNvPr id="7" name="Text 5"/>
          <p:cNvSpPr/>
          <p:nvPr/>
        </p:nvSpPr>
        <p:spPr>
          <a:xfrm>
            <a:off x="868680" y="2011680"/>
            <a:ext cx="2084832" cy="50292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/26</a:t>
            </a:r>
            <a:endParaRPr lang="en-US" sz="1700" dirty="0"/>
          </a:p>
        </p:txBody>
      </p:sp>
      <p:sp>
        <p:nvSpPr>
          <p:cNvPr id="8" name="Text 6"/>
          <p:cNvSpPr/>
          <p:nvPr/>
        </p:nvSpPr>
        <p:spPr>
          <a:xfrm>
            <a:off x="868680" y="2633472"/>
            <a:ext cx="2084832" cy="548640"/>
          </a:xfrm>
          <a:prstGeom prst="rect">
            <a:avLst/>
          </a:prstGeom>
          <a:noFill/>
          <a:ln/>
        </p:spPr>
        <p:txBody>
          <a:bodyPr wrap="square" lIns="0" tIns="0" rIns="0" bIns="0" rtlCol="0" anchor="ctr"/>
          <a:lstStyle/>
          <a:p>
            <a:pPr indent="0" marL="0">
              <a:buNone/>
            </a:pPr>
            <a:r>
              <a:rPr lang="en-US" sz="1450" b="1" dirty="0">
                <a:solidFill>
                  <a:srgbClr val="3E3E4B"/>
                </a:solidFill>
                <a:latin typeface="Calibri" pitchFamily="34" charset="0"/>
                <a:ea typeface="Calibri" pitchFamily="34" charset="-122"/>
                <a:cs typeface="Calibri" pitchFamily="34" charset="-120"/>
              </a:rPr>
              <a:t>Private cloud management</a:t>
            </a:r>
            <a:endParaRPr lang="en-US" sz="1450" dirty="0"/>
          </a:p>
        </p:txBody>
      </p:sp>
      <p:sp>
        <p:nvSpPr>
          <p:cNvPr id="9" name="Text 7"/>
          <p:cNvSpPr/>
          <p:nvPr/>
        </p:nvSpPr>
        <p:spPr>
          <a:xfrm>
            <a:off x="868680" y="3246120"/>
            <a:ext cx="2084832" cy="1234440"/>
          </a:xfrm>
          <a:prstGeom prst="rect">
            <a:avLst/>
          </a:prstGeom>
          <a:noFill/>
          <a:ln/>
        </p:spPr>
        <p:txBody>
          <a:bodyPr wrap="square" lIns="0" tIns="0" rIns="0" bIns="0" rtlCol="0" anchor="ctr"/>
          <a:lstStyle/>
          <a:p>
            <a:pPr indent="0" marL="0">
              <a:buNone/>
            </a:pPr>
            <a:r>
              <a:rPr lang="en-US" sz="1200" dirty="0">
                <a:solidFill>
                  <a:srgbClr val="55555F"/>
                </a:solidFill>
                <a:latin typeface="Calibri" pitchFamily="34" charset="0"/>
                <a:ea typeface="Calibri" pitchFamily="34" charset="-122"/>
                <a:cs typeface="Calibri" pitchFamily="34" charset="-120"/>
              </a:rPr>
              <a:t>vCenter Server Appliance, a three-node NSX Manager cluster, internal load balancers, identity services, telemetry agents. 64 addresses.</a:t>
            </a:r>
            <a:endParaRPr lang="en-US" sz="1200" dirty="0"/>
          </a:p>
        </p:txBody>
      </p:sp>
      <p:sp>
        <p:nvSpPr>
          <p:cNvPr id="10" name="Shape 8"/>
          <p:cNvSpPr/>
          <p:nvPr/>
        </p:nvSpPr>
        <p:spPr>
          <a:xfrm>
            <a:off x="3429000" y="2011680"/>
            <a:ext cx="2542032" cy="2606040"/>
          </a:xfrm>
          <a:prstGeom prst="roundRect">
            <a:avLst>
              <a:gd name="adj" fmla="val 2518"/>
            </a:avLst>
          </a:prstGeom>
          <a:solidFill>
            <a:srgbClr val="F4F7F8"/>
          </a:solidFill>
          <a:ln w="9525">
            <a:solidFill>
              <a:srgbClr val="DDE2E2"/>
            </a:solidFill>
            <a:prstDash val="solid"/>
          </a:ln>
        </p:spPr>
      </p:sp>
      <p:sp>
        <p:nvSpPr>
          <p:cNvPr id="11" name="Shape 9"/>
          <p:cNvSpPr/>
          <p:nvPr/>
        </p:nvSpPr>
        <p:spPr>
          <a:xfrm>
            <a:off x="3429000" y="2011680"/>
            <a:ext cx="2542032" cy="502920"/>
          </a:xfrm>
          <a:prstGeom prst="roundRect">
            <a:avLst>
              <a:gd name="adj" fmla="val 12727"/>
            </a:avLst>
          </a:prstGeom>
          <a:solidFill>
            <a:srgbClr val="2DCCD3"/>
          </a:solidFill>
          <a:ln w="12700">
            <a:solidFill>
              <a:srgbClr val="2DCCD3"/>
            </a:solidFill>
            <a:prstDash val="solid"/>
          </a:ln>
        </p:spPr>
      </p:sp>
      <p:sp>
        <p:nvSpPr>
          <p:cNvPr id="12" name="Text 10"/>
          <p:cNvSpPr/>
          <p:nvPr/>
        </p:nvSpPr>
        <p:spPr>
          <a:xfrm>
            <a:off x="3657600" y="2011680"/>
            <a:ext cx="2084832" cy="50292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/25</a:t>
            </a:r>
            <a:endParaRPr lang="en-US" sz="1700" dirty="0"/>
          </a:p>
        </p:txBody>
      </p:sp>
      <p:sp>
        <p:nvSpPr>
          <p:cNvPr id="13" name="Text 11"/>
          <p:cNvSpPr/>
          <p:nvPr/>
        </p:nvSpPr>
        <p:spPr>
          <a:xfrm>
            <a:off x="3657600" y="2633472"/>
            <a:ext cx="2084832" cy="548640"/>
          </a:xfrm>
          <a:prstGeom prst="rect">
            <a:avLst/>
          </a:prstGeom>
          <a:noFill/>
          <a:ln/>
        </p:spPr>
        <p:txBody>
          <a:bodyPr wrap="square" lIns="0" tIns="0" rIns="0" bIns="0" rtlCol="0" anchor="ctr"/>
          <a:lstStyle/>
          <a:p>
            <a:pPr indent="0" marL="0">
              <a:buNone/>
            </a:pPr>
            <a:r>
              <a:rPr lang="en-US" sz="1450" b="1" dirty="0">
                <a:solidFill>
                  <a:srgbClr val="3E3E4B"/>
                </a:solidFill>
                <a:latin typeface="Calibri" pitchFamily="34" charset="0"/>
                <a:ea typeface="Calibri" pitchFamily="34" charset="-122"/>
                <a:cs typeface="Calibri" pitchFamily="34" charset="-120"/>
              </a:rPr>
              <a:t>ESXi management</a:t>
            </a:r>
            <a:endParaRPr lang="en-US" sz="1450" dirty="0"/>
          </a:p>
        </p:txBody>
      </p:sp>
      <p:sp>
        <p:nvSpPr>
          <p:cNvPr id="14" name="Text 12"/>
          <p:cNvSpPr/>
          <p:nvPr/>
        </p:nvSpPr>
        <p:spPr>
          <a:xfrm>
            <a:off x="3657600" y="3246120"/>
            <a:ext cx="2084832" cy="1234440"/>
          </a:xfrm>
          <a:prstGeom prst="rect">
            <a:avLst/>
          </a:prstGeom>
          <a:noFill/>
          <a:ln/>
        </p:spPr>
        <p:txBody>
          <a:bodyPr wrap="square" lIns="0" tIns="0" rIns="0" bIns="0" rtlCol="0" anchor="ctr"/>
          <a:lstStyle/>
          <a:p>
            <a:pPr indent="0" marL="0">
              <a:buNone/>
            </a:pPr>
            <a:r>
              <a:rPr lang="en-US" sz="1200" dirty="0">
                <a:solidFill>
                  <a:srgbClr val="55555F"/>
                </a:solidFill>
                <a:latin typeface="Calibri" pitchFamily="34" charset="0"/>
                <a:ea typeface="Calibri" pitchFamily="34" charset="-122"/>
                <a:cs typeface="Calibri" pitchFamily="34" charset="-120"/>
              </a:rPr>
              <a:t>A VMkernel address per physical host so vCenter can monitor it, manage its configuration, and issue lifecycle and workload commands.</a:t>
            </a:r>
            <a:endParaRPr lang="en-US" sz="1200" dirty="0"/>
          </a:p>
        </p:txBody>
      </p:sp>
      <p:sp>
        <p:nvSpPr>
          <p:cNvPr id="15" name="Shape 13"/>
          <p:cNvSpPr/>
          <p:nvPr/>
        </p:nvSpPr>
        <p:spPr>
          <a:xfrm>
            <a:off x="6217920" y="2011680"/>
            <a:ext cx="2542032" cy="2606040"/>
          </a:xfrm>
          <a:prstGeom prst="roundRect">
            <a:avLst>
              <a:gd name="adj" fmla="val 2518"/>
            </a:avLst>
          </a:prstGeom>
          <a:solidFill>
            <a:srgbClr val="F4F7F8"/>
          </a:solidFill>
          <a:ln w="9525">
            <a:solidFill>
              <a:srgbClr val="DDE2E2"/>
            </a:solidFill>
            <a:prstDash val="solid"/>
          </a:ln>
        </p:spPr>
      </p:sp>
      <p:sp>
        <p:nvSpPr>
          <p:cNvPr id="16" name="Shape 14"/>
          <p:cNvSpPr/>
          <p:nvPr/>
        </p:nvSpPr>
        <p:spPr>
          <a:xfrm>
            <a:off x="6217920" y="2011680"/>
            <a:ext cx="2542032" cy="502920"/>
          </a:xfrm>
          <a:prstGeom prst="roundRect">
            <a:avLst>
              <a:gd name="adj" fmla="val 12727"/>
            </a:avLst>
          </a:prstGeom>
          <a:solidFill>
            <a:srgbClr val="00AD93"/>
          </a:solidFill>
          <a:ln w="12700">
            <a:solidFill>
              <a:srgbClr val="00AD93"/>
            </a:solidFill>
            <a:prstDash val="solid"/>
          </a:ln>
        </p:spPr>
      </p:sp>
      <p:sp>
        <p:nvSpPr>
          <p:cNvPr id="17" name="Text 15"/>
          <p:cNvSpPr/>
          <p:nvPr/>
        </p:nvSpPr>
        <p:spPr>
          <a:xfrm>
            <a:off x="6446520" y="2011680"/>
            <a:ext cx="2084832" cy="50292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/25</a:t>
            </a:r>
            <a:endParaRPr lang="en-US" sz="1700" dirty="0"/>
          </a:p>
        </p:txBody>
      </p:sp>
      <p:sp>
        <p:nvSpPr>
          <p:cNvPr id="18" name="Text 16"/>
          <p:cNvSpPr/>
          <p:nvPr/>
        </p:nvSpPr>
        <p:spPr>
          <a:xfrm>
            <a:off x="6446520" y="2633472"/>
            <a:ext cx="2084832" cy="548640"/>
          </a:xfrm>
          <a:prstGeom prst="rect">
            <a:avLst/>
          </a:prstGeom>
          <a:noFill/>
          <a:ln/>
        </p:spPr>
        <p:txBody>
          <a:bodyPr wrap="square" lIns="0" tIns="0" rIns="0" bIns="0" rtlCol="0" anchor="ctr"/>
          <a:lstStyle/>
          <a:p>
            <a:pPr indent="0" marL="0">
              <a:buNone/>
            </a:pPr>
            <a:r>
              <a:rPr lang="en-US" sz="1450" b="1" dirty="0">
                <a:solidFill>
                  <a:srgbClr val="3E3E4B"/>
                </a:solidFill>
                <a:latin typeface="Calibri" pitchFamily="34" charset="0"/>
                <a:ea typeface="Calibri" pitchFamily="34" charset="-122"/>
                <a:cs typeface="Calibri" pitchFamily="34" charset="-120"/>
              </a:rPr>
              <a:t>vMotion</a:t>
            </a:r>
            <a:endParaRPr lang="en-US" sz="1450" dirty="0"/>
          </a:p>
        </p:txBody>
      </p:sp>
      <p:sp>
        <p:nvSpPr>
          <p:cNvPr id="19" name="Text 17"/>
          <p:cNvSpPr/>
          <p:nvPr/>
        </p:nvSpPr>
        <p:spPr>
          <a:xfrm>
            <a:off x="6446520" y="3246120"/>
            <a:ext cx="2084832" cy="1234440"/>
          </a:xfrm>
          <a:prstGeom prst="rect">
            <a:avLst/>
          </a:prstGeom>
          <a:noFill/>
          <a:ln/>
        </p:spPr>
        <p:txBody>
          <a:bodyPr wrap="square" lIns="0" tIns="0" rIns="0" bIns="0" rtlCol="0" anchor="ctr"/>
          <a:lstStyle/>
          <a:p>
            <a:pPr indent="0" marL="0">
              <a:buNone/>
            </a:pPr>
            <a:r>
              <a:rPr lang="en-US" sz="1200" dirty="0">
                <a:solidFill>
                  <a:srgbClr val="55555F"/>
                </a:solidFill>
                <a:latin typeface="Calibri" pitchFamily="34" charset="0"/>
                <a:ea typeface="Calibri" pitchFamily="34" charset="-122"/>
                <a:cs typeface="Calibri" pitchFamily="34" charset="-120"/>
              </a:rPr>
              <a:t>Moves active memory and execution state between hosts. Bursty and bandwidth-intensive, so it is isolated from management and storage.</a:t>
            </a:r>
            <a:endParaRPr lang="en-US" sz="1200" dirty="0"/>
          </a:p>
        </p:txBody>
      </p:sp>
      <p:sp>
        <p:nvSpPr>
          <p:cNvPr id="20" name="Shape 18"/>
          <p:cNvSpPr/>
          <p:nvPr/>
        </p:nvSpPr>
        <p:spPr>
          <a:xfrm>
            <a:off x="9006840" y="2011680"/>
            <a:ext cx="2542032" cy="2606040"/>
          </a:xfrm>
          <a:prstGeom prst="roundRect">
            <a:avLst>
              <a:gd name="adj" fmla="val 2518"/>
            </a:avLst>
          </a:prstGeom>
          <a:solidFill>
            <a:srgbClr val="F4F7F8"/>
          </a:solidFill>
          <a:ln w="9525">
            <a:solidFill>
              <a:srgbClr val="DDE2E2"/>
            </a:solidFill>
            <a:prstDash val="solid"/>
          </a:ln>
        </p:spPr>
      </p:sp>
      <p:sp>
        <p:nvSpPr>
          <p:cNvPr id="21" name="Shape 19"/>
          <p:cNvSpPr/>
          <p:nvPr/>
        </p:nvSpPr>
        <p:spPr>
          <a:xfrm>
            <a:off x="9006840" y="2011680"/>
            <a:ext cx="2542032" cy="502920"/>
          </a:xfrm>
          <a:prstGeom prst="roundRect">
            <a:avLst>
              <a:gd name="adj" fmla="val 12727"/>
            </a:avLst>
          </a:prstGeom>
          <a:solidFill>
            <a:srgbClr val="8DB9D9"/>
          </a:solidFill>
          <a:ln w="12700">
            <a:solidFill>
              <a:srgbClr val="8DB9D9"/>
            </a:solidFill>
            <a:prstDash val="solid"/>
          </a:ln>
        </p:spPr>
      </p:sp>
      <p:sp>
        <p:nvSpPr>
          <p:cNvPr id="22" name="Text 20"/>
          <p:cNvSpPr/>
          <p:nvPr/>
        </p:nvSpPr>
        <p:spPr>
          <a:xfrm>
            <a:off x="9235440" y="2011680"/>
            <a:ext cx="2084832" cy="502920"/>
          </a:xfrm>
          <a:prstGeom prst="rect">
            <a:avLst/>
          </a:prstGeom>
          <a:noFill/>
          <a:ln/>
        </p:spPr>
        <p:txBody>
          <a:bodyPr wrap="square" lIns="0" tIns="0" rIns="0" bIns="0" rtlCol="0" anchor="ctr"/>
          <a:lstStyle/>
          <a:p>
            <a:pPr indent="0" marL="0">
              <a:buNone/>
            </a:pPr>
            <a:r>
              <a:rPr lang="en-US" sz="1700" b="1" dirty="0">
                <a:solidFill>
                  <a:srgbClr val="3E3E4B"/>
                </a:solidFill>
                <a:latin typeface="Calibri" pitchFamily="34" charset="0"/>
                <a:ea typeface="Calibri" pitchFamily="34" charset="-122"/>
                <a:cs typeface="Calibri" pitchFamily="34" charset="-120"/>
              </a:rPr>
              <a:t>/25</a:t>
            </a:r>
            <a:endParaRPr lang="en-US" sz="1700" dirty="0"/>
          </a:p>
        </p:txBody>
      </p:sp>
      <p:sp>
        <p:nvSpPr>
          <p:cNvPr id="23" name="Text 21"/>
          <p:cNvSpPr/>
          <p:nvPr/>
        </p:nvSpPr>
        <p:spPr>
          <a:xfrm>
            <a:off x="9235440" y="2633472"/>
            <a:ext cx="2084832" cy="548640"/>
          </a:xfrm>
          <a:prstGeom prst="rect">
            <a:avLst/>
          </a:prstGeom>
          <a:noFill/>
          <a:ln/>
        </p:spPr>
        <p:txBody>
          <a:bodyPr wrap="square" lIns="0" tIns="0" rIns="0" bIns="0" rtlCol="0" anchor="ctr"/>
          <a:lstStyle/>
          <a:p>
            <a:pPr indent="0" marL="0">
              <a:buNone/>
            </a:pPr>
            <a:r>
              <a:rPr lang="en-US" sz="1450" b="1" dirty="0">
                <a:solidFill>
                  <a:srgbClr val="3E3E4B"/>
                </a:solidFill>
                <a:latin typeface="Calibri" pitchFamily="34" charset="0"/>
                <a:ea typeface="Calibri" pitchFamily="34" charset="-122"/>
                <a:cs typeface="Calibri" pitchFamily="34" charset="-120"/>
              </a:rPr>
              <a:t>vSAN</a:t>
            </a:r>
            <a:endParaRPr lang="en-US" sz="1450" dirty="0"/>
          </a:p>
        </p:txBody>
      </p:sp>
      <p:sp>
        <p:nvSpPr>
          <p:cNvPr id="24" name="Text 22"/>
          <p:cNvSpPr/>
          <p:nvPr/>
        </p:nvSpPr>
        <p:spPr>
          <a:xfrm>
            <a:off x="9235440" y="3246120"/>
            <a:ext cx="2084832" cy="1234440"/>
          </a:xfrm>
          <a:prstGeom prst="rect">
            <a:avLst/>
          </a:prstGeom>
          <a:noFill/>
          <a:ln/>
        </p:spPr>
        <p:txBody>
          <a:bodyPr wrap="square" lIns="0" tIns="0" rIns="0" bIns="0" rtlCol="0" anchor="ctr"/>
          <a:lstStyle/>
          <a:p>
            <a:pPr indent="0" marL="0">
              <a:buNone/>
            </a:pPr>
            <a:r>
              <a:rPr lang="en-US" sz="1200" dirty="0">
                <a:solidFill>
                  <a:srgbClr val="55555F"/>
                </a:solidFill>
                <a:latin typeface="Calibri" pitchFamily="34" charset="0"/>
                <a:ea typeface="Calibri" pitchFamily="34" charset="-122"/>
                <a:cs typeface="Calibri" pitchFamily="34" charset="-120"/>
              </a:rPr>
              <a:t>Aggregates local host storage into a distributed datastore. Continuous, latency-sensitive, and synchronously replicated between hosts.</a:t>
            </a:r>
            <a:endParaRPr lang="en-US" sz="1200" dirty="0"/>
          </a:p>
        </p:txBody>
      </p:sp>
      <p:sp>
        <p:nvSpPr>
          <p:cNvPr id="25" name="Shape 23"/>
          <p:cNvSpPr/>
          <p:nvPr/>
        </p:nvSpPr>
        <p:spPr>
          <a:xfrm>
            <a:off x="640080" y="4800600"/>
            <a:ext cx="10911535" cy="1097280"/>
          </a:xfrm>
          <a:prstGeom prst="roundRect">
            <a:avLst>
              <a:gd name="adj" fmla="val 5833"/>
            </a:avLst>
          </a:prstGeom>
          <a:solidFill>
            <a:srgbClr val="E5F7FC"/>
          </a:solidFill>
          <a:ln w="9525">
            <a:solidFill>
              <a:srgbClr val="B2E8F6"/>
            </a:solidFill>
            <a:prstDash val="solid"/>
          </a:ln>
        </p:spPr>
      </p:sp>
      <p:sp>
        <p:nvSpPr>
          <p:cNvPr id="26" name="Text 24"/>
          <p:cNvSpPr/>
          <p:nvPr/>
        </p:nvSpPr>
        <p:spPr>
          <a:xfrm>
            <a:off x="960120" y="4937760"/>
            <a:ext cx="4206240" cy="274320"/>
          </a:xfrm>
          <a:prstGeom prst="rect">
            <a:avLst/>
          </a:prstGeom>
          <a:noFill/>
          <a:ln/>
        </p:spPr>
        <p:txBody>
          <a:bodyPr wrap="square" lIns="0" tIns="0" rIns="0" bIns="0" rtlCol="0" anchor="ctr"/>
          <a:lstStyle/>
          <a:p>
            <a:pPr indent="0" marL="0">
              <a:buNone/>
            </a:pPr>
            <a:r>
              <a:rPr lang="en-US" sz="1400" b="1" dirty="0">
                <a:solidFill>
                  <a:srgbClr val="3E3E4B"/>
                </a:solidFill>
                <a:latin typeface="Calibri" pitchFamily="34" charset="0"/>
                <a:ea typeface="Calibri" pitchFamily="34" charset="-122"/>
                <a:cs typeface="Calibri" pitchFamily="34" charset="-120"/>
              </a:rPr>
              <a:t>A structured micro data center</a:t>
            </a:r>
            <a:endParaRPr lang="en-US" sz="1400" dirty="0"/>
          </a:p>
        </p:txBody>
      </p:sp>
      <p:sp>
        <p:nvSpPr>
          <p:cNvPr id="27" name="Text 25"/>
          <p:cNvSpPr/>
          <p:nvPr/>
        </p:nvSpPr>
        <p:spPr>
          <a:xfrm>
            <a:off x="960120" y="5239512"/>
            <a:ext cx="10271455" cy="548640"/>
          </a:xfrm>
          <a:prstGeom prst="rect">
            <a:avLst/>
          </a:prstGeom>
          <a:noFill/>
          <a:ln/>
        </p:spPr>
        <p:txBody>
          <a:bodyPr wrap="square" lIns="0" tIns="0" rIns="0" bIns="0" rtlCol="0" anchor="ctr"/>
          <a:lstStyle/>
          <a:p>
            <a:pPr indent="0" marL="0">
              <a:buNone/>
            </a:pPr>
            <a:r>
              <a:rPr lang="en-US" sz="1350" dirty="0">
                <a:solidFill>
                  <a:srgbClr val="1A5F7A"/>
                </a:solidFill>
                <a:latin typeface="Calibri" pitchFamily="34" charset="0"/>
                <a:ea typeface="Calibri" pitchFamily="34" charset="-122"/>
                <a:cs typeface="Calibri" pitchFamily="34" charset="-120"/>
              </a:rPr>
              <a:t>Management, migration, and storage traffic cannot share an undifferentiated network. Each operational function needs its own protected capacity and its own failure boundary, which is why customers do not get to choose these sizes.</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3E3E4B"/>
        </a:solidFill>
      </p:bgPr>
    </p:bg>
    <p:spTree>
      <p:nvGrpSpPr>
        <p:cNvPr id="1" name=""/>
        <p:cNvGrpSpPr/>
        <p:nvPr/>
      </p:nvGrpSpPr>
      <p:grpSpPr>
        <a:xfrm>
          <a:off x="0" y="0"/>
          <a:ext cx="0" cy="0"/>
          <a:chOff x="0" y="0"/>
          <a:chExt cx="0" cy="0"/>
        </a:xfrm>
      </p:grpSpPr>
      <p:sp>
        <p:nvSpPr>
          <p:cNvPr id="2" name="Text 0"/>
          <p:cNvSpPr/>
          <p:nvPr/>
        </p:nvSpPr>
        <p:spPr>
          <a:xfrm>
            <a:off x="640080" y="384048"/>
            <a:ext cx="10911535" cy="237744"/>
          </a:xfrm>
          <a:prstGeom prst="rect">
            <a:avLst/>
          </a:prstGeom>
          <a:noFill/>
          <a:ln/>
        </p:spPr>
        <p:txBody>
          <a:bodyPr wrap="square" lIns="0" tIns="0" rIns="0" bIns="0" rtlCol="0" anchor="ctr"/>
          <a:lstStyle/>
          <a:p>
            <a:pPr indent="0" marL="0">
              <a:buNone/>
            </a:pPr>
            <a:r>
              <a:rPr lang="en-US" sz="1100" b="1" spc="200" kern="0" dirty="0">
                <a:solidFill>
                  <a:srgbClr val="00B3E2"/>
                </a:solidFill>
                <a:latin typeface="Calibri" pitchFamily="34" charset="0"/>
                <a:ea typeface="Calibri" pitchFamily="34" charset="-122"/>
                <a:cs typeface="Calibri" pitchFamily="34" charset="-120"/>
              </a:rPr>
              <a:t>THE BRUTAL MATH</a:t>
            </a:r>
            <a:endParaRPr lang="en-US" sz="1100" dirty="0"/>
          </a:p>
        </p:txBody>
      </p:sp>
      <p:sp>
        <p:nvSpPr>
          <p:cNvPr id="3" name="Text 1"/>
          <p:cNvSpPr/>
          <p:nvPr/>
        </p:nvSpPr>
        <p:spPr>
          <a:xfrm>
            <a:off x="640080" y="658368"/>
            <a:ext cx="10911535" cy="566928"/>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Why a /25 supports 96 hosts, not 125</a:t>
            </a:r>
            <a:endParaRPr lang="en-US" sz="3400" dirty="0"/>
          </a:p>
        </p:txBody>
      </p:sp>
      <p:sp>
        <p:nvSpPr>
          <p:cNvPr id="4" name="Shape 2"/>
          <p:cNvSpPr/>
          <p:nvPr/>
        </p:nvSpPr>
        <p:spPr>
          <a:xfrm>
            <a:off x="640080" y="1691640"/>
            <a:ext cx="2542032" cy="2514600"/>
          </a:xfrm>
          <a:prstGeom prst="roundRect">
            <a:avLst>
              <a:gd name="adj" fmla="val 2545"/>
            </a:avLst>
          </a:prstGeom>
          <a:solidFill>
            <a:srgbClr val="4A4A58"/>
          </a:solidFill>
          <a:ln w="9525">
            <a:solidFill>
              <a:srgbClr val="5C5C6C"/>
            </a:solidFill>
            <a:prstDash val="solid"/>
          </a:ln>
        </p:spPr>
      </p:sp>
      <p:sp>
        <p:nvSpPr>
          <p:cNvPr id="5" name="Text 3"/>
          <p:cNvSpPr/>
          <p:nvPr/>
        </p:nvSpPr>
        <p:spPr>
          <a:xfrm>
            <a:off x="896112" y="1874520"/>
            <a:ext cx="2029968" cy="777240"/>
          </a:xfrm>
          <a:prstGeom prst="rect">
            <a:avLst/>
          </a:prstGeom>
          <a:noFill/>
          <a:ln/>
        </p:spPr>
        <p:txBody>
          <a:bodyPr wrap="square" lIns="0" tIns="0" rIns="0" bIns="0" rtlCol="0" anchor="ctr"/>
          <a:lstStyle/>
          <a:p>
            <a:pPr indent="0" marL="0">
              <a:buNone/>
            </a:pPr>
            <a:r>
              <a:rPr lang="en-US" sz="4000" b="1" dirty="0">
                <a:solidFill>
                  <a:srgbClr val="8DB9D9"/>
                </a:solidFill>
                <a:latin typeface="Calibri" pitchFamily="34" charset="0"/>
                <a:ea typeface="Calibri" pitchFamily="34" charset="-122"/>
                <a:cs typeface="Calibri" pitchFamily="34" charset="-120"/>
              </a:rPr>
              <a:t>128</a:t>
            </a:r>
            <a:endParaRPr lang="en-US" sz="4000" dirty="0"/>
          </a:p>
        </p:txBody>
      </p:sp>
      <p:sp>
        <p:nvSpPr>
          <p:cNvPr id="6" name="Text 4"/>
          <p:cNvSpPr/>
          <p:nvPr/>
        </p:nvSpPr>
        <p:spPr>
          <a:xfrm>
            <a:off x="896112" y="2670048"/>
            <a:ext cx="2029968"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addresses in a /25</a:t>
            </a:r>
            <a:endParaRPr lang="en-US" sz="1400" dirty="0"/>
          </a:p>
        </p:txBody>
      </p:sp>
      <p:sp>
        <p:nvSpPr>
          <p:cNvPr id="7" name="Text 5"/>
          <p:cNvSpPr/>
          <p:nvPr/>
        </p:nvSpPr>
        <p:spPr>
          <a:xfrm>
            <a:off x="896112" y="3017520"/>
            <a:ext cx="2029968" cy="1051560"/>
          </a:xfrm>
          <a:prstGeom prst="rect">
            <a:avLst/>
          </a:prstGeom>
          <a:noFill/>
          <a:ln/>
        </p:spPr>
        <p:txBody>
          <a:bodyPr wrap="square" lIns="0" tIns="0" rIns="0" bIns="0" rtlCol="0" anchor="ctr"/>
          <a:lstStyle/>
          <a:p>
            <a:pPr indent="0" marL="0">
              <a:buNone/>
            </a:pPr>
            <a:r>
              <a:rPr lang="en-US" sz="1250" dirty="0">
                <a:solidFill>
                  <a:srgbClr val="C9CCD6"/>
                </a:solidFill>
                <a:latin typeface="Calibri" pitchFamily="34" charset="0"/>
                <a:ea typeface="Calibri" pitchFamily="34" charset="-122"/>
                <a:cs typeface="Calibri" pitchFamily="34" charset="-120"/>
              </a:rPr>
              <a:t>The raw size of the ESXi management subnet.</a:t>
            </a:r>
            <a:endParaRPr lang="en-US" sz="1250" dirty="0"/>
          </a:p>
        </p:txBody>
      </p:sp>
      <p:sp>
        <p:nvSpPr>
          <p:cNvPr id="8" name="Shape 6"/>
          <p:cNvSpPr/>
          <p:nvPr/>
        </p:nvSpPr>
        <p:spPr>
          <a:xfrm>
            <a:off x="3429000" y="1691640"/>
            <a:ext cx="2542032" cy="2514600"/>
          </a:xfrm>
          <a:prstGeom prst="roundRect">
            <a:avLst>
              <a:gd name="adj" fmla="val 2545"/>
            </a:avLst>
          </a:prstGeom>
          <a:solidFill>
            <a:srgbClr val="4A4A58"/>
          </a:solidFill>
          <a:ln w="9525">
            <a:solidFill>
              <a:srgbClr val="5C5C6C"/>
            </a:solidFill>
            <a:prstDash val="solid"/>
          </a:ln>
        </p:spPr>
      </p:sp>
      <p:sp>
        <p:nvSpPr>
          <p:cNvPr id="9" name="Text 7"/>
          <p:cNvSpPr/>
          <p:nvPr/>
        </p:nvSpPr>
        <p:spPr>
          <a:xfrm>
            <a:off x="3685032" y="1874520"/>
            <a:ext cx="2029968" cy="777240"/>
          </a:xfrm>
          <a:prstGeom prst="rect">
            <a:avLst/>
          </a:prstGeom>
          <a:noFill/>
          <a:ln/>
        </p:spPr>
        <p:txBody>
          <a:bodyPr wrap="square" lIns="0" tIns="0" rIns="0" bIns="0" rtlCol="0" anchor="ctr"/>
          <a:lstStyle/>
          <a:p>
            <a:pPr indent="0" marL="0">
              <a:buNone/>
            </a:pPr>
            <a:r>
              <a:rPr lang="en-US" sz="4000" b="1" dirty="0">
                <a:solidFill>
                  <a:srgbClr val="8DB9D9"/>
                </a:solidFill>
                <a:latin typeface="Calibri" pitchFamily="34" charset="0"/>
                <a:ea typeface="Calibri" pitchFamily="34" charset="-122"/>
                <a:cs typeface="Calibri" pitchFamily="34" charset="-120"/>
              </a:rPr>
              <a:t>~125</a:t>
            </a:r>
            <a:endParaRPr lang="en-US" sz="4000" dirty="0"/>
          </a:p>
        </p:txBody>
      </p:sp>
      <p:sp>
        <p:nvSpPr>
          <p:cNvPr id="10" name="Text 8"/>
          <p:cNvSpPr/>
          <p:nvPr/>
        </p:nvSpPr>
        <p:spPr>
          <a:xfrm>
            <a:off x="3685032" y="2670048"/>
            <a:ext cx="2029968"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apparently usable</a:t>
            </a:r>
            <a:endParaRPr lang="en-US" sz="1400" dirty="0"/>
          </a:p>
        </p:txBody>
      </p:sp>
      <p:sp>
        <p:nvSpPr>
          <p:cNvPr id="11" name="Text 9"/>
          <p:cNvSpPr/>
          <p:nvPr/>
        </p:nvSpPr>
        <p:spPr>
          <a:xfrm>
            <a:off x="3685032" y="3017520"/>
            <a:ext cx="2029968" cy="1051560"/>
          </a:xfrm>
          <a:prstGeom prst="rect">
            <a:avLst/>
          </a:prstGeom>
          <a:noFill/>
          <a:ln/>
        </p:spPr>
        <p:txBody>
          <a:bodyPr wrap="square" lIns="0" tIns="0" rIns="0" bIns="0" rtlCol="0" anchor="ctr"/>
          <a:lstStyle/>
          <a:p>
            <a:pPr indent="0" marL="0">
              <a:buNone/>
            </a:pPr>
            <a:r>
              <a:rPr lang="en-US" sz="1250" dirty="0">
                <a:solidFill>
                  <a:srgbClr val="C9CCD6"/>
                </a:solidFill>
                <a:latin typeface="Calibri" pitchFamily="34" charset="0"/>
                <a:ea typeface="Calibri" pitchFamily="34" charset="-122"/>
                <a:cs typeface="Calibri" pitchFamily="34" charset="-120"/>
              </a:rPr>
              <a:t>What the arithmetic suggests after standard reserved addresses.</a:t>
            </a:r>
            <a:endParaRPr lang="en-US" sz="1250" dirty="0"/>
          </a:p>
        </p:txBody>
      </p:sp>
      <p:sp>
        <p:nvSpPr>
          <p:cNvPr id="12" name="Shape 10"/>
          <p:cNvSpPr/>
          <p:nvPr/>
        </p:nvSpPr>
        <p:spPr>
          <a:xfrm>
            <a:off x="6217920" y="1691640"/>
            <a:ext cx="2542032" cy="2514600"/>
          </a:xfrm>
          <a:prstGeom prst="roundRect">
            <a:avLst>
              <a:gd name="adj" fmla="val 2545"/>
            </a:avLst>
          </a:prstGeom>
          <a:solidFill>
            <a:srgbClr val="4A4A58"/>
          </a:solidFill>
          <a:ln w="9525">
            <a:solidFill>
              <a:srgbClr val="5C5C6C"/>
            </a:solidFill>
            <a:prstDash val="solid"/>
          </a:ln>
        </p:spPr>
      </p:sp>
      <p:sp>
        <p:nvSpPr>
          <p:cNvPr id="13" name="Text 11"/>
          <p:cNvSpPr/>
          <p:nvPr/>
        </p:nvSpPr>
        <p:spPr>
          <a:xfrm>
            <a:off x="6473952" y="1874520"/>
            <a:ext cx="2029968" cy="777240"/>
          </a:xfrm>
          <a:prstGeom prst="rect">
            <a:avLst/>
          </a:prstGeom>
          <a:noFill/>
          <a:ln/>
        </p:spPr>
        <p:txBody>
          <a:bodyPr wrap="square" lIns="0" tIns="0" rIns="0" bIns="0" rtlCol="0" anchor="ctr"/>
          <a:lstStyle/>
          <a:p>
            <a:pPr indent="0" marL="0">
              <a:buNone/>
            </a:pPr>
            <a:r>
              <a:rPr lang="en-US" sz="4000" b="1" dirty="0">
                <a:solidFill>
                  <a:srgbClr val="00B3E2"/>
                </a:solidFill>
                <a:latin typeface="Calibri" pitchFamily="34" charset="0"/>
                <a:ea typeface="Calibri" pitchFamily="34" charset="-122"/>
                <a:cs typeface="Calibri" pitchFamily="34" charset="-120"/>
              </a:rPr>
              <a:t>96</a:t>
            </a:r>
            <a:endParaRPr lang="en-US" sz="4000" dirty="0"/>
          </a:p>
        </p:txBody>
      </p:sp>
      <p:sp>
        <p:nvSpPr>
          <p:cNvPr id="14" name="Text 12"/>
          <p:cNvSpPr/>
          <p:nvPr/>
        </p:nvSpPr>
        <p:spPr>
          <a:xfrm>
            <a:off x="6473952" y="2670048"/>
            <a:ext cx="2029968"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supported maximum</a:t>
            </a:r>
            <a:endParaRPr lang="en-US" sz="1400" dirty="0"/>
          </a:p>
        </p:txBody>
      </p:sp>
      <p:sp>
        <p:nvSpPr>
          <p:cNvPr id="15" name="Text 13"/>
          <p:cNvSpPr/>
          <p:nvPr/>
        </p:nvSpPr>
        <p:spPr>
          <a:xfrm>
            <a:off x="6473952" y="3017520"/>
            <a:ext cx="2029968" cy="1051560"/>
          </a:xfrm>
          <a:prstGeom prst="rect">
            <a:avLst/>
          </a:prstGeom>
          <a:noFill/>
          <a:ln/>
        </p:spPr>
        <p:txBody>
          <a:bodyPr wrap="square" lIns="0" tIns="0" rIns="0" bIns="0" rtlCol="0" anchor="ctr"/>
          <a:lstStyle/>
          <a:p>
            <a:pPr indent="0" marL="0">
              <a:buNone/>
            </a:pPr>
            <a:r>
              <a:rPr lang="en-US" sz="1250" dirty="0">
                <a:solidFill>
                  <a:srgbClr val="C9CCD6"/>
                </a:solidFill>
                <a:latin typeface="Calibri" pitchFamily="34" charset="0"/>
                <a:ea typeface="Calibri" pitchFamily="34" charset="-122"/>
                <a:cs typeface="Calibri" pitchFamily="34" charset="-120"/>
              </a:rPr>
              <a:t>The documented host ceiling. The gap is deliberate, not wasted.</a:t>
            </a:r>
            <a:endParaRPr lang="en-US" sz="1250" dirty="0"/>
          </a:p>
        </p:txBody>
      </p:sp>
      <p:sp>
        <p:nvSpPr>
          <p:cNvPr id="16" name="Shape 14"/>
          <p:cNvSpPr/>
          <p:nvPr/>
        </p:nvSpPr>
        <p:spPr>
          <a:xfrm>
            <a:off x="9006840" y="1691640"/>
            <a:ext cx="2542032" cy="2514600"/>
          </a:xfrm>
          <a:prstGeom prst="roundRect">
            <a:avLst>
              <a:gd name="adj" fmla="val 2545"/>
            </a:avLst>
          </a:prstGeom>
          <a:solidFill>
            <a:srgbClr val="4A4A58"/>
          </a:solidFill>
          <a:ln w="9525">
            <a:solidFill>
              <a:srgbClr val="5C5C6C"/>
            </a:solidFill>
            <a:prstDash val="solid"/>
          </a:ln>
        </p:spPr>
      </p:sp>
      <p:sp>
        <p:nvSpPr>
          <p:cNvPr id="17" name="Text 15"/>
          <p:cNvSpPr/>
          <p:nvPr/>
        </p:nvSpPr>
        <p:spPr>
          <a:xfrm>
            <a:off x="9262872" y="1874520"/>
            <a:ext cx="2029968" cy="777240"/>
          </a:xfrm>
          <a:prstGeom prst="rect">
            <a:avLst/>
          </a:prstGeom>
          <a:noFill/>
          <a:ln/>
        </p:spPr>
        <p:txBody>
          <a:bodyPr wrap="square" lIns="0" tIns="0" rIns="0" bIns="0" rtlCol="0" anchor="ctr"/>
          <a:lstStyle/>
          <a:p>
            <a:pPr indent="0" marL="0">
              <a:buNone/>
            </a:pPr>
            <a:r>
              <a:rPr lang="en-US" sz="4000" b="1" dirty="0">
                <a:solidFill>
                  <a:srgbClr val="F15D23"/>
                </a:solidFill>
                <a:latin typeface="Calibri" pitchFamily="34" charset="0"/>
                <a:ea typeface="Calibri" pitchFamily="34" charset="-122"/>
                <a:cs typeface="Calibri" pitchFamily="34" charset="-120"/>
              </a:rPr>
              <a:t>29</a:t>
            </a:r>
            <a:endParaRPr lang="en-US" sz="4000" dirty="0"/>
          </a:p>
        </p:txBody>
      </p:sp>
      <p:sp>
        <p:nvSpPr>
          <p:cNvPr id="18" name="Text 16"/>
          <p:cNvSpPr/>
          <p:nvPr/>
        </p:nvSpPr>
        <p:spPr>
          <a:xfrm>
            <a:off x="9262872" y="2670048"/>
            <a:ext cx="2029968"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addresses held back</a:t>
            </a:r>
            <a:endParaRPr lang="en-US" sz="1400" dirty="0"/>
          </a:p>
        </p:txBody>
      </p:sp>
      <p:sp>
        <p:nvSpPr>
          <p:cNvPr id="19" name="Text 17"/>
          <p:cNvSpPr/>
          <p:nvPr/>
        </p:nvSpPr>
        <p:spPr>
          <a:xfrm>
            <a:off x="9262872" y="3017520"/>
            <a:ext cx="2029968" cy="1051560"/>
          </a:xfrm>
          <a:prstGeom prst="rect">
            <a:avLst/>
          </a:prstGeom>
          <a:noFill/>
          <a:ln/>
        </p:spPr>
        <p:txBody>
          <a:bodyPr wrap="square" lIns="0" tIns="0" rIns="0" bIns="0" rtlCol="0" anchor="ctr"/>
          <a:lstStyle/>
          <a:p>
            <a:pPr indent="0" marL="0">
              <a:buNone/>
            </a:pPr>
            <a:r>
              <a:rPr lang="en-US" sz="1250" dirty="0">
                <a:solidFill>
                  <a:srgbClr val="C9CCD6"/>
                </a:solidFill>
                <a:latin typeface="Calibri" pitchFamily="34" charset="0"/>
                <a:ea typeface="Calibri" pitchFamily="34" charset="-122"/>
                <a:cs typeface="Calibri" pitchFamily="34" charset="-120"/>
              </a:rPr>
              <a:t>19 for host replacement, upgrades, and maintenance. 10 for HCX and migration activity.</a:t>
            </a:r>
            <a:endParaRPr lang="en-US" sz="1250" dirty="0"/>
          </a:p>
        </p:txBody>
      </p:sp>
      <p:sp>
        <p:nvSpPr>
          <p:cNvPr id="20" name="Text 18"/>
          <p:cNvSpPr/>
          <p:nvPr/>
        </p:nvSpPr>
        <p:spPr>
          <a:xfrm>
            <a:off x="640080" y="4434840"/>
            <a:ext cx="5257800" cy="3200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Why the slack exists</a:t>
            </a:r>
            <a:endParaRPr lang="en-US" sz="1800" dirty="0"/>
          </a:p>
        </p:txBody>
      </p:sp>
      <p:sp>
        <p:nvSpPr>
          <p:cNvPr id="21" name="Text 19"/>
          <p:cNvSpPr/>
          <p:nvPr/>
        </p:nvSpPr>
        <p:spPr>
          <a:xfrm>
            <a:off x="640080" y="4800600"/>
            <a:ext cx="5257800" cy="1005840"/>
          </a:xfrm>
          <a:prstGeom prst="rect">
            <a:avLst/>
          </a:prstGeom>
          <a:noFill/>
          <a:ln/>
        </p:spPr>
        <p:txBody>
          <a:bodyPr wrap="square" lIns="0" tIns="0" rIns="0" bIns="0" rtlCol="0" anchor="ctr"/>
          <a:lstStyle/>
          <a:p>
            <a:pPr marL="177800" indent="-177800">
              <a:spcAft>
                <a:spcPts val="600"/>
              </a:spcAft>
              <a:buSzPct val="100000"/>
              <a:buChar char="•"/>
            </a:pPr>
            <a:r>
              <a:rPr lang="en-US" sz="1350" dirty="0">
                <a:solidFill>
                  <a:srgbClr val="C9CCD6"/>
                </a:solidFill>
                <a:latin typeface="Calibri" pitchFamily="34" charset="0"/>
                <a:ea typeface="Calibri" pitchFamily="34" charset="-122"/>
                <a:cs typeface="Calibri" pitchFamily="34" charset="-120"/>
              </a:rPr>
              <a:t>When a host fails, Microsoft must add a replacement before removing or repairing the failed one.</a:t>
            </a:r>
            <a:endParaRPr lang="en-US" sz="1350" dirty="0"/>
          </a:p>
          <a:p>
            <a:pPr marL="177800" indent="-177800">
              <a:spcAft>
                <a:spcPts val="600"/>
              </a:spcAft>
              <a:buSzPct val="100000"/>
              <a:buChar char="•"/>
            </a:pPr>
            <a:r>
              <a:rPr lang="en-US" sz="1350" dirty="0">
                <a:solidFill>
                  <a:srgbClr val="C9CCD6"/>
                </a:solidFill>
                <a:latin typeface="Calibri" pitchFamily="34" charset="0"/>
                <a:ea typeface="Calibri" pitchFamily="34" charset="-122"/>
                <a:cs typeface="Calibri" pitchFamily="34" charset="-120"/>
              </a:rPr>
              <a:t>That replacement needs management, vMotion, and storage addresses of its own.</a:t>
            </a:r>
            <a:endParaRPr lang="en-US" sz="1350" dirty="0"/>
          </a:p>
        </p:txBody>
      </p:sp>
      <p:sp>
        <p:nvSpPr>
          <p:cNvPr id="22" name="Shape 20"/>
          <p:cNvSpPr/>
          <p:nvPr/>
        </p:nvSpPr>
        <p:spPr>
          <a:xfrm>
            <a:off x="6519672" y="4434840"/>
            <a:ext cx="5029200" cy="1417320"/>
          </a:xfrm>
          <a:prstGeom prst="roundRect">
            <a:avLst>
              <a:gd name="adj" fmla="val 4516"/>
            </a:avLst>
          </a:prstGeom>
          <a:solidFill>
            <a:srgbClr val="2F2F3A"/>
          </a:solidFill>
          <a:ln w="9525">
            <a:solidFill>
              <a:srgbClr val="5C5C6C"/>
            </a:solidFill>
            <a:prstDash val="solid"/>
          </a:ln>
        </p:spPr>
      </p:sp>
      <p:sp>
        <p:nvSpPr>
          <p:cNvPr id="23" name="Text 21"/>
          <p:cNvSpPr/>
          <p:nvPr/>
        </p:nvSpPr>
        <p:spPr>
          <a:xfrm>
            <a:off x="6839712" y="4590288"/>
            <a:ext cx="4389120" cy="274320"/>
          </a:xfrm>
          <a:prstGeom prst="rect">
            <a:avLst/>
          </a:prstGeom>
          <a:noFill/>
          <a:ln/>
        </p:spPr>
        <p:txBody>
          <a:bodyPr wrap="square" lIns="0" tIns="0" rIns="0" bIns="0" rtlCol="0" anchor="ctr"/>
          <a:lstStyle/>
          <a:p>
            <a:pPr indent="0" marL="0">
              <a:buNone/>
            </a:pPr>
            <a:r>
              <a:rPr lang="en-US" sz="1400" b="1" dirty="0">
                <a:solidFill>
                  <a:srgbClr val="F15D23"/>
                </a:solidFill>
                <a:latin typeface="Calibri" pitchFamily="34" charset="0"/>
                <a:ea typeface="Calibri" pitchFamily="34" charset="-122"/>
                <a:cs typeface="Calibri" pitchFamily="34" charset="-120"/>
              </a:rPr>
              <a:t>If every address were assigned</a:t>
            </a:r>
            <a:endParaRPr lang="en-US" sz="1400" dirty="0"/>
          </a:p>
        </p:txBody>
      </p:sp>
      <p:sp>
        <p:nvSpPr>
          <p:cNvPr id="24" name="Text 22"/>
          <p:cNvSpPr/>
          <p:nvPr/>
        </p:nvSpPr>
        <p:spPr>
          <a:xfrm>
            <a:off x="6839712" y="4892040"/>
            <a:ext cx="4389120" cy="822960"/>
          </a:xfrm>
          <a:prstGeom prst="rect">
            <a:avLst/>
          </a:prstGeom>
          <a:noFill/>
          <a:ln/>
        </p:spPr>
        <p:txBody>
          <a:bodyPr wrap="square" lIns="0" tIns="0" rIns="0" bIns="0" rtlCol="0" anchor="ctr"/>
          <a:lstStyle/>
          <a:p>
            <a:pPr indent="0" marL="0">
              <a:buNone/>
            </a:pPr>
            <a:r>
              <a:rPr lang="en-US" sz="1300" dirty="0">
                <a:solidFill>
                  <a:srgbClr val="C9CCD6"/>
                </a:solidFill>
                <a:latin typeface="Calibri" pitchFamily="34" charset="0"/>
                <a:ea typeface="Calibri" pitchFamily="34" charset="-122"/>
                <a:cs typeface="Calibri" pitchFamily="34" charset="-120"/>
              </a:rPr>
              <a:t>Replacement provisioning would fail, automated self-healing would stop, and maintenance could not proceed. A resilient platform cannot operate safely at 100 percent capacity.</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37744"/>
          </a:xfrm>
          <a:prstGeom prst="rect">
            <a:avLst/>
          </a:prstGeom>
          <a:noFill/>
          <a:ln/>
        </p:spPr>
        <p:txBody>
          <a:bodyPr wrap="square" lIns="0" tIns="0" rIns="0" bIns="0" rtlCol="0" anchor="ctr"/>
          <a:lstStyle/>
          <a:p>
            <a:pPr indent="0" marL="0">
              <a:buNone/>
            </a:pPr>
            <a:r>
              <a:rPr lang="en-US" sz="1100" b="1" spc="200" kern="0" dirty="0">
                <a:solidFill>
                  <a:srgbClr val="00B3E2"/>
                </a:solidFill>
                <a:latin typeface="Calibri" pitchFamily="34" charset="0"/>
                <a:ea typeface="Calibri" pitchFamily="34" charset="-122"/>
                <a:cs typeface="Calibri" pitchFamily="34" charset="-120"/>
              </a:rPr>
              <a:t>ADDRESS PLANNING</a:t>
            </a:r>
            <a:endParaRPr lang="en-US" sz="1100" dirty="0"/>
          </a:p>
        </p:txBody>
      </p:sp>
      <p:sp>
        <p:nvSpPr>
          <p:cNvPr id="3" name="Text 1"/>
          <p:cNvSpPr/>
          <p:nvPr/>
        </p:nvSpPr>
        <p:spPr>
          <a:xfrm>
            <a:off x="640080" y="658368"/>
            <a:ext cx="10911535" cy="566928"/>
          </a:xfrm>
          <a:prstGeom prst="rect">
            <a:avLst/>
          </a:prstGeom>
          <a:noFill/>
          <a:ln/>
        </p:spPr>
        <p:txBody>
          <a:bodyPr wrap="square" lIns="0" tIns="0" rIns="0" bIns="0" rtlCol="0" anchor="ctr"/>
          <a:lstStyle/>
          <a:p>
            <a:pPr indent="0" marL="0">
              <a:buNone/>
            </a:pPr>
            <a:r>
              <a:rPr lang="en-US" sz="3400" b="1" dirty="0">
                <a:solidFill>
                  <a:srgbClr val="3E3E4B"/>
                </a:solidFill>
                <a:latin typeface="Calibri" pitchFamily="34" charset="0"/>
                <a:ea typeface="Calibri" pitchFamily="34" charset="-122"/>
                <a:cs typeface="Calibri" pitchFamily="34" charset="-120"/>
              </a:rPr>
              <a:t>Ranges that must not overlap</a:t>
            </a:r>
            <a:endParaRPr lang="en-US" sz="3400" dirty="0"/>
          </a:p>
        </p:txBody>
      </p:sp>
      <p:sp>
        <p:nvSpPr>
          <p:cNvPr id="4" name="Text 2"/>
          <p:cNvSpPr/>
          <p:nvPr/>
        </p:nvSpPr>
        <p:spPr>
          <a:xfrm>
            <a:off x="640080" y="1371600"/>
            <a:ext cx="10972800" cy="457200"/>
          </a:xfrm>
          <a:prstGeom prst="rect">
            <a:avLst/>
          </a:prstGeom>
          <a:noFill/>
          <a:ln/>
        </p:spPr>
        <p:txBody>
          <a:bodyPr wrap="square" lIns="0" tIns="0" rIns="0" bIns="0" rtlCol="0" anchor="ctr"/>
          <a:lstStyle/>
          <a:p>
            <a:pPr indent="0" marL="0">
              <a:buNone/>
            </a:pPr>
            <a:r>
              <a:rPr lang="en-US" sz="1500" dirty="0">
                <a:solidFill>
                  <a:srgbClr val="55555F"/>
                </a:solidFill>
                <a:latin typeface="Calibri" pitchFamily="34" charset="0"/>
                <a:ea typeface="Calibri" pitchFamily="34" charset="-122"/>
                <a:cs typeface="Calibri" pitchFamily="34" charset="-120"/>
              </a:rPr>
              <a:t>Connected on-premises and Azure networks must not overlap AVS internal ranges. Overlap causes control-plane routes to be mistaken for customer routes.</a:t>
            </a:r>
            <a:endParaRPr lang="en-US" sz="1500" dirty="0"/>
          </a:p>
        </p:txBody>
      </p:sp>
      <p:sp>
        <p:nvSpPr>
          <p:cNvPr id="5" name="Shape 3"/>
          <p:cNvSpPr/>
          <p:nvPr/>
        </p:nvSpPr>
        <p:spPr>
          <a:xfrm>
            <a:off x="640080" y="2011680"/>
            <a:ext cx="3511296" cy="2194560"/>
          </a:xfrm>
          <a:prstGeom prst="roundRect">
            <a:avLst>
              <a:gd name="adj" fmla="val 2917"/>
            </a:avLst>
          </a:prstGeom>
          <a:solidFill>
            <a:srgbClr val="F4F7F8"/>
          </a:solidFill>
          <a:ln w="9525">
            <a:solidFill>
              <a:srgbClr val="DDE2E2"/>
            </a:solidFill>
            <a:prstDash val="solid"/>
          </a:ln>
        </p:spPr>
      </p:sp>
      <p:sp>
        <p:nvSpPr>
          <p:cNvPr id="6" name="Shape 4"/>
          <p:cNvSpPr/>
          <p:nvPr/>
        </p:nvSpPr>
        <p:spPr>
          <a:xfrm>
            <a:off x="896112" y="2212848"/>
            <a:ext cx="274320" cy="274320"/>
          </a:xfrm>
          <a:prstGeom prst="ellipse">
            <a:avLst/>
          </a:prstGeom>
          <a:solidFill>
            <a:srgbClr val="F15D23"/>
          </a:solidFill>
          <a:ln w="12700">
            <a:solidFill>
              <a:srgbClr val="F15D23"/>
            </a:solidFill>
            <a:prstDash val="solid"/>
          </a:ln>
        </p:spPr>
      </p:sp>
      <p:sp>
        <p:nvSpPr>
          <p:cNvPr id="7" name="Text 5"/>
          <p:cNvSpPr/>
          <p:nvPr/>
        </p:nvSpPr>
        <p:spPr>
          <a:xfrm>
            <a:off x="896112" y="2606040"/>
            <a:ext cx="2999232" cy="411480"/>
          </a:xfrm>
          <a:prstGeom prst="rect">
            <a:avLst/>
          </a:prstGeom>
          <a:noFill/>
          <a:ln/>
        </p:spPr>
        <p:txBody>
          <a:bodyPr wrap="square" lIns="0" tIns="0" rIns="0" bIns="0" rtlCol="0" anchor="ctr"/>
          <a:lstStyle/>
          <a:p>
            <a:pPr indent="0" marL="0">
              <a:buNone/>
            </a:pPr>
            <a:r>
              <a:rPr lang="en-US" sz="1900" b="1" dirty="0">
                <a:solidFill>
                  <a:srgbClr val="3E3E4B"/>
                </a:solidFill>
                <a:latin typeface="Calibri" pitchFamily="34" charset="0"/>
                <a:ea typeface="Calibri" pitchFamily="34" charset="-122"/>
                <a:cs typeface="Calibri" pitchFamily="34" charset="-120"/>
              </a:rPr>
              <a:t>169.254.0.0/24</a:t>
            </a:r>
            <a:endParaRPr lang="en-US" sz="1900" dirty="0"/>
          </a:p>
        </p:txBody>
      </p:sp>
      <p:sp>
        <p:nvSpPr>
          <p:cNvPr id="8" name="Text 6"/>
          <p:cNvSpPr/>
          <p:nvPr/>
        </p:nvSpPr>
        <p:spPr>
          <a:xfrm>
            <a:off x="896112" y="3063240"/>
            <a:ext cx="2999232" cy="1005840"/>
          </a:xfrm>
          <a:prstGeom prst="rect">
            <a:avLst/>
          </a:prstGeom>
          <a:noFill/>
          <a:ln/>
        </p:spPr>
        <p:txBody>
          <a:bodyPr wrap="square" lIns="0" tIns="0" rIns="0" bIns="0" rtlCol="0" anchor="ctr"/>
          <a:lstStyle/>
          <a:p>
            <a:pPr indent="0" marL="0">
              <a:buNone/>
            </a:pPr>
            <a:r>
              <a:rPr lang="en-US" sz="1250" dirty="0">
                <a:solidFill>
                  <a:srgbClr val="55555F"/>
                </a:solidFill>
                <a:latin typeface="Calibri" pitchFamily="34" charset="0"/>
                <a:ea typeface="Calibri" pitchFamily="34" charset="-122"/>
                <a:cs typeface="Calibri" pitchFamily="34" charset="-120"/>
              </a:rPr>
              <a:t>Internal AVS transit communication. Must not be advertised from connected networks.</a:t>
            </a:r>
            <a:endParaRPr lang="en-US" sz="1250" dirty="0"/>
          </a:p>
        </p:txBody>
      </p:sp>
      <p:sp>
        <p:nvSpPr>
          <p:cNvPr id="9" name="Shape 7"/>
          <p:cNvSpPr/>
          <p:nvPr/>
        </p:nvSpPr>
        <p:spPr>
          <a:xfrm>
            <a:off x="4535424" y="2011680"/>
            <a:ext cx="3511296" cy="2194560"/>
          </a:xfrm>
          <a:prstGeom prst="roundRect">
            <a:avLst>
              <a:gd name="adj" fmla="val 2917"/>
            </a:avLst>
          </a:prstGeom>
          <a:solidFill>
            <a:srgbClr val="F4F7F8"/>
          </a:solidFill>
          <a:ln w="9525">
            <a:solidFill>
              <a:srgbClr val="DDE2E2"/>
            </a:solidFill>
            <a:prstDash val="solid"/>
          </a:ln>
        </p:spPr>
      </p:sp>
      <p:sp>
        <p:nvSpPr>
          <p:cNvPr id="10" name="Shape 8"/>
          <p:cNvSpPr/>
          <p:nvPr/>
        </p:nvSpPr>
        <p:spPr>
          <a:xfrm>
            <a:off x="4791456" y="2212848"/>
            <a:ext cx="274320" cy="274320"/>
          </a:xfrm>
          <a:prstGeom prst="ellipse">
            <a:avLst/>
          </a:prstGeom>
          <a:solidFill>
            <a:srgbClr val="F15D23"/>
          </a:solidFill>
          <a:ln w="12700">
            <a:solidFill>
              <a:srgbClr val="F15D23"/>
            </a:solidFill>
            <a:prstDash val="solid"/>
          </a:ln>
        </p:spPr>
      </p:sp>
      <p:sp>
        <p:nvSpPr>
          <p:cNvPr id="11" name="Text 9"/>
          <p:cNvSpPr/>
          <p:nvPr/>
        </p:nvSpPr>
        <p:spPr>
          <a:xfrm>
            <a:off x="4791456" y="2606040"/>
            <a:ext cx="2999232" cy="411480"/>
          </a:xfrm>
          <a:prstGeom prst="rect">
            <a:avLst/>
          </a:prstGeom>
          <a:noFill/>
          <a:ln/>
        </p:spPr>
        <p:txBody>
          <a:bodyPr wrap="square" lIns="0" tIns="0" rIns="0" bIns="0" rtlCol="0" anchor="ctr"/>
          <a:lstStyle/>
          <a:p>
            <a:pPr indent="0" marL="0">
              <a:buNone/>
            </a:pPr>
            <a:r>
              <a:rPr lang="en-US" sz="1900" b="1" dirty="0">
                <a:solidFill>
                  <a:srgbClr val="3E3E4B"/>
                </a:solidFill>
                <a:latin typeface="Calibri" pitchFamily="34" charset="0"/>
                <a:ea typeface="Calibri" pitchFamily="34" charset="-122"/>
                <a:cs typeface="Calibri" pitchFamily="34" charset="-120"/>
              </a:rPr>
              <a:t>169.254.2.0/23</a:t>
            </a:r>
            <a:endParaRPr lang="en-US" sz="1900" dirty="0"/>
          </a:p>
        </p:txBody>
      </p:sp>
      <p:sp>
        <p:nvSpPr>
          <p:cNvPr id="12" name="Text 10"/>
          <p:cNvSpPr/>
          <p:nvPr/>
        </p:nvSpPr>
        <p:spPr>
          <a:xfrm>
            <a:off x="4791456" y="3063240"/>
            <a:ext cx="2999232" cy="1005840"/>
          </a:xfrm>
          <a:prstGeom prst="rect">
            <a:avLst/>
          </a:prstGeom>
          <a:noFill/>
          <a:ln/>
        </p:spPr>
        <p:txBody>
          <a:bodyPr wrap="square" lIns="0" tIns="0" rIns="0" bIns="0" rtlCol="0" anchor="ctr"/>
          <a:lstStyle/>
          <a:p>
            <a:pPr indent="0" marL="0">
              <a:buNone/>
            </a:pPr>
            <a:r>
              <a:rPr lang="en-US" sz="1250" dirty="0">
                <a:solidFill>
                  <a:srgbClr val="55555F"/>
                </a:solidFill>
                <a:latin typeface="Calibri" pitchFamily="34" charset="0"/>
                <a:ea typeface="Calibri" pitchFamily="34" charset="-122"/>
                <a:cs typeface="Calibri" pitchFamily="34" charset="-120"/>
              </a:rPr>
              <a:t>Inter-VRF transit. AVS uses VRF separation to isolate tenant, management, and internal platform traffic. Overlap can redirect internal control traffic toward a customer network.</a:t>
            </a:r>
            <a:endParaRPr lang="en-US" sz="1250" dirty="0"/>
          </a:p>
        </p:txBody>
      </p:sp>
      <p:sp>
        <p:nvSpPr>
          <p:cNvPr id="13" name="Shape 11"/>
          <p:cNvSpPr/>
          <p:nvPr/>
        </p:nvSpPr>
        <p:spPr>
          <a:xfrm>
            <a:off x="8430768" y="2011680"/>
            <a:ext cx="3511296" cy="2194560"/>
          </a:xfrm>
          <a:prstGeom prst="roundRect">
            <a:avLst>
              <a:gd name="adj" fmla="val 2917"/>
            </a:avLst>
          </a:prstGeom>
          <a:solidFill>
            <a:srgbClr val="F4F7F8"/>
          </a:solidFill>
          <a:ln w="9525">
            <a:solidFill>
              <a:srgbClr val="DDE2E2"/>
            </a:solidFill>
            <a:prstDash val="solid"/>
          </a:ln>
        </p:spPr>
      </p:sp>
      <p:sp>
        <p:nvSpPr>
          <p:cNvPr id="14" name="Shape 12"/>
          <p:cNvSpPr/>
          <p:nvPr/>
        </p:nvSpPr>
        <p:spPr>
          <a:xfrm>
            <a:off x="8686800" y="2212848"/>
            <a:ext cx="274320" cy="274320"/>
          </a:xfrm>
          <a:prstGeom prst="ellipse">
            <a:avLst/>
          </a:prstGeom>
          <a:solidFill>
            <a:srgbClr val="F15D23"/>
          </a:solidFill>
          <a:ln w="12700">
            <a:solidFill>
              <a:srgbClr val="F15D23"/>
            </a:solidFill>
            <a:prstDash val="solid"/>
          </a:ln>
        </p:spPr>
      </p:sp>
      <p:sp>
        <p:nvSpPr>
          <p:cNvPr id="15" name="Text 13"/>
          <p:cNvSpPr/>
          <p:nvPr/>
        </p:nvSpPr>
        <p:spPr>
          <a:xfrm>
            <a:off x="8686800" y="2606040"/>
            <a:ext cx="2999232" cy="411480"/>
          </a:xfrm>
          <a:prstGeom prst="rect">
            <a:avLst/>
          </a:prstGeom>
          <a:noFill/>
          <a:ln/>
        </p:spPr>
        <p:txBody>
          <a:bodyPr wrap="square" lIns="0" tIns="0" rIns="0" bIns="0" rtlCol="0" anchor="ctr"/>
          <a:lstStyle/>
          <a:p>
            <a:pPr indent="0" marL="0">
              <a:buNone/>
            </a:pPr>
            <a:r>
              <a:rPr lang="en-US" sz="1900" b="1" dirty="0">
                <a:solidFill>
                  <a:srgbClr val="3E3E4B"/>
                </a:solidFill>
                <a:latin typeface="Calibri" pitchFamily="34" charset="0"/>
                <a:ea typeface="Calibri" pitchFamily="34" charset="-122"/>
                <a:cs typeface="Calibri" pitchFamily="34" charset="-120"/>
              </a:rPr>
              <a:t>100.64.0.0/16</a:t>
            </a:r>
            <a:endParaRPr lang="en-US" sz="1900" dirty="0"/>
          </a:p>
        </p:txBody>
      </p:sp>
      <p:sp>
        <p:nvSpPr>
          <p:cNvPr id="16" name="Text 14"/>
          <p:cNvSpPr/>
          <p:nvPr/>
        </p:nvSpPr>
        <p:spPr>
          <a:xfrm>
            <a:off x="8686800" y="3063240"/>
            <a:ext cx="2999232" cy="1005840"/>
          </a:xfrm>
          <a:prstGeom prst="rect">
            <a:avLst/>
          </a:prstGeom>
          <a:noFill/>
          <a:ln/>
        </p:spPr>
        <p:txBody>
          <a:bodyPr wrap="square" lIns="0" tIns="0" rIns="0" bIns="0" rtlCol="0" anchor="ctr"/>
          <a:lstStyle/>
          <a:p>
            <a:pPr indent="0" marL="0">
              <a:buNone/>
            </a:pPr>
            <a:r>
              <a:rPr lang="en-US" sz="1250" dirty="0">
                <a:solidFill>
                  <a:srgbClr val="55555F"/>
                </a:solidFill>
                <a:latin typeface="Calibri" pitchFamily="34" charset="0"/>
                <a:ea typeface="Calibri" pitchFamily="34" charset="-122"/>
                <a:cs typeface="Calibri" pitchFamily="34" charset="-120"/>
              </a:rPr>
              <a:t>Used by NSX for internal communication between Tier-0 and Tier-1 gateways. Advertising the same range from a customer network creates routing ambiguity and can destabilize the overlay.</a:t>
            </a:r>
            <a:endParaRPr lang="en-US" sz="1250" dirty="0"/>
          </a:p>
        </p:txBody>
      </p:sp>
      <p:sp>
        <p:nvSpPr>
          <p:cNvPr id="17" name="Text 15"/>
          <p:cNvSpPr/>
          <p:nvPr/>
        </p:nvSpPr>
        <p:spPr>
          <a:xfrm>
            <a:off x="640080" y="4434840"/>
            <a:ext cx="10911535" cy="320040"/>
          </a:xfrm>
          <a:prstGeom prst="rect">
            <a:avLst/>
          </a:prstGeom>
          <a:noFill/>
          <a:ln/>
        </p:spPr>
        <p:txBody>
          <a:bodyPr wrap="square" lIns="0" tIns="0" rIns="0" bIns="0" rtlCol="0" anchor="ctr"/>
          <a:lstStyle/>
          <a:p>
            <a:pPr indent="0" marL="0">
              <a:buNone/>
            </a:pPr>
            <a:r>
              <a:rPr lang="en-US" sz="1800" b="1" dirty="0">
                <a:solidFill>
                  <a:srgbClr val="3E3E4B"/>
                </a:solidFill>
                <a:latin typeface="Calibri" pitchFamily="34" charset="0"/>
                <a:ea typeface="Calibri" pitchFamily="34" charset="-122"/>
                <a:cs typeface="Calibri" pitchFamily="34" charset="-120"/>
              </a:rPr>
              <a:t>Audit these before deployment, not after</a:t>
            </a:r>
            <a:endParaRPr lang="en-US" sz="1800" dirty="0"/>
          </a:p>
        </p:txBody>
      </p:sp>
      <p:sp>
        <p:nvSpPr>
          <p:cNvPr id="18" name="Shape 16"/>
          <p:cNvSpPr/>
          <p:nvPr/>
        </p:nvSpPr>
        <p:spPr>
          <a:xfrm>
            <a:off x="640080" y="4846320"/>
            <a:ext cx="2011680" cy="731520"/>
          </a:xfrm>
          <a:prstGeom prst="roundRect">
            <a:avLst>
              <a:gd name="adj" fmla="val 8750"/>
            </a:avLst>
          </a:prstGeom>
          <a:solidFill>
            <a:srgbClr val="E5F7FC"/>
          </a:solidFill>
          <a:ln w="9525">
            <a:solidFill>
              <a:srgbClr val="B2E8F6"/>
            </a:solidFill>
            <a:prstDash val="solid"/>
          </a:ln>
        </p:spPr>
      </p:sp>
      <p:sp>
        <p:nvSpPr>
          <p:cNvPr id="19" name="Text 17"/>
          <p:cNvSpPr/>
          <p:nvPr/>
        </p:nvSpPr>
        <p:spPr>
          <a:xfrm>
            <a:off x="804672" y="4846320"/>
            <a:ext cx="1682496" cy="731520"/>
          </a:xfrm>
          <a:prstGeom prst="rect">
            <a:avLst/>
          </a:prstGeom>
          <a:noFill/>
          <a:ln/>
        </p:spPr>
        <p:txBody>
          <a:bodyPr wrap="square" lIns="0" tIns="0" rIns="0" bIns="0" rtlCol="0" anchor="ctr"/>
          <a:lstStyle/>
          <a:p>
            <a:pPr indent="0" marL="0">
              <a:buNone/>
            </a:pPr>
            <a:r>
              <a:rPr lang="en-US" sz="1200" b="1" dirty="0">
                <a:solidFill>
                  <a:srgbClr val="3E3E4B"/>
                </a:solidFill>
                <a:latin typeface="Calibri" pitchFamily="34" charset="0"/>
                <a:ea typeface="Calibri" pitchFamily="34" charset="-122"/>
                <a:cs typeface="Calibri" pitchFamily="34" charset="-120"/>
              </a:rPr>
              <a:t>On-premises routes</a:t>
            </a:r>
            <a:endParaRPr lang="en-US" sz="1200" dirty="0"/>
          </a:p>
        </p:txBody>
      </p:sp>
      <p:sp>
        <p:nvSpPr>
          <p:cNvPr id="20" name="Shape 18"/>
          <p:cNvSpPr/>
          <p:nvPr/>
        </p:nvSpPr>
        <p:spPr>
          <a:xfrm>
            <a:off x="2825496" y="4846320"/>
            <a:ext cx="2011680" cy="731520"/>
          </a:xfrm>
          <a:prstGeom prst="roundRect">
            <a:avLst>
              <a:gd name="adj" fmla="val 8750"/>
            </a:avLst>
          </a:prstGeom>
          <a:solidFill>
            <a:srgbClr val="E5F7FC"/>
          </a:solidFill>
          <a:ln w="9525">
            <a:solidFill>
              <a:srgbClr val="B2E8F6"/>
            </a:solidFill>
            <a:prstDash val="solid"/>
          </a:ln>
        </p:spPr>
      </p:sp>
      <p:sp>
        <p:nvSpPr>
          <p:cNvPr id="21" name="Text 19"/>
          <p:cNvSpPr/>
          <p:nvPr/>
        </p:nvSpPr>
        <p:spPr>
          <a:xfrm>
            <a:off x="2990088" y="4846320"/>
            <a:ext cx="1682496" cy="731520"/>
          </a:xfrm>
          <a:prstGeom prst="rect">
            <a:avLst/>
          </a:prstGeom>
          <a:noFill/>
          <a:ln/>
        </p:spPr>
        <p:txBody>
          <a:bodyPr wrap="square" lIns="0" tIns="0" rIns="0" bIns="0" rtlCol="0" anchor="ctr"/>
          <a:lstStyle/>
          <a:p>
            <a:pPr indent="0" marL="0">
              <a:buNone/>
            </a:pPr>
            <a:r>
              <a:rPr lang="en-US" sz="1200" b="1" dirty="0">
                <a:solidFill>
                  <a:srgbClr val="3E3E4B"/>
                </a:solidFill>
                <a:latin typeface="Calibri" pitchFamily="34" charset="0"/>
                <a:ea typeface="Calibri" pitchFamily="34" charset="-122"/>
                <a:cs typeface="Calibri" pitchFamily="34" charset="-120"/>
              </a:rPr>
              <a:t>Azure VNet address spaces</a:t>
            </a:r>
            <a:endParaRPr lang="en-US" sz="1200" dirty="0"/>
          </a:p>
        </p:txBody>
      </p:sp>
      <p:sp>
        <p:nvSpPr>
          <p:cNvPr id="22" name="Shape 20"/>
          <p:cNvSpPr/>
          <p:nvPr/>
        </p:nvSpPr>
        <p:spPr>
          <a:xfrm>
            <a:off x="5010912" y="4846320"/>
            <a:ext cx="2011680" cy="731520"/>
          </a:xfrm>
          <a:prstGeom prst="roundRect">
            <a:avLst>
              <a:gd name="adj" fmla="val 8750"/>
            </a:avLst>
          </a:prstGeom>
          <a:solidFill>
            <a:srgbClr val="E5F7FC"/>
          </a:solidFill>
          <a:ln w="9525">
            <a:solidFill>
              <a:srgbClr val="B2E8F6"/>
            </a:solidFill>
            <a:prstDash val="solid"/>
          </a:ln>
        </p:spPr>
      </p:sp>
      <p:sp>
        <p:nvSpPr>
          <p:cNvPr id="23" name="Text 21"/>
          <p:cNvSpPr/>
          <p:nvPr/>
        </p:nvSpPr>
        <p:spPr>
          <a:xfrm>
            <a:off x="5175504" y="4846320"/>
            <a:ext cx="1682496" cy="731520"/>
          </a:xfrm>
          <a:prstGeom prst="rect">
            <a:avLst/>
          </a:prstGeom>
          <a:noFill/>
          <a:ln/>
        </p:spPr>
        <p:txBody>
          <a:bodyPr wrap="square" lIns="0" tIns="0" rIns="0" bIns="0" rtlCol="0" anchor="ctr"/>
          <a:lstStyle/>
          <a:p>
            <a:pPr indent="0" marL="0">
              <a:buNone/>
            </a:pPr>
            <a:r>
              <a:rPr lang="en-US" sz="1200" b="1" dirty="0">
                <a:solidFill>
                  <a:srgbClr val="3E3E4B"/>
                </a:solidFill>
                <a:latin typeface="Calibri" pitchFamily="34" charset="0"/>
                <a:ea typeface="Calibri" pitchFamily="34" charset="-122"/>
                <a:cs typeface="Calibri" pitchFamily="34" charset="-120"/>
              </a:rPr>
              <a:t>BGP advertisements</a:t>
            </a:r>
            <a:endParaRPr lang="en-US" sz="1200" dirty="0"/>
          </a:p>
        </p:txBody>
      </p:sp>
      <p:sp>
        <p:nvSpPr>
          <p:cNvPr id="24" name="Shape 22"/>
          <p:cNvSpPr/>
          <p:nvPr/>
        </p:nvSpPr>
        <p:spPr>
          <a:xfrm>
            <a:off x="7196328" y="4846320"/>
            <a:ext cx="2011680" cy="731520"/>
          </a:xfrm>
          <a:prstGeom prst="roundRect">
            <a:avLst>
              <a:gd name="adj" fmla="val 8750"/>
            </a:avLst>
          </a:prstGeom>
          <a:solidFill>
            <a:srgbClr val="E5F7FC"/>
          </a:solidFill>
          <a:ln w="9525">
            <a:solidFill>
              <a:srgbClr val="B2E8F6"/>
            </a:solidFill>
            <a:prstDash val="solid"/>
          </a:ln>
        </p:spPr>
      </p:sp>
      <p:sp>
        <p:nvSpPr>
          <p:cNvPr id="25" name="Text 23"/>
          <p:cNvSpPr/>
          <p:nvPr/>
        </p:nvSpPr>
        <p:spPr>
          <a:xfrm>
            <a:off x="7360920" y="4846320"/>
            <a:ext cx="1682496" cy="731520"/>
          </a:xfrm>
          <a:prstGeom prst="rect">
            <a:avLst/>
          </a:prstGeom>
          <a:noFill/>
          <a:ln/>
        </p:spPr>
        <p:txBody>
          <a:bodyPr wrap="square" lIns="0" tIns="0" rIns="0" bIns="0" rtlCol="0" anchor="ctr"/>
          <a:lstStyle/>
          <a:p>
            <a:pPr indent="0" marL="0">
              <a:buNone/>
            </a:pPr>
            <a:r>
              <a:rPr lang="en-US" sz="1200" b="1" dirty="0">
                <a:solidFill>
                  <a:srgbClr val="3E3E4B"/>
                </a:solidFill>
                <a:latin typeface="Calibri" pitchFamily="34" charset="0"/>
                <a:ea typeface="Calibri" pitchFamily="34" charset="-122"/>
                <a:cs typeface="Calibri" pitchFamily="34" charset="-120"/>
              </a:rPr>
              <a:t>Merger and acquisition networks</a:t>
            </a:r>
            <a:endParaRPr lang="en-US" sz="1200" dirty="0"/>
          </a:p>
        </p:txBody>
      </p:sp>
      <p:sp>
        <p:nvSpPr>
          <p:cNvPr id="26" name="Shape 24"/>
          <p:cNvSpPr/>
          <p:nvPr/>
        </p:nvSpPr>
        <p:spPr>
          <a:xfrm>
            <a:off x="9381744" y="4846320"/>
            <a:ext cx="2011680" cy="731520"/>
          </a:xfrm>
          <a:prstGeom prst="roundRect">
            <a:avLst>
              <a:gd name="adj" fmla="val 8750"/>
            </a:avLst>
          </a:prstGeom>
          <a:solidFill>
            <a:srgbClr val="E5F7FC"/>
          </a:solidFill>
          <a:ln w="9525">
            <a:solidFill>
              <a:srgbClr val="B2E8F6"/>
            </a:solidFill>
            <a:prstDash val="solid"/>
          </a:ln>
        </p:spPr>
      </p:sp>
      <p:sp>
        <p:nvSpPr>
          <p:cNvPr id="27" name="Text 25"/>
          <p:cNvSpPr/>
          <p:nvPr/>
        </p:nvSpPr>
        <p:spPr>
          <a:xfrm>
            <a:off x="9546336" y="4846320"/>
            <a:ext cx="1682496" cy="731520"/>
          </a:xfrm>
          <a:prstGeom prst="rect">
            <a:avLst/>
          </a:prstGeom>
          <a:noFill/>
          <a:ln/>
        </p:spPr>
        <p:txBody>
          <a:bodyPr wrap="square" lIns="0" tIns="0" rIns="0" bIns="0" rtlCol="0" anchor="ctr"/>
          <a:lstStyle/>
          <a:p>
            <a:pPr indent="0" marL="0">
              <a:buNone/>
            </a:pPr>
            <a:r>
              <a:rPr lang="en-US" sz="1200" b="1" dirty="0">
                <a:solidFill>
                  <a:srgbClr val="3E3E4B"/>
                </a:solidFill>
                <a:latin typeface="Calibri" pitchFamily="34" charset="0"/>
                <a:ea typeface="Calibri" pitchFamily="34" charset="-122"/>
                <a:cs typeface="Calibri" pitchFamily="34" charset="-120"/>
              </a:rPr>
              <a:t>Future expansion ranges</a:t>
            </a:r>
            <a:endParaRPr lang="en-US" sz="1200" dirty="0"/>
          </a:p>
        </p:txBody>
      </p:sp>
      <p:sp>
        <p:nvSpPr>
          <p:cNvPr id="28" name="Text 26"/>
          <p:cNvSpPr/>
          <p:nvPr/>
        </p:nvSpPr>
        <p:spPr>
          <a:xfrm>
            <a:off x="640080" y="5669280"/>
            <a:ext cx="10911535" cy="274320"/>
          </a:xfrm>
          <a:prstGeom prst="rect">
            <a:avLst/>
          </a:prstGeom>
          <a:noFill/>
          <a:ln/>
        </p:spPr>
        <p:txBody>
          <a:bodyPr wrap="square" lIns="0" tIns="0" rIns="0" bIns="0" rtlCol="0" anchor="ctr"/>
          <a:lstStyle/>
          <a:p>
            <a:pPr indent="0" marL="0">
              <a:buNone/>
            </a:pPr>
            <a:r>
              <a:rPr lang="en-US" sz="1200" i="1" dirty="0">
                <a:solidFill>
                  <a:srgbClr val="55555F"/>
                </a:solidFill>
                <a:latin typeface="Calibri" pitchFamily="34" charset="0"/>
                <a:ea typeface="Calibri" pitchFamily="34" charset="-122"/>
                <a:cs typeface="Calibri" pitchFamily="34" charset="-120"/>
              </a:rPr>
              <a:t>A deployment that works initially can become difficult or impossible to expand if conflicts surface later.</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37744"/>
          </a:xfrm>
          <a:prstGeom prst="rect">
            <a:avLst/>
          </a:prstGeom>
          <a:noFill/>
          <a:ln/>
        </p:spPr>
        <p:txBody>
          <a:bodyPr wrap="square" lIns="0" tIns="0" rIns="0" bIns="0" rtlCol="0" anchor="ctr"/>
          <a:lstStyle/>
          <a:p>
            <a:pPr indent="0" marL="0">
              <a:buNone/>
            </a:pPr>
            <a:r>
              <a:rPr lang="en-US" sz="1100" b="1" spc="200" kern="0" dirty="0">
                <a:solidFill>
                  <a:srgbClr val="00B3E2"/>
                </a:solidFill>
                <a:latin typeface="Calibri" pitchFamily="34" charset="0"/>
                <a:ea typeface="Calibri" pitchFamily="34" charset="-122"/>
                <a:cs typeface="Calibri" pitchFamily="34" charset="-120"/>
              </a:rPr>
              <a:t>INTERNET EGRESS · GENERATION 1</a:t>
            </a:r>
            <a:endParaRPr lang="en-US" sz="1100" dirty="0"/>
          </a:p>
        </p:txBody>
      </p:sp>
      <p:sp>
        <p:nvSpPr>
          <p:cNvPr id="3" name="Text 1"/>
          <p:cNvSpPr/>
          <p:nvPr/>
        </p:nvSpPr>
        <p:spPr>
          <a:xfrm>
            <a:off x="640080" y="658368"/>
            <a:ext cx="10911535" cy="566928"/>
          </a:xfrm>
          <a:prstGeom prst="rect">
            <a:avLst/>
          </a:prstGeom>
          <a:noFill/>
          <a:ln/>
        </p:spPr>
        <p:txBody>
          <a:bodyPr wrap="square" lIns="0" tIns="0" rIns="0" bIns="0" rtlCol="0" anchor="ctr"/>
          <a:lstStyle/>
          <a:p>
            <a:pPr indent="0" marL="0">
              <a:buNone/>
            </a:pPr>
            <a:r>
              <a:rPr lang="en-US" sz="3400" b="1" dirty="0">
                <a:solidFill>
                  <a:srgbClr val="3E3E4B"/>
                </a:solidFill>
                <a:latin typeface="Calibri" pitchFamily="34" charset="0"/>
                <a:ea typeface="Calibri" pitchFamily="34" charset="-122"/>
                <a:cs typeface="Calibri" pitchFamily="34" charset="-120"/>
              </a:rPr>
              <a:t>Managed SNAT and its ceiling</a:t>
            </a:r>
            <a:endParaRPr lang="en-US" sz="3400" dirty="0"/>
          </a:p>
        </p:txBody>
      </p:sp>
      <p:sp>
        <p:nvSpPr>
          <p:cNvPr id="4" name="Shape 2"/>
          <p:cNvSpPr/>
          <p:nvPr/>
        </p:nvSpPr>
        <p:spPr>
          <a:xfrm>
            <a:off x="640080" y="1600200"/>
            <a:ext cx="4114800" cy="2377440"/>
          </a:xfrm>
          <a:prstGeom prst="roundRect">
            <a:avLst>
              <a:gd name="adj" fmla="val 2692"/>
            </a:avLst>
          </a:prstGeom>
          <a:solidFill>
            <a:srgbClr val="3E3E4B"/>
          </a:solidFill>
          <a:ln w="9525">
            <a:solidFill>
              <a:srgbClr val="3E3E4B"/>
            </a:solidFill>
            <a:prstDash val="solid"/>
          </a:ln>
        </p:spPr>
      </p:sp>
      <p:sp>
        <p:nvSpPr>
          <p:cNvPr id="5" name="Text 3"/>
          <p:cNvSpPr/>
          <p:nvPr/>
        </p:nvSpPr>
        <p:spPr>
          <a:xfrm>
            <a:off x="1005840" y="1828800"/>
            <a:ext cx="3383280" cy="822960"/>
          </a:xfrm>
          <a:prstGeom prst="rect">
            <a:avLst/>
          </a:prstGeom>
          <a:noFill/>
          <a:ln/>
        </p:spPr>
        <p:txBody>
          <a:bodyPr wrap="square" lIns="0" tIns="0" rIns="0" bIns="0" rtlCol="0" anchor="ctr"/>
          <a:lstStyle/>
          <a:p>
            <a:pPr indent="0" marL="0">
              <a:buNone/>
            </a:pPr>
            <a:r>
              <a:rPr lang="en-US" sz="4800" b="1" dirty="0">
                <a:solidFill>
                  <a:srgbClr val="00B3E2"/>
                </a:solidFill>
                <a:latin typeface="Calibri" pitchFamily="34" charset="0"/>
                <a:ea typeface="Calibri" pitchFamily="34" charset="-122"/>
                <a:cs typeface="Calibri" pitchFamily="34" charset="-120"/>
              </a:rPr>
              <a:t>128,000</a:t>
            </a:r>
            <a:endParaRPr lang="en-US" sz="4800" dirty="0"/>
          </a:p>
        </p:txBody>
      </p:sp>
      <p:sp>
        <p:nvSpPr>
          <p:cNvPr id="6" name="Text 4"/>
          <p:cNvSpPr/>
          <p:nvPr/>
        </p:nvSpPr>
        <p:spPr>
          <a:xfrm>
            <a:off x="1005840" y="2651760"/>
            <a:ext cx="3383280" cy="3200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concurrent connections</a:t>
            </a:r>
            <a:endParaRPr lang="en-US" sz="1600" dirty="0"/>
          </a:p>
        </p:txBody>
      </p:sp>
      <p:sp>
        <p:nvSpPr>
          <p:cNvPr id="7" name="Text 5"/>
          <p:cNvSpPr/>
          <p:nvPr/>
        </p:nvSpPr>
        <p:spPr>
          <a:xfrm>
            <a:off x="1005840" y="3063240"/>
            <a:ext cx="3383280" cy="777240"/>
          </a:xfrm>
          <a:prstGeom prst="rect">
            <a:avLst/>
          </a:prstGeom>
          <a:noFill/>
          <a:ln/>
        </p:spPr>
        <p:txBody>
          <a:bodyPr wrap="square" lIns="0" tIns="0" rIns="0" bIns="0" rtlCol="0" anchor="ctr"/>
          <a:lstStyle/>
          <a:p>
            <a:pPr indent="0" marL="0">
              <a:buNone/>
            </a:pPr>
            <a:r>
              <a:rPr lang="en-US" sz="1250" dirty="0">
                <a:solidFill>
                  <a:srgbClr val="C9CCD6"/>
                </a:solidFill>
                <a:latin typeface="Calibri" pitchFamily="34" charset="0"/>
                <a:ea typeface="Calibri" pitchFamily="34" charset="-122"/>
                <a:cs typeface="Calibri" pitchFamily="34" charset="-120"/>
              </a:rPr>
              <a:t>Once the translation table is exhausted, new connections are dropped even though the underlying network remains perfectly available.</a:t>
            </a:r>
            <a:endParaRPr lang="en-US" sz="1250" dirty="0"/>
          </a:p>
        </p:txBody>
      </p:sp>
      <p:sp>
        <p:nvSpPr>
          <p:cNvPr id="8" name="Text 6"/>
          <p:cNvSpPr/>
          <p:nvPr/>
        </p:nvSpPr>
        <p:spPr>
          <a:xfrm>
            <a:off x="640080" y="4160520"/>
            <a:ext cx="4114800" cy="292608"/>
          </a:xfrm>
          <a:prstGeom prst="rect">
            <a:avLst/>
          </a:prstGeom>
          <a:noFill/>
          <a:ln/>
        </p:spPr>
        <p:txBody>
          <a:bodyPr wrap="square" lIns="0" tIns="0" rIns="0" bIns="0" rtlCol="0" anchor="ctr"/>
          <a:lstStyle/>
          <a:p>
            <a:pPr indent="0" marL="0">
              <a:buNone/>
            </a:pPr>
            <a:r>
              <a:rPr lang="en-US" sz="1600" b="1" dirty="0">
                <a:solidFill>
                  <a:srgbClr val="3E3E4B"/>
                </a:solidFill>
                <a:latin typeface="Calibri" pitchFamily="34" charset="0"/>
                <a:ea typeface="Calibri" pitchFamily="34" charset="-122"/>
                <a:cs typeface="Calibri" pitchFamily="34" charset="-120"/>
              </a:rPr>
              <a:t>Where the ceiling bites</a:t>
            </a:r>
            <a:endParaRPr lang="en-US" sz="1600" dirty="0"/>
          </a:p>
        </p:txBody>
      </p:sp>
      <p:sp>
        <p:nvSpPr>
          <p:cNvPr id="9" name="Text 7"/>
          <p:cNvSpPr/>
          <p:nvPr/>
        </p:nvSpPr>
        <p:spPr>
          <a:xfrm>
            <a:off x="640080" y="4526280"/>
            <a:ext cx="4114800" cy="1280160"/>
          </a:xfrm>
          <a:prstGeom prst="rect">
            <a:avLst/>
          </a:prstGeom>
          <a:noFill/>
          <a:ln/>
        </p:spPr>
        <p:txBody>
          <a:bodyPr wrap="square" lIns="0" tIns="0" rIns="0" bIns="0" rtlCol="0" anchor="ctr"/>
          <a:lstStyle/>
          <a:p>
            <a:pPr marL="177800" indent="-177800">
              <a:spcAft>
                <a:spcPts val="500"/>
              </a:spcAft>
              <a:buSzPct val="100000"/>
              <a:buChar char="•"/>
            </a:pPr>
            <a:r>
              <a:rPr lang="en-US" sz="1300" dirty="0">
                <a:solidFill>
                  <a:srgbClr val="55555F"/>
                </a:solidFill>
                <a:latin typeface="Calibri" pitchFamily="34" charset="0"/>
                <a:ea typeface="Calibri" pitchFamily="34" charset="-122"/>
                <a:cs typeface="Calibri" pitchFamily="34" charset="-120"/>
              </a:rPr>
              <a:t>Large VM estates</a:t>
            </a:r>
            <a:endParaRPr lang="en-US" sz="1300" dirty="0"/>
          </a:p>
          <a:p>
            <a:pPr marL="177800" indent="-177800">
              <a:spcAft>
                <a:spcPts val="500"/>
              </a:spcAft>
              <a:buSzPct val="100000"/>
              <a:buChar char="•"/>
            </a:pPr>
            <a:r>
              <a:rPr lang="en-US" sz="1300" dirty="0">
                <a:solidFill>
                  <a:srgbClr val="55555F"/>
                </a:solidFill>
                <a:latin typeface="Calibri" pitchFamily="34" charset="0"/>
                <a:ea typeface="Calibri" pitchFamily="34" charset="-122"/>
                <a:cs typeface="Calibri" pitchFamily="34" charset="-120"/>
              </a:rPr>
              <a:t>Simultaneous operating-system updates</a:t>
            </a:r>
            <a:endParaRPr lang="en-US" sz="1300" dirty="0"/>
          </a:p>
          <a:p>
            <a:pPr marL="177800" indent="-177800">
              <a:spcAft>
                <a:spcPts val="500"/>
              </a:spcAft>
              <a:buSzPct val="100000"/>
              <a:buChar char="•"/>
            </a:pPr>
            <a:r>
              <a:rPr lang="en-US" sz="1300" dirty="0">
                <a:solidFill>
                  <a:srgbClr val="55555F"/>
                </a:solidFill>
                <a:latin typeface="Calibri" pitchFamily="34" charset="0"/>
                <a:ea typeface="Calibri" pitchFamily="34" charset="-122"/>
                <a:cs typeface="Calibri" pitchFamily="34" charset="-120"/>
              </a:rPr>
              <a:t>Microservices</a:t>
            </a:r>
            <a:endParaRPr lang="en-US" sz="1300" dirty="0"/>
          </a:p>
          <a:p>
            <a:pPr marL="177800" indent="-177800">
              <a:spcAft>
                <a:spcPts val="500"/>
              </a:spcAft>
              <a:buSzPct val="100000"/>
              <a:buChar char="•"/>
            </a:pPr>
            <a:r>
              <a:rPr lang="en-US" sz="1300" dirty="0">
                <a:solidFill>
                  <a:srgbClr val="55555F"/>
                </a:solidFill>
                <a:latin typeface="Calibri" pitchFamily="34" charset="0"/>
                <a:ea typeface="Calibri" pitchFamily="34" charset="-122"/>
                <a:cs typeface="Calibri" pitchFamily="34" charset="-120"/>
              </a:rPr>
              <a:t>Applications that rapidly create ephemeral TCP sessions</a:t>
            </a:r>
            <a:endParaRPr lang="en-US" sz="1300" dirty="0"/>
          </a:p>
        </p:txBody>
      </p:sp>
      <p:sp>
        <p:nvSpPr>
          <p:cNvPr id="10" name="Text 8"/>
          <p:cNvSpPr/>
          <p:nvPr/>
        </p:nvSpPr>
        <p:spPr>
          <a:xfrm>
            <a:off x="5074920" y="1645920"/>
            <a:ext cx="6492240" cy="320040"/>
          </a:xfrm>
          <a:prstGeom prst="rect">
            <a:avLst/>
          </a:prstGeom>
          <a:noFill/>
          <a:ln/>
        </p:spPr>
        <p:txBody>
          <a:bodyPr wrap="square" lIns="0" tIns="0" rIns="0" bIns="0" rtlCol="0" anchor="ctr"/>
          <a:lstStyle/>
          <a:p>
            <a:pPr indent="0" marL="0">
              <a:buNone/>
            </a:pPr>
            <a:r>
              <a:rPr lang="en-US" sz="1800" b="1" dirty="0">
                <a:solidFill>
                  <a:srgbClr val="3E3E4B"/>
                </a:solidFill>
                <a:latin typeface="Calibri" pitchFamily="34" charset="0"/>
                <a:ea typeface="Calibri" pitchFamily="34" charset="-122"/>
                <a:cs typeface="Calibri" pitchFamily="34" charset="-120"/>
              </a:rPr>
              <a:t>What customers cannot do</a:t>
            </a:r>
            <a:endParaRPr lang="en-US" sz="1800" dirty="0"/>
          </a:p>
        </p:txBody>
      </p:sp>
      <p:sp>
        <p:nvSpPr>
          <p:cNvPr id="11" name="Shape 9"/>
          <p:cNvSpPr/>
          <p:nvPr/>
        </p:nvSpPr>
        <p:spPr>
          <a:xfrm>
            <a:off x="5074920" y="2057400"/>
            <a:ext cx="6473952" cy="640080"/>
          </a:xfrm>
          <a:prstGeom prst="roundRect">
            <a:avLst>
              <a:gd name="adj" fmla="val 10000"/>
            </a:avLst>
          </a:prstGeom>
          <a:solidFill>
            <a:srgbClr val="F4F7F8"/>
          </a:solidFill>
          <a:ln w="9525">
            <a:solidFill>
              <a:srgbClr val="DDE2E2"/>
            </a:solidFill>
            <a:prstDash val="solid"/>
          </a:ln>
        </p:spPr>
      </p:sp>
      <p:sp>
        <p:nvSpPr>
          <p:cNvPr id="12" name="Shape 10"/>
          <p:cNvSpPr/>
          <p:nvPr/>
        </p:nvSpPr>
        <p:spPr>
          <a:xfrm>
            <a:off x="5285232" y="2240280"/>
            <a:ext cx="274320" cy="274320"/>
          </a:xfrm>
          <a:prstGeom prst="ellipse">
            <a:avLst/>
          </a:prstGeom>
          <a:solidFill>
            <a:srgbClr val="F15D23"/>
          </a:solidFill>
          <a:ln w="12700">
            <a:solidFill>
              <a:srgbClr val="F15D23"/>
            </a:solidFill>
            <a:prstDash val="solid"/>
          </a:ln>
        </p:spPr>
      </p:sp>
      <p:sp>
        <p:nvSpPr>
          <p:cNvPr id="13" name="Text 11"/>
          <p:cNvSpPr/>
          <p:nvPr/>
        </p:nvSpPr>
        <p:spPr>
          <a:xfrm>
            <a:off x="5669280" y="2057400"/>
            <a:ext cx="3108960" cy="640080"/>
          </a:xfrm>
          <a:prstGeom prst="rect">
            <a:avLst/>
          </a:prstGeom>
          <a:noFill/>
          <a:ln/>
        </p:spPr>
        <p:txBody>
          <a:bodyPr wrap="square" lIns="0" tIns="0" rIns="0" bIns="0" rtlCol="0" anchor="ctr"/>
          <a:lstStyle/>
          <a:p>
            <a:pPr indent="0" marL="0">
              <a:buNone/>
            </a:pPr>
            <a:r>
              <a:rPr lang="en-US" sz="1350" b="1" dirty="0">
                <a:solidFill>
                  <a:srgbClr val="3E3E4B"/>
                </a:solidFill>
                <a:latin typeface="Calibri" pitchFamily="34" charset="0"/>
                <a:ea typeface="Calibri" pitchFamily="34" charset="-122"/>
                <a:cs typeface="Calibri" pitchFamily="34" charset="-120"/>
              </a:rPr>
              <a:t>Run internet ping tests</a:t>
            </a:r>
            <a:endParaRPr lang="en-US" sz="1350" dirty="0"/>
          </a:p>
        </p:txBody>
      </p:sp>
      <p:sp>
        <p:nvSpPr>
          <p:cNvPr id="14" name="Text 12"/>
          <p:cNvSpPr/>
          <p:nvPr/>
        </p:nvSpPr>
        <p:spPr>
          <a:xfrm>
            <a:off x="8823960" y="2057400"/>
            <a:ext cx="2560320" cy="640080"/>
          </a:xfrm>
          <a:prstGeom prst="rect">
            <a:avLst/>
          </a:prstGeom>
          <a:noFill/>
          <a:ln/>
        </p:spPr>
        <p:txBody>
          <a:bodyPr wrap="square" lIns="0" tIns="0" rIns="0" bIns="0" rtlCol="0" anchor="ctr"/>
          <a:lstStyle/>
          <a:p>
            <a:pPr indent="0" marL="0">
              <a:buNone/>
            </a:pPr>
            <a:r>
              <a:rPr lang="en-US" sz="1200" dirty="0">
                <a:solidFill>
                  <a:srgbClr val="55555F"/>
                </a:solidFill>
                <a:latin typeface="Calibri" pitchFamily="34" charset="0"/>
                <a:ea typeface="Calibri" pitchFamily="34" charset="-122"/>
                <a:cs typeface="Calibri" pitchFamily="34" charset="-120"/>
              </a:rPr>
              <a:t>ICMP is disabled.</a:t>
            </a:r>
            <a:endParaRPr lang="en-US" sz="1200" dirty="0"/>
          </a:p>
        </p:txBody>
      </p:sp>
      <p:sp>
        <p:nvSpPr>
          <p:cNvPr id="15" name="Shape 13"/>
          <p:cNvSpPr/>
          <p:nvPr/>
        </p:nvSpPr>
        <p:spPr>
          <a:xfrm>
            <a:off x="5074920" y="2816352"/>
            <a:ext cx="6473952" cy="640080"/>
          </a:xfrm>
          <a:prstGeom prst="roundRect">
            <a:avLst>
              <a:gd name="adj" fmla="val 10000"/>
            </a:avLst>
          </a:prstGeom>
          <a:solidFill>
            <a:srgbClr val="F4F7F8"/>
          </a:solidFill>
          <a:ln w="9525">
            <a:solidFill>
              <a:srgbClr val="DDE2E2"/>
            </a:solidFill>
            <a:prstDash val="solid"/>
          </a:ln>
        </p:spPr>
      </p:sp>
      <p:sp>
        <p:nvSpPr>
          <p:cNvPr id="16" name="Shape 14"/>
          <p:cNvSpPr/>
          <p:nvPr/>
        </p:nvSpPr>
        <p:spPr>
          <a:xfrm>
            <a:off x="5285232" y="2999232"/>
            <a:ext cx="274320" cy="274320"/>
          </a:xfrm>
          <a:prstGeom prst="ellipse">
            <a:avLst/>
          </a:prstGeom>
          <a:solidFill>
            <a:srgbClr val="F15D23"/>
          </a:solidFill>
          <a:ln w="12700">
            <a:solidFill>
              <a:srgbClr val="F15D23"/>
            </a:solidFill>
            <a:prstDash val="solid"/>
          </a:ln>
        </p:spPr>
      </p:sp>
      <p:sp>
        <p:nvSpPr>
          <p:cNvPr id="17" name="Text 15"/>
          <p:cNvSpPr/>
          <p:nvPr/>
        </p:nvSpPr>
        <p:spPr>
          <a:xfrm>
            <a:off x="5669280" y="2816352"/>
            <a:ext cx="3108960" cy="640080"/>
          </a:xfrm>
          <a:prstGeom prst="rect">
            <a:avLst/>
          </a:prstGeom>
          <a:noFill/>
          <a:ln/>
        </p:spPr>
        <p:txBody>
          <a:bodyPr wrap="square" lIns="0" tIns="0" rIns="0" bIns="0" rtlCol="0" anchor="ctr"/>
          <a:lstStyle/>
          <a:p>
            <a:pPr indent="0" marL="0">
              <a:buNone/>
            </a:pPr>
            <a:r>
              <a:rPr lang="en-US" sz="1350" b="1" dirty="0">
                <a:solidFill>
                  <a:srgbClr val="3E3E4B"/>
                </a:solidFill>
                <a:latin typeface="Calibri" pitchFamily="34" charset="0"/>
                <a:ea typeface="Calibri" pitchFamily="34" charset="-122"/>
                <a:cs typeface="Calibri" pitchFamily="34" charset="-120"/>
              </a:rPr>
              <a:t>Define custom outbound SNAT rules</a:t>
            </a:r>
            <a:endParaRPr lang="en-US" sz="1350" dirty="0"/>
          </a:p>
        </p:txBody>
      </p:sp>
      <p:sp>
        <p:nvSpPr>
          <p:cNvPr id="18" name="Text 16"/>
          <p:cNvSpPr/>
          <p:nvPr/>
        </p:nvSpPr>
        <p:spPr>
          <a:xfrm>
            <a:off x="8823960" y="2816352"/>
            <a:ext cx="2560320" cy="640080"/>
          </a:xfrm>
          <a:prstGeom prst="rect">
            <a:avLst/>
          </a:prstGeom>
          <a:noFill/>
          <a:ln/>
        </p:spPr>
        <p:txBody>
          <a:bodyPr wrap="square" lIns="0" tIns="0" rIns="0" bIns="0" rtlCol="0" anchor="ctr"/>
          <a:lstStyle/>
          <a:p>
            <a:pPr indent="0" marL="0">
              <a:buNone/>
            </a:pPr>
            <a:r>
              <a:rPr lang="en-US" sz="1200" dirty="0">
                <a:solidFill>
                  <a:srgbClr val="55555F"/>
                </a:solidFill>
                <a:latin typeface="Calibri" pitchFamily="34" charset="0"/>
                <a:ea typeface="Calibri" pitchFamily="34" charset="-122"/>
                <a:cs typeface="Calibri" pitchFamily="34" charset="-120"/>
              </a:rPr>
              <a:t>The translation policy is fixed.</a:t>
            </a:r>
            <a:endParaRPr lang="en-US" sz="1200" dirty="0"/>
          </a:p>
        </p:txBody>
      </p:sp>
      <p:sp>
        <p:nvSpPr>
          <p:cNvPr id="19" name="Shape 17"/>
          <p:cNvSpPr/>
          <p:nvPr/>
        </p:nvSpPr>
        <p:spPr>
          <a:xfrm>
            <a:off x="5074920" y="3575304"/>
            <a:ext cx="6473952" cy="640080"/>
          </a:xfrm>
          <a:prstGeom prst="roundRect">
            <a:avLst>
              <a:gd name="adj" fmla="val 10000"/>
            </a:avLst>
          </a:prstGeom>
          <a:solidFill>
            <a:srgbClr val="F4F7F8"/>
          </a:solidFill>
          <a:ln w="9525">
            <a:solidFill>
              <a:srgbClr val="DDE2E2"/>
            </a:solidFill>
            <a:prstDash val="solid"/>
          </a:ln>
        </p:spPr>
      </p:sp>
      <p:sp>
        <p:nvSpPr>
          <p:cNvPr id="20" name="Shape 18"/>
          <p:cNvSpPr/>
          <p:nvPr/>
        </p:nvSpPr>
        <p:spPr>
          <a:xfrm>
            <a:off x="5285232" y="3758184"/>
            <a:ext cx="274320" cy="274320"/>
          </a:xfrm>
          <a:prstGeom prst="ellipse">
            <a:avLst/>
          </a:prstGeom>
          <a:solidFill>
            <a:srgbClr val="F15D23"/>
          </a:solidFill>
          <a:ln w="12700">
            <a:solidFill>
              <a:srgbClr val="F15D23"/>
            </a:solidFill>
            <a:prstDash val="solid"/>
          </a:ln>
        </p:spPr>
      </p:sp>
      <p:sp>
        <p:nvSpPr>
          <p:cNvPr id="21" name="Text 19"/>
          <p:cNvSpPr/>
          <p:nvPr/>
        </p:nvSpPr>
        <p:spPr>
          <a:xfrm>
            <a:off x="5669280" y="3575304"/>
            <a:ext cx="3108960" cy="640080"/>
          </a:xfrm>
          <a:prstGeom prst="rect">
            <a:avLst/>
          </a:prstGeom>
          <a:noFill/>
          <a:ln/>
        </p:spPr>
        <p:txBody>
          <a:bodyPr wrap="square" lIns="0" tIns="0" rIns="0" bIns="0" rtlCol="0" anchor="ctr"/>
          <a:lstStyle/>
          <a:p>
            <a:pPr indent="0" marL="0">
              <a:buNone/>
            </a:pPr>
            <a:r>
              <a:rPr lang="en-US" sz="1350" b="1" dirty="0">
                <a:solidFill>
                  <a:srgbClr val="3E3E4B"/>
                </a:solidFill>
                <a:latin typeface="Calibri" pitchFamily="34" charset="0"/>
                <a:ea typeface="Calibri" pitchFamily="34" charset="-122"/>
                <a:cs typeface="Calibri" pitchFamily="34" charset="-120"/>
              </a:rPr>
              <a:t>Select or control the public IP</a:t>
            </a:r>
            <a:endParaRPr lang="en-US" sz="1350" dirty="0"/>
          </a:p>
        </p:txBody>
      </p:sp>
      <p:sp>
        <p:nvSpPr>
          <p:cNvPr id="22" name="Text 20"/>
          <p:cNvSpPr/>
          <p:nvPr/>
        </p:nvSpPr>
        <p:spPr>
          <a:xfrm>
            <a:off x="8823960" y="3575304"/>
            <a:ext cx="2560320" cy="640080"/>
          </a:xfrm>
          <a:prstGeom prst="rect">
            <a:avLst/>
          </a:prstGeom>
          <a:noFill/>
          <a:ln/>
        </p:spPr>
        <p:txBody>
          <a:bodyPr wrap="square" lIns="0" tIns="0" rIns="0" bIns="0" rtlCol="0" anchor="ctr"/>
          <a:lstStyle/>
          <a:p>
            <a:pPr indent="0" marL="0">
              <a:buNone/>
            </a:pPr>
            <a:r>
              <a:rPr lang="en-US" sz="1200" dirty="0">
                <a:solidFill>
                  <a:srgbClr val="55555F"/>
                </a:solidFill>
                <a:latin typeface="Calibri" pitchFamily="34" charset="0"/>
                <a:ea typeface="Calibri" pitchFamily="34" charset="-122"/>
                <a:cs typeface="Calibri" pitchFamily="34" charset="-120"/>
              </a:rPr>
              <a:t>The egress address belongs to the platform.</a:t>
            </a:r>
            <a:endParaRPr lang="en-US" sz="1200" dirty="0"/>
          </a:p>
        </p:txBody>
      </p:sp>
      <p:sp>
        <p:nvSpPr>
          <p:cNvPr id="23" name="Shape 21"/>
          <p:cNvSpPr/>
          <p:nvPr/>
        </p:nvSpPr>
        <p:spPr>
          <a:xfrm>
            <a:off x="5074920" y="4334256"/>
            <a:ext cx="6473952" cy="640080"/>
          </a:xfrm>
          <a:prstGeom prst="roundRect">
            <a:avLst>
              <a:gd name="adj" fmla="val 10000"/>
            </a:avLst>
          </a:prstGeom>
          <a:solidFill>
            <a:srgbClr val="F4F7F8"/>
          </a:solidFill>
          <a:ln w="9525">
            <a:solidFill>
              <a:srgbClr val="DDE2E2"/>
            </a:solidFill>
            <a:prstDash val="solid"/>
          </a:ln>
        </p:spPr>
      </p:sp>
      <p:sp>
        <p:nvSpPr>
          <p:cNvPr id="24" name="Shape 22"/>
          <p:cNvSpPr/>
          <p:nvPr/>
        </p:nvSpPr>
        <p:spPr>
          <a:xfrm>
            <a:off x="5285232" y="4517136"/>
            <a:ext cx="274320" cy="274320"/>
          </a:xfrm>
          <a:prstGeom prst="ellipse">
            <a:avLst/>
          </a:prstGeom>
          <a:solidFill>
            <a:srgbClr val="F15D23"/>
          </a:solidFill>
          <a:ln w="12700">
            <a:solidFill>
              <a:srgbClr val="F15D23"/>
            </a:solidFill>
            <a:prstDash val="solid"/>
          </a:ln>
        </p:spPr>
      </p:sp>
      <p:sp>
        <p:nvSpPr>
          <p:cNvPr id="25" name="Text 23"/>
          <p:cNvSpPr/>
          <p:nvPr/>
        </p:nvSpPr>
        <p:spPr>
          <a:xfrm>
            <a:off x="5669280" y="4334256"/>
            <a:ext cx="3108960" cy="640080"/>
          </a:xfrm>
          <a:prstGeom prst="rect">
            <a:avLst/>
          </a:prstGeom>
          <a:noFill/>
          <a:ln/>
        </p:spPr>
        <p:txBody>
          <a:bodyPr wrap="square" lIns="0" tIns="0" rIns="0" bIns="0" rtlCol="0" anchor="ctr"/>
          <a:lstStyle/>
          <a:p>
            <a:pPr indent="0" marL="0">
              <a:buNone/>
            </a:pPr>
            <a:r>
              <a:rPr lang="en-US" sz="1350" b="1" dirty="0">
                <a:solidFill>
                  <a:srgbClr val="3E3E4B"/>
                </a:solidFill>
                <a:latin typeface="Calibri" pitchFamily="34" charset="0"/>
                <a:ea typeface="Calibri" pitchFamily="34" charset="-122"/>
                <a:cs typeface="Calibri" pitchFamily="34" charset="-120"/>
              </a:rPr>
              <a:t>Accept inbound connections</a:t>
            </a:r>
            <a:endParaRPr lang="en-US" sz="1350" dirty="0"/>
          </a:p>
        </p:txBody>
      </p:sp>
      <p:sp>
        <p:nvSpPr>
          <p:cNvPr id="26" name="Text 24"/>
          <p:cNvSpPr/>
          <p:nvPr/>
        </p:nvSpPr>
        <p:spPr>
          <a:xfrm>
            <a:off x="8823960" y="4334256"/>
            <a:ext cx="2560320" cy="640080"/>
          </a:xfrm>
          <a:prstGeom prst="rect">
            <a:avLst/>
          </a:prstGeom>
          <a:noFill/>
          <a:ln/>
        </p:spPr>
        <p:txBody>
          <a:bodyPr wrap="square" lIns="0" tIns="0" rIns="0" bIns="0" rtlCol="0" anchor="ctr"/>
          <a:lstStyle/>
          <a:p>
            <a:pPr indent="0" marL="0">
              <a:buNone/>
            </a:pPr>
            <a:r>
              <a:rPr lang="en-US" sz="1200" dirty="0">
                <a:solidFill>
                  <a:srgbClr val="55555F"/>
                </a:solidFill>
                <a:latin typeface="Calibri" pitchFamily="34" charset="0"/>
                <a:ea typeface="Calibri" pitchFamily="34" charset="-122"/>
                <a:cs typeface="Calibri" pitchFamily="34" charset="-120"/>
              </a:rPr>
              <a:t>Internet-initiated sessions are not supported.</a:t>
            </a:r>
            <a:endParaRPr lang="en-US" sz="1200" dirty="0"/>
          </a:p>
        </p:txBody>
      </p:sp>
      <p:sp>
        <p:nvSpPr>
          <p:cNvPr id="27" name="Shape 25"/>
          <p:cNvSpPr/>
          <p:nvPr/>
        </p:nvSpPr>
        <p:spPr>
          <a:xfrm>
            <a:off x="5074920" y="5093208"/>
            <a:ext cx="6473952" cy="640080"/>
          </a:xfrm>
          <a:prstGeom prst="roundRect">
            <a:avLst>
              <a:gd name="adj" fmla="val 10000"/>
            </a:avLst>
          </a:prstGeom>
          <a:solidFill>
            <a:srgbClr val="F4F7F8"/>
          </a:solidFill>
          <a:ln w="9525">
            <a:solidFill>
              <a:srgbClr val="DDE2E2"/>
            </a:solidFill>
            <a:prstDash val="solid"/>
          </a:ln>
        </p:spPr>
      </p:sp>
      <p:sp>
        <p:nvSpPr>
          <p:cNvPr id="28" name="Shape 26"/>
          <p:cNvSpPr/>
          <p:nvPr/>
        </p:nvSpPr>
        <p:spPr>
          <a:xfrm>
            <a:off x="5285232" y="5276088"/>
            <a:ext cx="274320" cy="274320"/>
          </a:xfrm>
          <a:prstGeom prst="ellipse">
            <a:avLst/>
          </a:prstGeom>
          <a:solidFill>
            <a:srgbClr val="F15D23"/>
          </a:solidFill>
          <a:ln w="12700">
            <a:solidFill>
              <a:srgbClr val="F15D23"/>
            </a:solidFill>
            <a:prstDash val="solid"/>
          </a:ln>
        </p:spPr>
      </p:sp>
      <p:sp>
        <p:nvSpPr>
          <p:cNvPr id="29" name="Text 27"/>
          <p:cNvSpPr/>
          <p:nvPr/>
        </p:nvSpPr>
        <p:spPr>
          <a:xfrm>
            <a:off x="5669280" y="5093208"/>
            <a:ext cx="3108960" cy="640080"/>
          </a:xfrm>
          <a:prstGeom prst="rect">
            <a:avLst/>
          </a:prstGeom>
          <a:noFill/>
          <a:ln/>
        </p:spPr>
        <p:txBody>
          <a:bodyPr wrap="square" lIns="0" tIns="0" rIns="0" bIns="0" rtlCol="0" anchor="ctr"/>
          <a:lstStyle/>
          <a:p>
            <a:pPr indent="0" marL="0">
              <a:buNone/>
            </a:pPr>
            <a:r>
              <a:rPr lang="en-US" sz="1350" b="1" dirty="0">
                <a:solidFill>
                  <a:srgbClr val="3E3E4B"/>
                </a:solidFill>
                <a:latin typeface="Calibri" pitchFamily="34" charset="0"/>
                <a:ea typeface="Calibri" pitchFamily="34" charset="-122"/>
                <a:cs typeface="Calibri" pitchFamily="34" charset="-120"/>
              </a:rPr>
              <a:t>View detailed connection logs</a:t>
            </a:r>
            <a:endParaRPr lang="en-US" sz="1350" dirty="0"/>
          </a:p>
        </p:txBody>
      </p:sp>
      <p:sp>
        <p:nvSpPr>
          <p:cNvPr id="30" name="Text 28"/>
          <p:cNvSpPr/>
          <p:nvPr/>
        </p:nvSpPr>
        <p:spPr>
          <a:xfrm>
            <a:off x="8823960" y="5093208"/>
            <a:ext cx="2560320" cy="640080"/>
          </a:xfrm>
          <a:prstGeom prst="rect">
            <a:avLst/>
          </a:prstGeom>
          <a:noFill/>
          <a:ln/>
        </p:spPr>
        <p:txBody>
          <a:bodyPr wrap="square" lIns="0" tIns="0" rIns="0" bIns="0" rtlCol="0" anchor="ctr"/>
          <a:lstStyle/>
          <a:p>
            <a:pPr indent="0" marL="0">
              <a:buNone/>
            </a:pPr>
            <a:r>
              <a:rPr lang="en-US" sz="1200" dirty="0">
                <a:solidFill>
                  <a:srgbClr val="55555F"/>
                </a:solidFill>
                <a:latin typeface="Calibri" pitchFamily="34" charset="0"/>
                <a:ea typeface="Calibri" pitchFamily="34" charset="-122"/>
                <a:cs typeface="Calibri" pitchFamily="34" charset="-120"/>
              </a:rPr>
              <a:t>Outbound activity is not exposed.</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37744"/>
          </a:xfrm>
          <a:prstGeom prst="rect">
            <a:avLst/>
          </a:prstGeom>
          <a:noFill/>
          <a:ln/>
        </p:spPr>
        <p:txBody>
          <a:bodyPr wrap="square" lIns="0" tIns="0" rIns="0" bIns="0" rtlCol="0" anchor="ctr"/>
          <a:lstStyle/>
          <a:p>
            <a:pPr indent="0" marL="0">
              <a:buNone/>
            </a:pPr>
            <a:r>
              <a:rPr lang="en-US" sz="1100" b="1" spc="200" kern="0" dirty="0">
                <a:solidFill>
                  <a:srgbClr val="00B3E2"/>
                </a:solidFill>
                <a:latin typeface="Calibri" pitchFamily="34" charset="0"/>
                <a:ea typeface="Calibri" pitchFamily="34" charset="-122"/>
                <a:cs typeface="Calibri" pitchFamily="34" charset="-120"/>
              </a:rPr>
              <a:t>INTERNET EGRESS · GENERATION 1</a:t>
            </a:r>
            <a:endParaRPr lang="en-US" sz="1100" dirty="0"/>
          </a:p>
        </p:txBody>
      </p:sp>
      <p:sp>
        <p:nvSpPr>
          <p:cNvPr id="3" name="Text 1"/>
          <p:cNvSpPr/>
          <p:nvPr/>
        </p:nvSpPr>
        <p:spPr>
          <a:xfrm>
            <a:off x="640080" y="658368"/>
            <a:ext cx="10911535" cy="566928"/>
          </a:xfrm>
          <a:prstGeom prst="rect">
            <a:avLst/>
          </a:prstGeom>
          <a:noFill/>
          <a:ln/>
        </p:spPr>
        <p:txBody>
          <a:bodyPr wrap="square" lIns="0" tIns="0" rIns="0" bIns="0" rtlCol="0" anchor="ctr"/>
          <a:lstStyle/>
          <a:p>
            <a:pPr indent="0" marL="0">
              <a:buNone/>
            </a:pPr>
            <a:r>
              <a:rPr lang="en-US" sz="3400" b="1" dirty="0">
                <a:solidFill>
                  <a:srgbClr val="3E3E4B"/>
                </a:solidFill>
                <a:latin typeface="Calibri" pitchFamily="34" charset="0"/>
                <a:ea typeface="Calibri" pitchFamily="34" charset="-122"/>
                <a:cs typeface="Calibri" pitchFamily="34" charset="-120"/>
              </a:rPr>
              <a:t>A deliberately restrictive shared edge</a:t>
            </a:r>
            <a:endParaRPr lang="en-US" sz="3400" dirty="0"/>
          </a:p>
        </p:txBody>
      </p:sp>
      <p:sp>
        <p:nvSpPr>
          <p:cNvPr id="4" name="Shape 2"/>
          <p:cNvSpPr/>
          <p:nvPr/>
        </p:nvSpPr>
        <p:spPr>
          <a:xfrm>
            <a:off x="640080" y="1691640"/>
            <a:ext cx="5257800" cy="3977640"/>
          </a:xfrm>
          <a:prstGeom prst="roundRect">
            <a:avLst>
              <a:gd name="adj" fmla="val 1609"/>
            </a:avLst>
          </a:prstGeom>
          <a:solidFill>
            <a:srgbClr val="F4F7F8"/>
          </a:solidFill>
          <a:ln w="9525">
            <a:solidFill>
              <a:srgbClr val="DDE2E2"/>
            </a:solidFill>
            <a:prstDash val="solid"/>
          </a:ln>
        </p:spPr>
      </p:sp>
      <p:sp>
        <p:nvSpPr>
          <p:cNvPr id="5" name="Shape 3"/>
          <p:cNvSpPr/>
          <p:nvPr/>
        </p:nvSpPr>
        <p:spPr>
          <a:xfrm>
            <a:off x="640080" y="1691640"/>
            <a:ext cx="5257800" cy="566928"/>
          </a:xfrm>
          <a:prstGeom prst="roundRect">
            <a:avLst>
              <a:gd name="adj" fmla="val 11290"/>
            </a:avLst>
          </a:prstGeom>
          <a:solidFill>
            <a:srgbClr val="00B3E2"/>
          </a:solidFill>
          <a:ln w="12700">
            <a:solidFill>
              <a:srgbClr val="00B3E2"/>
            </a:solidFill>
            <a:prstDash val="solid"/>
          </a:ln>
        </p:spPr>
      </p:sp>
      <p:sp>
        <p:nvSpPr>
          <p:cNvPr id="6" name="Text 4"/>
          <p:cNvSpPr/>
          <p:nvPr/>
        </p:nvSpPr>
        <p:spPr>
          <a:xfrm>
            <a:off x="960120" y="1691640"/>
            <a:ext cx="4617720" cy="566928"/>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What Microsoft prioritized</a:t>
            </a:r>
            <a:endParaRPr lang="en-US" sz="1800" dirty="0"/>
          </a:p>
        </p:txBody>
      </p:sp>
      <p:sp>
        <p:nvSpPr>
          <p:cNvPr id="7" name="Text 5"/>
          <p:cNvSpPr/>
          <p:nvPr/>
        </p:nvSpPr>
        <p:spPr>
          <a:xfrm>
            <a:off x="960120" y="2487168"/>
            <a:ext cx="4617720" cy="1828800"/>
          </a:xfrm>
          <a:prstGeom prst="rect">
            <a:avLst/>
          </a:prstGeom>
          <a:noFill/>
          <a:ln/>
        </p:spPr>
        <p:txBody>
          <a:bodyPr wrap="square" lIns="0" tIns="0" rIns="0" bIns="0" rtlCol="0" anchor="ctr"/>
          <a:lstStyle/>
          <a:p>
            <a:pPr marL="177800" indent="-177800">
              <a:spcAft>
                <a:spcPts val="900"/>
              </a:spcAft>
              <a:buSzPct val="100000"/>
              <a:buChar char="•"/>
            </a:pPr>
            <a:r>
              <a:rPr lang="en-US" sz="1450" dirty="0">
                <a:solidFill>
                  <a:srgbClr val="55555F"/>
                </a:solidFill>
                <a:latin typeface="Calibri" pitchFamily="34" charset="0"/>
                <a:ea typeface="Calibri" pitchFamily="34" charset="-122"/>
                <a:cs typeface="Calibri" pitchFamily="34" charset="-120"/>
              </a:rPr>
              <a:t>Platform stability</a:t>
            </a:r>
            <a:endParaRPr lang="en-US" sz="1450" dirty="0"/>
          </a:p>
          <a:p>
            <a:pPr marL="177800" indent="-177800">
              <a:spcAft>
                <a:spcPts val="900"/>
              </a:spcAft>
              <a:buSzPct val="100000"/>
              <a:buChar char="•"/>
            </a:pPr>
            <a:r>
              <a:rPr lang="en-US" sz="1450" dirty="0">
                <a:solidFill>
                  <a:srgbClr val="55555F"/>
                </a:solidFill>
                <a:latin typeface="Calibri" pitchFamily="34" charset="0"/>
                <a:ea typeface="Calibri" pitchFamily="34" charset="-122"/>
                <a:cs typeface="Calibri" pitchFamily="34" charset="-120"/>
              </a:rPr>
              <a:t>Security</a:t>
            </a:r>
            <a:endParaRPr lang="en-US" sz="1450" dirty="0"/>
          </a:p>
          <a:p>
            <a:pPr marL="177800" indent="-177800">
              <a:spcAft>
                <a:spcPts val="900"/>
              </a:spcAft>
              <a:buSzPct val="100000"/>
              <a:buChar char="•"/>
            </a:pPr>
            <a:r>
              <a:rPr lang="en-US" sz="1450" dirty="0">
                <a:solidFill>
                  <a:srgbClr val="55555F"/>
                </a:solidFill>
                <a:latin typeface="Calibri" pitchFamily="34" charset="0"/>
                <a:ea typeface="Calibri" pitchFamily="34" charset="-122"/>
                <a:cs typeface="Calibri" pitchFamily="34" charset="-120"/>
              </a:rPr>
              <a:t>Isolation of management infrastructure</a:t>
            </a:r>
            <a:endParaRPr lang="en-US" sz="1450" dirty="0"/>
          </a:p>
          <a:p>
            <a:pPr marL="177800" indent="-177800">
              <a:spcAft>
                <a:spcPts val="900"/>
              </a:spcAft>
              <a:buSzPct val="100000"/>
              <a:buChar char="•"/>
            </a:pPr>
            <a:r>
              <a:rPr lang="en-US" sz="1450" dirty="0">
                <a:solidFill>
                  <a:srgbClr val="55555F"/>
                </a:solidFill>
                <a:latin typeface="Calibri" pitchFamily="34" charset="0"/>
                <a:ea typeface="Calibri" pitchFamily="34" charset="-122"/>
                <a:cs typeface="Calibri" pitchFamily="34" charset="-120"/>
              </a:rPr>
              <a:t>Reduced risk from incorrect tenant NAT rules</a:t>
            </a:r>
            <a:endParaRPr lang="en-US" sz="1450" dirty="0"/>
          </a:p>
        </p:txBody>
      </p:sp>
      <p:sp>
        <p:nvSpPr>
          <p:cNvPr id="8" name="Shape 6"/>
          <p:cNvSpPr/>
          <p:nvPr/>
        </p:nvSpPr>
        <p:spPr>
          <a:xfrm>
            <a:off x="960120" y="4343400"/>
            <a:ext cx="4617720" cy="1051560"/>
          </a:xfrm>
          <a:prstGeom prst="roundRect">
            <a:avLst>
              <a:gd name="adj" fmla="val 6087"/>
            </a:avLst>
          </a:prstGeom>
          <a:solidFill>
            <a:srgbClr val="E5F7FC"/>
          </a:solidFill>
          <a:ln w="9525">
            <a:solidFill>
              <a:srgbClr val="B2E8F6"/>
            </a:solidFill>
            <a:prstDash val="solid"/>
          </a:ln>
        </p:spPr>
      </p:sp>
      <p:sp>
        <p:nvSpPr>
          <p:cNvPr id="9" name="Text 7"/>
          <p:cNvSpPr/>
          <p:nvPr/>
        </p:nvSpPr>
        <p:spPr>
          <a:xfrm>
            <a:off x="1188720" y="4498848"/>
            <a:ext cx="4160520" cy="777240"/>
          </a:xfrm>
          <a:prstGeom prst="rect">
            <a:avLst/>
          </a:prstGeom>
          <a:noFill/>
          <a:ln/>
        </p:spPr>
        <p:txBody>
          <a:bodyPr wrap="square" lIns="0" tIns="0" rIns="0" bIns="0" rtlCol="0" anchor="ctr"/>
          <a:lstStyle/>
          <a:p>
            <a:pPr indent="0" marL="0">
              <a:buNone/>
            </a:pPr>
            <a:r>
              <a:rPr lang="en-US" sz="1300" dirty="0">
                <a:solidFill>
                  <a:srgbClr val="1A5F7A"/>
                </a:solidFill>
                <a:latin typeface="Calibri" pitchFamily="34" charset="0"/>
                <a:ea typeface="Calibri" pitchFamily="34" charset="-122"/>
                <a:cs typeface="Calibri" pitchFamily="34" charset="-120"/>
              </a:rPr>
              <a:t>The tradeoff is reduced enterprise control and limited troubleshooting visibility.</a:t>
            </a:r>
            <a:endParaRPr lang="en-US" sz="1300" dirty="0"/>
          </a:p>
        </p:txBody>
      </p:sp>
      <p:sp>
        <p:nvSpPr>
          <p:cNvPr id="10" name="Shape 8"/>
          <p:cNvSpPr/>
          <p:nvPr/>
        </p:nvSpPr>
        <p:spPr>
          <a:xfrm>
            <a:off x="6291072" y="1691640"/>
            <a:ext cx="5257800" cy="3977640"/>
          </a:xfrm>
          <a:prstGeom prst="roundRect">
            <a:avLst>
              <a:gd name="adj" fmla="val 1609"/>
            </a:avLst>
          </a:prstGeom>
          <a:solidFill>
            <a:srgbClr val="F4F7F8"/>
          </a:solidFill>
          <a:ln w="9525">
            <a:solidFill>
              <a:srgbClr val="DDE2E2"/>
            </a:solidFill>
            <a:prstDash val="solid"/>
          </a:ln>
        </p:spPr>
      </p:sp>
      <p:sp>
        <p:nvSpPr>
          <p:cNvPr id="11" name="Shape 9"/>
          <p:cNvSpPr/>
          <p:nvPr/>
        </p:nvSpPr>
        <p:spPr>
          <a:xfrm>
            <a:off x="6291072" y="1691640"/>
            <a:ext cx="5257800" cy="566928"/>
          </a:xfrm>
          <a:prstGeom prst="roundRect">
            <a:avLst>
              <a:gd name="adj" fmla="val 11290"/>
            </a:avLst>
          </a:prstGeom>
          <a:solidFill>
            <a:srgbClr val="F15D23"/>
          </a:solidFill>
          <a:ln w="12700">
            <a:solidFill>
              <a:srgbClr val="F15D23"/>
            </a:solidFill>
            <a:prstDash val="solid"/>
          </a:ln>
        </p:spPr>
      </p:sp>
      <p:sp>
        <p:nvSpPr>
          <p:cNvPr id="12" name="Text 10"/>
          <p:cNvSpPr/>
          <p:nvPr/>
        </p:nvSpPr>
        <p:spPr>
          <a:xfrm>
            <a:off x="6611112" y="1691640"/>
            <a:ext cx="4617720" cy="566928"/>
          </a:xfrm>
          <a:prstGeom prst="rect">
            <a:avLst/>
          </a:prstGeom>
          <a:noFill/>
          <a:ln/>
        </p:spPr>
        <p:txBody>
          <a:bodyPr wrap="square" lIns="0" tIns="0" rIns="0" bIns="0" rtlCol="0" anchor="ctr"/>
          <a:lstStyle/>
          <a:p>
            <a:pPr indent="0" marL="0">
              <a:buNone/>
            </a:pPr>
            <a:r>
              <a:rPr lang="en-US" sz="1800" b="1" dirty="0">
                <a:solidFill>
                  <a:srgbClr val="1A1A22"/>
                </a:solidFill>
                <a:latin typeface="Calibri" pitchFamily="34" charset="0"/>
                <a:ea typeface="Calibri" pitchFamily="34" charset="-122"/>
                <a:cs typeface="Calibri" pitchFamily="34" charset="-120"/>
              </a:rPr>
              <a:t>What it does not serve well</a:t>
            </a:r>
            <a:endParaRPr lang="en-US" sz="1800" dirty="0"/>
          </a:p>
        </p:txBody>
      </p:sp>
      <p:sp>
        <p:nvSpPr>
          <p:cNvPr id="13" name="Text 11"/>
          <p:cNvSpPr/>
          <p:nvPr/>
        </p:nvSpPr>
        <p:spPr>
          <a:xfrm>
            <a:off x="6611112" y="2487168"/>
            <a:ext cx="4617720" cy="1828800"/>
          </a:xfrm>
          <a:prstGeom prst="rect">
            <a:avLst/>
          </a:prstGeom>
          <a:noFill/>
          <a:ln/>
        </p:spPr>
        <p:txBody>
          <a:bodyPr wrap="square" lIns="0" tIns="0" rIns="0" bIns="0" rtlCol="0" anchor="ctr"/>
          <a:lstStyle/>
          <a:p>
            <a:pPr marL="177800" indent="-177800">
              <a:spcAft>
                <a:spcPts val="900"/>
              </a:spcAft>
              <a:buSzPct val="100000"/>
              <a:buChar char="•"/>
            </a:pPr>
            <a:r>
              <a:rPr lang="en-US" sz="1450" dirty="0">
                <a:solidFill>
                  <a:srgbClr val="55555F"/>
                </a:solidFill>
                <a:latin typeface="Calibri" pitchFamily="34" charset="0"/>
                <a:ea typeface="Calibri" pitchFamily="34" charset="-122"/>
                <a:cs typeface="Calibri" pitchFamily="34" charset="-120"/>
              </a:rPr>
              <a:t>Compliance logging</a:t>
            </a:r>
            <a:endParaRPr lang="en-US" sz="1450" dirty="0"/>
          </a:p>
          <a:p>
            <a:pPr marL="177800" indent="-177800">
              <a:spcAft>
                <a:spcPts val="900"/>
              </a:spcAft>
              <a:buSzPct val="100000"/>
              <a:buChar char="•"/>
            </a:pPr>
            <a:r>
              <a:rPr lang="en-US" sz="1450" dirty="0">
                <a:solidFill>
                  <a:srgbClr val="55555F"/>
                </a:solidFill>
                <a:latin typeface="Calibri" pitchFamily="34" charset="0"/>
                <a:ea typeface="Calibri" pitchFamily="34" charset="-122"/>
                <a:cs typeface="Calibri" pitchFamily="34" charset="-120"/>
              </a:rPr>
              <a:t>Static egress IP addresses</a:t>
            </a:r>
            <a:endParaRPr lang="en-US" sz="1450" dirty="0"/>
          </a:p>
          <a:p>
            <a:pPr marL="177800" indent="-177800">
              <a:spcAft>
                <a:spcPts val="900"/>
              </a:spcAft>
              <a:buSzPct val="100000"/>
              <a:buChar char="•"/>
            </a:pPr>
            <a:r>
              <a:rPr lang="en-US" sz="1450" dirty="0">
                <a:solidFill>
                  <a:srgbClr val="55555F"/>
                </a:solidFill>
                <a:latin typeface="Calibri" pitchFamily="34" charset="0"/>
                <a:ea typeface="Calibri" pitchFamily="34" charset="-122"/>
                <a:cs typeface="Calibri" pitchFamily="34" charset="-120"/>
              </a:rPr>
              <a:t>Third-party allowlisting</a:t>
            </a:r>
            <a:endParaRPr lang="en-US" sz="1450" dirty="0"/>
          </a:p>
          <a:p>
            <a:pPr marL="177800" indent="-177800">
              <a:spcAft>
                <a:spcPts val="900"/>
              </a:spcAft>
              <a:buSzPct val="100000"/>
              <a:buChar char="•"/>
            </a:pPr>
            <a:r>
              <a:rPr lang="en-US" sz="1450" dirty="0">
                <a:solidFill>
                  <a:srgbClr val="55555F"/>
                </a:solidFill>
                <a:latin typeface="Calibri" pitchFamily="34" charset="0"/>
                <a:ea typeface="Calibri" pitchFamily="34" charset="-122"/>
                <a:cs typeface="Calibri" pitchFamily="34" charset="-120"/>
              </a:rPr>
              <a:t>Custom inbound or outbound NAT</a:t>
            </a:r>
            <a:endParaRPr lang="en-US" sz="1450" dirty="0"/>
          </a:p>
          <a:p>
            <a:pPr marL="177800" indent="-177800">
              <a:spcAft>
                <a:spcPts val="900"/>
              </a:spcAft>
              <a:buSzPct val="100000"/>
              <a:buChar char="•"/>
            </a:pPr>
            <a:r>
              <a:rPr lang="en-US" sz="1450" dirty="0">
                <a:solidFill>
                  <a:srgbClr val="55555F"/>
                </a:solidFill>
                <a:latin typeface="Calibri" pitchFamily="34" charset="0"/>
                <a:ea typeface="Calibri" pitchFamily="34" charset="-122"/>
                <a:cs typeface="Calibri" pitchFamily="34" charset="-120"/>
              </a:rPr>
              <a:t>Detailed security inspection</a:t>
            </a:r>
            <a:endParaRPr lang="en-US" sz="1450" dirty="0"/>
          </a:p>
        </p:txBody>
      </p:sp>
      <p:sp>
        <p:nvSpPr>
          <p:cNvPr id="14" name="Shape 12"/>
          <p:cNvSpPr/>
          <p:nvPr/>
        </p:nvSpPr>
        <p:spPr>
          <a:xfrm>
            <a:off x="6611112" y="4343400"/>
            <a:ext cx="4617720" cy="1051560"/>
          </a:xfrm>
          <a:prstGeom prst="roundRect">
            <a:avLst>
              <a:gd name="adj" fmla="val 6087"/>
            </a:avLst>
          </a:prstGeom>
          <a:solidFill>
            <a:srgbClr val="E5F7FC"/>
          </a:solidFill>
          <a:ln w="9525">
            <a:solidFill>
              <a:srgbClr val="B2E8F6"/>
            </a:solidFill>
            <a:prstDash val="solid"/>
          </a:ln>
        </p:spPr>
      </p:sp>
      <p:sp>
        <p:nvSpPr>
          <p:cNvPr id="15" name="Text 13"/>
          <p:cNvSpPr/>
          <p:nvPr/>
        </p:nvSpPr>
        <p:spPr>
          <a:xfrm>
            <a:off x="6839712" y="4498848"/>
            <a:ext cx="4160520" cy="777240"/>
          </a:xfrm>
          <a:prstGeom prst="rect">
            <a:avLst/>
          </a:prstGeom>
          <a:noFill/>
          <a:ln/>
        </p:spPr>
        <p:txBody>
          <a:bodyPr wrap="square" lIns="0" tIns="0" rIns="0" bIns="0" rtlCol="0" anchor="ctr"/>
          <a:lstStyle/>
          <a:p>
            <a:pPr indent="0" marL="0">
              <a:buNone/>
            </a:pPr>
            <a:r>
              <a:rPr lang="en-US" sz="1300" dirty="0">
                <a:solidFill>
                  <a:srgbClr val="1A5F7A"/>
                </a:solidFill>
                <a:latin typeface="Calibri" pitchFamily="34" charset="0"/>
                <a:ea typeface="Calibri" pitchFamily="34" charset="-122"/>
                <a:cs typeface="Calibri" pitchFamily="34" charset="-120"/>
              </a:rPr>
              <a:t>Organizations with any of these requirements need customer-managed egress instead.</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37744"/>
          </a:xfrm>
          <a:prstGeom prst="rect">
            <a:avLst/>
          </a:prstGeom>
          <a:noFill/>
          <a:ln/>
        </p:spPr>
        <p:txBody>
          <a:bodyPr wrap="square" lIns="0" tIns="0" rIns="0" bIns="0" rtlCol="0" anchor="ctr"/>
          <a:lstStyle/>
          <a:p>
            <a:pPr indent="0" marL="0">
              <a:buNone/>
            </a:pPr>
            <a:r>
              <a:rPr lang="en-US" sz="1100" b="1" spc="200" kern="0" dirty="0">
                <a:solidFill>
                  <a:srgbClr val="00B3E2"/>
                </a:solidFill>
                <a:latin typeface="Calibri" pitchFamily="34" charset="0"/>
                <a:ea typeface="Calibri" pitchFamily="34" charset="-122"/>
                <a:cs typeface="Calibri" pitchFamily="34" charset="-120"/>
              </a:rPr>
              <a:t>INTERNET EGRESS · GENERATION 2</a:t>
            </a:r>
            <a:endParaRPr lang="en-US" sz="1100" dirty="0"/>
          </a:p>
        </p:txBody>
      </p:sp>
      <p:sp>
        <p:nvSpPr>
          <p:cNvPr id="3" name="Text 1"/>
          <p:cNvSpPr/>
          <p:nvPr/>
        </p:nvSpPr>
        <p:spPr>
          <a:xfrm>
            <a:off x="640080" y="658368"/>
            <a:ext cx="10911535" cy="566928"/>
          </a:xfrm>
          <a:prstGeom prst="rect">
            <a:avLst/>
          </a:prstGeom>
          <a:noFill/>
          <a:ln/>
        </p:spPr>
        <p:txBody>
          <a:bodyPr wrap="square" lIns="0" tIns="0" rIns="0" bIns="0" rtlCol="0" anchor="ctr"/>
          <a:lstStyle/>
          <a:p>
            <a:pPr indent="0" marL="0">
              <a:buNone/>
            </a:pPr>
            <a:r>
              <a:rPr lang="en-US" sz="3400" b="1" dirty="0">
                <a:solidFill>
                  <a:srgbClr val="3E3E4B"/>
                </a:solidFill>
                <a:latin typeface="Calibri" pitchFamily="34" charset="0"/>
                <a:ea typeface="Calibri" pitchFamily="34" charset="-122"/>
                <a:cs typeface="Calibri" pitchFamily="34" charset="-120"/>
              </a:rPr>
              <a:t>Egress becomes the customer's design</a:t>
            </a:r>
            <a:endParaRPr lang="en-US" sz="3400" dirty="0"/>
          </a:p>
        </p:txBody>
      </p:sp>
      <p:sp>
        <p:nvSpPr>
          <p:cNvPr id="4" name="Text 2"/>
          <p:cNvSpPr/>
          <p:nvPr/>
        </p:nvSpPr>
        <p:spPr>
          <a:xfrm>
            <a:off x="640080" y="1371600"/>
            <a:ext cx="10972800" cy="457200"/>
          </a:xfrm>
          <a:prstGeom prst="rect">
            <a:avLst/>
          </a:prstGeom>
          <a:noFill/>
          <a:ln/>
        </p:spPr>
        <p:txBody>
          <a:bodyPr wrap="square" lIns="0" tIns="0" rIns="0" bIns="0" rtlCol="0" anchor="ctr"/>
          <a:lstStyle/>
          <a:p>
            <a:pPr indent="0" marL="0">
              <a:buNone/>
            </a:pPr>
            <a:r>
              <a:rPr lang="en-US" sz="1500" dirty="0">
                <a:solidFill>
                  <a:srgbClr val="55555F"/>
                </a:solidFill>
                <a:latin typeface="Calibri" pitchFamily="34" charset="0"/>
                <a:ea typeface="Calibri" pitchFamily="34" charset="-122"/>
                <a:cs typeface="Calibri" pitchFamily="34" charset="-120"/>
              </a:rPr>
              <a:t>Generation 2 removes the managed SNAT model and connects AVS networking more directly to native Azure VNets. A user-defined route sends 0.0.0.0/0 to the inspection point.</a:t>
            </a:r>
            <a:endParaRPr lang="en-US" sz="1500" dirty="0"/>
          </a:p>
        </p:txBody>
      </p:sp>
      <p:sp>
        <p:nvSpPr>
          <p:cNvPr id="5" name="Shape 3"/>
          <p:cNvSpPr/>
          <p:nvPr/>
        </p:nvSpPr>
        <p:spPr>
          <a:xfrm>
            <a:off x="640080" y="2011680"/>
            <a:ext cx="2651760" cy="914400"/>
          </a:xfrm>
          <a:prstGeom prst="roundRect">
            <a:avLst>
              <a:gd name="adj" fmla="val 7000"/>
            </a:avLst>
          </a:prstGeom>
          <a:solidFill>
            <a:srgbClr val="F4F7F8"/>
          </a:solidFill>
          <a:ln w="9525">
            <a:solidFill>
              <a:srgbClr val="DDE2E2"/>
            </a:solidFill>
            <a:prstDash val="solid"/>
          </a:ln>
        </p:spPr>
      </p:sp>
      <p:sp>
        <p:nvSpPr>
          <p:cNvPr id="6" name="Text 4"/>
          <p:cNvSpPr/>
          <p:nvPr/>
        </p:nvSpPr>
        <p:spPr>
          <a:xfrm>
            <a:off x="777240" y="2011680"/>
            <a:ext cx="2377440" cy="914400"/>
          </a:xfrm>
          <a:prstGeom prst="rect">
            <a:avLst/>
          </a:prstGeom>
          <a:noFill/>
          <a:ln/>
        </p:spPr>
        <p:txBody>
          <a:bodyPr wrap="square" lIns="0" tIns="0" rIns="0" bIns="0" rtlCol="0" anchor="ctr"/>
          <a:lstStyle/>
          <a:p>
            <a:pPr algn="ctr" indent="0" marL="0">
              <a:buNone/>
            </a:pPr>
            <a:r>
              <a:rPr lang="en-US" sz="1400" b="1" dirty="0">
                <a:solidFill>
                  <a:srgbClr val="3E3E4B"/>
                </a:solidFill>
                <a:latin typeface="Calibri" pitchFamily="34" charset="0"/>
                <a:ea typeface="Calibri" pitchFamily="34" charset="-122"/>
                <a:cs typeface="Calibri" pitchFamily="34" charset="-120"/>
              </a:rPr>
              <a:t>AVS-related Azure subnets</a:t>
            </a:r>
            <a:endParaRPr lang="en-US" sz="1400" dirty="0"/>
          </a:p>
        </p:txBody>
      </p:sp>
      <p:sp>
        <p:nvSpPr>
          <p:cNvPr id="7" name="Shape 5"/>
          <p:cNvSpPr/>
          <p:nvPr/>
        </p:nvSpPr>
        <p:spPr>
          <a:xfrm>
            <a:off x="3346704" y="2359152"/>
            <a:ext cx="201168" cy="219456"/>
          </a:xfrm>
          <a:prstGeom prst="rightArrow">
            <a:avLst/>
          </a:prstGeom>
          <a:solidFill>
            <a:srgbClr val="8DB9D9"/>
          </a:solidFill>
          <a:ln w="12700">
            <a:solidFill>
              <a:srgbClr val="8DB9D9"/>
            </a:solidFill>
            <a:prstDash val="solid"/>
          </a:ln>
        </p:spPr>
      </p:sp>
      <p:sp>
        <p:nvSpPr>
          <p:cNvPr id="8" name="Shape 6"/>
          <p:cNvSpPr/>
          <p:nvPr/>
        </p:nvSpPr>
        <p:spPr>
          <a:xfrm>
            <a:off x="3602736" y="2011680"/>
            <a:ext cx="2651760" cy="914400"/>
          </a:xfrm>
          <a:prstGeom prst="roundRect">
            <a:avLst>
              <a:gd name="adj" fmla="val 7000"/>
            </a:avLst>
          </a:prstGeom>
          <a:solidFill>
            <a:srgbClr val="00B3E2"/>
          </a:solidFill>
          <a:ln w="9525">
            <a:solidFill>
              <a:srgbClr val="00B3E2"/>
            </a:solidFill>
            <a:prstDash val="solid"/>
          </a:ln>
        </p:spPr>
      </p:sp>
      <p:sp>
        <p:nvSpPr>
          <p:cNvPr id="9" name="Text 7"/>
          <p:cNvSpPr/>
          <p:nvPr/>
        </p:nvSpPr>
        <p:spPr>
          <a:xfrm>
            <a:off x="3739896" y="2011680"/>
            <a:ext cx="2377440" cy="9144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UDR: 0.0.0.0/0</a:t>
            </a:r>
            <a:endParaRPr lang="en-US" sz="1400" dirty="0"/>
          </a:p>
        </p:txBody>
      </p:sp>
      <p:sp>
        <p:nvSpPr>
          <p:cNvPr id="10" name="Shape 8"/>
          <p:cNvSpPr/>
          <p:nvPr/>
        </p:nvSpPr>
        <p:spPr>
          <a:xfrm>
            <a:off x="6309360" y="2359152"/>
            <a:ext cx="201168" cy="219456"/>
          </a:xfrm>
          <a:prstGeom prst="rightArrow">
            <a:avLst/>
          </a:prstGeom>
          <a:solidFill>
            <a:srgbClr val="8DB9D9"/>
          </a:solidFill>
          <a:ln w="12700">
            <a:solidFill>
              <a:srgbClr val="8DB9D9"/>
            </a:solidFill>
            <a:prstDash val="solid"/>
          </a:ln>
        </p:spPr>
      </p:sp>
      <p:sp>
        <p:nvSpPr>
          <p:cNvPr id="11" name="Shape 9"/>
          <p:cNvSpPr/>
          <p:nvPr/>
        </p:nvSpPr>
        <p:spPr>
          <a:xfrm>
            <a:off x="6565392" y="2011680"/>
            <a:ext cx="2651760" cy="914400"/>
          </a:xfrm>
          <a:prstGeom prst="roundRect">
            <a:avLst>
              <a:gd name="adj" fmla="val 7000"/>
            </a:avLst>
          </a:prstGeom>
          <a:solidFill>
            <a:srgbClr val="F4F7F8"/>
          </a:solidFill>
          <a:ln w="9525">
            <a:solidFill>
              <a:srgbClr val="DDE2E2"/>
            </a:solidFill>
            <a:prstDash val="solid"/>
          </a:ln>
        </p:spPr>
      </p:sp>
      <p:sp>
        <p:nvSpPr>
          <p:cNvPr id="12" name="Text 10"/>
          <p:cNvSpPr/>
          <p:nvPr/>
        </p:nvSpPr>
        <p:spPr>
          <a:xfrm>
            <a:off x="6702552" y="2011680"/>
            <a:ext cx="2377440" cy="914400"/>
          </a:xfrm>
          <a:prstGeom prst="rect">
            <a:avLst/>
          </a:prstGeom>
          <a:noFill/>
          <a:ln/>
        </p:spPr>
        <p:txBody>
          <a:bodyPr wrap="square" lIns="0" tIns="0" rIns="0" bIns="0" rtlCol="0" anchor="ctr"/>
          <a:lstStyle/>
          <a:p>
            <a:pPr algn="ctr" indent="0" marL="0">
              <a:buNone/>
            </a:pPr>
            <a:r>
              <a:rPr lang="en-US" sz="1400" b="1" dirty="0">
                <a:solidFill>
                  <a:srgbClr val="3E3E4B"/>
                </a:solidFill>
                <a:latin typeface="Calibri" pitchFamily="34" charset="0"/>
                <a:ea typeface="Calibri" pitchFamily="34" charset="-122"/>
                <a:cs typeface="Calibri" pitchFamily="34" charset="-120"/>
              </a:rPr>
              <a:t>Azure Firewall or third-party NVA</a:t>
            </a:r>
            <a:endParaRPr lang="en-US" sz="1400" dirty="0"/>
          </a:p>
        </p:txBody>
      </p:sp>
      <p:sp>
        <p:nvSpPr>
          <p:cNvPr id="13" name="Shape 11"/>
          <p:cNvSpPr/>
          <p:nvPr/>
        </p:nvSpPr>
        <p:spPr>
          <a:xfrm>
            <a:off x="9272016" y="2359152"/>
            <a:ext cx="201168" cy="219456"/>
          </a:xfrm>
          <a:prstGeom prst="rightArrow">
            <a:avLst/>
          </a:prstGeom>
          <a:solidFill>
            <a:srgbClr val="8DB9D9"/>
          </a:solidFill>
          <a:ln w="12700">
            <a:solidFill>
              <a:srgbClr val="8DB9D9"/>
            </a:solidFill>
            <a:prstDash val="solid"/>
          </a:ln>
        </p:spPr>
      </p:sp>
      <p:sp>
        <p:nvSpPr>
          <p:cNvPr id="14" name="Shape 12"/>
          <p:cNvSpPr/>
          <p:nvPr/>
        </p:nvSpPr>
        <p:spPr>
          <a:xfrm>
            <a:off x="9528048" y="2011680"/>
            <a:ext cx="2651760" cy="914400"/>
          </a:xfrm>
          <a:prstGeom prst="roundRect">
            <a:avLst>
              <a:gd name="adj" fmla="val 7000"/>
            </a:avLst>
          </a:prstGeom>
          <a:solidFill>
            <a:srgbClr val="F4F7F8"/>
          </a:solidFill>
          <a:ln w="9525">
            <a:solidFill>
              <a:srgbClr val="DDE2E2"/>
            </a:solidFill>
            <a:prstDash val="solid"/>
          </a:ln>
        </p:spPr>
      </p:sp>
      <p:sp>
        <p:nvSpPr>
          <p:cNvPr id="15" name="Text 13"/>
          <p:cNvSpPr/>
          <p:nvPr/>
        </p:nvSpPr>
        <p:spPr>
          <a:xfrm>
            <a:off x="9665208" y="2011680"/>
            <a:ext cx="2377440" cy="914400"/>
          </a:xfrm>
          <a:prstGeom prst="rect">
            <a:avLst/>
          </a:prstGeom>
          <a:noFill/>
          <a:ln/>
        </p:spPr>
        <p:txBody>
          <a:bodyPr wrap="square" lIns="0" tIns="0" rIns="0" bIns="0" rtlCol="0" anchor="ctr"/>
          <a:lstStyle/>
          <a:p>
            <a:pPr algn="ctr" indent="0" marL="0">
              <a:buNone/>
            </a:pPr>
            <a:r>
              <a:rPr lang="en-US" sz="1400" b="1" dirty="0">
                <a:solidFill>
                  <a:srgbClr val="3E3E4B"/>
                </a:solidFill>
                <a:latin typeface="Calibri" pitchFamily="34" charset="0"/>
                <a:ea typeface="Calibri" pitchFamily="34" charset="-122"/>
                <a:cs typeface="Calibri" pitchFamily="34" charset="-120"/>
              </a:rPr>
              <a:t>Public internet</a:t>
            </a:r>
            <a:endParaRPr lang="en-US" sz="1400" dirty="0"/>
          </a:p>
        </p:txBody>
      </p:sp>
      <p:sp>
        <p:nvSpPr>
          <p:cNvPr id="16" name="Shape 14"/>
          <p:cNvSpPr/>
          <p:nvPr/>
        </p:nvSpPr>
        <p:spPr>
          <a:xfrm>
            <a:off x="640080" y="3246120"/>
            <a:ext cx="5257800" cy="2423160"/>
          </a:xfrm>
          <a:prstGeom prst="roundRect">
            <a:avLst>
              <a:gd name="adj" fmla="val 2642"/>
            </a:avLst>
          </a:prstGeom>
          <a:solidFill>
            <a:srgbClr val="F4F7F8"/>
          </a:solidFill>
          <a:ln w="9525">
            <a:solidFill>
              <a:srgbClr val="DDE2E2"/>
            </a:solidFill>
            <a:prstDash val="solid"/>
          </a:ln>
        </p:spPr>
      </p:sp>
      <p:sp>
        <p:nvSpPr>
          <p:cNvPr id="17" name="Text 15"/>
          <p:cNvSpPr/>
          <p:nvPr/>
        </p:nvSpPr>
        <p:spPr>
          <a:xfrm>
            <a:off x="960120" y="3456432"/>
            <a:ext cx="4617720" cy="320040"/>
          </a:xfrm>
          <a:prstGeom prst="rect">
            <a:avLst/>
          </a:prstGeom>
          <a:noFill/>
          <a:ln/>
        </p:spPr>
        <p:txBody>
          <a:bodyPr wrap="square" lIns="0" tIns="0" rIns="0" bIns="0" rtlCol="0" anchor="ctr"/>
          <a:lstStyle/>
          <a:p>
            <a:pPr indent="0" marL="0">
              <a:buNone/>
            </a:pPr>
            <a:r>
              <a:rPr lang="en-US" sz="1600" b="1" dirty="0">
                <a:solidFill>
                  <a:srgbClr val="3E3E4B"/>
                </a:solidFill>
                <a:latin typeface="Calibri" pitchFamily="34" charset="0"/>
                <a:ea typeface="Calibri" pitchFamily="34" charset="-122"/>
                <a:cs typeface="Calibri" pitchFamily="34" charset="-120"/>
              </a:rPr>
              <a:t>What the customer now deploys and manages</a:t>
            </a:r>
            <a:endParaRPr lang="en-US" sz="1600" dirty="0"/>
          </a:p>
        </p:txBody>
      </p:sp>
      <p:sp>
        <p:nvSpPr>
          <p:cNvPr id="18" name="Text 16"/>
          <p:cNvSpPr/>
          <p:nvPr/>
        </p:nvSpPr>
        <p:spPr>
          <a:xfrm>
            <a:off x="960120" y="3822192"/>
            <a:ext cx="4617720" cy="1737360"/>
          </a:xfrm>
          <a:prstGeom prst="rect">
            <a:avLst/>
          </a:prstGeom>
          <a:noFill/>
          <a:ln/>
        </p:spPr>
        <p:txBody>
          <a:bodyPr wrap="square" lIns="0" tIns="0" rIns="0" bIns="0" rtlCol="0" anchor="ctr"/>
          <a:lstStyle/>
          <a:p>
            <a:pPr marL="177800" indent="-177800">
              <a:spcAft>
                <a:spcPts val="300"/>
              </a:spcAft>
              <a:buSzPct val="100000"/>
              <a:buChar char="•"/>
            </a:pPr>
            <a:r>
              <a:rPr lang="en-US" sz="1350" dirty="0">
                <a:solidFill>
                  <a:srgbClr val="55555F"/>
                </a:solidFill>
                <a:latin typeface="Calibri" pitchFamily="34" charset="0"/>
                <a:ea typeface="Calibri" pitchFamily="34" charset="-122"/>
                <a:cs typeface="Calibri" pitchFamily="34" charset="-120"/>
              </a:rPr>
              <a:t>Firewall infrastructure</a:t>
            </a:r>
            <a:endParaRPr lang="en-US" sz="1350" dirty="0"/>
          </a:p>
          <a:p>
            <a:pPr marL="177800" indent="-177800">
              <a:spcAft>
                <a:spcPts val="300"/>
              </a:spcAft>
              <a:buSzPct val="100000"/>
              <a:buChar char="•"/>
            </a:pPr>
            <a:r>
              <a:rPr lang="en-US" sz="1350" dirty="0">
                <a:solidFill>
                  <a:srgbClr val="55555F"/>
                </a:solidFill>
                <a:latin typeface="Calibri" pitchFamily="34" charset="0"/>
                <a:ea typeface="Calibri" pitchFamily="34" charset="-122"/>
                <a:cs typeface="Calibri" pitchFamily="34" charset="-120"/>
              </a:rPr>
              <a:t>NAT rules</a:t>
            </a:r>
            <a:endParaRPr lang="en-US" sz="1350" dirty="0"/>
          </a:p>
          <a:p>
            <a:pPr marL="177800" indent="-177800">
              <a:spcAft>
                <a:spcPts val="300"/>
              </a:spcAft>
              <a:buSzPct val="100000"/>
              <a:buChar char="•"/>
            </a:pPr>
            <a:r>
              <a:rPr lang="en-US" sz="1350" dirty="0">
                <a:solidFill>
                  <a:srgbClr val="55555F"/>
                </a:solidFill>
                <a:latin typeface="Calibri" pitchFamily="34" charset="0"/>
                <a:ea typeface="Calibri" pitchFamily="34" charset="-122"/>
                <a:cs typeface="Calibri" pitchFamily="34" charset="-120"/>
              </a:rPr>
              <a:t>Route tables</a:t>
            </a:r>
            <a:endParaRPr lang="en-US" sz="1350" dirty="0"/>
          </a:p>
          <a:p>
            <a:pPr marL="177800" indent="-177800">
              <a:spcAft>
                <a:spcPts val="300"/>
              </a:spcAft>
              <a:buSzPct val="100000"/>
              <a:buChar char="•"/>
            </a:pPr>
            <a:r>
              <a:rPr lang="en-US" sz="1350" dirty="0">
                <a:solidFill>
                  <a:srgbClr val="55555F"/>
                </a:solidFill>
                <a:latin typeface="Calibri" pitchFamily="34" charset="0"/>
                <a:ea typeface="Calibri" pitchFamily="34" charset="-122"/>
                <a:cs typeface="Calibri" pitchFamily="34" charset="-120"/>
              </a:rPr>
              <a:t>Security policy</a:t>
            </a:r>
            <a:endParaRPr lang="en-US" sz="1350" dirty="0"/>
          </a:p>
          <a:p>
            <a:pPr marL="177800" indent="-177800">
              <a:spcAft>
                <a:spcPts val="300"/>
              </a:spcAft>
              <a:buSzPct val="100000"/>
              <a:buChar char="•"/>
            </a:pPr>
            <a:r>
              <a:rPr lang="en-US" sz="1350" dirty="0">
                <a:solidFill>
                  <a:srgbClr val="55555F"/>
                </a:solidFill>
                <a:latin typeface="Calibri" pitchFamily="34" charset="0"/>
                <a:ea typeface="Calibri" pitchFamily="34" charset="-122"/>
                <a:cs typeface="Calibri" pitchFamily="34" charset="-120"/>
              </a:rPr>
              <a:t>Logging</a:t>
            </a:r>
            <a:endParaRPr lang="en-US" sz="1350" dirty="0"/>
          </a:p>
          <a:p>
            <a:pPr marL="177800" indent="-177800">
              <a:spcAft>
                <a:spcPts val="300"/>
              </a:spcAft>
              <a:buSzPct val="100000"/>
              <a:buChar char="•"/>
            </a:pPr>
            <a:r>
              <a:rPr lang="en-US" sz="1350" dirty="0">
                <a:solidFill>
                  <a:srgbClr val="55555F"/>
                </a:solidFill>
                <a:latin typeface="Calibri" pitchFamily="34" charset="0"/>
                <a:ea typeface="Calibri" pitchFamily="34" charset="-122"/>
                <a:cs typeface="Calibri" pitchFamily="34" charset="-120"/>
              </a:rPr>
              <a:t>Capacity</a:t>
            </a:r>
            <a:endParaRPr lang="en-US" sz="1350" dirty="0"/>
          </a:p>
          <a:p>
            <a:pPr marL="177800" indent="-177800">
              <a:spcAft>
                <a:spcPts val="300"/>
              </a:spcAft>
              <a:buSzPct val="100000"/>
              <a:buChar char="•"/>
            </a:pPr>
            <a:r>
              <a:rPr lang="en-US" sz="1350" dirty="0">
                <a:solidFill>
                  <a:srgbClr val="55555F"/>
                </a:solidFill>
                <a:latin typeface="Calibri" pitchFamily="34" charset="0"/>
                <a:ea typeface="Calibri" pitchFamily="34" charset="-122"/>
                <a:cs typeface="Calibri" pitchFamily="34" charset="-120"/>
              </a:rPr>
              <a:t>Availability</a:t>
            </a:r>
            <a:endParaRPr lang="en-US" sz="1350" dirty="0"/>
          </a:p>
        </p:txBody>
      </p:sp>
      <p:sp>
        <p:nvSpPr>
          <p:cNvPr id="19" name="Shape 17"/>
          <p:cNvSpPr/>
          <p:nvPr/>
        </p:nvSpPr>
        <p:spPr>
          <a:xfrm>
            <a:off x="6519672" y="3246120"/>
            <a:ext cx="5029200" cy="2423160"/>
          </a:xfrm>
          <a:prstGeom prst="roundRect">
            <a:avLst>
              <a:gd name="adj" fmla="val 2642"/>
            </a:avLst>
          </a:prstGeom>
          <a:solidFill>
            <a:srgbClr val="E5F7FC"/>
          </a:solidFill>
          <a:ln w="9525">
            <a:solidFill>
              <a:srgbClr val="B2E8F6"/>
            </a:solidFill>
            <a:prstDash val="solid"/>
          </a:ln>
        </p:spPr>
      </p:sp>
      <p:sp>
        <p:nvSpPr>
          <p:cNvPr id="20" name="Text 18"/>
          <p:cNvSpPr/>
          <p:nvPr/>
        </p:nvSpPr>
        <p:spPr>
          <a:xfrm>
            <a:off x="6839712" y="3456432"/>
            <a:ext cx="4389120" cy="320040"/>
          </a:xfrm>
          <a:prstGeom prst="rect">
            <a:avLst/>
          </a:prstGeom>
          <a:noFill/>
          <a:ln/>
        </p:spPr>
        <p:txBody>
          <a:bodyPr wrap="square" lIns="0" tIns="0" rIns="0" bIns="0" rtlCol="0" anchor="ctr"/>
          <a:lstStyle/>
          <a:p>
            <a:pPr indent="0" marL="0">
              <a:buNone/>
            </a:pPr>
            <a:r>
              <a:rPr lang="en-US" sz="1600" b="1" dirty="0">
                <a:solidFill>
                  <a:srgbClr val="3E3E4B"/>
                </a:solidFill>
                <a:latin typeface="Calibri" pitchFamily="34" charset="0"/>
                <a:ea typeface="Calibri" pitchFamily="34" charset="-122"/>
                <a:cs typeface="Calibri" pitchFamily="34" charset="-120"/>
              </a:rPr>
              <a:t>What the enterprise gains</a:t>
            </a:r>
            <a:endParaRPr lang="en-US" sz="1600" dirty="0"/>
          </a:p>
        </p:txBody>
      </p:sp>
      <p:sp>
        <p:nvSpPr>
          <p:cNvPr id="21" name="Text 19"/>
          <p:cNvSpPr/>
          <p:nvPr/>
        </p:nvSpPr>
        <p:spPr>
          <a:xfrm>
            <a:off x="6839712" y="3822192"/>
            <a:ext cx="4389120" cy="1371600"/>
          </a:xfrm>
          <a:prstGeom prst="rect">
            <a:avLst/>
          </a:prstGeom>
          <a:noFill/>
          <a:ln/>
        </p:spPr>
        <p:txBody>
          <a:bodyPr wrap="square" lIns="0" tIns="0" rIns="0" bIns="0" rtlCol="0" anchor="ctr"/>
          <a:lstStyle/>
          <a:p>
            <a:pPr marL="177800" indent="-177800">
              <a:spcAft>
                <a:spcPts val="400"/>
              </a:spcAft>
              <a:buSzPct val="100000"/>
              <a:buChar char="•"/>
            </a:pPr>
            <a:r>
              <a:rPr lang="en-US" sz="1350" dirty="0">
                <a:solidFill>
                  <a:srgbClr val="1A5F7A"/>
                </a:solidFill>
                <a:latin typeface="Calibri" pitchFamily="34" charset="0"/>
                <a:ea typeface="Calibri" pitchFamily="34" charset="-122"/>
                <a:cs typeface="Calibri" pitchFamily="34" charset="-120"/>
              </a:rPr>
              <a:t>Policy control</a:t>
            </a:r>
            <a:endParaRPr lang="en-US" sz="1350" dirty="0"/>
          </a:p>
          <a:p>
            <a:pPr marL="177800" indent="-177800">
              <a:spcAft>
                <a:spcPts val="400"/>
              </a:spcAft>
              <a:buSzPct val="100000"/>
              <a:buChar char="•"/>
            </a:pPr>
            <a:r>
              <a:rPr lang="en-US" sz="1350" dirty="0">
                <a:solidFill>
                  <a:srgbClr val="1A5F7A"/>
                </a:solidFill>
                <a:latin typeface="Calibri" pitchFamily="34" charset="0"/>
                <a:ea typeface="Calibri" pitchFamily="34" charset="-122"/>
                <a:cs typeface="Calibri" pitchFamily="34" charset="-120"/>
              </a:rPr>
              <a:t>Logging</a:t>
            </a:r>
            <a:endParaRPr lang="en-US" sz="1350" dirty="0"/>
          </a:p>
          <a:p>
            <a:pPr marL="177800" indent="-177800">
              <a:spcAft>
                <a:spcPts val="400"/>
              </a:spcAft>
              <a:buSzPct val="100000"/>
              <a:buChar char="•"/>
            </a:pPr>
            <a:r>
              <a:rPr lang="en-US" sz="1350" dirty="0">
                <a:solidFill>
                  <a:srgbClr val="1A5F7A"/>
                </a:solidFill>
                <a:latin typeface="Calibri" pitchFamily="34" charset="0"/>
                <a:ea typeface="Calibri" pitchFamily="34" charset="-122"/>
                <a:cs typeface="Calibri" pitchFamily="34" charset="-120"/>
              </a:rPr>
              <a:t>Egress consistency</a:t>
            </a:r>
            <a:endParaRPr lang="en-US" sz="1350" dirty="0"/>
          </a:p>
          <a:p>
            <a:pPr marL="177800" indent="-177800">
              <a:spcAft>
                <a:spcPts val="400"/>
              </a:spcAft>
              <a:buSzPct val="100000"/>
              <a:buChar char="•"/>
            </a:pPr>
            <a:r>
              <a:rPr lang="en-US" sz="1350" dirty="0">
                <a:solidFill>
                  <a:srgbClr val="1A5F7A"/>
                </a:solidFill>
                <a:latin typeface="Calibri" pitchFamily="34" charset="0"/>
                <a:ea typeface="Calibri" pitchFamily="34" charset="-122"/>
                <a:cs typeface="Calibri" pitchFamily="34" charset="-120"/>
              </a:rPr>
              <a:t>Third-party firewall integration</a:t>
            </a:r>
            <a:endParaRPr lang="en-US" sz="1350" dirty="0"/>
          </a:p>
          <a:p>
            <a:pPr marL="177800" indent="-177800">
              <a:spcAft>
                <a:spcPts val="400"/>
              </a:spcAft>
              <a:buSzPct val="100000"/>
              <a:buChar char="•"/>
            </a:pPr>
            <a:r>
              <a:rPr lang="en-US" sz="1350" dirty="0">
                <a:solidFill>
                  <a:srgbClr val="1A5F7A"/>
                </a:solidFill>
                <a:latin typeface="Calibri" pitchFamily="34" charset="0"/>
                <a:ea typeface="Calibri" pitchFamily="34" charset="-122"/>
                <a:cs typeface="Calibri" pitchFamily="34" charset="-120"/>
              </a:rPr>
              <a:t>Network troubleshooting visibility</a:t>
            </a:r>
            <a:endParaRPr lang="en-US" sz="1350" dirty="0"/>
          </a:p>
        </p:txBody>
      </p:sp>
      <p:sp>
        <p:nvSpPr>
          <p:cNvPr id="22" name="Text 20"/>
          <p:cNvSpPr/>
          <p:nvPr/>
        </p:nvSpPr>
        <p:spPr>
          <a:xfrm>
            <a:off x="6839712" y="5257800"/>
            <a:ext cx="4389120" cy="365760"/>
          </a:xfrm>
          <a:prstGeom prst="rect">
            <a:avLst/>
          </a:prstGeom>
          <a:noFill/>
          <a:ln/>
        </p:spPr>
        <p:txBody>
          <a:bodyPr wrap="square" lIns="0" tIns="0" rIns="0" bIns="0" rtlCol="0" anchor="ctr"/>
          <a:lstStyle/>
          <a:p>
            <a:pPr indent="0" marL="0">
              <a:buNone/>
            </a:pPr>
            <a:r>
              <a:rPr lang="en-US" sz="1200" i="1" dirty="0">
                <a:solidFill>
                  <a:srgbClr val="1A5F7A"/>
                </a:solidFill>
                <a:latin typeface="Calibri" pitchFamily="34" charset="0"/>
                <a:ea typeface="Calibri" pitchFamily="34" charset="-122"/>
                <a:cs typeface="Calibri" pitchFamily="34" charset="-120"/>
              </a:rPr>
              <a:t>The same security patterns already used in the physical data center now apply here.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37744"/>
          </a:xfrm>
          <a:prstGeom prst="rect">
            <a:avLst/>
          </a:prstGeom>
          <a:noFill/>
          <a:ln/>
        </p:spPr>
        <p:txBody>
          <a:bodyPr wrap="square" lIns="0" tIns="0" rIns="0" bIns="0" rtlCol="0" anchor="ctr"/>
          <a:lstStyle/>
          <a:p>
            <a:pPr indent="0" marL="0">
              <a:buNone/>
            </a:pPr>
            <a:r>
              <a:rPr lang="en-US" sz="1100" b="1" spc="200" kern="0" dirty="0">
                <a:solidFill>
                  <a:srgbClr val="00B3E2"/>
                </a:solidFill>
                <a:latin typeface="Calibri" pitchFamily="34" charset="0"/>
                <a:ea typeface="Calibri" pitchFamily="34" charset="-122"/>
                <a:cs typeface="Calibri" pitchFamily="34" charset="-120"/>
              </a:rPr>
              <a:t>CORPORATE CONNECTIVITY</a:t>
            </a:r>
            <a:endParaRPr lang="en-US" sz="1100" dirty="0"/>
          </a:p>
        </p:txBody>
      </p:sp>
      <p:sp>
        <p:nvSpPr>
          <p:cNvPr id="3" name="Text 1"/>
          <p:cNvSpPr/>
          <p:nvPr/>
        </p:nvSpPr>
        <p:spPr>
          <a:xfrm>
            <a:off x="640080" y="658368"/>
            <a:ext cx="10911535" cy="566928"/>
          </a:xfrm>
          <a:prstGeom prst="rect">
            <a:avLst/>
          </a:prstGeom>
          <a:noFill/>
          <a:ln/>
        </p:spPr>
        <p:txBody>
          <a:bodyPr wrap="square" lIns="0" tIns="0" rIns="0" bIns="0" rtlCol="0" anchor="ctr"/>
          <a:lstStyle/>
          <a:p>
            <a:pPr indent="0" marL="0">
              <a:buNone/>
            </a:pPr>
            <a:r>
              <a:rPr lang="en-US" sz="3400" b="1" dirty="0">
                <a:solidFill>
                  <a:srgbClr val="3E3E4B"/>
                </a:solidFill>
                <a:latin typeface="Calibri" pitchFamily="34" charset="0"/>
                <a:ea typeface="Calibri" pitchFamily="34" charset="-122"/>
                <a:cs typeface="Calibri" pitchFamily="34" charset="-120"/>
              </a:rPr>
              <a:t>VPN scale units and the crypto bottleneck</a:t>
            </a:r>
            <a:endParaRPr lang="en-US" sz="3400" dirty="0"/>
          </a:p>
        </p:txBody>
      </p:sp>
      <p:sp>
        <p:nvSpPr>
          <p:cNvPr id="4" name="Shape 2"/>
          <p:cNvSpPr/>
          <p:nvPr/>
        </p:nvSpPr>
        <p:spPr>
          <a:xfrm>
            <a:off x="640080" y="1600200"/>
            <a:ext cx="4114800" cy="2240280"/>
          </a:xfrm>
          <a:prstGeom prst="roundRect">
            <a:avLst>
              <a:gd name="adj" fmla="val 2857"/>
            </a:avLst>
          </a:prstGeom>
          <a:solidFill>
            <a:srgbClr val="3E3E4B"/>
          </a:solidFill>
          <a:ln w="9525">
            <a:solidFill>
              <a:srgbClr val="3E3E4B"/>
            </a:solidFill>
            <a:prstDash val="solid"/>
          </a:ln>
        </p:spPr>
      </p:sp>
      <p:sp>
        <p:nvSpPr>
          <p:cNvPr id="5" name="Text 3"/>
          <p:cNvSpPr/>
          <p:nvPr/>
        </p:nvSpPr>
        <p:spPr>
          <a:xfrm>
            <a:off x="1005840" y="1828800"/>
            <a:ext cx="3383280" cy="777240"/>
          </a:xfrm>
          <a:prstGeom prst="rect">
            <a:avLst/>
          </a:prstGeom>
          <a:noFill/>
          <a:ln/>
        </p:spPr>
        <p:txBody>
          <a:bodyPr wrap="square" lIns="0" tIns="0" rIns="0" bIns="0" rtlCol="0" anchor="ctr"/>
          <a:lstStyle/>
          <a:p>
            <a:pPr indent="0" marL="0">
              <a:buNone/>
            </a:pPr>
            <a:r>
              <a:rPr lang="en-US" sz="4400" b="1" dirty="0">
                <a:solidFill>
                  <a:srgbClr val="00B3E2"/>
                </a:solidFill>
                <a:latin typeface="Calibri" pitchFamily="34" charset="0"/>
                <a:ea typeface="Calibri" pitchFamily="34" charset="-122"/>
                <a:cs typeface="Calibri" pitchFamily="34" charset="-120"/>
              </a:rPr>
              <a:t>500 Mbps</a:t>
            </a:r>
            <a:endParaRPr lang="en-US" sz="4400" dirty="0"/>
          </a:p>
        </p:txBody>
      </p:sp>
      <p:sp>
        <p:nvSpPr>
          <p:cNvPr id="6" name="Text 4"/>
          <p:cNvSpPr/>
          <p:nvPr/>
        </p:nvSpPr>
        <p:spPr>
          <a:xfrm>
            <a:off x="1005840" y="2606040"/>
            <a:ext cx="3383280" cy="3200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per scale unit</a:t>
            </a:r>
            <a:endParaRPr lang="en-US" sz="1600" dirty="0"/>
          </a:p>
        </p:txBody>
      </p:sp>
      <p:sp>
        <p:nvSpPr>
          <p:cNvPr id="7" name="Text 5"/>
          <p:cNvSpPr/>
          <p:nvPr/>
        </p:nvSpPr>
        <p:spPr>
          <a:xfrm>
            <a:off x="1005840" y="2971800"/>
            <a:ext cx="3383280" cy="777240"/>
          </a:xfrm>
          <a:prstGeom prst="rect">
            <a:avLst/>
          </a:prstGeom>
          <a:noFill/>
          <a:ln/>
        </p:spPr>
        <p:txBody>
          <a:bodyPr wrap="square" lIns="0" tIns="0" rIns="0" bIns="0" rtlCol="0" anchor="ctr"/>
          <a:lstStyle/>
          <a:p>
            <a:pPr indent="0" marL="0">
              <a:buNone/>
            </a:pPr>
            <a:r>
              <a:rPr lang="en-US" sz="1250" dirty="0">
                <a:solidFill>
                  <a:srgbClr val="C9CCD6"/>
                </a:solidFill>
                <a:latin typeface="Calibri" pitchFamily="34" charset="0"/>
                <a:ea typeface="Calibri" pitchFamily="34" charset="-122"/>
                <a:cs typeface="Calibri" pitchFamily="34" charset="-120"/>
              </a:rPr>
              <a:t>Deploying a scale unit automatically provisions two gateway instances for high availability, operating active-active or active-standby depending on the service design.</a:t>
            </a:r>
            <a:endParaRPr lang="en-US" sz="1250" dirty="0"/>
          </a:p>
        </p:txBody>
      </p:sp>
      <p:sp>
        <p:nvSpPr>
          <p:cNvPr id="8" name="Shape 6"/>
          <p:cNvSpPr/>
          <p:nvPr/>
        </p:nvSpPr>
        <p:spPr>
          <a:xfrm>
            <a:off x="640080" y="4023360"/>
            <a:ext cx="4114800" cy="1691640"/>
          </a:xfrm>
          <a:prstGeom prst="roundRect">
            <a:avLst>
              <a:gd name="adj" fmla="val 3784"/>
            </a:avLst>
          </a:prstGeom>
          <a:solidFill>
            <a:srgbClr val="E5F7FC"/>
          </a:solidFill>
          <a:ln w="9525">
            <a:solidFill>
              <a:srgbClr val="B2E8F6"/>
            </a:solidFill>
            <a:prstDash val="solid"/>
          </a:ln>
        </p:spPr>
      </p:sp>
      <p:sp>
        <p:nvSpPr>
          <p:cNvPr id="9" name="Text 7"/>
          <p:cNvSpPr/>
          <p:nvPr/>
        </p:nvSpPr>
        <p:spPr>
          <a:xfrm>
            <a:off x="960120" y="4206240"/>
            <a:ext cx="3474720" cy="274320"/>
          </a:xfrm>
          <a:prstGeom prst="rect">
            <a:avLst/>
          </a:prstGeom>
          <a:noFill/>
          <a:ln/>
        </p:spPr>
        <p:txBody>
          <a:bodyPr wrap="square" lIns="0" tIns="0" rIns="0" bIns="0" rtlCol="0" anchor="ctr"/>
          <a:lstStyle/>
          <a:p>
            <a:pPr indent="0" marL="0">
              <a:buNone/>
            </a:pPr>
            <a:r>
              <a:rPr lang="en-US" sz="1450" b="1" dirty="0">
                <a:solidFill>
                  <a:srgbClr val="3E3E4B"/>
                </a:solidFill>
                <a:latin typeface="Calibri" pitchFamily="34" charset="0"/>
                <a:ea typeface="Calibri" pitchFamily="34" charset="-122"/>
                <a:cs typeface="Calibri" pitchFamily="34" charset="-120"/>
              </a:rPr>
              <a:t>Size at the hub, not the branch</a:t>
            </a:r>
            <a:endParaRPr lang="en-US" sz="1450" dirty="0"/>
          </a:p>
        </p:txBody>
      </p:sp>
      <p:sp>
        <p:nvSpPr>
          <p:cNvPr id="10" name="Text 8"/>
          <p:cNvSpPr/>
          <p:nvPr/>
        </p:nvSpPr>
        <p:spPr>
          <a:xfrm>
            <a:off x="960120" y="4526280"/>
            <a:ext cx="3474720" cy="1051560"/>
          </a:xfrm>
          <a:prstGeom prst="rect">
            <a:avLst/>
          </a:prstGeom>
          <a:noFill/>
          <a:ln/>
        </p:spPr>
        <p:txBody>
          <a:bodyPr wrap="square" lIns="0" tIns="0" rIns="0" bIns="0" rtlCol="0" anchor="ctr"/>
          <a:lstStyle/>
          <a:p>
            <a:pPr indent="0" marL="0">
              <a:buNone/>
            </a:pPr>
            <a:r>
              <a:rPr lang="en-US" sz="1250" dirty="0">
                <a:solidFill>
                  <a:srgbClr val="1A5F7A"/>
                </a:solidFill>
                <a:latin typeface="Calibri" pitchFamily="34" charset="0"/>
                <a:ea typeface="Calibri" pitchFamily="34" charset="-122"/>
                <a:cs typeface="Calibri" pitchFamily="34" charset="-120"/>
              </a:rPr>
              <a:t>Branch requirements are calculated collectively. Five branches at 10 Mbps each require 50 Mbps aggregate. The gateway must carry all concurrent encrypted traffic, not the largest single branch.</a:t>
            </a:r>
            <a:endParaRPr lang="en-US" sz="1250" dirty="0"/>
          </a:p>
        </p:txBody>
      </p:sp>
      <p:sp>
        <p:nvSpPr>
          <p:cNvPr id="11" name="Text 9"/>
          <p:cNvSpPr/>
          <p:nvPr/>
        </p:nvSpPr>
        <p:spPr>
          <a:xfrm>
            <a:off x="5074920" y="1645920"/>
            <a:ext cx="6492240" cy="320040"/>
          </a:xfrm>
          <a:prstGeom prst="rect">
            <a:avLst/>
          </a:prstGeom>
          <a:noFill/>
          <a:ln/>
        </p:spPr>
        <p:txBody>
          <a:bodyPr wrap="square" lIns="0" tIns="0" rIns="0" bIns="0" rtlCol="0" anchor="ctr"/>
          <a:lstStyle/>
          <a:p>
            <a:pPr indent="0" marL="0">
              <a:buNone/>
            </a:pPr>
            <a:r>
              <a:rPr lang="en-US" sz="1900" b="1" dirty="0">
                <a:solidFill>
                  <a:srgbClr val="3E3E4B"/>
                </a:solidFill>
                <a:latin typeface="Calibri" pitchFamily="34" charset="0"/>
                <a:ea typeface="Calibri" pitchFamily="34" charset="-122"/>
                <a:cs typeface="Calibri" pitchFamily="34" charset="-120"/>
              </a:rPr>
              <a:t>Bandwidth is not the constraint. CPU is.</a:t>
            </a:r>
            <a:endParaRPr lang="en-US" sz="1900" dirty="0"/>
          </a:p>
        </p:txBody>
      </p:sp>
      <p:sp>
        <p:nvSpPr>
          <p:cNvPr id="12" name="Text 10"/>
          <p:cNvSpPr/>
          <p:nvPr/>
        </p:nvSpPr>
        <p:spPr>
          <a:xfrm>
            <a:off x="5074920" y="2057400"/>
            <a:ext cx="6473952" cy="1737360"/>
          </a:xfrm>
          <a:prstGeom prst="rect">
            <a:avLst/>
          </a:prstGeom>
          <a:noFill/>
          <a:ln/>
        </p:spPr>
        <p:txBody>
          <a:bodyPr wrap="square" lIns="0" tIns="0" rIns="0" bIns="0" rtlCol="0" anchor="ctr"/>
          <a:lstStyle/>
          <a:p>
            <a:pPr marL="177800" indent="-177800">
              <a:spcAft>
                <a:spcPts val="900"/>
              </a:spcAft>
              <a:buSzPct val="100000"/>
              <a:buChar char="•"/>
            </a:pPr>
            <a:r>
              <a:rPr lang="en-US" sz="1400" dirty="0">
                <a:solidFill>
                  <a:srgbClr val="55555F"/>
                </a:solidFill>
                <a:latin typeface="Calibri" pitchFamily="34" charset="0"/>
                <a:ea typeface="Calibri" pitchFamily="34" charset="-122"/>
                <a:cs typeface="Calibri" pitchFamily="34" charset="-120"/>
              </a:rPr>
              <a:t>Connectivity can come from site-to-site IPsec VPN, ExpressRoute, or Azure Virtual WAN, and tunnels may use IKEv1 or IKEv2.</a:t>
            </a:r>
            <a:endParaRPr lang="en-US" sz="1400" dirty="0"/>
          </a:p>
          <a:p>
            <a:pPr marL="177800" indent="-177800">
              <a:spcAft>
                <a:spcPts val="900"/>
              </a:spcAft>
              <a:buSzPct val="100000"/>
              <a:buChar char="•"/>
            </a:pPr>
            <a:r>
              <a:rPr lang="en-US" sz="1400" dirty="0">
                <a:solidFill>
                  <a:srgbClr val="55555F"/>
                </a:solidFill>
                <a:latin typeface="Calibri" pitchFamily="34" charset="0"/>
                <a:ea typeface="Calibri" pitchFamily="34" charset="-122"/>
                <a:cs typeface="Calibri" pitchFamily="34" charset="-120"/>
              </a:rPr>
              <a:t>VPN gateways perform both packet forwarding and computationally expensive AES encryption and decryption.</a:t>
            </a:r>
            <a:endParaRPr lang="en-US" sz="1400" dirty="0"/>
          </a:p>
          <a:p>
            <a:pPr marL="177800" indent="-177800">
              <a:spcAft>
                <a:spcPts val="900"/>
              </a:spcAft>
              <a:buSzPct val="100000"/>
              <a:buChar char="•"/>
            </a:pPr>
            <a:r>
              <a:rPr lang="en-US" sz="1400" dirty="0">
                <a:solidFill>
                  <a:srgbClr val="55555F"/>
                </a:solidFill>
                <a:latin typeface="Calibri" pitchFamily="34" charset="0"/>
                <a:ea typeface="Calibri" pitchFamily="34" charset="-122"/>
                <a:cs typeface="Calibri" pitchFamily="34" charset="-120"/>
              </a:rPr>
              <a:t>Gateway performance is therefore bounded by CPU and memory, not by the capacity of the physical link.</a:t>
            </a:r>
            <a:endParaRPr lang="en-US" sz="1400" dirty="0"/>
          </a:p>
        </p:txBody>
      </p:sp>
      <p:sp>
        <p:nvSpPr>
          <p:cNvPr id="13" name="Text 11"/>
          <p:cNvSpPr/>
          <p:nvPr/>
        </p:nvSpPr>
        <p:spPr>
          <a:xfrm>
            <a:off x="5074920" y="3886200"/>
            <a:ext cx="6492240" cy="320040"/>
          </a:xfrm>
          <a:prstGeom prst="rect">
            <a:avLst/>
          </a:prstGeom>
          <a:noFill/>
          <a:ln/>
        </p:spPr>
        <p:txBody>
          <a:bodyPr wrap="square" lIns="0" tIns="0" rIns="0" bIns="0" rtlCol="0" anchor="ctr"/>
          <a:lstStyle/>
          <a:p>
            <a:pPr indent="0" marL="0">
              <a:buNone/>
            </a:pPr>
            <a:r>
              <a:rPr lang="en-US" sz="1800" b="1" dirty="0">
                <a:solidFill>
                  <a:srgbClr val="F15D23"/>
                </a:solidFill>
                <a:latin typeface="Calibri" pitchFamily="34" charset="0"/>
                <a:ea typeface="Calibri" pitchFamily="34" charset="-122"/>
                <a:cs typeface="Calibri" pitchFamily="34" charset="-120"/>
              </a:rPr>
              <a:t>What undersizing looks like</a:t>
            </a:r>
            <a:endParaRPr lang="en-US" sz="1800" dirty="0"/>
          </a:p>
        </p:txBody>
      </p:sp>
      <p:sp>
        <p:nvSpPr>
          <p:cNvPr id="14" name="Shape 12"/>
          <p:cNvSpPr/>
          <p:nvPr/>
        </p:nvSpPr>
        <p:spPr>
          <a:xfrm>
            <a:off x="5074920" y="4297680"/>
            <a:ext cx="3108960" cy="777240"/>
          </a:xfrm>
          <a:prstGeom prst="roundRect">
            <a:avLst>
              <a:gd name="adj" fmla="val 8235"/>
            </a:avLst>
          </a:prstGeom>
          <a:solidFill>
            <a:srgbClr val="FDF0EB"/>
          </a:solidFill>
          <a:ln w="9525">
            <a:solidFill>
              <a:srgbClr val="F6C9B4"/>
            </a:solidFill>
            <a:prstDash val="solid"/>
          </a:ln>
        </p:spPr>
      </p:sp>
      <p:sp>
        <p:nvSpPr>
          <p:cNvPr id="15" name="Text 13"/>
          <p:cNvSpPr/>
          <p:nvPr/>
        </p:nvSpPr>
        <p:spPr>
          <a:xfrm>
            <a:off x="5276088" y="4389120"/>
            <a:ext cx="2706624" cy="274320"/>
          </a:xfrm>
          <a:prstGeom prst="rect">
            <a:avLst/>
          </a:prstGeom>
          <a:noFill/>
          <a:ln/>
        </p:spPr>
        <p:txBody>
          <a:bodyPr wrap="square" lIns="0" tIns="0" rIns="0" bIns="0" rtlCol="0" anchor="ctr"/>
          <a:lstStyle/>
          <a:p>
            <a:pPr indent="0" marL="0">
              <a:buNone/>
            </a:pPr>
            <a:r>
              <a:rPr lang="en-US" sz="1300" b="1" dirty="0">
                <a:solidFill>
                  <a:srgbClr val="3E3E4B"/>
                </a:solidFill>
                <a:latin typeface="Calibri" pitchFamily="34" charset="0"/>
                <a:ea typeface="Calibri" pitchFamily="34" charset="-122"/>
                <a:cs typeface="Calibri" pitchFamily="34" charset="-120"/>
              </a:rPr>
              <a:t>Links look healthy</a:t>
            </a:r>
            <a:endParaRPr lang="en-US" sz="1300" dirty="0"/>
          </a:p>
        </p:txBody>
      </p:sp>
      <p:sp>
        <p:nvSpPr>
          <p:cNvPr id="16" name="Text 14"/>
          <p:cNvSpPr/>
          <p:nvPr/>
        </p:nvSpPr>
        <p:spPr>
          <a:xfrm>
            <a:off x="5276088" y="4663440"/>
            <a:ext cx="2706624" cy="347472"/>
          </a:xfrm>
          <a:prstGeom prst="rect">
            <a:avLst/>
          </a:prstGeom>
          <a:noFill/>
          <a:ln/>
        </p:spPr>
        <p:txBody>
          <a:bodyPr wrap="square" lIns="0" tIns="0" rIns="0" bIns="0" rtlCol="0" anchor="ctr"/>
          <a:lstStyle/>
          <a:p>
            <a:pPr indent="0" marL="0">
              <a:buNone/>
            </a:pPr>
            <a:r>
              <a:rPr lang="en-US" sz="1150" dirty="0">
                <a:solidFill>
                  <a:srgbClr val="55555F"/>
                </a:solidFill>
                <a:latin typeface="Calibri" pitchFamily="34" charset="0"/>
                <a:ea typeface="Calibri" pitchFamily="34" charset="-122"/>
                <a:cs typeface="Calibri" pitchFamily="34" charset="-120"/>
              </a:rPr>
              <a:t>Physical connectivity reports no fault.</a:t>
            </a:r>
            <a:endParaRPr lang="en-US" sz="1150" dirty="0"/>
          </a:p>
        </p:txBody>
      </p:sp>
      <p:sp>
        <p:nvSpPr>
          <p:cNvPr id="17" name="Shape 15"/>
          <p:cNvSpPr/>
          <p:nvPr/>
        </p:nvSpPr>
        <p:spPr>
          <a:xfrm>
            <a:off x="8439912" y="4297680"/>
            <a:ext cx="3108960" cy="777240"/>
          </a:xfrm>
          <a:prstGeom prst="roundRect">
            <a:avLst>
              <a:gd name="adj" fmla="val 8235"/>
            </a:avLst>
          </a:prstGeom>
          <a:solidFill>
            <a:srgbClr val="FDF0EB"/>
          </a:solidFill>
          <a:ln w="9525">
            <a:solidFill>
              <a:srgbClr val="F6C9B4"/>
            </a:solidFill>
            <a:prstDash val="solid"/>
          </a:ln>
        </p:spPr>
      </p:sp>
      <p:sp>
        <p:nvSpPr>
          <p:cNvPr id="18" name="Text 16"/>
          <p:cNvSpPr/>
          <p:nvPr/>
        </p:nvSpPr>
        <p:spPr>
          <a:xfrm>
            <a:off x="8641080" y="4389120"/>
            <a:ext cx="2706624" cy="274320"/>
          </a:xfrm>
          <a:prstGeom prst="rect">
            <a:avLst/>
          </a:prstGeom>
          <a:noFill/>
          <a:ln/>
        </p:spPr>
        <p:txBody>
          <a:bodyPr wrap="square" lIns="0" tIns="0" rIns="0" bIns="0" rtlCol="0" anchor="ctr"/>
          <a:lstStyle/>
          <a:p>
            <a:pPr indent="0" marL="0">
              <a:buNone/>
            </a:pPr>
            <a:r>
              <a:rPr lang="en-US" sz="1300" b="1" dirty="0">
                <a:solidFill>
                  <a:srgbClr val="3E3E4B"/>
                </a:solidFill>
                <a:latin typeface="Calibri" pitchFamily="34" charset="0"/>
                <a:ea typeface="Calibri" pitchFamily="34" charset="-122"/>
                <a:cs typeface="Calibri" pitchFamily="34" charset="-120"/>
              </a:rPr>
              <a:t>Gateway buffers fill</a:t>
            </a:r>
            <a:endParaRPr lang="en-US" sz="1300" dirty="0"/>
          </a:p>
        </p:txBody>
      </p:sp>
      <p:sp>
        <p:nvSpPr>
          <p:cNvPr id="19" name="Text 17"/>
          <p:cNvSpPr/>
          <p:nvPr/>
        </p:nvSpPr>
        <p:spPr>
          <a:xfrm>
            <a:off x="8641080" y="4663440"/>
            <a:ext cx="2706624" cy="347472"/>
          </a:xfrm>
          <a:prstGeom prst="rect">
            <a:avLst/>
          </a:prstGeom>
          <a:noFill/>
          <a:ln/>
        </p:spPr>
        <p:txBody>
          <a:bodyPr wrap="square" lIns="0" tIns="0" rIns="0" bIns="0" rtlCol="0" anchor="ctr"/>
          <a:lstStyle/>
          <a:p>
            <a:pPr indent="0" marL="0">
              <a:buNone/>
            </a:pPr>
            <a:r>
              <a:rPr lang="en-US" sz="1150" dirty="0">
                <a:solidFill>
                  <a:srgbClr val="55555F"/>
                </a:solidFill>
                <a:latin typeface="Calibri" pitchFamily="34" charset="0"/>
                <a:ea typeface="Calibri" pitchFamily="34" charset="-122"/>
                <a:cs typeface="Calibri" pitchFamily="34" charset="-120"/>
              </a:rPr>
              <a:t>Queued packets accumulate in memory.</a:t>
            </a:r>
            <a:endParaRPr lang="en-US" sz="1150" dirty="0"/>
          </a:p>
        </p:txBody>
      </p:sp>
      <p:sp>
        <p:nvSpPr>
          <p:cNvPr id="20" name="Shape 18"/>
          <p:cNvSpPr/>
          <p:nvPr/>
        </p:nvSpPr>
        <p:spPr>
          <a:xfrm>
            <a:off x="5074920" y="5276088"/>
            <a:ext cx="3108960" cy="777240"/>
          </a:xfrm>
          <a:prstGeom prst="roundRect">
            <a:avLst>
              <a:gd name="adj" fmla="val 8235"/>
            </a:avLst>
          </a:prstGeom>
          <a:solidFill>
            <a:srgbClr val="FDF0EB"/>
          </a:solidFill>
          <a:ln w="9525">
            <a:solidFill>
              <a:srgbClr val="F6C9B4"/>
            </a:solidFill>
            <a:prstDash val="solid"/>
          </a:ln>
        </p:spPr>
      </p:sp>
      <p:sp>
        <p:nvSpPr>
          <p:cNvPr id="21" name="Text 19"/>
          <p:cNvSpPr/>
          <p:nvPr/>
        </p:nvSpPr>
        <p:spPr>
          <a:xfrm>
            <a:off x="5276088" y="5367528"/>
            <a:ext cx="2706624" cy="274320"/>
          </a:xfrm>
          <a:prstGeom prst="rect">
            <a:avLst/>
          </a:prstGeom>
          <a:noFill/>
          <a:ln/>
        </p:spPr>
        <p:txBody>
          <a:bodyPr wrap="square" lIns="0" tIns="0" rIns="0" bIns="0" rtlCol="0" anchor="ctr"/>
          <a:lstStyle/>
          <a:p>
            <a:pPr indent="0" marL="0">
              <a:buNone/>
            </a:pPr>
            <a:r>
              <a:rPr lang="en-US" sz="1300" b="1" dirty="0">
                <a:solidFill>
                  <a:srgbClr val="3E3E4B"/>
                </a:solidFill>
                <a:latin typeface="Calibri" pitchFamily="34" charset="0"/>
                <a:ea typeface="Calibri" pitchFamily="34" charset="-122"/>
                <a:cs typeface="Calibri" pitchFamily="34" charset="-120"/>
              </a:rPr>
              <a:t>Packets are silently dropped</a:t>
            </a:r>
            <a:endParaRPr lang="en-US" sz="1300" dirty="0"/>
          </a:p>
        </p:txBody>
      </p:sp>
      <p:sp>
        <p:nvSpPr>
          <p:cNvPr id="22" name="Text 20"/>
          <p:cNvSpPr/>
          <p:nvPr/>
        </p:nvSpPr>
        <p:spPr>
          <a:xfrm>
            <a:off x="5276088" y="5641848"/>
            <a:ext cx="2706624" cy="347472"/>
          </a:xfrm>
          <a:prstGeom prst="rect">
            <a:avLst/>
          </a:prstGeom>
          <a:noFill/>
          <a:ln/>
        </p:spPr>
        <p:txBody>
          <a:bodyPr wrap="square" lIns="0" tIns="0" rIns="0" bIns="0" rtlCol="0" anchor="ctr"/>
          <a:lstStyle/>
          <a:p>
            <a:pPr indent="0" marL="0">
              <a:buNone/>
            </a:pPr>
            <a:r>
              <a:rPr lang="en-US" sz="1150" dirty="0">
                <a:solidFill>
                  <a:srgbClr val="55555F"/>
                </a:solidFill>
                <a:latin typeface="Calibri" pitchFamily="34" charset="0"/>
                <a:ea typeface="Calibri" pitchFamily="34" charset="-122"/>
                <a:cs typeface="Calibri" pitchFamily="34" charset="-120"/>
              </a:rPr>
              <a:t>No error is raised to the application.</a:t>
            </a:r>
            <a:endParaRPr lang="en-US" sz="1150" dirty="0"/>
          </a:p>
        </p:txBody>
      </p:sp>
      <p:sp>
        <p:nvSpPr>
          <p:cNvPr id="23" name="Shape 21"/>
          <p:cNvSpPr/>
          <p:nvPr/>
        </p:nvSpPr>
        <p:spPr>
          <a:xfrm>
            <a:off x="8439912" y="5276088"/>
            <a:ext cx="3108960" cy="777240"/>
          </a:xfrm>
          <a:prstGeom prst="roundRect">
            <a:avLst>
              <a:gd name="adj" fmla="val 8235"/>
            </a:avLst>
          </a:prstGeom>
          <a:solidFill>
            <a:srgbClr val="FDF0EB"/>
          </a:solidFill>
          <a:ln w="9525">
            <a:solidFill>
              <a:srgbClr val="F6C9B4"/>
            </a:solidFill>
            <a:prstDash val="solid"/>
          </a:ln>
        </p:spPr>
      </p:sp>
      <p:sp>
        <p:nvSpPr>
          <p:cNvPr id="24" name="Text 22"/>
          <p:cNvSpPr/>
          <p:nvPr/>
        </p:nvSpPr>
        <p:spPr>
          <a:xfrm>
            <a:off x="8641080" y="5367528"/>
            <a:ext cx="2706624" cy="274320"/>
          </a:xfrm>
          <a:prstGeom prst="rect">
            <a:avLst/>
          </a:prstGeom>
          <a:noFill/>
          <a:ln/>
        </p:spPr>
        <p:txBody>
          <a:bodyPr wrap="square" lIns="0" tIns="0" rIns="0" bIns="0" rtlCol="0" anchor="ctr"/>
          <a:lstStyle/>
          <a:p>
            <a:pPr indent="0" marL="0">
              <a:buNone/>
            </a:pPr>
            <a:r>
              <a:rPr lang="en-US" sz="1300" b="1" dirty="0">
                <a:solidFill>
                  <a:srgbClr val="3E3E4B"/>
                </a:solidFill>
                <a:latin typeface="Calibri" pitchFamily="34" charset="0"/>
                <a:ea typeface="Calibri" pitchFamily="34" charset="-122"/>
                <a:cs typeface="Calibri" pitchFamily="34" charset="-120"/>
              </a:rPr>
              <a:t>Transfers slow or time out</a:t>
            </a:r>
            <a:endParaRPr lang="en-US" sz="1300" dirty="0"/>
          </a:p>
        </p:txBody>
      </p:sp>
      <p:sp>
        <p:nvSpPr>
          <p:cNvPr id="25" name="Text 23"/>
          <p:cNvSpPr/>
          <p:nvPr/>
        </p:nvSpPr>
        <p:spPr>
          <a:xfrm>
            <a:off x="8641080" y="5641848"/>
            <a:ext cx="2706624" cy="347472"/>
          </a:xfrm>
          <a:prstGeom prst="rect">
            <a:avLst/>
          </a:prstGeom>
          <a:noFill/>
          <a:ln/>
        </p:spPr>
        <p:txBody>
          <a:bodyPr wrap="square" lIns="0" tIns="0" rIns="0" bIns="0" rtlCol="0" anchor="ctr"/>
          <a:lstStyle/>
          <a:p>
            <a:pPr indent="0" marL="0">
              <a:buNone/>
            </a:pPr>
            <a:r>
              <a:rPr lang="en-US" sz="1150" dirty="0">
                <a:solidFill>
                  <a:srgbClr val="55555F"/>
                </a:solidFill>
                <a:latin typeface="Calibri" pitchFamily="34" charset="0"/>
                <a:ea typeface="Calibri" pitchFamily="34" charset="-122"/>
                <a:cs typeface="Calibri" pitchFamily="34" charset="-120"/>
              </a:rPr>
              <a:t>The symptom points anywhere but the gateway.</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37744"/>
          </a:xfrm>
          <a:prstGeom prst="rect">
            <a:avLst/>
          </a:prstGeom>
          <a:noFill/>
          <a:ln/>
        </p:spPr>
        <p:txBody>
          <a:bodyPr wrap="square" lIns="0" tIns="0" rIns="0" bIns="0" rtlCol="0" anchor="ctr"/>
          <a:lstStyle/>
          <a:p>
            <a:pPr indent="0" marL="0">
              <a:buNone/>
            </a:pPr>
            <a:r>
              <a:rPr lang="en-US" sz="1100" b="1" spc="200" kern="0" dirty="0">
                <a:solidFill>
                  <a:srgbClr val="00B3E2"/>
                </a:solidFill>
                <a:latin typeface="Calibri" pitchFamily="34" charset="0"/>
                <a:ea typeface="Calibri" pitchFamily="34" charset="-122"/>
                <a:cs typeface="Calibri" pitchFamily="34" charset="-120"/>
              </a:rPr>
              <a:t>ROUTING PREFERENCE</a:t>
            </a:r>
            <a:endParaRPr lang="en-US" sz="1100" dirty="0"/>
          </a:p>
        </p:txBody>
      </p:sp>
      <p:sp>
        <p:nvSpPr>
          <p:cNvPr id="3" name="Text 1"/>
          <p:cNvSpPr/>
          <p:nvPr/>
        </p:nvSpPr>
        <p:spPr>
          <a:xfrm>
            <a:off x="640080" y="658368"/>
            <a:ext cx="10911535" cy="566928"/>
          </a:xfrm>
          <a:prstGeom prst="rect">
            <a:avLst/>
          </a:prstGeom>
          <a:noFill/>
          <a:ln/>
        </p:spPr>
        <p:txBody>
          <a:bodyPr wrap="square" lIns="0" tIns="0" rIns="0" bIns="0" rtlCol="0" anchor="ctr"/>
          <a:lstStyle/>
          <a:p>
            <a:pPr indent="0" marL="0">
              <a:buNone/>
            </a:pPr>
            <a:r>
              <a:rPr lang="en-US" sz="3400" b="1" dirty="0">
                <a:solidFill>
                  <a:srgbClr val="3E3E4B"/>
                </a:solidFill>
                <a:latin typeface="Calibri" pitchFamily="34" charset="0"/>
                <a:ea typeface="Calibri" pitchFamily="34" charset="-122"/>
                <a:cs typeface="Calibri" pitchFamily="34" charset="-120"/>
              </a:rPr>
              <a:t>Hot potato and cold potato</a:t>
            </a:r>
            <a:endParaRPr lang="en-US" sz="3400" dirty="0"/>
          </a:p>
        </p:txBody>
      </p:sp>
      <p:sp>
        <p:nvSpPr>
          <p:cNvPr id="4" name="Text 2"/>
          <p:cNvSpPr/>
          <p:nvPr/>
        </p:nvSpPr>
        <p:spPr>
          <a:xfrm>
            <a:off x="640080" y="1371600"/>
            <a:ext cx="10972800" cy="411480"/>
          </a:xfrm>
          <a:prstGeom prst="rect">
            <a:avLst/>
          </a:prstGeom>
          <a:noFill/>
          <a:ln/>
        </p:spPr>
        <p:txBody>
          <a:bodyPr wrap="square" lIns="0" tIns="0" rIns="0" bIns="0" rtlCol="0" anchor="ctr"/>
          <a:lstStyle/>
          <a:p>
            <a:pPr indent="0" marL="0">
              <a:buNone/>
            </a:pPr>
            <a:r>
              <a:rPr lang="en-US" sz="1500" dirty="0">
                <a:solidFill>
                  <a:srgbClr val="55555F"/>
                </a:solidFill>
                <a:latin typeface="Calibri" pitchFamily="34" charset="0"/>
                <a:ea typeface="Calibri" pitchFamily="34" charset="-122"/>
                <a:cs typeface="Calibri" pitchFamily="34" charset="-120"/>
              </a:rPr>
              <a:t>Routing preference determines how long traffic stays on Microsoft's global network before it is handed to an ISP.</a:t>
            </a:r>
            <a:endParaRPr lang="en-US" sz="1500" dirty="0"/>
          </a:p>
        </p:txBody>
      </p:sp>
      <p:sp>
        <p:nvSpPr>
          <p:cNvPr id="5" name="Shape 3"/>
          <p:cNvSpPr/>
          <p:nvPr/>
        </p:nvSpPr>
        <p:spPr>
          <a:xfrm>
            <a:off x="640080" y="1920240"/>
            <a:ext cx="5257800" cy="3611880"/>
          </a:xfrm>
          <a:prstGeom prst="roundRect">
            <a:avLst>
              <a:gd name="adj" fmla="val 1772"/>
            </a:avLst>
          </a:prstGeom>
          <a:solidFill>
            <a:srgbClr val="F4F7F8"/>
          </a:solidFill>
          <a:ln w="9525">
            <a:solidFill>
              <a:srgbClr val="DDE2E2"/>
            </a:solidFill>
            <a:prstDash val="solid"/>
          </a:ln>
        </p:spPr>
      </p:sp>
      <p:sp>
        <p:nvSpPr>
          <p:cNvPr id="6" name="Shape 4"/>
          <p:cNvSpPr/>
          <p:nvPr/>
        </p:nvSpPr>
        <p:spPr>
          <a:xfrm>
            <a:off x="640080" y="1920240"/>
            <a:ext cx="5257800" cy="548640"/>
          </a:xfrm>
          <a:prstGeom prst="roundRect">
            <a:avLst>
              <a:gd name="adj" fmla="val 11667"/>
            </a:avLst>
          </a:prstGeom>
          <a:solidFill>
            <a:srgbClr val="FAC458"/>
          </a:solidFill>
          <a:ln w="12700">
            <a:solidFill>
              <a:srgbClr val="FAC458"/>
            </a:solidFill>
            <a:prstDash val="solid"/>
          </a:ln>
        </p:spPr>
      </p:sp>
      <p:sp>
        <p:nvSpPr>
          <p:cNvPr id="7" name="Text 5"/>
          <p:cNvSpPr/>
          <p:nvPr/>
        </p:nvSpPr>
        <p:spPr>
          <a:xfrm>
            <a:off x="960120" y="1920240"/>
            <a:ext cx="4617720" cy="548640"/>
          </a:xfrm>
          <a:prstGeom prst="rect">
            <a:avLst/>
          </a:prstGeom>
          <a:noFill/>
          <a:ln/>
        </p:spPr>
        <p:txBody>
          <a:bodyPr wrap="square" lIns="0" tIns="0" rIns="0" bIns="0" rtlCol="0" anchor="ctr"/>
          <a:lstStyle/>
          <a:p>
            <a:pPr indent="0" marL="0">
              <a:buNone/>
            </a:pPr>
            <a:r>
              <a:rPr lang="en-US" sz="1900" b="1" dirty="0">
                <a:solidFill>
                  <a:srgbClr val="1A1A22"/>
                </a:solidFill>
                <a:latin typeface="Calibri" pitchFamily="34" charset="0"/>
                <a:ea typeface="Calibri" pitchFamily="34" charset="-122"/>
                <a:cs typeface="Calibri" pitchFamily="34" charset="-120"/>
              </a:rPr>
              <a:t>Hot potato</a:t>
            </a:r>
            <a:endParaRPr lang="en-US" sz="1900" dirty="0"/>
          </a:p>
        </p:txBody>
      </p:sp>
      <p:sp>
        <p:nvSpPr>
          <p:cNvPr id="8" name="Text 6"/>
          <p:cNvSpPr/>
          <p:nvPr/>
        </p:nvSpPr>
        <p:spPr>
          <a:xfrm>
            <a:off x="960120" y="2606040"/>
            <a:ext cx="4617720" cy="822960"/>
          </a:xfrm>
          <a:prstGeom prst="rect">
            <a:avLst/>
          </a:prstGeom>
          <a:noFill/>
          <a:ln/>
        </p:spPr>
        <p:txBody>
          <a:bodyPr wrap="square" lIns="0" tIns="0" rIns="0" bIns="0" rtlCol="0" anchor="ctr"/>
          <a:lstStyle/>
          <a:p>
            <a:pPr indent="0" marL="0">
              <a:buNone/>
            </a:pPr>
            <a:r>
              <a:rPr lang="en-US" sz="1350" dirty="0">
                <a:solidFill>
                  <a:srgbClr val="55555F"/>
                </a:solidFill>
                <a:latin typeface="Calibri" pitchFamily="34" charset="0"/>
                <a:ea typeface="Calibri" pitchFamily="34" charset="-122"/>
                <a:cs typeface="Calibri" pitchFamily="34" charset="-120"/>
              </a:rPr>
              <a:t>Traffic leaves Microsoft's network as soon as possible and traverses the public internet for most of the path.</a:t>
            </a:r>
            <a:endParaRPr lang="en-US" sz="1350" dirty="0"/>
          </a:p>
        </p:txBody>
      </p:sp>
      <p:sp>
        <p:nvSpPr>
          <p:cNvPr id="9" name="Text 7"/>
          <p:cNvSpPr/>
          <p:nvPr/>
        </p:nvSpPr>
        <p:spPr>
          <a:xfrm>
            <a:off x="960120" y="3456432"/>
            <a:ext cx="4617720" cy="228600"/>
          </a:xfrm>
          <a:prstGeom prst="rect">
            <a:avLst/>
          </a:prstGeom>
          <a:noFill/>
          <a:ln/>
        </p:spPr>
        <p:txBody>
          <a:bodyPr wrap="square" lIns="0" tIns="0" rIns="0" bIns="0" rtlCol="0" anchor="ctr"/>
          <a:lstStyle/>
          <a:p>
            <a:pPr indent="0" marL="0">
              <a:buNone/>
            </a:pPr>
            <a:r>
              <a:rPr lang="en-US" sz="1050" b="1" spc="150" kern="0" dirty="0">
                <a:solidFill>
                  <a:srgbClr val="00AD93"/>
                </a:solidFill>
                <a:latin typeface="Calibri" pitchFamily="34" charset="0"/>
                <a:ea typeface="Calibri" pitchFamily="34" charset="-122"/>
                <a:cs typeface="Calibri" pitchFamily="34" charset="-120"/>
              </a:rPr>
              <a:t>ADVANTAGES</a:t>
            </a:r>
            <a:endParaRPr lang="en-US" sz="1050" dirty="0"/>
          </a:p>
        </p:txBody>
      </p:sp>
      <p:sp>
        <p:nvSpPr>
          <p:cNvPr id="10" name="Text 8"/>
          <p:cNvSpPr/>
          <p:nvPr/>
        </p:nvSpPr>
        <p:spPr>
          <a:xfrm>
            <a:off x="960120" y="3712464"/>
            <a:ext cx="4617720" cy="731520"/>
          </a:xfrm>
          <a:prstGeom prst="rect">
            <a:avLst/>
          </a:prstGeom>
          <a:noFill/>
          <a:ln/>
        </p:spPr>
        <p:txBody>
          <a:bodyPr wrap="square" lIns="0" tIns="0" rIns="0" bIns="0" rtlCol="0" anchor="ctr"/>
          <a:lstStyle/>
          <a:p>
            <a:pPr marL="177800" indent="-177800">
              <a:spcAft>
                <a:spcPts val="300"/>
              </a:spcAft>
              <a:buSzPct val="100000"/>
              <a:buChar char="•"/>
            </a:pPr>
            <a:r>
              <a:rPr lang="en-US" sz="1250" dirty="0">
                <a:solidFill>
                  <a:srgbClr val="55555F"/>
                </a:solidFill>
                <a:latin typeface="Calibri" pitchFamily="34" charset="0"/>
                <a:ea typeface="Calibri" pitchFamily="34" charset="-122"/>
                <a:cs typeface="Calibri" pitchFamily="34" charset="-120"/>
              </a:rPr>
              <a:t>Lower provider cost</a:t>
            </a:r>
            <a:endParaRPr lang="en-US" sz="1250" dirty="0"/>
          </a:p>
          <a:p>
            <a:pPr marL="177800" indent="-177800">
              <a:spcAft>
                <a:spcPts val="300"/>
              </a:spcAft>
              <a:buSzPct val="100000"/>
              <a:buChar char="•"/>
            </a:pPr>
            <a:r>
              <a:rPr lang="en-US" sz="1250" dirty="0">
                <a:solidFill>
                  <a:srgbClr val="55555F"/>
                </a:solidFill>
                <a:latin typeface="Calibri" pitchFamily="34" charset="0"/>
                <a:ea typeface="Calibri" pitchFamily="34" charset="-122"/>
                <a:cs typeface="Calibri" pitchFamily="34" charset="-120"/>
              </a:rPr>
              <a:t>Potentially lower network-service expense</a:t>
            </a:r>
            <a:endParaRPr lang="en-US" sz="1250" dirty="0"/>
          </a:p>
        </p:txBody>
      </p:sp>
      <p:sp>
        <p:nvSpPr>
          <p:cNvPr id="11" name="Text 9"/>
          <p:cNvSpPr/>
          <p:nvPr/>
        </p:nvSpPr>
        <p:spPr>
          <a:xfrm>
            <a:off x="960120" y="4498848"/>
            <a:ext cx="4617720" cy="228600"/>
          </a:xfrm>
          <a:prstGeom prst="rect">
            <a:avLst/>
          </a:prstGeom>
          <a:noFill/>
          <a:ln/>
        </p:spPr>
        <p:txBody>
          <a:bodyPr wrap="square" lIns="0" tIns="0" rIns="0" bIns="0" rtlCol="0" anchor="ctr"/>
          <a:lstStyle/>
          <a:p>
            <a:pPr indent="0" marL="0">
              <a:buNone/>
            </a:pPr>
            <a:r>
              <a:rPr lang="en-US" sz="1050" b="1" spc="150" kern="0" dirty="0">
                <a:solidFill>
                  <a:srgbClr val="F15D23"/>
                </a:solidFill>
                <a:latin typeface="Calibri" pitchFamily="34" charset="0"/>
                <a:ea typeface="Calibri" pitchFamily="34" charset="-122"/>
                <a:cs typeface="Calibri" pitchFamily="34" charset="-120"/>
              </a:rPr>
              <a:t>TRADE-OFFS</a:t>
            </a:r>
            <a:endParaRPr lang="en-US" sz="1050" dirty="0"/>
          </a:p>
        </p:txBody>
      </p:sp>
      <p:sp>
        <p:nvSpPr>
          <p:cNvPr id="12" name="Text 10"/>
          <p:cNvSpPr/>
          <p:nvPr/>
        </p:nvSpPr>
        <p:spPr>
          <a:xfrm>
            <a:off x="960120" y="4754880"/>
            <a:ext cx="4617720" cy="731520"/>
          </a:xfrm>
          <a:prstGeom prst="rect">
            <a:avLst/>
          </a:prstGeom>
          <a:noFill/>
          <a:ln/>
        </p:spPr>
        <p:txBody>
          <a:bodyPr wrap="square" lIns="0" tIns="0" rIns="0" bIns="0" rtlCol="0" anchor="ctr"/>
          <a:lstStyle/>
          <a:p>
            <a:pPr marL="177800" indent="-177800">
              <a:spcAft>
                <a:spcPts val="300"/>
              </a:spcAft>
              <a:buSzPct val="100000"/>
              <a:buChar char="•"/>
            </a:pPr>
            <a:r>
              <a:rPr lang="en-US" sz="1250" dirty="0">
                <a:solidFill>
                  <a:srgbClr val="55555F"/>
                </a:solidFill>
                <a:latin typeface="Calibri" pitchFamily="34" charset="0"/>
                <a:ea typeface="Calibri" pitchFamily="34" charset="-122"/>
                <a:cs typeface="Calibri" pitchFamily="34" charset="-120"/>
              </a:rPr>
              <a:t>Less predictable latency</a:t>
            </a:r>
            <a:endParaRPr lang="en-US" sz="1250" dirty="0"/>
          </a:p>
          <a:p>
            <a:pPr marL="177800" indent="-177800">
              <a:spcAft>
                <a:spcPts val="300"/>
              </a:spcAft>
              <a:buSzPct val="100000"/>
              <a:buChar char="•"/>
            </a:pPr>
            <a:r>
              <a:rPr lang="en-US" sz="1250" dirty="0">
                <a:solidFill>
                  <a:srgbClr val="55555F"/>
                </a:solidFill>
                <a:latin typeface="Calibri" pitchFamily="34" charset="0"/>
                <a:ea typeface="Calibri" pitchFamily="34" charset="-122"/>
                <a:cs typeface="Calibri" pitchFamily="34" charset="-120"/>
              </a:rPr>
              <a:t>Greater exposure to public internet congestion</a:t>
            </a:r>
            <a:endParaRPr lang="en-US" sz="1250" dirty="0"/>
          </a:p>
          <a:p>
            <a:pPr marL="177800" indent="-177800">
              <a:spcAft>
                <a:spcPts val="300"/>
              </a:spcAft>
              <a:buSzPct val="100000"/>
              <a:buChar char="•"/>
            </a:pPr>
            <a:r>
              <a:rPr lang="en-US" sz="1250" dirty="0">
                <a:solidFill>
                  <a:srgbClr val="55555F"/>
                </a:solidFill>
                <a:latin typeface="Calibri" pitchFamily="34" charset="0"/>
                <a:ea typeface="Calibri" pitchFamily="34" charset="-122"/>
                <a:cs typeface="Calibri" pitchFamily="34" charset="-120"/>
              </a:rPr>
              <a:t>Dependence on ISP peering and BGP conditions</a:t>
            </a:r>
            <a:endParaRPr lang="en-US" sz="1250" dirty="0"/>
          </a:p>
        </p:txBody>
      </p:sp>
      <p:sp>
        <p:nvSpPr>
          <p:cNvPr id="13" name="Shape 11"/>
          <p:cNvSpPr/>
          <p:nvPr/>
        </p:nvSpPr>
        <p:spPr>
          <a:xfrm>
            <a:off x="6291072" y="1920240"/>
            <a:ext cx="5257800" cy="3611880"/>
          </a:xfrm>
          <a:prstGeom prst="roundRect">
            <a:avLst>
              <a:gd name="adj" fmla="val 1772"/>
            </a:avLst>
          </a:prstGeom>
          <a:solidFill>
            <a:srgbClr val="F4F7F8"/>
          </a:solidFill>
          <a:ln w="9525">
            <a:solidFill>
              <a:srgbClr val="DDE2E2"/>
            </a:solidFill>
            <a:prstDash val="solid"/>
          </a:ln>
        </p:spPr>
      </p:sp>
      <p:sp>
        <p:nvSpPr>
          <p:cNvPr id="14" name="Shape 12"/>
          <p:cNvSpPr/>
          <p:nvPr/>
        </p:nvSpPr>
        <p:spPr>
          <a:xfrm>
            <a:off x="6291072" y="1920240"/>
            <a:ext cx="5257800" cy="548640"/>
          </a:xfrm>
          <a:prstGeom prst="roundRect">
            <a:avLst>
              <a:gd name="adj" fmla="val 11667"/>
            </a:avLst>
          </a:prstGeom>
          <a:solidFill>
            <a:srgbClr val="00AD93"/>
          </a:solidFill>
          <a:ln w="12700">
            <a:solidFill>
              <a:srgbClr val="00AD93"/>
            </a:solidFill>
            <a:prstDash val="solid"/>
          </a:ln>
        </p:spPr>
      </p:sp>
      <p:sp>
        <p:nvSpPr>
          <p:cNvPr id="15" name="Text 13"/>
          <p:cNvSpPr/>
          <p:nvPr/>
        </p:nvSpPr>
        <p:spPr>
          <a:xfrm>
            <a:off x="6611112" y="1920240"/>
            <a:ext cx="4617720" cy="54864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Cold potato</a:t>
            </a:r>
            <a:endParaRPr lang="en-US" sz="1900" dirty="0"/>
          </a:p>
        </p:txBody>
      </p:sp>
      <p:sp>
        <p:nvSpPr>
          <p:cNvPr id="16" name="Text 14"/>
          <p:cNvSpPr/>
          <p:nvPr/>
        </p:nvSpPr>
        <p:spPr>
          <a:xfrm>
            <a:off x="6611112" y="2606040"/>
            <a:ext cx="4617720" cy="822960"/>
          </a:xfrm>
          <a:prstGeom prst="rect">
            <a:avLst/>
          </a:prstGeom>
          <a:noFill/>
          <a:ln/>
        </p:spPr>
        <p:txBody>
          <a:bodyPr wrap="square" lIns="0" tIns="0" rIns="0" bIns="0" rtlCol="0" anchor="ctr"/>
          <a:lstStyle/>
          <a:p>
            <a:pPr indent="0" marL="0">
              <a:buNone/>
            </a:pPr>
            <a:r>
              <a:rPr lang="en-US" sz="1350" dirty="0">
                <a:solidFill>
                  <a:srgbClr val="55555F"/>
                </a:solidFill>
                <a:latin typeface="Calibri" pitchFamily="34" charset="0"/>
                <a:ea typeface="Calibri" pitchFamily="34" charset="-122"/>
                <a:cs typeface="Calibri" pitchFamily="34" charset="-120"/>
              </a:rPr>
              <a:t>Microsoft retains traffic on its private global backbone as long as possible and hands it to the destination ISP near the endpoint.</a:t>
            </a:r>
            <a:endParaRPr lang="en-US" sz="1350" dirty="0"/>
          </a:p>
        </p:txBody>
      </p:sp>
      <p:sp>
        <p:nvSpPr>
          <p:cNvPr id="17" name="Text 15"/>
          <p:cNvSpPr/>
          <p:nvPr/>
        </p:nvSpPr>
        <p:spPr>
          <a:xfrm>
            <a:off x="6611112" y="3456432"/>
            <a:ext cx="4617720" cy="228600"/>
          </a:xfrm>
          <a:prstGeom prst="rect">
            <a:avLst/>
          </a:prstGeom>
          <a:noFill/>
          <a:ln/>
        </p:spPr>
        <p:txBody>
          <a:bodyPr wrap="square" lIns="0" tIns="0" rIns="0" bIns="0" rtlCol="0" anchor="ctr"/>
          <a:lstStyle/>
          <a:p>
            <a:pPr indent="0" marL="0">
              <a:buNone/>
            </a:pPr>
            <a:r>
              <a:rPr lang="en-US" sz="1050" b="1" spc="150" kern="0" dirty="0">
                <a:solidFill>
                  <a:srgbClr val="00AD93"/>
                </a:solidFill>
                <a:latin typeface="Calibri" pitchFamily="34" charset="0"/>
                <a:ea typeface="Calibri" pitchFamily="34" charset="-122"/>
                <a:cs typeface="Calibri" pitchFamily="34" charset="-120"/>
              </a:rPr>
              <a:t>ADVANTAGES</a:t>
            </a:r>
            <a:endParaRPr lang="en-US" sz="1050" dirty="0"/>
          </a:p>
        </p:txBody>
      </p:sp>
      <p:sp>
        <p:nvSpPr>
          <p:cNvPr id="18" name="Text 16"/>
          <p:cNvSpPr/>
          <p:nvPr/>
        </p:nvSpPr>
        <p:spPr>
          <a:xfrm>
            <a:off x="6611112" y="3712464"/>
            <a:ext cx="4617720" cy="731520"/>
          </a:xfrm>
          <a:prstGeom prst="rect">
            <a:avLst/>
          </a:prstGeom>
          <a:noFill/>
          <a:ln/>
        </p:spPr>
        <p:txBody>
          <a:bodyPr wrap="square" lIns="0" tIns="0" rIns="0" bIns="0" rtlCol="0" anchor="ctr"/>
          <a:lstStyle/>
          <a:p>
            <a:pPr marL="177800" indent="-177800">
              <a:spcAft>
                <a:spcPts val="300"/>
              </a:spcAft>
              <a:buSzPct val="100000"/>
              <a:buChar char="•"/>
            </a:pPr>
            <a:r>
              <a:rPr lang="en-US" sz="1250" dirty="0">
                <a:solidFill>
                  <a:srgbClr val="55555F"/>
                </a:solidFill>
                <a:latin typeface="Calibri" pitchFamily="34" charset="0"/>
                <a:ea typeface="Calibri" pitchFamily="34" charset="-122"/>
                <a:cs typeface="Calibri" pitchFamily="34" charset="-120"/>
              </a:rPr>
              <a:t>More predictable performance</a:t>
            </a:r>
            <a:endParaRPr lang="en-US" sz="1250" dirty="0"/>
          </a:p>
          <a:p>
            <a:pPr marL="177800" indent="-177800">
              <a:spcAft>
                <a:spcPts val="300"/>
              </a:spcAft>
              <a:buSzPct val="100000"/>
              <a:buChar char="•"/>
            </a:pPr>
            <a:r>
              <a:rPr lang="en-US" sz="1250" dirty="0">
                <a:solidFill>
                  <a:srgbClr val="55555F"/>
                </a:solidFill>
                <a:latin typeface="Calibri" pitchFamily="34" charset="0"/>
                <a:ea typeface="Calibri" pitchFamily="34" charset="-122"/>
                <a:cs typeface="Calibri" pitchFamily="34" charset="-120"/>
              </a:rPr>
              <a:t>Lower or more stable latency</a:t>
            </a:r>
            <a:endParaRPr lang="en-US" sz="1250" dirty="0"/>
          </a:p>
          <a:p>
            <a:pPr marL="177800" indent="-177800">
              <a:spcAft>
                <a:spcPts val="300"/>
              </a:spcAft>
              <a:buSzPct val="100000"/>
              <a:buChar char="•"/>
            </a:pPr>
            <a:r>
              <a:rPr lang="en-US" sz="1250" dirty="0">
                <a:solidFill>
                  <a:srgbClr val="55555F"/>
                </a:solidFill>
                <a:latin typeface="Calibri" pitchFamily="34" charset="0"/>
                <a:ea typeface="Calibri" pitchFamily="34" charset="-122"/>
                <a:cs typeface="Calibri" pitchFamily="34" charset="-120"/>
              </a:rPr>
              <a:t>Reduced exposure to public internet variability</a:t>
            </a:r>
            <a:endParaRPr lang="en-US" sz="1250" dirty="0"/>
          </a:p>
        </p:txBody>
      </p:sp>
      <p:sp>
        <p:nvSpPr>
          <p:cNvPr id="19" name="Text 17"/>
          <p:cNvSpPr/>
          <p:nvPr/>
        </p:nvSpPr>
        <p:spPr>
          <a:xfrm>
            <a:off x="6611112" y="4498848"/>
            <a:ext cx="4617720" cy="228600"/>
          </a:xfrm>
          <a:prstGeom prst="rect">
            <a:avLst/>
          </a:prstGeom>
          <a:noFill/>
          <a:ln/>
        </p:spPr>
        <p:txBody>
          <a:bodyPr wrap="square" lIns="0" tIns="0" rIns="0" bIns="0" rtlCol="0" anchor="ctr"/>
          <a:lstStyle/>
          <a:p>
            <a:pPr indent="0" marL="0">
              <a:buNone/>
            </a:pPr>
            <a:r>
              <a:rPr lang="en-US" sz="1050" b="1" spc="150" kern="0" dirty="0">
                <a:solidFill>
                  <a:srgbClr val="F15D23"/>
                </a:solidFill>
                <a:latin typeface="Calibri" pitchFamily="34" charset="0"/>
                <a:ea typeface="Calibri" pitchFamily="34" charset="-122"/>
                <a:cs typeface="Calibri" pitchFamily="34" charset="-120"/>
              </a:rPr>
              <a:t>TRADE-OFFS</a:t>
            </a:r>
            <a:endParaRPr lang="en-US" sz="1050" dirty="0"/>
          </a:p>
        </p:txBody>
      </p:sp>
      <p:sp>
        <p:nvSpPr>
          <p:cNvPr id="20" name="Text 18"/>
          <p:cNvSpPr/>
          <p:nvPr/>
        </p:nvSpPr>
        <p:spPr>
          <a:xfrm>
            <a:off x="6611112" y="4754880"/>
            <a:ext cx="4617720" cy="731520"/>
          </a:xfrm>
          <a:prstGeom prst="rect">
            <a:avLst/>
          </a:prstGeom>
          <a:noFill/>
          <a:ln/>
        </p:spPr>
        <p:txBody>
          <a:bodyPr wrap="square" lIns="0" tIns="0" rIns="0" bIns="0" rtlCol="0" anchor="ctr"/>
          <a:lstStyle/>
          <a:p>
            <a:pPr marL="177800" indent="-177800">
              <a:spcAft>
                <a:spcPts val="300"/>
              </a:spcAft>
              <a:buSzPct val="100000"/>
              <a:buChar char="•"/>
            </a:pPr>
            <a:r>
              <a:rPr lang="en-US" sz="1250" dirty="0">
                <a:solidFill>
                  <a:srgbClr val="55555F"/>
                </a:solidFill>
                <a:latin typeface="Calibri" pitchFamily="34" charset="0"/>
                <a:ea typeface="Calibri" pitchFamily="34" charset="-122"/>
                <a:cs typeface="Calibri" pitchFamily="34" charset="-120"/>
              </a:rPr>
              <a:t>Different cost implications</a:t>
            </a:r>
            <a:endParaRPr lang="en-US" sz="1250" dirty="0"/>
          </a:p>
        </p:txBody>
      </p:sp>
      <p:sp>
        <p:nvSpPr>
          <p:cNvPr id="21" name="Shape 19"/>
          <p:cNvSpPr/>
          <p:nvPr/>
        </p:nvSpPr>
        <p:spPr>
          <a:xfrm>
            <a:off x="640080" y="5669280"/>
            <a:ext cx="10911535" cy="731520"/>
          </a:xfrm>
          <a:prstGeom prst="roundRect">
            <a:avLst>
              <a:gd name="adj" fmla="val 8750"/>
            </a:avLst>
          </a:prstGeom>
          <a:solidFill>
            <a:srgbClr val="E5F7FC"/>
          </a:solidFill>
          <a:ln w="9525">
            <a:solidFill>
              <a:srgbClr val="B2E8F6"/>
            </a:solidFill>
            <a:prstDash val="solid"/>
          </a:ln>
        </p:spPr>
      </p:sp>
      <p:sp>
        <p:nvSpPr>
          <p:cNvPr id="22" name="Text 20"/>
          <p:cNvSpPr/>
          <p:nvPr/>
        </p:nvSpPr>
        <p:spPr>
          <a:xfrm>
            <a:off x="960120" y="5669280"/>
            <a:ext cx="10271455" cy="731520"/>
          </a:xfrm>
          <a:prstGeom prst="rect">
            <a:avLst/>
          </a:prstGeom>
          <a:noFill/>
          <a:ln/>
        </p:spPr>
        <p:txBody>
          <a:bodyPr wrap="square" lIns="0" tIns="0" rIns="0" bIns="0" rtlCol="0" anchor="ctr"/>
          <a:lstStyle/>
          <a:p>
            <a:pPr indent="0" marL="0">
              <a:buNone/>
            </a:pPr>
            <a:r>
              <a:rPr lang="en-US" sz="1400" b="1" dirty="0">
                <a:solidFill>
                  <a:srgbClr val="0A7FA6"/>
                </a:solidFill>
                <a:latin typeface="Calibri" pitchFamily="34" charset="0"/>
                <a:ea typeface="Calibri" pitchFamily="34" charset="-122"/>
                <a:cs typeface="Calibri" pitchFamily="34" charset="-120"/>
              </a:rPr>
              <a:t>Choose on workload requirements rather than as a generic default. The decision is a conscious balance of cost against performance predictability.</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37744"/>
          </a:xfrm>
          <a:prstGeom prst="rect">
            <a:avLst/>
          </a:prstGeom>
          <a:noFill/>
          <a:ln/>
        </p:spPr>
        <p:txBody>
          <a:bodyPr wrap="square" lIns="0" tIns="0" rIns="0" bIns="0" rtlCol="0" anchor="ctr"/>
          <a:lstStyle/>
          <a:p>
            <a:pPr indent="0" marL="0">
              <a:buNone/>
            </a:pPr>
            <a:r>
              <a:rPr lang="en-US" sz="1100" b="1" spc="200" kern="0" dirty="0">
                <a:solidFill>
                  <a:srgbClr val="00B3E2"/>
                </a:solidFill>
                <a:latin typeface="Calibri" pitchFamily="34" charset="0"/>
                <a:ea typeface="Calibri" pitchFamily="34" charset="-122"/>
                <a:cs typeface="Calibri" pitchFamily="34" charset="-120"/>
              </a:rPr>
              <a:t>ROUTE CAPACITY</a:t>
            </a:r>
            <a:endParaRPr lang="en-US" sz="1100" dirty="0"/>
          </a:p>
        </p:txBody>
      </p:sp>
      <p:sp>
        <p:nvSpPr>
          <p:cNvPr id="3" name="Text 1"/>
          <p:cNvSpPr/>
          <p:nvPr/>
        </p:nvSpPr>
        <p:spPr>
          <a:xfrm>
            <a:off x="640080" y="658368"/>
            <a:ext cx="10911535" cy="566928"/>
          </a:xfrm>
          <a:prstGeom prst="rect">
            <a:avLst/>
          </a:prstGeom>
          <a:noFill/>
          <a:ln/>
        </p:spPr>
        <p:txBody>
          <a:bodyPr wrap="square" lIns="0" tIns="0" rIns="0" bIns="0" rtlCol="0" anchor="ctr"/>
          <a:lstStyle/>
          <a:p>
            <a:pPr indent="0" marL="0">
              <a:buNone/>
            </a:pPr>
            <a:r>
              <a:rPr lang="en-US" sz="3400" b="1" dirty="0">
                <a:solidFill>
                  <a:srgbClr val="3E3E4B"/>
                </a:solidFill>
                <a:latin typeface="Calibri" pitchFamily="34" charset="0"/>
                <a:ea typeface="Calibri" pitchFamily="34" charset="-122"/>
                <a:cs typeface="Calibri" pitchFamily="34" charset="-120"/>
              </a:rPr>
              <a:t>BGP and the 1,000-prefix limit</a:t>
            </a:r>
            <a:endParaRPr lang="en-US" sz="3400" dirty="0"/>
          </a:p>
        </p:txBody>
      </p:sp>
      <p:sp>
        <p:nvSpPr>
          <p:cNvPr id="4" name="Text 2"/>
          <p:cNvSpPr/>
          <p:nvPr/>
        </p:nvSpPr>
        <p:spPr>
          <a:xfrm>
            <a:off x="640080" y="1600200"/>
            <a:ext cx="5257800" cy="1828800"/>
          </a:xfrm>
          <a:prstGeom prst="rect">
            <a:avLst/>
          </a:prstGeom>
          <a:noFill/>
          <a:ln/>
        </p:spPr>
        <p:txBody>
          <a:bodyPr wrap="square" lIns="0" tIns="0" rIns="0" bIns="0" rtlCol="0" anchor="ctr"/>
          <a:lstStyle/>
          <a:p>
            <a:pPr marL="177800" indent="-177800">
              <a:spcAft>
                <a:spcPts val="1000"/>
              </a:spcAft>
              <a:buSzPct val="100000"/>
              <a:buChar char="•"/>
            </a:pPr>
            <a:r>
              <a:rPr lang="en-US" sz="1450" dirty="0">
                <a:solidFill>
                  <a:srgbClr val="55555F"/>
                </a:solidFill>
                <a:latin typeface="Calibri" pitchFamily="34" charset="0"/>
                <a:ea typeface="Calibri" pitchFamily="34" charset="-122"/>
                <a:cs typeface="Calibri" pitchFamily="34" charset="-120"/>
              </a:rPr>
              <a:t>BGP advertises the location of NSX segments to Azure networking.</a:t>
            </a:r>
            <a:endParaRPr lang="en-US" sz="1450" dirty="0"/>
          </a:p>
          <a:p>
            <a:pPr marL="177800" indent="-177800">
              <a:spcAft>
                <a:spcPts val="1000"/>
              </a:spcAft>
              <a:buSzPct val="100000"/>
              <a:buChar char="•"/>
            </a:pPr>
            <a:r>
              <a:rPr lang="en-US" sz="1450" dirty="0">
                <a:solidFill>
                  <a:srgbClr val="55555F"/>
                </a:solidFill>
                <a:latin typeface="Calibri" pitchFamily="34" charset="0"/>
                <a:ea typeface="Calibri" pitchFamily="34" charset="-122"/>
                <a:cs typeface="Calibri" pitchFamily="34" charset="-120"/>
              </a:rPr>
              <a:t>Each advertised network consumes an entry in an Azure routing table.</a:t>
            </a:r>
            <a:endParaRPr lang="en-US" sz="1450" dirty="0"/>
          </a:p>
          <a:p>
            <a:pPr marL="177800" indent="-177800">
              <a:spcAft>
                <a:spcPts val="1000"/>
              </a:spcAft>
              <a:buSzPct val="100000"/>
              <a:buChar char="•"/>
            </a:pPr>
            <a:r>
              <a:rPr lang="en-US" sz="1450" dirty="0">
                <a:solidFill>
                  <a:srgbClr val="55555F"/>
                </a:solidFill>
                <a:latin typeface="Calibri" pitchFamily="34" charset="0"/>
                <a:ea typeface="Calibri" pitchFamily="34" charset="-122"/>
                <a:cs typeface="Calibri" pitchFamily="34" charset="-120"/>
              </a:rPr>
              <a:t>The Generation 2 design described here allows a maximum of 1,000 prefixes in the connected Azure virtual network.</a:t>
            </a:r>
            <a:endParaRPr lang="en-US" sz="1450" dirty="0"/>
          </a:p>
        </p:txBody>
      </p:sp>
      <p:sp>
        <p:nvSpPr>
          <p:cNvPr id="5" name="Shape 3"/>
          <p:cNvSpPr/>
          <p:nvPr/>
        </p:nvSpPr>
        <p:spPr>
          <a:xfrm>
            <a:off x="640080" y="3566160"/>
            <a:ext cx="5257800" cy="2148840"/>
          </a:xfrm>
          <a:prstGeom prst="roundRect">
            <a:avLst>
              <a:gd name="adj" fmla="val 2979"/>
            </a:avLst>
          </a:prstGeom>
          <a:solidFill>
            <a:srgbClr val="E5F7FC"/>
          </a:solidFill>
          <a:ln w="9525">
            <a:solidFill>
              <a:srgbClr val="B2E8F6"/>
            </a:solidFill>
            <a:prstDash val="solid"/>
          </a:ln>
        </p:spPr>
      </p:sp>
      <p:sp>
        <p:nvSpPr>
          <p:cNvPr id="6" name="Text 4"/>
          <p:cNvSpPr/>
          <p:nvPr/>
        </p:nvSpPr>
        <p:spPr>
          <a:xfrm>
            <a:off x="960120" y="3749040"/>
            <a:ext cx="4617720" cy="320040"/>
          </a:xfrm>
          <a:prstGeom prst="rect">
            <a:avLst/>
          </a:prstGeom>
          <a:noFill/>
          <a:ln/>
        </p:spPr>
        <p:txBody>
          <a:bodyPr wrap="square" lIns="0" tIns="0" rIns="0" bIns="0" rtlCol="0" anchor="ctr"/>
          <a:lstStyle/>
          <a:p>
            <a:pPr indent="0" marL="0">
              <a:buNone/>
            </a:pPr>
            <a:r>
              <a:rPr lang="en-US" sz="1600" b="1" dirty="0">
                <a:solidFill>
                  <a:srgbClr val="3E3E4B"/>
                </a:solidFill>
                <a:latin typeface="Calibri" pitchFamily="34" charset="0"/>
                <a:ea typeface="Calibri" pitchFamily="34" charset="-122"/>
                <a:cs typeface="Calibri" pitchFamily="34" charset="-120"/>
              </a:rPr>
              <a:t>Route planning is capacity management</a:t>
            </a:r>
            <a:endParaRPr lang="en-US" sz="1600" dirty="0"/>
          </a:p>
        </p:txBody>
      </p:sp>
      <p:sp>
        <p:nvSpPr>
          <p:cNvPr id="7" name="Text 5"/>
          <p:cNvSpPr/>
          <p:nvPr/>
        </p:nvSpPr>
        <p:spPr>
          <a:xfrm>
            <a:off x="960120" y="4114800"/>
            <a:ext cx="4617720" cy="1371600"/>
          </a:xfrm>
          <a:prstGeom prst="rect">
            <a:avLst/>
          </a:prstGeom>
          <a:noFill/>
          <a:ln/>
        </p:spPr>
        <p:txBody>
          <a:bodyPr wrap="square" lIns="0" tIns="0" rIns="0" bIns="0" rtlCol="0" anchor="ctr"/>
          <a:lstStyle/>
          <a:p>
            <a:pPr indent="0" marL="0">
              <a:buNone/>
            </a:pPr>
            <a:r>
              <a:rPr lang="en-US" sz="1350" dirty="0">
                <a:solidFill>
                  <a:srgbClr val="1A5F7A"/>
                </a:solidFill>
                <a:latin typeface="Calibri" pitchFamily="34" charset="0"/>
                <a:ea typeface="Calibri" pitchFamily="34" charset="-122"/>
                <a:cs typeface="Calibri" pitchFamily="34" charset="-120"/>
              </a:rPr>
              <a:t>It is not simply a connectivity exercise. A summarized network can represent thousands of addresses while consuming a single entry, and poorly summarized or host-specific routes consume the same finite table far more quickly.</a:t>
            </a:r>
            <a:endParaRPr lang="en-US" sz="1350" dirty="0"/>
          </a:p>
        </p:txBody>
      </p:sp>
      <p:sp>
        <p:nvSpPr>
          <p:cNvPr id="8" name="Shape 6"/>
          <p:cNvSpPr/>
          <p:nvPr/>
        </p:nvSpPr>
        <p:spPr>
          <a:xfrm>
            <a:off x="6519672" y="1600200"/>
            <a:ext cx="5029200" cy="4114800"/>
          </a:xfrm>
          <a:prstGeom prst="roundRect">
            <a:avLst>
              <a:gd name="adj" fmla="val 1556"/>
            </a:avLst>
          </a:prstGeom>
          <a:solidFill>
            <a:srgbClr val="3E3E4B"/>
          </a:solidFill>
          <a:ln w="9525">
            <a:solidFill>
              <a:srgbClr val="3E3E4B"/>
            </a:solidFill>
            <a:prstDash val="solid"/>
          </a:ln>
        </p:spPr>
      </p:sp>
      <p:sp>
        <p:nvSpPr>
          <p:cNvPr id="9" name="Text 7"/>
          <p:cNvSpPr/>
          <p:nvPr/>
        </p:nvSpPr>
        <p:spPr>
          <a:xfrm>
            <a:off x="6839712" y="1828800"/>
            <a:ext cx="4389120" cy="256032"/>
          </a:xfrm>
          <a:prstGeom prst="rect">
            <a:avLst/>
          </a:prstGeom>
          <a:noFill/>
          <a:ln/>
        </p:spPr>
        <p:txBody>
          <a:bodyPr wrap="square" lIns="0" tIns="0" rIns="0" bIns="0" rtlCol="0" anchor="ctr"/>
          <a:lstStyle/>
          <a:p>
            <a:pPr indent="0" marL="0">
              <a:buNone/>
            </a:pPr>
            <a:r>
              <a:rPr lang="en-US" sz="1100" b="1" spc="150" kern="0" dirty="0">
                <a:solidFill>
                  <a:srgbClr val="FAC458"/>
                </a:solidFill>
                <a:latin typeface="Calibri" pitchFamily="34" charset="0"/>
                <a:ea typeface="Calibri" pitchFamily="34" charset="-122"/>
                <a:cs typeface="Calibri" pitchFamily="34" charset="-120"/>
              </a:rPr>
              <a:t>THE SAME ADDRESSES, DIFFERENT COST</a:t>
            </a:r>
            <a:endParaRPr lang="en-US" sz="1100" dirty="0"/>
          </a:p>
        </p:txBody>
      </p:sp>
      <p:sp>
        <p:nvSpPr>
          <p:cNvPr id="10" name="Text 8"/>
          <p:cNvSpPr/>
          <p:nvPr/>
        </p:nvSpPr>
        <p:spPr>
          <a:xfrm>
            <a:off x="6839712" y="2286000"/>
            <a:ext cx="292608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One summarized /16</a:t>
            </a:r>
            <a:endParaRPr lang="en-US" sz="1500" dirty="0"/>
          </a:p>
        </p:txBody>
      </p:sp>
      <p:sp>
        <p:nvSpPr>
          <p:cNvPr id="11" name="Text 9"/>
          <p:cNvSpPr/>
          <p:nvPr/>
        </p:nvSpPr>
        <p:spPr>
          <a:xfrm>
            <a:off x="9784080" y="2286000"/>
            <a:ext cx="1463040" cy="365760"/>
          </a:xfrm>
          <a:prstGeom prst="rect">
            <a:avLst/>
          </a:prstGeom>
          <a:noFill/>
          <a:ln/>
        </p:spPr>
        <p:txBody>
          <a:bodyPr wrap="square" lIns="0" tIns="0" rIns="0" bIns="0" rtlCol="0" anchor="ctr"/>
          <a:lstStyle/>
          <a:p>
            <a:pPr algn="r" indent="0" marL="0">
              <a:buNone/>
            </a:pPr>
            <a:r>
              <a:rPr lang="en-US" sz="2000" b="1" dirty="0">
                <a:solidFill>
                  <a:srgbClr val="00B3E2"/>
                </a:solidFill>
                <a:latin typeface="Calibri" pitchFamily="34" charset="0"/>
                <a:ea typeface="Calibri" pitchFamily="34" charset="-122"/>
                <a:cs typeface="Calibri" pitchFamily="34" charset="-120"/>
              </a:rPr>
              <a:t>1 entry</a:t>
            </a:r>
            <a:endParaRPr lang="en-US" sz="2000" dirty="0"/>
          </a:p>
        </p:txBody>
      </p:sp>
      <p:sp>
        <p:nvSpPr>
          <p:cNvPr id="12" name="Text 10"/>
          <p:cNvSpPr/>
          <p:nvPr/>
        </p:nvSpPr>
        <p:spPr>
          <a:xfrm>
            <a:off x="6839712" y="2697480"/>
            <a:ext cx="4389120" cy="365760"/>
          </a:xfrm>
          <a:prstGeom prst="rect">
            <a:avLst/>
          </a:prstGeom>
          <a:noFill/>
          <a:ln/>
        </p:spPr>
        <p:txBody>
          <a:bodyPr wrap="square" lIns="0" tIns="0" rIns="0" bIns="0" rtlCol="0" anchor="ctr"/>
          <a:lstStyle/>
          <a:p>
            <a:pPr indent="0" marL="0">
              <a:buNone/>
            </a:pPr>
            <a:r>
              <a:rPr lang="en-US" sz="1250" dirty="0">
                <a:solidFill>
                  <a:srgbClr val="C9CCD6"/>
                </a:solidFill>
                <a:latin typeface="Calibri" pitchFamily="34" charset="0"/>
                <a:ea typeface="Calibri" pitchFamily="34" charset="-122"/>
                <a:cs typeface="Calibri" pitchFamily="34" charset="-120"/>
              </a:rPr>
              <a:t>Represents 65,536 addresses using a single slot in the table.</a:t>
            </a:r>
            <a:endParaRPr lang="en-US" sz="1250" dirty="0"/>
          </a:p>
        </p:txBody>
      </p:sp>
      <p:sp>
        <p:nvSpPr>
          <p:cNvPr id="13" name="Shape 11"/>
          <p:cNvSpPr/>
          <p:nvPr/>
        </p:nvSpPr>
        <p:spPr>
          <a:xfrm>
            <a:off x="6839712" y="3246120"/>
            <a:ext cx="4389120" cy="18288"/>
          </a:xfrm>
          <a:prstGeom prst="rect">
            <a:avLst/>
          </a:prstGeom>
          <a:solidFill>
            <a:srgbClr val="5C5C6C"/>
          </a:solidFill>
          <a:ln w="12700">
            <a:solidFill>
              <a:srgbClr val="5C5C6C"/>
            </a:solidFill>
            <a:prstDash val="solid"/>
          </a:ln>
        </p:spPr>
      </p:sp>
      <p:sp>
        <p:nvSpPr>
          <p:cNvPr id="14" name="Text 12"/>
          <p:cNvSpPr/>
          <p:nvPr/>
        </p:nvSpPr>
        <p:spPr>
          <a:xfrm>
            <a:off x="6839712" y="3429000"/>
            <a:ext cx="292608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Hundreds of specific routes</a:t>
            </a:r>
            <a:endParaRPr lang="en-US" sz="1500" dirty="0"/>
          </a:p>
        </p:txBody>
      </p:sp>
      <p:sp>
        <p:nvSpPr>
          <p:cNvPr id="15" name="Text 13"/>
          <p:cNvSpPr/>
          <p:nvPr/>
        </p:nvSpPr>
        <p:spPr>
          <a:xfrm>
            <a:off x="9784080" y="3429000"/>
            <a:ext cx="1463040" cy="365760"/>
          </a:xfrm>
          <a:prstGeom prst="rect">
            <a:avLst/>
          </a:prstGeom>
          <a:noFill/>
          <a:ln/>
        </p:spPr>
        <p:txBody>
          <a:bodyPr wrap="square" lIns="0" tIns="0" rIns="0" bIns="0" rtlCol="0" anchor="ctr"/>
          <a:lstStyle/>
          <a:p>
            <a:pPr algn="r" indent="0" marL="0">
              <a:buNone/>
            </a:pPr>
            <a:r>
              <a:rPr lang="en-US" sz="2000" b="1" dirty="0">
                <a:solidFill>
                  <a:srgbClr val="F15D23"/>
                </a:solidFill>
                <a:latin typeface="Calibri" pitchFamily="34" charset="0"/>
                <a:ea typeface="Calibri" pitchFamily="34" charset="-122"/>
                <a:cs typeface="Calibri" pitchFamily="34" charset="-120"/>
              </a:rPr>
              <a:t>100s</a:t>
            </a:r>
            <a:endParaRPr lang="en-US" sz="2000" dirty="0"/>
          </a:p>
        </p:txBody>
      </p:sp>
      <p:sp>
        <p:nvSpPr>
          <p:cNvPr id="16" name="Text 14"/>
          <p:cNvSpPr/>
          <p:nvPr/>
        </p:nvSpPr>
        <p:spPr>
          <a:xfrm>
            <a:off x="6839712" y="3840480"/>
            <a:ext cx="4389120" cy="548640"/>
          </a:xfrm>
          <a:prstGeom prst="rect">
            <a:avLst/>
          </a:prstGeom>
          <a:noFill/>
          <a:ln/>
        </p:spPr>
        <p:txBody>
          <a:bodyPr wrap="square" lIns="0" tIns="0" rIns="0" bIns="0" rtlCol="0" anchor="ctr"/>
          <a:lstStyle/>
          <a:p>
            <a:pPr indent="0" marL="0">
              <a:buNone/>
            </a:pPr>
            <a:r>
              <a:rPr lang="en-US" sz="1250" dirty="0">
                <a:solidFill>
                  <a:srgbClr val="C9CCD6"/>
                </a:solidFill>
                <a:latin typeface="Calibri" pitchFamily="34" charset="0"/>
                <a:ea typeface="Calibri" pitchFamily="34" charset="-122"/>
                <a:cs typeface="Calibri" pitchFamily="34" charset="-120"/>
              </a:rPr>
              <a:t>Can consume hundreds of entries even when they cover fewer total addresses than the summary above.</a:t>
            </a:r>
            <a:endParaRPr lang="en-US" sz="1250" dirty="0"/>
          </a:p>
        </p:txBody>
      </p:sp>
      <p:sp>
        <p:nvSpPr>
          <p:cNvPr id="17" name="Shape 15"/>
          <p:cNvSpPr/>
          <p:nvPr/>
        </p:nvSpPr>
        <p:spPr>
          <a:xfrm>
            <a:off x="6839712" y="4572000"/>
            <a:ext cx="4389120" cy="914400"/>
          </a:xfrm>
          <a:prstGeom prst="roundRect">
            <a:avLst>
              <a:gd name="adj" fmla="val 7000"/>
            </a:avLst>
          </a:prstGeom>
          <a:solidFill>
            <a:srgbClr val="2F2F3A"/>
          </a:solidFill>
          <a:ln w="9525">
            <a:solidFill>
              <a:srgbClr val="5C5C6C"/>
            </a:solidFill>
            <a:prstDash val="solid"/>
          </a:ln>
        </p:spPr>
      </p:sp>
      <p:sp>
        <p:nvSpPr>
          <p:cNvPr id="18" name="Text 16"/>
          <p:cNvSpPr/>
          <p:nvPr/>
        </p:nvSpPr>
        <p:spPr>
          <a:xfrm>
            <a:off x="7040880" y="4572000"/>
            <a:ext cx="4023360" cy="914400"/>
          </a:xfrm>
          <a:prstGeom prst="rect">
            <a:avLst/>
          </a:prstGeom>
          <a:noFill/>
          <a:ln/>
        </p:spPr>
        <p:txBody>
          <a:bodyPr wrap="square" lIns="0" tIns="0" rIns="0" bIns="0" rtlCol="0" anchor="ctr"/>
          <a:lstStyle/>
          <a:p>
            <a:pPr indent="0" marL="0">
              <a:buNone/>
            </a:pPr>
            <a:r>
              <a:rPr lang="en-US" sz="1300" b="1" dirty="0">
                <a:solidFill>
                  <a:srgbClr val="FAC458"/>
                </a:solidFill>
                <a:latin typeface="Calibri" pitchFamily="34" charset="0"/>
                <a:ea typeface="Calibri" pitchFamily="34" charset="-122"/>
                <a:cs typeface="Calibri" pitchFamily="34" charset="-120"/>
              </a:rPr>
              <a:t>The table does not care how many addresses a route covers. It counts routes.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3E3E4B"/>
        </a:solidFill>
      </p:bgPr>
    </p:bg>
    <p:spTree>
      <p:nvGrpSpPr>
        <p:cNvPr id="1" name=""/>
        <p:cNvGrpSpPr/>
        <p:nvPr/>
      </p:nvGrpSpPr>
      <p:grpSpPr>
        <a:xfrm>
          <a:off x="0" y="0"/>
          <a:ext cx="0" cy="0"/>
          <a:chOff x="0" y="0"/>
          <a:chExt cx="0" cy="0"/>
        </a:xfrm>
      </p:grpSpPr>
      <p:sp>
        <p:nvSpPr>
          <p:cNvPr id="2" name="Text 0"/>
          <p:cNvSpPr/>
          <p:nvPr/>
        </p:nvSpPr>
        <p:spPr>
          <a:xfrm>
            <a:off x="640080" y="384048"/>
            <a:ext cx="10911535" cy="237744"/>
          </a:xfrm>
          <a:prstGeom prst="rect">
            <a:avLst/>
          </a:prstGeom>
          <a:noFill/>
          <a:ln/>
        </p:spPr>
        <p:txBody>
          <a:bodyPr wrap="square" lIns="0" tIns="0" rIns="0" bIns="0" rtlCol="0" anchor="ctr"/>
          <a:lstStyle/>
          <a:p>
            <a:pPr indent="0" marL="0">
              <a:buNone/>
            </a:pPr>
            <a:r>
              <a:rPr lang="en-US" sz="1100" b="1" spc="200" kern="0" dirty="0">
                <a:solidFill>
                  <a:srgbClr val="00B3E2"/>
                </a:solidFill>
                <a:latin typeface="Calibri" pitchFamily="34" charset="0"/>
                <a:ea typeface="Calibri" pitchFamily="34" charset="-122"/>
                <a:cs typeface="Calibri" pitchFamily="34" charset="-120"/>
              </a:rPr>
              <a:t>ROUTE CAPACITY</a:t>
            </a:r>
            <a:endParaRPr lang="en-US" sz="1100" dirty="0"/>
          </a:p>
        </p:txBody>
      </p:sp>
      <p:sp>
        <p:nvSpPr>
          <p:cNvPr id="3" name="Text 1"/>
          <p:cNvSpPr/>
          <p:nvPr/>
        </p:nvSpPr>
        <p:spPr>
          <a:xfrm>
            <a:off x="640080" y="658368"/>
            <a:ext cx="10911535" cy="566928"/>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HCX MON and /32 route exhaustion</a:t>
            </a:r>
            <a:endParaRPr lang="en-US" sz="3400" dirty="0"/>
          </a:p>
        </p:txBody>
      </p:sp>
      <p:sp>
        <p:nvSpPr>
          <p:cNvPr id="4" name="Text 2"/>
          <p:cNvSpPr/>
          <p:nvPr/>
        </p:nvSpPr>
        <p:spPr>
          <a:xfrm>
            <a:off x="640080" y="1371600"/>
            <a:ext cx="10972800" cy="594360"/>
          </a:xfrm>
          <a:prstGeom prst="rect">
            <a:avLst/>
          </a:prstGeom>
          <a:noFill/>
          <a:ln/>
        </p:spPr>
        <p:txBody>
          <a:bodyPr wrap="square" lIns="0" tIns="0" rIns="0" bIns="0" rtlCol="0" anchor="ctr"/>
          <a:lstStyle/>
          <a:p>
            <a:pPr indent="0" marL="0">
              <a:buNone/>
            </a:pPr>
            <a:r>
              <a:rPr lang="en-US" sz="1500" dirty="0">
                <a:solidFill>
                  <a:srgbClr val="C9CCD6"/>
                </a:solidFill>
                <a:latin typeface="Calibri" pitchFamily="34" charset="0"/>
                <a:ea typeface="Calibri" pitchFamily="34" charset="-122"/>
                <a:cs typeface="Calibri" pitchFamily="34" charset="-120"/>
              </a:rPr>
              <a:t>Mobility Optimized Networking lets a migrated VM keep its original on-premises IP address, avoiding immediate changes to DNS, firewall rules, application configuration, and IP-based dependencies. To do it, HCX advertises a /32 host route for each machine.</a:t>
            </a:r>
            <a:endParaRPr lang="en-US" sz="1500" dirty="0"/>
          </a:p>
        </p:txBody>
      </p:sp>
      <p:sp>
        <p:nvSpPr>
          <p:cNvPr id="5" name="Shape 3"/>
          <p:cNvSpPr/>
          <p:nvPr/>
        </p:nvSpPr>
        <p:spPr>
          <a:xfrm>
            <a:off x="640080" y="2148840"/>
            <a:ext cx="5257800" cy="2286000"/>
          </a:xfrm>
          <a:prstGeom prst="roundRect">
            <a:avLst>
              <a:gd name="adj" fmla="val 2800"/>
            </a:avLst>
          </a:prstGeom>
          <a:solidFill>
            <a:srgbClr val="4A4A58"/>
          </a:solidFill>
          <a:ln w="9525">
            <a:solidFill>
              <a:srgbClr val="5C5C6C"/>
            </a:solidFill>
            <a:prstDash val="solid"/>
          </a:ln>
        </p:spPr>
      </p:sp>
      <p:sp>
        <p:nvSpPr>
          <p:cNvPr id="6" name="Text 4"/>
          <p:cNvSpPr/>
          <p:nvPr/>
        </p:nvSpPr>
        <p:spPr>
          <a:xfrm>
            <a:off x="960120" y="2331720"/>
            <a:ext cx="4617720" cy="256032"/>
          </a:xfrm>
          <a:prstGeom prst="rect">
            <a:avLst/>
          </a:prstGeom>
          <a:noFill/>
          <a:ln/>
        </p:spPr>
        <p:txBody>
          <a:bodyPr wrap="square" lIns="0" tIns="0" rIns="0" bIns="0" rtlCol="0" anchor="ctr"/>
          <a:lstStyle/>
          <a:p>
            <a:pPr indent="0" marL="0">
              <a:buNone/>
            </a:pPr>
            <a:r>
              <a:rPr lang="en-US" sz="1100" b="1" spc="150" kern="0" dirty="0">
                <a:solidFill>
                  <a:srgbClr val="F15D23"/>
                </a:solidFill>
                <a:latin typeface="Calibri" pitchFamily="34" charset="0"/>
                <a:ea typeface="Calibri" pitchFamily="34" charset="-122"/>
                <a:cs typeface="Calibri" pitchFamily="34" charset="-120"/>
              </a:rPr>
              <a:t>THE ARITHMETIC</a:t>
            </a:r>
            <a:endParaRPr lang="en-US" sz="1100" dirty="0"/>
          </a:p>
        </p:txBody>
      </p:sp>
      <p:sp>
        <p:nvSpPr>
          <p:cNvPr id="7" name="Text 5"/>
          <p:cNvSpPr/>
          <p:nvPr/>
        </p:nvSpPr>
        <p:spPr>
          <a:xfrm>
            <a:off x="960120" y="2697480"/>
            <a:ext cx="3108960" cy="411480"/>
          </a:xfrm>
          <a:prstGeom prst="rect">
            <a:avLst/>
          </a:prstGeom>
          <a:noFill/>
          <a:ln/>
        </p:spPr>
        <p:txBody>
          <a:bodyPr wrap="square" lIns="0" tIns="0" rIns="0" bIns="0" rtlCol="0" anchor="ctr"/>
          <a:lstStyle/>
          <a:p>
            <a:pPr indent="0" marL="0">
              <a:buNone/>
            </a:pPr>
            <a:r>
              <a:rPr lang="en-US" sz="1350" dirty="0">
                <a:solidFill>
                  <a:srgbClr val="C9CCD6"/>
                </a:solidFill>
                <a:latin typeface="Calibri" pitchFamily="34" charset="0"/>
                <a:ea typeface="Calibri" pitchFamily="34" charset="-122"/>
                <a:cs typeface="Calibri" pitchFamily="34" charset="-120"/>
              </a:rPr>
              <a:t>Prefix limit</a:t>
            </a:r>
            <a:endParaRPr lang="en-US" sz="1350" dirty="0"/>
          </a:p>
        </p:txBody>
      </p:sp>
      <p:sp>
        <p:nvSpPr>
          <p:cNvPr id="8" name="Text 6"/>
          <p:cNvSpPr/>
          <p:nvPr/>
        </p:nvSpPr>
        <p:spPr>
          <a:xfrm>
            <a:off x="4114800" y="2697480"/>
            <a:ext cx="1463040" cy="411480"/>
          </a:xfrm>
          <a:prstGeom prst="rect">
            <a:avLst/>
          </a:prstGeom>
          <a:noFill/>
          <a:ln/>
        </p:spPr>
        <p:txBody>
          <a:bodyPr wrap="square" lIns="0" tIns="0" rIns="0" bIns="0" rtlCol="0" anchor="ctr"/>
          <a:lstStyle/>
          <a:p>
            <a:pPr algn="r" indent="0" marL="0">
              <a:buNone/>
            </a:pPr>
            <a:r>
              <a:rPr lang="en-US" sz="2200" b="1" dirty="0">
                <a:solidFill>
                  <a:srgbClr val="FFFFFF"/>
                </a:solidFill>
                <a:latin typeface="Calibri" pitchFamily="34" charset="0"/>
                <a:ea typeface="Calibri" pitchFamily="34" charset="-122"/>
                <a:cs typeface="Calibri" pitchFamily="34" charset="-120"/>
              </a:rPr>
              <a:t>1,000</a:t>
            </a:r>
            <a:endParaRPr lang="en-US" sz="2200" dirty="0"/>
          </a:p>
        </p:txBody>
      </p:sp>
      <p:sp>
        <p:nvSpPr>
          <p:cNvPr id="9" name="Text 7"/>
          <p:cNvSpPr/>
          <p:nvPr/>
        </p:nvSpPr>
        <p:spPr>
          <a:xfrm>
            <a:off x="960120" y="3246120"/>
            <a:ext cx="3108960" cy="411480"/>
          </a:xfrm>
          <a:prstGeom prst="rect">
            <a:avLst/>
          </a:prstGeom>
          <a:noFill/>
          <a:ln/>
        </p:spPr>
        <p:txBody>
          <a:bodyPr wrap="square" lIns="0" tIns="0" rIns="0" bIns="0" rtlCol="0" anchor="ctr"/>
          <a:lstStyle/>
          <a:p>
            <a:pPr indent="0" marL="0">
              <a:buNone/>
            </a:pPr>
            <a:r>
              <a:rPr lang="en-US" sz="1350" dirty="0">
                <a:solidFill>
                  <a:srgbClr val="C9CCD6"/>
                </a:solidFill>
                <a:latin typeface="Calibri" pitchFamily="34" charset="0"/>
                <a:ea typeface="Calibri" pitchFamily="34" charset="-122"/>
                <a:cs typeface="Calibri" pitchFamily="34" charset="-120"/>
              </a:rPr>
              <a:t>Migrated with persistent /32 routes</a:t>
            </a:r>
            <a:endParaRPr lang="en-US" sz="1350" dirty="0"/>
          </a:p>
        </p:txBody>
      </p:sp>
      <p:sp>
        <p:nvSpPr>
          <p:cNvPr id="10" name="Text 8"/>
          <p:cNvSpPr/>
          <p:nvPr/>
        </p:nvSpPr>
        <p:spPr>
          <a:xfrm>
            <a:off x="4114800" y="3246120"/>
            <a:ext cx="1463040" cy="411480"/>
          </a:xfrm>
          <a:prstGeom prst="rect">
            <a:avLst/>
          </a:prstGeom>
          <a:noFill/>
          <a:ln/>
        </p:spPr>
        <p:txBody>
          <a:bodyPr wrap="square" lIns="0" tIns="0" rIns="0" bIns="0" rtlCol="0" anchor="ctr"/>
          <a:lstStyle/>
          <a:p>
            <a:pPr algn="r" indent="0" marL="0">
              <a:buNone/>
            </a:pPr>
            <a:r>
              <a:rPr lang="en-US" sz="2200" b="1" dirty="0">
                <a:solidFill>
                  <a:srgbClr val="F15D23"/>
                </a:solidFill>
                <a:latin typeface="Calibri" pitchFamily="34" charset="0"/>
                <a:ea typeface="Calibri" pitchFamily="34" charset="-122"/>
                <a:cs typeface="Calibri" pitchFamily="34" charset="-120"/>
              </a:rPr>
              <a:t>999</a:t>
            </a:r>
            <a:endParaRPr lang="en-US" sz="2200" dirty="0"/>
          </a:p>
        </p:txBody>
      </p:sp>
      <p:sp>
        <p:nvSpPr>
          <p:cNvPr id="11" name="Text 9"/>
          <p:cNvSpPr/>
          <p:nvPr/>
        </p:nvSpPr>
        <p:spPr>
          <a:xfrm>
            <a:off x="960120" y="3794760"/>
            <a:ext cx="3108960" cy="411480"/>
          </a:xfrm>
          <a:prstGeom prst="rect">
            <a:avLst/>
          </a:prstGeom>
          <a:noFill/>
          <a:ln/>
        </p:spPr>
        <p:txBody>
          <a:bodyPr wrap="square" lIns="0" tIns="0" rIns="0" bIns="0" rtlCol="0" anchor="ctr"/>
          <a:lstStyle/>
          <a:p>
            <a:pPr indent="0" marL="0">
              <a:buNone/>
            </a:pPr>
            <a:r>
              <a:rPr lang="en-US" sz="1350" dirty="0">
                <a:solidFill>
                  <a:srgbClr val="C9CCD6"/>
                </a:solidFill>
                <a:latin typeface="Calibri" pitchFamily="34" charset="0"/>
                <a:ea typeface="Calibri" pitchFamily="34" charset="-122"/>
                <a:cs typeface="Calibri" pitchFamily="34" charset="-120"/>
              </a:rPr>
              <a:t>Left for everything else</a:t>
            </a:r>
            <a:endParaRPr lang="en-US" sz="1350" dirty="0"/>
          </a:p>
        </p:txBody>
      </p:sp>
      <p:sp>
        <p:nvSpPr>
          <p:cNvPr id="12" name="Text 10"/>
          <p:cNvSpPr/>
          <p:nvPr/>
        </p:nvSpPr>
        <p:spPr>
          <a:xfrm>
            <a:off x="4114800" y="3794760"/>
            <a:ext cx="1463040" cy="411480"/>
          </a:xfrm>
          <a:prstGeom prst="rect">
            <a:avLst/>
          </a:prstGeom>
          <a:noFill/>
          <a:ln/>
        </p:spPr>
        <p:txBody>
          <a:bodyPr wrap="square" lIns="0" tIns="0" rIns="0" bIns="0" rtlCol="0" anchor="ctr"/>
          <a:lstStyle/>
          <a:p>
            <a:pPr algn="r" indent="0" marL="0">
              <a:buNone/>
            </a:pPr>
            <a:r>
              <a:rPr lang="en-US" sz="2200" b="1" dirty="0">
                <a:solidFill>
                  <a:srgbClr val="FAC458"/>
                </a:solidFill>
                <a:latin typeface="Calibri" pitchFamily="34" charset="0"/>
                <a:ea typeface="Calibri" pitchFamily="34" charset="-122"/>
                <a:cs typeface="Calibri" pitchFamily="34" charset="-120"/>
              </a:rPr>
              <a:t>1</a:t>
            </a:r>
            <a:endParaRPr lang="en-US" sz="2200" dirty="0"/>
          </a:p>
        </p:txBody>
      </p:sp>
      <p:sp>
        <p:nvSpPr>
          <p:cNvPr id="13" name="Shape 11"/>
          <p:cNvSpPr/>
          <p:nvPr/>
        </p:nvSpPr>
        <p:spPr>
          <a:xfrm>
            <a:off x="640080" y="4617720"/>
            <a:ext cx="5257800" cy="1234440"/>
          </a:xfrm>
          <a:prstGeom prst="roundRect">
            <a:avLst>
              <a:gd name="adj" fmla="val 5185"/>
            </a:avLst>
          </a:prstGeom>
          <a:solidFill>
            <a:srgbClr val="2F2F3A"/>
          </a:solidFill>
          <a:ln w="9525">
            <a:solidFill>
              <a:srgbClr val="5C5C6C"/>
            </a:solidFill>
            <a:prstDash val="solid"/>
          </a:ln>
        </p:spPr>
      </p:sp>
      <p:sp>
        <p:nvSpPr>
          <p:cNvPr id="14" name="Text 12"/>
          <p:cNvSpPr/>
          <p:nvPr/>
        </p:nvSpPr>
        <p:spPr>
          <a:xfrm>
            <a:off x="960120" y="4617720"/>
            <a:ext cx="4617720" cy="1234440"/>
          </a:xfrm>
          <a:prstGeom prst="rect">
            <a:avLst/>
          </a:prstGeom>
          <a:noFill/>
          <a:ln/>
        </p:spPr>
        <p:txBody>
          <a:bodyPr wrap="square" lIns="0" tIns="0" rIns="0" bIns="0" rtlCol="0" anchor="ctr"/>
          <a:lstStyle/>
          <a:p>
            <a:pPr indent="0" marL="0">
              <a:buNone/>
            </a:pPr>
            <a:r>
              <a:rPr lang="en-US" sz="1400" b="1" dirty="0">
                <a:solidFill>
                  <a:srgbClr val="FAC458"/>
                </a:solidFill>
                <a:latin typeface="Calibri" pitchFamily="34" charset="0"/>
                <a:ea typeface="Calibri" pitchFamily="34" charset="-122"/>
                <a:cs typeface="Calibri" pitchFamily="34" charset="-120"/>
              </a:rPr>
              <a:t>The environment works during early migration waves and then fails abruptly as the table fills.</a:t>
            </a:r>
            <a:endParaRPr lang="en-US" sz="1400" dirty="0"/>
          </a:p>
        </p:txBody>
      </p:sp>
      <p:sp>
        <p:nvSpPr>
          <p:cNvPr id="15" name="Text 13"/>
          <p:cNvSpPr/>
          <p:nvPr/>
        </p:nvSpPr>
        <p:spPr>
          <a:xfrm>
            <a:off x="6519672" y="2194560"/>
            <a:ext cx="5029200" cy="64008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Treat MON as a migration mechanism, not a routing design</a:t>
            </a:r>
            <a:endParaRPr lang="en-US" sz="1900" dirty="0"/>
          </a:p>
        </p:txBody>
      </p:sp>
      <p:sp>
        <p:nvSpPr>
          <p:cNvPr id="16" name="Text 14"/>
          <p:cNvSpPr/>
          <p:nvPr/>
        </p:nvSpPr>
        <p:spPr>
          <a:xfrm>
            <a:off x="6519672" y="2971800"/>
            <a:ext cx="5029200" cy="2743200"/>
          </a:xfrm>
          <a:prstGeom prst="rect">
            <a:avLst/>
          </a:prstGeom>
          <a:noFill/>
          <a:ln/>
        </p:spPr>
        <p:txBody>
          <a:bodyPr wrap="square" lIns="0" tIns="0" rIns="0" bIns="0" rtlCol="0" anchor="ctr"/>
          <a:lstStyle/>
          <a:p>
            <a:pPr marL="177800" indent="-177800">
              <a:spcAft>
                <a:spcPts val="800"/>
              </a:spcAft>
              <a:buSzPct val="100000"/>
              <a:buChar char="•"/>
            </a:pPr>
            <a:r>
              <a:rPr lang="en-US" sz="1400" dirty="0">
                <a:solidFill>
                  <a:srgbClr val="C9CCD6"/>
                </a:solidFill>
                <a:latin typeface="Calibri" pitchFamily="34" charset="0"/>
                <a:ea typeface="Calibri" pitchFamily="34" charset="-122"/>
                <a:cs typeface="Calibri" pitchFamily="34" charset="-120"/>
              </a:rPr>
              <a:t>Transition workloads to cloud-native addressing where appropriate.</a:t>
            </a:r>
            <a:endParaRPr lang="en-US" sz="1400" dirty="0"/>
          </a:p>
          <a:p>
            <a:pPr marL="177800" indent="-177800">
              <a:spcAft>
                <a:spcPts val="800"/>
              </a:spcAft>
              <a:buSzPct val="100000"/>
              <a:buChar char="•"/>
            </a:pPr>
            <a:r>
              <a:rPr lang="en-US" sz="1400" dirty="0">
                <a:solidFill>
                  <a:srgbClr val="C9CCD6"/>
                </a:solidFill>
                <a:latin typeface="Calibri" pitchFamily="34" charset="0"/>
                <a:ea typeface="Calibri" pitchFamily="34" charset="-122"/>
                <a:cs typeface="Calibri" pitchFamily="34" charset="-120"/>
              </a:rPr>
              <a:t>Summarize routes once the wave is complete.</a:t>
            </a:r>
            <a:endParaRPr lang="en-US" sz="1400" dirty="0"/>
          </a:p>
          <a:p>
            <a:pPr marL="177800" indent="-177800">
              <a:spcAft>
                <a:spcPts val="800"/>
              </a:spcAft>
              <a:buSzPct val="100000"/>
              <a:buChar char="•"/>
            </a:pPr>
            <a:r>
              <a:rPr lang="en-US" sz="1400" dirty="0">
                <a:solidFill>
                  <a:srgbClr val="C9CCD6"/>
                </a:solidFill>
                <a:latin typeface="Calibri" pitchFamily="34" charset="0"/>
                <a:ea typeface="Calibri" pitchFamily="34" charset="-122"/>
                <a:cs typeface="Calibri" pitchFamily="34" charset="-120"/>
              </a:rPr>
              <a:t>Remove temporary host routes rather than leaving them advertised.</a:t>
            </a:r>
            <a:endParaRPr lang="en-US" sz="1400" dirty="0"/>
          </a:p>
          <a:p>
            <a:pPr marL="177800" indent="-177800">
              <a:spcAft>
                <a:spcPts val="800"/>
              </a:spcAft>
              <a:buSzPct val="100000"/>
              <a:buChar char="•"/>
            </a:pPr>
            <a:r>
              <a:rPr lang="en-US" sz="1400" dirty="0">
                <a:solidFill>
                  <a:srgbClr val="C9CCD6"/>
                </a:solidFill>
                <a:latin typeface="Calibri" pitchFamily="34" charset="0"/>
                <a:ea typeface="Calibri" pitchFamily="34" charset="-122"/>
                <a:cs typeface="Calibri" pitchFamily="34" charset="-120"/>
              </a:rPr>
              <a:t>Failing to clean up migration routes turns a successful migration tool into a long-term scalability problem.</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37744"/>
          </a:xfrm>
          <a:prstGeom prst="rect">
            <a:avLst/>
          </a:prstGeom>
          <a:noFill/>
          <a:ln/>
        </p:spPr>
        <p:txBody>
          <a:bodyPr wrap="square" lIns="0" tIns="0" rIns="0" bIns="0" rtlCol="0" anchor="ctr"/>
          <a:lstStyle/>
          <a:p>
            <a:pPr indent="0" marL="0">
              <a:buNone/>
            </a:pPr>
            <a:r>
              <a:rPr lang="en-US" sz="1100" b="1" spc="200" kern="0" dirty="0">
                <a:solidFill>
                  <a:srgbClr val="00B3E2"/>
                </a:solidFill>
                <a:latin typeface="Calibri" pitchFamily="34" charset="0"/>
                <a:ea typeface="Calibri" pitchFamily="34" charset="-122"/>
                <a:cs typeface="Calibri" pitchFamily="34" charset="-120"/>
              </a:rPr>
              <a:t>ROUTE CAPACITY</a:t>
            </a:r>
            <a:endParaRPr lang="en-US" sz="1100" dirty="0"/>
          </a:p>
        </p:txBody>
      </p:sp>
      <p:sp>
        <p:nvSpPr>
          <p:cNvPr id="3" name="Text 1"/>
          <p:cNvSpPr/>
          <p:nvPr/>
        </p:nvSpPr>
        <p:spPr>
          <a:xfrm>
            <a:off x="640080" y="658368"/>
            <a:ext cx="10911535" cy="566928"/>
          </a:xfrm>
          <a:prstGeom prst="rect">
            <a:avLst/>
          </a:prstGeom>
          <a:noFill/>
          <a:ln/>
        </p:spPr>
        <p:txBody>
          <a:bodyPr wrap="square" lIns="0" tIns="0" rIns="0" bIns="0" rtlCol="0" anchor="ctr"/>
          <a:lstStyle/>
          <a:p>
            <a:pPr indent="0" marL="0">
              <a:buNone/>
            </a:pPr>
            <a:r>
              <a:rPr lang="en-US" sz="3400" b="1" dirty="0">
                <a:solidFill>
                  <a:srgbClr val="3E3E4B"/>
                </a:solidFill>
                <a:latin typeface="Calibri" pitchFamily="34" charset="0"/>
                <a:ea typeface="Calibri" pitchFamily="34" charset="-122"/>
                <a:cs typeface="Calibri" pitchFamily="34" charset="-120"/>
              </a:rPr>
              <a:t>How one route becomes four thousand</a:t>
            </a:r>
            <a:endParaRPr lang="en-US" sz="3400" dirty="0"/>
          </a:p>
        </p:txBody>
      </p:sp>
      <p:sp>
        <p:nvSpPr>
          <p:cNvPr id="4" name="Text 2"/>
          <p:cNvSpPr/>
          <p:nvPr/>
        </p:nvSpPr>
        <p:spPr>
          <a:xfrm>
            <a:off x="640080" y="1371600"/>
            <a:ext cx="10972800" cy="502920"/>
          </a:xfrm>
          <a:prstGeom prst="rect">
            <a:avLst/>
          </a:prstGeom>
          <a:noFill/>
          <a:ln/>
        </p:spPr>
        <p:txBody>
          <a:bodyPr wrap="square" lIns="0" tIns="0" rIns="0" bIns="0" rtlCol="0" anchor="ctr"/>
          <a:lstStyle/>
          <a:p>
            <a:pPr indent="0" marL="0">
              <a:buNone/>
            </a:pPr>
            <a:r>
              <a:rPr lang="en-US" sz="1500" dirty="0">
                <a:solidFill>
                  <a:srgbClr val="55555F"/>
                </a:solidFill>
                <a:latin typeface="Calibri" pitchFamily="34" charset="0"/>
                <a:ea typeface="Calibri" pitchFamily="34" charset="-122"/>
                <a:cs typeface="Calibri" pitchFamily="34" charset="-120"/>
              </a:rPr>
              <a:t>NSX applies a per-NIC constraint of 1,024 prefixes for segments on a Tier-0 NIC, and it decomposes larger advertised segments into /28 blocks so they can be distributed across virtual NICs to load-balance inbound traffic.</a:t>
            </a:r>
            <a:endParaRPr lang="en-US" sz="1500" dirty="0"/>
          </a:p>
        </p:txBody>
      </p:sp>
      <p:sp>
        <p:nvSpPr>
          <p:cNvPr id="5" name="Shape 3"/>
          <p:cNvSpPr/>
          <p:nvPr/>
        </p:nvSpPr>
        <p:spPr>
          <a:xfrm>
            <a:off x="640080" y="2057400"/>
            <a:ext cx="3511296" cy="1417320"/>
          </a:xfrm>
          <a:prstGeom prst="roundRect">
            <a:avLst>
              <a:gd name="adj" fmla="val 4516"/>
            </a:avLst>
          </a:prstGeom>
          <a:solidFill>
            <a:srgbClr val="F4F7F8"/>
          </a:solidFill>
          <a:ln w="9525">
            <a:solidFill>
              <a:srgbClr val="DDE2E2"/>
            </a:solidFill>
            <a:prstDash val="solid"/>
          </a:ln>
        </p:spPr>
      </p:sp>
      <p:sp>
        <p:nvSpPr>
          <p:cNvPr id="6" name="Text 4"/>
          <p:cNvSpPr/>
          <p:nvPr/>
        </p:nvSpPr>
        <p:spPr>
          <a:xfrm>
            <a:off x="914400" y="2286000"/>
            <a:ext cx="2962656" cy="457200"/>
          </a:xfrm>
          <a:prstGeom prst="rect">
            <a:avLst/>
          </a:prstGeom>
          <a:noFill/>
          <a:ln/>
        </p:spPr>
        <p:txBody>
          <a:bodyPr wrap="square" lIns="0" tIns="0" rIns="0" bIns="0" rtlCol="0" anchor="ctr"/>
          <a:lstStyle/>
          <a:p>
            <a:pPr indent="0" marL="0">
              <a:buNone/>
            </a:pPr>
            <a:r>
              <a:rPr lang="en-US" sz="1900" b="1" dirty="0">
                <a:solidFill>
                  <a:srgbClr val="3E3E4B"/>
                </a:solidFill>
                <a:latin typeface="Calibri" pitchFamily="34" charset="0"/>
                <a:ea typeface="Calibri" pitchFamily="34" charset="-122"/>
                <a:cs typeface="Calibri" pitchFamily="34" charset="-120"/>
              </a:rPr>
              <a:t>/16 advertised</a:t>
            </a:r>
            <a:endParaRPr lang="en-US" sz="1900" dirty="0"/>
          </a:p>
        </p:txBody>
      </p:sp>
      <p:sp>
        <p:nvSpPr>
          <p:cNvPr id="7" name="Text 5"/>
          <p:cNvSpPr/>
          <p:nvPr/>
        </p:nvSpPr>
        <p:spPr>
          <a:xfrm>
            <a:off x="914400" y="2788920"/>
            <a:ext cx="2962656" cy="365760"/>
          </a:xfrm>
          <a:prstGeom prst="rect">
            <a:avLst/>
          </a:prstGeom>
          <a:noFill/>
          <a:ln/>
        </p:spPr>
        <p:txBody>
          <a:bodyPr wrap="square" lIns="0" tIns="0" rIns="0" bIns="0" rtlCol="0" anchor="ctr"/>
          <a:lstStyle/>
          <a:p>
            <a:pPr indent="0" marL="0">
              <a:buNone/>
            </a:pPr>
            <a:r>
              <a:rPr lang="en-US" sz="1300" dirty="0">
                <a:solidFill>
                  <a:srgbClr val="55555F"/>
                </a:solidFill>
                <a:latin typeface="Calibri" pitchFamily="34" charset="0"/>
                <a:ea typeface="Calibri" pitchFamily="34" charset="-122"/>
                <a:cs typeface="Calibri" pitchFamily="34" charset="-120"/>
              </a:rPr>
              <a:t>65,536 addresses</a:t>
            </a:r>
            <a:endParaRPr lang="en-US" sz="1300" dirty="0"/>
          </a:p>
        </p:txBody>
      </p:sp>
      <p:sp>
        <p:nvSpPr>
          <p:cNvPr id="8" name="Shape 6"/>
          <p:cNvSpPr/>
          <p:nvPr/>
        </p:nvSpPr>
        <p:spPr>
          <a:xfrm>
            <a:off x="4206240" y="2651760"/>
            <a:ext cx="274320" cy="256032"/>
          </a:xfrm>
          <a:prstGeom prst="rightArrow">
            <a:avLst/>
          </a:prstGeom>
          <a:solidFill>
            <a:srgbClr val="8DB9D9"/>
          </a:solidFill>
          <a:ln w="12700">
            <a:solidFill>
              <a:srgbClr val="8DB9D9"/>
            </a:solidFill>
            <a:prstDash val="solid"/>
          </a:ln>
        </p:spPr>
      </p:sp>
      <p:sp>
        <p:nvSpPr>
          <p:cNvPr id="9" name="Shape 7"/>
          <p:cNvSpPr/>
          <p:nvPr/>
        </p:nvSpPr>
        <p:spPr>
          <a:xfrm>
            <a:off x="4535424" y="2057400"/>
            <a:ext cx="3511296" cy="1417320"/>
          </a:xfrm>
          <a:prstGeom prst="roundRect">
            <a:avLst>
              <a:gd name="adj" fmla="val 4516"/>
            </a:avLst>
          </a:prstGeom>
          <a:solidFill>
            <a:srgbClr val="F4F7F8"/>
          </a:solidFill>
          <a:ln w="9525">
            <a:solidFill>
              <a:srgbClr val="DDE2E2"/>
            </a:solidFill>
            <a:prstDash val="solid"/>
          </a:ln>
        </p:spPr>
      </p:sp>
      <p:sp>
        <p:nvSpPr>
          <p:cNvPr id="10" name="Text 8"/>
          <p:cNvSpPr/>
          <p:nvPr/>
        </p:nvSpPr>
        <p:spPr>
          <a:xfrm>
            <a:off x="4809744" y="2286000"/>
            <a:ext cx="2962656" cy="457200"/>
          </a:xfrm>
          <a:prstGeom prst="rect">
            <a:avLst/>
          </a:prstGeom>
          <a:noFill/>
          <a:ln/>
        </p:spPr>
        <p:txBody>
          <a:bodyPr wrap="square" lIns="0" tIns="0" rIns="0" bIns="0" rtlCol="0" anchor="ctr"/>
          <a:lstStyle/>
          <a:p>
            <a:pPr indent="0" marL="0">
              <a:buNone/>
            </a:pPr>
            <a:r>
              <a:rPr lang="en-US" sz="1900" b="1" dirty="0">
                <a:solidFill>
                  <a:srgbClr val="3E3E4B"/>
                </a:solidFill>
                <a:latin typeface="Calibri" pitchFamily="34" charset="0"/>
                <a:ea typeface="Calibri" pitchFamily="34" charset="-122"/>
                <a:cs typeface="Calibri" pitchFamily="34" charset="-120"/>
              </a:rPr>
              <a:t>Divided into /28 blocks</a:t>
            </a:r>
            <a:endParaRPr lang="en-US" sz="1900" dirty="0"/>
          </a:p>
        </p:txBody>
      </p:sp>
      <p:sp>
        <p:nvSpPr>
          <p:cNvPr id="11" name="Text 9"/>
          <p:cNvSpPr/>
          <p:nvPr/>
        </p:nvSpPr>
        <p:spPr>
          <a:xfrm>
            <a:off x="4809744" y="2788920"/>
            <a:ext cx="2962656" cy="365760"/>
          </a:xfrm>
          <a:prstGeom prst="rect">
            <a:avLst/>
          </a:prstGeom>
          <a:noFill/>
          <a:ln/>
        </p:spPr>
        <p:txBody>
          <a:bodyPr wrap="square" lIns="0" tIns="0" rIns="0" bIns="0" rtlCol="0" anchor="ctr"/>
          <a:lstStyle/>
          <a:p>
            <a:pPr indent="0" marL="0">
              <a:buNone/>
            </a:pPr>
            <a:r>
              <a:rPr lang="en-US" sz="1300" dirty="0">
                <a:solidFill>
                  <a:srgbClr val="55555F"/>
                </a:solidFill>
                <a:latin typeface="Calibri" pitchFamily="34" charset="0"/>
                <a:ea typeface="Calibri" pitchFamily="34" charset="-122"/>
                <a:cs typeface="Calibri" pitchFamily="34" charset="-120"/>
              </a:rPr>
              <a:t>16 addresses each</a:t>
            </a:r>
            <a:endParaRPr lang="en-US" sz="1300" dirty="0"/>
          </a:p>
        </p:txBody>
      </p:sp>
      <p:sp>
        <p:nvSpPr>
          <p:cNvPr id="12" name="Shape 10"/>
          <p:cNvSpPr/>
          <p:nvPr/>
        </p:nvSpPr>
        <p:spPr>
          <a:xfrm>
            <a:off x="8101584" y="2651760"/>
            <a:ext cx="274320" cy="256032"/>
          </a:xfrm>
          <a:prstGeom prst="rightArrow">
            <a:avLst/>
          </a:prstGeom>
          <a:solidFill>
            <a:srgbClr val="8DB9D9"/>
          </a:solidFill>
          <a:ln w="12700">
            <a:solidFill>
              <a:srgbClr val="8DB9D9"/>
            </a:solidFill>
            <a:prstDash val="solid"/>
          </a:ln>
        </p:spPr>
      </p:sp>
      <p:sp>
        <p:nvSpPr>
          <p:cNvPr id="13" name="Shape 11"/>
          <p:cNvSpPr/>
          <p:nvPr/>
        </p:nvSpPr>
        <p:spPr>
          <a:xfrm>
            <a:off x="8430768" y="2057400"/>
            <a:ext cx="3511296" cy="1417320"/>
          </a:xfrm>
          <a:prstGeom prst="roundRect">
            <a:avLst>
              <a:gd name="adj" fmla="val 4516"/>
            </a:avLst>
          </a:prstGeom>
          <a:solidFill>
            <a:srgbClr val="FDF0EB"/>
          </a:solidFill>
          <a:ln w="9525">
            <a:solidFill>
              <a:srgbClr val="F6C9B4"/>
            </a:solidFill>
            <a:prstDash val="solid"/>
          </a:ln>
        </p:spPr>
      </p:sp>
      <p:sp>
        <p:nvSpPr>
          <p:cNvPr id="14" name="Text 12"/>
          <p:cNvSpPr/>
          <p:nvPr/>
        </p:nvSpPr>
        <p:spPr>
          <a:xfrm>
            <a:off x="8705088" y="2286000"/>
            <a:ext cx="2962656" cy="457200"/>
          </a:xfrm>
          <a:prstGeom prst="rect">
            <a:avLst/>
          </a:prstGeom>
          <a:noFill/>
          <a:ln/>
        </p:spPr>
        <p:txBody>
          <a:bodyPr wrap="square" lIns="0" tIns="0" rIns="0" bIns="0" rtlCol="0" anchor="ctr"/>
          <a:lstStyle/>
          <a:p>
            <a:pPr indent="0" marL="0">
              <a:buNone/>
            </a:pPr>
            <a:r>
              <a:rPr lang="en-US" sz="1900" b="1" dirty="0">
                <a:solidFill>
                  <a:srgbClr val="F15D23"/>
                </a:solidFill>
                <a:latin typeface="Calibri" pitchFamily="34" charset="0"/>
                <a:ea typeface="Calibri" pitchFamily="34" charset="-122"/>
                <a:cs typeface="Calibri" pitchFamily="34" charset="-120"/>
              </a:rPr>
              <a:t>4,096 internal routes</a:t>
            </a:r>
            <a:endParaRPr lang="en-US" sz="1900" dirty="0"/>
          </a:p>
        </p:txBody>
      </p:sp>
      <p:sp>
        <p:nvSpPr>
          <p:cNvPr id="15" name="Text 13"/>
          <p:cNvSpPr/>
          <p:nvPr/>
        </p:nvSpPr>
        <p:spPr>
          <a:xfrm>
            <a:off x="8705088" y="2788920"/>
            <a:ext cx="2962656" cy="365760"/>
          </a:xfrm>
          <a:prstGeom prst="rect">
            <a:avLst/>
          </a:prstGeom>
          <a:noFill/>
          <a:ln/>
        </p:spPr>
        <p:txBody>
          <a:bodyPr wrap="square" lIns="0" tIns="0" rIns="0" bIns="0" rtlCol="0" anchor="ctr"/>
          <a:lstStyle/>
          <a:p>
            <a:pPr indent="0" marL="0">
              <a:buNone/>
            </a:pPr>
            <a:r>
              <a:rPr lang="en-US" sz="1300" dirty="0">
                <a:solidFill>
                  <a:srgbClr val="55555F"/>
                </a:solidFill>
                <a:latin typeface="Calibri" pitchFamily="34" charset="0"/>
                <a:ea typeface="Calibri" pitchFamily="34" charset="-122"/>
                <a:cs typeface="Calibri" pitchFamily="34" charset="-120"/>
              </a:rPr>
              <a:t>From one summary</a:t>
            </a:r>
            <a:endParaRPr lang="en-US" sz="1300" dirty="0"/>
          </a:p>
        </p:txBody>
      </p:sp>
      <p:sp>
        <p:nvSpPr>
          <p:cNvPr id="16" name="Shape 14"/>
          <p:cNvSpPr/>
          <p:nvPr/>
        </p:nvSpPr>
        <p:spPr>
          <a:xfrm>
            <a:off x="640080" y="3749040"/>
            <a:ext cx="5257800" cy="1965960"/>
          </a:xfrm>
          <a:prstGeom prst="roundRect">
            <a:avLst>
              <a:gd name="adj" fmla="val 3256"/>
            </a:avLst>
          </a:prstGeom>
          <a:solidFill>
            <a:srgbClr val="E5F7FC"/>
          </a:solidFill>
          <a:ln w="9525">
            <a:solidFill>
              <a:srgbClr val="B2E8F6"/>
            </a:solidFill>
            <a:prstDash val="solid"/>
          </a:ln>
        </p:spPr>
      </p:sp>
      <p:sp>
        <p:nvSpPr>
          <p:cNvPr id="17" name="Text 15"/>
          <p:cNvSpPr/>
          <p:nvPr/>
        </p:nvSpPr>
        <p:spPr>
          <a:xfrm>
            <a:off x="960120" y="3931920"/>
            <a:ext cx="4617720" cy="320040"/>
          </a:xfrm>
          <a:prstGeom prst="rect">
            <a:avLst/>
          </a:prstGeom>
          <a:noFill/>
          <a:ln/>
        </p:spPr>
        <p:txBody>
          <a:bodyPr wrap="square" lIns="0" tIns="0" rIns="0" bIns="0" rtlCol="0" anchor="ctr"/>
          <a:lstStyle/>
          <a:p>
            <a:pPr indent="0" marL="0">
              <a:buNone/>
            </a:pPr>
            <a:r>
              <a:rPr lang="en-US" sz="1600" b="1" dirty="0">
                <a:solidFill>
                  <a:srgbClr val="3E3E4B"/>
                </a:solidFill>
                <a:latin typeface="Calibri" pitchFamily="34" charset="0"/>
                <a:ea typeface="Calibri" pitchFamily="34" charset="-122"/>
                <a:cs typeface="Calibri" pitchFamily="34" charset="-120"/>
              </a:rPr>
              <a:t>The gap between belief and reality</a:t>
            </a:r>
            <a:endParaRPr lang="en-US" sz="1600" dirty="0"/>
          </a:p>
        </p:txBody>
      </p:sp>
      <p:sp>
        <p:nvSpPr>
          <p:cNvPr id="18" name="Text 16"/>
          <p:cNvSpPr/>
          <p:nvPr/>
        </p:nvSpPr>
        <p:spPr>
          <a:xfrm>
            <a:off x="960120" y="4297680"/>
            <a:ext cx="4617720" cy="1234440"/>
          </a:xfrm>
          <a:prstGeom prst="rect">
            <a:avLst/>
          </a:prstGeom>
          <a:noFill/>
          <a:ln/>
        </p:spPr>
        <p:txBody>
          <a:bodyPr wrap="square" lIns="0" tIns="0" rIns="0" bIns="0" rtlCol="0" anchor="ctr"/>
          <a:lstStyle/>
          <a:p>
            <a:pPr indent="0" marL="0">
              <a:buNone/>
            </a:pPr>
            <a:r>
              <a:rPr lang="en-US" sz="1350" dirty="0">
                <a:solidFill>
                  <a:srgbClr val="1A5F7A"/>
                </a:solidFill>
                <a:latin typeface="Calibri" pitchFamily="34" charset="0"/>
                <a:ea typeface="Calibri" pitchFamily="34" charset="-122"/>
                <a:cs typeface="Calibri" pitchFamily="34" charset="-120"/>
              </a:rPr>
              <a:t>The customer believes one summary route was advertised. Internally the platform is carrying thousands of entries, and that expansion can exceed per-NIC limits without any visible change on the customer side.</a:t>
            </a:r>
            <a:endParaRPr lang="en-US" sz="1350" dirty="0"/>
          </a:p>
        </p:txBody>
      </p:sp>
      <p:sp>
        <p:nvSpPr>
          <p:cNvPr id="19" name="Shape 17"/>
          <p:cNvSpPr/>
          <p:nvPr/>
        </p:nvSpPr>
        <p:spPr>
          <a:xfrm>
            <a:off x="6519672" y="3749040"/>
            <a:ext cx="5029200" cy="1965960"/>
          </a:xfrm>
          <a:prstGeom prst="roundRect">
            <a:avLst>
              <a:gd name="adj" fmla="val 3256"/>
            </a:avLst>
          </a:prstGeom>
          <a:solidFill>
            <a:srgbClr val="F4F7F8"/>
          </a:solidFill>
          <a:ln w="9525">
            <a:solidFill>
              <a:srgbClr val="DDE2E2"/>
            </a:solidFill>
            <a:prstDash val="solid"/>
          </a:ln>
        </p:spPr>
      </p:sp>
      <p:sp>
        <p:nvSpPr>
          <p:cNvPr id="20" name="Text 18"/>
          <p:cNvSpPr/>
          <p:nvPr/>
        </p:nvSpPr>
        <p:spPr>
          <a:xfrm>
            <a:off x="6839712" y="3931920"/>
            <a:ext cx="4389120" cy="320040"/>
          </a:xfrm>
          <a:prstGeom prst="rect">
            <a:avLst/>
          </a:prstGeom>
          <a:noFill/>
          <a:ln/>
        </p:spPr>
        <p:txBody>
          <a:bodyPr wrap="square" lIns="0" tIns="0" rIns="0" bIns="0" rtlCol="0" anchor="ctr"/>
          <a:lstStyle/>
          <a:p>
            <a:pPr indent="0" marL="0">
              <a:buNone/>
            </a:pPr>
            <a:r>
              <a:rPr lang="en-US" sz="1600" b="1" dirty="0">
                <a:solidFill>
                  <a:srgbClr val="F15D23"/>
                </a:solidFill>
                <a:latin typeface="Calibri" pitchFamily="34" charset="0"/>
                <a:ea typeface="Calibri" pitchFamily="34" charset="-122"/>
                <a:cs typeface="Calibri" pitchFamily="34" charset="-120"/>
              </a:rPr>
              <a:t>What happens when the limit is reached</a:t>
            </a:r>
            <a:endParaRPr lang="en-US" sz="1600" dirty="0"/>
          </a:p>
        </p:txBody>
      </p:sp>
      <p:sp>
        <p:nvSpPr>
          <p:cNvPr id="21" name="Text 19"/>
          <p:cNvSpPr/>
          <p:nvPr/>
        </p:nvSpPr>
        <p:spPr>
          <a:xfrm>
            <a:off x="6839712" y="4297680"/>
            <a:ext cx="4389120" cy="1234440"/>
          </a:xfrm>
          <a:prstGeom prst="rect">
            <a:avLst/>
          </a:prstGeom>
          <a:noFill/>
          <a:ln/>
        </p:spPr>
        <p:txBody>
          <a:bodyPr wrap="square" lIns="0" tIns="0" rIns="0" bIns="0" rtlCol="0" anchor="ctr"/>
          <a:lstStyle/>
          <a:p>
            <a:pPr marL="177800" indent="-177800">
              <a:spcAft>
                <a:spcPts val="600"/>
              </a:spcAft>
              <a:buSzPct val="100000"/>
              <a:buChar char="•"/>
            </a:pPr>
            <a:r>
              <a:rPr lang="en-US" sz="1350" dirty="0">
                <a:solidFill>
                  <a:srgbClr val="55555F"/>
                </a:solidFill>
                <a:latin typeface="Calibri" pitchFamily="34" charset="0"/>
                <a:ea typeface="Calibri" pitchFamily="34" charset="-122"/>
                <a:cs typeface="Calibri" pitchFamily="34" charset="-120"/>
              </a:rPr>
              <a:t>The internal routing daemon stops accepting additional routes.</a:t>
            </a:r>
            <a:endParaRPr lang="en-US" sz="1350" dirty="0"/>
          </a:p>
          <a:p>
            <a:pPr marL="177800" indent="-177800">
              <a:spcAft>
                <a:spcPts val="600"/>
              </a:spcAft>
              <a:buSzPct val="100000"/>
              <a:buChar char="•"/>
            </a:pPr>
            <a:r>
              <a:rPr lang="en-US" sz="1350" dirty="0">
                <a:solidFill>
                  <a:srgbClr val="55555F"/>
                </a:solidFill>
                <a:latin typeface="Calibri" pitchFamily="34" charset="0"/>
                <a:ea typeface="Calibri" pitchFamily="34" charset="-122"/>
                <a:cs typeface="Calibri" pitchFamily="34" charset="-120"/>
              </a:rPr>
              <a:t>It stops advertising segments.</a:t>
            </a:r>
            <a:endParaRPr lang="en-US" sz="1350" dirty="0"/>
          </a:p>
          <a:p>
            <a:pPr marL="177800" indent="-177800">
              <a:spcAft>
                <a:spcPts val="600"/>
              </a:spcAft>
              <a:buSzPct val="100000"/>
              <a:buChar char="•"/>
            </a:pPr>
            <a:r>
              <a:rPr lang="en-US" sz="1350" dirty="0">
                <a:solidFill>
                  <a:srgbClr val="55555F"/>
                </a:solidFill>
                <a:latin typeface="Calibri" pitchFamily="34" charset="0"/>
                <a:ea typeface="Calibri" pitchFamily="34" charset="-122"/>
                <a:cs typeface="Calibri" pitchFamily="34" charset="-120"/>
              </a:rPr>
              <a:t>Connectivity is lost to portions of the environment.</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37744"/>
          </a:xfrm>
          <a:prstGeom prst="rect">
            <a:avLst/>
          </a:prstGeom>
          <a:noFill/>
          <a:ln/>
        </p:spPr>
        <p:txBody>
          <a:bodyPr wrap="square" lIns="0" tIns="0" rIns="0" bIns="0" rtlCol="0" anchor="ctr"/>
          <a:lstStyle/>
          <a:p>
            <a:pPr indent="0" marL="0">
              <a:buNone/>
            </a:pPr>
            <a:r>
              <a:rPr lang="en-US" sz="1100" b="1" spc="200" kern="0" dirty="0">
                <a:solidFill>
                  <a:srgbClr val="00B3E2"/>
                </a:solidFill>
                <a:latin typeface="Calibri" pitchFamily="34" charset="0"/>
                <a:ea typeface="Calibri" pitchFamily="34" charset="-122"/>
                <a:cs typeface="Calibri" pitchFamily="34" charset="-120"/>
              </a:rPr>
              <a:t>SCALE</a:t>
            </a:r>
            <a:endParaRPr lang="en-US" sz="1100" dirty="0"/>
          </a:p>
        </p:txBody>
      </p:sp>
      <p:sp>
        <p:nvSpPr>
          <p:cNvPr id="3" name="Text 1"/>
          <p:cNvSpPr/>
          <p:nvPr/>
        </p:nvSpPr>
        <p:spPr>
          <a:xfrm>
            <a:off x="640080" y="658368"/>
            <a:ext cx="10911535" cy="566928"/>
          </a:xfrm>
          <a:prstGeom prst="rect">
            <a:avLst/>
          </a:prstGeom>
          <a:noFill/>
          <a:ln/>
        </p:spPr>
        <p:txBody>
          <a:bodyPr wrap="square" lIns="0" tIns="0" rIns="0" bIns="0" rtlCol="0" anchor="ctr"/>
          <a:lstStyle/>
          <a:p>
            <a:pPr indent="0" marL="0">
              <a:buNone/>
            </a:pPr>
            <a:r>
              <a:rPr lang="en-US" sz="3400" b="1" dirty="0">
                <a:solidFill>
                  <a:srgbClr val="3E3E4B"/>
                </a:solidFill>
                <a:latin typeface="Calibri" pitchFamily="34" charset="0"/>
                <a:ea typeface="Calibri" pitchFamily="34" charset="-122"/>
                <a:cs typeface="Calibri" pitchFamily="34" charset="-120"/>
              </a:rPr>
              <a:t>Buying a host buys route capacity</a:t>
            </a:r>
            <a:endParaRPr lang="en-US" sz="3400" dirty="0"/>
          </a:p>
        </p:txBody>
      </p:sp>
      <p:sp>
        <p:nvSpPr>
          <p:cNvPr id="4" name="Shape 2"/>
          <p:cNvSpPr/>
          <p:nvPr/>
        </p:nvSpPr>
        <p:spPr>
          <a:xfrm>
            <a:off x="640080" y="1645920"/>
            <a:ext cx="3200400" cy="2011680"/>
          </a:xfrm>
          <a:prstGeom prst="roundRect">
            <a:avLst>
              <a:gd name="adj" fmla="val 3182"/>
            </a:avLst>
          </a:prstGeom>
          <a:solidFill>
            <a:srgbClr val="F4F7F8"/>
          </a:solidFill>
          <a:ln w="9525">
            <a:solidFill>
              <a:srgbClr val="DDE2E2"/>
            </a:solidFill>
            <a:prstDash val="solid"/>
          </a:ln>
        </p:spPr>
      </p:sp>
      <p:sp>
        <p:nvSpPr>
          <p:cNvPr id="5" name="Text 3"/>
          <p:cNvSpPr/>
          <p:nvPr/>
        </p:nvSpPr>
        <p:spPr>
          <a:xfrm>
            <a:off x="960120" y="1874520"/>
            <a:ext cx="2560320" cy="731520"/>
          </a:xfrm>
          <a:prstGeom prst="rect">
            <a:avLst/>
          </a:prstGeom>
          <a:noFill/>
          <a:ln/>
        </p:spPr>
        <p:txBody>
          <a:bodyPr wrap="square" lIns="0" tIns="0" rIns="0" bIns="0" rtlCol="0" anchor="ctr"/>
          <a:lstStyle/>
          <a:p>
            <a:pPr indent="0" marL="0">
              <a:buNone/>
            </a:pPr>
            <a:r>
              <a:rPr lang="en-US" sz="4200" b="1" dirty="0">
                <a:solidFill>
                  <a:srgbClr val="3E3E4B"/>
                </a:solidFill>
                <a:latin typeface="Calibri" pitchFamily="34" charset="0"/>
                <a:ea typeface="Calibri" pitchFamily="34" charset="-122"/>
                <a:cs typeface="Calibri" pitchFamily="34" charset="-120"/>
              </a:rPr>
              <a:t>4,096</a:t>
            </a:r>
            <a:endParaRPr lang="en-US" sz="4200" dirty="0"/>
          </a:p>
        </p:txBody>
      </p:sp>
      <p:sp>
        <p:nvSpPr>
          <p:cNvPr id="6" name="Text 4"/>
          <p:cNvSpPr/>
          <p:nvPr/>
        </p:nvSpPr>
        <p:spPr>
          <a:xfrm>
            <a:off x="960120" y="2606040"/>
            <a:ext cx="2560320" cy="274320"/>
          </a:xfrm>
          <a:prstGeom prst="rect">
            <a:avLst/>
          </a:prstGeom>
          <a:noFill/>
          <a:ln/>
        </p:spPr>
        <p:txBody>
          <a:bodyPr wrap="square" lIns="0" tIns="0" rIns="0" bIns="0" rtlCol="0" anchor="ctr"/>
          <a:lstStyle/>
          <a:p>
            <a:pPr indent="0" marL="0">
              <a:buNone/>
            </a:pPr>
            <a:r>
              <a:rPr lang="en-US" sz="1500" b="1" dirty="0">
                <a:solidFill>
                  <a:srgbClr val="55555F"/>
                </a:solidFill>
                <a:latin typeface="Calibri" pitchFamily="34" charset="0"/>
                <a:ea typeface="Calibri" pitchFamily="34" charset="-122"/>
                <a:cs typeface="Calibri" pitchFamily="34" charset="-120"/>
              </a:rPr>
              <a:t>/28 routes</a:t>
            </a:r>
            <a:endParaRPr lang="en-US" sz="1500" dirty="0"/>
          </a:p>
        </p:txBody>
      </p:sp>
      <p:sp>
        <p:nvSpPr>
          <p:cNvPr id="7" name="Text 5"/>
          <p:cNvSpPr/>
          <p:nvPr/>
        </p:nvSpPr>
        <p:spPr>
          <a:xfrm>
            <a:off x="960120" y="2926080"/>
            <a:ext cx="2560320" cy="548640"/>
          </a:xfrm>
          <a:prstGeom prst="rect">
            <a:avLst/>
          </a:prstGeom>
          <a:noFill/>
          <a:ln/>
        </p:spPr>
        <p:txBody>
          <a:bodyPr wrap="square" lIns="0" tIns="0" rIns="0" bIns="0" rtlCol="0" anchor="ctr"/>
          <a:lstStyle/>
          <a:p>
            <a:pPr indent="0" marL="0">
              <a:buNone/>
            </a:pPr>
            <a:r>
              <a:rPr lang="en-US" sz="1300" dirty="0">
                <a:solidFill>
                  <a:srgbClr val="55555F"/>
                </a:solidFill>
                <a:latin typeface="Calibri" pitchFamily="34" charset="0"/>
                <a:ea typeface="Calibri" pitchFamily="34" charset="-122"/>
                <a:cs typeface="Calibri" pitchFamily="34" charset="-120"/>
              </a:rPr>
              <a:t>Standard three-node private cloud</a:t>
            </a:r>
            <a:endParaRPr lang="en-US" sz="1300" dirty="0"/>
          </a:p>
        </p:txBody>
      </p:sp>
      <p:sp>
        <p:nvSpPr>
          <p:cNvPr id="8" name="Shape 6"/>
          <p:cNvSpPr/>
          <p:nvPr/>
        </p:nvSpPr>
        <p:spPr>
          <a:xfrm>
            <a:off x="3977640" y="2514600"/>
            <a:ext cx="384048" cy="292608"/>
          </a:xfrm>
          <a:prstGeom prst="rightArrow">
            <a:avLst/>
          </a:prstGeom>
          <a:solidFill>
            <a:srgbClr val="8DB9D9"/>
          </a:solidFill>
          <a:ln w="12700">
            <a:solidFill>
              <a:srgbClr val="8DB9D9"/>
            </a:solidFill>
            <a:prstDash val="solid"/>
          </a:ln>
        </p:spPr>
      </p:sp>
      <p:sp>
        <p:nvSpPr>
          <p:cNvPr id="9" name="Shape 7"/>
          <p:cNvSpPr/>
          <p:nvPr/>
        </p:nvSpPr>
        <p:spPr>
          <a:xfrm>
            <a:off x="4526280" y="1645920"/>
            <a:ext cx="3200400" cy="2011680"/>
          </a:xfrm>
          <a:prstGeom prst="roundRect">
            <a:avLst>
              <a:gd name="adj" fmla="val 3182"/>
            </a:avLst>
          </a:prstGeom>
          <a:solidFill>
            <a:srgbClr val="3E3E4B"/>
          </a:solidFill>
          <a:ln w="9525">
            <a:solidFill>
              <a:srgbClr val="3E3E4B"/>
            </a:solidFill>
            <a:prstDash val="solid"/>
          </a:ln>
        </p:spPr>
      </p:sp>
      <p:sp>
        <p:nvSpPr>
          <p:cNvPr id="10" name="Text 8"/>
          <p:cNvSpPr/>
          <p:nvPr/>
        </p:nvSpPr>
        <p:spPr>
          <a:xfrm>
            <a:off x="4846320" y="1874520"/>
            <a:ext cx="2560320" cy="731520"/>
          </a:xfrm>
          <a:prstGeom prst="rect">
            <a:avLst/>
          </a:prstGeom>
          <a:noFill/>
          <a:ln/>
        </p:spPr>
        <p:txBody>
          <a:bodyPr wrap="square" lIns="0" tIns="0" rIns="0" bIns="0" rtlCol="0" anchor="ctr"/>
          <a:lstStyle/>
          <a:p>
            <a:pPr indent="0" marL="0">
              <a:buNone/>
            </a:pPr>
            <a:r>
              <a:rPr lang="en-US" sz="4200" b="1" dirty="0">
                <a:solidFill>
                  <a:srgbClr val="00B3E2"/>
                </a:solidFill>
                <a:latin typeface="Calibri" pitchFamily="34" charset="0"/>
                <a:ea typeface="Calibri" pitchFamily="34" charset="-122"/>
                <a:cs typeface="Calibri" pitchFamily="34" charset="-120"/>
              </a:rPr>
              <a:t>6,144</a:t>
            </a:r>
            <a:endParaRPr lang="en-US" sz="4200" dirty="0"/>
          </a:p>
        </p:txBody>
      </p:sp>
      <p:sp>
        <p:nvSpPr>
          <p:cNvPr id="11" name="Text 9"/>
          <p:cNvSpPr/>
          <p:nvPr/>
        </p:nvSpPr>
        <p:spPr>
          <a:xfrm>
            <a:off x="4846320" y="2606040"/>
            <a:ext cx="2560320" cy="2743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/28 routes</a:t>
            </a:r>
            <a:endParaRPr lang="en-US" sz="1500" dirty="0"/>
          </a:p>
        </p:txBody>
      </p:sp>
      <p:sp>
        <p:nvSpPr>
          <p:cNvPr id="12" name="Text 10"/>
          <p:cNvSpPr/>
          <p:nvPr/>
        </p:nvSpPr>
        <p:spPr>
          <a:xfrm>
            <a:off x="4846320" y="2926080"/>
            <a:ext cx="2560320" cy="548640"/>
          </a:xfrm>
          <a:prstGeom prst="rect">
            <a:avLst/>
          </a:prstGeom>
          <a:noFill/>
          <a:ln/>
        </p:spPr>
        <p:txBody>
          <a:bodyPr wrap="square" lIns="0" tIns="0" rIns="0" bIns="0" rtlCol="0" anchor="ctr"/>
          <a:lstStyle/>
          <a:p>
            <a:pPr indent="0" marL="0">
              <a:buNone/>
            </a:pPr>
            <a:r>
              <a:rPr lang="en-US" sz="1300" dirty="0">
                <a:solidFill>
                  <a:srgbClr val="C9CCD6"/>
                </a:solidFill>
                <a:latin typeface="Calibri" pitchFamily="34" charset="0"/>
                <a:ea typeface="Calibri" pitchFamily="34" charset="-122"/>
                <a:cs typeface="Calibri" pitchFamily="34" charset="-120"/>
              </a:rPr>
              <a:t>After adding a fourth host</a:t>
            </a:r>
            <a:endParaRPr lang="en-US" sz="1300" dirty="0"/>
          </a:p>
        </p:txBody>
      </p:sp>
      <p:sp>
        <p:nvSpPr>
          <p:cNvPr id="13" name="Shape 11"/>
          <p:cNvSpPr/>
          <p:nvPr/>
        </p:nvSpPr>
        <p:spPr>
          <a:xfrm>
            <a:off x="8138160" y="1645920"/>
            <a:ext cx="3410712" cy="2011680"/>
          </a:xfrm>
          <a:prstGeom prst="roundRect">
            <a:avLst>
              <a:gd name="adj" fmla="val 3182"/>
            </a:avLst>
          </a:prstGeom>
          <a:solidFill>
            <a:srgbClr val="E5F7FC"/>
          </a:solidFill>
          <a:ln w="9525">
            <a:solidFill>
              <a:srgbClr val="B2E8F6"/>
            </a:solidFill>
            <a:prstDash val="solid"/>
          </a:ln>
        </p:spPr>
      </p:sp>
      <p:sp>
        <p:nvSpPr>
          <p:cNvPr id="14" name="Text 12"/>
          <p:cNvSpPr/>
          <p:nvPr/>
        </p:nvSpPr>
        <p:spPr>
          <a:xfrm>
            <a:off x="8412480" y="1828800"/>
            <a:ext cx="2880360" cy="548640"/>
          </a:xfrm>
          <a:prstGeom prst="rect">
            <a:avLst/>
          </a:prstGeom>
          <a:noFill/>
          <a:ln/>
        </p:spPr>
        <p:txBody>
          <a:bodyPr wrap="square" lIns="0" tIns="0" rIns="0" bIns="0" rtlCol="0" anchor="ctr"/>
          <a:lstStyle/>
          <a:p>
            <a:pPr indent="0" marL="0">
              <a:buNone/>
            </a:pPr>
            <a:r>
              <a:rPr lang="en-US" sz="1450" b="1" dirty="0">
                <a:solidFill>
                  <a:srgbClr val="3E3E4B"/>
                </a:solidFill>
                <a:latin typeface="Calibri" pitchFamily="34" charset="0"/>
                <a:ea typeface="Calibri" pitchFamily="34" charset="-122"/>
                <a:cs typeface="Calibri" pitchFamily="34" charset="-120"/>
              </a:rPr>
              <a:t>Why hardware moves a software limit</a:t>
            </a:r>
            <a:endParaRPr lang="en-US" sz="1450" dirty="0"/>
          </a:p>
        </p:txBody>
      </p:sp>
      <p:sp>
        <p:nvSpPr>
          <p:cNvPr id="15" name="Text 13"/>
          <p:cNvSpPr/>
          <p:nvPr/>
        </p:nvSpPr>
        <p:spPr>
          <a:xfrm>
            <a:off x="8412480" y="2377440"/>
            <a:ext cx="2880360" cy="1188720"/>
          </a:xfrm>
          <a:prstGeom prst="rect">
            <a:avLst/>
          </a:prstGeom>
          <a:noFill/>
          <a:ln/>
        </p:spPr>
        <p:txBody>
          <a:bodyPr wrap="square" lIns="0" tIns="0" rIns="0" bIns="0" rtlCol="0" anchor="ctr"/>
          <a:lstStyle/>
          <a:p>
            <a:pPr indent="0" marL="0">
              <a:buNone/>
            </a:pPr>
            <a:r>
              <a:rPr lang="en-US" sz="1200" dirty="0">
                <a:solidFill>
                  <a:srgbClr val="1A5F7A"/>
                </a:solidFill>
                <a:latin typeface="Calibri" pitchFamily="34" charset="0"/>
                <a:ea typeface="Calibri" pitchFamily="34" charset="-122"/>
                <a:cs typeface="Calibri" pitchFamily="34" charset="-120"/>
              </a:rPr>
              <a:t>NSX Edge appliances run as virtual workloads on ESXi hosts. More physical capacity means more Edge components and more virtual NICs to distribute /28 advertisements across.</a:t>
            </a:r>
            <a:endParaRPr lang="en-US" sz="1200" dirty="0"/>
          </a:p>
        </p:txBody>
      </p:sp>
      <p:sp>
        <p:nvSpPr>
          <p:cNvPr id="16" name="Text 14"/>
          <p:cNvSpPr/>
          <p:nvPr/>
        </p:nvSpPr>
        <p:spPr>
          <a:xfrm>
            <a:off x="640080" y="3931920"/>
            <a:ext cx="10911535" cy="320040"/>
          </a:xfrm>
          <a:prstGeom prst="rect">
            <a:avLst/>
          </a:prstGeom>
          <a:noFill/>
          <a:ln/>
        </p:spPr>
        <p:txBody>
          <a:bodyPr wrap="square" lIns="0" tIns="0" rIns="0" bIns="0" rtlCol="0" anchor="ctr"/>
          <a:lstStyle/>
          <a:p>
            <a:pPr indent="0" marL="0">
              <a:buNone/>
            </a:pPr>
            <a:r>
              <a:rPr lang="en-US" sz="1900" b="1" dirty="0">
                <a:solidFill>
                  <a:srgbClr val="3E3E4B"/>
                </a:solidFill>
                <a:latin typeface="Calibri" pitchFamily="34" charset="0"/>
                <a:ea typeface="Calibri" pitchFamily="34" charset="-122"/>
                <a:cs typeface="Calibri" pitchFamily="34" charset="-120"/>
              </a:rPr>
              <a:t>One host purchase buys four things</a:t>
            </a:r>
            <a:endParaRPr lang="en-US" sz="1900" dirty="0"/>
          </a:p>
        </p:txBody>
      </p:sp>
      <p:sp>
        <p:nvSpPr>
          <p:cNvPr id="17" name="Shape 15"/>
          <p:cNvSpPr/>
          <p:nvPr/>
        </p:nvSpPr>
        <p:spPr>
          <a:xfrm>
            <a:off x="640080" y="4389120"/>
            <a:ext cx="2542032" cy="868680"/>
          </a:xfrm>
          <a:prstGeom prst="roundRect">
            <a:avLst>
              <a:gd name="adj" fmla="val 7368"/>
            </a:avLst>
          </a:prstGeom>
          <a:solidFill>
            <a:srgbClr val="F4F7F8"/>
          </a:solidFill>
          <a:ln w="9525">
            <a:solidFill>
              <a:srgbClr val="DDE2E2"/>
            </a:solidFill>
            <a:prstDash val="solid"/>
          </a:ln>
        </p:spPr>
      </p:sp>
      <p:sp>
        <p:nvSpPr>
          <p:cNvPr id="18" name="Shape 16"/>
          <p:cNvSpPr/>
          <p:nvPr/>
        </p:nvSpPr>
        <p:spPr>
          <a:xfrm>
            <a:off x="896112" y="4700016"/>
            <a:ext cx="256032" cy="256032"/>
          </a:xfrm>
          <a:prstGeom prst="ellipse">
            <a:avLst/>
          </a:prstGeom>
          <a:solidFill>
            <a:srgbClr val="00B3E2"/>
          </a:solidFill>
          <a:ln w="12700">
            <a:solidFill>
              <a:srgbClr val="00B3E2"/>
            </a:solidFill>
            <a:prstDash val="solid"/>
          </a:ln>
        </p:spPr>
      </p:sp>
      <p:sp>
        <p:nvSpPr>
          <p:cNvPr id="19" name="Text 17"/>
          <p:cNvSpPr/>
          <p:nvPr/>
        </p:nvSpPr>
        <p:spPr>
          <a:xfrm>
            <a:off x="1261872" y="4389120"/>
            <a:ext cx="1719072" cy="868680"/>
          </a:xfrm>
          <a:prstGeom prst="rect">
            <a:avLst/>
          </a:prstGeom>
          <a:noFill/>
          <a:ln/>
        </p:spPr>
        <p:txBody>
          <a:bodyPr wrap="square" lIns="0" tIns="0" rIns="0" bIns="0" rtlCol="0" anchor="ctr"/>
          <a:lstStyle/>
          <a:p>
            <a:pPr indent="0" marL="0">
              <a:buNone/>
            </a:pPr>
            <a:r>
              <a:rPr lang="en-US" sz="1450" b="1" dirty="0">
                <a:solidFill>
                  <a:srgbClr val="3E3E4B"/>
                </a:solidFill>
                <a:latin typeface="Calibri" pitchFamily="34" charset="0"/>
                <a:ea typeface="Calibri" pitchFamily="34" charset="-122"/>
                <a:cs typeface="Calibri" pitchFamily="34" charset="-120"/>
              </a:rPr>
              <a:t>VM compute</a:t>
            </a:r>
            <a:endParaRPr lang="en-US" sz="1450" dirty="0"/>
          </a:p>
        </p:txBody>
      </p:sp>
      <p:sp>
        <p:nvSpPr>
          <p:cNvPr id="20" name="Shape 18"/>
          <p:cNvSpPr/>
          <p:nvPr/>
        </p:nvSpPr>
        <p:spPr>
          <a:xfrm>
            <a:off x="3429000" y="4389120"/>
            <a:ext cx="2542032" cy="868680"/>
          </a:xfrm>
          <a:prstGeom prst="roundRect">
            <a:avLst>
              <a:gd name="adj" fmla="val 7368"/>
            </a:avLst>
          </a:prstGeom>
          <a:solidFill>
            <a:srgbClr val="F4F7F8"/>
          </a:solidFill>
          <a:ln w="9525">
            <a:solidFill>
              <a:srgbClr val="DDE2E2"/>
            </a:solidFill>
            <a:prstDash val="solid"/>
          </a:ln>
        </p:spPr>
      </p:sp>
      <p:sp>
        <p:nvSpPr>
          <p:cNvPr id="21" name="Shape 19"/>
          <p:cNvSpPr/>
          <p:nvPr/>
        </p:nvSpPr>
        <p:spPr>
          <a:xfrm>
            <a:off x="3685032" y="4700016"/>
            <a:ext cx="256032" cy="256032"/>
          </a:xfrm>
          <a:prstGeom prst="ellipse">
            <a:avLst/>
          </a:prstGeom>
          <a:solidFill>
            <a:srgbClr val="2DCCD3"/>
          </a:solidFill>
          <a:ln w="12700">
            <a:solidFill>
              <a:srgbClr val="2DCCD3"/>
            </a:solidFill>
            <a:prstDash val="solid"/>
          </a:ln>
        </p:spPr>
      </p:sp>
      <p:sp>
        <p:nvSpPr>
          <p:cNvPr id="22" name="Text 20"/>
          <p:cNvSpPr/>
          <p:nvPr/>
        </p:nvSpPr>
        <p:spPr>
          <a:xfrm>
            <a:off x="4050792" y="4389120"/>
            <a:ext cx="1719072" cy="868680"/>
          </a:xfrm>
          <a:prstGeom prst="rect">
            <a:avLst/>
          </a:prstGeom>
          <a:noFill/>
          <a:ln/>
        </p:spPr>
        <p:txBody>
          <a:bodyPr wrap="square" lIns="0" tIns="0" rIns="0" bIns="0" rtlCol="0" anchor="ctr"/>
          <a:lstStyle/>
          <a:p>
            <a:pPr indent="0" marL="0">
              <a:buNone/>
            </a:pPr>
            <a:r>
              <a:rPr lang="en-US" sz="1450" b="1" dirty="0">
                <a:solidFill>
                  <a:srgbClr val="3E3E4B"/>
                </a:solidFill>
                <a:latin typeface="Calibri" pitchFamily="34" charset="0"/>
                <a:ea typeface="Calibri" pitchFamily="34" charset="-122"/>
                <a:cs typeface="Calibri" pitchFamily="34" charset="-120"/>
              </a:rPr>
              <a:t>Storage</a:t>
            </a:r>
            <a:endParaRPr lang="en-US" sz="1450" dirty="0"/>
          </a:p>
        </p:txBody>
      </p:sp>
      <p:sp>
        <p:nvSpPr>
          <p:cNvPr id="23" name="Shape 21"/>
          <p:cNvSpPr/>
          <p:nvPr/>
        </p:nvSpPr>
        <p:spPr>
          <a:xfrm>
            <a:off x="6217920" y="4389120"/>
            <a:ext cx="2542032" cy="868680"/>
          </a:xfrm>
          <a:prstGeom prst="roundRect">
            <a:avLst>
              <a:gd name="adj" fmla="val 7368"/>
            </a:avLst>
          </a:prstGeom>
          <a:solidFill>
            <a:srgbClr val="F4F7F8"/>
          </a:solidFill>
          <a:ln w="9525">
            <a:solidFill>
              <a:srgbClr val="DDE2E2"/>
            </a:solidFill>
            <a:prstDash val="solid"/>
          </a:ln>
        </p:spPr>
      </p:sp>
      <p:sp>
        <p:nvSpPr>
          <p:cNvPr id="24" name="Shape 22"/>
          <p:cNvSpPr/>
          <p:nvPr/>
        </p:nvSpPr>
        <p:spPr>
          <a:xfrm>
            <a:off x="6473952" y="4700016"/>
            <a:ext cx="256032" cy="256032"/>
          </a:xfrm>
          <a:prstGeom prst="ellipse">
            <a:avLst/>
          </a:prstGeom>
          <a:solidFill>
            <a:srgbClr val="00AD93"/>
          </a:solidFill>
          <a:ln w="12700">
            <a:solidFill>
              <a:srgbClr val="00AD93"/>
            </a:solidFill>
            <a:prstDash val="solid"/>
          </a:ln>
        </p:spPr>
      </p:sp>
      <p:sp>
        <p:nvSpPr>
          <p:cNvPr id="25" name="Text 23"/>
          <p:cNvSpPr/>
          <p:nvPr/>
        </p:nvSpPr>
        <p:spPr>
          <a:xfrm>
            <a:off x="6839712" y="4389120"/>
            <a:ext cx="1719072" cy="868680"/>
          </a:xfrm>
          <a:prstGeom prst="rect">
            <a:avLst/>
          </a:prstGeom>
          <a:noFill/>
          <a:ln/>
        </p:spPr>
        <p:txBody>
          <a:bodyPr wrap="square" lIns="0" tIns="0" rIns="0" bIns="0" rtlCol="0" anchor="ctr"/>
          <a:lstStyle/>
          <a:p>
            <a:pPr indent="0" marL="0">
              <a:buNone/>
            </a:pPr>
            <a:r>
              <a:rPr lang="en-US" sz="1450" b="1" dirty="0">
                <a:solidFill>
                  <a:srgbClr val="3E3E4B"/>
                </a:solidFill>
                <a:latin typeface="Calibri" pitchFamily="34" charset="0"/>
                <a:ea typeface="Calibri" pitchFamily="34" charset="-122"/>
                <a:cs typeface="Calibri" pitchFamily="34" charset="-120"/>
              </a:rPr>
              <a:t>NSX Edge capacity</a:t>
            </a:r>
            <a:endParaRPr lang="en-US" sz="1450" dirty="0"/>
          </a:p>
        </p:txBody>
      </p:sp>
      <p:sp>
        <p:nvSpPr>
          <p:cNvPr id="26" name="Shape 24"/>
          <p:cNvSpPr/>
          <p:nvPr/>
        </p:nvSpPr>
        <p:spPr>
          <a:xfrm>
            <a:off x="9006840" y="4389120"/>
            <a:ext cx="2542032" cy="868680"/>
          </a:xfrm>
          <a:prstGeom prst="roundRect">
            <a:avLst>
              <a:gd name="adj" fmla="val 7368"/>
            </a:avLst>
          </a:prstGeom>
          <a:solidFill>
            <a:srgbClr val="F4F7F8"/>
          </a:solidFill>
          <a:ln w="9525">
            <a:solidFill>
              <a:srgbClr val="DDE2E2"/>
            </a:solidFill>
            <a:prstDash val="solid"/>
          </a:ln>
        </p:spPr>
      </p:sp>
      <p:sp>
        <p:nvSpPr>
          <p:cNvPr id="27" name="Shape 25"/>
          <p:cNvSpPr/>
          <p:nvPr/>
        </p:nvSpPr>
        <p:spPr>
          <a:xfrm>
            <a:off x="9262872" y="4700016"/>
            <a:ext cx="256032" cy="256032"/>
          </a:xfrm>
          <a:prstGeom prst="ellipse">
            <a:avLst/>
          </a:prstGeom>
          <a:solidFill>
            <a:srgbClr val="F15D23"/>
          </a:solidFill>
          <a:ln w="12700">
            <a:solidFill>
              <a:srgbClr val="F15D23"/>
            </a:solidFill>
            <a:prstDash val="solid"/>
          </a:ln>
        </p:spPr>
      </p:sp>
      <p:sp>
        <p:nvSpPr>
          <p:cNvPr id="28" name="Text 26"/>
          <p:cNvSpPr/>
          <p:nvPr/>
        </p:nvSpPr>
        <p:spPr>
          <a:xfrm>
            <a:off x="9628632" y="4389120"/>
            <a:ext cx="1719072" cy="868680"/>
          </a:xfrm>
          <a:prstGeom prst="rect">
            <a:avLst/>
          </a:prstGeom>
          <a:noFill/>
          <a:ln/>
        </p:spPr>
        <p:txBody>
          <a:bodyPr wrap="square" lIns="0" tIns="0" rIns="0" bIns="0" rtlCol="0" anchor="ctr"/>
          <a:lstStyle/>
          <a:p>
            <a:pPr indent="0" marL="0">
              <a:buNone/>
            </a:pPr>
            <a:r>
              <a:rPr lang="en-US" sz="1450" b="1" dirty="0">
                <a:solidFill>
                  <a:srgbClr val="3E3E4B"/>
                </a:solidFill>
                <a:latin typeface="Calibri" pitchFamily="34" charset="0"/>
                <a:ea typeface="Calibri" pitchFamily="34" charset="-122"/>
                <a:cs typeface="Calibri" pitchFamily="34" charset="-120"/>
              </a:rPr>
              <a:t>BGP route capacity</a:t>
            </a:r>
            <a:endParaRPr lang="en-US" sz="1450" dirty="0"/>
          </a:p>
        </p:txBody>
      </p:sp>
      <p:sp>
        <p:nvSpPr>
          <p:cNvPr id="29" name="Shape 27"/>
          <p:cNvSpPr/>
          <p:nvPr/>
        </p:nvSpPr>
        <p:spPr>
          <a:xfrm>
            <a:off x="640080" y="5440680"/>
            <a:ext cx="10911535" cy="777240"/>
          </a:xfrm>
          <a:prstGeom prst="roundRect">
            <a:avLst>
              <a:gd name="adj" fmla="val 8235"/>
            </a:avLst>
          </a:prstGeom>
          <a:solidFill>
            <a:srgbClr val="FDF0EB"/>
          </a:solidFill>
          <a:ln w="9525">
            <a:solidFill>
              <a:srgbClr val="F6C9B4"/>
            </a:solidFill>
            <a:prstDash val="solid"/>
          </a:ln>
        </p:spPr>
      </p:sp>
      <p:sp>
        <p:nvSpPr>
          <p:cNvPr id="30" name="Text 28"/>
          <p:cNvSpPr/>
          <p:nvPr/>
        </p:nvSpPr>
        <p:spPr>
          <a:xfrm>
            <a:off x="960120" y="5440680"/>
            <a:ext cx="10271455" cy="777240"/>
          </a:xfrm>
          <a:prstGeom prst="rect">
            <a:avLst/>
          </a:prstGeom>
          <a:noFill/>
          <a:ln/>
        </p:spPr>
        <p:txBody>
          <a:bodyPr wrap="square" lIns="0" tIns="0" rIns="0" bIns="0" rtlCol="0" anchor="ctr"/>
          <a:lstStyle/>
          <a:p>
            <a:pPr indent="0" marL="0">
              <a:buNone/>
            </a:pPr>
            <a:r>
              <a:rPr lang="en-US" sz="1400" b="1" dirty="0">
                <a:solidFill>
                  <a:srgbClr val="3E3E4B"/>
                </a:solidFill>
                <a:latin typeface="Calibri" pitchFamily="34" charset="0"/>
                <a:ea typeface="Calibri" pitchFamily="34" charset="-122"/>
                <a:cs typeface="Calibri" pitchFamily="34" charset="-120"/>
              </a:rPr>
              <a:t>Hardware sizing and network scale cannot be planned independently. A routing ceiling can sometimes be raised with a capacity decision rather than a redesign.</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37744"/>
          </a:xfrm>
          <a:prstGeom prst="rect">
            <a:avLst/>
          </a:prstGeom>
          <a:noFill/>
          <a:ln/>
        </p:spPr>
        <p:txBody>
          <a:bodyPr wrap="square" lIns="0" tIns="0" rIns="0" bIns="0" rtlCol="0" anchor="ctr"/>
          <a:lstStyle/>
          <a:p>
            <a:pPr indent="0" marL="0">
              <a:buNone/>
            </a:pPr>
            <a:r>
              <a:rPr lang="en-US" sz="1100" b="1" spc="200" kern="0" dirty="0">
                <a:solidFill>
                  <a:srgbClr val="00B3E2"/>
                </a:solidFill>
                <a:latin typeface="Calibri" pitchFamily="34" charset="0"/>
                <a:ea typeface="Calibri" pitchFamily="34" charset="-122"/>
                <a:cs typeface="Calibri" pitchFamily="34" charset="-120"/>
              </a:rPr>
              <a:t>NSX GATEWAYS</a:t>
            </a:r>
            <a:endParaRPr lang="en-US" sz="1100" dirty="0"/>
          </a:p>
        </p:txBody>
      </p:sp>
      <p:sp>
        <p:nvSpPr>
          <p:cNvPr id="3" name="Text 1"/>
          <p:cNvSpPr/>
          <p:nvPr/>
        </p:nvSpPr>
        <p:spPr>
          <a:xfrm>
            <a:off x="640080" y="658368"/>
            <a:ext cx="10911535" cy="566928"/>
          </a:xfrm>
          <a:prstGeom prst="rect">
            <a:avLst/>
          </a:prstGeom>
          <a:noFill/>
          <a:ln/>
        </p:spPr>
        <p:txBody>
          <a:bodyPr wrap="square" lIns="0" tIns="0" rIns="0" bIns="0" rtlCol="0" anchor="ctr"/>
          <a:lstStyle/>
          <a:p>
            <a:pPr indent="0" marL="0">
              <a:buNone/>
            </a:pPr>
            <a:r>
              <a:rPr lang="en-US" sz="3400" b="1" dirty="0">
                <a:solidFill>
                  <a:srgbClr val="3E3E4B"/>
                </a:solidFill>
                <a:latin typeface="Calibri" pitchFamily="34" charset="0"/>
                <a:ea typeface="Calibri" pitchFamily="34" charset="-122"/>
                <a:cs typeface="Calibri" pitchFamily="34" charset="-120"/>
              </a:rPr>
              <a:t>Stateless routes, stateful sessions</a:t>
            </a:r>
            <a:endParaRPr lang="en-US" sz="3400" dirty="0"/>
          </a:p>
        </p:txBody>
      </p:sp>
      <p:sp>
        <p:nvSpPr>
          <p:cNvPr id="4" name="Shape 2"/>
          <p:cNvSpPr/>
          <p:nvPr/>
        </p:nvSpPr>
        <p:spPr>
          <a:xfrm>
            <a:off x="640080" y="1645920"/>
            <a:ext cx="5257800" cy="4114800"/>
          </a:xfrm>
          <a:prstGeom prst="roundRect">
            <a:avLst>
              <a:gd name="adj" fmla="val 1556"/>
            </a:avLst>
          </a:prstGeom>
          <a:solidFill>
            <a:srgbClr val="F4F7F8"/>
          </a:solidFill>
          <a:ln w="9525">
            <a:solidFill>
              <a:srgbClr val="DDE2E2"/>
            </a:solidFill>
            <a:prstDash val="solid"/>
          </a:ln>
        </p:spPr>
      </p:sp>
      <p:sp>
        <p:nvSpPr>
          <p:cNvPr id="5" name="Shape 3"/>
          <p:cNvSpPr/>
          <p:nvPr/>
        </p:nvSpPr>
        <p:spPr>
          <a:xfrm>
            <a:off x="640080" y="1645920"/>
            <a:ext cx="5257800" cy="566928"/>
          </a:xfrm>
          <a:prstGeom prst="roundRect">
            <a:avLst>
              <a:gd name="adj" fmla="val 11290"/>
            </a:avLst>
          </a:prstGeom>
          <a:solidFill>
            <a:srgbClr val="00B3E2"/>
          </a:solidFill>
          <a:ln w="12700">
            <a:solidFill>
              <a:srgbClr val="00B3E2"/>
            </a:solidFill>
            <a:prstDash val="solid"/>
          </a:ln>
        </p:spPr>
      </p:sp>
      <p:sp>
        <p:nvSpPr>
          <p:cNvPr id="6" name="Text 4"/>
          <p:cNvSpPr/>
          <p:nvPr/>
        </p:nvSpPr>
        <p:spPr>
          <a:xfrm>
            <a:off x="960120" y="1645920"/>
            <a:ext cx="2011680" cy="566928"/>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Tier-0</a:t>
            </a:r>
            <a:endParaRPr lang="en-US" sz="1900" dirty="0"/>
          </a:p>
        </p:txBody>
      </p:sp>
      <p:sp>
        <p:nvSpPr>
          <p:cNvPr id="7" name="Text 5"/>
          <p:cNvSpPr/>
          <p:nvPr/>
        </p:nvSpPr>
        <p:spPr>
          <a:xfrm>
            <a:off x="3017520" y="1645920"/>
            <a:ext cx="2560320" cy="566928"/>
          </a:xfrm>
          <a:prstGeom prst="rect">
            <a:avLst/>
          </a:prstGeom>
          <a:noFill/>
          <a:ln/>
        </p:spPr>
        <p:txBody>
          <a:bodyPr wrap="square" lIns="0" tIns="0" rIns="0" bIns="0" rtlCol="0" anchor="ctr"/>
          <a:lstStyle/>
          <a:p>
            <a:pPr algn="r" indent="0" marL="0">
              <a:buNone/>
            </a:pPr>
            <a:r>
              <a:rPr lang="en-US" sz="1400" b="1" dirty="0">
                <a:solidFill>
                  <a:srgbClr val="FFFFFF"/>
                </a:solidFill>
                <a:latin typeface="Calibri" pitchFamily="34" charset="0"/>
                <a:ea typeface="Calibri" pitchFamily="34" charset="-122"/>
                <a:cs typeface="Calibri" pitchFamily="34" charset="-120"/>
              </a:rPr>
              <a:t>Active-active</a:t>
            </a:r>
            <a:endParaRPr lang="en-US" sz="1400" dirty="0"/>
          </a:p>
        </p:txBody>
      </p:sp>
      <p:sp>
        <p:nvSpPr>
          <p:cNvPr id="8" name="Text 6"/>
          <p:cNvSpPr/>
          <p:nvPr/>
        </p:nvSpPr>
        <p:spPr>
          <a:xfrm>
            <a:off x="960120" y="2423160"/>
            <a:ext cx="4617720" cy="1371600"/>
          </a:xfrm>
          <a:prstGeom prst="rect">
            <a:avLst/>
          </a:prstGeom>
          <a:noFill/>
          <a:ln/>
        </p:spPr>
        <p:txBody>
          <a:bodyPr wrap="square" lIns="0" tIns="0" rIns="0" bIns="0" rtlCol="0" anchor="ctr"/>
          <a:lstStyle/>
          <a:p>
            <a:pPr marL="177800" indent="-177800">
              <a:spcAft>
                <a:spcPts val="800"/>
              </a:spcAft>
              <a:buSzPct val="100000"/>
              <a:buChar char="•"/>
            </a:pPr>
            <a:r>
              <a:rPr lang="en-US" sz="1400" dirty="0">
                <a:solidFill>
                  <a:srgbClr val="55555F"/>
                </a:solidFill>
                <a:latin typeface="Calibri" pitchFamily="34" charset="0"/>
                <a:ea typeface="Calibri" pitchFamily="34" charset="-122"/>
                <a:cs typeface="Calibri" pitchFamily="34" charset="-120"/>
              </a:rPr>
              <a:t>Serves as the edge routing boundary of the private cloud.</a:t>
            </a:r>
            <a:endParaRPr lang="en-US" sz="1400" dirty="0"/>
          </a:p>
          <a:p>
            <a:pPr marL="177800" indent="-177800">
              <a:spcAft>
                <a:spcPts val="800"/>
              </a:spcAft>
              <a:buSzPct val="100000"/>
              <a:buChar char="•"/>
            </a:pPr>
            <a:r>
              <a:rPr lang="en-US" sz="1400" dirty="0">
                <a:solidFill>
                  <a:srgbClr val="55555F"/>
                </a:solidFill>
                <a:latin typeface="Calibri" pitchFamily="34" charset="0"/>
                <a:ea typeface="Calibri" pitchFamily="34" charset="-122"/>
                <a:cs typeface="Calibri" pitchFamily="34" charset="-120"/>
              </a:rPr>
              <a:t>Exchanges BGP routes with the Azure network.</a:t>
            </a:r>
            <a:endParaRPr lang="en-US" sz="1400" dirty="0"/>
          </a:p>
          <a:p>
            <a:pPr marL="177800" indent="-177800">
              <a:spcAft>
                <a:spcPts val="800"/>
              </a:spcAft>
              <a:buSzPct val="100000"/>
              <a:buChar char="•"/>
            </a:pPr>
            <a:r>
              <a:rPr lang="en-US" sz="1400" dirty="0">
                <a:solidFill>
                  <a:srgbClr val="55555F"/>
                </a:solidFill>
                <a:latin typeface="Calibri" pitchFamily="34" charset="0"/>
                <a:ea typeface="Calibri" pitchFamily="34" charset="-122"/>
                <a:cs typeface="Calibri" pitchFamily="34" charset="-120"/>
              </a:rPr>
              <a:t>Multiple uplinks process traffic concurrently.</a:t>
            </a:r>
            <a:endParaRPr lang="en-US" sz="1400" dirty="0"/>
          </a:p>
        </p:txBody>
      </p:sp>
      <p:sp>
        <p:nvSpPr>
          <p:cNvPr id="9" name="Shape 7"/>
          <p:cNvSpPr/>
          <p:nvPr/>
        </p:nvSpPr>
        <p:spPr>
          <a:xfrm>
            <a:off x="960120" y="3886200"/>
            <a:ext cx="4617720" cy="1645920"/>
          </a:xfrm>
          <a:prstGeom prst="roundRect">
            <a:avLst>
              <a:gd name="adj" fmla="val 3889"/>
            </a:avLst>
          </a:prstGeom>
          <a:solidFill>
            <a:srgbClr val="E5F7FC"/>
          </a:solidFill>
          <a:ln w="9525">
            <a:solidFill>
              <a:srgbClr val="B2E8F6"/>
            </a:solidFill>
            <a:prstDash val="solid"/>
          </a:ln>
        </p:spPr>
      </p:sp>
      <p:sp>
        <p:nvSpPr>
          <p:cNvPr id="10" name="Text 8"/>
          <p:cNvSpPr/>
          <p:nvPr/>
        </p:nvSpPr>
        <p:spPr>
          <a:xfrm>
            <a:off x="1188720" y="4041648"/>
            <a:ext cx="4160520" cy="274320"/>
          </a:xfrm>
          <a:prstGeom prst="rect">
            <a:avLst/>
          </a:prstGeom>
          <a:noFill/>
          <a:ln/>
        </p:spPr>
        <p:txBody>
          <a:bodyPr wrap="square" lIns="0" tIns="0" rIns="0" bIns="0" rtlCol="0" anchor="ctr"/>
          <a:lstStyle/>
          <a:p>
            <a:pPr indent="0" marL="0">
              <a:buNone/>
            </a:pPr>
            <a:r>
              <a:rPr lang="en-US" sz="1300" b="1" dirty="0">
                <a:solidFill>
                  <a:srgbClr val="3E3E4B"/>
                </a:solidFill>
                <a:latin typeface="Calibri" pitchFamily="34" charset="0"/>
                <a:ea typeface="Calibri" pitchFamily="34" charset="-122"/>
                <a:cs typeface="Calibri" pitchFamily="34" charset="-120"/>
              </a:rPr>
              <a:t>Why this mode</a:t>
            </a:r>
            <a:endParaRPr lang="en-US" sz="1300" dirty="0"/>
          </a:p>
        </p:txBody>
      </p:sp>
      <p:sp>
        <p:nvSpPr>
          <p:cNvPr id="11" name="Text 9"/>
          <p:cNvSpPr/>
          <p:nvPr/>
        </p:nvSpPr>
        <p:spPr>
          <a:xfrm>
            <a:off x="1188720" y="4315968"/>
            <a:ext cx="4160520" cy="1097280"/>
          </a:xfrm>
          <a:prstGeom prst="rect">
            <a:avLst/>
          </a:prstGeom>
          <a:noFill/>
          <a:ln/>
        </p:spPr>
        <p:txBody>
          <a:bodyPr wrap="square" lIns="0" tIns="0" rIns="0" bIns="0" rtlCol="0" anchor="ctr"/>
          <a:lstStyle/>
          <a:p>
            <a:pPr indent="0" marL="0">
              <a:buNone/>
            </a:pPr>
            <a:r>
              <a:rPr lang="en-US" sz="1250" dirty="0">
                <a:solidFill>
                  <a:srgbClr val="1A5F7A"/>
                </a:solidFill>
                <a:latin typeface="Calibri" pitchFamily="34" charset="0"/>
                <a:ea typeface="Calibri" pitchFamily="34" charset="-122"/>
                <a:cs typeface="Calibri" pitchFamily="34" charset="-120"/>
              </a:rPr>
              <a:t>Basic routing is stateless. The device forwards packets without remembering an entire application session, so traffic can use multiple paths without breaking state tables.</a:t>
            </a:r>
            <a:endParaRPr lang="en-US" sz="1250" dirty="0"/>
          </a:p>
        </p:txBody>
      </p:sp>
      <p:sp>
        <p:nvSpPr>
          <p:cNvPr id="12" name="Shape 10"/>
          <p:cNvSpPr/>
          <p:nvPr/>
        </p:nvSpPr>
        <p:spPr>
          <a:xfrm>
            <a:off x="6291072" y="1645920"/>
            <a:ext cx="5257800" cy="4114800"/>
          </a:xfrm>
          <a:prstGeom prst="roundRect">
            <a:avLst>
              <a:gd name="adj" fmla="val 1556"/>
            </a:avLst>
          </a:prstGeom>
          <a:solidFill>
            <a:srgbClr val="F4F7F8"/>
          </a:solidFill>
          <a:ln w="9525">
            <a:solidFill>
              <a:srgbClr val="DDE2E2"/>
            </a:solidFill>
            <a:prstDash val="solid"/>
          </a:ln>
        </p:spPr>
      </p:sp>
      <p:sp>
        <p:nvSpPr>
          <p:cNvPr id="13" name="Shape 11"/>
          <p:cNvSpPr/>
          <p:nvPr/>
        </p:nvSpPr>
        <p:spPr>
          <a:xfrm>
            <a:off x="6291072" y="1645920"/>
            <a:ext cx="5257800" cy="566928"/>
          </a:xfrm>
          <a:prstGeom prst="roundRect">
            <a:avLst>
              <a:gd name="adj" fmla="val 11290"/>
            </a:avLst>
          </a:prstGeom>
          <a:solidFill>
            <a:srgbClr val="00AD93"/>
          </a:solidFill>
          <a:ln w="12700">
            <a:solidFill>
              <a:srgbClr val="00AD93"/>
            </a:solidFill>
            <a:prstDash val="solid"/>
          </a:ln>
        </p:spPr>
      </p:sp>
      <p:sp>
        <p:nvSpPr>
          <p:cNvPr id="14" name="Text 12"/>
          <p:cNvSpPr/>
          <p:nvPr/>
        </p:nvSpPr>
        <p:spPr>
          <a:xfrm>
            <a:off x="6611112" y="1645920"/>
            <a:ext cx="2011680" cy="566928"/>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Tier-1</a:t>
            </a:r>
            <a:endParaRPr lang="en-US" sz="1900" dirty="0"/>
          </a:p>
        </p:txBody>
      </p:sp>
      <p:sp>
        <p:nvSpPr>
          <p:cNvPr id="15" name="Text 13"/>
          <p:cNvSpPr/>
          <p:nvPr/>
        </p:nvSpPr>
        <p:spPr>
          <a:xfrm>
            <a:off x="8668512" y="1645920"/>
            <a:ext cx="2560320" cy="566928"/>
          </a:xfrm>
          <a:prstGeom prst="rect">
            <a:avLst/>
          </a:prstGeom>
          <a:noFill/>
          <a:ln/>
        </p:spPr>
        <p:txBody>
          <a:bodyPr wrap="square" lIns="0" tIns="0" rIns="0" bIns="0" rtlCol="0" anchor="ctr"/>
          <a:lstStyle/>
          <a:p>
            <a:pPr algn="r" indent="0" marL="0">
              <a:buNone/>
            </a:pPr>
            <a:r>
              <a:rPr lang="en-US" sz="1400" b="1" dirty="0">
                <a:solidFill>
                  <a:srgbClr val="FFFFFF"/>
                </a:solidFill>
                <a:latin typeface="Calibri" pitchFamily="34" charset="0"/>
                <a:ea typeface="Calibri" pitchFamily="34" charset="-122"/>
                <a:cs typeface="Calibri" pitchFamily="34" charset="-120"/>
              </a:rPr>
              <a:t>Active-standby</a:t>
            </a:r>
            <a:endParaRPr lang="en-US" sz="1400" dirty="0"/>
          </a:p>
        </p:txBody>
      </p:sp>
      <p:sp>
        <p:nvSpPr>
          <p:cNvPr id="16" name="Text 14"/>
          <p:cNvSpPr/>
          <p:nvPr/>
        </p:nvSpPr>
        <p:spPr>
          <a:xfrm>
            <a:off x="6611112" y="2423160"/>
            <a:ext cx="4617720" cy="1371600"/>
          </a:xfrm>
          <a:prstGeom prst="rect">
            <a:avLst/>
          </a:prstGeom>
          <a:noFill/>
          <a:ln/>
        </p:spPr>
        <p:txBody>
          <a:bodyPr wrap="square" lIns="0" tIns="0" rIns="0" bIns="0" rtlCol="0" anchor="ctr"/>
          <a:lstStyle/>
          <a:p>
            <a:pPr marL="177800" indent="-177800">
              <a:spcAft>
                <a:spcPts val="800"/>
              </a:spcAft>
              <a:buSzPct val="100000"/>
              <a:buChar char="•"/>
            </a:pPr>
            <a:r>
              <a:rPr lang="en-US" sz="1400" dirty="0">
                <a:solidFill>
                  <a:srgbClr val="55555F"/>
                </a:solidFill>
                <a:latin typeface="Calibri" pitchFamily="34" charset="0"/>
                <a:ea typeface="Calibri" pitchFamily="34" charset="-122"/>
                <a:cs typeface="Calibri" pitchFamily="34" charset="-120"/>
              </a:rPr>
              <a:t>Sits beneath Tier-0 and connects logical workload segments.</a:t>
            </a:r>
            <a:endParaRPr lang="en-US" sz="1400" dirty="0"/>
          </a:p>
          <a:p>
            <a:pPr marL="177800" indent="-177800">
              <a:spcAft>
                <a:spcPts val="800"/>
              </a:spcAft>
              <a:buSzPct val="100000"/>
              <a:buChar char="•"/>
            </a:pPr>
            <a:r>
              <a:rPr lang="en-US" sz="1400" dirty="0">
                <a:solidFill>
                  <a:srgbClr val="55555F"/>
                </a:solidFill>
                <a:latin typeface="Calibri" pitchFamily="34" charset="0"/>
                <a:ea typeface="Calibri" pitchFamily="34" charset="-122"/>
                <a:cs typeface="Calibri" pitchFamily="34" charset="-120"/>
              </a:rPr>
              <a:t>Hosts stateful services: NAT, stateful firewall policy, session-aware processing.</a:t>
            </a:r>
            <a:endParaRPr lang="en-US" sz="1400" dirty="0"/>
          </a:p>
        </p:txBody>
      </p:sp>
      <p:sp>
        <p:nvSpPr>
          <p:cNvPr id="17" name="Shape 15"/>
          <p:cNvSpPr/>
          <p:nvPr/>
        </p:nvSpPr>
        <p:spPr>
          <a:xfrm>
            <a:off x="6611112" y="3886200"/>
            <a:ext cx="4617720" cy="1645920"/>
          </a:xfrm>
          <a:prstGeom prst="roundRect">
            <a:avLst>
              <a:gd name="adj" fmla="val 3889"/>
            </a:avLst>
          </a:prstGeom>
          <a:solidFill>
            <a:srgbClr val="E5F7FC"/>
          </a:solidFill>
          <a:ln w="9525">
            <a:solidFill>
              <a:srgbClr val="B2E8F6"/>
            </a:solidFill>
            <a:prstDash val="solid"/>
          </a:ln>
        </p:spPr>
      </p:sp>
      <p:sp>
        <p:nvSpPr>
          <p:cNvPr id="18" name="Text 16"/>
          <p:cNvSpPr/>
          <p:nvPr/>
        </p:nvSpPr>
        <p:spPr>
          <a:xfrm>
            <a:off x="6839712" y="4041648"/>
            <a:ext cx="4160520" cy="274320"/>
          </a:xfrm>
          <a:prstGeom prst="rect">
            <a:avLst/>
          </a:prstGeom>
          <a:noFill/>
          <a:ln/>
        </p:spPr>
        <p:txBody>
          <a:bodyPr wrap="square" lIns="0" tIns="0" rIns="0" bIns="0" rtlCol="0" anchor="ctr"/>
          <a:lstStyle/>
          <a:p>
            <a:pPr indent="0" marL="0">
              <a:buNone/>
            </a:pPr>
            <a:r>
              <a:rPr lang="en-US" sz="1300" b="1" dirty="0">
                <a:solidFill>
                  <a:srgbClr val="3E3E4B"/>
                </a:solidFill>
                <a:latin typeface="Calibri" pitchFamily="34" charset="0"/>
                <a:ea typeface="Calibri" pitchFamily="34" charset="-122"/>
                <a:cs typeface="Calibri" pitchFamily="34" charset="-120"/>
              </a:rPr>
              <a:t>Why this mode</a:t>
            </a:r>
            <a:endParaRPr lang="en-US" sz="1300" dirty="0"/>
          </a:p>
        </p:txBody>
      </p:sp>
      <p:sp>
        <p:nvSpPr>
          <p:cNvPr id="19" name="Text 17"/>
          <p:cNvSpPr/>
          <p:nvPr/>
        </p:nvSpPr>
        <p:spPr>
          <a:xfrm>
            <a:off x="6839712" y="4315968"/>
            <a:ext cx="4160520" cy="1097280"/>
          </a:xfrm>
          <a:prstGeom prst="rect">
            <a:avLst/>
          </a:prstGeom>
          <a:noFill/>
          <a:ln/>
        </p:spPr>
        <p:txBody>
          <a:bodyPr wrap="square" lIns="0" tIns="0" rIns="0" bIns="0" rtlCol="0" anchor="ctr"/>
          <a:lstStyle/>
          <a:p>
            <a:pPr indent="0" marL="0">
              <a:buNone/>
            </a:pPr>
            <a:r>
              <a:rPr lang="en-US" sz="1250" dirty="0">
                <a:solidFill>
                  <a:srgbClr val="1A5F7A"/>
                </a:solidFill>
                <a:latin typeface="Calibri" pitchFamily="34" charset="0"/>
                <a:ea typeface="Calibri" pitchFamily="34" charset="-122"/>
                <a:cs typeface="Calibri" pitchFamily="34" charset="-120"/>
              </a:rPr>
              <a:t>If an outbound SYN crosses one gateway and the returning SYN-ACK arrives at another with no matching state, the return packet is treated as unsolicited and dropped. Active-standby preserves one authoritative session table while keeping failover.</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37744"/>
          </a:xfrm>
          <a:prstGeom prst="rect">
            <a:avLst/>
          </a:prstGeom>
          <a:noFill/>
          <a:ln/>
        </p:spPr>
        <p:txBody>
          <a:bodyPr wrap="square" lIns="0" tIns="0" rIns="0" bIns="0" rtlCol="0" anchor="ctr"/>
          <a:lstStyle/>
          <a:p>
            <a:pPr indent="0" marL="0">
              <a:buNone/>
            </a:pPr>
            <a:r>
              <a:rPr lang="en-US" sz="1100" b="1" spc="200" kern="0" dirty="0">
                <a:solidFill>
                  <a:srgbClr val="00B3E2"/>
                </a:solidFill>
                <a:latin typeface="Calibri" pitchFamily="34" charset="0"/>
                <a:ea typeface="Calibri" pitchFamily="34" charset="-122"/>
                <a:cs typeface="Calibri" pitchFamily="34" charset="-120"/>
              </a:rPr>
              <a:t>SEGMENT CREATION</a:t>
            </a:r>
            <a:endParaRPr lang="en-US" sz="1100" dirty="0"/>
          </a:p>
        </p:txBody>
      </p:sp>
      <p:sp>
        <p:nvSpPr>
          <p:cNvPr id="3" name="Text 1"/>
          <p:cNvSpPr/>
          <p:nvPr/>
        </p:nvSpPr>
        <p:spPr>
          <a:xfrm>
            <a:off x="640080" y="658368"/>
            <a:ext cx="10911535" cy="566928"/>
          </a:xfrm>
          <a:prstGeom prst="rect">
            <a:avLst/>
          </a:prstGeom>
          <a:noFill/>
          <a:ln/>
        </p:spPr>
        <p:txBody>
          <a:bodyPr wrap="square" lIns="0" tIns="0" rIns="0" bIns="0" rtlCol="0" anchor="ctr"/>
          <a:lstStyle/>
          <a:p>
            <a:pPr indent="0" marL="0">
              <a:buNone/>
            </a:pPr>
            <a:r>
              <a:rPr lang="en-US" sz="3400" b="1" dirty="0">
                <a:solidFill>
                  <a:srgbClr val="3E3E4B"/>
                </a:solidFill>
                <a:latin typeface="Calibri" pitchFamily="34" charset="0"/>
                <a:ea typeface="Calibri" pitchFamily="34" charset="-122"/>
                <a:cs typeface="Calibri" pitchFamily="34" charset="-120"/>
              </a:rPr>
              <a:t>The portal trades choice for simplicity</a:t>
            </a:r>
            <a:endParaRPr lang="en-US" sz="3400" dirty="0"/>
          </a:p>
        </p:txBody>
      </p:sp>
      <p:sp>
        <p:nvSpPr>
          <p:cNvPr id="4" name="Shape 2"/>
          <p:cNvSpPr/>
          <p:nvPr/>
        </p:nvSpPr>
        <p:spPr>
          <a:xfrm>
            <a:off x="640080" y="1691640"/>
            <a:ext cx="5257800" cy="3200400"/>
          </a:xfrm>
          <a:prstGeom prst="roundRect">
            <a:avLst>
              <a:gd name="adj" fmla="val 2000"/>
            </a:avLst>
          </a:prstGeom>
          <a:solidFill>
            <a:srgbClr val="F4F7F8"/>
          </a:solidFill>
          <a:ln w="9525">
            <a:solidFill>
              <a:srgbClr val="DDE2E2"/>
            </a:solidFill>
            <a:prstDash val="solid"/>
          </a:ln>
        </p:spPr>
      </p:sp>
      <p:sp>
        <p:nvSpPr>
          <p:cNvPr id="5" name="Shape 3"/>
          <p:cNvSpPr/>
          <p:nvPr/>
        </p:nvSpPr>
        <p:spPr>
          <a:xfrm>
            <a:off x="640080" y="1691640"/>
            <a:ext cx="5257800" cy="566928"/>
          </a:xfrm>
          <a:prstGeom prst="roundRect">
            <a:avLst>
              <a:gd name="adj" fmla="val 11290"/>
            </a:avLst>
          </a:prstGeom>
          <a:solidFill>
            <a:srgbClr val="00B3E2"/>
          </a:solidFill>
          <a:ln w="12700">
            <a:solidFill>
              <a:srgbClr val="00B3E2"/>
            </a:solidFill>
            <a:prstDash val="solid"/>
          </a:ln>
        </p:spPr>
      </p:sp>
      <p:sp>
        <p:nvSpPr>
          <p:cNvPr id="6" name="Text 4"/>
          <p:cNvSpPr/>
          <p:nvPr/>
        </p:nvSpPr>
        <p:spPr>
          <a:xfrm>
            <a:off x="960120" y="1691640"/>
            <a:ext cx="4617720" cy="566928"/>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Azure portal</a:t>
            </a:r>
            <a:endParaRPr lang="en-US" sz="1800" dirty="0"/>
          </a:p>
        </p:txBody>
      </p:sp>
      <p:sp>
        <p:nvSpPr>
          <p:cNvPr id="7" name="Text 5"/>
          <p:cNvSpPr/>
          <p:nvPr/>
        </p:nvSpPr>
        <p:spPr>
          <a:xfrm>
            <a:off x="960120" y="2468880"/>
            <a:ext cx="4617720" cy="2286000"/>
          </a:xfrm>
          <a:prstGeom prst="rect">
            <a:avLst/>
          </a:prstGeom>
          <a:noFill/>
          <a:ln/>
        </p:spPr>
        <p:txBody>
          <a:bodyPr wrap="square" lIns="0" tIns="0" rIns="0" bIns="0" rtlCol="0" anchor="ctr"/>
          <a:lstStyle/>
          <a:p>
            <a:pPr marL="177800" indent="-177800">
              <a:spcAft>
                <a:spcPts val="800"/>
              </a:spcAft>
              <a:buSzPct val="100000"/>
              <a:buChar char="•"/>
            </a:pPr>
            <a:r>
              <a:rPr lang="en-US" sz="1400" dirty="0">
                <a:solidFill>
                  <a:srgbClr val="55555F"/>
                </a:solidFill>
                <a:latin typeface="Calibri" pitchFamily="34" charset="0"/>
                <a:ea typeface="Calibri" pitchFamily="34" charset="-122"/>
                <a:cs typeface="Calibri" pitchFamily="34" charset="-120"/>
              </a:rPr>
              <a:t>Provides a simplified segment-creation interface.</a:t>
            </a:r>
            <a:endParaRPr lang="en-US" sz="1400" dirty="0"/>
          </a:p>
          <a:p>
            <a:pPr marL="177800" indent="-177800">
              <a:spcAft>
                <a:spcPts val="800"/>
              </a:spcAft>
              <a:buSzPct val="100000"/>
              <a:buChar char="•"/>
            </a:pPr>
            <a:r>
              <a:rPr lang="en-US" sz="1400" dirty="0">
                <a:solidFill>
                  <a:srgbClr val="55555F"/>
                </a:solidFill>
                <a:latin typeface="Calibri" pitchFamily="34" charset="0"/>
                <a:ea typeface="Calibri" pitchFamily="34" charset="-122"/>
                <a:cs typeface="Calibri" pitchFamily="34" charset="-120"/>
              </a:rPr>
              <a:t>The operator supplies a segment name, address block, and basic configuration.</a:t>
            </a:r>
            <a:endParaRPr lang="en-US" sz="1400" dirty="0"/>
          </a:p>
          <a:p>
            <a:pPr marL="177800" indent="-177800">
              <a:spcAft>
                <a:spcPts val="800"/>
              </a:spcAft>
              <a:buSzPct val="100000"/>
              <a:buChar char="•"/>
            </a:pPr>
            <a:r>
              <a:rPr lang="en-US" sz="1400" dirty="0">
                <a:solidFill>
                  <a:srgbClr val="55555F"/>
                </a:solidFill>
                <a:latin typeface="Calibri" pitchFamily="34" charset="0"/>
                <a:ea typeface="Calibri" pitchFamily="34" charset="-122"/>
                <a:cs typeface="Calibri" pitchFamily="34" charset="-120"/>
              </a:rPr>
              <a:t>The segment is automatically attached to the default pre-provisioned Tier-1 gateway.</a:t>
            </a:r>
            <a:endParaRPr lang="en-US" sz="1400" dirty="0"/>
          </a:p>
          <a:p>
            <a:pPr marL="177800" indent="-177800">
              <a:spcAft>
                <a:spcPts val="800"/>
              </a:spcAft>
              <a:buSzPct val="100000"/>
              <a:buChar char="•"/>
            </a:pPr>
            <a:r>
              <a:rPr lang="en-US" sz="1400" dirty="0">
                <a:solidFill>
                  <a:srgbClr val="55555F"/>
                </a:solidFill>
                <a:latin typeface="Calibri" pitchFamily="34" charset="0"/>
                <a:ea typeface="Calibri" pitchFamily="34" charset="-122"/>
                <a:cs typeface="Calibri" pitchFamily="34" charset="-120"/>
              </a:rPr>
              <a:t>Suitable for standard topologies.</a:t>
            </a:r>
            <a:endParaRPr lang="en-US" sz="1400" dirty="0"/>
          </a:p>
        </p:txBody>
      </p:sp>
      <p:sp>
        <p:nvSpPr>
          <p:cNvPr id="8" name="Shape 6"/>
          <p:cNvSpPr/>
          <p:nvPr/>
        </p:nvSpPr>
        <p:spPr>
          <a:xfrm>
            <a:off x="6291072" y="1691640"/>
            <a:ext cx="5257800" cy="3200400"/>
          </a:xfrm>
          <a:prstGeom prst="roundRect">
            <a:avLst>
              <a:gd name="adj" fmla="val 2000"/>
            </a:avLst>
          </a:prstGeom>
          <a:solidFill>
            <a:srgbClr val="F4F7F8"/>
          </a:solidFill>
          <a:ln w="9525">
            <a:solidFill>
              <a:srgbClr val="DDE2E2"/>
            </a:solidFill>
            <a:prstDash val="solid"/>
          </a:ln>
        </p:spPr>
      </p:sp>
      <p:sp>
        <p:nvSpPr>
          <p:cNvPr id="9" name="Shape 7"/>
          <p:cNvSpPr/>
          <p:nvPr/>
        </p:nvSpPr>
        <p:spPr>
          <a:xfrm>
            <a:off x="6291072" y="1691640"/>
            <a:ext cx="5257800" cy="566928"/>
          </a:xfrm>
          <a:prstGeom prst="roundRect">
            <a:avLst>
              <a:gd name="adj" fmla="val 11290"/>
            </a:avLst>
          </a:prstGeom>
          <a:solidFill>
            <a:srgbClr val="3E3E4B"/>
          </a:solidFill>
          <a:ln w="12700">
            <a:solidFill>
              <a:srgbClr val="3E3E4B"/>
            </a:solidFill>
            <a:prstDash val="solid"/>
          </a:ln>
        </p:spPr>
      </p:sp>
      <p:sp>
        <p:nvSpPr>
          <p:cNvPr id="10" name="Text 8"/>
          <p:cNvSpPr/>
          <p:nvPr/>
        </p:nvSpPr>
        <p:spPr>
          <a:xfrm>
            <a:off x="6611112" y="1691640"/>
            <a:ext cx="4617720" cy="566928"/>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NSX Manager</a:t>
            </a:r>
            <a:endParaRPr lang="en-US" sz="1800" dirty="0"/>
          </a:p>
        </p:txBody>
      </p:sp>
      <p:sp>
        <p:nvSpPr>
          <p:cNvPr id="11" name="Text 9"/>
          <p:cNvSpPr/>
          <p:nvPr/>
        </p:nvSpPr>
        <p:spPr>
          <a:xfrm>
            <a:off x="6611112" y="2468880"/>
            <a:ext cx="4617720" cy="2286000"/>
          </a:xfrm>
          <a:prstGeom prst="rect">
            <a:avLst/>
          </a:prstGeom>
          <a:noFill/>
          <a:ln/>
        </p:spPr>
        <p:txBody>
          <a:bodyPr wrap="square" lIns="0" tIns="0" rIns="0" bIns="0" rtlCol="0" anchor="ctr"/>
          <a:lstStyle/>
          <a:p>
            <a:pPr marL="177800" indent="-177800">
              <a:spcAft>
                <a:spcPts val="800"/>
              </a:spcAft>
              <a:buSzPct val="100000"/>
              <a:buChar char="•"/>
            </a:pPr>
            <a:r>
              <a:rPr lang="en-US" sz="1400" dirty="0">
                <a:solidFill>
                  <a:srgbClr val="55555F"/>
                </a:solidFill>
                <a:latin typeface="Calibri" pitchFamily="34" charset="0"/>
                <a:ea typeface="Calibri" pitchFamily="34" charset="-122"/>
                <a:cs typeface="Calibri" pitchFamily="34" charset="-120"/>
              </a:rPr>
              <a:t>Required for custom routing and gateway attachment.</a:t>
            </a:r>
            <a:endParaRPr lang="en-US" sz="1400" dirty="0"/>
          </a:p>
          <a:p>
            <a:pPr marL="177800" indent="-177800">
              <a:spcAft>
                <a:spcPts val="800"/>
              </a:spcAft>
              <a:buSzPct val="100000"/>
              <a:buChar char="•"/>
            </a:pPr>
            <a:r>
              <a:rPr lang="en-US" sz="1400" dirty="0">
                <a:solidFill>
                  <a:srgbClr val="55555F"/>
                </a:solidFill>
                <a:latin typeface="Calibri" pitchFamily="34" charset="0"/>
                <a:ea typeface="Calibri" pitchFamily="34" charset="-122"/>
                <a:cs typeface="Calibri" pitchFamily="34" charset="-120"/>
              </a:rPr>
              <a:t>Separate Tier-1 gateways.</a:t>
            </a:r>
            <a:endParaRPr lang="en-US" sz="1400" dirty="0"/>
          </a:p>
          <a:p>
            <a:pPr marL="177800" indent="-177800">
              <a:spcAft>
                <a:spcPts val="800"/>
              </a:spcAft>
              <a:buSzPct val="100000"/>
              <a:buChar char="•"/>
            </a:pPr>
            <a:r>
              <a:rPr lang="en-US" sz="1400" dirty="0">
                <a:solidFill>
                  <a:srgbClr val="55555F"/>
                </a:solidFill>
                <a:latin typeface="Calibri" pitchFamily="34" charset="0"/>
                <a:ea typeface="Calibri" pitchFamily="34" charset="-122"/>
                <a:cs typeface="Calibri" pitchFamily="34" charset="-120"/>
              </a:rPr>
              <a:t>Tenant isolation.</a:t>
            </a:r>
            <a:endParaRPr lang="en-US" sz="1400" dirty="0"/>
          </a:p>
          <a:p>
            <a:pPr marL="177800" indent="-177800">
              <a:spcAft>
                <a:spcPts val="800"/>
              </a:spcAft>
              <a:buSzPct val="100000"/>
              <a:buChar char="•"/>
            </a:pPr>
            <a:r>
              <a:rPr lang="en-US" sz="1400" dirty="0">
                <a:solidFill>
                  <a:srgbClr val="55555F"/>
                </a:solidFill>
                <a:latin typeface="Calibri" pitchFamily="34" charset="0"/>
                <a:ea typeface="Calibri" pitchFamily="34" charset="-122"/>
                <a:cs typeface="Calibri" pitchFamily="34" charset="-120"/>
              </a:rPr>
              <a:t>Specialized route domains.</a:t>
            </a:r>
            <a:endParaRPr lang="en-US" sz="1400" dirty="0"/>
          </a:p>
          <a:p>
            <a:pPr marL="177800" indent="-177800">
              <a:spcAft>
                <a:spcPts val="800"/>
              </a:spcAft>
              <a:buSzPct val="100000"/>
              <a:buChar char="•"/>
            </a:pPr>
            <a:r>
              <a:rPr lang="en-US" sz="1400" dirty="0">
                <a:solidFill>
                  <a:srgbClr val="55555F"/>
                </a:solidFill>
                <a:latin typeface="Calibri" pitchFamily="34" charset="0"/>
                <a:ea typeface="Calibri" pitchFamily="34" charset="-122"/>
                <a:cs typeface="Calibri" pitchFamily="34" charset="-120"/>
              </a:rPr>
              <a:t>Non-default security boundaries.</a:t>
            </a:r>
            <a:endParaRPr lang="en-US" sz="1400" dirty="0"/>
          </a:p>
        </p:txBody>
      </p:sp>
      <p:sp>
        <p:nvSpPr>
          <p:cNvPr id="12" name="Shape 10"/>
          <p:cNvSpPr/>
          <p:nvPr/>
        </p:nvSpPr>
        <p:spPr>
          <a:xfrm>
            <a:off x="640080" y="5074920"/>
            <a:ext cx="10911535" cy="914400"/>
          </a:xfrm>
          <a:prstGeom prst="roundRect">
            <a:avLst>
              <a:gd name="adj" fmla="val 7000"/>
            </a:avLst>
          </a:prstGeom>
          <a:solidFill>
            <a:srgbClr val="E5F7FC"/>
          </a:solidFill>
          <a:ln w="9525">
            <a:solidFill>
              <a:srgbClr val="B2E8F6"/>
            </a:solidFill>
            <a:prstDash val="solid"/>
          </a:ln>
        </p:spPr>
      </p:sp>
      <p:sp>
        <p:nvSpPr>
          <p:cNvPr id="13" name="Text 11"/>
          <p:cNvSpPr/>
          <p:nvPr/>
        </p:nvSpPr>
        <p:spPr>
          <a:xfrm>
            <a:off x="960120" y="5074920"/>
            <a:ext cx="10271455" cy="914400"/>
          </a:xfrm>
          <a:prstGeom prst="rect">
            <a:avLst/>
          </a:prstGeom>
          <a:noFill/>
          <a:ln/>
        </p:spPr>
        <p:txBody>
          <a:bodyPr wrap="square" lIns="0" tIns="0" rIns="0" bIns="0" rtlCol="0" anchor="ctr"/>
          <a:lstStyle/>
          <a:p>
            <a:pPr indent="0" marL="0">
              <a:buNone/>
            </a:pPr>
            <a:r>
              <a:rPr lang="en-US" sz="1400" b="1" dirty="0">
                <a:solidFill>
                  <a:srgbClr val="0A7FA6"/>
                </a:solidFill>
                <a:latin typeface="Calibri" pitchFamily="34" charset="0"/>
                <a:ea typeface="Calibri" pitchFamily="34" charset="-122"/>
                <a:cs typeface="Calibri" pitchFamily="34" charset="-120"/>
              </a:rPr>
              <a:t>Simplified cloud interfaces reduce operational complexity by removing choices. Advanced architectures need deeper knowledge of the platform underneath, which is worth knowing before the design depends on a portal option that does not exist.</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37744"/>
          </a:xfrm>
          <a:prstGeom prst="rect">
            <a:avLst/>
          </a:prstGeom>
          <a:noFill/>
          <a:ln/>
        </p:spPr>
        <p:txBody>
          <a:bodyPr wrap="square" lIns="0" tIns="0" rIns="0" bIns="0" rtlCol="0" anchor="ctr"/>
          <a:lstStyle/>
          <a:p>
            <a:pPr indent="0" marL="0">
              <a:buNone/>
            </a:pPr>
            <a:r>
              <a:rPr lang="en-US" sz="1100" b="1" spc="200" kern="0" dirty="0">
                <a:solidFill>
                  <a:srgbClr val="00B3E2"/>
                </a:solidFill>
                <a:latin typeface="Calibri" pitchFamily="34" charset="0"/>
                <a:ea typeface="Calibri" pitchFamily="34" charset="-122"/>
                <a:cs typeface="Calibri" pitchFamily="34" charset="-120"/>
              </a:rPr>
              <a:t>DHCP DESIGN</a:t>
            </a:r>
            <a:endParaRPr lang="en-US" sz="1100" dirty="0"/>
          </a:p>
        </p:txBody>
      </p:sp>
      <p:sp>
        <p:nvSpPr>
          <p:cNvPr id="3" name="Text 1"/>
          <p:cNvSpPr/>
          <p:nvPr/>
        </p:nvSpPr>
        <p:spPr>
          <a:xfrm>
            <a:off x="640080" y="658368"/>
            <a:ext cx="10911535" cy="566928"/>
          </a:xfrm>
          <a:prstGeom prst="rect">
            <a:avLst/>
          </a:prstGeom>
          <a:noFill/>
          <a:ln/>
        </p:spPr>
        <p:txBody>
          <a:bodyPr wrap="square" lIns="0" tIns="0" rIns="0" bIns="0" rtlCol="0" anchor="ctr"/>
          <a:lstStyle/>
          <a:p>
            <a:pPr indent="0" marL="0">
              <a:buNone/>
            </a:pPr>
            <a:r>
              <a:rPr lang="en-US" sz="3400" b="1" dirty="0">
                <a:solidFill>
                  <a:srgbClr val="3E3E4B"/>
                </a:solidFill>
                <a:latin typeface="Calibri" pitchFamily="34" charset="0"/>
                <a:ea typeface="Calibri" pitchFamily="34" charset="-122"/>
                <a:cs typeface="Calibri" pitchFamily="34" charset="-120"/>
              </a:rPr>
              <a:t>Broadcast traffic does not travel well</a:t>
            </a:r>
            <a:endParaRPr lang="en-US" sz="3400" dirty="0"/>
          </a:p>
        </p:txBody>
      </p:sp>
      <p:sp>
        <p:nvSpPr>
          <p:cNvPr id="4" name="Text 2"/>
          <p:cNvSpPr/>
          <p:nvPr/>
        </p:nvSpPr>
        <p:spPr>
          <a:xfrm>
            <a:off x="640080" y="1371600"/>
            <a:ext cx="10972800" cy="457200"/>
          </a:xfrm>
          <a:prstGeom prst="rect">
            <a:avLst/>
          </a:prstGeom>
          <a:noFill/>
          <a:ln/>
        </p:spPr>
        <p:txBody>
          <a:bodyPr wrap="square" lIns="0" tIns="0" rIns="0" bIns="0" rtlCol="0" anchor="ctr"/>
          <a:lstStyle/>
          <a:p>
            <a:pPr indent="0" marL="0">
              <a:buNone/>
            </a:pPr>
            <a:r>
              <a:rPr lang="en-US" sz="1500" dirty="0">
                <a:solidFill>
                  <a:srgbClr val="55555F"/>
                </a:solidFill>
                <a:latin typeface="Calibri" pitchFamily="34" charset="0"/>
                <a:ea typeface="Calibri" pitchFamily="34" charset="-122"/>
                <a:cs typeface="Calibri" pitchFamily="34" charset="-120"/>
              </a:rPr>
              <a:t>A newly started VM knows none of its own configuration and sends a Layer 2 broadcast to request it. That broadcast is where the design problems begin.</a:t>
            </a:r>
            <a:endParaRPr lang="en-US" sz="1500" dirty="0"/>
          </a:p>
        </p:txBody>
      </p:sp>
      <p:sp>
        <p:nvSpPr>
          <p:cNvPr id="5" name="Shape 3"/>
          <p:cNvSpPr/>
          <p:nvPr/>
        </p:nvSpPr>
        <p:spPr>
          <a:xfrm>
            <a:off x="640080" y="1965960"/>
            <a:ext cx="5257800" cy="2148840"/>
          </a:xfrm>
          <a:prstGeom prst="roundRect">
            <a:avLst>
              <a:gd name="adj" fmla="val 2979"/>
            </a:avLst>
          </a:prstGeom>
          <a:solidFill>
            <a:srgbClr val="F4F7F8"/>
          </a:solidFill>
          <a:ln w="9525">
            <a:solidFill>
              <a:srgbClr val="DDE2E2"/>
            </a:solidFill>
            <a:prstDash val="solid"/>
          </a:ln>
        </p:spPr>
      </p:sp>
      <p:sp>
        <p:nvSpPr>
          <p:cNvPr id="6" name="Text 4"/>
          <p:cNvSpPr/>
          <p:nvPr/>
        </p:nvSpPr>
        <p:spPr>
          <a:xfrm>
            <a:off x="960120" y="2148840"/>
            <a:ext cx="4617720" cy="320040"/>
          </a:xfrm>
          <a:prstGeom prst="rect">
            <a:avLst/>
          </a:prstGeom>
          <a:noFill/>
          <a:ln/>
        </p:spPr>
        <p:txBody>
          <a:bodyPr wrap="square" lIns="0" tIns="0" rIns="0" bIns="0" rtlCol="0" anchor="ctr"/>
          <a:lstStyle/>
          <a:p>
            <a:pPr indent="0" marL="0">
              <a:buNone/>
            </a:pPr>
            <a:r>
              <a:rPr lang="en-US" sz="1600" b="1" dirty="0">
                <a:solidFill>
                  <a:srgbClr val="3E3E4B"/>
                </a:solidFill>
                <a:latin typeface="Calibri" pitchFamily="34" charset="0"/>
                <a:ea typeface="Calibri" pitchFamily="34" charset="-122"/>
                <a:cs typeface="Calibri" pitchFamily="34" charset="-120"/>
              </a:rPr>
              <a:t>The remote-DHCP dependency chain</a:t>
            </a:r>
            <a:endParaRPr lang="en-US" sz="1600" dirty="0"/>
          </a:p>
        </p:txBody>
      </p:sp>
      <p:sp>
        <p:nvSpPr>
          <p:cNvPr id="7" name="Text 5"/>
          <p:cNvSpPr/>
          <p:nvPr/>
        </p:nvSpPr>
        <p:spPr>
          <a:xfrm>
            <a:off x="960120" y="2514600"/>
            <a:ext cx="4617720" cy="685800"/>
          </a:xfrm>
          <a:prstGeom prst="rect">
            <a:avLst/>
          </a:prstGeom>
          <a:noFill/>
          <a:ln/>
        </p:spPr>
        <p:txBody>
          <a:bodyPr wrap="square" lIns="0" tIns="0" rIns="0" bIns="0" rtlCol="0" anchor="ctr"/>
          <a:lstStyle/>
          <a:p>
            <a:pPr indent="0" marL="0">
              <a:buNone/>
            </a:pPr>
            <a:r>
              <a:rPr lang="en-US" sz="1350" b="1" dirty="0">
                <a:solidFill>
                  <a:srgbClr val="00B3E2"/>
                </a:solidFill>
                <a:latin typeface="Calibri" pitchFamily="34" charset="0"/>
                <a:ea typeface="Calibri" pitchFamily="34" charset="-122"/>
                <a:cs typeface="Calibri" pitchFamily="34" charset="-120"/>
              </a:rPr>
              <a:t>Virtual switch → Tier-1 gateway → Tier-0 gateway → VPN or ExpressRoute → physical network → remote DHCP server.</a:t>
            </a:r>
            <a:endParaRPr lang="en-US" sz="1350" dirty="0"/>
          </a:p>
        </p:txBody>
      </p:sp>
      <p:sp>
        <p:nvSpPr>
          <p:cNvPr id="8" name="Text 6"/>
          <p:cNvSpPr/>
          <p:nvPr/>
        </p:nvSpPr>
        <p:spPr>
          <a:xfrm>
            <a:off x="960120" y="3200400"/>
            <a:ext cx="4617720" cy="777240"/>
          </a:xfrm>
          <a:prstGeom prst="rect">
            <a:avLst/>
          </a:prstGeom>
          <a:noFill/>
          <a:ln/>
        </p:spPr>
        <p:txBody>
          <a:bodyPr wrap="square" lIns="0" tIns="0" rIns="0" bIns="0" rtlCol="0" anchor="ctr"/>
          <a:lstStyle/>
          <a:p>
            <a:pPr indent="0" marL="0">
              <a:buNone/>
            </a:pPr>
            <a:r>
              <a:rPr lang="en-US" sz="1300" dirty="0">
                <a:solidFill>
                  <a:srgbClr val="55555F"/>
                </a:solidFill>
                <a:latin typeface="Calibri" pitchFamily="34" charset="0"/>
                <a:ea typeface="Calibri" pitchFamily="34" charset="-122"/>
                <a:cs typeface="Calibri" pitchFamily="34" charset="-120"/>
              </a:rPr>
              <a:t>Every hop adds latency, consumes WAN resources, and introduces another failure point in a process that has to succeed before the VM can do anything at all.</a:t>
            </a:r>
            <a:endParaRPr lang="en-US" sz="1300" dirty="0"/>
          </a:p>
        </p:txBody>
      </p:sp>
      <p:sp>
        <p:nvSpPr>
          <p:cNvPr id="9" name="Shape 7"/>
          <p:cNvSpPr/>
          <p:nvPr/>
        </p:nvSpPr>
        <p:spPr>
          <a:xfrm>
            <a:off x="640080" y="4297680"/>
            <a:ext cx="5257800" cy="1600200"/>
          </a:xfrm>
          <a:prstGeom prst="roundRect">
            <a:avLst>
              <a:gd name="adj" fmla="val 4000"/>
            </a:avLst>
          </a:prstGeom>
          <a:solidFill>
            <a:srgbClr val="FDF0EB"/>
          </a:solidFill>
          <a:ln w="9525">
            <a:solidFill>
              <a:srgbClr val="F6C9B4"/>
            </a:solidFill>
            <a:prstDash val="solid"/>
          </a:ln>
        </p:spPr>
      </p:sp>
      <p:sp>
        <p:nvSpPr>
          <p:cNvPr id="10" name="Text 8"/>
          <p:cNvSpPr/>
          <p:nvPr/>
        </p:nvSpPr>
        <p:spPr>
          <a:xfrm>
            <a:off x="960120" y="4462272"/>
            <a:ext cx="4617720" cy="292608"/>
          </a:xfrm>
          <a:prstGeom prst="rect">
            <a:avLst/>
          </a:prstGeom>
          <a:noFill/>
          <a:ln/>
        </p:spPr>
        <p:txBody>
          <a:bodyPr wrap="square" lIns="0" tIns="0" rIns="0" bIns="0" rtlCol="0" anchor="ctr"/>
          <a:lstStyle/>
          <a:p>
            <a:pPr indent="0" marL="0">
              <a:buNone/>
            </a:pPr>
            <a:r>
              <a:rPr lang="en-US" sz="1500" b="1" dirty="0">
                <a:solidFill>
                  <a:srgbClr val="F15D23"/>
                </a:solidFill>
                <a:latin typeface="Calibri" pitchFamily="34" charset="0"/>
                <a:ea typeface="Calibri" pitchFamily="34" charset="-122"/>
                <a:cs typeface="Calibri" pitchFamily="34" charset="-120"/>
              </a:rPr>
              <a:t>On a stretched Layer 2 network</a:t>
            </a:r>
            <a:endParaRPr lang="en-US" sz="1500" dirty="0"/>
          </a:p>
        </p:txBody>
      </p:sp>
      <p:sp>
        <p:nvSpPr>
          <p:cNvPr id="11" name="Text 9"/>
          <p:cNvSpPr/>
          <p:nvPr/>
        </p:nvSpPr>
        <p:spPr>
          <a:xfrm>
            <a:off x="960120" y="4773168"/>
            <a:ext cx="4617720" cy="960120"/>
          </a:xfrm>
          <a:prstGeom prst="rect">
            <a:avLst/>
          </a:prstGeom>
          <a:noFill/>
          <a:ln/>
        </p:spPr>
        <p:txBody>
          <a:bodyPr wrap="square" lIns="0" tIns="0" rIns="0" bIns="0" rtlCol="0" anchor="ctr"/>
          <a:lstStyle/>
          <a:p>
            <a:pPr indent="0" marL="0">
              <a:buNone/>
            </a:pPr>
            <a:r>
              <a:rPr lang="en-US" sz="1300" dirty="0">
                <a:solidFill>
                  <a:srgbClr val="55555F"/>
                </a:solidFill>
                <a:latin typeface="Calibri" pitchFamily="34" charset="0"/>
                <a:ea typeface="Calibri" pitchFamily="34" charset="-122"/>
                <a:cs typeface="Calibri" pitchFamily="34" charset="-120"/>
              </a:rPr>
              <a:t>NSX may intercept and drop DHCP broadcasts to prevent broadcast storms, rogue DHCP servers, and cross-site contamination. The migrated VM receives no address and falls back to APIPA.</a:t>
            </a:r>
            <a:endParaRPr lang="en-US" sz="1300" dirty="0"/>
          </a:p>
        </p:txBody>
      </p:sp>
      <p:sp>
        <p:nvSpPr>
          <p:cNvPr id="12" name="Shape 10"/>
          <p:cNvSpPr/>
          <p:nvPr/>
        </p:nvSpPr>
        <p:spPr>
          <a:xfrm>
            <a:off x="6519672" y="1965960"/>
            <a:ext cx="5029200" cy="2148840"/>
          </a:xfrm>
          <a:prstGeom prst="roundRect">
            <a:avLst>
              <a:gd name="adj" fmla="val 2979"/>
            </a:avLst>
          </a:prstGeom>
          <a:solidFill>
            <a:srgbClr val="E9F7F2"/>
          </a:solidFill>
          <a:ln w="9525">
            <a:solidFill>
              <a:srgbClr val="9FD9C9"/>
            </a:solidFill>
            <a:prstDash val="solid"/>
          </a:ln>
        </p:spPr>
      </p:sp>
      <p:sp>
        <p:nvSpPr>
          <p:cNvPr id="13" name="Text 11"/>
          <p:cNvSpPr/>
          <p:nvPr/>
        </p:nvSpPr>
        <p:spPr>
          <a:xfrm>
            <a:off x="6839712" y="2148840"/>
            <a:ext cx="4389120" cy="320040"/>
          </a:xfrm>
          <a:prstGeom prst="rect">
            <a:avLst/>
          </a:prstGeom>
          <a:noFill/>
          <a:ln/>
        </p:spPr>
        <p:txBody>
          <a:bodyPr wrap="square" lIns="0" tIns="0" rIns="0" bIns="0" rtlCol="0" anchor="ctr"/>
          <a:lstStyle/>
          <a:p>
            <a:pPr indent="0" marL="0">
              <a:buNone/>
            </a:pPr>
            <a:r>
              <a:rPr lang="en-US" sz="1600" b="1" dirty="0">
                <a:solidFill>
                  <a:srgbClr val="00795F"/>
                </a:solidFill>
                <a:latin typeface="Calibri" pitchFamily="34" charset="0"/>
                <a:ea typeface="Calibri" pitchFamily="34" charset="-122"/>
                <a:cs typeface="Calibri" pitchFamily="34" charset="-120"/>
              </a:rPr>
              <a:t>What to do instead</a:t>
            </a:r>
            <a:endParaRPr lang="en-US" sz="1600" dirty="0"/>
          </a:p>
        </p:txBody>
      </p:sp>
      <p:sp>
        <p:nvSpPr>
          <p:cNvPr id="14" name="Text 12"/>
          <p:cNvSpPr/>
          <p:nvPr/>
        </p:nvSpPr>
        <p:spPr>
          <a:xfrm>
            <a:off x="6839712" y="2514600"/>
            <a:ext cx="4389120" cy="1463040"/>
          </a:xfrm>
          <a:prstGeom prst="rect">
            <a:avLst/>
          </a:prstGeom>
          <a:noFill/>
          <a:ln/>
        </p:spPr>
        <p:txBody>
          <a:bodyPr wrap="square" lIns="0" tIns="0" rIns="0" bIns="0" rtlCol="0" anchor="ctr"/>
          <a:lstStyle/>
          <a:p>
            <a:pPr marL="177800" indent="-177800">
              <a:spcAft>
                <a:spcPts val="900"/>
              </a:spcAft>
              <a:buSzPct val="100000"/>
              <a:buChar char="•"/>
            </a:pPr>
            <a:r>
              <a:rPr lang="en-US" sz="1400" dirty="0">
                <a:solidFill>
                  <a:srgbClr val="55555F"/>
                </a:solidFill>
                <a:latin typeface="Calibri" pitchFamily="34" charset="0"/>
                <a:ea typeface="Calibri" pitchFamily="34" charset="-122"/>
                <a:cs typeface="Calibri" pitchFamily="34" charset="-120"/>
              </a:rPr>
              <a:t>Deploy an NSX-local DHCP server.</a:t>
            </a:r>
            <a:endParaRPr lang="en-US" sz="1400" dirty="0"/>
          </a:p>
          <a:p>
            <a:pPr marL="177800" indent="-177800">
              <a:spcAft>
                <a:spcPts val="900"/>
              </a:spcAft>
              <a:buSzPct val="100000"/>
              <a:buChar char="•"/>
            </a:pPr>
            <a:r>
              <a:rPr lang="en-US" sz="1400" dirty="0">
                <a:solidFill>
                  <a:srgbClr val="55555F"/>
                </a:solidFill>
                <a:latin typeface="Calibri" pitchFamily="34" charset="0"/>
                <a:ea typeface="Calibri" pitchFamily="34" charset="-122"/>
                <a:cs typeface="Calibri" pitchFamily="34" charset="-120"/>
              </a:rPr>
              <a:t>Or configure a DHCP relay on the NSX segment, which converts the local broadcast into directed unicast toward the remote server.</a:t>
            </a:r>
            <a:endParaRPr lang="en-US" sz="1400" dirty="0"/>
          </a:p>
        </p:txBody>
      </p:sp>
      <p:sp>
        <p:nvSpPr>
          <p:cNvPr id="15" name="Shape 13"/>
          <p:cNvSpPr/>
          <p:nvPr/>
        </p:nvSpPr>
        <p:spPr>
          <a:xfrm>
            <a:off x="6519672" y="4297680"/>
            <a:ext cx="5029200" cy="1600200"/>
          </a:xfrm>
          <a:prstGeom prst="roundRect">
            <a:avLst>
              <a:gd name="adj" fmla="val 4000"/>
            </a:avLst>
          </a:prstGeom>
          <a:solidFill>
            <a:srgbClr val="E5F7FC"/>
          </a:solidFill>
          <a:ln w="9525">
            <a:solidFill>
              <a:srgbClr val="B2E8F6"/>
            </a:solidFill>
            <a:prstDash val="solid"/>
          </a:ln>
        </p:spPr>
      </p:sp>
      <p:sp>
        <p:nvSpPr>
          <p:cNvPr id="16" name="Text 14"/>
          <p:cNvSpPr/>
          <p:nvPr/>
        </p:nvSpPr>
        <p:spPr>
          <a:xfrm>
            <a:off x="6839712" y="4462272"/>
            <a:ext cx="4389120" cy="292608"/>
          </a:xfrm>
          <a:prstGeom prst="rect">
            <a:avLst/>
          </a:prstGeom>
          <a:noFill/>
          <a:ln/>
        </p:spPr>
        <p:txBody>
          <a:bodyPr wrap="square" lIns="0" tIns="0" rIns="0" bIns="0" rtlCol="0" anchor="ctr"/>
          <a:lstStyle/>
          <a:p>
            <a:pPr indent="0" marL="0">
              <a:buNone/>
            </a:pPr>
            <a:r>
              <a:rPr lang="en-US" sz="1500" b="1" dirty="0">
                <a:solidFill>
                  <a:srgbClr val="3E3E4B"/>
                </a:solidFill>
                <a:latin typeface="Calibri" pitchFamily="34" charset="0"/>
                <a:ea typeface="Calibri" pitchFamily="34" charset="-122"/>
                <a:cs typeface="Calibri" pitchFamily="34" charset="-120"/>
              </a:rPr>
              <a:t>Design principle</a:t>
            </a:r>
            <a:endParaRPr lang="en-US" sz="1500" dirty="0"/>
          </a:p>
        </p:txBody>
      </p:sp>
      <p:sp>
        <p:nvSpPr>
          <p:cNvPr id="17" name="Text 15"/>
          <p:cNvSpPr/>
          <p:nvPr/>
        </p:nvSpPr>
        <p:spPr>
          <a:xfrm>
            <a:off x="6839712" y="4773168"/>
            <a:ext cx="4389120" cy="960120"/>
          </a:xfrm>
          <a:prstGeom prst="rect">
            <a:avLst/>
          </a:prstGeom>
          <a:noFill/>
          <a:ln/>
        </p:spPr>
        <p:txBody>
          <a:bodyPr wrap="square" lIns="0" tIns="0" rIns="0" bIns="0" rtlCol="0" anchor="ctr"/>
          <a:lstStyle/>
          <a:p>
            <a:pPr indent="0" marL="0">
              <a:buNone/>
            </a:pPr>
            <a:r>
              <a:rPr lang="en-US" sz="1300" dirty="0">
                <a:solidFill>
                  <a:srgbClr val="1A5F7A"/>
                </a:solidFill>
                <a:latin typeface="Calibri" pitchFamily="34" charset="0"/>
                <a:ea typeface="Calibri" pitchFamily="34" charset="-122"/>
                <a:cs typeface="Calibri" pitchFamily="34" charset="-120"/>
              </a:rPr>
              <a:t>Keep broadcast-dependent infrastructure local wherever possible, and never assume Layer 2 behavior will extend transparently across cloud and WAN boundaries.</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37744"/>
          </a:xfrm>
          <a:prstGeom prst="rect">
            <a:avLst/>
          </a:prstGeom>
          <a:noFill/>
          <a:ln/>
        </p:spPr>
        <p:txBody>
          <a:bodyPr wrap="square" lIns="0" tIns="0" rIns="0" bIns="0" rtlCol="0" anchor="ctr"/>
          <a:lstStyle/>
          <a:p>
            <a:pPr indent="0" marL="0">
              <a:buNone/>
            </a:pPr>
            <a:r>
              <a:rPr lang="en-US" sz="1100" b="1" spc="200" kern="0" dirty="0">
                <a:solidFill>
                  <a:srgbClr val="00B3E2"/>
                </a:solidFill>
                <a:latin typeface="Calibri" pitchFamily="34" charset="0"/>
                <a:ea typeface="Calibri" pitchFamily="34" charset="-122"/>
                <a:cs typeface="Calibri" pitchFamily="34" charset="-120"/>
              </a:rPr>
              <a:t>FIREWALL DEPENDENCIES</a:t>
            </a:r>
            <a:endParaRPr lang="en-US" sz="1100" dirty="0"/>
          </a:p>
        </p:txBody>
      </p:sp>
      <p:sp>
        <p:nvSpPr>
          <p:cNvPr id="3" name="Text 1"/>
          <p:cNvSpPr/>
          <p:nvPr/>
        </p:nvSpPr>
        <p:spPr>
          <a:xfrm>
            <a:off x="640080" y="658368"/>
            <a:ext cx="10911535" cy="566928"/>
          </a:xfrm>
          <a:prstGeom prst="rect">
            <a:avLst/>
          </a:prstGeom>
          <a:noFill/>
          <a:ln/>
        </p:spPr>
        <p:txBody>
          <a:bodyPr wrap="square" lIns="0" tIns="0" rIns="0" bIns="0" rtlCol="0" anchor="ctr"/>
          <a:lstStyle/>
          <a:p>
            <a:pPr indent="0" marL="0">
              <a:buNone/>
            </a:pPr>
            <a:r>
              <a:rPr lang="en-US" sz="3400" b="1" dirty="0">
                <a:solidFill>
                  <a:srgbClr val="3E3E4B"/>
                </a:solidFill>
                <a:latin typeface="Calibri" pitchFamily="34" charset="0"/>
                <a:ea typeface="Calibri" pitchFamily="34" charset="-122"/>
                <a:cs typeface="Calibri" pitchFamily="34" charset="-120"/>
              </a:rPr>
              <a:t>Ports that fail quietly</a:t>
            </a:r>
            <a:endParaRPr lang="en-US" sz="3400" dirty="0"/>
          </a:p>
        </p:txBody>
      </p:sp>
      <p:sp>
        <p:nvSpPr>
          <p:cNvPr id="4" name="Shape 2"/>
          <p:cNvSpPr/>
          <p:nvPr/>
        </p:nvSpPr>
        <p:spPr>
          <a:xfrm>
            <a:off x="640080" y="1554480"/>
            <a:ext cx="3511296" cy="1691640"/>
          </a:xfrm>
          <a:prstGeom prst="roundRect">
            <a:avLst>
              <a:gd name="adj" fmla="val 3784"/>
            </a:avLst>
          </a:prstGeom>
          <a:solidFill>
            <a:srgbClr val="F4F7F8"/>
          </a:solidFill>
          <a:ln w="9525">
            <a:solidFill>
              <a:srgbClr val="DDE2E2"/>
            </a:solidFill>
            <a:prstDash val="solid"/>
          </a:ln>
        </p:spPr>
      </p:sp>
      <p:sp>
        <p:nvSpPr>
          <p:cNvPr id="5" name="Text 3"/>
          <p:cNvSpPr/>
          <p:nvPr/>
        </p:nvSpPr>
        <p:spPr>
          <a:xfrm>
            <a:off x="896112" y="1719072"/>
            <a:ext cx="2999232" cy="347472"/>
          </a:xfrm>
          <a:prstGeom prst="rect">
            <a:avLst/>
          </a:prstGeom>
          <a:noFill/>
          <a:ln/>
        </p:spPr>
        <p:txBody>
          <a:bodyPr wrap="square" lIns="0" tIns="0" rIns="0" bIns="0" rtlCol="0" anchor="ctr"/>
          <a:lstStyle/>
          <a:p>
            <a:pPr indent="0" marL="0">
              <a:buNone/>
            </a:pPr>
            <a:r>
              <a:rPr lang="en-US" sz="1700" b="1" dirty="0">
                <a:solidFill>
                  <a:srgbClr val="3E3E4B"/>
                </a:solidFill>
                <a:latin typeface="Calibri" pitchFamily="34" charset="0"/>
                <a:ea typeface="Calibri" pitchFamily="34" charset="-122"/>
                <a:cs typeface="Calibri" pitchFamily="34" charset="-120"/>
              </a:rPr>
              <a:t>TCP 80</a:t>
            </a:r>
            <a:endParaRPr lang="en-US" sz="1700" dirty="0"/>
          </a:p>
        </p:txBody>
      </p:sp>
      <p:sp>
        <p:nvSpPr>
          <p:cNvPr id="6" name="Text 4"/>
          <p:cNvSpPr/>
          <p:nvPr/>
        </p:nvSpPr>
        <p:spPr>
          <a:xfrm>
            <a:off x="896112" y="2066544"/>
            <a:ext cx="2999232" cy="237744"/>
          </a:xfrm>
          <a:prstGeom prst="rect">
            <a:avLst/>
          </a:prstGeom>
          <a:noFill/>
          <a:ln/>
        </p:spPr>
        <p:txBody>
          <a:bodyPr wrap="square" lIns="0" tIns="0" rIns="0" bIns="0" rtlCol="0" anchor="ctr"/>
          <a:lstStyle/>
          <a:p>
            <a:pPr indent="0" marL="0">
              <a:buNone/>
            </a:pPr>
            <a:r>
              <a:rPr lang="en-US" sz="1000" b="1" spc="120" kern="0" dirty="0">
                <a:solidFill>
                  <a:srgbClr val="00B3E2"/>
                </a:solidFill>
                <a:latin typeface="Calibri" pitchFamily="34" charset="0"/>
                <a:ea typeface="Calibri" pitchFamily="34" charset="-122"/>
                <a:cs typeface="Calibri" pitchFamily="34" charset="-120"/>
              </a:rPr>
              <a:t>VCENTER REDIRECTION</a:t>
            </a:r>
            <a:endParaRPr lang="en-US" sz="1000" dirty="0"/>
          </a:p>
        </p:txBody>
      </p:sp>
      <p:sp>
        <p:nvSpPr>
          <p:cNvPr id="7" name="Text 5"/>
          <p:cNvSpPr/>
          <p:nvPr/>
        </p:nvSpPr>
        <p:spPr>
          <a:xfrm>
            <a:off x="896112" y="2331720"/>
            <a:ext cx="2999232" cy="822960"/>
          </a:xfrm>
          <a:prstGeom prst="rect">
            <a:avLst/>
          </a:prstGeom>
          <a:noFill/>
          <a:ln/>
        </p:spPr>
        <p:txBody>
          <a:bodyPr wrap="square" lIns="0" tIns="0" rIns="0" bIns="0" rtlCol="0" anchor="ctr"/>
          <a:lstStyle/>
          <a:p>
            <a:pPr indent="0" marL="0">
              <a:buNone/>
            </a:pPr>
            <a:r>
              <a:rPr lang="en-US" sz="1150" dirty="0">
                <a:solidFill>
                  <a:srgbClr val="55555F"/>
                </a:solidFill>
                <a:latin typeface="Calibri" pitchFamily="34" charset="0"/>
                <a:ea typeface="Calibri" pitchFamily="34" charset="-122"/>
                <a:cs typeface="Calibri" pitchFamily="34" charset="-120"/>
              </a:rPr>
              <a:t>443 can be open and vCenter still unreachable. Port 80 carries the initial HTTP redirect to HTTPS. Blocking it stops the browser reaching the secure page.</a:t>
            </a:r>
            <a:endParaRPr lang="en-US" sz="1150" dirty="0"/>
          </a:p>
        </p:txBody>
      </p:sp>
      <p:sp>
        <p:nvSpPr>
          <p:cNvPr id="8" name="Shape 6"/>
          <p:cNvSpPr/>
          <p:nvPr/>
        </p:nvSpPr>
        <p:spPr>
          <a:xfrm>
            <a:off x="4535424" y="1554480"/>
            <a:ext cx="3511296" cy="1691640"/>
          </a:xfrm>
          <a:prstGeom prst="roundRect">
            <a:avLst>
              <a:gd name="adj" fmla="val 3784"/>
            </a:avLst>
          </a:prstGeom>
          <a:solidFill>
            <a:srgbClr val="F4F7F8"/>
          </a:solidFill>
          <a:ln w="9525">
            <a:solidFill>
              <a:srgbClr val="DDE2E2"/>
            </a:solidFill>
            <a:prstDash val="solid"/>
          </a:ln>
        </p:spPr>
      </p:sp>
      <p:sp>
        <p:nvSpPr>
          <p:cNvPr id="9" name="Text 7"/>
          <p:cNvSpPr/>
          <p:nvPr/>
        </p:nvSpPr>
        <p:spPr>
          <a:xfrm>
            <a:off x="4791456" y="1719072"/>
            <a:ext cx="2999232" cy="347472"/>
          </a:xfrm>
          <a:prstGeom prst="rect">
            <a:avLst/>
          </a:prstGeom>
          <a:noFill/>
          <a:ln/>
        </p:spPr>
        <p:txBody>
          <a:bodyPr wrap="square" lIns="0" tIns="0" rIns="0" bIns="0" rtlCol="0" anchor="ctr"/>
          <a:lstStyle/>
          <a:p>
            <a:pPr indent="0" marL="0">
              <a:buNone/>
            </a:pPr>
            <a:r>
              <a:rPr lang="en-US" sz="1700" b="1" dirty="0">
                <a:solidFill>
                  <a:srgbClr val="3E3E4B"/>
                </a:solidFill>
                <a:latin typeface="Calibri" pitchFamily="34" charset="0"/>
                <a:ea typeface="Calibri" pitchFamily="34" charset="-122"/>
                <a:cs typeface="Calibri" pitchFamily="34" charset="-120"/>
              </a:rPr>
              <a:t>TCP 389 / 636</a:t>
            </a:r>
            <a:endParaRPr lang="en-US" sz="1700" dirty="0"/>
          </a:p>
        </p:txBody>
      </p:sp>
      <p:sp>
        <p:nvSpPr>
          <p:cNvPr id="10" name="Text 8"/>
          <p:cNvSpPr/>
          <p:nvPr/>
        </p:nvSpPr>
        <p:spPr>
          <a:xfrm>
            <a:off x="4791456" y="2066544"/>
            <a:ext cx="2999232" cy="237744"/>
          </a:xfrm>
          <a:prstGeom prst="rect">
            <a:avLst/>
          </a:prstGeom>
          <a:noFill/>
          <a:ln/>
        </p:spPr>
        <p:txBody>
          <a:bodyPr wrap="square" lIns="0" tIns="0" rIns="0" bIns="0" rtlCol="0" anchor="ctr"/>
          <a:lstStyle/>
          <a:p>
            <a:pPr indent="0" marL="0">
              <a:buNone/>
            </a:pPr>
            <a:r>
              <a:rPr lang="en-US" sz="1000" b="1" spc="120" kern="0" dirty="0">
                <a:solidFill>
                  <a:srgbClr val="00B3E2"/>
                </a:solidFill>
                <a:latin typeface="Calibri" pitchFamily="34" charset="0"/>
                <a:ea typeface="Calibri" pitchFamily="34" charset="-122"/>
                <a:cs typeface="Calibri" pitchFamily="34" charset="-120"/>
              </a:rPr>
              <a:t>LDAP AND SECURE LDAP</a:t>
            </a:r>
            <a:endParaRPr lang="en-US" sz="1000" dirty="0"/>
          </a:p>
        </p:txBody>
      </p:sp>
      <p:sp>
        <p:nvSpPr>
          <p:cNvPr id="11" name="Text 9"/>
          <p:cNvSpPr/>
          <p:nvPr/>
        </p:nvSpPr>
        <p:spPr>
          <a:xfrm>
            <a:off x="4791456" y="2331720"/>
            <a:ext cx="2999232" cy="822960"/>
          </a:xfrm>
          <a:prstGeom prst="rect">
            <a:avLst/>
          </a:prstGeom>
          <a:noFill/>
          <a:ln/>
        </p:spPr>
        <p:txBody>
          <a:bodyPr wrap="square" lIns="0" tIns="0" rIns="0" bIns="0" rtlCol="0" anchor="ctr"/>
          <a:lstStyle/>
          <a:p>
            <a:pPr indent="0" marL="0">
              <a:buNone/>
            </a:pPr>
            <a:r>
              <a:rPr lang="en-US" sz="1150" dirty="0">
                <a:solidFill>
                  <a:srgbClr val="55555F"/>
                </a:solidFill>
                <a:latin typeface="Calibri" pitchFamily="34" charset="0"/>
                <a:ea typeface="Calibri" pitchFamily="34" charset="-122"/>
                <a:cs typeface="Calibri" pitchFamily="34" charset="-120"/>
              </a:rPr>
              <a:t>Often sufficient on their own for same-domain authentication, which is exactly what makes the next item misleading.</a:t>
            </a:r>
            <a:endParaRPr lang="en-US" sz="1150" dirty="0"/>
          </a:p>
        </p:txBody>
      </p:sp>
      <p:sp>
        <p:nvSpPr>
          <p:cNvPr id="12" name="Shape 10"/>
          <p:cNvSpPr/>
          <p:nvPr/>
        </p:nvSpPr>
        <p:spPr>
          <a:xfrm>
            <a:off x="8430768" y="1554480"/>
            <a:ext cx="3511296" cy="1691640"/>
          </a:xfrm>
          <a:prstGeom prst="roundRect">
            <a:avLst>
              <a:gd name="adj" fmla="val 3784"/>
            </a:avLst>
          </a:prstGeom>
          <a:solidFill>
            <a:srgbClr val="F4F7F8"/>
          </a:solidFill>
          <a:ln w="9525">
            <a:solidFill>
              <a:srgbClr val="DDE2E2"/>
            </a:solidFill>
            <a:prstDash val="solid"/>
          </a:ln>
        </p:spPr>
      </p:sp>
      <p:sp>
        <p:nvSpPr>
          <p:cNvPr id="13" name="Text 11"/>
          <p:cNvSpPr/>
          <p:nvPr/>
        </p:nvSpPr>
        <p:spPr>
          <a:xfrm>
            <a:off x="8686800" y="1719072"/>
            <a:ext cx="2999232" cy="347472"/>
          </a:xfrm>
          <a:prstGeom prst="rect">
            <a:avLst/>
          </a:prstGeom>
          <a:noFill/>
          <a:ln/>
        </p:spPr>
        <p:txBody>
          <a:bodyPr wrap="square" lIns="0" tIns="0" rIns="0" bIns="0" rtlCol="0" anchor="ctr"/>
          <a:lstStyle/>
          <a:p>
            <a:pPr indent="0" marL="0">
              <a:buNone/>
            </a:pPr>
            <a:r>
              <a:rPr lang="en-US" sz="1700" b="1" dirty="0">
                <a:solidFill>
                  <a:srgbClr val="3E3E4B"/>
                </a:solidFill>
                <a:latin typeface="Calibri" pitchFamily="34" charset="0"/>
                <a:ea typeface="Calibri" pitchFamily="34" charset="-122"/>
                <a:cs typeface="Calibri" pitchFamily="34" charset="-120"/>
              </a:rPr>
              <a:t>TCP 3268 / 3269</a:t>
            </a:r>
            <a:endParaRPr lang="en-US" sz="1700" dirty="0"/>
          </a:p>
        </p:txBody>
      </p:sp>
      <p:sp>
        <p:nvSpPr>
          <p:cNvPr id="14" name="Text 12"/>
          <p:cNvSpPr/>
          <p:nvPr/>
        </p:nvSpPr>
        <p:spPr>
          <a:xfrm>
            <a:off x="8686800" y="2066544"/>
            <a:ext cx="2999232" cy="237744"/>
          </a:xfrm>
          <a:prstGeom prst="rect">
            <a:avLst/>
          </a:prstGeom>
          <a:noFill/>
          <a:ln/>
        </p:spPr>
        <p:txBody>
          <a:bodyPr wrap="square" lIns="0" tIns="0" rIns="0" bIns="0" rtlCol="0" anchor="ctr"/>
          <a:lstStyle/>
          <a:p>
            <a:pPr indent="0" marL="0">
              <a:buNone/>
            </a:pPr>
            <a:r>
              <a:rPr lang="en-US" sz="1000" b="1" spc="120" kern="0" dirty="0">
                <a:solidFill>
                  <a:srgbClr val="00B3E2"/>
                </a:solidFill>
                <a:latin typeface="Calibri" pitchFamily="34" charset="0"/>
                <a:ea typeface="Calibri" pitchFamily="34" charset="-122"/>
                <a:cs typeface="Calibri" pitchFamily="34" charset="-120"/>
              </a:rPr>
              <a:t>GLOBAL CATALOG</a:t>
            </a:r>
            <a:endParaRPr lang="en-US" sz="1000" dirty="0"/>
          </a:p>
        </p:txBody>
      </p:sp>
      <p:sp>
        <p:nvSpPr>
          <p:cNvPr id="15" name="Text 13"/>
          <p:cNvSpPr/>
          <p:nvPr/>
        </p:nvSpPr>
        <p:spPr>
          <a:xfrm>
            <a:off x="8686800" y="2331720"/>
            <a:ext cx="2999232" cy="822960"/>
          </a:xfrm>
          <a:prstGeom prst="rect">
            <a:avLst/>
          </a:prstGeom>
          <a:noFill/>
          <a:ln/>
        </p:spPr>
        <p:txBody>
          <a:bodyPr wrap="square" lIns="0" tIns="0" rIns="0" bIns="0" rtlCol="0" anchor="ctr"/>
          <a:lstStyle/>
          <a:p>
            <a:pPr indent="0" marL="0">
              <a:buNone/>
            </a:pPr>
            <a:r>
              <a:rPr lang="en-US" sz="1150" dirty="0">
                <a:solidFill>
                  <a:srgbClr val="55555F"/>
                </a:solidFill>
                <a:latin typeface="Calibri" pitchFamily="34" charset="0"/>
                <a:ea typeface="Calibri" pitchFamily="34" charset="-122"/>
                <a:cs typeface="Calibri" pitchFamily="34" charset="-120"/>
              </a:rPr>
              <a:t>If blocked, local-domain logins may succeed while cross-domain authentication fails. Partial success sends troubleshooting in the wrong direction.</a:t>
            </a:r>
            <a:endParaRPr lang="en-US" sz="1150" dirty="0"/>
          </a:p>
        </p:txBody>
      </p:sp>
      <p:sp>
        <p:nvSpPr>
          <p:cNvPr id="16" name="Shape 14"/>
          <p:cNvSpPr/>
          <p:nvPr/>
        </p:nvSpPr>
        <p:spPr>
          <a:xfrm>
            <a:off x="640080" y="3502152"/>
            <a:ext cx="3511296" cy="1691640"/>
          </a:xfrm>
          <a:prstGeom prst="roundRect">
            <a:avLst>
              <a:gd name="adj" fmla="val 3784"/>
            </a:avLst>
          </a:prstGeom>
          <a:solidFill>
            <a:srgbClr val="F4F7F8"/>
          </a:solidFill>
          <a:ln w="9525">
            <a:solidFill>
              <a:srgbClr val="DDE2E2"/>
            </a:solidFill>
            <a:prstDash val="solid"/>
          </a:ln>
        </p:spPr>
      </p:sp>
      <p:sp>
        <p:nvSpPr>
          <p:cNvPr id="17" name="Text 15"/>
          <p:cNvSpPr/>
          <p:nvPr/>
        </p:nvSpPr>
        <p:spPr>
          <a:xfrm>
            <a:off x="896112" y="3666744"/>
            <a:ext cx="2999232" cy="347472"/>
          </a:xfrm>
          <a:prstGeom prst="rect">
            <a:avLst/>
          </a:prstGeom>
          <a:noFill/>
          <a:ln/>
        </p:spPr>
        <p:txBody>
          <a:bodyPr wrap="square" lIns="0" tIns="0" rIns="0" bIns="0" rtlCol="0" anchor="ctr"/>
          <a:lstStyle/>
          <a:p>
            <a:pPr indent="0" marL="0">
              <a:buNone/>
            </a:pPr>
            <a:r>
              <a:rPr lang="en-US" sz="1700" b="1" dirty="0">
                <a:solidFill>
                  <a:srgbClr val="3E3E4B"/>
                </a:solidFill>
                <a:latin typeface="Calibri" pitchFamily="34" charset="0"/>
                <a:ea typeface="Calibri" pitchFamily="34" charset="-122"/>
                <a:cs typeface="Calibri" pitchFamily="34" charset="-120"/>
              </a:rPr>
              <a:t>TCP 8123</a:t>
            </a:r>
            <a:endParaRPr lang="en-US" sz="1700" dirty="0"/>
          </a:p>
        </p:txBody>
      </p:sp>
      <p:sp>
        <p:nvSpPr>
          <p:cNvPr id="18" name="Text 16"/>
          <p:cNvSpPr/>
          <p:nvPr/>
        </p:nvSpPr>
        <p:spPr>
          <a:xfrm>
            <a:off x="896112" y="4014216"/>
            <a:ext cx="2999232" cy="237744"/>
          </a:xfrm>
          <a:prstGeom prst="rect">
            <a:avLst/>
          </a:prstGeom>
          <a:noFill/>
          <a:ln/>
        </p:spPr>
        <p:txBody>
          <a:bodyPr wrap="square" lIns="0" tIns="0" rIns="0" bIns="0" rtlCol="0" anchor="ctr"/>
          <a:lstStyle/>
          <a:p>
            <a:pPr indent="0" marL="0">
              <a:buNone/>
            </a:pPr>
            <a:r>
              <a:rPr lang="en-US" sz="1000" b="1" spc="120" kern="0" dirty="0">
                <a:solidFill>
                  <a:srgbClr val="00B3E2"/>
                </a:solidFill>
                <a:latin typeface="Calibri" pitchFamily="34" charset="0"/>
                <a:ea typeface="Calibri" pitchFamily="34" charset="-122"/>
                <a:cs typeface="Calibri" pitchFamily="34" charset="-120"/>
              </a:rPr>
              <a:t>HCX BULK MIGRATION CONTROL</a:t>
            </a:r>
            <a:endParaRPr lang="en-US" sz="1000" dirty="0"/>
          </a:p>
        </p:txBody>
      </p:sp>
      <p:sp>
        <p:nvSpPr>
          <p:cNvPr id="19" name="Text 17"/>
          <p:cNvSpPr/>
          <p:nvPr/>
        </p:nvSpPr>
        <p:spPr>
          <a:xfrm>
            <a:off x="896112" y="4279392"/>
            <a:ext cx="2999232" cy="822960"/>
          </a:xfrm>
          <a:prstGeom prst="rect">
            <a:avLst/>
          </a:prstGeom>
          <a:noFill/>
          <a:ln/>
        </p:spPr>
        <p:txBody>
          <a:bodyPr wrap="square" lIns="0" tIns="0" rIns="0" bIns="0" rtlCol="0" anchor="ctr"/>
          <a:lstStyle/>
          <a:p>
            <a:pPr indent="0" marL="0">
              <a:buNone/>
            </a:pPr>
            <a:r>
              <a:rPr lang="en-US" sz="1150" dirty="0">
                <a:solidFill>
                  <a:srgbClr val="55555F"/>
                </a:solidFill>
                <a:latin typeface="Calibri" pitchFamily="34" charset="0"/>
                <a:ea typeface="Calibri" pitchFamily="34" charset="-122"/>
                <a:cs typeface="Calibri" pitchFamily="34" charset="-120"/>
              </a:rPr>
              <a:t>Disk data can copy successfully while final control operations fail. The migration sits at 99 percent and eventually times out.</a:t>
            </a:r>
            <a:endParaRPr lang="en-US" sz="1150" dirty="0"/>
          </a:p>
        </p:txBody>
      </p:sp>
      <p:sp>
        <p:nvSpPr>
          <p:cNvPr id="20" name="Shape 18"/>
          <p:cNvSpPr/>
          <p:nvPr/>
        </p:nvSpPr>
        <p:spPr>
          <a:xfrm>
            <a:off x="4535424" y="3502152"/>
            <a:ext cx="3511296" cy="1691640"/>
          </a:xfrm>
          <a:prstGeom prst="roundRect">
            <a:avLst>
              <a:gd name="adj" fmla="val 3784"/>
            </a:avLst>
          </a:prstGeom>
          <a:solidFill>
            <a:srgbClr val="F4F7F8"/>
          </a:solidFill>
          <a:ln w="9525">
            <a:solidFill>
              <a:srgbClr val="DDE2E2"/>
            </a:solidFill>
            <a:prstDash val="solid"/>
          </a:ln>
        </p:spPr>
      </p:sp>
      <p:sp>
        <p:nvSpPr>
          <p:cNvPr id="21" name="Text 19"/>
          <p:cNvSpPr/>
          <p:nvPr/>
        </p:nvSpPr>
        <p:spPr>
          <a:xfrm>
            <a:off x="4791456" y="3666744"/>
            <a:ext cx="2999232" cy="347472"/>
          </a:xfrm>
          <a:prstGeom prst="rect">
            <a:avLst/>
          </a:prstGeom>
          <a:noFill/>
          <a:ln/>
        </p:spPr>
        <p:txBody>
          <a:bodyPr wrap="square" lIns="0" tIns="0" rIns="0" bIns="0" rtlCol="0" anchor="ctr"/>
          <a:lstStyle/>
          <a:p>
            <a:pPr indent="0" marL="0">
              <a:buNone/>
            </a:pPr>
            <a:r>
              <a:rPr lang="en-US" sz="1700" b="1" dirty="0">
                <a:solidFill>
                  <a:srgbClr val="3E3E4B"/>
                </a:solidFill>
                <a:latin typeface="Calibri" pitchFamily="34" charset="0"/>
                <a:ea typeface="Calibri" pitchFamily="34" charset="-122"/>
                <a:cs typeface="Calibri" pitchFamily="34" charset="-120"/>
              </a:rPr>
              <a:t>UDP 500 / 4500</a:t>
            </a:r>
            <a:endParaRPr lang="en-US" sz="1700" dirty="0"/>
          </a:p>
        </p:txBody>
      </p:sp>
      <p:sp>
        <p:nvSpPr>
          <p:cNvPr id="22" name="Text 20"/>
          <p:cNvSpPr/>
          <p:nvPr/>
        </p:nvSpPr>
        <p:spPr>
          <a:xfrm>
            <a:off x="4791456" y="4014216"/>
            <a:ext cx="2999232" cy="237744"/>
          </a:xfrm>
          <a:prstGeom prst="rect">
            <a:avLst/>
          </a:prstGeom>
          <a:noFill/>
          <a:ln/>
        </p:spPr>
        <p:txBody>
          <a:bodyPr wrap="square" lIns="0" tIns="0" rIns="0" bIns="0" rtlCol="0" anchor="ctr"/>
          <a:lstStyle/>
          <a:p>
            <a:pPr indent="0" marL="0">
              <a:buNone/>
            </a:pPr>
            <a:r>
              <a:rPr lang="en-US" sz="1000" b="1" spc="120" kern="0" dirty="0">
                <a:solidFill>
                  <a:srgbClr val="00B3E2"/>
                </a:solidFill>
                <a:latin typeface="Calibri" pitchFamily="34" charset="0"/>
                <a:ea typeface="Calibri" pitchFamily="34" charset="-122"/>
                <a:cs typeface="Calibri" pitchFamily="34" charset="-120"/>
              </a:rPr>
              <a:t>IPSEC AND NAT TRAVERSAL</a:t>
            </a:r>
            <a:endParaRPr lang="en-US" sz="1000" dirty="0"/>
          </a:p>
        </p:txBody>
      </p:sp>
      <p:sp>
        <p:nvSpPr>
          <p:cNvPr id="23" name="Text 21"/>
          <p:cNvSpPr/>
          <p:nvPr/>
        </p:nvSpPr>
        <p:spPr>
          <a:xfrm>
            <a:off x="4791456" y="4279392"/>
            <a:ext cx="2999232" cy="822960"/>
          </a:xfrm>
          <a:prstGeom prst="rect">
            <a:avLst/>
          </a:prstGeom>
          <a:noFill/>
          <a:ln/>
        </p:spPr>
        <p:txBody>
          <a:bodyPr wrap="square" lIns="0" tIns="0" rIns="0" bIns="0" rtlCol="0" anchor="ctr"/>
          <a:lstStyle/>
          <a:p>
            <a:pPr indent="0" marL="0">
              <a:buNone/>
            </a:pPr>
            <a:r>
              <a:rPr lang="en-US" sz="1150" dirty="0">
                <a:solidFill>
                  <a:srgbClr val="55555F"/>
                </a:solidFill>
                <a:latin typeface="Calibri" pitchFamily="34" charset="0"/>
                <a:ea typeface="Calibri" pitchFamily="34" charset="-122"/>
                <a:cs typeface="Calibri" pitchFamily="34" charset="-120"/>
              </a:rPr>
              <a:t>Negotiation may succeed on 500 while data traffic fails without 4500. The VPN establishes and passes nothing.</a:t>
            </a:r>
            <a:endParaRPr lang="en-US" sz="1150" dirty="0"/>
          </a:p>
        </p:txBody>
      </p:sp>
      <p:sp>
        <p:nvSpPr>
          <p:cNvPr id="24" name="Shape 22"/>
          <p:cNvSpPr/>
          <p:nvPr/>
        </p:nvSpPr>
        <p:spPr>
          <a:xfrm>
            <a:off x="8430768" y="3502152"/>
            <a:ext cx="3511296" cy="1691640"/>
          </a:xfrm>
          <a:prstGeom prst="roundRect">
            <a:avLst>
              <a:gd name="adj" fmla="val 3784"/>
            </a:avLst>
          </a:prstGeom>
          <a:solidFill>
            <a:srgbClr val="F4F7F8"/>
          </a:solidFill>
          <a:ln w="9525">
            <a:solidFill>
              <a:srgbClr val="DDE2E2"/>
            </a:solidFill>
            <a:prstDash val="solid"/>
          </a:ln>
        </p:spPr>
      </p:sp>
      <p:sp>
        <p:nvSpPr>
          <p:cNvPr id="25" name="Text 23"/>
          <p:cNvSpPr/>
          <p:nvPr/>
        </p:nvSpPr>
        <p:spPr>
          <a:xfrm>
            <a:off x="8686800" y="3666744"/>
            <a:ext cx="2999232" cy="347472"/>
          </a:xfrm>
          <a:prstGeom prst="rect">
            <a:avLst/>
          </a:prstGeom>
          <a:noFill/>
          <a:ln/>
        </p:spPr>
        <p:txBody>
          <a:bodyPr wrap="square" lIns="0" tIns="0" rIns="0" bIns="0" rtlCol="0" anchor="ctr"/>
          <a:lstStyle/>
          <a:p>
            <a:pPr indent="0" marL="0">
              <a:buNone/>
            </a:pPr>
            <a:r>
              <a:rPr lang="en-US" sz="1700" b="1" dirty="0">
                <a:solidFill>
                  <a:srgbClr val="3E3E4B"/>
                </a:solidFill>
                <a:latin typeface="Calibri" pitchFamily="34" charset="0"/>
                <a:ea typeface="Calibri" pitchFamily="34" charset="-122"/>
                <a:cs typeface="Calibri" pitchFamily="34" charset="-120"/>
              </a:rPr>
              <a:t>UDP 53</a:t>
            </a:r>
            <a:endParaRPr lang="en-US" sz="1700" dirty="0"/>
          </a:p>
        </p:txBody>
      </p:sp>
      <p:sp>
        <p:nvSpPr>
          <p:cNvPr id="26" name="Text 24"/>
          <p:cNvSpPr/>
          <p:nvPr/>
        </p:nvSpPr>
        <p:spPr>
          <a:xfrm>
            <a:off x="8686800" y="4014216"/>
            <a:ext cx="2999232" cy="237744"/>
          </a:xfrm>
          <a:prstGeom prst="rect">
            <a:avLst/>
          </a:prstGeom>
          <a:noFill/>
          <a:ln/>
        </p:spPr>
        <p:txBody>
          <a:bodyPr wrap="square" lIns="0" tIns="0" rIns="0" bIns="0" rtlCol="0" anchor="ctr"/>
          <a:lstStyle/>
          <a:p>
            <a:pPr indent="0" marL="0">
              <a:buNone/>
            </a:pPr>
            <a:r>
              <a:rPr lang="en-US" sz="1000" b="1" spc="120" kern="0" dirty="0">
                <a:solidFill>
                  <a:srgbClr val="00B3E2"/>
                </a:solidFill>
                <a:latin typeface="Calibri" pitchFamily="34" charset="0"/>
                <a:ea typeface="Calibri" pitchFamily="34" charset="-122"/>
                <a:cs typeface="Calibri" pitchFamily="34" charset="-120"/>
              </a:rPr>
              <a:t>DNS</a:t>
            </a:r>
            <a:endParaRPr lang="en-US" sz="1000" dirty="0"/>
          </a:p>
        </p:txBody>
      </p:sp>
      <p:sp>
        <p:nvSpPr>
          <p:cNvPr id="27" name="Text 25"/>
          <p:cNvSpPr/>
          <p:nvPr/>
        </p:nvSpPr>
        <p:spPr>
          <a:xfrm>
            <a:off x="8686800" y="4279392"/>
            <a:ext cx="2999232" cy="822960"/>
          </a:xfrm>
          <a:prstGeom prst="rect">
            <a:avLst/>
          </a:prstGeom>
          <a:noFill/>
          <a:ln/>
        </p:spPr>
        <p:txBody>
          <a:bodyPr wrap="square" lIns="0" tIns="0" rIns="0" bIns="0" rtlCol="0" anchor="ctr"/>
          <a:lstStyle/>
          <a:p>
            <a:pPr indent="0" marL="0">
              <a:buNone/>
            </a:pPr>
            <a:r>
              <a:rPr lang="en-US" sz="1150" dirty="0">
                <a:solidFill>
                  <a:srgbClr val="55555F"/>
                </a:solidFill>
                <a:latin typeface="Calibri" pitchFamily="34" charset="0"/>
                <a:ea typeface="Calibri" pitchFamily="34" charset="-122"/>
                <a:cs typeface="Calibri" pitchFamily="34" charset="-120"/>
              </a:rPr>
              <a:t>If AVS uses a default route, forwarders must still resolve public names along the same egress path. Reachability without resolution is not connectivity.</a:t>
            </a:r>
            <a:endParaRPr lang="en-US" sz="1150" dirty="0"/>
          </a:p>
        </p:txBody>
      </p:sp>
      <p:sp>
        <p:nvSpPr>
          <p:cNvPr id="28" name="Shape 26"/>
          <p:cNvSpPr/>
          <p:nvPr/>
        </p:nvSpPr>
        <p:spPr>
          <a:xfrm>
            <a:off x="640080" y="5349240"/>
            <a:ext cx="10911535" cy="868680"/>
          </a:xfrm>
          <a:prstGeom prst="roundRect">
            <a:avLst>
              <a:gd name="adj" fmla="val 7368"/>
            </a:avLst>
          </a:prstGeom>
          <a:solidFill>
            <a:srgbClr val="FDF0EB"/>
          </a:solidFill>
          <a:ln w="9525">
            <a:solidFill>
              <a:srgbClr val="F6C9B4"/>
            </a:solidFill>
            <a:prstDash val="solid"/>
          </a:ln>
        </p:spPr>
      </p:sp>
      <p:sp>
        <p:nvSpPr>
          <p:cNvPr id="29" name="Text 27"/>
          <p:cNvSpPr/>
          <p:nvPr/>
        </p:nvSpPr>
        <p:spPr>
          <a:xfrm>
            <a:off x="960120" y="5349240"/>
            <a:ext cx="1280160" cy="868680"/>
          </a:xfrm>
          <a:prstGeom prst="rect">
            <a:avLst/>
          </a:prstGeom>
          <a:noFill/>
          <a:ln/>
        </p:spPr>
        <p:txBody>
          <a:bodyPr wrap="square" lIns="0" tIns="0" rIns="0" bIns="0" rtlCol="0" anchor="ctr"/>
          <a:lstStyle/>
          <a:p>
            <a:pPr indent="0" marL="0">
              <a:buNone/>
            </a:pPr>
            <a:r>
              <a:rPr lang="en-US" sz="1400" b="1" dirty="0">
                <a:solidFill>
                  <a:srgbClr val="F15D23"/>
                </a:solidFill>
                <a:latin typeface="Calibri" pitchFamily="34" charset="0"/>
                <a:ea typeface="Calibri" pitchFamily="34" charset="-122"/>
                <a:cs typeface="Calibri" pitchFamily="34" charset="-120"/>
              </a:rPr>
              <a:t>The pattern:</a:t>
            </a:r>
            <a:endParaRPr lang="en-US" sz="1400" dirty="0"/>
          </a:p>
        </p:txBody>
      </p:sp>
      <p:sp>
        <p:nvSpPr>
          <p:cNvPr id="30" name="Text 28"/>
          <p:cNvSpPr/>
          <p:nvPr/>
        </p:nvSpPr>
        <p:spPr>
          <a:xfrm>
            <a:off x="2240280" y="5349240"/>
            <a:ext cx="8991295" cy="868680"/>
          </a:xfrm>
          <a:prstGeom prst="rect">
            <a:avLst/>
          </a:prstGeom>
          <a:noFill/>
          <a:ln/>
        </p:spPr>
        <p:txBody>
          <a:bodyPr wrap="square" lIns="0" tIns="0" rIns="0" bIns="0" rtlCol="0" anchor="ctr"/>
          <a:lstStyle/>
          <a:p>
            <a:pPr indent="0" marL="0">
              <a:buNone/>
            </a:pPr>
            <a:r>
              <a:rPr lang="en-US" sz="1350" dirty="0">
                <a:solidFill>
                  <a:srgbClr val="55555F"/>
                </a:solidFill>
                <a:latin typeface="Calibri" pitchFamily="34" charset="0"/>
                <a:ea typeface="Calibri" pitchFamily="34" charset="-122"/>
                <a:cs typeface="Calibri" pitchFamily="34" charset="-120"/>
              </a:rPr>
              <a:t>Browser pages spin. Authentication works for some users. Migrations stall near completion. VPNs establish but pass no data. Knowing why each port is required is more useful than applying an unexplained port list.</a:t>
            </a:r>
            <a:endParaRPr lang="en-US" sz="13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37744"/>
          </a:xfrm>
          <a:prstGeom prst="rect">
            <a:avLst/>
          </a:prstGeom>
          <a:noFill/>
          <a:ln/>
        </p:spPr>
        <p:txBody>
          <a:bodyPr wrap="square" lIns="0" tIns="0" rIns="0" bIns="0" rtlCol="0" anchor="ctr"/>
          <a:lstStyle/>
          <a:p>
            <a:pPr indent="0" marL="0">
              <a:buNone/>
            </a:pPr>
            <a:r>
              <a:rPr lang="en-US" sz="1100" b="1" spc="200" kern="0" dirty="0">
                <a:solidFill>
                  <a:srgbClr val="00B3E2"/>
                </a:solidFill>
                <a:latin typeface="Calibri" pitchFamily="34" charset="0"/>
                <a:ea typeface="Calibri" pitchFamily="34" charset="-122"/>
                <a:cs typeface="Calibri" pitchFamily="34" charset="-120"/>
              </a:rPr>
              <a:t>RESILIENCE</a:t>
            </a:r>
            <a:endParaRPr lang="en-US" sz="1100" dirty="0"/>
          </a:p>
        </p:txBody>
      </p:sp>
      <p:sp>
        <p:nvSpPr>
          <p:cNvPr id="3" name="Text 1"/>
          <p:cNvSpPr/>
          <p:nvPr/>
        </p:nvSpPr>
        <p:spPr>
          <a:xfrm>
            <a:off x="640080" y="658368"/>
            <a:ext cx="10911535" cy="566928"/>
          </a:xfrm>
          <a:prstGeom prst="rect">
            <a:avLst/>
          </a:prstGeom>
          <a:noFill/>
          <a:ln/>
        </p:spPr>
        <p:txBody>
          <a:bodyPr wrap="square" lIns="0" tIns="0" rIns="0" bIns="0" rtlCol="0" anchor="ctr"/>
          <a:lstStyle/>
          <a:p>
            <a:pPr indent="0" marL="0">
              <a:buNone/>
            </a:pPr>
            <a:r>
              <a:rPr lang="en-US" sz="3400" b="1" dirty="0">
                <a:solidFill>
                  <a:srgbClr val="3E3E4B"/>
                </a:solidFill>
                <a:latin typeface="Calibri" pitchFamily="34" charset="0"/>
                <a:ea typeface="Calibri" pitchFamily="34" charset="-122"/>
                <a:cs typeface="Calibri" pitchFamily="34" charset="-120"/>
              </a:rPr>
              <a:t>Transient faults are normal at this scale</a:t>
            </a:r>
            <a:endParaRPr lang="en-US" sz="3400" dirty="0"/>
          </a:p>
        </p:txBody>
      </p:sp>
      <p:sp>
        <p:nvSpPr>
          <p:cNvPr id="4" name="Text 2"/>
          <p:cNvSpPr/>
          <p:nvPr/>
        </p:nvSpPr>
        <p:spPr>
          <a:xfrm>
            <a:off x="640080" y="1645920"/>
            <a:ext cx="5257800" cy="2011680"/>
          </a:xfrm>
          <a:prstGeom prst="rect">
            <a:avLst/>
          </a:prstGeom>
          <a:noFill/>
          <a:ln/>
        </p:spPr>
        <p:txBody>
          <a:bodyPr wrap="square" lIns="0" tIns="0" rIns="0" bIns="0" rtlCol="0" anchor="ctr"/>
          <a:lstStyle/>
          <a:p>
            <a:pPr marL="177800" indent="-177800">
              <a:spcAft>
                <a:spcPts val="1000"/>
              </a:spcAft>
              <a:buSzPct val="100000"/>
              <a:buChar char="•"/>
            </a:pPr>
            <a:r>
              <a:rPr lang="en-US" sz="1450" dirty="0">
                <a:solidFill>
                  <a:srgbClr val="55555F"/>
                </a:solidFill>
                <a:latin typeface="Calibri" pitchFamily="34" charset="0"/>
                <a:ea typeface="Calibri" pitchFamily="34" charset="-122"/>
                <a:cs typeface="Calibri" pitchFamily="34" charset="-120"/>
              </a:rPr>
              <a:t>Short, intermittent failures are expected in hyperscale environments.</a:t>
            </a:r>
            <a:endParaRPr lang="en-US" sz="1450" dirty="0"/>
          </a:p>
          <a:p>
            <a:pPr marL="177800" indent="-177800">
              <a:spcAft>
                <a:spcPts val="1000"/>
              </a:spcAft>
              <a:buSzPct val="100000"/>
              <a:buChar char="•"/>
            </a:pPr>
            <a:r>
              <a:rPr lang="en-US" sz="1450" dirty="0">
                <a:solidFill>
                  <a:srgbClr val="55555F"/>
                </a:solidFill>
                <a:latin typeface="Calibri" pitchFamily="34" charset="0"/>
                <a:ea typeface="Calibri" pitchFamily="34" charset="-122"/>
                <a:cs typeface="Calibri" pitchFamily="34" charset="-120"/>
              </a:rPr>
              <a:t>The cloud is a very large amount of physical compute, memory, storage, and networking, and at that scale something is always failing or being repaired.</a:t>
            </a:r>
            <a:endParaRPr lang="en-US" sz="1450" dirty="0"/>
          </a:p>
          <a:p>
            <a:pPr marL="177800" indent="-177800">
              <a:spcAft>
                <a:spcPts val="1000"/>
              </a:spcAft>
              <a:buSzPct val="100000"/>
              <a:buChar char="•"/>
            </a:pPr>
            <a:r>
              <a:rPr lang="en-US" sz="1450" dirty="0">
                <a:solidFill>
                  <a:srgbClr val="55555F"/>
                </a:solidFill>
                <a:latin typeface="Calibri" pitchFamily="34" charset="0"/>
                <a:ea typeface="Calibri" pitchFamily="34" charset="-122"/>
                <a:cs typeface="Calibri" pitchFamily="34" charset="-120"/>
              </a:rPr>
              <a:t>Infrastructure redundancy cannot eliminate every millisecond-scale interruption.</a:t>
            </a:r>
            <a:endParaRPr lang="en-US" sz="1450" dirty="0"/>
          </a:p>
        </p:txBody>
      </p:sp>
      <p:sp>
        <p:nvSpPr>
          <p:cNvPr id="5" name="Shape 3"/>
          <p:cNvSpPr/>
          <p:nvPr/>
        </p:nvSpPr>
        <p:spPr>
          <a:xfrm>
            <a:off x="640080" y="3886200"/>
            <a:ext cx="5257800" cy="1828800"/>
          </a:xfrm>
          <a:prstGeom prst="roundRect">
            <a:avLst>
              <a:gd name="adj" fmla="val 3500"/>
            </a:avLst>
          </a:prstGeom>
          <a:solidFill>
            <a:srgbClr val="E5F7FC"/>
          </a:solidFill>
          <a:ln w="9525">
            <a:solidFill>
              <a:srgbClr val="B2E8F6"/>
            </a:solidFill>
            <a:prstDash val="solid"/>
          </a:ln>
        </p:spPr>
      </p:sp>
      <p:sp>
        <p:nvSpPr>
          <p:cNvPr id="6" name="Text 4"/>
          <p:cNvSpPr/>
          <p:nvPr/>
        </p:nvSpPr>
        <p:spPr>
          <a:xfrm>
            <a:off x="960120" y="4069080"/>
            <a:ext cx="4617720" cy="320040"/>
          </a:xfrm>
          <a:prstGeom prst="rect">
            <a:avLst/>
          </a:prstGeom>
          <a:noFill/>
          <a:ln/>
        </p:spPr>
        <p:txBody>
          <a:bodyPr wrap="square" lIns="0" tIns="0" rIns="0" bIns="0" rtlCol="0" anchor="ctr"/>
          <a:lstStyle/>
          <a:p>
            <a:pPr indent="0" marL="0">
              <a:buNone/>
            </a:pPr>
            <a:r>
              <a:rPr lang="en-US" sz="1600" b="1" dirty="0">
                <a:solidFill>
                  <a:srgbClr val="3E3E4B"/>
                </a:solidFill>
                <a:latin typeface="Calibri" pitchFamily="34" charset="0"/>
                <a:ea typeface="Calibri" pitchFamily="34" charset="-122"/>
                <a:cs typeface="Calibri" pitchFamily="34" charset="-120"/>
              </a:rPr>
              <a:t>Cloud resilience is layered</a:t>
            </a:r>
            <a:endParaRPr lang="en-US" sz="1600" dirty="0"/>
          </a:p>
        </p:txBody>
      </p:sp>
      <p:sp>
        <p:nvSpPr>
          <p:cNvPr id="7" name="Text 5"/>
          <p:cNvSpPr/>
          <p:nvPr/>
        </p:nvSpPr>
        <p:spPr>
          <a:xfrm>
            <a:off x="960120" y="4434840"/>
            <a:ext cx="4617720" cy="1097280"/>
          </a:xfrm>
          <a:prstGeom prst="rect">
            <a:avLst/>
          </a:prstGeom>
          <a:noFill/>
          <a:ln/>
        </p:spPr>
        <p:txBody>
          <a:bodyPr wrap="square" lIns="0" tIns="0" rIns="0" bIns="0" rtlCol="0" anchor="ctr"/>
          <a:lstStyle/>
          <a:p>
            <a:pPr indent="0" marL="0">
              <a:buNone/>
            </a:pPr>
            <a:r>
              <a:rPr lang="en-US" sz="1350" dirty="0">
                <a:solidFill>
                  <a:srgbClr val="1A5F7A"/>
                </a:solidFill>
                <a:latin typeface="Calibri" pitchFamily="34" charset="0"/>
                <a:ea typeface="Calibri" pitchFamily="34" charset="-122"/>
                <a:cs typeface="Calibri" pitchFamily="34" charset="-120"/>
              </a:rPr>
              <a:t>It requires platform-level high availability and application-level fault handling. Neither one substitutes for the other, and only one of them is Microsoft's to provide.</a:t>
            </a:r>
            <a:endParaRPr lang="en-US" sz="1350" dirty="0"/>
          </a:p>
        </p:txBody>
      </p:sp>
      <p:sp>
        <p:nvSpPr>
          <p:cNvPr id="8" name="Text 6"/>
          <p:cNvSpPr/>
          <p:nvPr/>
        </p:nvSpPr>
        <p:spPr>
          <a:xfrm>
            <a:off x="6519672" y="1691640"/>
            <a:ext cx="5029200" cy="320040"/>
          </a:xfrm>
          <a:prstGeom prst="rect">
            <a:avLst/>
          </a:prstGeom>
          <a:noFill/>
          <a:ln/>
        </p:spPr>
        <p:txBody>
          <a:bodyPr wrap="square" lIns="0" tIns="0" rIns="0" bIns="0" rtlCol="0" anchor="ctr"/>
          <a:lstStyle/>
          <a:p>
            <a:pPr indent="0" marL="0">
              <a:buNone/>
            </a:pPr>
            <a:r>
              <a:rPr lang="en-US" sz="1900" b="1" dirty="0">
                <a:solidFill>
                  <a:srgbClr val="3E3E4B"/>
                </a:solidFill>
                <a:latin typeface="Calibri" pitchFamily="34" charset="0"/>
                <a:ea typeface="Calibri" pitchFamily="34" charset="-122"/>
                <a:cs typeface="Calibri" pitchFamily="34" charset="-120"/>
              </a:rPr>
              <a:t>What applications must implement</a:t>
            </a:r>
            <a:endParaRPr lang="en-US" sz="1900" dirty="0"/>
          </a:p>
        </p:txBody>
      </p:sp>
      <p:sp>
        <p:nvSpPr>
          <p:cNvPr id="9" name="Shape 7"/>
          <p:cNvSpPr/>
          <p:nvPr/>
        </p:nvSpPr>
        <p:spPr>
          <a:xfrm>
            <a:off x="6519672" y="2148840"/>
            <a:ext cx="5029200" cy="777240"/>
          </a:xfrm>
          <a:prstGeom prst="roundRect">
            <a:avLst>
              <a:gd name="adj" fmla="val 8235"/>
            </a:avLst>
          </a:prstGeom>
          <a:solidFill>
            <a:srgbClr val="F4F7F8"/>
          </a:solidFill>
          <a:ln w="9525">
            <a:solidFill>
              <a:srgbClr val="DDE2E2"/>
            </a:solidFill>
            <a:prstDash val="solid"/>
          </a:ln>
        </p:spPr>
      </p:sp>
      <p:sp>
        <p:nvSpPr>
          <p:cNvPr id="10" name="Shape 8"/>
          <p:cNvSpPr/>
          <p:nvPr/>
        </p:nvSpPr>
        <p:spPr>
          <a:xfrm>
            <a:off x="6766560" y="2350008"/>
            <a:ext cx="384048" cy="384048"/>
          </a:xfrm>
          <a:prstGeom prst="ellipse">
            <a:avLst/>
          </a:prstGeom>
          <a:solidFill>
            <a:srgbClr val="00B3E2"/>
          </a:solidFill>
          <a:ln w="12700">
            <a:solidFill>
              <a:srgbClr val="00B3E2"/>
            </a:solidFill>
            <a:prstDash val="solid"/>
          </a:ln>
        </p:spPr>
      </p:sp>
      <p:sp>
        <p:nvSpPr>
          <p:cNvPr id="11" name="Text 9"/>
          <p:cNvSpPr/>
          <p:nvPr/>
        </p:nvSpPr>
        <p:spPr>
          <a:xfrm>
            <a:off x="6766560" y="235000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2" name="Text 10"/>
          <p:cNvSpPr/>
          <p:nvPr/>
        </p:nvSpPr>
        <p:spPr>
          <a:xfrm>
            <a:off x="7269480" y="2240280"/>
            <a:ext cx="4023360" cy="274320"/>
          </a:xfrm>
          <a:prstGeom prst="rect">
            <a:avLst/>
          </a:prstGeom>
          <a:noFill/>
          <a:ln/>
        </p:spPr>
        <p:txBody>
          <a:bodyPr wrap="square" lIns="0" tIns="0" rIns="0" bIns="0" rtlCol="0" anchor="ctr"/>
          <a:lstStyle/>
          <a:p>
            <a:pPr indent="0" marL="0">
              <a:buNone/>
            </a:pPr>
            <a:r>
              <a:rPr lang="en-US" sz="1400" b="1" dirty="0">
                <a:solidFill>
                  <a:srgbClr val="3E3E4B"/>
                </a:solidFill>
                <a:latin typeface="Calibri" pitchFamily="34" charset="0"/>
                <a:ea typeface="Calibri" pitchFamily="34" charset="-122"/>
                <a:cs typeface="Calibri" pitchFamily="34" charset="-120"/>
              </a:rPr>
              <a:t>Retry logic</a:t>
            </a:r>
            <a:endParaRPr lang="en-US" sz="1400" dirty="0"/>
          </a:p>
        </p:txBody>
      </p:sp>
      <p:sp>
        <p:nvSpPr>
          <p:cNvPr id="13" name="Text 11"/>
          <p:cNvSpPr/>
          <p:nvPr/>
        </p:nvSpPr>
        <p:spPr>
          <a:xfrm>
            <a:off x="7269480" y="2514600"/>
            <a:ext cx="4023360" cy="347472"/>
          </a:xfrm>
          <a:prstGeom prst="rect">
            <a:avLst/>
          </a:prstGeom>
          <a:noFill/>
          <a:ln/>
        </p:spPr>
        <p:txBody>
          <a:bodyPr wrap="square" lIns="0" tIns="0" rIns="0" bIns="0" rtlCol="0" anchor="ctr"/>
          <a:lstStyle/>
          <a:p>
            <a:pPr indent="0" marL="0">
              <a:buNone/>
            </a:pPr>
            <a:r>
              <a:rPr lang="en-US" sz="1150" dirty="0">
                <a:solidFill>
                  <a:srgbClr val="55555F"/>
                </a:solidFill>
                <a:latin typeface="Calibri" pitchFamily="34" charset="0"/>
                <a:ea typeface="Calibri" pitchFamily="34" charset="-122"/>
                <a:cs typeface="Calibri" pitchFamily="34" charset="-120"/>
              </a:rPr>
              <a:t>Re-attempt operations that fail transiently instead of surfacing the first error.</a:t>
            </a:r>
            <a:endParaRPr lang="en-US" sz="1150" dirty="0"/>
          </a:p>
        </p:txBody>
      </p:sp>
      <p:sp>
        <p:nvSpPr>
          <p:cNvPr id="14" name="Shape 12"/>
          <p:cNvSpPr/>
          <p:nvPr/>
        </p:nvSpPr>
        <p:spPr>
          <a:xfrm>
            <a:off x="6519672" y="3044952"/>
            <a:ext cx="5029200" cy="777240"/>
          </a:xfrm>
          <a:prstGeom prst="roundRect">
            <a:avLst>
              <a:gd name="adj" fmla="val 8235"/>
            </a:avLst>
          </a:prstGeom>
          <a:solidFill>
            <a:srgbClr val="F4F7F8"/>
          </a:solidFill>
          <a:ln w="9525">
            <a:solidFill>
              <a:srgbClr val="DDE2E2"/>
            </a:solidFill>
            <a:prstDash val="solid"/>
          </a:ln>
        </p:spPr>
      </p:sp>
      <p:sp>
        <p:nvSpPr>
          <p:cNvPr id="15" name="Shape 13"/>
          <p:cNvSpPr/>
          <p:nvPr/>
        </p:nvSpPr>
        <p:spPr>
          <a:xfrm>
            <a:off x="6766560" y="3246120"/>
            <a:ext cx="384048" cy="384048"/>
          </a:xfrm>
          <a:prstGeom prst="ellipse">
            <a:avLst/>
          </a:prstGeom>
          <a:solidFill>
            <a:srgbClr val="00B3E2"/>
          </a:solidFill>
          <a:ln w="12700">
            <a:solidFill>
              <a:srgbClr val="00B3E2"/>
            </a:solidFill>
            <a:prstDash val="solid"/>
          </a:ln>
        </p:spPr>
      </p:sp>
      <p:sp>
        <p:nvSpPr>
          <p:cNvPr id="16" name="Text 14"/>
          <p:cNvSpPr/>
          <p:nvPr/>
        </p:nvSpPr>
        <p:spPr>
          <a:xfrm>
            <a:off x="6766560" y="324612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7" name="Text 15"/>
          <p:cNvSpPr/>
          <p:nvPr/>
        </p:nvSpPr>
        <p:spPr>
          <a:xfrm>
            <a:off x="7269480" y="3136392"/>
            <a:ext cx="4023360" cy="274320"/>
          </a:xfrm>
          <a:prstGeom prst="rect">
            <a:avLst/>
          </a:prstGeom>
          <a:noFill/>
          <a:ln/>
        </p:spPr>
        <p:txBody>
          <a:bodyPr wrap="square" lIns="0" tIns="0" rIns="0" bIns="0" rtlCol="0" anchor="ctr"/>
          <a:lstStyle/>
          <a:p>
            <a:pPr indent="0" marL="0">
              <a:buNone/>
            </a:pPr>
            <a:r>
              <a:rPr lang="en-US" sz="1400" b="1" dirty="0">
                <a:solidFill>
                  <a:srgbClr val="3E3E4B"/>
                </a:solidFill>
                <a:latin typeface="Calibri" pitchFamily="34" charset="0"/>
                <a:ea typeface="Calibri" pitchFamily="34" charset="-122"/>
                <a:cs typeface="Calibri" pitchFamily="34" charset="-120"/>
              </a:rPr>
              <a:t>Exponential backoff</a:t>
            </a:r>
            <a:endParaRPr lang="en-US" sz="1400" dirty="0"/>
          </a:p>
        </p:txBody>
      </p:sp>
      <p:sp>
        <p:nvSpPr>
          <p:cNvPr id="18" name="Text 16"/>
          <p:cNvSpPr/>
          <p:nvPr/>
        </p:nvSpPr>
        <p:spPr>
          <a:xfrm>
            <a:off x="7269480" y="3410712"/>
            <a:ext cx="4023360" cy="347472"/>
          </a:xfrm>
          <a:prstGeom prst="rect">
            <a:avLst/>
          </a:prstGeom>
          <a:noFill/>
          <a:ln/>
        </p:spPr>
        <p:txBody>
          <a:bodyPr wrap="square" lIns="0" tIns="0" rIns="0" bIns="0" rtlCol="0" anchor="ctr"/>
          <a:lstStyle/>
          <a:p>
            <a:pPr indent="0" marL="0">
              <a:buNone/>
            </a:pPr>
            <a:r>
              <a:rPr lang="en-US" sz="1150" dirty="0">
                <a:solidFill>
                  <a:srgbClr val="55555F"/>
                </a:solidFill>
                <a:latin typeface="Calibri" pitchFamily="34" charset="0"/>
                <a:ea typeface="Calibri" pitchFamily="34" charset="-122"/>
                <a:cs typeface="Calibri" pitchFamily="34" charset="-120"/>
              </a:rPr>
              <a:t>Space retries out so recovery is not overwhelmed by the retry storm.</a:t>
            </a:r>
            <a:endParaRPr lang="en-US" sz="1150" dirty="0"/>
          </a:p>
        </p:txBody>
      </p:sp>
      <p:sp>
        <p:nvSpPr>
          <p:cNvPr id="19" name="Shape 17"/>
          <p:cNvSpPr/>
          <p:nvPr/>
        </p:nvSpPr>
        <p:spPr>
          <a:xfrm>
            <a:off x="6519672" y="3941064"/>
            <a:ext cx="5029200" cy="777240"/>
          </a:xfrm>
          <a:prstGeom prst="roundRect">
            <a:avLst>
              <a:gd name="adj" fmla="val 8235"/>
            </a:avLst>
          </a:prstGeom>
          <a:solidFill>
            <a:srgbClr val="F4F7F8"/>
          </a:solidFill>
          <a:ln w="9525">
            <a:solidFill>
              <a:srgbClr val="DDE2E2"/>
            </a:solidFill>
            <a:prstDash val="solid"/>
          </a:ln>
        </p:spPr>
      </p:sp>
      <p:sp>
        <p:nvSpPr>
          <p:cNvPr id="20" name="Shape 18"/>
          <p:cNvSpPr/>
          <p:nvPr/>
        </p:nvSpPr>
        <p:spPr>
          <a:xfrm>
            <a:off x="6766560" y="4142232"/>
            <a:ext cx="384048" cy="384048"/>
          </a:xfrm>
          <a:prstGeom prst="ellipse">
            <a:avLst/>
          </a:prstGeom>
          <a:solidFill>
            <a:srgbClr val="00B3E2"/>
          </a:solidFill>
          <a:ln w="12700">
            <a:solidFill>
              <a:srgbClr val="00B3E2"/>
            </a:solidFill>
            <a:prstDash val="solid"/>
          </a:ln>
        </p:spPr>
      </p:sp>
      <p:sp>
        <p:nvSpPr>
          <p:cNvPr id="21" name="Text 19"/>
          <p:cNvSpPr/>
          <p:nvPr/>
        </p:nvSpPr>
        <p:spPr>
          <a:xfrm>
            <a:off x="6766560" y="414223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2" name="Text 20"/>
          <p:cNvSpPr/>
          <p:nvPr/>
        </p:nvSpPr>
        <p:spPr>
          <a:xfrm>
            <a:off x="7269480" y="4032504"/>
            <a:ext cx="4023360" cy="274320"/>
          </a:xfrm>
          <a:prstGeom prst="rect">
            <a:avLst/>
          </a:prstGeom>
          <a:noFill/>
          <a:ln/>
        </p:spPr>
        <p:txBody>
          <a:bodyPr wrap="square" lIns="0" tIns="0" rIns="0" bIns="0" rtlCol="0" anchor="ctr"/>
          <a:lstStyle/>
          <a:p>
            <a:pPr indent="0" marL="0">
              <a:buNone/>
            </a:pPr>
            <a:r>
              <a:rPr lang="en-US" sz="1400" b="1" dirty="0">
                <a:solidFill>
                  <a:srgbClr val="3E3E4B"/>
                </a:solidFill>
                <a:latin typeface="Calibri" pitchFamily="34" charset="0"/>
                <a:ea typeface="Calibri" pitchFamily="34" charset="-122"/>
                <a:cs typeface="Calibri" pitchFamily="34" charset="-120"/>
              </a:rPr>
              <a:t>Circuit breakers</a:t>
            </a:r>
            <a:endParaRPr lang="en-US" sz="1400" dirty="0"/>
          </a:p>
        </p:txBody>
      </p:sp>
      <p:sp>
        <p:nvSpPr>
          <p:cNvPr id="23" name="Text 21"/>
          <p:cNvSpPr/>
          <p:nvPr/>
        </p:nvSpPr>
        <p:spPr>
          <a:xfrm>
            <a:off x="7269480" y="4306824"/>
            <a:ext cx="4023360" cy="347472"/>
          </a:xfrm>
          <a:prstGeom prst="rect">
            <a:avLst/>
          </a:prstGeom>
          <a:noFill/>
          <a:ln/>
        </p:spPr>
        <p:txBody>
          <a:bodyPr wrap="square" lIns="0" tIns="0" rIns="0" bIns="0" rtlCol="0" anchor="ctr"/>
          <a:lstStyle/>
          <a:p>
            <a:pPr indent="0" marL="0">
              <a:buNone/>
            </a:pPr>
            <a:r>
              <a:rPr lang="en-US" sz="1150" dirty="0">
                <a:solidFill>
                  <a:srgbClr val="55555F"/>
                </a:solidFill>
                <a:latin typeface="Calibri" pitchFamily="34" charset="0"/>
                <a:ea typeface="Calibri" pitchFamily="34" charset="-122"/>
                <a:cs typeface="Calibri" pitchFamily="34" charset="-120"/>
              </a:rPr>
              <a:t>Stop calling a failing dependency long enough for it to recover.</a:t>
            </a:r>
            <a:endParaRPr lang="en-US" sz="1150" dirty="0"/>
          </a:p>
        </p:txBody>
      </p:sp>
      <p:sp>
        <p:nvSpPr>
          <p:cNvPr id="24" name="Shape 22"/>
          <p:cNvSpPr/>
          <p:nvPr/>
        </p:nvSpPr>
        <p:spPr>
          <a:xfrm>
            <a:off x="6519672" y="4837176"/>
            <a:ext cx="5029200" cy="777240"/>
          </a:xfrm>
          <a:prstGeom prst="roundRect">
            <a:avLst>
              <a:gd name="adj" fmla="val 8235"/>
            </a:avLst>
          </a:prstGeom>
          <a:solidFill>
            <a:srgbClr val="F4F7F8"/>
          </a:solidFill>
          <a:ln w="9525">
            <a:solidFill>
              <a:srgbClr val="DDE2E2"/>
            </a:solidFill>
            <a:prstDash val="solid"/>
          </a:ln>
        </p:spPr>
      </p:sp>
      <p:sp>
        <p:nvSpPr>
          <p:cNvPr id="25" name="Shape 23"/>
          <p:cNvSpPr/>
          <p:nvPr/>
        </p:nvSpPr>
        <p:spPr>
          <a:xfrm>
            <a:off x="6766560" y="5038344"/>
            <a:ext cx="384048" cy="384048"/>
          </a:xfrm>
          <a:prstGeom prst="ellipse">
            <a:avLst/>
          </a:prstGeom>
          <a:solidFill>
            <a:srgbClr val="00B3E2"/>
          </a:solidFill>
          <a:ln w="12700">
            <a:solidFill>
              <a:srgbClr val="00B3E2"/>
            </a:solidFill>
            <a:prstDash val="solid"/>
          </a:ln>
        </p:spPr>
      </p:sp>
      <p:sp>
        <p:nvSpPr>
          <p:cNvPr id="26" name="Text 24"/>
          <p:cNvSpPr/>
          <p:nvPr/>
        </p:nvSpPr>
        <p:spPr>
          <a:xfrm>
            <a:off x="6766560" y="503834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7" name="Text 25"/>
          <p:cNvSpPr/>
          <p:nvPr/>
        </p:nvSpPr>
        <p:spPr>
          <a:xfrm>
            <a:off x="7269480" y="4928616"/>
            <a:ext cx="4023360" cy="274320"/>
          </a:xfrm>
          <a:prstGeom prst="rect">
            <a:avLst/>
          </a:prstGeom>
          <a:noFill/>
          <a:ln/>
        </p:spPr>
        <p:txBody>
          <a:bodyPr wrap="square" lIns="0" tIns="0" rIns="0" bIns="0" rtlCol="0" anchor="ctr"/>
          <a:lstStyle/>
          <a:p>
            <a:pPr indent="0" marL="0">
              <a:buNone/>
            </a:pPr>
            <a:r>
              <a:rPr lang="en-US" sz="1400" b="1" dirty="0">
                <a:solidFill>
                  <a:srgbClr val="3E3E4B"/>
                </a:solidFill>
                <a:latin typeface="Calibri" pitchFamily="34" charset="0"/>
                <a:ea typeface="Calibri" pitchFamily="34" charset="-122"/>
                <a:cs typeface="Calibri" pitchFamily="34" charset="-120"/>
              </a:rPr>
              <a:t>Tolerance for brief connectivity loss</a:t>
            </a:r>
            <a:endParaRPr lang="en-US" sz="1400" dirty="0"/>
          </a:p>
        </p:txBody>
      </p:sp>
      <p:sp>
        <p:nvSpPr>
          <p:cNvPr id="28" name="Text 26"/>
          <p:cNvSpPr/>
          <p:nvPr/>
        </p:nvSpPr>
        <p:spPr>
          <a:xfrm>
            <a:off x="7269480" y="5202936"/>
            <a:ext cx="4023360" cy="347472"/>
          </a:xfrm>
          <a:prstGeom prst="rect">
            <a:avLst/>
          </a:prstGeom>
          <a:noFill/>
          <a:ln/>
        </p:spPr>
        <p:txBody>
          <a:bodyPr wrap="square" lIns="0" tIns="0" rIns="0" bIns="0" rtlCol="0" anchor="ctr"/>
          <a:lstStyle/>
          <a:p>
            <a:pPr indent="0" marL="0">
              <a:buNone/>
            </a:pPr>
            <a:r>
              <a:rPr lang="en-US" sz="1150" dirty="0">
                <a:solidFill>
                  <a:srgbClr val="55555F"/>
                </a:solidFill>
                <a:latin typeface="Calibri" pitchFamily="34" charset="0"/>
                <a:ea typeface="Calibri" pitchFamily="34" charset="-122"/>
                <a:cs typeface="Calibri" pitchFamily="34" charset="-120"/>
              </a:rPr>
              <a:t>Treat a short interruption as an expected event, not an outage.</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37744"/>
          </a:xfrm>
          <a:prstGeom prst="rect">
            <a:avLst/>
          </a:prstGeom>
          <a:noFill/>
          <a:ln/>
        </p:spPr>
        <p:txBody>
          <a:bodyPr wrap="square" lIns="0" tIns="0" rIns="0" bIns="0" rtlCol="0" anchor="ctr"/>
          <a:lstStyle/>
          <a:p>
            <a:pPr indent="0" marL="0">
              <a:buNone/>
            </a:pPr>
            <a:r>
              <a:rPr lang="en-US" sz="1100" b="1" spc="200" kern="0" dirty="0">
                <a:solidFill>
                  <a:srgbClr val="00B3E2"/>
                </a:solidFill>
                <a:latin typeface="Calibri" pitchFamily="34" charset="0"/>
                <a:ea typeface="Calibri" pitchFamily="34" charset="-122"/>
                <a:cs typeface="Calibri" pitchFamily="34" charset="-120"/>
              </a:rPr>
              <a:t>RESILIENCE</a:t>
            </a:r>
            <a:endParaRPr lang="en-US" sz="1100" dirty="0"/>
          </a:p>
        </p:txBody>
      </p:sp>
      <p:sp>
        <p:nvSpPr>
          <p:cNvPr id="3" name="Text 1"/>
          <p:cNvSpPr/>
          <p:nvPr/>
        </p:nvSpPr>
        <p:spPr>
          <a:xfrm>
            <a:off x="640080" y="658368"/>
            <a:ext cx="10911535" cy="566928"/>
          </a:xfrm>
          <a:prstGeom prst="rect">
            <a:avLst/>
          </a:prstGeom>
          <a:noFill/>
          <a:ln/>
        </p:spPr>
        <p:txBody>
          <a:bodyPr wrap="square" lIns="0" tIns="0" rIns="0" bIns="0" rtlCol="0" anchor="ctr"/>
          <a:lstStyle/>
          <a:p>
            <a:pPr indent="0" marL="0">
              <a:buNone/>
            </a:pPr>
            <a:r>
              <a:rPr lang="en-US" sz="3400" b="1" dirty="0">
                <a:solidFill>
                  <a:srgbClr val="3E3E4B"/>
                </a:solidFill>
                <a:latin typeface="Calibri" pitchFamily="34" charset="0"/>
                <a:ea typeface="Calibri" pitchFamily="34" charset="-122"/>
                <a:cs typeface="Calibri" pitchFamily="34" charset="-120"/>
              </a:rPr>
              <a:t>What happens when one host dies</a:t>
            </a:r>
            <a:endParaRPr lang="en-US" sz="3400" dirty="0"/>
          </a:p>
        </p:txBody>
      </p:sp>
      <p:sp>
        <p:nvSpPr>
          <p:cNvPr id="4" name="Shape 2"/>
          <p:cNvSpPr/>
          <p:nvPr/>
        </p:nvSpPr>
        <p:spPr>
          <a:xfrm>
            <a:off x="640080" y="1691640"/>
            <a:ext cx="2542032" cy="2331720"/>
          </a:xfrm>
          <a:prstGeom prst="roundRect">
            <a:avLst>
              <a:gd name="adj" fmla="val 2745"/>
            </a:avLst>
          </a:prstGeom>
          <a:solidFill>
            <a:srgbClr val="F4F7F8"/>
          </a:solidFill>
          <a:ln w="9525">
            <a:solidFill>
              <a:srgbClr val="DDE2E2"/>
            </a:solidFill>
            <a:prstDash val="solid"/>
          </a:ln>
        </p:spPr>
      </p:sp>
      <p:sp>
        <p:nvSpPr>
          <p:cNvPr id="5" name="Shape 3"/>
          <p:cNvSpPr/>
          <p:nvPr/>
        </p:nvSpPr>
        <p:spPr>
          <a:xfrm>
            <a:off x="896112" y="1892808"/>
            <a:ext cx="384048" cy="384048"/>
          </a:xfrm>
          <a:prstGeom prst="ellipse">
            <a:avLst/>
          </a:prstGeom>
          <a:solidFill>
            <a:srgbClr val="00B3E2"/>
          </a:solidFill>
          <a:ln w="12700">
            <a:solidFill>
              <a:srgbClr val="00B3E2"/>
            </a:solidFill>
            <a:prstDash val="solid"/>
          </a:ln>
        </p:spPr>
      </p:sp>
      <p:sp>
        <p:nvSpPr>
          <p:cNvPr id="6" name="Text 4"/>
          <p:cNvSpPr/>
          <p:nvPr/>
        </p:nvSpPr>
        <p:spPr>
          <a:xfrm>
            <a:off x="896112" y="189280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896112" y="2377440"/>
            <a:ext cx="2029968" cy="384048"/>
          </a:xfrm>
          <a:prstGeom prst="rect">
            <a:avLst/>
          </a:prstGeom>
          <a:noFill/>
          <a:ln/>
        </p:spPr>
        <p:txBody>
          <a:bodyPr wrap="square" lIns="0" tIns="0" rIns="0" bIns="0" rtlCol="0" anchor="ctr"/>
          <a:lstStyle/>
          <a:p>
            <a:pPr indent="0" marL="0">
              <a:buNone/>
            </a:pPr>
            <a:r>
              <a:rPr lang="en-US" sz="1600" b="1" dirty="0">
                <a:solidFill>
                  <a:srgbClr val="3E3E4B"/>
                </a:solidFill>
                <a:latin typeface="Calibri" pitchFamily="34" charset="0"/>
                <a:ea typeface="Calibri" pitchFamily="34" charset="-122"/>
                <a:cs typeface="Calibri" pitchFamily="34" charset="-120"/>
              </a:rPr>
              <a:t>Detection</a:t>
            </a:r>
            <a:endParaRPr lang="en-US" sz="1600" dirty="0"/>
          </a:p>
        </p:txBody>
      </p:sp>
      <p:sp>
        <p:nvSpPr>
          <p:cNvPr id="8" name="Text 6"/>
          <p:cNvSpPr/>
          <p:nvPr/>
        </p:nvSpPr>
        <p:spPr>
          <a:xfrm>
            <a:off x="896112" y="2788920"/>
            <a:ext cx="2029968" cy="1143000"/>
          </a:xfrm>
          <a:prstGeom prst="rect">
            <a:avLst/>
          </a:prstGeom>
          <a:noFill/>
          <a:ln/>
        </p:spPr>
        <p:txBody>
          <a:bodyPr wrap="square" lIns="0" tIns="0" rIns="0" bIns="0" rtlCol="0" anchor="ctr"/>
          <a:lstStyle/>
          <a:p>
            <a:pPr indent="0" marL="0">
              <a:buNone/>
            </a:pPr>
            <a:r>
              <a:rPr lang="en-US" sz="1250" dirty="0">
                <a:solidFill>
                  <a:srgbClr val="55555F"/>
                </a:solidFill>
                <a:latin typeface="Calibri" pitchFamily="34" charset="0"/>
                <a:ea typeface="Calibri" pitchFamily="34" charset="-122"/>
                <a:cs typeface="Calibri" pitchFamily="34" charset="-120"/>
              </a:rPr>
              <a:t>vSphere HA continuously monitors host heartbeats. A catastrophic failure is detected when the host stops responding.</a:t>
            </a:r>
            <a:endParaRPr lang="en-US" sz="1250" dirty="0"/>
          </a:p>
        </p:txBody>
      </p:sp>
      <p:sp>
        <p:nvSpPr>
          <p:cNvPr id="9" name="Shape 7"/>
          <p:cNvSpPr/>
          <p:nvPr/>
        </p:nvSpPr>
        <p:spPr>
          <a:xfrm>
            <a:off x="3429000" y="1691640"/>
            <a:ext cx="2542032" cy="2331720"/>
          </a:xfrm>
          <a:prstGeom prst="roundRect">
            <a:avLst>
              <a:gd name="adj" fmla="val 2745"/>
            </a:avLst>
          </a:prstGeom>
          <a:solidFill>
            <a:srgbClr val="F4F7F8"/>
          </a:solidFill>
          <a:ln w="9525">
            <a:solidFill>
              <a:srgbClr val="DDE2E2"/>
            </a:solidFill>
            <a:prstDash val="solid"/>
          </a:ln>
        </p:spPr>
      </p:sp>
      <p:sp>
        <p:nvSpPr>
          <p:cNvPr id="10" name="Shape 8"/>
          <p:cNvSpPr/>
          <p:nvPr/>
        </p:nvSpPr>
        <p:spPr>
          <a:xfrm>
            <a:off x="3685032" y="1892808"/>
            <a:ext cx="384048" cy="384048"/>
          </a:xfrm>
          <a:prstGeom prst="ellipse">
            <a:avLst/>
          </a:prstGeom>
          <a:solidFill>
            <a:srgbClr val="00B3E2"/>
          </a:solidFill>
          <a:ln w="12700">
            <a:solidFill>
              <a:srgbClr val="00B3E2"/>
            </a:solidFill>
            <a:prstDash val="solid"/>
          </a:ln>
        </p:spPr>
      </p:sp>
      <p:sp>
        <p:nvSpPr>
          <p:cNvPr id="11" name="Text 9"/>
          <p:cNvSpPr/>
          <p:nvPr/>
        </p:nvSpPr>
        <p:spPr>
          <a:xfrm>
            <a:off x="3685032" y="189280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3685032" y="2377440"/>
            <a:ext cx="2029968" cy="384048"/>
          </a:xfrm>
          <a:prstGeom prst="rect">
            <a:avLst/>
          </a:prstGeom>
          <a:noFill/>
          <a:ln/>
        </p:spPr>
        <p:txBody>
          <a:bodyPr wrap="square" lIns="0" tIns="0" rIns="0" bIns="0" rtlCol="0" anchor="ctr"/>
          <a:lstStyle/>
          <a:p>
            <a:pPr indent="0" marL="0">
              <a:buNone/>
            </a:pPr>
            <a:r>
              <a:rPr lang="en-US" sz="1600" b="1" dirty="0">
                <a:solidFill>
                  <a:srgbClr val="3E3E4B"/>
                </a:solidFill>
                <a:latin typeface="Calibri" pitchFamily="34" charset="0"/>
                <a:ea typeface="Calibri" pitchFamily="34" charset="-122"/>
                <a:cs typeface="Calibri" pitchFamily="34" charset="-120"/>
              </a:rPr>
              <a:t>Restart</a:t>
            </a:r>
            <a:endParaRPr lang="en-US" sz="1600" dirty="0"/>
          </a:p>
        </p:txBody>
      </p:sp>
      <p:sp>
        <p:nvSpPr>
          <p:cNvPr id="13" name="Text 11"/>
          <p:cNvSpPr/>
          <p:nvPr/>
        </p:nvSpPr>
        <p:spPr>
          <a:xfrm>
            <a:off x="3685032" y="2788920"/>
            <a:ext cx="2029968" cy="1143000"/>
          </a:xfrm>
          <a:prstGeom prst="rect">
            <a:avLst/>
          </a:prstGeom>
          <a:noFill/>
          <a:ln/>
        </p:spPr>
        <p:txBody>
          <a:bodyPr wrap="square" lIns="0" tIns="0" rIns="0" bIns="0" rtlCol="0" anchor="ctr"/>
          <a:lstStyle/>
          <a:p>
            <a:pPr indent="0" marL="0">
              <a:buNone/>
            </a:pPr>
            <a:r>
              <a:rPr lang="en-US" sz="1250" dirty="0">
                <a:solidFill>
                  <a:srgbClr val="55555F"/>
                </a:solidFill>
                <a:latin typeface="Calibri" pitchFamily="34" charset="0"/>
                <a:ea typeface="Calibri" pitchFamily="34" charset="-122"/>
                <a:cs typeface="Calibri" pitchFamily="34" charset="-120"/>
              </a:rPr>
              <a:t>vSphere HA restarts the affected VMs on surviving hosts. They are rebooted, not continued in place.</a:t>
            </a:r>
            <a:endParaRPr lang="en-US" sz="1250" dirty="0"/>
          </a:p>
        </p:txBody>
      </p:sp>
      <p:sp>
        <p:nvSpPr>
          <p:cNvPr id="14" name="Shape 12"/>
          <p:cNvSpPr/>
          <p:nvPr/>
        </p:nvSpPr>
        <p:spPr>
          <a:xfrm>
            <a:off x="6217920" y="1691640"/>
            <a:ext cx="2542032" cy="2331720"/>
          </a:xfrm>
          <a:prstGeom prst="roundRect">
            <a:avLst>
              <a:gd name="adj" fmla="val 2745"/>
            </a:avLst>
          </a:prstGeom>
          <a:solidFill>
            <a:srgbClr val="F4F7F8"/>
          </a:solidFill>
          <a:ln w="9525">
            <a:solidFill>
              <a:srgbClr val="DDE2E2"/>
            </a:solidFill>
            <a:prstDash val="solid"/>
          </a:ln>
        </p:spPr>
      </p:sp>
      <p:sp>
        <p:nvSpPr>
          <p:cNvPr id="15" name="Shape 13"/>
          <p:cNvSpPr/>
          <p:nvPr/>
        </p:nvSpPr>
        <p:spPr>
          <a:xfrm>
            <a:off x="6473952" y="1892808"/>
            <a:ext cx="384048" cy="384048"/>
          </a:xfrm>
          <a:prstGeom prst="ellipse">
            <a:avLst/>
          </a:prstGeom>
          <a:solidFill>
            <a:srgbClr val="00B3E2"/>
          </a:solidFill>
          <a:ln w="12700">
            <a:solidFill>
              <a:srgbClr val="00B3E2"/>
            </a:solidFill>
            <a:prstDash val="solid"/>
          </a:ln>
        </p:spPr>
      </p:sp>
      <p:sp>
        <p:nvSpPr>
          <p:cNvPr id="16" name="Text 14"/>
          <p:cNvSpPr/>
          <p:nvPr/>
        </p:nvSpPr>
        <p:spPr>
          <a:xfrm>
            <a:off x="6473952" y="189280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6473952" y="2377440"/>
            <a:ext cx="2029968" cy="384048"/>
          </a:xfrm>
          <a:prstGeom prst="rect">
            <a:avLst/>
          </a:prstGeom>
          <a:noFill/>
          <a:ln/>
        </p:spPr>
        <p:txBody>
          <a:bodyPr wrap="square" lIns="0" tIns="0" rIns="0" bIns="0" rtlCol="0" anchor="ctr"/>
          <a:lstStyle/>
          <a:p>
            <a:pPr indent="0" marL="0">
              <a:buNone/>
            </a:pPr>
            <a:r>
              <a:rPr lang="en-US" sz="1600" b="1" dirty="0">
                <a:solidFill>
                  <a:srgbClr val="3E3E4B"/>
                </a:solidFill>
                <a:latin typeface="Calibri" pitchFamily="34" charset="0"/>
                <a:ea typeface="Calibri" pitchFamily="34" charset="-122"/>
                <a:cs typeface="Calibri" pitchFamily="34" charset="-120"/>
              </a:rPr>
              <a:t>Data availability</a:t>
            </a:r>
            <a:endParaRPr lang="en-US" sz="1600" dirty="0"/>
          </a:p>
        </p:txBody>
      </p:sp>
      <p:sp>
        <p:nvSpPr>
          <p:cNvPr id="18" name="Text 16"/>
          <p:cNvSpPr/>
          <p:nvPr/>
        </p:nvSpPr>
        <p:spPr>
          <a:xfrm>
            <a:off x="6473952" y="2788920"/>
            <a:ext cx="2029968" cy="1143000"/>
          </a:xfrm>
          <a:prstGeom prst="rect">
            <a:avLst/>
          </a:prstGeom>
          <a:noFill/>
          <a:ln/>
        </p:spPr>
        <p:txBody>
          <a:bodyPr wrap="square" lIns="0" tIns="0" rIns="0" bIns="0" rtlCol="0" anchor="ctr"/>
          <a:lstStyle/>
          <a:p>
            <a:pPr indent="0" marL="0">
              <a:buNone/>
            </a:pPr>
            <a:r>
              <a:rPr lang="en-US" sz="1250" dirty="0">
                <a:solidFill>
                  <a:srgbClr val="55555F"/>
                </a:solidFill>
                <a:latin typeface="Calibri" pitchFamily="34" charset="0"/>
                <a:ea typeface="Calibri" pitchFamily="34" charset="-122"/>
                <a:cs typeface="Calibri" pitchFamily="34" charset="-120"/>
              </a:rPr>
              <a:t>vSAN has synchronously copied writes to another host per storage policy, so a current copy already exists elsewhere.</a:t>
            </a:r>
            <a:endParaRPr lang="en-US" sz="1250" dirty="0"/>
          </a:p>
        </p:txBody>
      </p:sp>
      <p:sp>
        <p:nvSpPr>
          <p:cNvPr id="19" name="Shape 17"/>
          <p:cNvSpPr/>
          <p:nvPr/>
        </p:nvSpPr>
        <p:spPr>
          <a:xfrm>
            <a:off x="9006840" y="1691640"/>
            <a:ext cx="2542032" cy="2331720"/>
          </a:xfrm>
          <a:prstGeom prst="roundRect">
            <a:avLst>
              <a:gd name="adj" fmla="val 2745"/>
            </a:avLst>
          </a:prstGeom>
          <a:solidFill>
            <a:srgbClr val="F4F7F8"/>
          </a:solidFill>
          <a:ln w="9525">
            <a:solidFill>
              <a:srgbClr val="DDE2E2"/>
            </a:solidFill>
            <a:prstDash val="solid"/>
          </a:ln>
        </p:spPr>
      </p:sp>
      <p:sp>
        <p:nvSpPr>
          <p:cNvPr id="20" name="Shape 18"/>
          <p:cNvSpPr/>
          <p:nvPr/>
        </p:nvSpPr>
        <p:spPr>
          <a:xfrm>
            <a:off x="9262872" y="1892808"/>
            <a:ext cx="384048" cy="384048"/>
          </a:xfrm>
          <a:prstGeom prst="ellipse">
            <a:avLst/>
          </a:prstGeom>
          <a:solidFill>
            <a:srgbClr val="00B3E2"/>
          </a:solidFill>
          <a:ln w="12700">
            <a:solidFill>
              <a:srgbClr val="00B3E2"/>
            </a:solidFill>
            <a:prstDash val="solid"/>
          </a:ln>
        </p:spPr>
      </p:sp>
      <p:sp>
        <p:nvSpPr>
          <p:cNvPr id="21" name="Text 19"/>
          <p:cNvSpPr/>
          <p:nvPr/>
        </p:nvSpPr>
        <p:spPr>
          <a:xfrm>
            <a:off x="9262872" y="189280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2" name="Text 20"/>
          <p:cNvSpPr/>
          <p:nvPr/>
        </p:nvSpPr>
        <p:spPr>
          <a:xfrm>
            <a:off x="9262872" y="2377440"/>
            <a:ext cx="2029968" cy="384048"/>
          </a:xfrm>
          <a:prstGeom prst="rect">
            <a:avLst/>
          </a:prstGeom>
          <a:noFill/>
          <a:ln/>
        </p:spPr>
        <p:txBody>
          <a:bodyPr wrap="square" lIns="0" tIns="0" rIns="0" bIns="0" rtlCol="0" anchor="ctr"/>
          <a:lstStyle/>
          <a:p>
            <a:pPr indent="0" marL="0">
              <a:buNone/>
            </a:pPr>
            <a:r>
              <a:rPr lang="en-US" sz="1600" b="1" dirty="0">
                <a:solidFill>
                  <a:srgbClr val="3E3E4B"/>
                </a:solidFill>
                <a:latin typeface="Calibri" pitchFamily="34" charset="0"/>
                <a:ea typeface="Calibri" pitchFamily="34" charset="-122"/>
                <a:cs typeface="Calibri" pitchFamily="34" charset="-120"/>
              </a:rPr>
              <a:t>Redirection</a:t>
            </a:r>
            <a:endParaRPr lang="en-US" sz="1600" dirty="0"/>
          </a:p>
        </p:txBody>
      </p:sp>
      <p:sp>
        <p:nvSpPr>
          <p:cNvPr id="23" name="Text 21"/>
          <p:cNvSpPr/>
          <p:nvPr/>
        </p:nvSpPr>
        <p:spPr>
          <a:xfrm>
            <a:off x="9262872" y="2788920"/>
            <a:ext cx="2029968" cy="1143000"/>
          </a:xfrm>
          <a:prstGeom prst="rect">
            <a:avLst/>
          </a:prstGeom>
          <a:noFill/>
          <a:ln/>
        </p:spPr>
        <p:txBody>
          <a:bodyPr wrap="square" lIns="0" tIns="0" rIns="0" bIns="0" rtlCol="0" anchor="ctr"/>
          <a:lstStyle/>
          <a:p>
            <a:pPr indent="0" marL="0">
              <a:buNone/>
            </a:pPr>
            <a:r>
              <a:rPr lang="en-US" sz="1250" dirty="0">
                <a:solidFill>
                  <a:srgbClr val="55555F"/>
                </a:solidFill>
                <a:latin typeface="Calibri" pitchFamily="34" charset="0"/>
                <a:ea typeface="Calibri" pitchFamily="34" charset="-122"/>
                <a:cs typeface="Calibri" pitchFamily="34" charset="-120"/>
              </a:rPr>
              <a:t>Storage pointers are redirected to the surviving components and the VM comes back up against its own data.</a:t>
            </a:r>
            <a:endParaRPr lang="en-US" sz="1250" dirty="0"/>
          </a:p>
        </p:txBody>
      </p:sp>
      <p:sp>
        <p:nvSpPr>
          <p:cNvPr id="24" name="Shape 22"/>
          <p:cNvSpPr/>
          <p:nvPr/>
        </p:nvSpPr>
        <p:spPr>
          <a:xfrm>
            <a:off x="640080" y="4297680"/>
            <a:ext cx="5257800" cy="1554480"/>
          </a:xfrm>
          <a:prstGeom prst="roundRect">
            <a:avLst>
              <a:gd name="adj" fmla="val 4118"/>
            </a:avLst>
          </a:prstGeom>
          <a:solidFill>
            <a:srgbClr val="FDF0EB"/>
          </a:solidFill>
          <a:ln w="9525">
            <a:solidFill>
              <a:srgbClr val="F6C9B4"/>
            </a:solidFill>
            <a:prstDash val="solid"/>
          </a:ln>
        </p:spPr>
      </p:sp>
      <p:sp>
        <p:nvSpPr>
          <p:cNvPr id="25" name="Text 23"/>
          <p:cNvSpPr/>
          <p:nvPr/>
        </p:nvSpPr>
        <p:spPr>
          <a:xfrm>
            <a:off x="960120" y="4480560"/>
            <a:ext cx="4617720" cy="292608"/>
          </a:xfrm>
          <a:prstGeom prst="rect">
            <a:avLst/>
          </a:prstGeom>
          <a:noFill/>
          <a:ln/>
        </p:spPr>
        <p:txBody>
          <a:bodyPr wrap="square" lIns="0" tIns="0" rIns="0" bIns="0" rtlCol="0" anchor="ctr"/>
          <a:lstStyle/>
          <a:p>
            <a:pPr indent="0" marL="0">
              <a:buNone/>
            </a:pPr>
            <a:r>
              <a:rPr lang="en-US" sz="1500" b="1" dirty="0">
                <a:solidFill>
                  <a:srgbClr val="F15D23"/>
                </a:solidFill>
                <a:latin typeface="Calibri" pitchFamily="34" charset="0"/>
                <a:ea typeface="Calibri" pitchFamily="34" charset="-122"/>
                <a:cs typeface="Calibri" pitchFamily="34" charset="-120"/>
              </a:rPr>
              <a:t>What this does not protect</a:t>
            </a:r>
            <a:endParaRPr lang="en-US" sz="1500" dirty="0"/>
          </a:p>
        </p:txBody>
      </p:sp>
      <p:sp>
        <p:nvSpPr>
          <p:cNvPr id="26" name="Text 24"/>
          <p:cNvSpPr/>
          <p:nvPr/>
        </p:nvSpPr>
        <p:spPr>
          <a:xfrm>
            <a:off x="960120" y="4800600"/>
            <a:ext cx="4617720" cy="868680"/>
          </a:xfrm>
          <a:prstGeom prst="rect">
            <a:avLst/>
          </a:prstGeom>
          <a:noFill/>
          <a:ln/>
        </p:spPr>
        <p:txBody>
          <a:bodyPr wrap="square" lIns="0" tIns="0" rIns="0" bIns="0" rtlCol="0" anchor="ctr"/>
          <a:lstStyle/>
          <a:p>
            <a:pPr indent="0" marL="0">
              <a:buNone/>
            </a:pPr>
            <a:r>
              <a:rPr lang="en-US" sz="1350" dirty="0">
                <a:solidFill>
                  <a:srgbClr val="55555F"/>
                </a:solidFill>
                <a:latin typeface="Calibri" pitchFamily="34" charset="0"/>
                <a:ea typeface="Calibri" pitchFamily="34" charset="-122"/>
                <a:cs typeface="Calibri" pitchFamily="34" charset="-120"/>
              </a:rPr>
              <a:t>vSphere HA reduces infrastructure recovery time. It does not preserve active TCP sessions. Applications still have to handle the reboot and reconnect on their own.</a:t>
            </a:r>
            <a:endParaRPr lang="en-US" sz="1350" dirty="0"/>
          </a:p>
        </p:txBody>
      </p:sp>
      <p:sp>
        <p:nvSpPr>
          <p:cNvPr id="27" name="Shape 25"/>
          <p:cNvSpPr/>
          <p:nvPr/>
        </p:nvSpPr>
        <p:spPr>
          <a:xfrm>
            <a:off x="6519672" y="4297680"/>
            <a:ext cx="5029200" cy="1554480"/>
          </a:xfrm>
          <a:prstGeom prst="roundRect">
            <a:avLst>
              <a:gd name="adj" fmla="val 4118"/>
            </a:avLst>
          </a:prstGeom>
          <a:solidFill>
            <a:srgbClr val="E5F7FC"/>
          </a:solidFill>
          <a:ln w="9525">
            <a:solidFill>
              <a:srgbClr val="B2E8F6"/>
            </a:solidFill>
            <a:prstDash val="solid"/>
          </a:ln>
        </p:spPr>
      </p:sp>
      <p:sp>
        <p:nvSpPr>
          <p:cNvPr id="28" name="Text 26"/>
          <p:cNvSpPr/>
          <p:nvPr/>
        </p:nvSpPr>
        <p:spPr>
          <a:xfrm>
            <a:off x="6839712" y="4480560"/>
            <a:ext cx="4389120" cy="292608"/>
          </a:xfrm>
          <a:prstGeom prst="rect">
            <a:avLst/>
          </a:prstGeom>
          <a:noFill/>
          <a:ln/>
        </p:spPr>
        <p:txBody>
          <a:bodyPr wrap="square" lIns="0" tIns="0" rIns="0" bIns="0" rtlCol="0" anchor="ctr"/>
          <a:lstStyle/>
          <a:p>
            <a:pPr indent="0" marL="0">
              <a:buNone/>
            </a:pPr>
            <a:r>
              <a:rPr lang="en-US" sz="1500" b="1" dirty="0">
                <a:solidFill>
                  <a:srgbClr val="3E3E4B"/>
                </a:solidFill>
                <a:latin typeface="Calibri" pitchFamily="34" charset="0"/>
                <a:ea typeface="Calibri" pitchFamily="34" charset="-122"/>
                <a:cs typeface="Calibri" pitchFamily="34" charset="-120"/>
              </a:rPr>
              <a:t>vSAN in one sentence</a:t>
            </a:r>
            <a:endParaRPr lang="en-US" sz="1500" dirty="0"/>
          </a:p>
        </p:txBody>
      </p:sp>
      <p:sp>
        <p:nvSpPr>
          <p:cNvPr id="29" name="Text 27"/>
          <p:cNvSpPr/>
          <p:nvPr/>
        </p:nvSpPr>
        <p:spPr>
          <a:xfrm>
            <a:off x="6839712" y="4800600"/>
            <a:ext cx="4389120" cy="868680"/>
          </a:xfrm>
          <a:prstGeom prst="rect">
            <a:avLst/>
          </a:prstGeom>
          <a:noFill/>
          <a:ln/>
        </p:spPr>
        <p:txBody>
          <a:bodyPr wrap="square" lIns="0" tIns="0" rIns="0" bIns="0" rtlCol="0" anchor="ctr"/>
          <a:lstStyle/>
          <a:p>
            <a:pPr indent="0" marL="0">
              <a:buNone/>
            </a:pPr>
            <a:r>
              <a:rPr lang="en-US" sz="1350" dirty="0">
                <a:solidFill>
                  <a:srgbClr val="1A5F7A"/>
                </a:solidFill>
                <a:latin typeface="Calibri" pitchFamily="34" charset="0"/>
                <a:ea typeface="Calibri" pitchFamily="34" charset="-122"/>
                <a:cs typeface="Calibri" pitchFamily="34" charset="-120"/>
              </a:rPr>
              <a:t>It aggregates local NVMe storage across the cluster and synchronously copies writes to another host, which is what makes a restart elsewhere possible at all.</a:t>
            </a:r>
            <a:endParaRPr lang="en-US" sz="13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37744"/>
          </a:xfrm>
          <a:prstGeom prst="rect">
            <a:avLst/>
          </a:prstGeom>
          <a:noFill/>
          <a:ln/>
        </p:spPr>
        <p:txBody>
          <a:bodyPr wrap="square" lIns="0" tIns="0" rIns="0" bIns="0" rtlCol="0" anchor="ctr"/>
          <a:lstStyle/>
          <a:p>
            <a:pPr indent="0" marL="0">
              <a:buNone/>
            </a:pPr>
            <a:r>
              <a:rPr lang="en-US" sz="1100" b="1" spc="200" kern="0" dirty="0">
                <a:solidFill>
                  <a:srgbClr val="00B3E2"/>
                </a:solidFill>
                <a:latin typeface="Calibri" pitchFamily="34" charset="0"/>
                <a:ea typeface="Calibri" pitchFamily="34" charset="-122"/>
                <a:cs typeface="Calibri" pitchFamily="34" charset="-120"/>
              </a:rPr>
              <a:t>AVAILABILITY ZONES</a:t>
            </a:r>
            <a:endParaRPr lang="en-US" sz="1100" dirty="0"/>
          </a:p>
        </p:txBody>
      </p:sp>
      <p:sp>
        <p:nvSpPr>
          <p:cNvPr id="3" name="Text 1"/>
          <p:cNvSpPr/>
          <p:nvPr/>
        </p:nvSpPr>
        <p:spPr>
          <a:xfrm>
            <a:off x="640080" y="658368"/>
            <a:ext cx="10911535" cy="566928"/>
          </a:xfrm>
          <a:prstGeom prst="rect">
            <a:avLst/>
          </a:prstGeom>
          <a:noFill/>
          <a:ln/>
        </p:spPr>
        <p:txBody>
          <a:bodyPr wrap="square" lIns="0" tIns="0" rIns="0" bIns="0" rtlCol="0" anchor="ctr"/>
          <a:lstStyle/>
          <a:p>
            <a:pPr indent="0" marL="0">
              <a:buNone/>
            </a:pPr>
            <a:r>
              <a:rPr lang="en-US" sz="3400" b="1" dirty="0">
                <a:solidFill>
                  <a:srgbClr val="3E3E4B"/>
                </a:solidFill>
                <a:latin typeface="Calibri" pitchFamily="34" charset="0"/>
                <a:ea typeface="Calibri" pitchFamily="34" charset="-122"/>
                <a:cs typeface="Calibri" pitchFamily="34" charset="-120"/>
              </a:rPr>
              <a:t>Stretched clusters across two zones</a:t>
            </a:r>
            <a:endParaRPr lang="en-US" sz="3400" dirty="0"/>
          </a:p>
        </p:txBody>
      </p:sp>
      <p:sp>
        <p:nvSpPr>
          <p:cNvPr id="4" name="Text 2"/>
          <p:cNvSpPr/>
          <p:nvPr/>
        </p:nvSpPr>
        <p:spPr>
          <a:xfrm>
            <a:off x="640080" y="1371600"/>
            <a:ext cx="10972800" cy="457200"/>
          </a:xfrm>
          <a:prstGeom prst="rect">
            <a:avLst/>
          </a:prstGeom>
          <a:noFill/>
          <a:ln/>
        </p:spPr>
        <p:txBody>
          <a:bodyPr wrap="square" lIns="0" tIns="0" rIns="0" bIns="0" rtlCol="0" anchor="ctr"/>
          <a:lstStyle/>
          <a:p>
            <a:pPr indent="0" marL="0">
              <a:buNone/>
            </a:pPr>
            <a:r>
              <a:rPr lang="en-US" sz="1500" dirty="0">
                <a:solidFill>
                  <a:srgbClr val="55555F"/>
                </a:solidFill>
                <a:latin typeface="Calibri" pitchFamily="34" charset="0"/>
                <a:ea typeface="Calibri" pitchFamily="34" charset="-122"/>
                <a:cs typeface="Calibri" pitchFamily="34" charset="-120"/>
              </a:rPr>
              <a:t>A stretched cluster distributes a single vSphere and vSAN cluster across two Azure availability zones, with a minimum of six hosts: three in each zone.</a:t>
            </a:r>
            <a:endParaRPr lang="en-US" sz="1500" dirty="0"/>
          </a:p>
        </p:txBody>
      </p:sp>
      <p:sp>
        <p:nvSpPr>
          <p:cNvPr id="5" name="Shape 3"/>
          <p:cNvSpPr/>
          <p:nvPr/>
        </p:nvSpPr>
        <p:spPr>
          <a:xfrm>
            <a:off x="640080" y="2011680"/>
            <a:ext cx="3657600" cy="1371600"/>
          </a:xfrm>
          <a:prstGeom prst="roundRect">
            <a:avLst>
              <a:gd name="adj" fmla="val 4667"/>
            </a:avLst>
          </a:prstGeom>
          <a:solidFill>
            <a:srgbClr val="3E3E4B"/>
          </a:solidFill>
          <a:ln w="9525">
            <a:solidFill>
              <a:srgbClr val="3E3E4B"/>
            </a:solidFill>
            <a:prstDash val="solid"/>
          </a:ln>
        </p:spPr>
      </p:sp>
      <p:sp>
        <p:nvSpPr>
          <p:cNvPr id="6" name="Text 4"/>
          <p:cNvSpPr/>
          <p:nvPr/>
        </p:nvSpPr>
        <p:spPr>
          <a:xfrm>
            <a:off x="960120" y="2240280"/>
            <a:ext cx="3017520" cy="365760"/>
          </a:xfrm>
          <a:prstGeom prst="rect">
            <a:avLst/>
          </a:prstGeom>
          <a:noFill/>
          <a:ln/>
        </p:spPr>
        <p:txBody>
          <a:bodyPr wrap="square" lIns="0" tIns="0" rIns="0" bIns="0" rtlCol="0" anchor="ctr"/>
          <a:lstStyle/>
          <a:p>
            <a:pPr indent="0" marL="0">
              <a:buNone/>
            </a:pPr>
            <a:r>
              <a:rPr lang="en-US" sz="1800" b="1" dirty="0">
                <a:solidFill>
                  <a:srgbClr val="00B3E2"/>
                </a:solidFill>
                <a:latin typeface="Calibri" pitchFamily="34" charset="0"/>
                <a:ea typeface="Calibri" pitchFamily="34" charset="-122"/>
                <a:cs typeface="Calibri" pitchFamily="34" charset="-120"/>
              </a:rPr>
              <a:t>Availability Zone 1</a:t>
            </a:r>
            <a:endParaRPr lang="en-US" sz="1800" dirty="0"/>
          </a:p>
        </p:txBody>
      </p:sp>
      <p:sp>
        <p:nvSpPr>
          <p:cNvPr id="7" name="Text 5"/>
          <p:cNvSpPr/>
          <p:nvPr/>
        </p:nvSpPr>
        <p:spPr>
          <a:xfrm>
            <a:off x="960120" y="2651760"/>
            <a:ext cx="3017520" cy="365760"/>
          </a:xfrm>
          <a:prstGeom prst="rect">
            <a:avLst/>
          </a:prstGeom>
          <a:noFill/>
          <a:ln/>
        </p:spPr>
        <p:txBody>
          <a:bodyPr wrap="square" lIns="0" tIns="0" rIns="0" bIns="0" rtlCol="0" anchor="ctr"/>
          <a:lstStyle/>
          <a:p>
            <a:pPr indent="0" marL="0">
              <a:buNone/>
            </a:pPr>
            <a:r>
              <a:rPr lang="en-US" sz="1500" dirty="0">
                <a:solidFill>
                  <a:srgbClr val="C9CCD6"/>
                </a:solidFill>
                <a:latin typeface="Calibri" pitchFamily="34" charset="0"/>
                <a:ea typeface="Calibri" pitchFamily="34" charset="-122"/>
                <a:cs typeface="Calibri" pitchFamily="34" charset="-120"/>
              </a:rPr>
              <a:t>Three hosts</a:t>
            </a:r>
            <a:endParaRPr lang="en-US" sz="1500" dirty="0"/>
          </a:p>
        </p:txBody>
      </p:sp>
      <p:sp>
        <p:nvSpPr>
          <p:cNvPr id="8" name="Shape 6"/>
          <p:cNvSpPr/>
          <p:nvPr/>
        </p:nvSpPr>
        <p:spPr>
          <a:xfrm>
            <a:off x="4663440" y="2011680"/>
            <a:ext cx="3657600" cy="1371600"/>
          </a:xfrm>
          <a:prstGeom prst="roundRect">
            <a:avLst>
              <a:gd name="adj" fmla="val 4667"/>
            </a:avLst>
          </a:prstGeom>
          <a:solidFill>
            <a:srgbClr val="3E3E4B"/>
          </a:solidFill>
          <a:ln w="9525">
            <a:solidFill>
              <a:srgbClr val="3E3E4B"/>
            </a:solidFill>
            <a:prstDash val="solid"/>
          </a:ln>
        </p:spPr>
      </p:sp>
      <p:sp>
        <p:nvSpPr>
          <p:cNvPr id="9" name="Text 7"/>
          <p:cNvSpPr/>
          <p:nvPr/>
        </p:nvSpPr>
        <p:spPr>
          <a:xfrm>
            <a:off x="4983480" y="2240280"/>
            <a:ext cx="3017520" cy="365760"/>
          </a:xfrm>
          <a:prstGeom prst="rect">
            <a:avLst/>
          </a:prstGeom>
          <a:noFill/>
          <a:ln/>
        </p:spPr>
        <p:txBody>
          <a:bodyPr wrap="square" lIns="0" tIns="0" rIns="0" bIns="0" rtlCol="0" anchor="ctr"/>
          <a:lstStyle/>
          <a:p>
            <a:pPr indent="0" marL="0">
              <a:buNone/>
            </a:pPr>
            <a:r>
              <a:rPr lang="en-US" sz="1800" b="1" dirty="0">
                <a:solidFill>
                  <a:srgbClr val="2DCCD3"/>
                </a:solidFill>
                <a:latin typeface="Calibri" pitchFamily="34" charset="0"/>
                <a:ea typeface="Calibri" pitchFamily="34" charset="-122"/>
                <a:cs typeface="Calibri" pitchFamily="34" charset="-120"/>
              </a:rPr>
              <a:t>Availability Zone 2</a:t>
            </a:r>
            <a:endParaRPr lang="en-US" sz="1800" dirty="0"/>
          </a:p>
        </p:txBody>
      </p:sp>
      <p:sp>
        <p:nvSpPr>
          <p:cNvPr id="10" name="Text 8"/>
          <p:cNvSpPr/>
          <p:nvPr/>
        </p:nvSpPr>
        <p:spPr>
          <a:xfrm>
            <a:off x="4983480" y="2651760"/>
            <a:ext cx="3017520" cy="365760"/>
          </a:xfrm>
          <a:prstGeom prst="rect">
            <a:avLst/>
          </a:prstGeom>
          <a:noFill/>
          <a:ln/>
        </p:spPr>
        <p:txBody>
          <a:bodyPr wrap="square" lIns="0" tIns="0" rIns="0" bIns="0" rtlCol="0" anchor="ctr"/>
          <a:lstStyle/>
          <a:p>
            <a:pPr indent="0" marL="0">
              <a:buNone/>
            </a:pPr>
            <a:r>
              <a:rPr lang="en-US" sz="1500" dirty="0">
                <a:solidFill>
                  <a:srgbClr val="C9CCD6"/>
                </a:solidFill>
                <a:latin typeface="Calibri" pitchFamily="34" charset="0"/>
                <a:ea typeface="Calibri" pitchFamily="34" charset="-122"/>
                <a:cs typeface="Calibri" pitchFamily="34" charset="-120"/>
              </a:rPr>
              <a:t>Three hosts</a:t>
            </a:r>
            <a:endParaRPr lang="en-US" sz="1500" dirty="0"/>
          </a:p>
        </p:txBody>
      </p:sp>
      <p:sp>
        <p:nvSpPr>
          <p:cNvPr id="11" name="Shape 9"/>
          <p:cNvSpPr/>
          <p:nvPr/>
        </p:nvSpPr>
        <p:spPr>
          <a:xfrm>
            <a:off x="8686800" y="2011680"/>
            <a:ext cx="2862072" cy="1371600"/>
          </a:xfrm>
          <a:prstGeom prst="roundRect">
            <a:avLst>
              <a:gd name="adj" fmla="val 4667"/>
            </a:avLst>
          </a:prstGeom>
          <a:solidFill>
            <a:srgbClr val="E5F7FC"/>
          </a:solidFill>
          <a:ln w="9525">
            <a:solidFill>
              <a:srgbClr val="B2E8F6"/>
            </a:solidFill>
            <a:prstDash val="solid"/>
          </a:ln>
        </p:spPr>
      </p:sp>
      <p:sp>
        <p:nvSpPr>
          <p:cNvPr id="12" name="Text 10"/>
          <p:cNvSpPr/>
          <p:nvPr/>
        </p:nvSpPr>
        <p:spPr>
          <a:xfrm>
            <a:off x="8942832" y="2194560"/>
            <a:ext cx="2377440" cy="292608"/>
          </a:xfrm>
          <a:prstGeom prst="rect">
            <a:avLst/>
          </a:prstGeom>
          <a:noFill/>
          <a:ln/>
        </p:spPr>
        <p:txBody>
          <a:bodyPr wrap="square" lIns="0" tIns="0" rIns="0" bIns="0" rtlCol="0" anchor="ctr"/>
          <a:lstStyle/>
          <a:p>
            <a:pPr indent="0" marL="0">
              <a:buNone/>
            </a:pPr>
            <a:r>
              <a:rPr lang="en-US" sz="1400" b="1" dirty="0">
                <a:solidFill>
                  <a:srgbClr val="3E3E4B"/>
                </a:solidFill>
                <a:latin typeface="Calibri" pitchFamily="34" charset="0"/>
                <a:ea typeface="Calibri" pitchFamily="34" charset="-122"/>
                <a:cs typeface="Calibri" pitchFamily="34" charset="-120"/>
              </a:rPr>
              <a:t>Physically separate</a:t>
            </a:r>
            <a:endParaRPr lang="en-US" sz="1400" dirty="0"/>
          </a:p>
        </p:txBody>
      </p:sp>
      <p:sp>
        <p:nvSpPr>
          <p:cNvPr id="13" name="Text 11"/>
          <p:cNvSpPr/>
          <p:nvPr/>
        </p:nvSpPr>
        <p:spPr>
          <a:xfrm>
            <a:off x="8942832" y="2514600"/>
            <a:ext cx="2377440" cy="777240"/>
          </a:xfrm>
          <a:prstGeom prst="rect">
            <a:avLst/>
          </a:prstGeom>
          <a:noFill/>
          <a:ln/>
        </p:spPr>
        <p:txBody>
          <a:bodyPr wrap="square" lIns="0" tIns="0" rIns="0" bIns="0" rtlCol="0" anchor="ctr"/>
          <a:lstStyle/>
          <a:p>
            <a:pPr indent="0" marL="0">
              <a:buNone/>
            </a:pPr>
            <a:r>
              <a:rPr lang="en-US" sz="1200" dirty="0">
                <a:solidFill>
                  <a:srgbClr val="1A5F7A"/>
                </a:solidFill>
                <a:latin typeface="Calibri" pitchFamily="34" charset="0"/>
                <a:ea typeface="Calibri" pitchFamily="34" charset="-122"/>
                <a:cs typeface="Calibri" pitchFamily="34" charset="-120"/>
              </a:rPr>
              <a:t>Independent power, cooling, facilities, and network paths inside one Azure region.</a:t>
            </a:r>
            <a:endParaRPr lang="en-US" sz="1200" dirty="0"/>
          </a:p>
        </p:txBody>
      </p:sp>
      <p:sp>
        <p:nvSpPr>
          <p:cNvPr id="14" name="Shape 12"/>
          <p:cNvSpPr/>
          <p:nvPr/>
        </p:nvSpPr>
        <p:spPr>
          <a:xfrm>
            <a:off x="640080" y="3611880"/>
            <a:ext cx="5257800" cy="1783080"/>
          </a:xfrm>
          <a:prstGeom prst="roundRect">
            <a:avLst>
              <a:gd name="adj" fmla="val 3590"/>
            </a:avLst>
          </a:prstGeom>
          <a:solidFill>
            <a:srgbClr val="F4F7F8"/>
          </a:solidFill>
          <a:ln w="9525">
            <a:solidFill>
              <a:srgbClr val="DDE2E2"/>
            </a:solidFill>
            <a:prstDash val="solid"/>
          </a:ln>
        </p:spPr>
      </p:sp>
      <p:sp>
        <p:nvSpPr>
          <p:cNvPr id="15" name="Shape 13"/>
          <p:cNvSpPr/>
          <p:nvPr/>
        </p:nvSpPr>
        <p:spPr>
          <a:xfrm>
            <a:off x="932688" y="3822192"/>
            <a:ext cx="274320" cy="274320"/>
          </a:xfrm>
          <a:prstGeom prst="ellipse">
            <a:avLst/>
          </a:prstGeom>
          <a:solidFill>
            <a:srgbClr val="00AD93"/>
          </a:solidFill>
          <a:ln w="12700">
            <a:solidFill>
              <a:srgbClr val="00AD93"/>
            </a:solidFill>
            <a:prstDash val="solid"/>
          </a:ln>
        </p:spPr>
      </p:sp>
      <p:sp>
        <p:nvSpPr>
          <p:cNvPr id="16" name="Text 14"/>
          <p:cNvSpPr/>
          <p:nvPr/>
        </p:nvSpPr>
        <p:spPr>
          <a:xfrm>
            <a:off x="932688" y="4206240"/>
            <a:ext cx="4672584" cy="320040"/>
          </a:xfrm>
          <a:prstGeom prst="rect">
            <a:avLst/>
          </a:prstGeom>
          <a:noFill/>
          <a:ln/>
        </p:spPr>
        <p:txBody>
          <a:bodyPr wrap="square" lIns="0" tIns="0" rIns="0" bIns="0" rtlCol="0" anchor="ctr"/>
          <a:lstStyle/>
          <a:p>
            <a:pPr indent="0" marL="0">
              <a:buNone/>
            </a:pPr>
            <a:r>
              <a:rPr lang="en-US" sz="1600" b="1" dirty="0">
                <a:solidFill>
                  <a:srgbClr val="3E3E4B"/>
                </a:solidFill>
                <a:latin typeface="Calibri" pitchFamily="34" charset="0"/>
                <a:ea typeface="Calibri" pitchFamily="34" charset="-122"/>
                <a:cs typeface="Calibri" pitchFamily="34" charset="-120"/>
              </a:rPr>
              <a:t>Synchronous replication</a:t>
            </a:r>
            <a:endParaRPr lang="en-US" sz="1600" dirty="0"/>
          </a:p>
        </p:txBody>
      </p:sp>
      <p:sp>
        <p:nvSpPr>
          <p:cNvPr id="17" name="Text 15"/>
          <p:cNvSpPr/>
          <p:nvPr/>
        </p:nvSpPr>
        <p:spPr>
          <a:xfrm>
            <a:off x="932688" y="4553712"/>
            <a:ext cx="4672584" cy="777240"/>
          </a:xfrm>
          <a:prstGeom prst="rect">
            <a:avLst/>
          </a:prstGeom>
          <a:noFill/>
          <a:ln/>
        </p:spPr>
        <p:txBody>
          <a:bodyPr wrap="square" lIns="0" tIns="0" rIns="0" bIns="0" rtlCol="0" anchor="ctr"/>
          <a:lstStyle/>
          <a:p>
            <a:pPr indent="0" marL="0">
              <a:buNone/>
            </a:pPr>
            <a:r>
              <a:rPr lang="en-US" sz="1300" dirty="0">
                <a:solidFill>
                  <a:srgbClr val="55555F"/>
                </a:solidFill>
                <a:latin typeface="Calibri" pitchFamily="34" charset="0"/>
                <a:ea typeface="Calibri" pitchFamily="34" charset="-122"/>
                <a:cs typeface="Calibri" pitchFamily="34" charset="-120"/>
              </a:rPr>
              <a:t>vSAN replicates writes across zones. A write is not acknowledged until the required remote copy is committed, which is what makes zero data loss the design target for a zone failure.</a:t>
            </a:r>
            <a:endParaRPr lang="en-US" sz="1300" dirty="0"/>
          </a:p>
        </p:txBody>
      </p:sp>
      <p:sp>
        <p:nvSpPr>
          <p:cNvPr id="18" name="Shape 16"/>
          <p:cNvSpPr/>
          <p:nvPr/>
        </p:nvSpPr>
        <p:spPr>
          <a:xfrm>
            <a:off x="6291072" y="3611880"/>
            <a:ext cx="5257800" cy="1783080"/>
          </a:xfrm>
          <a:prstGeom prst="roundRect">
            <a:avLst>
              <a:gd name="adj" fmla="val 3590"/>
            </a:avLst>
          </a:prstGeom>
          <a:solidFill>
            <a:srgbClr val="F4F7F8"/>
          </a:solidFill>
          <a:ln w="9525">
            <a:solidFill>
              <a:srgbClr val="DDE2E2"/>
            </a:solidFill>
            <a:prstDash val="solid"/>
          </a:ln>
        </p:spPr>
      </p:sp>
      <p:sp>
        <p:nvSpPr>
          <p:cNvPr id="19" name="Shape 17"/>
          <p:cNvSpPr/>
          <p:nvPr/>
        </p:nvSpPr>
        <p:spPr>
          <a:xfrm>
            <a:off x="6583680" y="3822192"/>
            <a:ext cx="274320" cy="274320"/>
          </a:xfrm>
          <a:prstGeom prst="ellipse">
            <a:avLst/>
          </a:prstGeom>
          <a:solidFill>
            <a:srgbClr val="FAC458"/>
          </a:solidFill>
          <a:ln w="12700">
            <a:solidFill>
              <a:srgbClr val="FAC458"/>
            </a:solidFill>
            <a:prstDash val="solid"/>
          </a:ln>
        </p:spPr>
      </p:sp>
      <p:sp>
        <p:nvSpPr>
          <p:cNvPr id="20" name="Text 18"/>
          <p:cNvSpPr/>
          <p:nvPr/>
        </p:nvSpPr>
        <p:spPr>
          <a:xfrm>
            <a:off x="6583680" y="4206240"/>
            <a:ext cx="4672584" cy="320040"/>
          </a:xfrm>
          <a:prstGeom prst="rect">
            <a:avLst/>
          </a:prstGeom>
          <a:noFill/>
          <a:ln/>
        </p:spPr>
        <p:txBody>
          <a:bodyPr wrap="square" lIns="0" tIns="0" rIns="0" bIns="0" rtlCol="0" anchor="ctr"/>
          <a:lstStyle/>
          <a:p>
            <a:pPr indent="0" marL="0">
              <a:buNone/>
            </a:pPr>
            <a:r>
              <a:rPr lang="en-US" sz="1600" b="1" dirty="0">
                <a:solidFill>
                  <a:srgbClr val="3E3E4B"/>
                </a:solidFill>
                <a:latin typeface="Calibri" pitchFamily="34" charset="0"/>
                <a:ea typeface="Calibri" pitchFamily="34" charset="-122"/>
                <a:cs typeface="Calibri" pitchFamily="34" charset="-120"/>
              </a:rPr>
              <a:t>Active-active while healthy</a:t>
            </a:r>
            <a:endParaRPr lang="en-US" sz="1600" dirty="0"/>
          </a:p>
        </p:txBody>
      </p:sp>
      <p:sp>
        <p:nvSpPr>
          <p:cNvPr id="21" name="Text 19"/>
          <p:cNvSpPr/>
          <p:nvPr/>
        </p:nvSpPr>
        <p:spPr>
          <a:xfrm>
            <a:off x="6583680" y="4553712"/>
            <a:ext cx="4672584" cy="777240"/>
          </a:xfrm>
          <a:prstGeom prst="rect">
            <a:avLst/>
          </a:prstGeom>
          <a:noFill/>
          <a:ln/>
        </p:spPr>
        <p:txBody>
          <a:bodyPr wrap="square" lIns="0" tIns="0" rIns="0" bIns="0" rtlCol="0" anchor="ctr"/>
          <a:lstStyle/>
          <a:p>
            <a:pPr indent="0" marL="0">
              <a:buNone/>
            </a:pPr>
            <a:r>
              <a:rPr lang="en-US" sz="1300" dirty="0">
                <a:solidFill>
                  <a:srgbClr val="55555F"/>
                </a:solidFill>
                <a:latin typeface="Calibri" pitchFamily="34" charset="0"/>
                <a:ea typeface="Calibri" pitchFamily="34" charset="-122"/>
                <a:cs typeface="Calibri" pitchFamily="34" charset="-120"/>
              </a:rPr>
              <a:t>Both zones contribute resources while the inter-zone links are up. The hard part of the design is preventing both sides from independently assuming ownership when connectivity is lost.</a:t>
            </a:r>
            <a:endParaRPr lang="en-US" sz="1300" dirty="0"/>
          </a:p>
        </p:txBody>
      </p:sp>
      <p:sp>
        <p:nvSpPr>
          <p:cNvPr id="22" name="Text 20"/>
          <p:cNvSpPr/>
          <p:nvPr/>
        </p:nvSpPr>
        <p:spPr>
          <a:xfrm>
            <a:off x="640080" y="5577840"/>
            <a:ext cx="10911535" cy="365760"/>
          </a:xfrm>
          <a:prstGeom prst="rect">
            <a:avLst/>
          </a:prstGeom>
          <a:noFill/>
          <a:ln/>
        </p:spPr>
        <p:txBody>
          <a:bodyPr wrap="square" lIns="0" tIns="0" rIns="0" bIns="0" rtlCol="0" anchor="ctr"/>
          <a:lstStyle/>
          <a:p>
            <a:pPr indent="0" marL="0">
              <a:buNone/>
            </a:pPr>
            <a:r>
              <a:rPr lang="en-US" sz="1100" i="1" dirty="0">
                <a:solidFill>
                  <a:srgbClr val="7A7A86"/>
                </a:solidFill>
                <a:latin typeface="Calibri" pitchFamily="34" charset="0"/>
                <a:ea typeface="Calibri" pitchFamily="34" charset="-122"/>
                <a:cs typeface="Calibri" pitchFamily="34" charset="-120"/>
              </a:rPr>
              <a:t>Documentation note: Stretched clusters are limited to certain Generation 1 SKUs including AV36, AV36P, and AV52. The denser AV64 SKU does not support the feature. Check current regional and SKU support in the stretched-cluster design guide before committing to a design.</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3E3E4B"/>
        </a:solidFill>
      </p:bgPr>
    </p:bg>
    <p:spTree>
      <p:nvGrpSpPr>
        <p:cNvPr id="1" name=""/>
        <p:cNvGrpSpPr/>
        <p:nvPr/>
      </p:nvGrpSpPr>
      <p:grpSpPr>
        <a:xfrm>
          <a:off x="0" y="0"/>
          <a:ext cx="0" cy="0"/>
          <a:chOff x="0" y="0"/>
          <a:chExt cx="0" cy="0"/>
        </a:xfrm>
      </p:grpSpPr>
      <p:sp>
        <p:nvSpPr>
          <p:cNvPr id="2" name="Text 0"/>
          <p:cNvSpPr/>
          <p:nvPr/>
        </p:nvSpPr>
        <p:spPr>
          <a:xfrm>
            <a:off x="640080" y="384048"/>
            <a:ext cx="10911535" cy="237744"/>
          </a:xfrm>
          <a:prstGeom prst="rect">
            <a:avLst/>
          </a:prstGeom>
          <a:noFill/>
          <a:ln/>
        </p:spPr>
        <p:txBody>
          <a:bodyPr wrap="square" lIns="0" tIns="0" rIns="0" bIns="0" rtlCol="0" anchor="ctr"/>
          <a:lstStyle/>
          <a:p>
            <a:pPr indent="0" marL="0">
              <a:buNone/>
            </a:pPr>
            <a:r>
              <a:rPr lang="en-US" sz="1100" b="1" spc="200" kern="0" dirty="0">
                <a:solidFill>
                  <a:srgbClr val="00B3E2"/>
                </a:solidFill>
                <a:latin typeface="Calibri" pitchFamily="34" charset="0"/>
                <a:ea typeface="Calibri" pitchFamily="34" charset="-122"/>
                <a:cs typeface="Calibri" pitchFamily="34" charset="-120"/>
              </a:rPr>
              <a:t>THE FAILURE MODE</a:t>
            </a:r>
            <a:endParaRPr lang="en-US" sz="1100" dirty="0"/>
          </a:p>
        </p:txBody>
      </p:sp>
      <p:sp>
        <p:nvSpPr>
          <p:cNvPr id="3" name="Text 1"/>
          <p:cNvSpPr/>
          <p:nvPr/>
        </p:nvSpPr>
        <p:spPr>
          <a:xfrm>
            <a:off x="640080" y="658368"/>
            <a:ext cx="10911535" cy="566928"/>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Split brain</a:t>
            </a:r>
            <a:endParaRPr lang="en-US" sz="3400" dirty="0"/>
          </a:p>
        </p:txBody>
      </p:sp>
      <p:sp>
        <p:nvSpPr>
          <p:cNvPr id="4" name="Text 2"/>
          <p:cNvSpPr/>
          <p:nvPr/>
        </p:nvSpPr>
        <p:spPr>
          <a:xfrm>
            <a:off x="640080" y="1371600"/>
            <a:ext cx="10972800" cy="457200"/>
          </a:xfrm>
          <a:prstGeom prst="rect">
            <a:avLst/>
          </a:prstGeom>
          <a:noFill/>
          <a:ln/>
        </p:spPr>
        <p:txBody>
          <a:bodyPr wrap="square" lIns="0" tIns="0" rIns="0" bIns="0" rtlCol="0" anchor="ctr"/>
          <a:lstStyle/>
          <a:p>
            <a:pPr indent="0" marL="0">
              <a:buNone/>
            </a:pPr>
            <a:r>
              <a:rPr lang="en-US" sz="1500" dirty="0">
                <a:solidFill>
                  <a:srgbClr val="C9CCD6"/>
                </a:solidFill>
                <a:latin typeface="Calibri" pitchFamily="34" charset="0"/>
                <a:ea typeface="Calibri" pitchFamily="34" charset="-122"/>
                <a:cs typeface="Calibri" pitchFamily="34" charset="-120"/>
              </a:rPr>
              <a:t>Both zones remain powered and fully operational. The network link between them is severed. Neither side can see the other, and each has to decide what that means.</a:t>
            </a:r>
            <a:endParaRPr lang="en-US" sz="1500" dirty="0"/>
          </a:p>
        </p:txBody>
      </p:sp>
      <p:sp>
        <p:nvSpPr>
          <p:cNvPr id="5" name="Shape 3"/>
          <p:cNvSpPr/>
          <p:nvPr/>
        </p:nvSpPr>
        <p:spPr>
          <a:xfrm>
            <a:off x="640080" y="1965960"/>
            <a:ext cx="5257800" cy="1737360"/>
          </a:xfrm>
          <a:prstGeom prst="roundRect">
            <a:avLst>
              <a:gd name="adj" fmla="val 3684"/>
            </a:avLst>
          </a:prstGeom>
          <a:solidFill>
            <a:srgbClr val="4A4A58"/>
          </a:solidFill>
          <a:ln w="9525">
            <a:solidFill>
              <a:srgbClr val="5C5C6C"/>
            </a:solidFill>
            <a:prstDash val="solid"/>
          </a:ln>
        </p:spPr>
      </p:sp>
      <p:sp>
        <p:nvSpPr>
          <p:cNvPr id="6" name="Text 4"/>
          <p:cNvSpPr/>
          <p:nvPr/>
        </p:nvSpPr>
        <p:spPr>
          <a:xfrm>
            <a:off x="960120" y="2194560"/>
            <a:ext cx="4617720" cy="292608"/>
          </a:xfrm>
          <a:prstGeom prst="rect">
            <a:avLst/>
          </a:prstGeom>
          <a:noFill/>
          <a:ln/>
        </p:spPr>
        <p:txBody>
          <a:bodyPr wrap="square" lIns="0" tIns="0" rIns="0" bIns="0" rtlCol="0" anchor="ctr"/>
          <a:lstStyle/>
          <a:p>
            <a:pPr indent="0" marL="0">
              <a:buNone/>
            </a:pPr>
            <a:r>
              <a:rPr lang="en-US" sz="1400" b="1" dirty="0">
                <a:solidFill>
                  <a:srgbClr val="00B3E2"/>
                </a:solidFill>
                <a:latin typeface="Calibri" pitchFamily="34" charset="0"/>
                <a:ea typeface="Calibri" pitchFamily="34" charset="-122"/>
                <a:cs typeface="Calibri" pitchFamily="34" charset="-120"/>
              </a:rPr>
              <a:t>Zone 1 concludes:</a:t>
            </a:r>
            <a:endParaRPr lang="en-US" sz="1400" dirty="0"/>
          </a:p>
        </p:txBody>
      </p:sp>
      <p:sp>
        <p:nvSpPr>
          <p:cNvPr id="7" name="Text 5"/>
          <p:cNvSpPr/>
          <p:nvPr/>
        </p:nvSpPr>
        <p:spPr>
          <a:xfrm>
            <a:off x="960120" y="2514600"/>
            <a:ext cx="4617720" cy="50292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“Zone 2 has failed. I should take over.”</a:t>
            </a:r>
            <a:endParaRPr lang="en-US" sz="1700" dirty="0"/>
          </a:p>
        </p:txBody>
      </p:sp>
      <p:sp>
        <p:nvSpPr>
          <p:cNvPr id="8" name="Text 6"/>
          <p:cNvSpPr/>
          <p:nvPr/>
        </p:nvSpPr>
        <p:spPr>
          <a:xfrm>
            <a:off x="960120" y="3063240"/>
            <a:ext cx="4617720" cy="457200"/>
          </a:xfrm>
          <a:prstGeom prst="rect">
            <a:avLst/>
          </a:prstGeom>
          <a:noFill/>
          <a:ln/>
        </p:spPr>
        <p:txBody>
          <a:bodyPr wrap="square" lIns="0" tIns="0" rIns="0" bIns="0" rtlCol="0" anchor="ctr"/>
          <a:lstStyle/>
          <a:p>
            <a:pPr indent="0" marL="0">
              <a:buNone/>
            </a:pPr>
            <a:r>
              <a:rPr lang="en-US" sz="1300" dirty="0">
                <a:solidFill>
                  <a:srgbClr val="C9CCD6"/>
                </a:solidFill>
                <a:latin typeface="Calibri" pitchFamily="34" charset="0"/>
                <a:ea typeface="Calibri" pitchFamily="34" charset="-122"/>
                <a:cs typeface="Calibri" pitchFamily="34" charset="-120"/>
              </a:rPr>
              <a:t>Zone 2 reaches exactly the same conclusion about Zone 1.</a:t>
            </a:r>
            <a:endParaRPr lang="en-US" sz="1300" dirty="0"/>
          </a:p>
        </p:txBody>
      </p:sp>
      <p:sp>
        <p:nvSpPr>
          <p:cNvPr id="9" name="Shape 7"/>
          <p:cNvSpPr/>
          <p:nvPr/>
        </p:nvSpPr>
        <p:spPr>
          <a:xfrm>
            <a:off x="640080" y="3886200"/>
            <a:ext cx="5257800" cy="1920240"/>
          </a:xfrm>
          <a:prstGeom prst="roundRect">
            <a:avLst>
              <a:gd name="adj" fmla="val 3333"/>
            </a:avLst>
          </a:prstGeom>
          <a:solidFill>
            <a:srgbClr val="2F2F3A"/>
          </a:solidFill>
          <a:ln w="9525">
            <a:solidFill>
              <a:srgbClr val="5C5C6C"/>
            </a:solidFill>
            <a:prstDash val="solid"/>
          </a:ln>
        </p:spPr>
      </p:sp>
      <p:sp>
        <p:nvSpPr>
          <p:cNvPr id="10" name="Text 8"/>
          <p:cNvSpPr/>
          <p:nvPr/>
        </p:nvSpPr>
        <p:spPr>
          <a:xfrm>
            <a:off x="960120" y="4069080"/>
            <a:ext cx="4617720" cy="292608"/>
          </a:xfrm>
          <a:prstGeom prst="rect">
            <a:avLst/>
          </a:prstGeom>
          <a:noFill/>
          <a:ln/>
        </p:spPr>
        <p:txBody>
          <a:bodyPr wrap="square" lIns="0" tIns="0" rIns="0" bIns="0" rtlCol="0" anchor="ctr"/>
          <a:lstStyle/>
          <a:p>
            <a:pPr indent="0" marL="0">
              <a:buNone/>
            </a:pPr>
            <a:r>
              <a:rPr lang="en-US" sz="1500" b="1" dirty="0">
                <a:solidFill>
                  <a:srgbClr val="FAC458"/>
                </a:solidFill>
                <a:latin typeface="Calibri" pitchFamily="34" charset="0"/>
                <a:ea typeface="Calibri" pitchFamily="34" charset="-122"/>
                <a:cs typeface="Calibri" pitchFamily="34" charset="-120"/>
              </a:rPr>
              <a:t>Without coordination, both could</a:t>
            </a:r>
            <a:endParaRPr lang="en-US" sz="1500" dirty="0"/>
          </a:p>
        </p:txBody>
      </p:sp>
      <p:sp>
        <p:nvSpPr>
          <p:cNvPr id="11" name="Text 9"/>
          <p:cNvSpPr/>
          <p:nvPr/>
        </p:nvSpPr>
        <p:spPr>
          <a:xfrm>
            <a:off x="960120" y="4389120"/>
            <a:ext cx="4617720" cy="1234440"/>
          </a:xfrm>
          <a:prstGeom prst="rect">
            <a:avLst/>
          </a:prstGeom>
          <a:noFill/>
          <a:ln/>
        </p:spPr>
        <p:txBody>
          <a:bodyPr wrap="square" lIns="0" tIns="0" rIns="0" bIns="0" rtlCol="0" anchor="ctr"/>
          <a:lstStyle/>
          <a:p>
            <a:pPr marL="177800" indent="-177800">
              <a:spcAft>
                <a:spcPts val="500"/>
              </a:spcAft>
              <a:buSzPct val="100000"/>
              <a:buChar char="•"/>
            </a:pPr>
            <a:r>
              <a:rPr lang="en-US" sz="1350" dirty="0">
                <a:solidFill>
                  <a:srgbClr val="C9CCD6"/>
                </a:solidFill>
                <a:latin typeface="Calibri" pitchFamily="34" charset="0"/>
                <a:ea typeface="Calibri" pitchFamily="34" charset="-122"/>
                <a:cs typeface="Calibri" pitchFamily="34" charset="-120"/>
              </a:rPr>
              <a:t>Run the same VMs.</a:t>
            </a:r>
            <a:endParaRPr lang="en-US" sz="1350" dirty="0"/>
          </a:p>
          <a:p>
            <a:pPr marL="177800" indent="-177800">
              <a:spcAft>
                <a:spcPts val="500"/>
              </a:spcAft>
              <a:buSzPct val="100000"/>
              <a:buChar char="•"/>
            </a:pPr>
            <a:r>
              <a:rPr lang="en-US" sz="1350" dirty="0">
                <a:solidFill>
                  <a:srgbClr val="C9CCD6"/>
                </a:solidFill>
                <a:latin typeface="Calibri" pitchFamily="34" charset="0"/>
                <a:ea typeface="Calibri" pitchFamily="34" charset="-122"/>
                <a:cs typeface="Calibri" pitchFamily="34" charset="-120"/>
              </a:rPr>
              <a:t>Use the same IP addresses.</a:t>
            </a:r>
            <a:endParaRPr lang="en-US" sz="1350" dirty="0"/>
          </a:p>
          <a:p>
            <a:pPr marL="177800" indent="-177800">
              <a:spcAft>
                <a:spcPts val="500"/>
              </a:spcAft>
              <a:buSzPct val="100000"/>
              <a:buChar char="•"/>
            </a:pPr>
            <a:r>
              <a:rPr lang="en-US" sz="1350" dirty="0">
                <a:solidFill>
                  <a:srgbClr val="C9CCD6"/>
                </a:solidFill>
                <a:latin typeface="Calibri" pitchFamily="34" charset="0"/>
                <a:ea typeface="Calibri" pitchFamily="34" charset="-122"/>
                <a:cs typeface="Calibri" pitchFamily="34" charset="-120"/>
              </a:rPr>
              <a:t>Modify separate copies of the same data.</a:t>
            </a:r>
            <a:endParaRPr lang="en-US" sz="1350" dirty="0"/>
          </a:p>
        </p:txBody>
      </p:sp>
      <p:sp>
        <p:nvSpPr>
          <p:cNvPr id="12" name="Text 10"/>
          <p:cNvSpPr/>
          <p:nvPr/>
        </p:nvSpPr>
        <p:spPr>
          <a:xfrm>
            <a:off x="6519672" y="2011680"/>
            <a:ext cx="5029200" cy="32004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What that costs</a:t>
            </a:r>
            <a:endParaRPr lang="en-US" sz="1900" dirty="0"/>
          </a:p>
        </p:txBody>
      </p:sp>
      <p:sp>
        <p:nvSpPr>
          <p:cNvPr id="13" name="Shape 11"/>
          <p:cNvSpPr/>
          <p:nvPr/>
        </p:nvSpPr>
        <p:spPr>
          <a:xfrm>
            <a:off x="6519672" y="2468880"/>
            <a:ext cx="5029200" cy="566928"/>
          </a:xfrm>
          <a:prstGeom prst="roundRect">
            <a:avLst>
              <a:gd name="adj" fmla="val 11290"/>
            </a:avLst>
          </a:prstGeom>
          <a:solidFill>
            <a:srgbClr val="4A4A58"/>
          </a:solidFill>
          <a:ln w="9525">
            <a:solidFill>
              <a:srgbClr val="5C5C6C"/>
            </a:solidFill>
            <a:prstDash val="solid"/>
          </a:ln>
        </p:spPr>
      </p:sp>
      <p:sp>
        <p:nvSpPr>
          <p:cNvPr id="14" name="Shape 12"/>
          <p:cNvSpPr/>
          <p:nvPr/>
        </p:nvSpPr>
        <p:spPr>
          <a:xfrm>
            <a:off x="6766560" y="2624328"/>
            <a:ext cx="256032" cy="256032"/>
          </a:xfrm>
          <a:prstGeom prst="ellipse">
            <a:avLst/>
          </a:prstGeom>
          <a:solidFill>
            <a:srgbClr val="F15D23"/>
          </a:solidFill>
          <a:ln w="12700">
            <a:solidFill>
              <a:srgbClr val="F15D23"/>
            </a:solidFill>
            <a:prstDash val="solid"/>
          </a:ln>
        </p:spPr>
      </p:sp>
      <p:sp>
        <p:nvSpPr>
          <p:cNvPr id="15" name="Text 13"/>
          <p:cNvSpPr/>
          <p:nvPr/>
        </p:nvSpPr>
        <p:spPr>
          <a:xfrm>
            <a:off x="7178040" y="2468880"/>
            <a:ext cx="4114800" cy="56692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Divergent storage writes</a:t>
            </a:r>
            <a:endParaRPr lang="en-US" sz="1300" dirty="0"/>
          </a:p>
        </p:txBody>
      </p:sp>
      <p:sp>
        <p:nvSpPr>
          <p:cNvPr id="16" name="Shape 14"/>
          <p:cNvSpPr/>
          <p:nvPr/>
        </p:nvSpPr>
        <p:spPr>
          <a:xfrm>
            <a:off x="6519672" y="3136392"/>
            <a:ext cx="5029200" cy="566928"/>
          </a:xfrm>
          <a:prstGeom prst="roundRect">
            <a:avLst>
              <a:gd name="adj" fmla="val 11290"/>
            </a:avLst>
          </a:prstGeom>
          <a:solidFill>
            <a:srgbClr val="4A4A58"/>
          </a:solidFill>
          <a:ln w="9525">
            <a:solidFill>
              <a:srgbClr val="5C5C6C"/>
            </a:solidFill>
            <a:prstDash val="solid"/>
          </a:ln>
        </p:spPr>
      </p:sp>
      <p:sp>
        <p:nvSpPr>
          <p:cNvPr id="17" name="Shape 15"/>
          <p:cNvSpPr/>
          <p:nvPr/>
        </p:nvSpPr>
        <p:spPr>
          <a:xfrm>
            <a:off x="6766560" y="3291840"/>
            <a:ext cx="256032" cy="256032"/>
          </a:xfrm>
          <a:prstGeom prst="ellipse">
            <a:avLst/>
          </a:prstGeom>
          <a:solidFill>
            <a:srgbClr val="F15D23"/>
          </a:solidFill>
          <a:ln w="12700">
            <a:solidFill>
              <a:srgbClr val="F15D23"/>
            </a:solidFill>
            <a:prstDash val="solid"/>
          </a:ln>
        </p:spPr>
      </p:sp>
      <p:sp>
        <p:nvSpPr>
          <p:cNvPr id="18" name="Text 16"/>
          <p:cNvSpPr/>
          <p:nvPr/>
        </p:nvSpPr>
        <p:spPr>
          <a:xfrm>
            <a:off x="7178040" y="3136392"/>
            <a:ext cx="4114800" cy="56692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File-system corruption</a:t>
            </a:r>
            <a:endParaRPr lang="en-US" sz="1300" dirty="0"/>
          </a:p>
        </p:txBody>
      </p:sp>
      <p:sp>
        <p:nvSpPr>
          <p:cNvPr id="19" name="Shape 17"/>
          <p:cNvSpPr/>
          <p:nvPr/>
        </p:nvSpPr>
        <p:spPr>
          <a:xfrm>
            <a:off x="6519672" y="3803904"/>
            <a:ext cx="5029200" cy="566928"/>
          </a:xfrm>
          <a:prstGeom prst="roundRect">
            <a:avLst>
              <a:gd name="adj" fmla="val 11290"/>
            </a:avLst>
          </a:prstGeom>
          <a:solidFill>
            <a:srgbClr val="4A4A58"/>
          </a:solidFill>
          <a:ln w="9525">
            <a:solidFill>
              <a:srgbClr val="5C5C6C"/>
            </a:solidFill>
            <a:prstDash val="solid"/>
          </a:ln>
        </p:spPr>
      </p:sp>
      <p:sp>
        <p:nvSpPr>
          <p:cNvPr id="20" name="Shape 18"/>
          <p:cNvSpPr/>
          <p:nvPr/>
        </p:nvSpPr>
        <p:spPr>
          <a:xfrm>
            <a:off x="6766560" y="3959352"/>
            <a:ext cx="256032" cy="256032"/>
          </a:xfrm>
          <a:prstGeom prst="ellipse">
            <a:avLst/>
          </a:prstGeom>
          <a:solidFill>
            <a:srgbClr val="F15D23"/>
          </a:solidFill>
          <a:ln w="12700">
            <a:solidFill>
              <a:srgbClr val="F15D23"/>
            </a:solidFill>
            <a:prstDash val="solid"/>
          </a:ln>
        </p:spPr>
      </p:sp>
      <p:sp>
        <p:nvSpPr>
          <p:cNvPr id="21" name="Text 19"/>
          <p:cNvSpPr/>
          <p:nvPr/>
        </p:nvSpPr>
        <p:spPr>
          <a:xfrm>
            <a:off x="7178040" y="3803904"/>
            <a:ext cx="4114800" cy="56692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Database corruption</a:t>
            </a:r>
            <a:endParaRPr lang="en-US" sz="1300" dirty="0"/>
          </a:p>
        </p:txBody>
      </p:sp>
      <p:sp>
        <p:nvSpPr>
          <p:cNvPr id="22" name="Shape 20"/>
          <p:cNvSpPr/>
          <p:nvPr/>
        </p:nvSpPr>
        <p:spPr>
          <a:xfrm>
            <a:off x="6519672" y="4471416"/>
            <a:ext cx="5029200" cy="566928"/>
          </a:xfrm>
          <a:prstGeom prst="roundRect">
            <a:avLst>
              <a:gd name="adj" fmla="val 11290"/>
            </a:avLst>
          </a:prstGeom>
          <a:solidFill>
            <a:srgbClr val="4A4A58"/>
          </a:solidFill>
          <a:ln w="9525">
            <a:solidFill>
              <a:srgbClr val="5C5C6C"/>
            </a:solidFill>
            <a:prstDash val="solid"/>
          </a:ln>
        </p:spPr>
      </p:sp>
      <p:sp>
        <p:nvSpPr>
          <p:cNvPr id="23" name="Shape 21"/>
          <p:cNvSpPr/>
          <p:nvPr/>
        </p:nvSpPr>
        <p:spPr>
          <a:xfrm>
            <a:off x="6766560" y="4626864"/>
            <a:ext cx="256032" cy="256032"/>
          </a:xfrm>
          <a:prstGeom prst="ellipse">
            <a:avLst/>
          </a:prstGeom>
          <a:solidFill>
            <a:srgbClr val="F15D23"/>
          </a:solidFill>
          <a:ln w="12700">
            <a:solidFill>
              <a:srgbClr val="F15D23"/>
            </a:solidFill>
            <a:prstDash val="solid"/>
          </a:ln>
        </p:spPr>
      </p:sp>
      <p:sp>
        <p:nvSpPr>
          <p:cNvPr id="24" name="Text 22"/>
          <p:cNvSpPr/>
          <p:nvPr/>
        </p:nvSpPr>
        <p:spPr>
          <a:xfrm>
            <a:off x="7178040" y="4471416"/>
            <a:ext cx="4114800" cy="56692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Duplicate application instances</a:t>
            </a:r>
            <a:endParaRPr lang="en-US" sz="1300" dirty="0"/>
          </a:p>
        </p:txBody>
      </p:sp>
      <p:sp>
        <p:nvSpPr>
          <p:cNvPr id="25" name="Shape 23"/>
          <p:cNvSpPr/>
          <p:nvPr/>
        </p:nvSpPr>
        <p:spPr>
          <a:xfrm>
            <a:off x="6519672" y="5138928"/>
            <a:ext cx="5029200" cy="566928"/>
          </a:xfrm>
          <a:prstGeom prst="roundRect">
            <a:avLst>
              <a:gd name="adj" fmla="val 11290"/>
            </a:avLst>
          </a:prstGeom>
          <a:solidFill>
            <a:srgbClr val="4A4A58"/>
          </a:solidFill>
          <a:ln w="9525">
            <a:solidFill>
              <a:srgbClr val="5C5C6C"/>
            </a:solidFill>
            <a:prstDash val="solid"/>
          </a:ln>
        </p:spPr>
      </p:sp>
      <p:sp>
        <p:nvSpPr>
          <p:cNvPr id="26" name="Shape 24"/>
          <p:cNvSpPr/>
          <p:nvPr/>
        </p:nvSpPr>
        <p:spPr>
          <a:xfrm>
            <a:off x="6766560" y="5294376"/>
            <a:ext cx="256032" cy="256032"/>
          </a:xfrm>
          <a:prstGeom prst="ellipse">
            <a:avLst/>
          </a:prstGeom>
          <a:solidFill>
            <a:srgbClr val="F15D23"/>
          </a:solidFill>
          <a:ln w="12700">
            <a:solidFill>
              <a:srgbClr val="F15D23"/>
            </a:solidFill>
            <a:prstDash val="solid"/>
          </a:ln>
        </p:spPr>
      </p:sp>
      <p:sp>
        <p:nvSpPr>
          <p:cNvPr id="27" name="Text 25"/>
          <p:cNvSpPr/>
          <p:nvPr/>
        </p:nvSpPr>
        <p:spPr>
          <a:xfrm>
            <a:off x="7178040" y="5138928"/>
            <a:ext cx="4114800" cy="56692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Extended outage and restore work once connectivity is repaired</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37744"/>
          </a:xfrm>
          <a:prstGeom prst="rect">
            <a:avLst/>
          </a:prstGeom>
          <a:noFill/>
          <a:ln/>
        </p:spPr>
        <p:txBody>
          <a:bodyPr wrap="square" lIns="0" tIns="0" rIns="0" bIns="0" rtlCol="0" anchor="ctr"/>
          <a:lstStyle/>
          <a:p>
            <a:pPr indent="0" marL="0">
              <a:buNone/>
            </a:pPr>
            <a:r>
              <a:rPr lang="en-US" sz="1100" b="1" spc="200" kern="0" dirty="0">
                <a:solidFill>
                  <a:srgbClr val="00B3E2"/>
                </a:solidFill>
                <a:latin typeface="Calibri" pitchFamily="34" charset="0"/>
                <a:ea typeface="Calibri" pitchFamily="34" charset="-122"/>
                <a:cs typeface="Calibri" pitchFamily="34" charset="-120"/>
              </a:rPr>
              <a:t>THE SAFEGUARD</a:t>
            </a:r>
            <a:endParaRPr lang="en-US" sz="1100" dirty="0"/>
          </a:p>
        </p:txBody>
      </p:sp>
      <p:sp>
        <p:nvSpPr>
          <p:cNvPr id="3" name="Text 1"/>
          <p:cNvSpPr/>
          <p:nvPr/>
        </p:nvSpPr>
        <p:spPr>
          <a:xfrm>
            <a:off x="640080" y="658368"/>
            <a:ext cx="10911535" cy="566928"/>
          </a:xfrm>
          <a:prstGeom prst="rect">
            <a:avLst/>
          </a:prstGeom>
          <a:noFill/>
          <a:ln/>
        </p:spPr>
        <p:txBody>
          <a:bodyPr wrap="square" lIns="0" tIns="0" rIns="0" bIns="0" rtlCol="0" anchor="ctr"/>
          <a:lstStyle/>
          <a:p>
            <a:pPr indent="0" marL="0">
              <a:buNone/>
            </a:pPr>
            <a:r>
              <a:rPr lang="en-US" sz="3400" b="1" dirty="0">
                <a:solidFill>
                  <a:srgbClr val="3E3E4B"/>
                </a:solidFill>
                <a:latin typeface="Calibri" pitchFamily="34" charset="0"/>
                <a:ea typeface="Calibri" pitchFamily="34" charset="-122"/>
                <a:cs typeface="Calibri" pitchFamily="34" charset="-120"/>
              </a:rPr>
              <a:t>Witness node and quorum</a:t>
            </a:r>
            <a:endParaRPr lang="en-US" sz="3400" dirty="0"/>
          </a:p>
        </p:txBody>
      </p:sp>
      <p:sp>
        <p:nvSpPr>
          <p:cNvPr id="4" name="Shape 2"/>
          <p:cNvSpPr/>
          <p:nvPr/>
        </p:nvSpPr>
        <p:spPr>
          <a:xfrm>
            <a:off x="640080" y="1645920"/>
            <a:ext cx="5257800" cy="1920240"/>
          </a:xfrm>
          <a:prstGeom prst="roundRect">
            <a:avLst>
              <a:gd name="adj" fmla="val 3333"/>
            </a:avLst>
          </a:prstGeom>
          <a:solidFill>
            <a:srgbClr val="F4F7F8"/>
          </a:solidFill>
          <a:ln w="9525">
            <a:solidFill>
              <a:srgbClr val="DDE2E2"/>
            </a:solidFill>
            <a:prstDash val="solid"/>
          </a:ln>
        </p:spPr>
      </p:sp>
      <p:sp>
        <p:nvSpPr>
          <p:cNvPr id="5" name="Text 3"/>
          <p:cNvSpPr/>
          <p:nvPr/>
        </p:nvSpPr>
        <p:spPr>
          <a:xfrm>
            <a:off x="960120" y="1828800"/>
            <a:ext cx="4617720" cy="320040"/>
          </a:xfrm>
          <a:prstGeom prst="rect">
            <a:avLst/>
          </a:prstGeom>
          <a:noFill/>
          <a:ln/>
        </p:spPr>
        <p:txBody>
          <a:bodyPr wrap="square" lIns="0" tIns="0" rIns="0" bIns="0" rtlCol="0" anchor="ctr"/>
          <a:lstStyle/>
          <a:p>
            <a:pPr indent="0" marL="0">
              <a:buNone/>
            </a:pPr>
            <a:r>
              <a:rPr lang="en-US" sz="1600" b="1" dirty="0">
                <a:solidFill>
                  <a:srgbClr val="3E3E4B"/>
                </a:solidFill>
                <a:latin typeface="Calibri" pitchFamily="34" charset="0"/>
                <a:ea typeface="Calibri" pitchFamily="34" charset="-122"/>
                <a:cs typeface="Calibri" pitchFamily="34" charset="-120"/>
              </a:rPr>
              <a:t>A third-site witness</a:t>
            </a:r>
            <a:endParaRPr lang="en-US" sz="1600" dirty="0"/>
          </a:p>
        </p:txBody>
      </p:sp>
      <p:sp>
        <p:nvSpPr>
          <p:cNvPr id="6" name="Text 4"/>
          <p:cNvSpPr/>
          <p:nvPr/>
        </p:nvSpPr>
        <p:spPr>
          <a:xfrm>
            <a:off x="960120" y="2194560"/>
            <a:ext cx="4617720" cy="1280160"/>
          </a:xfrm>
          <a:prstGeom prst="rect">
            <a:avLst/>
          </a:prstGeom>
          <a:noFill/>
          <a:ln/>
        </p:spPr>
        <p:txBody>
          <a:bodyPr wrap="square" lIns="0" tIns="0" rIns="0" bIns="0" rtlCol="0" anchor="ctr"/>
          <a:lstStyle/>
          <a:p>
            <a:pPr marL="177800" indent="-177800">
              <a:spcAft>
                <a:spcPts val="500"/>
              </a:spcAft>
              <a:buSzPct val="100000"/>
              <a:buChar char="•"/>
            </a:pPr>
            <a:r>
              <a:rPr lang="en-US" sz="1300" dirty="0">
                <a:solidFill>
                  <a:srgbClr val="55555F"/>
                </a:solidFill>
                <a:latin typeface="Calibri" pitchFamily="34" charset="0"/>
                <a:ea typeface="Calibri" pitchFamily="34" charset="-122"/>
                <a:cs typeface="Calibri" pitchFamily="34" charset="-120"/>
              </a:rPr>
              <a:t>A small appliance deployed in a third availability zone, running a specialized ESXi image.</a:t>
            </a:r>
            <a:endParaRPr lang="en-US" sz="1300" dirty="0"/>
          </a:p>
          <a:p>
            <a:pPr marL="177800" indent="-177800">
              <a:spcAft>
                <a:spcPts val="500"/>
              </a:spcAft>
              <a:buSzPct val="100000"/>
              <a:buChar char="•"/>
            </a:pPr>
            <a:r>
              <a:rPr lang="en-US" sz="1300" dirty="0">
                <a:solidFill>
                  <a:srgbClr val="55555F"/>
                </a:solidFill>
                <a:latin typeface="Calibri" pitchFamily="34" charset="0"/>
                <a:ea typeface="Calibri" pitchFamily="34" charset="-122"/>
                <a:cs typeface="Calibri" pitchFamily="34" charset="-120"/>
              </a:rPr>
              <a:t>It hosts no customer workloads and holds no full copies of customer data.</a:t>
            </a:r>
            <a:endParaRPr lang="en-US" sz="1300" dirty="0"/>
          </a:p>
          <a:p>
            <a:pPr marL="177800" indent="-177800">
              <a:spcAft>
                <a:spcPts val="500"/>
              </a:spcAft>
              <a:buSzPct val="100000"/>
              <a:buChar char="•"/>
            </a:pPr>
            <a:r>
              <a:rPr lang="en-US" sz="1300" dirty="0">
                <a:solidFill>
                  <a:srgbClr val="55555F"/>
                </a:solidFill>
                <a:latin typeface="Calibri" pitchFamily="34" charset="0"/>
                <a:ea typeface="Calibri" pitchFamily="34" charset="-122"/>
                <a:cs typeface="Calibri" pitchFamily="34" charset="-120"/>
              </a:rPr>
              <a:t>It stores metadata and participates in cluster voting.</a:t>
            </a:r>
            <a:endParaRPr lang="en-US" sz="1300" dirty="0"/>
          </a:p>
        </p:txBody>
      </p:sp>
      <p:sp>
        <p:nvSpPr>
          <p:cNvPr id="7" name="Shape 5"/>
          <p:cNvSpPr/>
          <p:nvPr/>
        </p:nvSpPr>
        <p:spPr>
          <a:xfrm>
            <a:off x="640080" y="3794760"/>
            <a:ext cx="1737360" cy="822960"/>
          </a:xfrm>
          <a:prstGeom prst="roundRect">
            <a:avLst>
              <a:gd name="adj" fmla="val 7778"/>
            </a:avLst>
          </a:prstGeom>
          <a:solidFill>
            <a:srgbClr val="3E3E4B"/>
          </a:solidFill>
          <a:ln w="9525">
            <a:solidFill>
              <a:srgbClr val="3E3E4B"/>
            </a:solidFill>
            <a:prstDash val="solid"/>
          </a:ln>
        </p:spPr>
      </p:sp>
      <p:sp>
        <p:nvSpPr>
          <p:cNvPr id="8" name="Text 6"/>
          <p:cNvSpPr/>
          <p:nvPr/>
        </p:nvSpPr>
        <p:spPr>
          <a:xfrm>
            <a:off x="731520" y="3794760"/>
            <a:ext cx="1554480" cy="457200"/>
          </a:xfrm>
          <a:prstGeom prst="rect">
            <a:avLst/>
          </a:prstGeom>
          <a:noFill/>
          <a:ln/>
        </p:spPr>
        <p:txBody>
          <a:bodyPr wrap="square" lIns="0" tIns="0" rIns="0" bIns="0" rtlCol="0" anchor="ctr"/>
          <a:lstStyle/>
          <a:p>
            <a:pPr algn="ctr" indent="0" marL="0">
              <a:buNone/>
            </a:pPr>
            <a:r>
              <a:rPr lang="en-US" sz="1400" b="1" dirty="0">
                <a:solidFill>
                  <a:srgbClr val="00B3E2"/>
                </a:solidFill>
                <a:latin typeface="Calibri" pitchFamily="34" charset="0"/>
                <a:ea typeface="Calibri" pitchFamily="34" charset="-122"/>
                <a:cs typeface="Calibri" pitchFamily="34" charset="-120"/>
              </a:rPr>
              <a:t>Zone 1</a:t>
            </a:r>
            <a:endParaRPr lang="en-US" sz="1400" dirty="0"/>
          </a:p>
        </p:txBody>
      </p:sp>
      <p:sp>
        <p:nvSpPr>
          <p:cNvPr id="9" name="Text 7"/>
          <p:cNvSpPr/>
          <p:nvPr/>
        </p:nvSpPr>
        <p:spPr>
          <a:xfrm>
            <a:off x="731520" y="4206240"/>
            <a:ext cx="1554480" cy="320040"/>
          </a:xfrm>
          <a:prstGeom prst="rect">
            <a:avLst/>
          </a:prstGeom>
          <a:noFill/>
          <a:ln/>
        </p:spPr>
        <p:txBody>
          <a:bodyPr wrap="square" lIns="0" tIns="0" rIns="0" bIns="0" rtlCol="0" anchor="ctr"/>
          <a:lstStyle/>
          <a:p>
            <a:pPr algn="ctr" indent="0" marL="0">
              <a:buNone/>
            </a:pPr>
            <a:r>
              <a:rPr lang="en-US" sz="1200" dirty="0">
                <a:solidFill>
                  <a:srgbClr val="C9CCD6"/>
                </a:solidFill>
                <a:latin typeface="Calibri" pitchFamily="34" charset="0"/>
                <a:ea typeface="Calibri" pitchFamily="34" charset="-122"/>
                <a:cs typeface="Calibri" pitchFamily="34" charset="-120"/>
              </a:rPr>
              <a:t>1 vote</a:t>
            </a:r>
            <a:endParaRPr lang="en-US" sz="1200" dirty="0"/>
          </a:p>
        </p:txBody>
      </p:sp>
      <p:sp>
        <p:nvSpPr>
          <p:cNvPr id="10" name="Shape 8"/>
          <p:cNvSpPr/>
          <p:nvPr/>
        </p:nvSpPr>
        <p:spPr>
          <a:xfrm>
            <a:off x="2423160" y="3794760"/>
            <a:ext cx="1737360" cy="822960"/>
          </a:xfrm>
          <a:prstGeom prst="roundRect">
            <a:avLst>
              <a:gd name="adj" fmla="val 7778"/>
            </a:avLst>
          </a:prstGeom>
          <a:solidFill>
            <a:srgbClr val="3E3E4B"/>
          </a:solidFill>
          <a:ln w="9525">
            <a:solidFill>
              <a:srgbClr val="3E3E4B"/>
            </a:solidFill>
            <a:prstDash val="solid"/>
          </a:ln>
        </p:spPr>
      </p:sp>
      <p:sp>
        <p:nvSpPr>
          <p:cNvPr id="11" name="Text 9"/>
          <p:cNvSpPr/>
          <p:nvPr/>
        </p:nvSpPr>
        <p:spPr>
          <a:xfrm>
            <a:off x="2514600" y="3794760"/>
            <a:ext cx="1554480" cy="457200"/>
          </a:xfrm>
          <a:prstGeom prst="rect">
            <a:avLst/>
          </a:prstGeom>
          <a:noFill/>
          <a:ln/>
        </p:spPr>
        <p:txBody>
          <a:bodyPr wrap="square" lIns="0" tIns="0" rIns="0" bIns="0" rtlCol="0" anchor="ctr"/>
          <a:lstStyle/>
          <a:p>
            <a:pPr algn="ctr" indent="0" marL="0">
              <a:buNone/>
            </a:pPr>
            <a:r>
              <a:rPr lang="en-US" sz="1400" b="1" dirty="0">
                <a:solidFill>
                  <a:srgbClr val="2DCCD3"/>
                </a:solidFill>
                <a:latin typeface="Calibri" pitchFamily="34" charset="0"/>
                <a:ea typeface="Calibri" pitchFamily="34" charset="-122"/>
                <a:cs typeface="Calibri" pitchFamily="34" charset="-120"/>
              </a:rPr>
              <a:t>Zone 2</a:t>
            </a:r>
            <a:endParaRPr lang="en-US" sz="1400" dirty="0"/>
          </a:p>
        </p:txBody>
      </p:sp>
      <p:sp>
        <p:nvSpPr>
          <p:cNvPr id="12" name="Text 10"/>
          <p:cNvSpPr/>
          <p:nvPr/>
        </p:nvSpPr>
        <p:spPr>
          <a:xfrm>
            <a:off x="2514600" y="4206240"/>
            <a:ext cx="1554480" cy="320040"/>
          </a:xfrm>
          <a:prstGeom prst="rect">
            <a:avLst/>
          </a:prstGeom>
          <a:noFill/>
          <a:ln/>
        </p:spPr>
        <p:txBody>
          <a:bodyPr wrap="square" lIns="0" tIns="0" rIns="0" bIns="0" rtlCol="0" anchor="ctr"/>
          <a:lstStyle/>
          <a:p>
            <a:pPr algn="ctr" indent="0" marL="0">
              <a:buNone/>
            </a:pPr>
            <a:r>
              <a:rPr lang="en-US" sz="1200" dirty="0">
                <a:solidFill>
                  <a:srgbClr val="C9CCD6"/>
                </a:solidFill>
                <a:latin typeface="Calibri" pitchFamily="34" charset="0"/>
                <a:ea typeface="Calibri" pitchFamily="34" charset="-122"/>
                <a:cs typeface="Calibri" pitchFamily="34" charset="-120"/>
              </a:rPr>
              <a:t>1 vote</a:t>
            </a:r>
            <a:endParaRPr lang="en-US" sz="1200" dirty="0"/>
          </a:p>
        </p:txBody>
      </p:sp>
      <p:sp>
        <p:nvSpPr>
          <p:cNvPr id="13" name="Shape 11"/>
          <p:cNvSpPr/>
          <p:nvPr/>
        </p:nvSpPr>
        <p:spPr>
          <a:xfrm>
            <a:off x="4206240" y="3794760"/>
            <a:ext cx="1737360" cy="822960"/>
          </a:xfrm>
          <a:prstGeom prst="roundRect">
            <a:avLst>
              <a:gd name="adj" fmla="val 7778"/>
            </a:avLst>
          </a:prstGeom>
          <a:solidFill>
            <a:srgbClr val="3E3E4B"/>
          </a:solidFill>
          <a:ln w="9525">
            <a:solidFill>
              <a:srgbClr val="3E3E4B"/>
            </a:solidFill>
            <a:prstDash val="solid"/>
          </a:ln>
        </p:spPr>
      </p:sp>
      <p:sp>
        <p:nvSpPr>
          <p:cNvPr id="14" name="Text 12"/>
          <p:cNvSpPr/>
          <p:nvPr/>
        </p:nvSpPr>
        <p:spPr>
          <a:xfrm>
            <a:off x="4297680" y="3794760"/>
            <a:ext cx="1554480" cy="457200"/>
          </a:xfrm>
          <a:prstGeom prst="rect">
            <a:avLst/>
          </a:prstGeom>
          <a:noFill/>
          <a:ln/>
        </p:spPr>
        <p:txBody>
          <a:bodyPr wrap="square" lIns="0" tIns="0" rIns="0" bIns="0" rtlCol="0" anchor="ctr"/>
          <a:lstStyle/>
          <a:p>
            <a:pPr algn="ctr" indent="0" marL="0">
              <a:buNone/>
            </a:pPr>
            <a:r>
              <a:rPr lang="en-US" sz="1400" b="1" dirty="0">
                <a:solidFill>
                  <a:srgbClr val="FAC458"/>
                </a:solidFill>
                <a:latin typeface="Calibri" pitchFamily="34" charset="0"/>
                <a:ea typeface="Calibri" pitchFamily="34" charset="-122"/>
                <a:cs typeface="Calibri" pitchFamily="34" charset="-120"/>
              </a:rPr>
              <a:t>Witness</a:t>
            </a:r>
            <a:endParaRPr lang="en-US" sz="1400" dirty="0"/>
          </a:p>
        </p:txBody>
      </p:sp>
      <p:sp>
        <p:nvSpPr>
          <p:cNvPr id="15" name="Text 13"/>
          <p:cNvSpPr/>
          <p:nvPr/>
        </p:nvSpPr>
        <p:spPr>
          <a:xfrm>
            <a:off x="4297680" y="4206240"/>
            <a:ext cx="1554480" cy="320040"/>
          </a:xfrm>
          <a:prstGeom prst="rect">
            <a:avLst/>
          </a:prstGeom>
          <a:noFill/>
          <a:ln/>
        </p:spPr>
        <p:txBody>
          <a:bodyPr wrap="square" lIns="0" tIns="0" rIns="0" bIns="0" rtlCol="0" anchor="ctr"/>
          <a:lstStyle/>
          <a:p>
            <a:pPr algn="ctr" indent="0" marL="0">
              <a:buNone/>
            </a:pPr>
            <a:r>
              <a:rPr lang="en-US" sz="1200" dirty="0">
                <a:solidFill>
                  <a:srgbClr val="C9CCD6"/>
                </a:solidFill>
                <a:latin typeface="Calibri" pitchFamily="34" charset="0"/>
                <a:ea typeface="Calibri" pitchFamily="34" charset="-122"/>
                <a:cs typeface="Calibri" pitchFamily="34" charset="-120"/>
              </a:rPr>
              <a:t>1 vote</a:t>
            </a:r>
            <a:endParaRPr lang="en-US" sz="1200" dirty="0"/>
          </a:p>
        </p:txBody>
      </p:sp>
      <p:sp>
        <p:nvSpPr>
          <p:cNvPr id="16" name="Text 14"/>
          <p:cNvSpPr/>
          <p:nvPr/>
        </p:nvSpPr>
        <p:spPr>
          <a:xfrm>
            <a:off x="640080" y="4754880"/>
            <a:ext cx="5257800" cy="365760"/>
          </a:xfrm>
          <a:prstGeom prst="rect">
            <a:avLst/>
          </a:prstGeom>
          <a:noFill/>
          <a:ln/>
        </p:spPr>
        <p:txBody>
          <a:bodyPr wrap="square" lIns="0" tIns="0" rIns="0" bIns="0" rtlCol="0" anchor="ctr"/>
          <a:lstStyle/>
          <a:p>
            <a:pPr indent="0" marL="0">
              <a:buNone/>
            </a:pPr>
            <a:r>
              <a:rPr lang="en-US" sz="1400" b="1" dirty="0">
                <a:solidFill>
                  <a:srgbClr val="3E3E4B"/>
                </a:solidFill>
                <a:latin typeface="Calibri" pitchFamily="34" charset="0"/>
                <a:ea typeface="Calibri" pitchFamily="34" charset="-122"/>
                <a:cs typeface="Calibri" pitchFamily="34" charset="-120"/>
              </a:rPr>
              <a:t>Three voting members. A site needs a majority to remain active.</a:t>
            </a:r>
            <a:endParaRPr lang="en-US" sz="1400" dirty="0"/>
          </a:p>
        </p:txBody>
      </p:sp>
      <p:sp>
        <p:nvSpPr>
          <p:cNvPr id="17" name="Shape 15"/>
          <p:cNvSpPr/>
          <p:nvPr/>
        </p:nvSpPr>
        <p:spPr>
          <a:xfrm>
            <a:off x="6519672" y="1645920"/>
            <a:ext cx="5029200" cy="4160520"/>
          </a:xfrm>
          <a:prstGeom prst="roundRect">
            <a:avLst>
              <a:gd name="adj" fmla="val 1538"/>
            </a:avLst>
          </a:prstGeom>
          <a:solidFill>
            <a:srgbClr val="3E3E4B"/>
          </a:solidFill>
          <a:ln w="9525">
            <a:solidFill>
              <a:srgbClr val="3E3E4B"/>
            </a:solidFill>
            <a:prstDash val="solid"/>
          </a:ln>
        </p:spPr>
      </p:sp>
      <p:sp>
        <p:nvSpPr>
          <p:cNvPr id="18" name="Text 16"/>
          <p:cNvSpPr/>
          <p:nvPr/>
        </p:nvSpPr>
        <p:spPr>
          <a:xfrm>
            <a:off x="6839712" y="1874520"/>
            <a:ext cx="4389120" cy="256032"/>
          </a:xfrm>
          <a:prstGeom prst="rect">
            <a:avLst/>
          </a:prstGeom>
          <a:noFill/>
          <a:ln/>
        </p:spPr>
        <p:txBody>
          <a:bodyPr wrap="square" lIns="0" tIns="0" rIns="0" bIns="0" rtlCol="0" anchor="ctr"/>
          <a:lstStyle/>
          <a:p>
            <a:pPr indent="0" marL="0">
              <a:buNone/>
            </a:pPr>
            <a:r>
              <a:rPr lang="en-US" sz="1100" b="1" spc="150" kern="0" dirty="0">
                <a:solidFill>
                  <a:srgbClr val="00B3E2"/>
                </a:solidFill>
                <a:latin typeface="Calibri" pitchFamily="34" charset="0"/>
                <a:ea typeface="Calibri" pitchFamily="34" charset="-122"/>
                <a:cs typeface="Calibri" pitchFamily="34" charset="-120"/>
              </a:rPr>
              <a:t>THE FIBER-CUT SEQUENCE</a:t>
            </a:r>
            <a:endParaRPr lang="en-US" sz="1100" dirty="0"/>
          </a:p>
        </p:txBody>
      </p:sp>
      <p:sp>
        <p:nvSpPr>
          <p:cNvPr id="19" name="Shape 17"/>
          <p:cNvSpPr/>
          <p:nvPr/>
        </p:nvSpPr>
        <p:spPr>
          <a:xfrm>
            <a:off x="6839712" y="2286000"/>
            <a:ext cx="384048" cy="384048"/>
          </a:xfrm>
          <a:prstGeom prst="ellipse">
            <a:avLst/>
          </a:prstGeom>
          <a:solidFill>
            <a:srgbClr val="5C5C6C"/>
          </a:solidFill>
          <a:ln w="12700">
            <a:solidFill>
              <a:srgbClr val="5C5C6C"/>
            </a:solidFill>
            <a:prstDash val="solid"/>
          </a:ln>
        </p:spPr>
      </p:sp>
      <p:sp>
        <p:nvSpPr>
          <p:cNvPr id="20" name="Text 18"/>
          <p:cNvSpPr/>
          <p:nvPr/>
        </p:nvSpPr>
        <p:spPr>
          <a:xfrm>
            <a:off x="6839712" y="228600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21" name="Text 19"/>
          <p:cNvSpPr/>
          <p:nvPr/>
        </p:nvSpPr>
        <p:spPr>
          <a:xfrm>
            <a:off x="7360920" y="2286000"/>
            <a:ext cx="3931920" cy="384048"/>
          </a:xfrm>
          <a:prstGeom prst="rect">
            <a:avLst/>
          </a:prstGeom>
          <a:noFill/>
          <a:ln/>
        </p:spPr>
        <p:txBody>
          <a:bodyPr wrap="square" lIns="0" tIns="0" rIns="0" bIns="0" rtlCol="0" anchor="ctr"/>
          <a:lstStyle/>
          <a:p>
            <a:pPr indent="0" marL="0">
              <a:buNone/>
            </a:pPr>
            <a:r>
              <a:rPr lang="en-US" sz="1250" dirty="0">
                <a:solidFill>
                  <a:srgbClr val="C9CCD6"/>
                </a:solidFill>
                <a:latin typeface="Calibri" pitchFamily="34" charset="0"/>
                <a:ea typeface="Calibri" pitchFamily="34" charset="-122"/>
                <a:cs typeface="Calibri" pitchFamily="34" charset="-120"/>
              </a:rPr>
              <a:t>Zone 1 and Zone 2 lose direct connectivity with each other.</a:t>
            </a:r>
            <a:endParaRPr lang="en-US" sz="1250" dirty="0"/>
          </a:p>
        </p:txBody>
      </p:sp>
      <p:sp>
        <p:nvSpPr>
          <p:cNvPr id="22" name="Shape 20"/>
          <p:cNvSpPr/>
          <p:nvPr/>
        </p:nvSpPr>
        <p:spPr>
          <a:xfrm>
            <a:off x="6839712" y="2852928"/>
            <a:ext cx="384048" cy="384048"/>
          </a:xfrm>
          <a:prstGeom prst="ellipse">
            <a:avLst/>
          </a:prstGeom>
          <a:solidFill>
            <a:srgbClr val="5C5C6C"/>
          </a:solidFill>
          <a:ln w="12700">
            <a:solidFill>
              <a:srgbClr val="5C5C6C"/>
            </a:solidFill>
            <a:prstDash val="solid"/>
          </a:ln>
        </p:spPr>
      </p:sp>
      <p:sp>
        <p:nvSpPr>
          <p:cNvPr id="23" name="Text 21"/>
          <p:cNvSpPr/>
          <p:nvPr/>
        </p:nvSpPr>
        <p:spPr>
          <a:xfrm>
            <a:off x="6839712" y="285292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4" name="Text 22"/>
          <p:cNvSpPr/>
          <p:nvPr/>
        </p:nvSpPr>
        <p:spPr>
          <a:xfrm>
            <a:off x="7360920" y="2852928"/>
            <a:ext cx="3931920" cy="384048"/>
          </a:xfrm>
          <a:prstGeom prst="rect">
            <a:avLst/>
          </a:prstGeom>
          <a:noFill/>
          <a:ln/>
        </p:spPr>
        <p:txBody>
          <a:bodyPr wrap="square" lIns="0" tIns="0" rIns="0" bIns="0" rtlCol="0" anchor="ctr"/>
          <a:lstStyle/>
          <a:p>
            <a:pPr indent="0" marL="0">
              <a:buNone/>
            </a:pPr>
            <a:r>
              <a:rPr lang="en-US" sz="1250" dirty="0">
                <a:solidFill>
                  <a:srgbClr val="C9CCD6"/>
                </a:solidFill>
                <a:latin typeface="Calibri" pitchFamily="34" charset="0"/>
                <a:ea typeface="Calibri" pitchFamily="34" charset="-122"/>
                <a:cs typeface="Calibri" pitchFamily="34" charset="-120"/>
              </a:rPr>
              <a:t>Each contacts the witness over an independent path.</a:t>
            </a:r>
            <a:endParaRPr lang="en-US" sz="1250" dirty="0"/>
          </a:p>
        </p:txBody>
      </p:sp>
      <p:sp>
        <p:nvSpPr>
          <p:cNvPr id="25" name="Shape 23"/>
          <p:cNvSpPr/>
          <p:nvPr/>
        </p:nvSpPr>
        <p:spPr>
          <a:xfrm>
            <a:off x="6839712" y="3419856"/>
            <a:ext cx="384048" cy="384048"/>
          </a:xfrm>
          <a:prstGeom prst="ellipse">
            <a:avLst/>
          </a:prstGeom>
          <a:solidFill>
            <a:srgbClr val="5C5C6C"/>
          </a:solidFill>
          <a:ln w="12700">
            <a:solidFill>
              <a:srgbClr val="5C5C6C"/>
            </a:solidFill>
            <a:prstDash val="solid"/>
          </a:ln>
        </p:spPr>
      </p:sp>
      <p:sp>
        <p:nvSpPr>
          <p:cNvPr id="26" name="Text 24"/>
          <p:cNvSpPr/>
          <p:nvPr/>
        </p:nvSpPr>
        <p:spPr>
          <a:xfrm>
            <a:off x="6839712" y="341985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7" name="Text 25"/>
          <p:cNvSpPr/>
          <p:nvPr/>
        </p:nvSpPr>
        <p:spPr>
          <a:xfrm>
            <a:off x="7360920" y="3419856"/>
            <a:ext cx="3931920" cy="384048"/>
          </a:xfrm>
          <a:prstGeom prst="rect">
            <a:avLst/>
          </a:prstGeom>
          <a:noFill/>
          <a:ln/>
        </p:spPr>
        <p:txBody>
          <a:bodyPr wrap="square" lIns="0" tIns="0" rIns="0" bIns="0" rtlCol="0" anchor="ctr"/>
          <a:lstStyle/>
          <a:p>
            <a:pPr indent="0" marL="0">
              <a:buNone/>
            </a:pPr>
            <a:r>
              <a:rPr lang="en-US" sz="1250" dirty="0">
                <a:solidFill>
                  <a:srgbClr val="C9CCD6"/>
                </a:solidFill>
                <a:latin typeface="Calibri" pitchFamily="34" charset="0"/>
                <a:ea typeface="Calibri" pitchFamily="34" charset="-122"/>
                <a:cs typeface="Calibri" pitchFamily="34" charset="-120"/>
              </a:rPr>
              <a:t>The witness grants its vote to one side.</a:t>
            </a:r>
            <a:endParaRPr lang="en-US" sz="1250" dirty="0"/>
          </a:p>
        </p:txBody>
      </p:sp>
      <p:sp>
        <p:nvSpPr>
          <p:cNvPr id="28" name="Shape 26"/>
          <p:cNvSpPr/>
          <p:nvPr/>
        </p:nvSpPr>
        <p:spPr>
          <a:xfrm>
            <a:off x="6839712" y="3986784"/>
            <a:ext cx="384048" cy="384048"/>
          </a:xfrm>
          <a:prstGeom prst="ellipse">
            <a:avLst/>
          </a:prstGeom>
          <a:solidFill>
            <a:srgbClr val="5C5C6C"/>
          </a:solidFill>
          <a:ln w="12700">
            <a:solidFill>
              <a:srgbClr val="5C5C6C"/>
            </a:solidFill>
            <a:prstDash val="solid"/>
          </a:ln>
        </p:spPr>
      </p:sp>
      <p:sp>
        <p:nvSpPr>
          <p:cNvPr id="29" name="Text 27"/>
          <p:cNvSpPr/>
          <p:nvPr/>
        </p:nvSpPr>
        <p:spPr>
          <a:xfrm>
            <a:off x="6839712" y="398678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0" name="Text 28"/>
          <p:cNvSpPr/>
          <p:nvPr/>
        </p:nvSpPr>
        <p:spPr>
          <a:xfrm>
            <a:off x="7360920" y="3986784"/>
            <a:ext cx="3931920" cy="384048"/>
          </a:xfrm>
          <a:prstGeom prst="rect">
            <a:avLst/>
          </a:prstGeom>
          <a:noFill/>
          <a:ln/>
        </p:spPr>
        <p:txBody>
          <a:bodyPr wrap="square" lIns="0" tIns="0" rIns="0" bIns="0" rtlCol="0" anchor="ctr"/>
          <a:lstStyle/>
          <a:p>
            <a:pPr indent="0" marL="0">
              <a:buNone/>
            </a:pPr>
            <a:r>
              <a:rPr lang="en-US" sz="1250" dirty="0">
                <a:solidFill>
                  <a:srgbClr val="C9CCD6"/>
                </a:solidFill>
                <a:latin typeface="Calibri" pitchFamily="34" charset="0"/>
                <a:ea typeface="Calibri" pitchFamily="34" charset="-122"/>
                <a:cs typeface="Calibri" pitchFamily="34" charset="-120"/>
              </a:rPr>
              <a:t>The winning side holds two of three votes and keeps serving workloads.</a:t>
            </a:r>
            <a:endParaRPr lang="en-US" sz="1250" dirty="0"/>
          </a:p>
        </p:txBody>
      </p:sp>
      <p:sp>
        <p:nvSpPr>
          <p:cNvPr id="31" name="Shape 29"/>
          <p:cNvSpPr/>
          <p:nvPr/>
        </p:nvSpPr>
        <p:spPr>
          <a:xfrm>
            <a:off x="6839712" y="4553712"/>
            <a:ext cx="384048" cy="384048"/>
          </a:xfrm>
          <a:prstGeom prst="ellipse">
            <a:avLst/>
          </a:prstGeom>
          <a:solidFill>
            <a:srgbClr val="F15D23"/>
          </a:solidFill>
          <a:ln w="12700">
            <a:solidFill>
              <a:srgbClr val="F15D23"/>
            </a:solidFill>
            <a:prstDash val="solid"/>
          </a:ln>
        </p:spPr>
      </p:sp>
      <p:sp>
        <p:nvSpPr>
          <p:cNvPr id="32" name="Text 30"/>
          <p:cNvSpPr/>
          <p:nvPr/>
        </p:nvSpPr>
        <p:spPr>
          <a:xfrm>
            <a:off x="6839712" y="455371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31"/>
          <p:cNvSpPr/>
          <p:nvPr/>
        </p:nvSpPr>
        <p:spPr>
          <a:xfrm>
            <a:off x="7360920" y="4553712"/>
            <a:ext cx="3931920" cy="384048"/>
          </a:xfrm>
          <a:prstGeom prst="rect">
            <a:avLst/>
          </a:prstGeom>
          <a:noFill/>
          <a:ln/>
        </p:spPr>
        <p:txBody>
          <a:bodyPr wrap="square" lIns="0" tIns="0" rIns="0" bIns="0" rtlCol="0" anchor="ctr"/>
          <a:lstStyle/>
          <a:p>
            <a:pPr indent="0" marL="0">
              <a:buNone/>
            </a:pPr>
            <a:r>
              <a:rPr lang="en-US" sz="1250" dirty="0">
                <a:solidFill>
                  <a:srgbClr val="C9CCD6"/>
                </a:solidFill>
                <a:latin typeface="Calibri" pitchFamily="34" charset="0"/>
                <a:ea typeface="Calibri" pitchFamily="34" charset="-122"/>
                <a:cs typeface="Calibri" pitchFamily="34" charset="-120"/>
              </a:rPr>
              <a:t>The losing side cannot reach quorum and suspends storage I/O.</a:t>
            </a:r>
            <a:endParaRPr lang="en-US" sz="1250" dirty="0"/>
          </a:p>
        </p:txBody>
      </p:sp>
      <p:sp>
        <p:nvSpPr>
          <p:cNvPr id="34" name="Shape 32"/>
          <p:cNvSpPr/>
          <p:nvPr/>
        </p:nvSpPr>
        <p:spPr>
          <a:xfrm>
            <a:off x="6839712" y="5166360"/>
            <a:ext cx="4389120" cy="457200"/>
          </a:xfrm>
          <a:prstGeom prst="roundRect">
            <a:avLst>
              <a:gd name="adj" fmla="val 14000"/>
            </a:avLst>
          </a:prstGeom>
          <a:solidFill>
            <a:srgbClr val="2F2F3A"/>
          </a:solidFill>
          <a:ln w="9525">
            <a:solidFill>
              <a:srgbClr val="5C5C6C"/>
            </a:solidFill>
            <a:prstDash val="solid"/>
          </a:ln>
        </p:spPr>
      </p:sp>
      <p:sp>
        <p:nvSpPr>
          <p:cNvPr id="35" name="Text 33"/>
          <p:cNvSpPr/>
          <p:nvPr/>
        </p:nvSpPr>
        <p:spPr>
          <a:xfrm>
            <a:off x="7022592" y="5166360"/>
            <a:ext cx="4023360" cy="457200"/>
          </a:xfrm>
          <a:prstGeom prst="rect">
            <a:avLst/>
          </a:prstGeom>
          <a:noFill/>
          <a:ln/>
        </p:spPr>
        <p:txBody>
          <a:bodyPr wrap="square" lIns="0" tIns="0" rIns="0" bIns="0" rtlCol="0" anchor="ctr"/>
          <a:lstStyle/>
          <a:p>
            <a:pPr indent="0" marL="0">
              <a:buNone/>
            </a:pPr>
            <a:r>
              <a:rPr lang="en-US" sz="1250" b="1" dirty="0">
                <a:solidFill>
                  <a:srgbClr val="FAC458"/>
                </a:solidFill>
                <a:latin typeface="Calibri" pitchFamily="34" charset="0"/>
                <a:ea typeface="Calibri" pitchFamily="34" charset="-122"/>
                <a:cs typeface="Calibri" pitchFamily="34" charset="-120"/>
              </a:rPr>
              <a:t>The isolated side deliberately stops itself so the two sites cannot diverge.</a:t>
            </a:r>
            <a:endParaRPr lang="en-US" sz="1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37744"/>
          </a:xfrm>
          <a:prstGeom prst="rect">
            <a:avLst/>
          </a:prstGeom>
          <a:noFill/>
          <a:ln/>
        </p:spPr>
        <p:txBody>
          <a:bodyPr wrap="square" lIns="0" tIns="0" rIns="0" bIns="0" rtlCol="0" anchor="ctr"/>
          <a:lstStyle/>
          <a:p>
            <a:pPr indent="0" marL="0">
              <a:buNone/>
            </a:pPr>
            <a:r>
              <a:rPr lang="en-US" sz="1100" b="1" spc="200" kern="0" dirty="0">
                <a:solidFill>
                  <a:srgbClr val="00B3E2"/>
                </a:solidFill>
                <a:latin typeface="Calibri" pitchFamily="34" charset="0"/>
                <a:ea typeface="Calibri" pitchFamily="34" charset="-122"/>
                <a:cs typeface="Calibri" pitchFamily="34" charset="-120"/>
              </a:rPr>
              <a:t>AVAILABILITY ZONES</a:t>
            </a:r>
            <a:endParaRPr lang="en-US" sz="1100" dirty="0"/>
          </a:p>
        </p:txBody>
      </p:sp>
      <p:sp>
        <p:nvSpPr>
          <p:cNvPr id="3" name="Text 1"/>
          <p:cNvSpPr/>
          <p:nvPr/>
        </p:nvSpPr>
        <p:spPr>
          <a:xfrm>
            <a:off x="640080" y="658368"/>
            <a:ext cx="10911535" cy="566928"/>
          </a:xfrm>
          <a:prstGeom prst="rect">
            <a:avLst/>
          </a:prstGeom>
          <a:noFill/>
          <a:ln/>
        </p:spPr>
        <p:txBody>
          <a:bodyPr wrap="square" lIns="0" tIns="0" rIns="0" bIns="0" rtlCol="0" anchor="ctr"/>
          <a:lstStyle/>
          <a:p>
            <a:pPr indent="0" marL="0">
              <a:buNone/>
            </a:pPr>
            <a:r>
              <a:rPr lang="en-US" sz="3400" b="1" dirty="0">
                <a:solidFill>
                  <a:srgbClr val="3E3E4B"/>
                </a:solidFill>
                <a:latin typeface="Calibri" pitchFamily="34" charset="0"/>
                <a:ea typeface="Calibri" pitchFamily="34" charset="-122"/>
                <a:cs typeface="Calibri" pitchFamily="34" charset="-120"/>
              </a:rPr>
              <a:t>What a zone failure actually looks like</a:t>
            </a:r>
            <a:endParaRPr lang="en-US" sz="3400" dirty="0"/>
          </a:p>
        </p:txBody>
      </p:sp>
      <p:sp>
        <p:nvSpPr>
          <p:cNvPr id="4" name="Shape 2"/>
          <p:cNvSpPr/>
          <p:nvPr/>
        </p:nvSpPr>
        <p:spPr>
          <a:xfrm>
            <a:off x="640080" y="1600200"/>
            <a:ext cx="10911535" cy="676656"/>
          </a:xfrm>
          <a:prstGeom prst="roundRect">
            <a:avLst>
              <a:gd name="adj" fmla="val 9459"/>
            </a:avLst>
          </a:prstGeom>
          <a:solidFill>
            <a:srgbClr val="F4F7F8"/>
          </a:solidFill>
          <a:ln w="9525">
            <a:solidFill>
              <a:srgbClr val="DDE2E2"/>
            </a:solidFill>
            <a:prstDash val="solid"/>
          </a:ln>
        </p:spPr>
      </p:sp>
      <p:sp>
        <p:nvSpPr>
          <p:cNvPr id="5" name="Shape 3"/>
          <p:cNvSpPr/>
          <p:nvPr/>
        </p:nvSpPr>
        <p:spPr>
          <a:xfrm>
            <a:off x="868680" y="1746504"/>
            <a:ext cx="384048" cy="384048"/>
          </a:xfrm>
          <a:prstGeom prst="ellipse">
            <a:avLst/>
          </a:prstGeom>
          <a:solidFill>
            <a:srgbClr val="3E3E4B"/>
          </a:solidFill>
          <a:ln w="12700">
            <a:solidFill>
              <a:srgbClr val="3E3E4B"/>
            </a:solidFill>
            <a:prstDash val="solid"/>
          </a:ln>
        </p:spPr>
      </p:sp>
      <p:sp>
        <p:nvSpPr>
          <p:cNvPr id="6" name="Text 4"/>
          <p:cNvSpPr/>
          <p:nvPr/>
        </p:nvSpPr>
        <p:spPr>
          <a:xfrm>
            <a:off x="868680" y="174650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417320" y="1600200"/>
            <a:ext cx="3200400" cy="676656"/>
          </a:xfrm>
          <a:prstGeom prst="rect">
            <a:avLst/>
          </a:prstGeom>
          <a:noFill/>
          <a:ln/>
        </p:spPr>
        <p:txBody>
          <a:bodyPr wrap="square" lIns="0" tIns="0" rIns="0" bIns="0" rtlCol="0" anchor="ctr"/>
          <a:lstStyle/>
          <a:p>
            <a:pPr indent="0" marL="0">
              <a:buNone/>
            </a:pPr>
            <a:r>
              <a:rPr lang="en-US" sz="1450" b="1" dirty="0">
                <a:solidFill>
                  <a:srgbClr val="3E3E4B"/>
                </a:solidFill>
                <a:latin typeface="Calibri" pitchFamily="34" charset="0"/>
                <a:ea typeface="Calibri" pitchFamily="34" charset="-122"/>
                <a:cs typeface="Calibri" pitchFamily="34" charset="-120"/>
              </a:rPr>
              <a:t>Detection and notification</a:t>
            </a:r>
            <a:endParaRPr lang="en-US" sz="1450" dirty="0"/>
          </a:p>
        </p:txBody>
      </p:sp>
      <p:sp>
        <p:nvSpPr>
          <p:cNvPr id="8" name="Text 6"/>
          <p:cNvSpPr/>
          <p:nvPr/>
        </p:nvSpPr>
        <p:spPr>
          <a:xfrm>
            <a:off x="4754880" y="1600200"/>
            <a:ext cx="6675120" cy="676656"/>
          </a:xfrm>
          <a:prstGeom prst="rect">
            <a:avLst/>
          </a:prstGeom>
          <a:noFill/>
          <a:ln/>
        </p:spPr>
        <p:txBody>
          <a:bodyPr wrap="square" lIns="0" tIns="0" rIns="0" bIns="0" rtlCol="0" anchor="ctr"/>
          <a:lstStyle/>
          <a:p>
            <a:pPr indent="0" marL="0">
              <a:buNone/>
            </a:pPr>
            <a:r>
              <a:rPr lang="en-US" sz="1250" dirty="0">
                <a:solidFill>
                  <a:srgbClr val="55555F"/>
                </a:solidFill>
                <a:latin typeface="Calibri" pitchFamily="34" charset="0"/>
                <a:ea typeface="Calibri" pitchFamily="34" charset="-122"/>
                <a:cs typeface="Calibri" pitchFamily="34" charset="-120"/>
              </a:rPr>
              <a:t>Monitor Azure Resource Health and Service Health. Do not plan around a proactive phone call from Microsoft.</a:t>
            </a:r>
            <a:endParaRPr lang="en-US" sz="1250" dirty="0"/>
          </a:p>
        </p:txBody>
      </p:sp>
      <p:sp>
        <p:nvSpPr>
          <p:cNvPr id="9" name="Shape 7"/>
          <p:cNvSpPr/>
          <p:nvPr/>
        </p:nvSpPr>
        <p:spPr>
          <a:xfrm>
            <a:off x="640080" y="2395728"/>
            <a:ext cx="10911535" cy="676656"/>
          </a:xfrm>
          <a:prstGeom prst="roundRect">
            <a:avLst>
              <a:gd name="adj" fmla="val 9459"/>
            </a:avLst>
          </a:prstGeom>
          <a:solidFill>
            <a:srgbClr val="F4F7F8"/>
          </a:solidFill>
          <a:ln w="9525">
            <a:solidFill>
              <a:srgbClr val="DDE2E2"/>
            </a:solidFill>
            <a:prstDash val="solid"/>
          </a:ln>
        </p:spPr>
      </p:sp>
      <p:sp>
        <p:nvSpPr>
          <p:cNvPr id="10" name="Shape 8"/>
          <p:cNvSpPr/>
          <p:nvPr/>
        </p:nvSpPr>
        <p:spPr>
          <a:xfrm>
            <a:off x="868680" y="2542032"/>
            <a:ext cx="384048" cy="384048"/>
          </a:xfrm>
          <a:prstGeom prst="ellipse">
            <a:avLst/>
          </a:prstGeom>
          <a:solidFill>
            <a:srgbClr val="3E3E4B"/>
          </a:solidFill>
          <a:ln w="12700">
            <a:solidFill>
              <a:srgbClr val="3E3E4B"/>
            </a:solidFill>
            <a:prstDash val="solid"/>
          </a:ln>
        </p:spPr>
      </p:sp>
      <p:sp>
        <p:nvSpPr>
          <p:cNvPr id="11" name="Text 9"/>
          <p:cNvSpPr/>
          <p:nvPr/>
        </p:nvSpPr>
        <p:spPr>
          <a:xfrm>
            <a:off x="868680" y="254203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1417320" y="2395728"/>
            <a:ext cx="3200400" cy="676656"/>
          </a:xfrm>
          <a:prstGeom prst="rect">
            <a:avLst/>
          </a:prstGeom>
          <a:noFill/>
          <a:ln/>
        </p:spPr>
        <p:txBody>
          <a:bodyPr wrap="square" lIns="0" tIns="0" rIns="0" bIns="0" rtlCol="0" anchor="ctr"/>
          <a:lstStyle/>
          <a:p>
            <a:pPr indent="0" marL="0">
              <a:buNone/>
            </a:pPr>
            <a:r>
              <a:rPr lang="en-US" sz="1450" b="1" dirty="0">
                <a:solidFill>
                  <a:srgbClr val="3E3E4B"/>
                </a:solidFill>
                <a:latin typeface="Calibri" pitchFamily="34" charset="0"/>
                <a:ea typeface="Calibri" pitchFamily="34" charset="-122"/>
                <a:cs typeface="Calibri" pitchFamily="34" charset="-120"/>
              </a:rPr>
              <a:t>Immediate workload impact</a:t>
            </a:r>
            <a:endParaRPr lang="en-US" sz="1450" dirty="0"/>
          </a:p>
        </p:txBody>
      </p:sp>
      <p:sp>
        <p:nvSpPr>
          <p:cNvPr id="13" name="Text 11"/>
          <p:cNvSpPr/>
          <p:nvPr/>
        </p:nvSpPr>
        <p:spPr>
          <a:xfrm>
            <a:off x="4754880" y="2395728"/>
            <a:ext cx="6675120" cy="676656"/>
          </a:xfrm>
          <a:prstGeom prst="rect">
            <a:avLst/>
          </a:prstGeom>
          <a:noFill/>
          <a:ln/>
        </p:spPr>
        <p:txBody>
          <a:bodyPr wrap="square" lIns="0" tIns="0" rIns="0" bIns="0" rtlCol="0" anchor="ctr"/>
          <a:lstStyle/>
          <a:p>
            <a:pPr indent="0" marL="0">
              <a:buNone/>
            </a:pPr>
            <a:r>
              <a:rPr lang="en-US" sz="1250" dirty="0">
                <a:solidFill>
                  <a:srgbClr val="55555F"/>
                </a:solidFill>
                <a:latin typeface="Calibri" pitchFamily="34" charset="0"/>
                <a:ea typeface="Calibri" pitchFamily="34" charset="-122"/>
                <a:cs typeface="Calibri" pitchFamily="34" charset="-120"/>
              </a:rPr>
              <a:t>Active TCP connections to VMs in the failed zone terminate. Applications see errors or reconnect events.</a:t>
            </a:r>
            <a:endParaRPr lang="en-US" sz="1250" dirty="0"/>
          </a:p>
        </p:txBody>
      </p:sp>
      <p:sp>
        <p:nvSpPr>
          <p:cNvPr id="14" name="Shape 12"/>
          <p:cNvSpPr/>
          <p:nvPr/>
        </p:nvSpPr>
        <p:spPr>
          <a:xfrm>
            <a:off x="640080" y="3191256"/>
            <a:ext cx="10911535" cy="676656"/>
          </a:xfrm>
          <a:prstGeom prst="roundRect">
            <a:avLst>
              <a:gd name="adj" fmla="val 9459"/>
            </a:avLst>
          </a:prstGeom>
          <a:solidFill>
            <a:srgbClr val="F4F7F8"/>
          </a:solidFill>
          <a:ln w="9525">
            <a:solidFill>
              <a:srgbClr val="DDE2E2"/>
            </a:solidFill>
            <a:prstDash val="solid"/>
          </a:ln>
        </p:spPr>
      </p:sp>
      <p:sp>
        <p:nvSpPr>
          <p:cNvPr id="15" name="Shape 13"/>
          <p:cNvSpPr/>
          <p:nvPr/>
        </p:nvSpPr>
        <p:spPr>
          <a:xfrm>
            <a:off x="868680" y="3337560"/>
            <a:ext cx="384048" cy="384048"/>
          </a:xfrm>
          <a:prstGeom prst="ellipse">
            <a:avLst/>
          </a:prstGeom>
          <a:solidFill>
            <a:srgbClr val="3E3E4B"/>
          </a:solidFill>
          <a:ln w="12700">
            <a:solidFill>
              <a:srgbClr val="3E3E4B"/>
            </a:solidFill>
            <a:prstDash val="solid"/>
          </a:ln>
        </p:spPr>
      </p:sp>
      <p:sp>
        <p:nvSpPr>
          <p:cNvPr id="16" name="Text 14"/>
          <p:cNvSpPr/>
          <p:nvPr/>
        </p:nvSpPr>
        <p:spPr>
          <a:xfrm>
            <a:off x="868680" y="333756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1417320" y="3191256"/>
            <a:ext cx="3200400" cy="676656"/>
          </a:xfrm>
          <a:prstGeom prst="rect">
            <a:avLst/>
          </a:prstGeom>
          <a:noFill/>
          <a:ln/>
        </p:spPr>
        <p:txBody>
          <a:bodyPr wrap="square" lIns="0" tIns="0" rIns="0" bIns="0" rtlCol="0" anchor="ctr"/>
          <a:lstStyle/>
          <a:p>
            <a:pPr indent="0" marL="0">
              <a:buNone/>
            </a:pPr>
            <a:r>
              <a:rPr lang="en-US" sz="1450" b="1" dirty="0">
                <a:solidFill>
                  <a:srgbClr val="3E3E4B"/>
                </a:solidFill>
                <a:latin typeface="Calibri" pitchFamily="34" charset="0"/>
                <a:ea typeface="Calibri" pitchFamily="34" charset="-122"/>
                <a:cs typeface="Calibri" pitchFamily="34" charset="-120"/>
              </a:rPr>
              <a:t>Quorum and recovery</a:t>
            </a:r>
            <a:endParaRPr lang="en-US" sz="1450" dirty="0"/>
          </a:p>
        </p:txBody>
      </p:sp>
      <p:sp>
        <p:nvSpPr>
          <p:cNvPr id="18" name="Text 16"/>
          <p:cNvSpPr/>
          <p:nvPr/>
        </p:nvSpPr>
        <p:spPr>
          <a:xfrm>
            <a:off x="4754880" y="3191256"/>
            <a:ext cx="6675120" cy="676656"/>
          </a:xfrm>
          <a:prstGeom prst="rect">
            <a:avLst/>
          </a:prstGeom>
          <a:noFill/>
          <a:ln/>
        </p:spPr>
        <p:txBody>
          <a:bodyPr wrap="square" lIns="0" tIns="0" rIns="0" bIns="0" rtlCol="0" anchor="ctr"/>
          <a:lstStyle/>
          <a:p>
            <a:pPr indent="0" marL="0">
              <a:buNone/>
            </a:pPr>
            <a:r>
              <a:rPr lang="en-US" sz="1250" dirty="0">
                <a:solidFill>
                  <a:srgbClr val="55555F"/>
                </a:solidFill>
                <a:latin typeface="Calibri" pitchFamily="34" charset="0"/>
                <a:ea typeface="Calibri" pitchFamily="34" charset="-122"/>
                <a:cs typeface="Calibri" pitchFamily="34" charset="-120"/>
              </a:rPr>
              <a:t>The surviving zone reaches the witness, obtains quorum, and vSphere HA restarts failed VMs on its own hosts, described as occurring within minutes.</a:t>
            </a:r>
            <a:endParaRPr lang="en-US" sz="1250" dirty="0"/>
          </a:p>
        </p:txBody>
      </p:sp>
      <p:sp>
        <p:nvSpPr>
          <p:cNvPr id="19" name="Shape 17"/>
          <p:cNvSpPr/>
          <p:nvPr/>
        </p:nvSpPr>
        <p:spPr>
          <a:xfrm>
            <a:off x="640080" y="3986784"/>
            <a:ext cx="10911535" cy="676656"/>
          </a:xfrm>
          <a:prstGeom prst="roundRect">
            <a:avLst>
              <a:gd name="adj" fmla="val 9459"/>
            </a:avLst>
          </a:prstGeom>
          <a:solidFill>
            <a:srgbClr val="F4F7F8"/>
          </a:solidFill>
          <a:ln w="9525">
            <a:solidFill>
              <a:srgbClr val="DDE2E2"/>
            </a:solidFill>
            <a:prstDash val="solid"/>
          </a:ln>
        </p:spPr>
      </p:sp>
      <p:sp>
        <p:nvSpPr>
          <p:cNvPr id="20" name="Shape 18"/>
          <p:cNvSpPr/>
          <p:nvPr/>
        </p:nvSpPr>
        <p:spPr>
          <a:xfrm>
            <a:off x="868680" y="4133088"/>
            <a:ext cx="384048" cy="384048"/>
          </a:xfrm>
          <a:prstGeom prst="ellipse">
            <a:avLst/>
          </a:prstGeom>
          <a:solidFill>
            <a:srgbClr val="3E3E4B"/>
          </a:solidFill>
          <a:ln w="12700">
            <a:solidFill>
              <a:srgbClr val="3E3E4B"/>
            </a:solidFill>
            <a:prstDash val="solid"/>
          </a:ln>
        </p:spPr>
      </p:sp>
      <p:sp>
        <p:nvSpPr>
          <p:cNvPr id="21" name="Text 19"/>
          <p:cNvSpPr/>
          <p:nvPr/>
        </p:nvSpPr>
        <p:spPr>
          <a:xfrm>
            <a:off x="868680" y="413308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2" name="Text 20"/>
          <p:cNvSpPr/>
          <p:nvPr/>
        </p:nvSpPr>
        <p:spPr>
          <a:xfrm>
            <a:off x="1417320" y="3986784"/>
            <a:ext cx="3200400" cy="676656"/>
          </a:xfrm>
          <a:prstGeom prst="rect">
            <a:avLst/>
          </a:prstGeom>
          <a:noFill/>
          <a:ln/>
        </p:spPr>
        <p:txBody>
          <a:bodyPr wrap="square" lIns="0" tIns="0" rIns="0" bIns="0" rtlCol="0" anchor="ctr"/>
          <a:lstStyle/>
          <a:p>
            <a:pPr indent="0" marL="0">
              <a:buNone/>
            </a:pPr>
            <a:r>
              <a:rPr lang="en-US" sz="1450" b="1" dirty="0">
                <a:solidFill>
                  <a:srgbClr val="3E3E4B"/>
                </a:solidFill>
                <a:latin typeface="Calibri" pitchFamily="34" charset="0"/>
                <a:ea typeface="Calibri" pitchFamily="34" charset="-122"/>
                <a:cs typeface="Calibri" pitchFamily="34" charset="-120"/>
              </a:rPr>
              <a:t>Data protection</a:t>
            </a:r>
            <a:endParaRPr lang="en-US" sz="1450" dirty="0"/>
          </a:p>
        </p:txBody>
      </p:sp>
      <p:sp>
        <p:nvSpPr>
          <p:cNvPr id="23" name="Text 21"/>
          <p:cNvSpPr/>
          <p:nvPr/>
        </p:nvSpPr>
        <p:spPr>
          <a:xfrm>
            <a:off x="4754880" y="3986784"/>
            <a:ext cx="6675120" cy="676656"/>
          </a:xfrm>
          <a:prstGeom prst="rect">
            <a:avLst/>
          </a:prstGeom>
          <a:noFill/>
          <a:ln/>
        </p:spPr>
        <p:txBody>
          <a:bodyPr wrap="square" lIns="0" tIns="0" rIns="0" bIns="0" rtlCol="0" anchor="ctr"/>
          <a:lstStyle/>
          <a:p>
            <a:pPr indent="0" marL="0">
              <a:buNone/>
            </a:pPr>
            <a:r>
              <a:rPr lang="en-US" sz="1250" dirty="0">
                <a:solidFill>
                  <a:srgbClr val="55555F"/>
                </a:solidFill>
                <a:latin typeface="Calibri" pitchFamily="34" charset="0"/>
                <a:ea typeface="Calibri" pitchFamily="34" charset="-122"/>
                <a:cs typeface="Calibri" pitchFamily="34" charset="-120"/>
              </a:rPr>
              <a:t>Synchronous vSAN replication means committed writes already exist in the surviving zone. The design targets zero data loss.</a:t>
            </a:r>
            <a:endParaRPr lang="en-US" sz="1250" dirty="0"/>
          </a:p>
        </p:txBody>
      </p:sp>
      <p:sp>
        <p:nvSpPr>
          <p:cNvPr id="24" name="Shape 22"/>
          <p:cNvSpPr/>
          <p:nvPr/>
        </p:nvSpPr>
        <p:spPr>
          <a:xfrm>
            <a:off x="640080" y="4782312"/>
            <a:ext cx="10911535" cy="676656"/>
          </a:xfrm>
          <a:prstGeom prst="roundRect">
            <a:avLst>
              <a:gd name="adj" fmla="val 9459"/>
            </a:avLst>
          </a:prstGeom>
          <a:solidFill>
            <a:srgbClr val="E5F7FC"/>
          </a:solidFill>
          <a:ln w="9525">
            <a:solidFill>
              <a:srgbClr val="B2E8F6"/>
            </a:solidFill>
            <a:prstDash val="solid"/>
          </a:ln>
        </p:spPr>
      </p:sp>
      <p:sp>
        <p:nvSpPr>
          <p:cNvPr id="25" name="Shape 23"/>
          <p:cNvSpPr/>
          <p:nvPr/>
        </p:nvSpPr>
        <p:spPr>
          <a:xfrm>
            <a:off x="868680" y="4928616"/>
            <a:ext cx="384048" cy="384048"/>
          </a:xfrm>
          <a:prstGeom prst="ellipse">
            <a:avLst/>
          </a:prstGeom>
          <a:solidFill>
            <a:srgbClr val="00B3E2"/>
          </a:solidFill>
          <a:ln w="12700">
            <a:solidFill>
              <a:srgbClr val="00B3E2"/>
            </a:solidFill>
            <a:prstDash val="solid"/>
          </a:ln>
        </p:spPr>
      </p:sp>
      <p:sp>
        <p:nvSpPr>
          <p:cNvPr id="26" name="Text 24"/>
          <p:cNvSpPr/>
          <p:nvPr/>
        </p:nvSpPr>
        <p:spPr>
          <a:xfrm>
            <a:off x="868680" y="492861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7" name="Text 25"/>
          <p:cNvSpPr/>
          <p:nvPr/>
        </p:nvSpPr>
        <p:spPr>
          <a:xfrm>
            <a:off x="1417320" y="4782312"/>
            <a:ext cx="3200400" cy="676656"/>
          </a:xfrm>
          <a:prstGeom prst="rect">
            <a:avLst/>
          </a:prstGeom>
          <a:noFill/>
          <a:ln/>
        </p:spPr>
        <p:txBody>
          <a:bodyPr wrap="square" lIns="0" tIns="0" rIns="0" bIns="0" rtlCol="0" anchor="ctr"/>
          <a:lstStyle/>
          <a:p>
            <a:pPr indent="0" marL="0">
              <a:buNone/>
            </a:pPr>
            <a:r>
              <a:rPr lang="en-US" sz="1450" b="1" dirty="0">
                <a:solidFill>
                  <a:srgbClr val="3E3E4B"/>
                </a:solidFill>
                <a:latin typeface="Calibri" pitchFamily="34" charset="0"/>
                <a:ea typeface="Calibri" pitchFamily="34" charset="-122"/>
                <a:cs typeface="Calibri" pitchFamily="34" charset="-120"/>
              </a:rPr>
              <a:t>Degraded operation</a:t>
            </a:r>
            <a:endParaRPr lang="en-US" sz="1450" dirty="0"/>
          </a:p>
        </p:txBody>
      </p:sp>
      <p:sp>
        <p:nvSpPr>
          <p:cNvPr id="28" name="Text 26"/>
          <p:cNvSpPr/>
          <p:nvPr/>
        </p:nvSpPr>
        <p:spPr>
          <a:xfrm>
            <a:off x="4754880" y="4782312"/>
            <a:ext cx="6675120" cy="676656"/>
          </a:xfrm>
          <a:prstGeom prst="rect">
            <a:avLst/>
          </a:prstGeom>
          <a:noFill/>
          <a:ln/>
        </p:spPr>
        <p:txBody>
          <a:bodyPr wrap="square" lIns="0" tIns="0" rIns="0" bIns="0" rtlCol="0" anchor="ctr"/>
          <a:lstStyle/>
          <a:p>
            <a:pPr indent="0" marL="0">
              <a:buNone/>
            </a:pPr>
            <a:r>
              <a:rPr lang="en-US" sz="1250" dirty="0">
                <a:solidFill>
                  <a:srgbClr val="55555F"/>
                </a:solidFill>
                <a:latin typeface="Calibri" pitchFamily="34" charset="0"/>
                <a:ea typeface="Calibri" pitchFamily="34" charset="-122"/>
                <a:cs typeface="Calibri" pitchFamily="34" charset="-120"/>
              </a:rPr>
              <a:t>The private cloud stays available with reduced compute and storage. Full redundancy returns only after Microsoft repairs the zone and rebalances the cluster.</a:t>
            </a:r>
            <a:endParaRPr lang="en-US" sz="1250" dirty="0"/>
          </a:p>
        </p:txBody>
      </p:sp>
      <p:sp>
        <p:nvSpPr>
          <p:cNvPr id="29" name="Text 27"/>
          <p:cNvSpPr/>
          <p:nvPr/>
        </p:nvSpPr>
        <p:spPr>
          <a:xfrm>
            <a:off x="640080" y="5715000"/>
            <a:ext cx="10911535" cy="365760"/>
          </a:xfrm>
          <a:prstGeom prst="rect">
            <a:avLst/>
          </a:prstGeom>
          <a:noFill/>
          <a:ln/>
        </p:spPr>
        <p:txBody>
          <a:bodyPr wrap="square" lIns="0" tIns="0" rIns="0" bIns="0" rtlCol="0" anchor="ctr"/>
          <a:lstStyle/>
          <a:p>
            <a:pPr indent="0" marL="0">
              <a:buNone/>
            </a:pPr>
            <a:r>
              <a:rPr lang="en-US" sz="1100" i="1" dirty="0">
                <a:solidFill>
                  <a:srgbClr val="7A7A86"/>
                </a:solidFill>
                <a:latin typeface="Calibri" pitchFamily="34" charset="0"/>
                <a:ea typeface="Calibri" pitchFamily="34" charset="-122"/>
                <a:cs typeface="Calibri" pitchFamily="34" charset="-120"/>
              </a:rPr>
              <a:t>Documentation note: Microsoft documents Service Health notifications for upgrades and email notifications for host replacement to eligible subscription roles, so notification does exist. The practical point stands: build monitoring rather than waiting to be told.</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37744"/>
          </a:xfrm>
          <a:prstGeom prst="rect">
            <a:avLst/>
          </a:prstGeom>
          <a:noFill/>
          <a:ln/>
        </p:spPr>
        <p:txBody>
          <a:bodyPr wrap="square" lIns="0" tIns="0" rIns="0" bIns="0" rtlCol="0" anchor="ctr"/>
          <a:lstStyle/>
          <a:p>
            <a:pPr indent="0" marL="0">
              <a:buNone/>
            </a:pPr>
            <a:r>
              <a:rPr lang="en-US" sz="1100" b="1" spc="200" kern="0" dirty="0">
                <a:solidFill>
                  <a:srgbClr val="00B3E2"/>
                </a:solidFill>
                <a:latin typeface="Calibri" pitchFamily="34" charset="0"/>
                <a:ea typeface="Calibri" pitchFamily="34" charset="-122"/>
                <a:cs typeface="Calibri" pitchFamily="34" charset="-120"/>
              </a:rPr>
              <a:t>PLATFORM LIFECYCLE</a:t>
            </a:r>
            <a:endParaRPr lang="en-US" sz="1100" dirty="0"/>
          </a:p>
        </p:txBody>
      </p:sp>
      <p:sp>
        <p:nvSpPr>
          <p:cNvPr id="3" name="Text 1"/>
          <p:cNvSpPr/>
          <p:nvPr/>
        </p:nvSpPr>
        <p:spPr>
          <a:xfrm>
            <a:off x="640080" y="658368"/>
            <a:ext cx="10911535" cy="566928"/>
          </a:xfrm>
          <a:prstGeom prst="rect">
            <a:avLst/>
          </a:prstGeom>
          <a:noFill/>
          <a:ln/>
        </p:spPr>
        <p:txBody>
          <a:bodyPr wrap="square" lIns="0" tIns="0" rIns="0" bIns="0" rtlCol="0" anchor="ctr"/>
          <a:lstStyle/>
          <a:p>
            <a:pPr indent="0" marL="0">
              <a:buNone/>
            </a:pPr>
            <a:r>
              <a:rPr lang="en-US" sz="3400" b="1" dirty="0">
                <a:solidFill>
                  <a:srgbClr val="3E3E4B"/>
                </a:solidFill>
                <a:latin typeface="Calibri" pitchFamily="34" charset="0"/>
                <a:ea typeface="Calibri" pitchFamily="34" charset="-122"/>
                <a:cs typeface="Calibri" pitchFamily="34" charset="-120"/>
              </a:rPr>
              <a:t>Maintenance is a shared responsibility too</a:t>
            </a:r>
            <a:endParaRPr lang="en-US" sz="3400" dirty="0"/>
          </a:p>
        </p:txBody>
      </p:sp>
      <p:sp>
        <p:nvSpPr>
          <p:cNvPr id="4" name="Shape 2"/>
          <p:cNvSpPr/>
          <p:nvPr/>
        </p:nvSpPr>
        <p:spPr>
          <a:xfrm>
            <a:off x="640080" y="1691640"/>
            <a:ext cx="5257800" cy="3017520"/>
          </a:xfrm>
          <a:prstGeom prst="roundRect">
            <a:avLst>
              <a:gd name="adj" fmla="val 2121"/>
            </a:avLst>
          </a:prstGeom>
          <a:solidFill>
            <a:srgbClr val="F4F7F8"/>
          </a:solidFill>
          <a:ln w="9525">
            <a:solidFill>
              <a:srgbClr val="DDE2E2"/>
            </a:solidFill>
            <a:prstDash val="solid"/>
          </a:ln>
        </p:spPr>
      </p:sp>
      <p:sp>
        <p:nvSpPr>
          <p:cNvPr id="5" name="Shape 3"/>
          <p:cNvSpPr/>
          <p:nvPr/>
        </p:nvSpPr>
        <p:spPr>
          <a:xfrm>
            <a:off x="640080" y="1691640"/>
            <a:ext cx="5257800" cy="566928"/>
          </a:xfrm>
          <a:prstGeom prst="roundRect">
            <a:avLst>
              <a:gd name="adj" fmla="val 11290"/>
            </a:avLst>
          </a:prstGeom>
          <a:solidFill>
            <a:srgbClr val="00B3E2"/>
          </a:solidFill>
          <a:ln w="12700">
            <a:solidFill>
              <a:srgbClr val="00B3E2"/>
            </a:solidFill>
            <a:prstDash val="solid"/>
          </a:ln>
        </p:spPr>
      </p:sp>
      <p:sp>
        <p:nvSpPr>
          <p:cNvPr id="6" name="Text 4"/>
          <p:cNvSpPr/>
          <p:nvPr/>
        </p:nvSpPr>
        <p:spPr>
          <a:xfrm>
            <a:off x="960120" y="1691640"/>
            <a:ext cx="4617720" cy="56692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Microsoft manages the lifecycle of</a:t>
            </a:r>
            <a:endParaRPr lang="en-US" sz="1700" dirty="0"/>
          </a:p>
        </p:txBody>
      </p:sp>
      <p:sp>
        <p:nvSpPr>
          <p:cNvPr id="7" name="Text 5"/>
          <p:cNvSpPr/>
          <p:nvPr/>
        </p:nvSpPr>
        <p:spPr>
          <a:xfrm>
            <a:off x="960120" y="2468880"/>
            <a:ext cx="4617720" cy="2103120"/>
          </a:xfrm>
          <a:prstGeom prst="rect">
            <a:avLst/>
          </a:prstGeom>
          <a:noFill/>
          <a:ln/>
        </p:spPr>
        <p:txBody>
          <a:bodyPr wrap="square" lIns="0" tIns="0" rIns="0" bIns="0" rtlCol="0" anchor="ctr"/>
          <a:lstStyle/>
          <a:p>
            <a:pPr marL="177800" indent="-177800">
              <a:spcAft>
                <a:spcPts val="600"/>
              </a:spcAft>
              <a:buSzPct val="100000"/>
              <a:buChar char="•"/>
            </a:pPr>
            <a:r>
              <a:rPr lang="en-US" sz="1450" dirty="0">
                <a:solidFill>
                  <a:srgbClr val="55555F"/>
                </a:solidFill>
                <a:latin typeface="Calibri" pitchFamily="34" charset="0"/>
                <a:ea typeface="Calibri" pitchFamily="34" charset="-122"/>
                <a:cs typeface="Calibri" pitchFamily="34" charset="-120"/>
              </a:rPr>
              <a:t>ESXi</a:t>
            </a:r>
            <a:endParaRPr lang="en-US" sz="1450" dirty="0"/>
          </a:p>
          <a:p>
            <a:pPr marL="177800" indent="-177800">
              <a:spcAft>
                <a:spcPts val="600"/>
              </a:spcAft>
              <a:buSzPct val="100000"/>
              <a:buChar char="•"/>
            </a:pPr>
            <a:r>
              <a:rPr lang="en-US" sz="1450" dirty="0">
                <a:solidFill>
                  <a:srgbClr val="55555F"/>
                </a:solidFill>
                <a:latin typeface="Calibri" pitchFamily="34" charset="0"/>
                <a:ea typeface="Calibri" pitchFamily="34" charset="-122"/>
                <a:cs typeface="Calibri" pitchFamily="34" charset="-120"/>
              </a:rPr>
              <a:t>vCenter</a:t>
            </a:r>
            <a:endParaRPr lang="en-US" sz="1450" dirty="0"/>
          </a:p>
          <a:p>
            <a:pPr marL="177800" indent="-177800">
              <a:spcAft>
                <a:spcPts val="600"/>
              </a:spcAft>
              <a:buSzPct val="100000"/>
              <a:buChar char="•"/>
            </a:pPr>
            <a:r>
              <a:rPr lang="en-US" sz="1450" dirty="0">
                <a:solidFill>
                  <a:srgbClr val="55555F"/>
                </a:solidFill>
                <a:latin typeface="Calibri" pitchFamily="34" charset="0"/>
                <a:ea typeface="Calibri" pitchFamily="34" charset="-122"/>
                <a:cs typeface="Calibri" pitchFamily="34" charset="-120"/>
              </a:rPr>
              <a:t>vSAN</a:t>
            </a:r>
            <a:endParaRPr lang="en-US" sz="1450" dirty="0"/>
          </a:p>
          <a:p>
            <a:pPr marL="177800" indent="-177800">
              <a:spcAft>
                <a:spcPts val="600"/>
              </a:spcAft>
              <a:buSzPct val="100000"/>
              <a:buChar char="•"/>
            </a:pPr>
            <a:r>
              <a:rPr lang="en-US" sz="1450" dirty="0">
                <a:solidFill>
                  <a:srgbClr val="55555F"/>
                </a:solidFill>
                <a:latin typeface="Calibri" pitchFamily="34" charset="0"/>
                <a:ea typeface="Calibri" pitchFamily="34" charset="-122"/>
                <a:cs typeface="Calibri" pitchFamily="34" charset="-120"/>
              </a:rPr>
              <a:t>NSX appliances</a:t>
            </a:r>
            <a:endParaRPr lang="en-US" sz="1450" dirty="0"/>
          </a:p>
          <a:p>
            <a:pPr marL="177800" indent="-177800">
              <a:spcAft>
                <a:spcPts val="600"/>
              </a:spcAft>
              <a:buSzPct val="100000"/>
              <a:buChar char="•"/>
            </a:pPr>
            <a:r>
              <a:rPr lang="en-US" sz="1450" dirty="0">
                <a:solidFill>
                  <a:srgbClr val="55555F"/>
                </a:solidFill>
                <a:latin typeface="Calibri" pitchFamily="34" charset="0"/>
                <a:ea typeface="Calibri" pitchFamily="34" charset="-122"/>
                <a:cs typeface="Calibri" pitchFamily="34" charset="-120"/>
              </a:rPr>
              <a:t>Physical server firmware</a:t>
            </a:r>
            <a:endParaRPr lang="en-US" sz="1450" dirty="0"/>
          </a:p>
          <a:p>
            <a:pPr marL="177800" indent="-177800">
              <a:spcAft>
                <a:spcPts val="600"/>
              </a:spcAft>
              <a:buSzPct val="100000"/>
              <a:buChar char="•"/>
            </a:pPr>
            <a:r>
              <a:rPr lang="en-US" sz="1450" dirty="0">
                <a:solidFill>
                  <a:srgbClr val="55555F"/>
                </a:solidFill>
                <a:latin typeface="Calibri" pitchFamily="34" charset="0"/>
                <a:ea typeface="Calibri" pitchFamily="34" charset="-122"/>
                <a:cs typeface="Calibri" pitchFamily="34" charset="-120"/>
              </a:rPr>
              <a:t>Hardware replacement</a:t>
            </a:r>
            <a:endParaRPr lang="en-US" sz="1450" dirty="0"/>
          </a:p>
        </p:txBody>
      </p:sp>
      <p:sp>
        <p:nvSpPr>
          <p:cNvPr id="8" name="Shape 6"/>
          <p:cNvSpPr/>
          <p:nvPr/>
        </p:nvSpPr>
        <p:spPr>
          <a:xfrm>
            <a:off x="6291072" y="1691640"/>
            <a:ext cx="5257800" cy="3017520"/>
          </a:xfrm>
          <a:prstGeom prst="roundRect">
            <a:avLst>
              <a:gd name="adj" fmla="val 2121"/>
            </a:avLst>
          </a:prstGeom>
          <a:solidFill>
            <a:srgbClr val="F4F7F8"/>
          </a:solidFill>
          <a:ln w="9525">
            <a:solidFill>
              <a:srgbClr val="DDE2E2"/>
            </a:solidFill>
            <a:prstDash val="solid"/>
          </a:ln>
        </p:spPr>
      </p:sp>
      <p:sp>
        <p:nvSpPr>
          <p:cNvPr id="9" name="Shape 7"/>
          <p:cNvSpPr/>
          <p:nvPr/>
        </p:nvSpPr>
        <p:spPr>
          <a:xfrm>
            <a:off x="6291072" y="1691640"/>
            <a:ext cx="5257800" cy="566928"/>
          </a:xfrm>
          <a:prstGeom prst="roundRect">
            <a:avLst>
              <a:gd name="adj" fmla="val 11290"/>
            </a:avLst>
          </a:prstGeom>
          <a:solidFill>
            <a:srgbClr val="F15D23"/>
          </a:solidFill>
          <a:ln w="12700">
            <a:solidFill>
              <a:srgbClr val="F15D23"/>
            </a:solidFill>
            <a:prstDash val="solid"/>
          </a:ln>
        </p:spPr>
      </p:sp>
      <p:sp>
        <p:nvSpPr>
          <p:cNvPr id="10" name="Text 8"/>
          <p:cNvSpPr/>
          <p:nvPr/>
        </p:nvSpPr>
        <p:spPr>
          <a:xfrm>
            <a:off x="6611112" y="1691640"/>
            <a:ext cx="4617720" cy="566928"/>
          </a:xfrm>
          <a:prstGeom prst="rect">
            <a:avLst/>
          </a:prstGeom>
          <a:noFill/>
          <a:ln/>
        </p:spPr>
        <p:txBody>
          <a:bodyPr wrap="square" lIns="0" tIns="0" rIns="0" bIns="0" rtlCol="0" anchor="ctr"/>
          <a:lstStyle/>
          <a:p>
            <a:pPr indent="0" marL="0">
              <a:buNone/>
            </a:pPr>
            <a:r>
              <a:rPr lang="en-US" sz="1700" b="1" dirty="0">
                <a:solidFill>
                  <a:srgbClr val="1A1A22"/>
                </a:solidFill>
                <a:latin typeface="Calibri" pitchFamily="34" charset="0"/>
                <a:ea typeface="Calibri" pitchFamily="34" charset="-122"/>
                <a:cs typeface="Calibri" pitchFamily="34" charset="-120"/>
              </a:rPr>
              <a:t>Customer configuration can block</a:t>
            </a:r>
            <a:endParaRPr lang="en-US" sz="1700" dirty="0"/>
          </a:p>
        </p:txBody>
      </p:sp>
      <p:sp>
        <p:nvSpPr>
          <p:cNvPr id="11" name="Text 9"/>
          <p:cNvSpPr/>
          <p:nvPr/>
        </p:nvSpPr>
        <p:spPr>
          <a:xfrm>
            <a:off x="6611112" y="2468880"/>
            <a:ext cx="4617720" cy="2103120"/>
          </a:xfrm>
          <a:prstGeom prst="rect">
            <a:avLst/>
          </a:prstGeom>
          <a:noFill/>
          <a:ln/>
        </p:spPr>
        <p:txBody>
          <a:bodyPr wrap="square" lIns="0" tIns="0" rIns="0" bIns="0" rtlCol="0" anchor="ctr"/>
          <a:lstStyle/>
          <a:p>
            <a:pPr marL="177800" indent="-177800">
              <a:spcAft>
                <a:spcPts val="600"/>
              </a:spcAft>
              <a:buSzPct val="100000"/>
              <a:buChar char="•"/>
            </a:pPr>
            <a:r>
              <a:rPr lang="en-US" sz="1450" dirty="0">
                <a:solidFill>
                  <a:srgbClr val="55555F"/>
                </a:solidFill>
                <a:latin typeface="Calibri" pitchFamily="34" charset="0"/>
                <a:ea typeface="Calibri" pitchFamily="34" charset="-122"/>
                <a:cs typeface="Calibri" pitchFamily="34" charset="-120"/>
              </a:rPr>
              <a:t>Host evacuation</a:t>
            </a:r>
            <a:endParaRPr lang="en-US" sz="1450" dirty="0"/>
          </a:p>
          <a:p>
            <a:pPr marL="177800" indent="-177800">
              <a:spcAft>
                <a:spcPts val="600"/>
              </a:spcAft>
              <a:buSzPct val="100000"/>
              <a:buChar char="•"/>
            </a:pPr>
            <a:r>
              <a:rPr lang="en-US" sz="1450" dirty="0">
                <a:solidFill>
                  <a:srgbClr val="55555F"/>
                </a:solidFill>
                <a:latin typeface="Calibri" pitchFamily="34" charset="0"/>
                <a:ea typeface="Calibri" pitchFamily="34" charset="-122"/>
                <a:cs typeface="Calibri" pitchFamily="34" charset="-120"/>
              </a:rPr>
              <a:t>Platform upgrades</a:t>
            </a:r>
            <a:endParaRPr lang="en-US" sz="1450" dirty="0"/>
          </a:p>
          <a:p>
            <a:pPr marL="177800" indent="-177800">
              <a:spcAft>
                <a:spcPts val="600"/>
              </a:spcAft>
              <a:buSzPct val="100000"/>
              <a:buChar char="•"/>
            </a:pPr>
            <a:r>
              <a:rPr lang="en-US" sz="1450" dirty="0">
                <a:solidFill>
                  <a:srgbClr val="55555F"/>
                </a:solidFill>
                <a:latin typeface="Calibri" pitchFamily="34" charset="0"/>
                <a:ea typeface="Calibri" pitchFamily="34" charset="-122"/>
                <a:cs typeface="Calibri" pitchFamily="34" charset="-120"/>
              </a:rPr>
              <a:t>Security patching</a:t>
            </a:r>
            <a:endParaRPr lang="en-US" sz="1450" dirty="0"/>
          </a:p>
          <a:p>
            <a:pPr marL="177800" indent="-177800">
              <a:spcAft>
                <a:spcPts val="600"/>
              </a:spcAft>
              <a:buSzPct val="100000"/>
              <a:buChar char="•"/>
            </a:pPr>
            <a:r>
              <a:rPr lang="en-US" sz="1450" dirty="0">
                <a:solidFill>
                  <a:srgbClr val="55555F"/>
                </a:solidFill>
                <a:latin typeface="Calibri" pitchFamily="34" charset="0"/>
                <a:ea typeface="Calibri" pitchFamily="34" charset="-122"/>
                <a:cs typeface="Calibri" pitchFamily="34" charset="-120"/>
              </a:rPr>
              <a:t>Hardware remediation</a:t>
            </a:r>
            <a:endParaRPr lang="en-US" sz="1450" dirty="0"/>
          </a:p>
        </p:txBody>
      </p:sp>
      <p:sp>
        <p:nvSpPr>
          <p:cNvPr id="12" name="Shape 10"/>
          <p:cNvSpPr/>
          <p:nvPr/>
        </p:nvSpPr>
        <p:spPr>
          <a:xfrm>
            <a:off x="640080" y="4892040"/>
            <a:ext cx="10911535" cy="1051560"/>
          </a:xfrm>
          <a:prstGeom prst="roundRect">
            <a:avLst>
              <a:gd name="adj" fmla="val 6087"/>
            </a:avLst>
          </a:prstGeom>
          <a:solidFill>
            <a:srgbClr val="3E3E4B"/>
          </a:solidFill>
          <a:ln w="9525">
            <a:solidFill>
              <a:srgbClr val="3E3E4B"/>
            </a:solidFill>
            <a:prstDash val="solid"/>
          </a:ln>
        </p:spPr>
      </p:sp>
      <p:sp>
        <p:nvSpPr>
          <p:cNvPr id="13" name="Text 11"/>
          <p:cNvSpPr/>
          <p:nvPr/>
        </p:nvSpPr>
        <p:spPr>
          <a:xfrm>
            <a:off x="960120" y="5029200"/>
            <a:ext cx="4206240" cy="274320"/>
          </a:xfrm>
          <a:prstGeom prst="rect">
            <a:avLst/>
          </a:prstGeom>
          <a:noFill/>
          <a:ln/>
        </p:spPr>
        <p:txBody>
          <a:bodyPr wrap="square" lIns="0" tIns="0" rIns="0" bIns="0" rtlCol="0" anchor="ctr"/>
          <a:lstStyle/>
          <a:p>
            <a:pPr indent="0" marL="0">
              <a:buNone/>
            </a:pPr>
            <a:r>
              <a:rPr lang="en-US" sz="1500" b="1" dirty="0">
                <a:solidFill>
                  <a:srgbClr val="FAC458"/>
                </a:solidFill>
                <a:latin typeface="Calibri" pitchFamily="34" charset="0"/>
                <a:ea typeface="Calibri" pitchFamily="34" charset="-122"/>
                <a:cs typeface="Calibri" pitchFamily="34" charset="-120"/>
              </a:rPr>
              <a:t>The operational tension</a:t>
            </a:r>
            <a:endParaRPr lang="en-US" sz="1500" dirty="0"/>
          </a:p>
        </p:txBody>
      </p:sp>
      <p:sp>
        <p:nvSpPr>
          <p:cNvPr id="14" name="Text 12"/>
          <p:cNvSpPr/>
          <p:nvPr/>
        </p:nvSpPr>
        <p:spPr>
          <a:xfrm>
            <a:off x="960120" y="5330952"/>
            <a:ext cx="10271455" cy="502920"/>
          </a:xfrm>
          <a:prstGeom prst="rect">
            <a:avLst/>
          </a:prstGeom>
          <a:noFill/>
          <a:ln/>
        </p:spPr>
        <p:txBody>
          <a:bodyPr wrap="square" lIns="0" tIns="0" rIns="0" bIns="0" rtlCol="0" anchor="ctr"/>
          <a:lstStyle/>
          <a:p>
            <a:pPr indent="0" marL="0">
              <a:buNone/>
            </a:pPr>
            <a:r>
              <a:rPr lang="en-US" sz="1400" dirty="0">
                <a:solidFill>
                  <a:srgbClr val="C9CCD6"/>
                </a:solidFill>
                <a:latin typeface="Calibri" pitchFamily="34" charset="0"/>
                <a:ea typeface="Calibri" pitchFamily="34" charset="-122"/>
                <a:cs typeface="Calibri" pitchFamily="34" charset="-120"/>
              </a:rPr>
              <a:t>Microsoft owns the automation, but that automation depends on customer workloads being portable and customer storage being sufficiently available. Keeping the environment eligible for maintenance is a customer responsibility.</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37744"/>
          </a:xfrm>
          <a:prstGeom prst="rect">
            <a:avLst/>
          </a:prstGeom>
          <a:noFill/>
          <a:ln/>
        </p:spPr>
        <p:txBody>
          <a:bodyPr wrap="square" lIns="0" tIns="0" rIns="0" bIns="0" rtlCol="0" anchor="ctr"/>
          <a:lstStyle/>
          <a:p>
            <a:pPr indent="0" marL="0">
              <a:buNone/>
            </a:pPr>
            <a:r>
              <a:rPr lang="en-US" sz="1100" b="1" spc="200" kern="0" dirty="0">
                <a:solidFill>
                  <a:srgbClr val="00B3E2"/>
                </a:solidFill>
                <a:latin typeface="Calibri" pitchFamily="34" charset="0"/>
                <a:ea typeface="Calibri" pitchFamily="34" charset="-122"/>
                <a:cs typeface="Calibri" pitchFamily="34" charset="-120"/>
              </a:rPr>
              <a:t>CAPACITY</a:t>
            </a:r>
            <a:endParaRPr lang="en-US" sz="1100" dirty="0"/>
          </a:p>
        </p:txBody>
      </p:sp>
      <p:sp>
        <p:nvSpPr>
          <p:cNvPr id="3" name="Text 1"/>
          <p:cNvSpPr/>
          <p:nvPr/>
        </p:nvSpPr>
        <p:spPr>
          <a:xfrm>
            <a:off x="640080" y="658368"/>
            <a:ext cx="10911535" cy="566928"/>
          </a:xfrm>
          <a:prstGeom prst="rect">
            <a:avLst/>
          </a:prstGeom>
          <a:noFill/>
          <a:ln/>
        </p:spPr>
        <p:txBody>
          <a:bodyPr wrap="square" lIns="0" tIns="0" rIns="0" bIns="0" rtlCol="0" anchor="ctr"/>
          <a:lstStyle/>
          <a:p>
            <a:pPr indent="0" marL="0">
              <a:buNone/>
            </a:pPr>
            <a:r>
              <a:rPr lang="en-US" sz="3400" b="1" dirty="0">
                <a:solidFill>
                  <a:srgbClr val="3E3E4B"/>
                </a:solidFill>
                <a:latin typeface="Calibri" pitchFamily="34" charset="0"/>
                <a:ea typeface="Calibri" pitchFamily="34" charset="-122"/>
                <a:cs typeface="Calibri" pitchFamily="34" charset="-120"/>
              </a:rPr>
              <a:t>The 75 percent vSAN rule</a:t>
            </a:r>
            <a:endParaRPr lang="en-US" sz="3400" dirty="0"/>
          </a:p>
        </p:txBody>
      </p:sp>
      <p:sp>
        <p:nvSpPr>
          <p:cNvPr id="4" name="Shape 2"/>
          <p:cNvSpPr/>
          <p:nvPr/>
        </p:nvSpPr>
        <p:spPr>
          <a:xfrm>
            <a:off x="640080" y="1645920"/>
            <a:ext cx="4114800" cy="2194560"/>
          </a:xfrm>
          <a:prstGeom prst="roundRect">
            <a:avLst>
              <a:gd name="adj" fmla="val 2917"/>
            </a:avLst>
          </a:prstGeom>
          <a:solidFill>
            <a:srgbClr val="3E3E4B"/>
          </a:solidFill>
          <a:ln w="9525">
            <a:solidFill>
              <a:srgbClr val="3E3E4B"/>
            </a:solidFill>
            <a:prstDash val="solid"/>
          </a:ln>
        </p:spPr>
      </p:sp>
      <p:sp>
        <p:nvSpPr>
          <p:cNvPr id="5" name="Text 3"/>
          <p:cNvSpPr/>
          <p:nvPr/>
        </p:nvSpPr>
        <p:spPr>
          <a:xfrm>
            <a:off x="1005840" y="1874520"/>
            <a:ext cx="3383280" cy="868680"/>
          </a:xfrm>
          <a:prstGeom prst="rect">
            <a:avLst/>
          </a:prstGeom>
          <a:noFill/>
          <a:ln/>
        </p:spPr>
        <p:txBody>
          <a:bodyPr wrap="square" lIns="0" tIns="0" rIns="0" bIns="0" rtlCol="0" anchor="ctr"/>
          <a:lstStyle/>
          <a:p>
            <a:pPr indent="0" marL="0">
              <a:buNone/>
            </a:pPr>
            <a:r>
              <a:rPr lang="en-US" sz="5800" b="1" dirty="0">
                <a:solidFill>
                  <a:srgbClr val="00B3E2"/>
                </a:solidFill>
                <a:latin typeface="Calibri" pitchFamily="34" charset="0"/>
                <a:ea typeface="Calibri" pitchFamily="34" charset="-122"/>
                <a:cs typeface="Calibri" pitchFamily="34" charset="-120"/>
              </a:rPr>
              <a:t>75%</a:t>
            </a:r>
            <a:endParaRPr lang="en-US" sz="5800" dirty="0"/>
          </a:p>
        </p:txBody>
      </p:sp>
      <p:sp>
        <p:nvSpPr>
          <p:cNvPr id="6" name="Text 4"/>
          <p:cNvSpPr/>
          <p:nvPr/>
        </p:nvSpPr>
        <p:spPr>
          <a:xfrm>
            <a:off x="1005840" y="2743200"/>
            <a:ext cx="3383280" cy="3200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maximum vSAN utilization</a:t>
            </a:r>
            <a:endParaRPr lang="en-US" sz="1600" dirty="0"/>
          </a:p>
        </p:txBody>
      </p:sp>
      <p:sp>
        <p:nvSpPr>
          <p:cNvPr id="7" name="Text 5"/>
          <p:cNvSpPr/>
          <p:nvPr/>
        </p:nvSpPr>
        <p:spPr>
          <a:xfrm>
            <a:off x="1005840" y="3154680"/>
            <a:ext cx="3383280" cy="502920"/>
          </a:xfrm>
          <a:prstGeom prst="rect">
            <a:avLst/>
          </a:prstGeom>
          <a:noFill/>
          <a:ln/>
        </p:spPr>
        <p:txBody>
          <a:bodyPr wrap="square" lIns="0" tIns="0" rIns="0" bIns="0" rtlCol="0" anchor="ctr"/>
          <a:lstStyle/>
          <a:p>
            <a:pPr indent="0" marL="0">
              <a:buNone/>
            </a:pPr>
            <a:r>
              <a:rPr lang="en-US" sz="1300" dirty="0">
                <a:solidFill>
                  <a:srgbClr val="C9CCD6"/>
                </a:solidFill>
                <a:latin typeface="Calibri" pitchFamily="34" charset="0"/>
                <a:ea typeface="Calibri" pitchFamily="34" charset="-122"/>
                <a:cs typeface="Calibri" pitchFamily="34" charset="-120"/>
              </a:rPr>
              <a:t>Described as a hard requirement, not a recommendation.</a:t>
            </a:r>
            <a:endParaRPr lang="en-US" sz="1300" dirty="0"/>
          </a:p>
        </p:txBody>
      </p:sp>
      <p:sp>
        <p:nvSpPr>
          <p:cNvPr id="8" name="Shape 6"/>
          <p:cNvSpPr/>
          <p:nvPr/>
        </p:nvSpPr>
        <p:spPr>
          <a:xfrm>
            <a:off x="640080" y="4023360"/>
            <a:ext cx="4114800" cy="1783080"/>
          </a:xfrm>
          <a:prstGeom prst="roundRect">
            <a:avLst>
              <a:gd name="adj" fmla="val 3590"/>
            </a:avLst>
          </a:prstGeom>
          <a:solidFill>
            <a:srgbClr val="FDF0EB"/>
          </a:solidFill>
          <a:ln w="9525">
            <a:solidFill>
              <a:srgbClr val="F6C9B4"/>
            </a:solidFill>
            <a:prstDash val="solid"/>
          </a:ln>
        </p:spPr>
      </p:sp>
      <p:sp>
        <p:nvSpPr>
          <p:cNvPr id="9" name="Text 7"/>
          <p:cNvSpPr/>
          <p:nvPr/>
        </p:nvSpPr>
        <p:spPr>
          <a:xfrm>
            <a:off x="960120" y="4206240"/>
            <a:ext cx="3474720" cy="274320"/>
          </a:xfrm>
          <a:prstGeom prst="rect">
            <a:avLst/>
          </a:prstGeom>
          <a:noFill/>
          <a:ln/>
        </p:spPr>
        <p:txBody>
          <a:bodyPr wrap="square" lIns="0" tIns="0" rIns="0" bIns="0" rtlCol="0" anchor="ctr"/>
          <a:lstStyle/>
          <a:p>
            <a:pPr indent="0" marL="0">
              <a:buNone/>
            </a:pPr>
            <a:r>
              <a:rPr lang="en-US" sz="1500" b="1" dirty="0">
                <a:solidFill>
                  <a:srgbClr val="F15D23"/>
                </a:solidFill>
                <a:latin typeface="Calibri" pitchFamily="34" charset="0"/>
                <a:ea typeface="Calibri" pitchFamily="34" charset="-122"/>
                <a:cs typeface="Calibri" pitchFamily="34" charset="-120"/>
              </a:rPr>
              <a:t>At 90 percent</a:t>
            </a:r>
            <a:endParaRPr lang="en-US" sz="1500" dirty="0"/>
          </a:p>
        </p:txBody>
      </p:sp>
      <p:sp>
        <p:nvSpPr>
          <p:cNvPr id="10" name="Text 8"/>
          <p:cNvSpPr/>
          <p:nvPr/>
        </p:nvSpPr>
        <p:spPr>
          <a:xfrm>
            <a:off x="960120" y="4526280"/>
            <a:ext cx="3474720" cy="1097280"/>
          </a:xfrm>
          <a:prstGeom prst="rect">
            <a:avLst/>
          </a:prstGeom>
          <a:noFill/>
          <a:ln/>
        </p:spPr>
        <p:txBody>
          <a:bodyPr wrap="square" lIns="0" tIns="0" rIns="0" bIns="0" rtlCol="0" anchor="ctr"/>
          <a:lstStyle/>
          <a:p>
            <a:pPr indent="0" marL="0">
              <a:buNone/>
            </a:pPr>
            <a:r>
              <a:rPr lang="en-US" sz="1300" dirty="0">
                <a:solidFill>
                  <a:srgbClr val="55555F"/>
                </a:solidFill>
                <a:latin typeface="Calibri" pitchFamily="34" charset="0"/>
                <a:ea typeface="Calibri" pitchFamily="34" charset="-122"/>
                <a:cs typeface="Calibri" pitchFamily="34" charset="-120"/>
              </a:rPr>
              <a:t>There may not be room to rebuild components, preserve storage policy, or maintain fault tolerance. Evacuation can fill the datastore and fail outright.</a:t>
            </a:r>
            <a:endParaRPr lang="en-US" sz="1300" dirty="0"/>
          </a:p>
        </p:txBody>
      </p:sp>
      <p:sp>
        <p:nvSpPr>
          <p:cNvPr id="11" name="Text 9"/>
          <p:cNvSpPr/>
          <p:nvPr/>
        </p:nvSpPr>
        <p:spPr>
          <a:xfrm>
            <a:off x="5074920" y="1691640"/>
            <a:ext cx="6492240" cy="320040"/>
          </a:xfrm>
          <a:prstGeom prst="rect">
            <a:avLst/>
          </a:prstGeom>
          <a:noFill/>
          <a:ln/>
        </p:spPr>
        <p:txBody>
          <a:bodyPr wrap="square" lIns="0" tIns="0" rIns="0" bIns="0" rtlCol="0" anchor="ctr"/>
          <a:lstStyle/>
          <a:p>
            <a:pPr indent="0" marL="0">
              <a:buNone/>
            </a:pPr>
            <a:r>
              <a:rPr lang="en-US" sz="1900" b="1" dirty="0">
                <a:solidFill>
                  <a:srgbClr val="3E3E4B"/>
                </a:solidFill>
                <a:latin typeface="Calibri" pitchFamily="34" charset="0"/>
                <a:ea typeface="Calibri" pitchFamily="34" charset="-122"/>
                <a:cs typeface="Calibri" pitchFamily="34" charset="-120"/>
              </a:rPr>
              <a:t>What host remediation requires</a:t>
            </a:r>
            <a:endParaRPr lang="en-US" sz="1900" dirty="0"/>
          </a:p>
        </p:txBody>
      </p:sp>
      <p:sp>
        <p:nvSpPr>
          <p:cNvPr id="12" name="Shape 10"/>
          <p:cNvSpPr/>
          <p:nvPr/>
        </p:nvSpPr>
        <p:spPr>
          <a:xfrm>
            <a:off x="5074920" y="2148840"/>
            <a:ext cx="6473952" cy="603504"/>
          </a:xfrm>
          <a:prstGeom prst="roundRect">
            <a:avLst>
              <a:gd name="adj" fmla="val 10606"/>
            </a:avLst>
          </a:prstGeom>
          <a:solidFill>
            <a:srgbClr val="F4F7F8"/>
          </a:solidFill>
          <a:ln w="9525">
            <a:solidFill>
              <a:srgbClr val="DDE2E2"/>
            </a:solidFill>
            <a:prstDash val="solid"/>
          </a:ln>
        </p:spPr>
      </p:sp>
      <p:sp>
        <p:nvSpPr>
          <p:cNvPr id="13" name="Shape 11"/>
          <p:cNvSpPr/>
          <p:nvPr/>
        </p:nvSpPr>
        <p:spPr>
          <a:xfrm>
            <a:off x="5285232" y="2258568"/>
            <a:ext cx="384048" cy="384048"/>
          </a:xfrm>
          <a:prstGeom prst="ellipse">
            <a:avLst/>
          </a:prstGeom>
          <a:solidFill>
            <a:srgbClr val="00B3E2"/>
          </a:solidFill>
          <a:ln w="12700">
            <a:solidFill>
              <a:srgbClr val="00B3E2"/>
            </a:solidFill>
            <a:prstDash val="solid"/>
          </a:ln>
        </p:spPr>
      </p:sp>
      <p:sp>
        <p:nvSpPr>
          <p:cNvPr id="14" name="Text 12"/>
          <p:cNvSpPr/>
          <p:nvPr/>
        </p:nvSpPr>
        <p:spPr>
          <a:xfrm>
            <a:off x="5285232" y="225856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5" name="Text 13"/>
          <p:cNvSpPr/>
          <p:nvPr/>
        </p:nvSpPr>
        <p:spPr>
          <a:xfrm>
            <a:off x="5806440" y="2148840"/>
            <a:ext cx="5577840" cy="603504"/>
          </a:xfrm>
          <a:prstGeom prst="rect">
            <a:avLst/>
          </a:prstGeom>
          <a:noFill/>
          <a:ln/>
        </p:spPr>
        <p:txBody>
          <a:bodyPr wrap="square" lIns="0" tIns="0" rIns="0" bIns="0" rtlCol="0" anchor="ctr"/>
          <a:lstStyle/>
          <a:p>
            <a:pPr indent="0" marL="0">
              <a:buNone/>
            </a:pPr>
            <a:r>
              <a:rPr lang="en-US" sz="1350" dirty="0">
                <a:solidFill>
                  <a:srgbClr val="3E3E4B"/>
                </a:solidFill>
                <a:latin typeface="Calibri" pitchFamily="34" charset="0"/>
                <a:ea typeface="Calibri" pitchFamily="34" charset="-122"/>
                <a:cs typeface="Calibri" pitchFamily="34" charset="-120"/>
              </a:rPr>
              <a:t>A healthy replacement host joins the cluster</a:t>
            </a:r>
            <a:endParaRPr lang="en-US" sz="1350" dirty="0"/>
          </a:p>
        </p:txBody>
      </p:sp>
      <p:sp>
        <p:nvSpPr>
          <p:cNvPr id="16" name="Shape 14"/>
          <p:cNvSpPr/>
          <p:nvPr/>
        </p:nvSpPr>
        <p:spPr>
          <a:xfrm>
            <a:off x="5074920" y="2862072"/>
            <a:ext cx="6473952" cy="603504"/>
          </a:xfrm>
          <a:prstGeom prst="roundRect">
            <a:avLst>
              <a:gd name="adj" fmla="val 10606"/>
            </a:avLst>
          </a:prstGeom>
          <a:solidFill>
            <a:srgbClr val="F4F7F8"/>
          </a:solidFill>
          <a:ln w="9525">
            <a:solidFill>
              <a:srgbClr val="DDE2E2"/>
            </a:solidFill>
            <a:prstDash val="solid"/>
          </a:ln>
        </p:spPr>
      </p:sp>
      <p:sp>
        <p:nvSpPr>
          <p:cNvPr id="17" name="Shape 15"/>
          <p:cNvSpPr/>
          <p:nvPr/>
        </p:nvSpPr>
        <p:spPr>
          <a:xfrm>
            <a:off x="5285232" y="2971800"/>
            <a:ext cx="384048" cy="384048"/>
          </a:xfrm>
          <a:prstGeom prst="ellipse">
            <a:avLst/>
          </a:prstGeom>
          <a:solidFill>
            <a:srgbClr val="00B3E2"/>
          </a:solidFill>
          <a:ln w="12700">
            <a:solidFill>
              <a:srgbClr val="00B3E2"/>
            </a:solidFill>
            <a:prstDash val="solid"/>
          </a:ln>
        </p:spPr>
      </p:sp>
      <p:sp>
        <p:nvSpPr>
          <p:cNvPr id="18" name="Text 16"/>
          <p:cNvSpPr/>
          <p:nvPr/>
        </p:nvSpPr>
        <p:spPr>
          <a:xfrm>
            <a:off x="5285232" y="297180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9" name="Text 17"/>
          <p:cNvSpPr/>
          <p:nvPr/>
        </p:nvSpPr>
        <p:spPr>
          <a:xfrm>
            <a:off x="5806440" y="2862072"/>
            <a:ext cx="5577840" cy="603504"/>
          </a:xfrm>
          <a:prstGeom prst="rect">
            <a:avLst/>
          </a:prstGeom>
          <a:noFill/>
          <a:ln/>
        </p:spPr>
        <p:txBody>
          <a:bodyPr wrap="square" lIns="0" tIns="0" rIns="0" bIns="0" rtlCol="0" anchor="ctr"/>
          <a:lstStyle/>
          <a:p>
            <a:pPr indent="0" marL="0">
              <a:buNone/>
            </a:pPr>
            <a:r>
              <a:rPr lang="en-US" sz="1350" dirty="0">
                <a:solidFill>
                  <a:srgbClr val="3E3E4B"/>
                </a:solidFill>
                <a:latin typeface="Calibri" pitchFamily="34" charset="0"/>
                <a:ea typeface="Calibri" pitchFamily="34" charset="-122"/>
                <a:cs typeface="Calibri" pitchFamily="34" charset="-120"/>
              </a:rPr>
              <a:t>The target host is placed into maintenance mode</a:t>
            </a:r>
            <a:endParaRPr lang="en-US" sz="1350" dirty="0"/>
          </a:p>
        </p:txBody>
      </p:sp>
      <p:sp>
        <p:nvSpPr>
          <p:cNvPr id="20" name="Shape 18"/>
          <p:cNvSpPr/>
          <p:nvPr/>
        </p:nvSpPr>
        <p:spPr>
          <a:xfrm>
            <a:off x="5074920" y="3575304"/>
            <a:ext cx="6473952" cy="603504"/>
          </a:xfrm>
          <a:prstGeom prst="roundRect">
            <a:avLst>
              <a:gd name="adj" fmla="val 10606"/>
            </a:avLst>
          </a:prstGeom>
          <a:solidFill>
            <a:srgbClr val="F4F7F8"/>
          </a:solidFill>
          <a:ln w="9525">
            <a:solidFill>
              <a:srgbClr val="DDE2E2"/>
            </a:solidFill>
            <a:prstDash val="solid"/>
          </a:ln>
        </p:spPr>
      </p:sp>
      <p:sp>
        <p:nvSpPr>
          <p:cNvPr id="21" name="Shape 19"/>
          <p:cNvSpPr/>
          <p:nvPr/>
        </p:nvSpPr>
        <p:spPr>
          <a:xfrm>
            <a:off x="5285232" y="3685032"/>
            <a:ext cx="384048" cy="384048"/>
          </a:xfrm>
          <a:prstGeom prst="ellipse">
            <a:avLst/>
          </a:prstGeom>
          <a:solidFill>
            <a:srgbClr val="00B3E2"/>
          </a:solidFill>
          <a:ln w="12700">
            <a:solidFill>
              <a:srgbClr val="00B3E2"/>
            </a:solidFill>
            <a:prstDash val="solid"/>
          </a:ln>
        </p:spPr>
      </p:sp>
      <p:sp>
        <p:nvSpPr>
          <p:cNvPr id="22" name="Text 20"/>
          <p:cNvSpPr/>
          <p:nvPr/>
        </p:nvSpPr>
        <p:spPr>
          <a:xfrm>
            <a:off x="5285232" y="368503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3" name="Text 21"/>
          <p:cNvSpPr/>
          <p:nvPr/>
        </p:nvSpPr>
        <p:spPr>
          <a:xfrm>
            <a:off x="5806440" y="3575304"/>
            <a:ext cx="5577840" cy="603504"/>
          </a:xfrm>
          <a:prstGeom prst="rect">
            <a:avLst/>
          </a:prstGeom>
          <a:noFill/>
          <a:ln/>
        </p:spPr>
        <p:txBody>
          <a:bodyPr wrap="square" lIns="0" tIns="0" rIns="0" bIns="0" rtlCol="0" anchor="ctr"/>
          <a:lstStyle/>
          <a:p>
            <a:pPr indent="0" marL="0">
              <a:buNone/>
            </a:pPr>
            <a:r>
              <a:rPr lang="en-US" sz="1350" dirty="0">
                <a:solidFill>
                  <a:srgbClr val="3E3E4B"/>
                </a:solidFill>
                <a:latin typeface="Calibri" pitchFamily="34" charset="0"/>
                <a:ea typeface="Calibri" pitchFamily="34" charset="-122"/>
                <a:cs typeface="Calibri" pitchFamily="34" charset="-120"/>
              </a:rPr>
              <a:t>vMotion moves running compute and memory state</a:t>
            </a:r>
            <a:endParaRPr lang="en-US" sz="1350" dirty="0"/>
          </a:p>
        </p:txBody>
      </p:sp>
      <p:sp>
        <p:nvSpPr>
          <p:cNvPr id="24" name="Shape 22"/>
          <p:cNvSpPr/>
          <p:nvPr/>
        </p:nvSpPr>
        <p:spPr>
          <a:xfrm>
            <a:off x="5074920" y="4288536"/>
            <a:ext cx="6473952" cy="603504"/>
          </a:xfrm>
          <a:prstGeom prst="roundRect">
            <a:avLst>
              <a:gd name="adj" fmla="val 10606"/>
            </a:avLst>
          </a:prstGeom>
          <a:solidFill>
            <a:srgbClr val="F4F7F8"/>
          </a:solidFill>
          <a:ln w="9525">
            <a:solidFill>
              <a:srgbClr val="DDE2E2"/>
            </a:solidFill>
            <a:prstDash val="solid"/>
          </a:ln>
        </p:spPr>
      </p:sp>
      <p:sp>
        <p:nvSpPr>
          <p:cNvPr id="25" name="Shape 23"/>
          <p:cNvSpPr/>
          <p:nvPr/>
        </p:nvSpPr>
        <p:spPr>
          <a:xfrm>
            <a:off x="5285232" y="4398264"/>
            <a:ext cx="384048" cy="384048"/>
          </a:xfrm>
          <a:prstGeom prst="ellipse">
            <a:avLst/>
          </a:prstGeom>
          <a:solidFill>
            <a:srgbClr val="00B3E2"/>
          </a:solidFill>
          <a:ln w="12700">
            <a:solidFill>
              <a:srgbClr val="00B3E2"/>
            </a:solidFill>
            <a:prstDash val="solid"/>
          </a:ln>
        </p:spPr>
      </p:sp>
      <p:sp>
        <p:nvSpPr>
          <p:cNvPr id="26" name="Text 24"/>
          <p:cNvSpPr/>
          <p:nvPr/>
        </p:nvSpPr>
        <p:spPr>
          <a:xfrm>
            <a:off x="5285232" y="439826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7" name="Text 25"/>
          <p:cNvSpPr/>
          <p:nvPr/>
        </p:nvSpPr>
        <p:spPr>
          <a:xfrm>
            <a:off x="5806440" y="4288536"/>
            <a:ext cx="5577840" cy="603504"/>
          </a:xfrm>
          <a:prstGeom prst="rect">
            <a:avLst/>
          </a:prstGeom>
          <a:noFill/>
          <a:ln/>
        </p:spPr>
        <p:txBody>
          <a:bodyPr wrap="square" lIns="0" tIns="0" rIns="0" bIns="0" rtlCol="0" anchor="ctr"/>
          <a:lstStyle/>
          <a:p>
            <a:pPr indent="0" marL="0">
              <a:buNone/>
            </a:pPr>
            <a:r>
              <a:rPr lang="en-US" sz="1350" dirty="0">
                <a:solidFill>
                  <a:srgbClr val="3E3E4B"/>
                </a:solidFill>
                <a:latin typeface="Calibri" pitchFamily="34" charset="0"/>
                <a:ea typeface="Calibri" pitchFamily="34" charset="-122"/>
                <a:cs typeface="Calibri" pitchFamily="34" charset="-120"/>
              </a:rPr>
              <a:t>vSAN evacuates or rebuilds storage components from that host</a:t>
            </a:r>
            <a:endParaRPr lang="en-US" sz="1350" dirty="0"/>
          </a:p>
        </p:txBody>
      </p:sp>
      <p:sp>
        <p:nvSpPr>
          <p:cNvPr id="28" name="Shape 26"/>
          <p:cNvSpPr/>
          <p:nvPr/>
        </p:nvSpPr>
        <p:spPr>
          <a:xfrm>
            <a:off x="5074920" y="5074920"/>
            <a:ext cx="6473952" cy="731520"/>
          </a:xfrm>
          <a:prstGeom prst="roundRect">
            <a:avLst>
              <a:gd name="adj" fmla="val 8750"/>
            </a:avLst>
          </a:prstGeom>
          <a:solidFill>
            <a:srgbClr val="E5F7FC"/>
          </a:solidFill>
          <a:ln w="9525">
            <a:solidFill>
              <a:srgbClr val="B2E8F6"/>
            </a:solidFill>
            <a:prstDash val="solid"/>
          </a:ln>
        </p:spPr>
      </p:sp>
      <p:sp>
        <p:nvSpPr>
          <p:cNvPr id="29" name="Text 27"/>
          <p:cNvSpPr/>
          <p:nvPr/>
        </p:nvSpPr>
        <p:spPr>
          <a:xfrm>
            <a:off x="5349240" y="5074920"/>
            <a:ext cx="5943600" cy="731520"/>
          </a:xfrm>
          <a:prstGeom prst="rect">
            <a:avLst/>
          </a:prstGeom>
          <a:noFill/>
          <a:ln/>
        </p:spPr>
        <p:txBody>
          <a:bodyPr wrap="square" lIns="0" tIns="0" rIns="0" bIns="0" rtlCol="0" anchor="ctr"/>
          <a:lstStyle/>
          <a:p>
            <a:pPr indent="0" marL="0">
              <a:buNone/>
            </a:pPr>
            <a:r>
              <a:rPr lang="en-US" sz="1300" b="1" dirty="0">
                <a:solidFill>
                  <a:srgbClr val="0A7FA6"/>
                </a:solidFill>
                <a:latin typeface="Calibri" pitchFamily="34" charset="0"/>
                <a:ea typeface="Calibri" pitchFamily="34" charset="-122"/>
                <a:cs typeface="Calibri" pitchFamily="34" charset="-120"/>
              </a:rPr>
              <a:t>The 25 percent reserve gives vSAN room to move data, reprotect objects, replace hosts, and perform upgrades. Paid capacity is not fully consumable capacity.</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37744"/>
          </a:xfrm>
          <a:prstGeom prst="rect">
            <a:avLst/>
          </a:prstGeom>
          <a:noFill/>
          <a:ln/>
        </p:spPr>
        <p:txBody>
          <a:bodyPr wrap="square" lIns="0" tIns="0" rIns="0" bIns="0" rtlCol="0" anchor="ctr"/>
          <a:lstStyle/>
          <a:p>
            <a:pPr indent="0" marL="0">
              <a:buNone/>
            </a:pPr>
            <a:r>
              <a:rPr lang="en-US" sz="1100" b="1" spc="200" kern="0" dirty="0">
                <a:solidFill>
                  <a:srgbClr val="00B3E2"/>
                </a:solidFill>
                <a:latin typeface="Calibri" pitchFamily="34" charset="0"/>
                <a:ea typeface="Calibri" pitchFamily="34" charset="-122"/>
                <a:cs typeface="Calibri" pitchFamily="34" charset="-120"/>
              </a:rPr>
              <a:t>MAINTENANCE BLOCKERS</a:t>
            </a:r>
            <a:endParaRPr lang="en-US" sz="1100" dirty="0"/>
          </a:p>
        </p:txBody>
      </p:sp>
      <p:sp>
        <p:nvSpPr>
          <p:cNvPr id="3" name="Text 1"/>
          <p:cNvSpPr/>
          <p:nvPr/>
        </p:nvSpPr>
        <p:spPr>
          <a:xfrm>
            <a:off x="640080" y="658368"/>
            <a:ext cx="10911535" cy="566928"/>
          </a:xfrm>
          <a:prstGeom prst="rect">
            <a:avLst/>
          </a:prstGeom>
          <a:noFill/>
          <a:ln/>
        </p:spPr>
        <p:txBody>
          <a:bodyPr wrap="square" lIns="0" tIns="0" rIns="0" bIns="0" rtlCol="0" anchor="ctr"/>
          <a:lstStyle/>
          <a:p>
            <a:pPr indent="0" marL="0">
              <a:buNone/>
            </a:pPr>
            <a:r>
              <a:rPr lang="en-US" sz="3400" b="1" dirty="0">
                <a:solidFill>
                  <a:srgbClr val="3E3E4B"/>
                </a:solidFill>
                <a:latin typeface="Calibri" pitchFamily="34" charset="0"/>
                <a:ea typeface="Calibri" pitchFamily="34" charset="-122"/>
                <a:cs typeface="Calibri" pitchFamily="34" charset="-120"/>
              </a:rPr>
              <a:t>Three customer settings that stop the platform</a:t>
            </a:r>
            <a:endParaRPr lang="en-US" sz="3400" dirty="0"/>
          </a:p>
        </p:txBody>
      </p:sp>
      <p:sp>
        <p:nvSpPr>
          <p:cNvPr id="4" name="Shape 2"/>
          <p:cNvSpPr/>
          <p:nvPr/>
        </p:nvSpPr>
        <p:spPr>
          <a:xfrm>
            <a:off x="640080" y="1600200"/>
            <a:ext cx="3511296" cy="3794760"/>
          </a:xfrm>
          <a:prstGeom prst="roundRect">
            <a:avLst>
              <a:gd name="adj" fmla="val 1823"/>
            </a:avLst>
          </a:prstGeom>
          <a:solidFill>
            <a:srgbClr val="F4F7F8"/>
          </a:solidFill>
          <a:ln w="9525">
            <a:solidFill>
              <a:srgbClr val="DDE2E2"/>
            </a:solidFill>
            <a:prstDash val="solid"/>
          </a:ln>
        </p:spPr>
      </p:sp>
      <p:sp>
        <p:nvSpPr>
          <p:cNvPr id="5" name="Shape 3"/>
          <p:cNvSpPr/>
          <p:nvPr/>
        </p:nvSpPr>
        <p:spPr>
          <a:xfrm>
            <a:off x="896112" y="1801368"/>
            <a:ext cx="274320" cy="274320"/>
          </a:xfrm>
          <a:prstGeom prst="ellipse">
            <a:avLst/>
          </a:prstGeom>
          <a:solidFill>
            <a:srgbClr val="F15D23"/>
          </a:solidFill>
          <a:ln w="12700">
            <a:solidFill>
              <a:srgbClr val="F15D23"/>
            </a:solidFill>
            <a:prstDash val="solid"/>
          </a:ln>
        </p:spPr>
      </p:sp>
      <p:sp>
        <p:nvSpPr>
          <p:cNvPr id="6" name="Text 4"/>
          <p:cNvSpPr/>
          <p:nvPr/>
        </p:nvSpPr>
        <p:spPr>
          <a:xfrm>
            <a:off x="896112" y="2194560"/>
            <a:ext cx="2999232" cy="594360"/>
          </a:xfrm>
          <a:prstGeom prst="rect">
            <a:avLst/>
          </a:prstGeom>
          <a:noFill/>
          <a:ln/>
        </p:spPr>
        <p:txBody>
          <a:bodyPr wrap="square" lIns="0" tIns="0" rIns="0" bIns="0" rtlCol="0" anchor="ctr"/>
          <a:lstStyle/>
          <a:p>
            <a:pPr indent="0" marL="0">
              <a:buNone/>
            </a:pPr>
            <a:r>
              <a:rPr lang="en-US" sz="1650" b="1" dirty="0">
                <a:solidFill>
                  <a:srgbClr val="3E3E4B"/>
                </a:solidFill>
                <a:latin typeface="Calibri" pitchFamily="34" charset="0"/>
                <a:ea typeface="Calibri" pitchFamily="34" charset="-122"/>
                <a:cs typeface="Calibri" pitchFamily="34" charset="-120"/>
              </a:rPr>
              <a:t>Emulated virtual CD-ROM</a:t>
            </a:r>
            <a:endParaRPr lang="en-US" sz="1650" dirty="0"/>
          </a:p>
        </p:txBody>
      </p:sp>
      <p:sp>
        <p:nvSpPr>
          <p:cNvPr id="7" name="Text 5"/>
          <p:cNvSpPr/>
          <p:nvPr/>
        </p:nvSpPr>
        <p:spPr>
          <a:xfrm>
            <a:off x="896112" y="2743200"/>
            <a:ext cx="2999232" cy="365760"/>
          </a:xfrm>
          <a:prstGeom prst="rect">
            <a:avLst/>
          </a:prstGeom>
          <a:noFill/>
          <a:ln/>
        </p:spPr>
        <p:txBody>
          <a:bodyPr wrap="square" lIns="0" tIns="0" rIns="0" bIns="0" rtlCol="0" anchor="ctr"/>
          <a:lstStyle/>
          <a:p>
            <a:pPr indent="0" marL="0">
              <a:buNone/>
            </a:pPr>
            <a:r>
              <a:rPr lang="en-US" sz="1100" i="1" dirty="0">
                <a:solidFill>
                  <a:srgbClr val="00B3E2"/>
                </a:solidFill>
                <a:latin typeface="Calibri" pitchFamily="34" charset="0"/>
                <a:ea typeface="Calibri" pitchFamily="34" charset="-122"/>
                <a:cs typeface="Calibri" pitchFamily="34" charset="-120"/>
              </a:rPr>
              <a:t>Alert similar to EPC_CD-ROM_EMULATE_MODE</a:t>
            </a:r>
            <a:endParaRPr lang="en-US" sz="1100" dirty="0"/>
          </a:p>
        </p:txBody>
      </p:sp>
      <p:sp>
        <p:nvSpPr>
          <p:cNvPr id="8" name="Text 6"/>
          <p:cNvSpPr/>
          <p:nvPr/>
        </p:nvSpPr>
        <p:spPr>
          <a:xfrm>
            <a:off x="896112" y="3127248"/>
            <a:ext cx="2999232" cy="1508760"/>
          </a:xfrm>
          <a:prstGeom prst="rect">
            <a:avLst/>
          </a:prstGeom>
          <a:noFill/>
          <a:ln/>
        </p:spPr>
        <p:txBody>
          <a:bodyPr wrap="square" lIns="0" tIns="0" rIns="0" bIns="0" rtlCol="0" anchor="ctr"/>
          <a:lstStyle/>
          <a:p>
            <a:pPr marL="177800" indent="-177800">
              <a:spcAft>
                <a:spcPts val="500"/>
              </a:spcAft>
              <a:buSzPct val="100000"/>
              <a:buChar char="•"/>
            </a:pPr>
            <a:r>
              <a:rPr lang="en-US" sz="1200" dirty="0">
                <a:solidFill>
                  <a:srgbClr val="55555F"/>
                </a:solidFill>
                <a:latin typeface="Calibri" pitchFamily="34" charset="0"/>
                <a:ea typeface="Calibri" pitchFamily="34" charset="-122"/>
                <a:cs typeface="Calibri" pitchFamily="34" charset="-120"/>
              </a:rPr>
              <a:t>The hypervisor is translating legacy IDE or SATA device behavior.</a:t>
            </a:r>
            <a:endParaRPr lang="en-US" sz="1200" dirty="0"/>
          </a:p>
          <a:p>
            <a:pPr marL="177800" indent="-177800">
              <a:spcAft>
                <a:spcPts val="500"/>
              </a:spcAft>
              <a:buSzPct val="100000"/>
              <a:buChar char="•"/>
            </a:pPr>
            <a:r>
              <a:rPr lang="en-US" sz="1200" dirty="0">
                <a:solidFill>
                  <a:srgbClr val="55555F"/>
                </a:solidFill>
                <a:latin typeface="Calibri" pitchFamily="34" charset="0"/>
                <a:ea typeface="Calibri" pitchFamily="34" charset="-122"/>
                <a:cs typeface="Calibri" pitchFamily="34" charset="-120"/>
              </a:rPr>
              <a:t>The VM may hold state tied to the source host's emulated hardware context.</a:t>
            </a:r>
            <a:endParaRPr lang="en-US" sz="1200" dirty="0"/>
          </a:p>
          <a:p>
            <a:pPr marL="177800" indent="-177800">
              <a:spcAft>
                <a:spcPts val="500"/>
              </a:spcAft>
              <a:buSzPct val="100000"/>
              <a:buChar char="•"/>
            </a:pPr>
            <a:r>
              <a:rPr lang="en-US" sz="1200" dirty="0">
                <a:solidFill>
                  <a:srgbClr val="55555F"/>
                </a:solidFill>
                <a:latin typeface="Calibri" pitchFamily="34" charset="0"/>
                <a:ea typeface="Calibri" pitchFamily="34" charset="-122"/>
                <a:cs typeface="Calibri" pitchFamily="34" charset="-120"/>
              </a:rPr>
              <a:t>vMotion cannot guarantee that state can be serialized and recreated elsewhere, so it aborts.</a:t>
            </a:r>
            <a:endParaRPr lang="en-US" sz="1200" dirty="0"/>
          </a:p>
        </p:txBody>
      </p:sp>
      <p:sp>
        <p:nvSpPr>
          <p:cNvPr id="9" name="Shape 7"/>
          <p:cNvSpPr/>
          <p:nvPr/>
        </p:nvSpPr>
        <p:spPr>
          <a:xfrm>
            <a:off x="896112" y="4663440"/>
            <a:ext cx="2999232" cy="621792"/>
          </a:xfrm>
          <a:prstGeom prst="roundRect">
            <a:avLst>
              <a:gd name="adj" fmla="val 10294"/>
            </a:avLst>
          </a:prstGeom>
          <a:solidFill>
            <a:srgbClr val="E5F7FC"/>
          </a:solidFill>
          <a:ln w="9525">
            <a:solidFill>
              <a:srgbClr val="B2E8F6"/>
            </a:solidFill>
            <a:prstDash val="solid"/>
          </a:ln>
        </p:spPr>
      </p:sp>
      <p:sp>
        <p:nvSpPr>
          <p:cNvPr id="10" name="Text 8"/>
          <p:cNvSpPr/>
          <p:nvPr/>
        </p:nvSpPr>
        <p:spPr>
          <a:xfrm>
            <a:off x="1051560" y="4663440"/>
            <a:ext cx="2688336" cy="621792"/>
          </a:xfrm>
          <a:prstGeom prst="rect">
            <a:avLst/>
          </a:prstGeom>
          <a:noFill/>
          <a:ln/>
        </p:spPr>
        <p:txBody>
          <a:bodyPr wrap="square" lIns="0" tIns="0" rIns="0" bIns="0" rtlCol="0" anchor="ctr"/>
          <a:lstStyle/>
          <a:p>
            <a:pPr indent="0" marL="0">
              <a:buNone/>
            </a:pPr>
            <a:r>
              <a:rPr lang="en-US" sz="1150" b="1" dirty="0">
                <a:solidFill>
                  <a:srgbClr val="0A7FA6"/>
                </a:solidFill>
                <a:latin typeface="Calibri" pitchFamily="34" charset="0"/>
                <a:ea typeface="Calibri" pitchFamily="34" charset="-122"/>
                <a:cs typeface="Calibri" pitchFamily="34" charset="-120"/>
              </a:rPr>
              <a:t>Detach unused ISOs and virtual media as routine hygiene.</a:t>
            </a:r>
            <a:endParaRPr lang="en-US" sz="1150" dirty="0"/>
          </a:p>
        </p:txBody>
      </p:sp>
      <p:sp>
        <p:nvSpPr>
          <p:cNvPr id="11" name="Shape 9"/>
          <p:cNvSpPr/>
          <p:nvPr/>
        </p:nvSpPr>
        <p:spPr>
          <a:xfrm>
            <a:off x="4535424" y="1600200"/>
            <a:ext cx="3511296" cy="3794760"/>
          </a:xfrm>
          <a:prstGeom prst="roundRect">
            <a:avLst>
              <a:gd name="adj" fmla="val 1823"/>
            </a:avLst>
          </a:prstGeom>
          <a:solidFill>
            <a:srgbClr val="F4F7F8"/>
          </a:solidFill>
          <a:ln w="9525">
            <a:solidFill>
              <a:srgbClr val="DDE2E2"/>
            </a:solidFill>
            <a:prstDash val="solid"/>
          </a:ln>
        </p:spPr>
      </p:sp>
      <p:sp>
        <p:nvSpPr>
          <p:cNvPr id="12" name="Shape 10"/>
          <p:cNvSpPr/>
          <p:nvPr/>
        </p:nvSpPr>
        <p:spPr>
          <a:xfrm>
            <a:off x="4791456" y="1801368"/>
            <a:ext cx="274320" cy="274320"/>
          </a:xfrm>
          <a:prstGeom prst="ellipse">
            <a:avLst/>
          </a:prstGeom>
          <a:solidFill>
            <a:srgbClr val="F15D23"/>
          </a:solidFill>
          <a:ln w="12700">
            <a:solidFill>
              <a:srgbClr val="F15D23"/>
            </a:solidFill>
            <a:prstDash val="solid"/>
          </a:ln>
        </p:spPr>
      </p:sp>
      <p:sp>
        <p:nvSpPr>
          <p:cNvPr id="13" name="Text 11"/>
          <p:cNvSpPr/>
          <p:nvPr/>
        </p:nvSpPr>
        <p:spPr>
          <a:xfrm>
            <a:off x="4791456" y="2194560"/>
            <a:ext cx="2999232" cy="594360"/>
          </a:xfrm>
          <a:prstGeom prst="rect">
            <a:avLst/>
          </a:prstGeom>
          <a:noFill/>
          <a:ln/>
        </p:spPr>
        <p:txBody>
          <a:bodyPr wrap="square" lIns="0" tIns="0" rIns="0" bIns="0" rtlCol="0" anchor="ctr"/>
          <a:lstStyle/>
          <a:p>
            <a:pPr indent="0" marL="0">
              <a:buNone/>
            </a:pPr>
            <a:r>
              <a:rPr lang="en-US" sz="1650" b="1" dirty="0">
                <a:solidFill>
                  <a:srgbClr val="3E3E4B"/>
                </a:solidFill>
                <a:latin typeface="Calibri" pitchFamily="34" charset="0"/>
                <a:ea typeface="Calibri" pitchFamily="34" charset="-122"/>
                <a:cs typeface="Calibri" pitchFamily="34" charset="-120"/>
              </a:rPr>
              <a:t>Host-specific virtual devices</a:t>
            </a:r>
            <a:endParaRPr lang="en-US" sz="1650" dirty="0"/>
          </a:p>
        </p:txBody>
      </p:sp>
      <p:sp>
        <p:nvSpPr>
          <p:cNvPr id="14" name="Text 12"/>
          <p:cNvSpPr/>
          <p:nvPr/>
        </p:nvSpPr>
        <p:spPr>
          <a:xfrm>
            <a:off x="4791456" y="2743200"/>
            <a:ext cx="2999232" cy="365760"/>
          </a:xfrm>
          <a:prstGeom prst="rect">
            <a:avLst/>
          </a:prstGeom>
          <a:noFill/>
          <a:ln/>
        </p:spPr>
        <p:txBody>
          <a:bodyPr wrap="square" lIns="0" tIns="0" rIns="0" bIns="0" rtlCol="0" anchor="ctr"/>
          <a:lstStyle/>
          <a:p>
            <a:pPr indent="0" marL="0">
              <a:buNone/>
            </a:pPr>
            <a:r>
              <a:rPr lang="en-US" sz="1100" i="1" dirty="0">
                <a:solidFill>
                  <a:srgbClr val="00B3E2"/>
                </a:solidFill>
                <a:latin typeface="Calibri" pitchFamily="34" charset="0"/>
                <a:ea typeface="Calibri" pitchFamily="34" charset="-122"/>
                <a:cs typeface="Calibri" pitchFamily="34" charset="-120"/>
              </a:rPr>
              <a:t>Serial ports, parallel ports, USB controllers</a:t>
            </a:r>
            <a:endParaRPr lang="en-US" sz="1100" dirty="0"/>
          </a:p>
        </p:txBody>
      </p:sp>
      <p:sp>
        <p:nvSpPr>
          <p:cNvPr id="15" name="Text 13"/>
          <p:cNvSpPr/>
          <p:nvPr/>
        </p:nvSpPr>
        <p:spPr>
          <a:xfrm>
            <a:off x="4791456" y="3127248"/>
            <a:ext cx="2999232" cy="1508760"/>
          </a:xfrm>
          <a:prstGeom prst="rect">
            <a:avLst/>
          </a:prstGeom>
          <a:noFill/>
          <a:ln/>
        </p:spPr>
        <p:txBody>
          <a:bodyPr wrap="square" lIns="0" tIns="0" rIns="0" bIns="0" rtlCol="0" anchor="ctr"/>
          <a:lstStyle/>
          <a:p>
            <a:pPr marL="177800" indent="-177800">
              <a:spcAft>
                <a:spcPts val="500"/>
              </a:spcAft>
              <a:buSzPct val="100000"/>
              <a:buChar char="•"/>
            </a:pPr>
            <a:r>
              <a:rPr lang="en-US" sz="1200" dirty="0">
                <a:solidFill>
                  <a:srgbClr val="55555F"/>
                </a:solidFill>
                <a:latin typeface="Calibri" pitchFamily="34" charset="0"/>
                <a:ea typeface="Calibri" pitchFamily="34" charset="-122"/>
                <a:cs typeface="Calibri" pitchFamily="34" charset="-120"/>
              </a:rPr>
              <a:t>The destination host may not expose an identical device mapping.</a:t>
            </a:r>
            <a:endParaRPr lang="en-US" sz="1200" dirty="0"/>
          </a:p>
          <a:p>
            <a:pPr marL="177800" indent="-177800">
              <a:spcAft>
                <a:spcPts val="500"/>
              </a:spcAft>
              <a:buSzPct val="100000"/>
              <a:buChar char="•"/>
            </a:pPr>
            <a:r>
              <a:rPr lang="en-US" sz="1200" dirty="0">
                <a:solidFill>
                  <a:srgbClr val="55555F"/>
                </a:solidFill>
                <a:latin typeface="Calibri" pitchFamily="34" charset="0"/>
                <a:ea typeface="Calibri" pitchFamily="34" charset="-122"/>
                <a:cs typeface="Calibri" pitchFamily="34" charset="-120"/>
              </a:rPr>
              <a:t>The VM becomes anchored to its current host.</a:t>
            </a:r>
            <a:endParaRPr lang="en-US" sz="1200" dirty="0"/>
          </a:p>
          <a:p>
            <a:pPr marL="177800" indent="-177800">
              <a:spcAft>
                <a:spcPts val="500"/>
              </a:spcAft>
              <a:buSzPct val="100000"/>
              <a:buChar char="•"/>
            </a:pPr>
            <a:r>
              <a:rPr lang="en-US" sz="1200" dirty="0">
                <a:solidFill>
                  <a:srgbClr val="55555F"/>
                </a:solidFill>
                <a:latin typeface="Calibri" pitchFamily="34" charset="0"/>
                <a:ea typeface="Calibri" pitchFamily="34" charset="-122"/>
                <a:cs typeface="Calibri" pitchFamily="34" charset="-120"/>
              </a:rPr>
              <a:t>vMotion refuses the move rather than risk guest failure or loss of device state.</a:t>
            </a:r>
            <a:endParaRPr lang="en-US" sz="1200" dirty="0"/>
          </a:p>
        </p:txBody>
      </p:sp>
      <p:sp>
        <p:nvSpPr>
          <p:cNvPr id="16" name="Shape 14"/>
          <p:cNvSpPr/>
          <p:nvPr/>
        </p:nvSpPr>
        <p:spPr>
          <a:xfrm>
            <a:off x="4791456" y="4663440"/>
            <a:ext cx="2999232" cy="621792"/>
          </a:xfrm>
          <a:prstGeom prst="roundRect">
            <a:avLst>
              <a:gd name="adj" fmla="val 10294"/>
            </a:avLst>
          </a:prstGeom>
          <a:solidFill>
            <a:srgbClr val="E5F7FC"/>
          </a:solidFill>
          <a:ln w="9525">
            <a:solidFill>
              <a:srgbClr val="B2E8F6"/>
            </a:solidFill>
            <a:prstDash val="solid"/>
          </a:ln>
        </p:spPr>
      </p:sp>
      <p:sp>
        <p:nvSpPr>
          <p:cNvPr id="17" name="Text 15"/>
          <p:cNvSpPr/>
          <p:nvPr/>
        </p:nvSpPr>
        <p:spPr>
          <a:xfrm>
            <a:off x="4946904" y="4663440"/>
            <a:ext cx="2688336" cy="621792"/>
          </a:xfrm>
          <a:prstGeom prst="rect">
            <a:avLst/>
          </a:prstGeom>
          <a:noFill/>
          <a:ln/>
        </p:spPr>
        <p:txBody>
          <a:bodyPr wrap="square" lIns="0" tIns="0" rIns="0" bIns="0" rtlCol="0" anchor="ctr"/>
          <a:lstStyle/>
          <a:p>
            <a:pPr indent="0" marL="0">
              <a:buNone/>
            </a:pPr>
            <a:r>
              <a:rPr lang="en-US" sz="1150" b="1" dirty="0">
                <a:solidFill>
                  <a:srgbClr val="0A7FA6"/>
                </a:solidFill>
                <a:latin typeface="Calibri" pitchFamily="34" charset="0"/>
                <a:ea typeface="Calibri" pitchFamily="34" charset="-122"/>
                <a:cs typeface="Calibri" pitchFamily="34" charset="-120"/>
              </a:rPr>
              <a:t>Treat VM portability as a platform requirement, not a preference.</a:t>
            </a:r>
            <a:endParaRPr lang="en-US" sz="1150" dirty="0"/>
          </a:p>
        </p:txBody>
      </p:sp>
      <p:sp>
        <p:nvSpPr>
          <p:cNvPr id="18" name="Shape 16"/>
          <p:cNvSpPr/>
          <p:nvPr/>
        </p:nvSpPr>
        <p:spPr>
          <a:xfrm>
            <a:off x="8430768" y="1600200"/>
            <a:ext cx="3511296" cy="3794760"/>
          </a:xfrm>
          <a:prstGeom prst="roundRect">
            <a:avLst>
              <a:gd name="adj" fmla="val 1823"/>
            </a:avLst>
          </a:prstGeom>
          <a:solidFill>
            <a:srgbClr val="F4F7F8"/>
          </a:solidFill>
          <a:ln w="9525">
            <a:solidFill>
              <a:srgbClr val="DDE2E2"/>
            </a:solidFill>
            <a:prstDash val="solid"/>
          </a:ln>
        </p:spPr>
      </p:sp>
      <p:sp>
        <p:nvSpPr>
          <p:cNvPr id="19" name="Shape 17"/>
          <p:cNvSpPr/>
          <p:nvPr/>
        </p:nvSpPr>
        <p:spPr>
          <a:xfrm>
            <a:off x="8686800" y="1801368"/>
            <a:ext cx="274320" cy="274320"/>
          </a:xfrm>
          <a:prstGeom prst="ellipse">
            <a:avLst/>
          </a:prstGeom>
          <a:solidFill>
            <a:srgbClr val="F15D23"/>
          </a:solidFill>
          <a:ln w="12700">
            <a:solidFill>
              <a:srgbClr val="F15D23"/>
            </a:solidFill>
            <a:prstDash val="solid"/>
          </a:ln>
        </p:spPr>
      </p:sp>
      <p:sp>
        <p:nvSpPr>
          <p:cNvPr id="20" name="Text 18"/>
          <p:cNvSpPr/>
          <p:nvPr/>
        </p:nvSpPr>
        <p:spPr>
          <a:xfrm>
            <a:off x="8686800" y="2194560"/>
            <a:ext cx="2999232" cy="594360"/>
          </a:xfrm>
          <a:prstGeom prst="rect">
            <a:avLst/>
          </a:prstGeom>
          <a:noFill/>
          <a:ln/>
        </p:spPr>
        <p:txBody>
          <a:bodyPr wrap="square" lIns="0" tIns="0" rIns="0" bIns="0" rtlCol="0" anchor="ctr"/>
          <a:lstStyle/>
          <a:p>
            <a:pPr indent="0" marL="0">
              <a:buNone/>
            </a:pPr>
            <a:r>
              <a:rPr lang="en-US" sz="1650" b="1" dirty="0">
                <a:solidFill>
                  <a:srgbClr val="3E3E4B"/>
                </a:solidFill>
                <a:latin typeface="Calibri" pitchFamily="34" charset="0"/>
                <a:ea typeface="Calibri" pitchFamily="34" charset="-122"/>
                <a:cs typeface="Calibri" pitchFamily="34" charset="-120"/>
              </a:rPr>
              <a:t>FTT set to zero</a:t>
            </a:r>
            <a:endParaRPr lang="en-US" sz="1650" dirty="0"/>
          </a:p>
        </p:txBody>
      </p:sp>
      <p:sp>
        <p:nvSpPr>
          <p:cNvPr id="21" name="Text 19"/>
          <p:cNvSpPr/>
          <p:nvPr/>
        </p:nvSpPr>
        <p:spPr>
          <a:xfrm>
            <a:off x="8686800" y="2743200"/>
            <a:ext cx="2999232" cy="365760"/>
          </a:xfrm>
          <a:prstGeom prst="rect">
            <a:avLst/>
          </a:prstGeom>
          <a:noFill/>
          <a:ln/>
        </p:spPr>
        <p:txBody>
          <a:bodyPr wrap="square" lIns="0" tIns="0" rIns="0" bIns="0" rtlCol="0" anchor="ctr"/>
          <a:lstStyle/>
          <a:p>
            <a:pPr indent="0" marL="0">
              <a:buNone/>
            </a:pPr>
            <a:r>
              <a:rPr lang="en-US" sz="1100" i="1" dirty="0">
                <a:solidFill>
                  <a:srgbClr val="00B3E2"/>
                </a:solidFill>
                <a:latin typeface="Calibri" pitchFamily="34" charset="0"/>
                <a:ea typeface="Calibri" pitchFamily="34" charset="-122"/>
                <a:cs typeface="Calibri" pitchFamily="34" charset="-120"/>
              </a:rPr>
              <a:t>Failures to Tolerate on the vSAN policy</a:t>
            </a:r>
            <a:endParaRPr lang="en-US" sz="1100" dirty="0"/>
          </a:p>
        </p:txBody>
      </p:sp>
      <p:sp>
        <p:nvSpPr>
          <p:cNvPr id="22" name="Text 20"/>
          <p:cNvSpPr/>
          <p:nvPr/>
        </p:nvSpPr>
        <p:spPr>
          <a:xfrm>
            <a:off x="8686800" y="3127248"/>
            <a:ext cx="2999232" cy="1508760"/>
          </a:xfrm>
          <a:prstGeom prst="rect">
            <a:avLst/>
          </a:prstGeom>
          <a:noFill/>
          <a:ln/>
        </p:spPr>
        <p:txBody>
          <a:bodyPr wrap="square" lIns="0" tIns="0" rIns="0" bIns="0" rtlCol="0" anchor="ctr"/>
          <a:lstStyle/>
          <a:p>
            <a:pPr marL="177800" indent="-177800">
              <a:spcAft>
                <a:spcPts val="500"/>
              </a:spcAft>
              <a:buSzPct val="100000"/>
              <a:buChar char="•"/>
            </a:pPr>
            <a:r>
              <a:rPr lang="en-US" sz="1200" dirty="0">
                <a:solidFill>
                  <a:srgbClr val="55555F"/>
                </a:solidFill>
                <a:latin typeface="Calibri" pitchFamily="34" charset="0"/>
                <a:ea typeface="Calibri" pitchFamily="34" charset="-122"/>
                <a:cs typeface="Calibri" pitchFamily="34" charset="-120"/>
              </a:rPr>
              <a:t>Often chosen for scratch disks or logging workloads to conserve vSAN capacity.</a:t>
            </a:r>
            <a:endParaRPr lang="en-US" sz="1200" dirty="0"/>
          </a:p>
          <a:p>
            <a:pPr marL="177800" indent="-177800">
              <a:spcAft>
                <a:spcPts val="500"/>
              </a:spcAft>
              <a:buSzPct val="100000"/>
              <a:buChar char="•"/>
            </a:pPr>
            <a:r>
              <a:rPr lang="en-US" sz="1200" dirty="0">
                <a:solidFill>
                  <a:srgbClr val="55555F"/>
                </a:solidFill>
                <a:latin typeface="Calibri" pitchFamily="34" charset="0"/>
                <a:ea typeface="Calibri" pitchFamily="34" charset="-122"/>
                <a:cs typeface="Calibri" pitchFamily="34" charset="-120"/>
              </a:rPr>
              <a:t>FTT 0 leaves exactly one copy of the data.</a:t>
            </a:r>
            <a:endParaRPr lang="en-US" sz="1200" dirty="0"/>
          </a:p>
          <a:p>
            <a:pPr marL="177800" indent="-177800">
              <a:spcAft>
                <a:spcPts val="500"/>
              </a:spcAft>
              <a:buSzPct val="100000"/>
              <a:buChar char="•"/>
            </a:pPr>
            <a:r>
              <a:rPr lang="en-US" sz="1200" dirty="0">
                <a:solidFill>
                  <a:srgbClr val="55555F"/>
                </a:solidFill>
                <a:latin typeface="Calibri" pitchFamily="34" charset="0"/>
                <a:ea typeface="Calibri" pitchFamily="34" charset="-122"/>
                <a:cs typeface="Calibri" pitchFamily="34" charset="-120"/>
              </a:rPr>
              <a:t>If that copy sits on the host being remediated, vSAN cannot maintain availability and automation stops.</a:t>
            </a:r>
            <a:endParaRPr lang="en-US" sz="1200" dirty="0"/>
          </a:p>
        </p:txBody>
      </p:sp>
      <p:sp>
        <p:nvSpPr>
          <p:cNvPr id="23" name="Shape 21"/>
          <p:cNvSpPr/>
          <p:nvPr/>
        </p:nvSpPr>
        <p:spPr>
          <a:xfrm>
            <a:off x="8686800" y="4663440"/>
            <a:ext cx="2999232" cy="621792"/>
          </a:xfrm>
          <a:prstGeom prst="roundRect">
            <a:avLst>
              <a:gd name="adj" fmla="val 10294"/>
            </a:avLst>
          </a:prstGeom>
          <a:solidFill>
            <a:srgbClr val="E5F7FC"/>
          </a:solidFill>
          <a:ln w="9525">
            <a:solidFill>
              <a:srgbClr val="B2E8F6"/>
            </a:solidFill>
            <a:prstDash val="solid"/>
          </a:ln>
        </p:spPr>
      </p:sp>
      <p:sp>
        <p:nvSpPr>
          <p:cNvPr id="24" name="Text 22"/>
          <p:cNvSpPr/>
          <p:nvPr/>
        </p:nvSpPr>
        <p:spPr>
          <a:xfrm>
            <a:off x="8842248" y="4663440"/>
            <a:ext cx="2688336" cy="621792"/>
          </a:xfrm>
          <a:prstGeom prst="rect">
            <a:avLst/>
          </a:prstGeom>
          <a:noFill/>
          <a:ln/>
        </p:spPr>
        <p:txBody>
          <a:bodyPr wrap="square" lIns="0" tIns="0" rIns="0" bIns="0" rtlCol="0" anchor="ctr"/>
          <a:lstStyle/>
          <a:p>
            <a:pPr indent="0" marL="0">
              <a:buNone/>
            </a:pPr>
            <a:r>
              <a:rPr lang="en-US" sz="1150" b="1" dirty="0">
                <a:solidFill>
                  <a:srgbClr val="0A7FA6"/>
                </a:solidFill>
                <a:latin typeface="Calibri" pitchFamily="34" charset="0"/>
                <a:ea typeface="Calibri" pitchFamily="34" charset="-122"/>
                <a:cs typeface="Calibri" pitchFamily="34" charset="-120"/>
              </a:rPr>
              <a:t>FTT 1 for clusters up to five hosts. FTT 2 for six or more.</a:t>
            </a:r>
            <a:endParaRPr lang="en-US" sz="1150" dirty="0"/>
          </a:p>
        </p:txBody>
      </p:sp>
      <p:sp>
        <p:nvSpPr>
          <p:cNvPr id="25" name="Text 23"/>
          <p:cNvSpPr/>
          <p:nvPr/>
        </p:nvSpPr>
        <p:spPr>
          <a:xfrm>
            <a:off x="640080" y="5532120"/>
            <a:ext cx="10911535" cy="457200"/>
          </a:xfrm>
          <a:prstGeom prst="rect">
            <a:avLst/>
          </a:prstGeom>
          <a:noFill/>
          <a:ln/>
        </p:spPr>
        <p:txBody>
          <a:bodyPr wrap="square" lIns="0" tIns="0" rIns="0" bIns="0" rtlCol="0" anchor="ctr"/>
          <a:lstStyle/>
          <a:p>
            <a:pPr indent="0" marL="0">
              <a:buNone/>
            </a:pPr>
            <a:r>
              <a:rPr lang="en-US" sz="1300" i="1" dirty="0">
                <a:solidFill>
                  <a:srgbClr val="55555F"/>
                </a:solidFill>
                <a:latin typeface="Calibri" pitchFamily="34" charset="0"/>
                <a:ea typeface="Calibri" pitchFamily="34" charset="-122"/>
                <a:cs typeface="Calibri" pitchFamily="34" charset="-120"/>
              </a:rPr>
              <a:t>Legacy virtual devices that were harmless in a manually managed data center become blockers in an automated cloud platform. Redundancy settings decide whether routine maintenance can happen at all.</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37744"/>
          </a:xfrm>
          <a:prstGeom prst="rect">
            <a:avLst/>
          </a:prstGeom>
          <a:noFill/>
          <a:ln/>
        </p:spPr>
        <p:txBody>
          <a:bodyPr wrap="square" lIns="0" tIns="0" rIns="0" bIns="0" rtlCol="0" anchor="ctr"/>
          <a:lstStyle/>
          <a:p>
            <a:pPr indent="0" marL="0">
              <a:buNone/>
            </a:pPr>
            <a:r>
              <a:rPr lang="en-US" sz="1100" b="1" spc="200" kern="0" dirty="0">
                <a:solidFill>
                  <a:srgbClr val="00B3E2"/>
                </a:solidFill>
                <a:latin typeface="Calibri" pitchFamily="34" charset="0"/>
                <a:ea typeface="Calibri" pitchFamily="34" charset="-122"/>
                <a:cs typeface="Calibri" pitchFamily="34" charset="-120"/>
              </a:rPr>
              <a:t>OPERATIONS</a:t>
            </a:r>
            <a:endParaRPr lang="en-US" sz="1100" dirty="0"/>
          </a:p>
        </p:txBody>
      </p:sp>
      <p:sp>
        <p:nvSpPr>
          <p:cNvPr id="3" name="Text 1"/>
          <p:cNvSpPr/>
          <p:nvPr/>
        </p:nvSpPr>
        <p:spPr>
          <a:xfrm>
            <a:off x="640080" y="658368"/>
            <a:ext cx="10911535" cy="566928"/>
          </a:xfrm>
          <a:prstGeom prst="rect">
            <a:avLst/>
          </a:prstGeom>
          <a:noFill/>
          <a:ln/>
        </p:spPr>
        <p:txBody>
          <a:bodyPr wrap="square" lIns="0" tIns="0" rIns="0" bIns="0" rtlCol="0" anchor="ctr"/>
          <a:lstStyle/>
          <a:p>
            <a:pPr indent="0" marL="0">
              <a:buNone/>
            </a:pPr>
            <a:r>
              <a:rPr lang="en-US" sz="3400" b="1" dirty="0">
                <a:solidFill>
                  <a:srgbClr val="3E3E4B"/>
                </a:solidFill>
                <a:latin typeface="Calibri" pitchFamily="34" charset="0"/>
                <a:ea typeface="Calibri" pitchFamily="34" charset="-122"/>
                <a:cs typeface="Calibri" pitchFamily="34" charset="-120"/>
              </a:rPr>
              <a:t>Self-service maintenance scheduling</a:t>
            </a:r>
            <a:endParaRPr lang="en-US" sz="3400" dirty="0"/>
          </a:p>
        </p:txBody>
      </p:sp>
      <p:sp>
        <p:nvSpPr>
          <p:cNvPr id="4" name="Shape 2"/>
          <p:cNvSpPr/>
          <p:nvPr/>
        </p:nvSpPr>
        <p:spPr>
          <a:xfrm>
            <a:off x="640080" y="1691640"/>
            <a:ext cx="5257800" cy="2011680"/>
          </a:xfrm>
          <a:prstGeom prst="roundRect">
            <a:avLst>
              <a:gd name="adj" fmla="val 3182"/>
            </a:avLst>
          </a:prstGeom>
          <a:solidFill>
            <a:srgbClr val="F4F7F8"/>
          </a:solidFill>
          <a:ln w="9525">
            <a:solidFill>
              <a:srgbClr val="DDE2E2"/>
            </a:solidFill>
            <a:prstDash val="solid"/>
          </a:ln>
        </p:spPr>
      </p:sp>
      <p:sp>
        <p:nvSpPr>
          <p:cNvPr id="5" name="Text 3"/>
          <p:cNvSpPr/>
          <p:nvPr/>
        </p:nvSpPr>
        <p:spPr>
          <a:xfrm>
            <a:off x="960120" y="1874520"/>
            <a:ext cx="4617720" cy="320040"/>
          </a:xfrm>
          <a:prstGeom prst="rect">
            <a:avLst/>
          </a:prstGeom>
          <a:noFill/>
          <a:ln/>
        </p:spPr>
        <p:txBody>
          <a:bodyPr wrap="square" lIns="0" tIns="0" rIns="0" bIns="0" rtlCol="0" anchor="ctr"/>
          <a:lstStyle/>
          <a:p>
            <a:pPr indent="0" marL="0">
              <a:buNone/>
            </a:pPr>
            <a:r>
              <a:rPr lang="en-US" sz="1600" b="1" dirty="0">
                <a:solidFill>
                  <a:srgbClr val="3E3E4B"/>
                </a:solidFill>
                <a:latin typeface="Calibri" pitchFamily="34" charset="0"/>
                <a:ea typeface="Calibri" pitchFamily="34" charset="-122"/>
                <a:cs typeface="Calibri" pitchFamily="34" charset="-120"/>
              </a:rPr>
              <a:t>What a compliant environment earns</a:t>
            </a:r>
            <a:endParaRPr lang="en-US" sz="1600" dirty="0"/>
          </a:p>
        </p:txBody>
      </p:sp>
      <p:sp>
        <p:nvSpPr>
          <p:cNvPr id="6" name="Text 4"/>
          <p:cNvSpPr/>
          <p:nvPr/>
        </p:nvSpPr>
        <p:spPr>
          <a:xfrm>
            <a:off x="960120" y="2240280"/>
            <a:ext cx="4617720" cy="1371600"/>
          </a:xfrm>
          <a:prstGeom prst="rect">
            <a:avLst/>
          </a:prstGeom>
          <a:noFill/>
          <a:ln/>
        </p:spPr>
        <p:txBody>
          <a:bodyPr wrap="square" lIns="0" tIns="0" rIns="0" bIns="0" rtlCol="0" anchor="ctr"/>
          <a:lstStyle/>
          <a:p>
            <a:pPr marL="177800" indent="-177800">
              <a:spcAft>
                <a:spcPts val="600"/>
              </a:spcAft>
              <a:buSzPct val="100000"/>
              <a:buChar char="•"/>
            </a:pPr>
            <a:r>
              <a:rPr lang="en-US" sz="1350" dirty="0">
                <a:solidFill>
                  <a:srgbClr val="55555F"/>
                </a:solidFill>
                <a:latin typeface="Calibri" pitchFamily="34" charset="0"/>
                <a:ea typeface="Calibri" pitchFamily="34" charset="-122"/>
                <a:cs typeface="Calibri" pitchFamily="34" charset="-120"/>
              </a:rPr>
              <a:t>A healthy and compliant environment can use self-service scheduling.</a:t>
            </a:r>
            <a:endParaRPr lang="en-US" sz="1350" dirty="0"/>
          </a:p>
          <a:p>
            <a:pPr marL="177800" indent="-177800">
              <a:spcAft>
                <a:spcPts val="600"/>
              </a:spcAft>
              <a:buSzPct val="100000"/>
              <a:buChar char="•"/>
            </a:pPr>
            <a:r>
              <a:rPr lang="en-US" sz="1350" dirty="0">
                <a:solidFill>
                  <a:srgbClr val="55555F"/>
                </a:solidFill>
                <a:latin typeface="Calibri" pitchFamily="34" charset="0"/>
                <a:ea typeface="Calibri" pitchFamily="34" charset="-122"/>
                <a:cs typeface="Calibri" pitchFamily="34" charset="-120"/>
              </a:rPr>
              <a:t>Customers choose a maintenance window in the Azure portal.</a:t>
            </a:r>
            <a:endParaRPr lang="en-US" sz="1350" dirty="0"/>
          </a:p>
          <a:p>
            <a:pPr marL="177800" indent="-177800">
              <a:spcAft>
                <a:spcPts val="600"/>
              </a:spcAft>
              <a:buSzPct val="100000"/>
              <a:buChar char="•"/>
            </a:pPr>
            <a:r>
              <a:rPr lang="en-US" sz="1350" dirty="0">
                <a:solidFill>
                  <a:srgbClr val="55555F"/>
                </a:solidFill>
                <a:latin typeface="Calibri" pitchFamily="34" charset="0"/>
                <a:ea typeface="Calibri" pitchFamily="34" charset="-122"/>
                <a:cs typeface="Calibri" pitchFamily="34" charset="-120"/>
              </a:rPr>
              <a:t>Operations can be scheduled or deferred ahead of time.</a:t>
            </a:r>
            <a:endParaRPr lang="en-US" sz="1350" dirty="0"/>
          </a:p>
        </p:txBody>
      </p:sp>
      <p:sp>
        <p:nvSpPr>
          <p:cNvPr id="7" name="Text 5"/>
          <p:cNvSpPr/>
          <p:nvPr/>
        </p:nvSpPr>
        <p:spPr>
          <a:xfrm>
            <a:off x="640080" y="3886200"/>
            <a:ext cx="5257800" cy="320040"/>
          </a:xfrm>
          <a:prstGeom prst="rect">
            <a:avLst/>
          </a:prstGeom>
          <a:noFill/>
          <a:ln/>
        </p:spPr>
        <p:txBody>
          <a:bodyPr wrap="square" lIns="0" tIns="0" rIns="0" bIns="0" rtlCol="0" anchor="ctr"/>
          <a:lstStyle/>
          <a:p>
            <a:pPr indent="0" marL="0">
              <a:buNone/>
            </a:pPr>
            <a:r>
              <a:rPr lang="en-US" sz="1800" b="1" dirty="0">
                <a:solidFill>
                  <a:srgbClr val="3E3E4B"/>
                </a:solidFill>
                <a:latin typeface="Calibri" pitchFamily="34" charset="0"/>
                <a:ea typeface="Calibri" pitchFamily="34" charset="-122"/>
                <a:cs typeface="Calibri" pitchFamily="34" charset="-120"/>
              </a:rPr>
              <a:t>What that protects</a:t>
            </a:r>
            <a:endParaRPr lang="en-US" sz="1800" dirty="0"/>
          </a:p>
        </p:txBody>
      </p:sp>
      <p:sp>
        <p:nvSpPr>
          <p:cNvPr id="8" name="Shape 6"/>
          <p:cNvSpPr/>
          <p:nvPr/>
        </p:nvSpPr>
        <p:spPr>
          <a:xfrm>
            <a:off x="640080" y="4315968"/>
            <a:ext cx="2542032" cy="731520"/>
          </a:xfrm>
          <a:prstGeom prst="roundRect">
            <a:avLst>
              <a:gd name="adj" fmla="val 8750"/>
            </a:avLst>
          </a:prstGeom>
          <a:solidFill>
            <a:srgbClr val="E5F7FC"/>
          </a:solidFill>
          <a:ln w="9525">
            <a:solidFill>
              <a:srgbClr val="B2E8F6"/>
            </a:solidFill>
            <a:prstDash val="solid"/>
          </a:ln>
        </p:spPr>
      </p:sp>
      <p:sp>
        <p:nvSpPr>
          <p:cNvPr id="9" name="Text 7"/>
          <p:cNvSpPr/>
          <p:nvPr/>
        </p:nvSpPr>
        <p:spPr>
          <a:xfrm>
            <a:off x="822960" y="4315968"/>
            <a:ext cx="2176272" cy="731520"/>
          </a:xfrm>
          <a:prstGeom prst="rect">
            <a:avLst/>
          </a:prstGeom>
          <a:noFill/>
          <a:ln/>
        </p:spPr>
        <p:txBody>
          <a:bodyPr wrap="square" lIns="0" tIns="0" rIns="0" bIns="0" rtlCol="0" anchor="ctr"/>
          <a:lstStyle/>
          <a:p>
            <a:pPr indent="0" marL="0">
              <a:buNone/>
            </a:pPr>
            <a:r>
              <a:rPr lang="en-US" sz="1300" b="1" dirty="0">
                <a:solidFill>
                  <a:srgbClr val="3E3E4B"/>
                </a:solidFill>
                <a:latin typeface="Calibri" pitchFamily="34" charset="0"/>
                <a:ea typeface="Calibri" pitchFamily="34" charset="-122"/>
                <a:cs typeface="Calibri" pitchFamily="34" charset="-120"/>
              </a:rPr>
              <a:t>Financial close</a:t>
            </a:r>
            <a:endParaRPr lang="en-US" sz="1300" dirty="0"/>
          </a:p>
        </p:txBody>
      </p:sp>
      <p:sp>
        <p:nvSpPr>
          <p:cNvPr id="10" name="Shape 8"/>
          <p:cNvSpPr/>
          <p:nvPr/>
        </p:nvSpPr>
        <p:spPr>
          <a:xfrm>
            <a:off x="3355848" y="4315968"/>
            <a:ext cx="2542032" cy="731520"/>
          </a:xfrm>
          <a:prstGeom prst="roundRect">
            <a:avLst>
              <a:gd name="adj" fmla="val 8750"/>
            </a:avLst>
          </a:prstGeom>
          <a:solidFill>
            <a:srgbClr val="E5F7FC"/>
          </a:solidFill>
          <a:ln w="9525">
            <a:solidFill>
              <a:srgbClr val="B2E8F6"/>
            </a:solidFill>
            <a:prstDash val="solid"/>
          </a:ln>
        </p:spPr>
      </p:sp>
      <p:sp>
        <p:nvSpPr>
          <p:cNvPr id="11" name="Text 9"/>
          <p:cNvSpPr/>
          <p:nvPr/>
        </p:nvSpPr>
        <p:spPr>
          <a:xfrm>
            <a:off x="3538728" y="4315968"/>
            <a:ext cx="2176272" cy="731520"/>
          </a:xfrm>
          <a:prstGeom prst="rect">
            <a:avLst/>
          </a:prstGeom>
          <a:noFill/>
          <a:ln/>
        </p:spPr>
        <p:txBody>
          <a:bodyPr wrap="square" lIns="0" tIns="0" rIns="0" bIns="0" rtlCol="0" anchor="ctr"/>
          <a:lstStyle/>
          <a:p>
            <a:pPr indent="0" marL="0">
              <a:buNone/>
            </a:pPr>
            <a:r>
              <a:rPr lang="en-US" sz="1300" b="1" dirty="0">
                <a:solidFill>
                  <a:srgbClr val="3E3E4B"/>
                </a:solidFill>
                <a:latin typeface="Calibri" pitchFamily="34" charset="0"/>
                <a:ea typeface="Calibri" pitchFamily="34" charset="-122"/>
                <a:cs typeface="Calibri" pitchFamily="34" charset="-120"/>
              </a:rPr>
              <a:t>Critical batch jobs</a:t>
            </a:r>
            <a:endParaRPr lang="en-US" sz="1300" dirty="0"/>
          </a:p>
        </p:txBody>
      </p:sp>
      <p:sp>
        <p:nvSpPr>
          <p:cNvPr id="12" name="Shape 10"/>
          <p:cNvSpPr/>
          <p:nvPr/>
        </p:nvSpPr>
        <p:spPr>
          <a:xfrm>
            <a:off x="640080" y="5230368"/>
            <a:ext cx="2542032" cy="731520"/>
          </a:xfrm>
          <a:prstGeom prst="roundRect">
            <a:avLst>
              <a:gd name="adj" fmla="val 8750"/>
            </a:avLst>
          </a:prstGeom>
          <a:solidFill>
            <a:srgbClr val="E5F7FC"/>
          </a:solidFill>
          <a:ln w="9525">
            <a:solidFill>
              <a:srgbClr val="B2E8F6"/>
            </a:solidFill>
            <a:prstDash val="solid"/>
          </a:ln>
        </p:spPr>
      </p:sp>
      <p:sp>
        <p:nvSpPr>
          <p:cNvPr id="13" name="Text 11"/>
          <p:cNvSpPr/>
          <p:nvPr/>
        </p:nvSpPr>
        <p:spPr>
          <a:xfrm>
            <a:off x="822960" y="5230368"/>
            <a:ext cx="2176272" cy="731520"/>
          </a:xfrm>
          <a:prstGeom prst="rect">
            <a:avLst/>
          </a:prstGeom>
          <a:noFill/>
          <a:ln/>
        </p:spPr>
        <p:txBody>
          <a:bodyPr wrap="square" lIns="0" tIns="0" rIns="0" bIns="0" rtlCol="0" anchor="ctr"/>
          <a:lstStyle/>
          <a:p>
            <a:pPr indent="0" marL="0">
              <a:buNone/>
            </a:pPr>
            <a:r>
              <a:rPr lang="en-US" sz="1300" b="1" dirty="0">
                <a:solidFill>
                  <a:srgbClr val="3E3E4B"/>
                </a:solidFill>
                <a:latin typeface="Calibri" pitchFamily="34" charset="0"/>
                <a:ea typeface="Calibri" pitchFamily="34" charset="-122"/>
                <a:cs typeface="Calibri" pitchFamily="34" charset="-120"/>
              </a:rPr>
              <a:t>High-traffic business hours</a:t>
            </a:r>
            <a:endParaRPr lang="en-US" sz="1300" dirty="0"/>
          </a:p>
        </p:txBody>
      </p:sp>
      <p:sp>
        <p:nvSpPr>
          <p:cNvPr id="14" name="Shape 12"/>
          <p:cNvSpPr/>
          <p:nvPr/>
        </p:nvSpPr>
        <p:spPr>
          <a:xfrm>
            <a:off x="3355848" y="5230368"/>
            <a:ext cx="2542032" cy="731520"/>
          </a:xfrm>
          <a:prstGeom prst="roundRect">
            <a:avLst>
              <a:gd name="adj" fmla="val 8750"/>
            </a:avLst>
          </a:prstGeom>
          <a:solidFill>
            <a:srgbClr val="E5F7FC"/>
          </a:solidFill>
          <a:ln w="9525">
            <a:solidFill>
              <a:srgbClr val="B2E8F6"/>
            </a:solidFill>
            <a:prstDash val="solid"/>
          </a:ln>
        </p:spPr>
      </p:sp>
      <p:sp>
        <p:nvSpPr>
          <p:cNvPr id="15" name="Text 13"/>
          <p:cNvSpPr/>
          <p:nvPr/>
        </p:nvSpPr>
        <p:spPr>
          <a:xfrm>
            <a:off x="3538728" y="5230368"/>
            <a:ext cx="2176272" cy="731520"/>
          </a:xfrm>
          <a:prstGeom prst="rect">
            <a:avLst/>
          </a:prstGeom>
          <a:noFill/>
          <a:ln/>
        </p:spPr>
        <p:txBody>
          <a:bodyPr wrap="square" lIns="0" tIns="0" rIns="0" bIns="0" rtlCol="0" anchor="ctr"/>
          <a:lstStyle/>
          <a:p>
            <a:pPr indent="0" marL="0">
              <a:buNone/>
            </a:pPr>
            <a:r>
              <a:rPr lang="en-US" sz="1300" b="1" dirty="0">
                <a:solidFill>
                  <a:srgbClr val="3E3E4B"/>
                </a:solidFill>
                <a:latin typeface="Calibri" pitchFamily="34" charset="0"/>
                <a:ea typeface="Calibri" pitchFamily="34" charset="-122"/>
                <a:cs typeface="Calibri" pitchFamily="34" charset="-120"/>
              </a:rPr>
              <a:t>Planned migrations and releases</a:t>
            </a:r>
            <a:endParaRPr lang="en-US" sz="1300" dirty="0"/>
          </a:p>
        </p:txBody>
      </p:sp>
      <p:sp>
        <p:nvSpPr>
          <p:cNvPr id="16" name="Shape 14"/>
          <p:cNvSpPr/>
          <p:nvPr/>
        </p:nvSpPr>
        <p:spPr>
          <a:xfrm>
            <a:off x="6519672" y="1691640"/>
            <a:ext cx="5029200" cy="3520440"/>
          </a:xfrm>
          <a:prstGeom prst="roundRect">
            <a:avLst>
              <a:gd name="adj" fmla="val 1818"/>
            </a:avLst>
          </a:prstGeom>
          <a:solidFill>
            <a:srgbClr val="3E3E4B"/>
          </a:solidFill>
          <a:ln w="9525">
            <a:solidFill>
              <a:srgbClr val="3E3E4B"/>
            </a:solidFill>
            <a:prstDash val="solid"/>
          </a:ln>
        </p:spPr>
      </p:sp>
      <p:sp>
        <p:nvSpPr>
          <p:cNvPr id="17" name="Text 15"/>
          <p:cNvSpPr/>
          <p:nvPr/>
        </p:nvSpPr>
        <p:spPr>
          <a:xfrm>
            <a:off x="6839712" y="1920240"/>
            <a:ext cx="4389120" cy="256032"/>
          </a:xfrm>
          <a:prstGeom prst="rect">
            <a:avLst/>
          </a:prstGeom>
          <a:noFill/>
          <a:ln/>
        </p:spPr>
        <p:txBody>
          <a:bodyPr wrap="square" lIns="0" tIns="0" rIns="0" bIns="0" rtlCol="0" anchor="ctr"/>
          <a:lstStyle/>
          <a:p>
            <a:pPr indent="0" marL="0">
              <a:buNone/>
            </a:pPr>
            <a:r>
              <a:rPr lang="en-US" sz="1100" b="1" spc="200" kern="0" dirty="0">
                <a:solidFill>
                  <a:srgbClr val="F15D23"/>
                </a:solidFill>
                <a:latin typeface="Calibri" pitchFamily="34" charset="0"/>
                <a:ea typeface="Calibri" pitchFamily="34" charset="-122"/>
                <a:cs typeface="Calibri" pitchFamily="34" charset="-120"/>
              </a:rPr>
              <a:t>THE OVERRIDE</a:t>
            </a:r>
            <a:endParaRPr lang="en-US" sz="1100" dirty="0"/>
          </a:p>
        </p:txBody>
      </p:sp>
      <p:sp>
        <p:nvSpPr>
          <p:cNvPr id="18" name="Text 16"/>
          <p:cNvSpPr/>
          <p:nvPr/>
        </p:nvSpPr>
        <p:spPr>
          <a:xfrm>
            <a:off x="6839712" y="2240280"/>
            <a:ext cx="4389120" cy="6858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Security can outrank the window</a:t>
            </a:r>
            <a:endParaRPr lang="en-US" sz="2200" dirty="0"/>
          </a:p>
        </p:txBody>
      </p:sp>
      <p:sp>
        <p:nvSpPr>
          <p:cNvPr id="19" name="Text 17"/>
          <p:cNvSpPr/>
          <p:nvPr/>
        </p:nvSpPr>
        <p:spPr>
          <a:xfrm>
            <a:off x="6839712" y="3017520"/>
            <a:ext cx="4389120" cy="914400"/>
          </a:xfrm>
          <a:prstGeom prst="rect">
            <a:avLst/>
          </a:prstGeom>
          <a:noFill/>
          <a:ln/>
        </p:spPr>
        <p:txBody>
          <a:bodyPr wrap="square" lIns="0" tIns="0" rIns="0" bIns="0" rtlCol="0" anchor="ctr"/>
          <a:lstStyle/>
          <a:p>
            <a:pPr indent="0" marL="0">
              <a:buNone/>
            </a:pPr>
            <a:r>
              <a:rPr lang="en-US" sz="1400" dirty="0">
                <a:solidFill>
                  <a:srgbClr val="C9CCD6"/>
                </a:solidFill>
                <a:latin typeface="Calibri" pitchFamily="34" charset="0"/>
                <a:ea typeface="Calibri" pitchFamily="34" charset="-122"/>
                <a:cs typeface="Calibri" pitchFamily="34" charset="-120"/>
              </a:rPr>
              <a:t>Microsoft may override the selected window for a critical, actively exploited vulnerability. Immediate patching takes precedence over customer scheduling.</a:t>
            </a:r>
            <a:endParaRPr lang="en-US" sz="1400" dirty="0"/>
          </a:p>
        </p:txBody>
      </p:sp>
      <p:sp>
        <p:nvSpPr>
          <p:cNvPr id="20" name="Shape 18"/>
          <p:cNvSpPr/>
          <p:nvPr/>
        </p:nvSpPr>
        <p:spPr>
          <a:xfrm>
            <a:off x="6839712" y="4114800"/>
            <a:ext cx="4389120" cy="868680"/>
          </a:xfrm>
          <a:prstGeom prst="roundRect">
            <a:avLst>
              <a:gd name="adj" fmla="val 7368"/>
            </a:avLst>
          </a:prstGeom>
          <a:solidFill>
            <a:srgbClr val="2F2F3A"/>
          </a:solidFill>
          <a:ln w="9525">
            <a:solidFill>
              <a:srgbClr val="5C5C6C"/>
            </a:solidFill>
            <a:prstDash val="solid"/>
          </a:ln>
        </p:spPr>
      </p:sp>
      <p:sp>
        <p:nvSpPr>
          <p:cNvPr id="21" name="Text 19"/>
          <p:cNvSpPr/>
          <p:nvPr/>
        </p:nvSpPr>
        <p:spPr>
          <a:xfrm>
            <a:off x="7040880" y="4114800"/>
            <a:ext cx="4023360" cy="868680"/>
          </a:xfrm>
          <a:prstGeom prst="rect">
            <a:avLst/>
          </a:prstGeom>
          <a:noFill/>
          <a:ln/>
        </p:spPr>
        <p:txBody>
          <a:bodyPr wrap="square" lIns="0" tIns="0" rIns="0" bIns="0" rtlCol="0" anchor="ctr"/>
          <a:lstStyle/>
          <a:p>
            <a:pPr indent="0" marL="0">
              <a:buNone/>
            </a:pPr>
            <a:r>
              <a:rPr lang="en-US" sz="1250" b="1" dirty="0">
                <a:solidFill>
                  <a:srgbClr val="FAC458"/>
                </a:solidFill>
                <a:latin typeface="Calibri" pitchFamily="34" charset="0"/>
                <a:ea typeface="Calibri" pitchFamily="34" charset="-122"/>
                <a:cs typeface="Calibri" pitchFamily="34" charset="-120"/>
              </a:rPr>
              <a:t>A reasonable trade for preserving platform security, and worth setting as an expectation before it happens.</a:t>
            </a:r>
            <a:endParaRPr lang="en-US" sz="1250" dirty="0"/>
          </a:p>
        </p:txBody>
      </p:sp>
      <p:sp>
        <p:nvSpPr>
          <p:cNvPr id="22" name="Text 20"/>
          <p:cNvSpPr/>
          <p:nvPr/>
        </p:nvSpPr>
        <p:spPr>
          <a:xfrm>
            <a:off x="640080" y="5486400"/>
            <a:ext cx="10911535" cy="365760"/>
          </a:xfrm>
          <a:prstGeom prst="rect">
            <a:avLst/>
          </a:prstGeom>
          <a:noFill/>
          <a:ln/>
        </p:spPr>
        <p:txBody>
          <a:bodyPr wrap="square" lIns="0" tIns="0" rIns="0" bIns="0" rtlCol="0" anchor="ctr"/>
          <a:lstStyle/>
          <a:p>
            <a:pPr indent="0" marL="0">
              <a:buNone/>
            </a:pPr>
            <a:r>
              <a:rPr lang="en-US" sz="1100" i="1" dirty="0">
                <a:solidFill>
                  <a:srgbClr val="7A7A86"/>
                </a:solidFill>
                <a:latin typeface="Calibri" pitchFamily="34" charset="0"/>
                <a:ea typeface="Calibri" pitchFamily="34" charset="-122"/>
                <a:cs typeface="Calibri" pitchFamily="34" charset="-120"/>
              </a:rPr>
              <a:t>Documentation note: Current guidance is that maintenance can be rescheduled until 24 hours before its start, subject to deadlines and other restrictions.</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37744"/>
          </a:xfrm>
          <a:prstGeom prst="rect">
            <a:avLst/>
          </a:prstGeom>
          <a:noFill/>
          <a:ln/>
        </p:spPr>
        <p:txBody>
          <a:bodyPr wrap="square" lIns="0" tIns="0" rIns="0" bIns="0" rtlCol="0" anchor="ctr"/>
          <a:lstStyle/>
          <a:p>
            <a:pPr indent="0" marL="0">
              <a:buNone/>
            </a:pPr>
            <a:r>
              <a:rPr lang="en-US" sz="1100" b="1" spc="200" kern="0" dirty="0">
                <a:solidFill>
                  <a:srgbClr val="00B3E2"/>
                </a:solidFill>
                <a:latin typeface="Calibri" pitchFamily="34" charset="0"/>
                <a:ea typeface="Calibri" pitchFamily="34" charset="-122"/>
                <a:cs typeface="Calibri" pitchFamily="34" charset="-120"/>
              </a:rPr>
              <a:t>CONSOLIDATED LESSONS</a:t>
            </a:r>
            <a:endParaRPr lang="en-US" sz="1100" dirty="0"/>
          </a:p>
        </p:txBody>
      </p:sp>
      <p:sp>
        <p:nvSpPr>
          <p:cNvPr id="3" name="Text 1"/>
          <p:cNvSpPr/>
          <p:nvPr/>
        </p:nvSpPr>
        <p:spPr>
          <a:xfrm>
            <a:off x="640080" y="658368"/>
            <a:ext cx="10911535" cy="566928"/>
          </a:xfrm>
          <a:prstGeom prst="rect">
            <a:avLst/>
          </a:prstGeom>
          <a:noFill/>
          <a:ln/>
        </p:spPr>
        <p:txBody>
          <a:bodyPr wrap="square" lIns="0" tIns="0" rIns="0" bIns="0" rtlCol="0" anchor="ctr"/>
          <a:lstStyle/>
          <a:p>
            <a:pPr indent="0" marL="0">
              <a:buNone/>
            </a:pPr>
            <a:r>
              <a:rPr lang="en-US" sz="3400" b="1" dirty="0">
                <a:solidFill>
                  <a:srgbClr val="3E3E4B"/>
                </a:solidFill>
                <a:latin typeface="Calibri" pitchFamily="34" charset="0"/>
                <a:ea typeface="Calibri" pitchFamily="34" charset="-122"/>
                <a:cs typeface="Calibri" pitchFamily="34" charset="-120"/>
              </a:rPr>
              <a:t>Seven things to carry into a design</a:t>
            </a:r>
            <a:endParaRPr lang="en-US" sz="3400" dirty="0"/>
          </a:p>
        </p:txBody>
      </p:sp>
      <p:sp>
        <p:nvSpPr>
          <p:cNvPr id="4" name="Shape 2"/>
          <p:cNvSpPr/>
          <p:nvPr/>
        </p:nvSpPr>
        <p:spPr>
          <a:xfrm>
            <a:off x="640080" y="1554480"/>
            <a:ext cx="3511296" cy="1965960"/>
          </a:xfrm>
          <a:prstGeom prst="roundRect">
            <a:avLst>
              <a:gd name="adj" fmla="val 3256"/>
            </a:avLst>
          </a:prstGeom>
          <a:solidFill>
            <a:srgbClr val="F4F7F8"/>
          </a:solidFill>
          <a:ln w="9525">
            <a:solidFill>
              <a:srgbClr val="DDE2E2"/>
            </a:solidFill>
            <a:prstDash val="solid"/>
          </a:ln>
        </p:spPr>
      </p:sp>
      <p:sp>
        <p:nvSpPr>
          <p:cNvPr id="5" name="Shape 3"/>
          <p:cNvSpPr/>
          <p:nvPr/>
        </p:nvSpPr>
        <p:spPr>
          <a:xfrm>
            <a:off x="896112" y="1773936"/>
            <a:ext cx="256032" cy="256032"/>
          </a:xfrm>
          <a:prstGeom prst="ellipse">
            <a:avLst/>
          </a:prstGeom>
          <a:solidFill>
            <a:srgbClr val="00B3E2"/>
          </a:solidFill>
          <a:ln w="12700">
            <a:solidFill>
              <a:srgbClr val="00B3E2"/>
            </a:solidFill>
            <a:prstDash val="solid"/>
          </a:ln>
        </p:spPr>
      </p:sp>
      <p:sp>
        <p:nvSpPr>
          <p:cNvPr id="6" name="Text 4"/>
          <p:cNvSpPr/>
          <p:nvPr/>
        </p:nvSpPr>
        <p:spPr>
          <a:xfrm>
            <a:off x="896112" y="2103120"/>
            <a:ext cx="2999232" cy="685800"/>
          </a:xfrm>
          <a:prstGeom prst="rect">
            <a:avLst/>
          </a:prstGeom>
          <a:noFill/>
          <a:ln/>
        </p:spPr>
        <p:txBody>
          <a:bodyPr wrap="square" lIns="0" tIns="0" rIns="0" bIns="0" rtlCol="0" anchor="ctr"/>
          <a:lstStyle/>
          <a:p>
            <a:pPr indent="0" marL="0">
              <a:buNone/>
            </a:pPr>
            <a:r>
              <a:rPr lang="en-US" sz="1450" b="1" dirty="0">
                <a:solidFill>
                  <a:srgbClr val="3E3E4B"/>
                </a:solidFill>
                <a:latin typeface="Calibri" pitchFamily="34" charset="0"/>
                <a:ea typeface="Calibri" pitchFamily="34" charset="-122"/>
                <a:cs typeface="Calibri" pitchFamily="34" charset="-120"/>
              </a:rPr>
              <a:t>Capacity must include failure and maintenance space</a:t>
            </a:r>
            <a:endParaRPr lang="en-US" sz="1450" dirty="0"/>
          </a:p>
        </p:txBody>
      </p:sp>
      <p:sp>
        <p:nvSpPr>
          <p:cNvPr id="7" name="Text 5"/>
          <p:cNvSpPr/>
          <p:nvPr/>
        </p:nvSpPr>
        <p:spPr>
          <a:xfrm>
            <a:off x="896112" y="2761488"/>
            <a:ext cx="2999232" cy="685800"/>
          </a:xfrm>
          <a:prstGeom prst="rect">
            <a:avLst/>
          </a:prstGeom>
          <a:noFill/>
          <a:ln/>
        </p:spPr>
        <p:txBody>
          <a:bodyPr wrap="square" lIns="0" tIns="0" rIns="0" bIns="0" rtlCol="0" anchor="ctr"/>
          <a:lstStyle/>
          <a:p>
            <a:pPr indent="0" marL="0">
              <a:buNone/>
            </a:pPr>
            <a:r>
              <a:rPr lang="en-US" sz="1150" dirty="0">
                <a:solidFill>
                  <a:srgbClr val="55555F"/>
                </a:solidFill>
                <a:latin typeface="Calibri" pitchFamily="34" charset="0"/>
                <a:ea typeface="Calibri" pitchFamily="34" charset="-122"/>
                <a:cs typeface="Calibri" pitchFamily="34" charset="-120"/>
              </a:rPr>
              <a:t>Do not size IP pools, host counts, storage, VPN gateways, or routing tables at their theoretical maximum.</a:t>
            </a:r>
            <a:endParaRPr lang="en-US" sz="1150" dirty="0"/>
          </a:p>
        </p:txBody>
      </p:sp>
      <p:sp>
        <p:nvSpPr>
          <p:cNvPr id="8" name="Shape 6"/>
          <p:cNvSpPr/>
          <p:nvPr/>
        </p:nvSpPr>
        <p:spPr>
          <a:xfrm>
            <a:off x="4535424" y="1554480"/>
            <a:ext cx="3511296" cy="1965960"/>
          </a:xfrm>
          <a:prstGeom prst="roundRect">
            <a:avLst>
              <a:gd name="adj" fmla="val 3256"/>
            </a:avLst>
          </a:prstGeom>
          <a:solidFill>
            <a:srgbClr val="F4F7F8"/>
          </a:solidFill>
          <a:ln w="9525">
            <a:solidFill>
              <a:srgbClr val="DDE2E2"/>
            </a:solidFill>
            <a:prstDash val="solid"/>
          </a:ln>
        </p:spPr>
      </p:sp>
      <p:sp>
        <p:nvSpPr>
          <p:cNvPr id="9" name="Shape 7"/>
          <p:cNvSpPr/>
          <p:nvPr/>
        </p:nvSpPr>
        <p:spPr>
          <a:xfrm>
            <a:off x="4791456" y="1773936"/>
            <a:ext cx="256032" cy="256032"/>
          </a:xfrm>
          <a:prstGeom prst="ellipse">
            <a:avLst/>
          </a:prstGeom>
          <a:solidFill>
            <a:srgbClr val="2DCCD3"/>
          </a:solidFill>
          <a:ln w="12700">
            <a:solidFill>
              <a:srgbClr val="2DCCD3"/>
            </a:solidFill>
            <a:prstDash val="solid"/>
          </a:ln>
        </p:spPr>
      </p:sp>
      <p:sp>
        <p:nvSpPr>
          <p:cNvPr id="10" name="Text 8"/>
          <p:cNvSpPr/>
          <p:nvPr/>
        </p:nvSpPr>
        <p:spPr>
          <a:xfrm>
            <a:off x="4791456" y="2103120"/>
            <a:ext cx="2999232" cy="685800"/>
          </a:xfrm>
          <a:prstGeom prst="rect">
            <a:avLst/>
          </a:prstGeom>
          <a:noFill/>
          <a:ln/>
        </p:spPr>
        <p:txBody>
          <a:bodyPr wrap="square" lIns="0" tIns="0" rIns="0" bIns="0" rtlCol="0" anchor="ctr"/>
          <a:lstStyle/>
          <a:p>
            <a:pPr indent="0" marL="0">
              <a:buNone/>
            </a:pPr>
            <a:r>
              <a:rPr lang="en-US" sz="1450" b="1" dirty="0">
                <a:solidFill>
                  <a:srgbClr val="3E3E4B"/>
                </a:solidFill>
                <a:latin typeface="Calibri" pitchFamily="34" charset="0"/>
                <a:ea typeface="Calibri" pitchFamily="34" charset="-122"/>
                <a:cs typeface="Calibri" pitchFamily="34" charset="-120"/>
              </a:rPr>
              <a:t>Summarization is essential</a:t>
            </a:r>
            <a:endParaRPr lang="en-US" sz="1450" dirty="0"/>
          </a:p>
        </p:txBody>
      </p:sp>
      <p:sp>
        <p:nvSpPr>
          <p:cNvPr id="11" name="Text 9"/>
          <p:cNvSpPr/>
          <p:nvPr/>
        </p:nvSpPr>
        <p:spPr>
          <a:xfrm>
            <a:off x="4791456" y="2761488"/>
            <a:ext cx="2999232" cy="685800"/>
          </a:xfrm>
          <a:prstGeom prst="rect">
            <a:avLst/>
          </a:prstGeom>
          <a:noFill/>
          <a:ln/>
        </p:spPr>
        <p:txBody>
          <a:bodyPr wrap="square" lIns="0" tIns="0" rIns="0" bIns="0" rtlCol="0" anchor="ctr"/>
          <a:lstStyle/>
          <a:p>
            <a:pPr indent="0" marL="0">
              <a:buNone/>
            </a:pPr>
            <a:r>
              <a:rPr lang="en-US" sz="1150" dirty="0">
                <a:solidFill>
                  <a:srgbClr val="55555F"/>
                </a:solidFill>
                <a:latin typeface="Calibri" pitchFamily="34" charset="0"/>
                <a:ea typeface="Calibri" pitchFamily="34" charset="-122"/>
                <a:cs typeface="Calibri" pitchFamily="34" charset="-120"/>
              </a:rPr>
              <a:t>Persistent /32 migration routes and automatic /28 expansion both exhaust finite tables. Route cleanup belongs in the migration plan.</a:t>
            </a:r>
            <a:endParaRPr lang="en-US" sz="1150" dirty="0"/>
          </a:p>
        </p:txBody>
      </p:sp>
      <p:sp>
        <p:nvSpPr>
          <p:cNvPr id="12" name="Shape 10"/>
          <p:cNvSpPr/>
          <p:nvPr/>
        </p:nvSpPr>
        <p:spPr>
          <a:xfrm>
            <a:off x="8430768" y="1554480"/>
            <a:ext cx="3511296" cy="1965960"/>
          </a:xfrm>
          <a:prstGeom prst="roundRect">
            <a:avLst>
              <a:gd name="adj" fmla="val 3256"/>
            </a:avLst>
          </a:prstGeom>
          <a:solidFill>
            <a:srgbClr val="F4F7F8"/>
          </a:solidFill>
          <a:ln w="9525">
            <a:solidFill>
              <a:srgbClr val="DDE2E2"/>
            </a:solidFill>
            <a:prstDash val="solid"/>
          </a:ln>
        </p:spPr>
      </p:sp>
      <p:sp>
        <p:nvSpPr>
          <p:cNvPr id="13" name="Shape 11"/>
          <p:cNvSpPr/>
          <p:nvPr/>
        </p:nvSpPr>
        <p:spPr>
          <a:xfrm>
            <a:off x="8686800" y="1773936"/>
            <a:ext cx="256032" cy="256032"/>
          </a:xfrm>
          <a:prstGeom prst="ellipse">
            <a:avLst/>
          </a:prstGeom>
          <a:solidFill>
            <a:srgbClr val="00AD93"/>
          </a:solidFill>
          <a:ln w="12700">
            <a:solidFill>
              <a:srgbClr val="00AD93"/>
            </a:solidFill>
            <a:prstDash val="solid"/>
          </a:ln>
        </p:spPr>
      </p:sp>
      <p:sp>
        <p:nvSpPr>
          <p:cNvPr id="14" name="Text 12"/>
          <p:cNvSpPr/>
          <p:nvPr/>
        </p:nvSpPr>
        <p:spPr>
          <a:xfrm>
            <a:off x="8686800" y="2103120"/>
            <a:ext cx="2999232" cy="685800"/>
          </a:xfrm>
          <a:prstGeom prst="rect">
            <a:avLst/>
          </a:prstGeom>
          <a:noFill/>
          <a:ln/>
        </p:spPr>
        <p:txBody>
          <a:bodyPr wrap="square" lIns="0" tIns="0" rIns="0" bIns="0" rtlCol="0" anchor="ctr"/>
          <a:lstStyle/>
          <a:p>
            <a:pPr indent="0" marL="0">
              <a:buNone/>
            </a:pPr>
            <a:r>
              <a:rPr lang="en-US" sz="1450" b="1" dirty="0">
                <a:solidFill>
                  <a:srgbClr val="3E3E4B"/>
                </a:solidFill>
                <a:latin typeface="Calibri" pitchFamily="34" charset="0"/>
                <a:ea typeface="Calibri" pitchFamily="34" charset="-122"/>
                <a:cs typeface="Calibri" pitchFamily="34" charset="-120"/>
              </a:rPr>
              <a:t>Physical and logical scale are connected</a:t>
            </a:r>
            <a:endParaRPr lang="en-US" sz="1450" dirty="0"/>
          </a:p>
        </p:txBody>
      </p:sp>
      <p:sp>
        <p:nvSpPr>
          <p:cNvPr id="15" name="Text 13"/>
          <p:cNvSpPr/>
          <p:nvPr/>
        </p:nvSpPr>
        <p:spPr>
          <a:xfrm>
            <a:off x="8686800" y="2761488"/>
            <a:ext cx="2999232" cy="685800"/>
          </a:xfrm>
          <a:prstGeom prst="rect">
            <a:avLst/>
          </a:prstGeom>
          <a:noFill/>
          <a:ln/>
        </p:spPr>
        <p:txBody>
          <a:bodyPr wrap="square" lIns="0" tIns="0" rIns="0" bIns="0" rtlCol="0" anchor="ctr"/>
          <a:lstStyle/>
          <a:p>
            <a:pPr indent="0" marL="0">
              <a:buNone/>
            </a:pPr>
            <a:r>
              <a:rPr lang="en-US" sz="1150" dirty="0">
                <a:solidFill>
                  <a:srgbClr val="55555F"/>
                </a:solidFill>
                <a:latin typeface="Calibri" pitchFamily="34" charset="0"/>
                <a:ea typeface="Calibri" pitchFamily="34" charset="-122"/>
                <a:cs typeface="Calibri" pitchFamily="34" charset="-120"/>
              </a:rPr>
              <a:t>Adding a host can increase software-defined routing capacity. Storage, routing, compute, and Edge capacity cannot be designed in isolation.</a:t>
            </a:r>
            <a:endParaRPr lang="en-US" sz="1150" dirty="0"/>
          </a:p>
        </p:txBody>
      </p:sp>
      <p:sp>
        <p:nvSpPr>
          <p:cNvPr id="16" name="Shape 14"/>
          <p:cNvSpPr/>
          <p:nvPr/>
        </p:nvSpPr>
        <p:spPr>
          <a:xfrm>
            <a:off x="640080" y="3794760"/>
            <a:ext cx="3511296" cy="1965960"/>
          </a:xfrm>
          <a:prstGeom prst="roundRect">
            <a:avLst>
              <a:gd name="adj" fmla="val 3256"/>
            </a:avLst>
          </a:prstGeom>
          <a:solidFill>
            <a:srgbClr val="F4F7F8"/>
          </a:solidFill>
          <a:ln w="9525">
            <a:solidFill>
              <a:srgbClr val="DDE2E2"/>
            </a:solidFill>
            <a:prstDash val="solid"/>
          </a:ln>
        </p:spPr>
      </p:sp>
      <p:sp>
        <p:nvSpPr>
          <p:cNvPr id="17" name="Shape 15"/>
          <p:cNvSpPr/>
          <p:nvPr/>
        </p:nvSpPr>
        <p:spPr>
          <a:xfrm>
            <a:off x="896112" y="4014216"/>
            <a:ext cx="256032" cy="256032"/>
          </a:xfrm>
          <a:prstGeom prst="ellipse">
            <a:avLst/>
          </a:prstGeom>
          <a:solidFill>
            <a:srgbClr val="8DB9D9"/>
          </a:solidFill>
          <a:ln w="12700">
            <a:solidFill>
              <a:srgbClr val="8DB9D9"/>
            </a:solidFill>
            <a:prstDash val="solid"/>
          </a:ln>
        </p:spPr>
      </p:sp>
      <p:sp>
        <p:nvSpPr>
          <p:cNvPr id="18" name="Text 16"/>
          <p:cNvSpPr/>
          <p:nvPr/>
        </p:nvSpPr>
        <p:spPr>
          <a:xfrm>
            <a:off x="896112" y="4343400"/>
            <a:ext cx="2999232" cy="685800"/>
          </a:xfrm>
          <a:prstGeom prst="rect">
            <a:avLst/>
          </a:prstGeom>
          <a:noFill/>
          <a:ln/>
        </p:spPr>
        <p:txBody>
          <a:bodyPr wrap="square" lIns="0" tIns="0" rIns="0" bIns="0" rtlCol="0" anchor="ctr"/>
          <a:lstStyle/>
          <a:p>
            <a:pPr indent="0" marL="0">
              <a:buNone/>
            </a:pPr>
            <a:r>
              <a:rPr lang="en-US" sz="1450" b="1" dirty="0">
                <a:solidFill>
                  <a:srgbClr val="3E3E4B"/>
                </a:solidFill>
                <a:latin typeface="Calibri" pitchFamily="34" charset="0"/>
                <a:ea typeface="Calibri" pitchFamily="34" charset="-122"/>
                <a:cs typeface="Calibri" pitchFamily="34" charset="-120"/>
              </a:rPr>
              <a:t>Stateful and stateless traffic differ</a:t>
            </a:r>
            <a:endParaRPr lang="en-US" sz="1450" dirty="0"/>
          </a:p>
        </p:txBody>
      </p:sp>
      <p:sp>
        <p:nvSpPr>
          <p:cNvPr id="19" name="Text 17"/>
          <p:cNvSpPr/>
          <p:nvPr/>
        </p:nvSpPr>
        <p:spPr>
          <a:xfrm>
            <a:off x="896112" y="5001768"/>
            <a:ext cx="2999232" cy="685800"/>
          </a:xfrm>
          <a:prstGeom prst="rect">
            <a:avLst/>
          </a:prstGeom>
          <a:noFill/>
          <a:ln/>
        </p:spPr>
        <p:txBody>
          <a:bodyPr wrap="square" lIns="0" tIns="0" rIns="0" bIns="0" rtlCol="0" anchor="ctr"/>
          <a:lstStyle/>
          <a:p>
            <a:pPr indent="0" marL="0">
              <a:buNone/>
            </a:pPr>
            <a:r>
              <a:rPr lang="en-US" sz="1150" dirty="0">
                <a:solidFill>
                  <a:srgbClr val="55555F"/>
                </a:solidFill>
                <a:latin typeface="Calibri" pitchFamily="34" charset="0"/>
                <a:ea typeface="Calibri" pitchFamily="34" charset="-122"/>
                <a:cs typeface="Calibri" pitchFamily="34" charset="-120"/>
              </a:rPr>
              <a:t>Tier-0 runs active-active for stateless routing. Tier-1 runs active-standby to preserve NAT and firewall session state.</a:t>
            </a:r>
            <a:endParaRPr lang="en-US" sz="1150" dirty="0"/>
          </a:p>
        </p:txBody>
      </p:sp>
      <p:sp>
        <p:nvSpPr>
          <p:cNvPr id="20" name="Shape 18"/>
          <p:cNvSpPr/>
          <p:nvPr/>
        </p:nvSpPr>
        <p:spPr>
          <a:xfrm>
            <a:off x="4535424" y="3794760"/>
            <a:ext cx="3511296" cy="1965960"/>
          </a:xfrm>
          <a:prstGeom prst="roundRect">
            <a:avLst>
              <a:gd name="adj" fmla="val 3256"/>
            </a:avLst>
          </a:prstGeom>
          <a:solidFill>
            <a:srgbClr val="F4F7F8"/>
          </a:solidFill>
          <a:ln w="9525">
            <a:solidFill>
              <a:srgbClr val="DDE2E2"/>
            </a:solidFill>
            <a:prstDash val="solid"/>
          </a:ln>
        </p:spPr>
      </p:sp>
      <p:sp>
        <p:nvSpPr>
          <p:cNvPr id="21" name="Shape 19"/>
          <p:cNvSpPr/>
          <p:nvPr/>
        </p:nvSpPr>
        <p:spPr>
          <a:xfrm>
            <a:off x="4791456" y="4014216"/>
            <a:ext cx="256032" cy="256032"/>
          </a:xfrm>
          <a:prstGeom prst="ellipse">
            <a:avLst/>
          </a:prstGeom>
          <a:solidFill>
            <a:srgbClr val="FAC458"/>
          </a:solidFill>
          <a:ln w="12700">
            <a:solidFill>
              <a:srgbClr val="FAC458"/>
            </a:solidFill>
            <a:prstDash val="solid"/>
          </a:ln>
        </p:spPr>
      </p:sp>
      <p:sp>
        <p:nvSpPr>
          <p:cNvPr id="22" name="Text 20"/>
          <p:cNvSpPr/>
          <p:nvPr/>
        </p:nvSpPr>
        <p:spPr>
          <a:xfrm>
            <a:off x="4791456" y="4343400"/>
            <a:ext cx="2999232" cy="685800"/>
          </a:xfrm>
          <a:prstGeom prst="rect">
            <a:avLst/>
          </a:prstGeom>
          <a:noFill/>
          <a:ln/>
        </p:spPr>
        <p:txBody>
          <a:bodyPr wrap="square" lIns="0" tIns="0" rIns="0" bIns="0" rtlCol="0" anchor="ctr"/>
          <a:lstStyle/>
          <a:p>
            <a:pPr indent="0" marL="0">
              <a:buNone/>
            </a:pPr>
            <a:r>
              <a:rPr lang="en-US" sz="1450" b="1" dirty="0">
                <a:solidFill>
                  <a:srgbClr val="3E3E4B"/>
                </a:solidFill>
                <a:latin typeface="Calibri" pitchFamily="34" charset="0"/>
                <a:ea typeface="Calibri" pitchFamily="34" charset="-122"/>
                <a:cs typeface="Calibri" pitchFamily="34" charset="-120"/>
              </a:rPr>
              <a:t>Local dependencies matter</a:t>
            </a:r>
            <a:endParaRPr lang="en-US" sz="1450" dirty="0"/>
          </a:p>
        </p:txBody>
      </p:sp>
      <p:sp>
        <p:nvSpPr>
          <p:cNvPr id="23" name="Text 21"/>
          <p:cNvSpPr/>
          <p:nvPr/>
        </p:nvSpPr>
        <p:spPr>
          <a:xfrm>
            <a:off x="4791456" y="5001768"/>
            <a:ext cx="2999232" cy="685800"/>
          </a:xfrm>
          <a:prstGeom prst="rect">
            <a:avLst/>
          </a:prstGeom>
          <a:noFill/>
          <a:ln/>
        </p:spPr>
        <p:txBody>
          <a:bodyPr wrap="square" lIns="0" tIns="0" rIns="0" bIns="0" rtlCol="0" anchor="ctr"/>
          <a:lstStyle/>
          <a:p>
            <a:pPr indent="0" marL="0">
              <a:buNone/>
            </a:pPr>
            <a:r>
              <a:rPr lang="en-US" sz="1150" dirty="0">
                <a:solidFill>
                  <a:srgbClr val="55555F"/>
                </a:solidFill>
                <a:latin typeface="Calibri" pitchFamily="34" charset="0"/>
                <a:ea typeface="Calibri" pitchFamily="34" charset="-122"/>
                <a:cs typeface="Calibri" pitchFamily="34" charset="-120"/>
              </a:rPr>
              <a:t>Serve or relay DHCP locally. Make sure DNS and firewall ports follow the intended traffic path. Partial connectivity creates misleading symptoms.</a:t>
            </a:r>
            <a:endParaRPr lang="en-US" sz="1150" dirty="0"/>
          </a:p>
        </p:txBody>
      </p:sp>
      <p:sp>
        <p:nvSpPr>
          <p:cNvPr id="24" name="Shape 22"/>
          <p:cNvSpPr/>
          <p:nvPr/>
        </p:nvSpPr>
        <p:spPr>
          <a:xfrm>
            <a:off x="8430768" y="3794760"/>
            <a:ext cx="3511296" cy="1965960"/>
          </a:xfrm>
          <a:prstGeom prst="roundRect">
            <a:avLst>
              <a:gd name="adj" fmla="val 3256"/>
            </a:avLst>
          </a:prstGeom>
          <a:solidFill>
            <a:srgbClr val="F4F7F8"/>
          </a:solidFill>
          <a:ln w="9525">
            <a:solidFill>
              <a:srgbClr val="DDE2E2"/>
            </a:solidFill>
            <a:prstDash val="solid"/>
          </a:ln>
        </p:spPr>
      </p:sp>
      <p:sp>
        <p:nvSpPr>
          <p:cNvPr id="25" name="Shape 23"/>
          <p:cNvSpPr/>
          <p:nvPr/>
        </p:nvSpPr>
        <p:spPr>
          <a:xfrm>
            <a:off x="8686800" y="4014216"/>
            <a:ext cx="256032" cy="256032"/>
          </a:xfrm>
          <a:prstGeom prst="ellipse">
            <a:avLst/>
          </a:prstGeom>
          <a:solidFill>
            <a:srgbClr val="F15D23"/>
          </a:solidFill>
          <a:ln w="12700">
            <a:solidFill>
              <a:srgbClr val="F15D23"/>
            </a:solidFill>
            <a:prstDash val="solid"/>
          </a:ln>
        </p:spPr>
      </p:sp>
      <p:sp>
        <p:nvSpPr>
          <p:cNvPr id="26" name="Text 24"/>
          <p:cNvSpPr/>
          <p:nvPr/>
        </p:nvSpPr>
        <p:spPr>
          <a:xfrm>
            <a:off x="8686800" y="4343400"/>
            <a:ext cx="2999232" cy="685800"/>
          </a:xfrm>
          <a:prstGeom prst="rect">
            <a:avLst/>
          </a:prstGeom>
          <a:noFill/>
          <a:ln/>
        </p:spPr>
        <p:txBody>
          <a:bodyPr wrap="square" lIns="0" tIns="0" rIns="0" bIns="0" rtlCol="0" anchor="ctr"/>
          <a:lstStyle/>
          <a:p>
            <a:pPr indent="0" marL="0">
              <a:buNone/>
            </a:pPr>
            <a:r>
              <a:rPr lang="en-US" sz="1450" b="1" dirty="0">
                <a:solidFill>
                  <a:srgbClr val="3E3E4B"/>
                </a:solidFill>
                <a:latin typeface="Calibri" pitchFamily="34" charset="0"/>
                <a:ea typeface="Calibri" pitchFamily="34" charset="-122"/>
                <a:cs typeface="Calibri" pitchFamily="34" charset="-120"/>
              </a:rPr>
              <a:t>Resilience is layered</a:t>
            </a:r>
            <a:endParaRPr lang="en-US" sz="1450" dirty="0"/>
          </a:p>
        </p:txBody>
      </p:sp>
      <p:sp>
        <p:nvSpPr>
          <p:cNvPr id="27" name="Text 25"/>
          <p:cNvSpPr/>
          <p:nvPr/>
        </p:nvSpPr>
        <p:spPr>
          <a:xfrm>
            <a:off x="8686800" y="5001768"/>
            <a:ext cx="2999232" cy="685800"/>
          </a:xfrm>
          <a:prstGeom prst="rect">
            <a:avLst/>
          </a:prstGeom>
          <a:noFill/>
          <a:ln/>
        </p:spPr>
        <p:txBody>
          <a:bodyPr wrap="square" lIns="0" tIns="0" rIns="0" bIns="0" rtlCol="0" anchor="ctr"/>
          <a:lstStyle/>
          <a:p>
            <a:pPr indent="0" marL="0">
              <a:buNone/>
            </a:pPr>
            <a:r>
              <a:rPr lang="en-US" sz="1150" dirty="0">
                <a:solidFill>
                  <a:srgbClr val="55555F"/>
                </a:solidFill>
                <a:latin typeface="Calibri" pitchFamily="34" charset="0"/>
                <a:ea typeface="Calibri" pitchFamily="34" charset="-122"/>
                <a:cs typeface="Calibri" pitchFamily="34" charset="-120"/>
              </a:rPr>
              <a:t>vSphere HA restarts VMs, vSAN preserves data, stretched clusters survive a zone, witness quorum prevents split brain, and applications still need retry logic.</a:t>
            </a:r>
            <a:endParaRPr lang="en-US" sz="1150" dirty="0"/>
          </a:p>
        </p:txBody>
      </p:sp>
      <p:sp>
        <p:nvSpPr>
          <p:cNvPr id="28" name="Shape 26"/>
          <p:cNvSpPr/>
          <p:nvPr/>
        </p:nvSpPr>
        <p:spPr>
          <a:xfrm>
            <a:off x="640080" y="5806440"/>
            <a:ext cx="10911535" cy="685800"/>
          </a:xfrm>
          <a:prstGeom prst="roundRect">
            <a:avLst>
              <a:gd name="adj" fmla="val 9333"/>
            </a:avLst>
          </a:prstGeom>
          <a:solidFill>
            <a:srgbClr val="3E3E4B"/>
          </a:solidFill>
          <a:ln w="9525">
            <a:solidFill>
              <a:srgbClr val="3E3E4B"/>
            </a:solidFill>
            <a:prstDash val="solid"/>
          </a:ln>
        </p:spPr>
      </p:sp>
      <p:sp>
        <p:nvSpPr>
          <p:cNvPr id="29" name="Text 27"/>
          <p:cNvSpPr/>
          <p:nvPr/>
        </p:nvSpPr>
        <p:spPr>
          <a:xfrm>
            <a:off x="960120" y="5806440"/>
            <a:ext cx="10271455" cy="685800"/>
          </a:xfrm>
          <a:prstGeom prst="rect">
            <a:avLst/>
          </a:prstGeom>
          <a:noFill/>
          <a:ln/>
        </p:spPr>
        <p:txBody>
          <a:bodyPr wrap="square" lIns="0" tIns="0" rIns="0" bIns="0" rtlCol="0" anchor="ctr"/>
          <a:lstStyle/>
          <a:p>
            <a:pPr indent="0" marL="0">
              <a:buNone/>
            </a:pPr>
            <a:r>
              <a:rPr lang="en-US" sz="1350" b="1" dirty="0">
                <a:solidFill>
                  <a:srgbClr val="FAC458"/>
                </a:solidFill>
                <a:latin typeface="Calibri" pitchFamily="34" charset="0"/>
                <a:ea typeface="Calibri" pitchFamily="34" charset="-122"/>
                <a:cs typeface="Calibri" pitchFamily="34" charset="-120"/>
              </a:rPr>
              <a:t>Seventh: VM hygiene enables cloud automation. Mounted media, unsupported devices, insufficient redundancy, and excessive storage utilization all block platform maintenance.</a:t>
            </a:r>
            <a:endParaRPr lang="en-US" sz="13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3E3E4B"/>
        </a:solidFill>
      </p:bgPr>
    </p:bg>
    <p:spTree>
      <p:nvGrpSpPr>
        <p:cNvPr id="1" name=""/>
        <p:cNvGrpSpPr/>
        <p:nvPr/>
      </p:nvGrpSpPr>
      <p:grpSpPr>
        <a:xfrm>
          <a:off x="0" y="0"/>
          <a:ext cx="0" cy="0"/>
          <a:chOff x="0" y="0"/>
          <a:chExt cx="0" cy="0"/>
        </a:xfrm>
      </p:grpSpPr>
      <p:sp>
        <p:nvSpPr>
          <p:cNvPr id="2" name="Shape 0"/>
          <p:cNvSpPr/>
          <p:nvPr/>
        </p:nvSpPr>
        <p:spPr>
          <a:xfrm>
            <a:off x="9509760" y="822960"/>
            <a:ext cx="4206240" cy="4206240"/>
          </a:xfrm>
          <a:prstGeom prst="ellipse">
            <a:avLst/>
          </a:prstGeom>
          <a:solidFill>
            <a:srgbClr val="3E3E4B"/>
          </a:solidFill>
          <a:ln w="12700">
            <a:solidFill>
              <a:srgbClr val="5A5A6B"/>
            </a:solidFill>
            <a:prstDash val="solid"/>
          </a:ln>
        </p:spPr>
      </p:sp>
      <p:sp>
        <p:nvSpPr>
          <p:cNvPr id="3" name="Shape 1"/>
          <p:cNvSpPr/>
          <p:nvPr/>
        </p:nvSpPr>
        <p:spPr>
          <a:xfrm>
            <a:off x="10515600" y="1828800"/>
            <a:ext cx="2194560" cy="2194560"/>
          </a:xfrm>
          <a:prstGeom prst="ellipse">
            <a:avLst/>
          </a:prstGeom>
          <a:solidFill>
            <a:srgbClr val="00B3E2"/>
          </a:solidFill>
          <a:ln w="12700">
            <a:solidFill>
              <a:srgbClr val="00B3E2"/>
            </a:solidFill>
            <a:prstDash val="solid"/>
          </a:ln>
        </p:spPr>
      </p:sp>
      <p:sp>
        <p:nvSpPr>
          <p:cNvPr id="4" name="Text 2"/>
          <p:cNvSpPr/>
          <p:nvPr/>
        </p:nvSpPr>
        <p:spPr>
          <a:xfrm>
            <a:off x="640080" y="914400"/>
            <a:ext cx="7772400" cy="274320"/>
          </a:xfrm>
          <a:prstGeom prst="rect">
            <a:avLst/>
          </a:prstGeom>
          <a:noFill/>
          <a:ln/>
        </p:spPr>
        <p:txBody>
          <a:bodyPr wrap="square" lIns="0" tIns="0" rIns="0" bIns="0" rtlCol="0" anchor="ctr"/>
          <a:lstStyle/>
          <a:p>
            <a:pPr indent="0" marL="0">
              <a:buNone/>
            </a:pPr>
            <a:r>
              <a:rPr lang="en-US" sz="1100" b="1" spc="250" kern="0" dirty="0">
                <a:solidFill>
                  <a:srgbClr val="00B3E2"/>
                </a:solidFill>
                <a:latin typeface="Calibri" pitchFamily="34" charset="0"/>
                <a:ea typeface="Calibri" pitchFamily="34" charset="-122"/>
                <a:cs typeface="Calibri" pitchFamily="34" charset="-120"/>
              </a:rPr>
              <a:t>IN CLOSING</a:t>
            </a:r>
            <a:endParaRPr lang="en-US" sz="1100" dirty="0"/>
          </a:p>
        </p:txBody>
      </p:sp>
      <p:sp>
        <p:nvSpPr>
          <p:cNvPr id="5" name="Text 3"/>
          <p:cNvSpPr/>
          <p:nvPr/>
        </p:nvSpPr>
        <p:spPr>
          <a:xfrm>
            <a:off x="640080" y="1280160"/>
            <a:ext cx="8412480" cy="77724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Complexity has shifted, not disappeared.</a:t>
            </a:r>
            <a:endParaRPr lang="en-US" sz="3200" dirty="0"/>
          </a:p>
        </p:txBody>
      </p:sp>
      <p:sp>
        <p:nvSpPr>
          <p:cNvPr id="6" name="Text 4"/>
          <p:cNvSpPr/>
          <p:nvPr/>
        </p:nvSpPr>
        <p:spPr>
          <a:xfrm>
            <a:off x="640080" y="2148840"/>
            <a:ext cx="8138160" cy="1234440"/>
          </a:xfrm>
          <a:prstGeom prst="rect">
            <a:avLst/>
          </a:prstGeom>
          <a:noFill/>
          <a:ln/>
        </p:spPr>
        <p:txBody>
          <a:bodyPr wrap="square" lIns="0" tIns="0" rIns="0" bIns="0" rtlCol="0" anchor="ctr"/>
          <a:lstStyle/>
          <a:p>
            <a:pPr indent="0" marL="0">
              <a:buNone/>
            </a:pPr>
            <a:r>
              <a:rPr lang="en-US" sz="1500" dirty="0">
                <a:solidFill>
                  <a:srgbClr val="C9CCD6"/>
                </a:solidFill>
                <a:latin typeface="Calibri" pitchFamily="34" charset="0"/>
                <a:ea typeface="Calibri" pitchFamily="34" charset="-122"/>
                <a:cs typeface="Calibri" pitchFamily="34" charset="-120"/>
              </a:rPr>
              <a:t>Racking servers and tracing cables are abstracted away. What replaces them is CIDR planning, BGP prefix management, API and platform limits, SDN troubleshooting, virtual-device portability, and automated-remediation readiness. AVS is not magic. It swaps physical data-center rules for a highly structured set of software-defined ones.</a:t>
            </a:r>
            <a:endParaRPr lang="en-US" sz="1500" dirty="0"/>
          </a:p>
        </p:txBody>
      </p:sp>
      <p:sp>
        <p:nvSpPr>
          <p:cNvPr id="7" name="Shape 5"/>
          <p:cNvSpPr/>
          <p:nvPr/>
        </p:nvSpPr>
        <p:spPr>
          <a:xfrm>
            <a:off x="640080" y="3611880"/>
            <a:ext cx="8138160" cy="2194560"/>
          </a:xfrm>
          <a:prstGeom prst="roundRect">
            <a:avLst>
              <a:gd name="adj" fmla="val 2917"/>
            </a:avLst>
          </a:prstGeom>
          <a:solidFill>
            <a:srgbClr val="2F2F3A"/>
          </a:solidFill>
          <a:ln w="9525">
            <a:solidFill>
              <a:srgbClr val="5C5C6C"/>
            </a:solidFill>
            <a:prstDash val="solid"/>
          </a:ln>
        </p:spPr>
      </p:sp>
      <p:sp>
        <p:nvSpPr>
          <p:cNvPr id="8" name="Text 6"/>
          <p:cNvSpPr/>
          <p:nvPr/>
        </p:nvSpPr>
        <p:spPr>
          <a:xfrm>
            <a:off x="1005840" y="3822192"/>
            <a:ext cx="7406640" cy="292608"/>
          </a:xfrm>
          <a:prstGeom prst="rect">
            <a:avLst/>
          </a:prstGeom>
          <a:noFill/>
          <a:ln/>
        </p:spPr>
        <p:txBody>
          <a:bodyPr wrap="square" lIns="0" tIns="0" rIns="0" bIns="0" rtlCol="0" anchor="ctr"/>
          <a:lstStyle/>
          <a:p>
            <a:pPr indent="0" marL="0">
              <a:buNone/>
            </a:pPr>
            <a:r>
              <a:rPr lang="en-US" sz="1500" b="1" dirty="0">
                <a:solidFill>
                  <a:srgbClr val="2DCCD3"/>
                </a:solidFill>
                <a:latin typeface="Calibri" pitchFamily="34" charset="0"/>
                <a:ea typeface="Calibri" pitchFamily="34" charset="-122"/>
                <a:cs typeface="Calibri" pitchFamily="34" charset="-120"/>
              </a:rPr>
              <a:t>The abstraction paradox</a:t>
            </a:r>
            <a:endParaRPr lang="en-US" sz="1500" dirty="0"/>
          </a:p>
        </p:txBody>
      </p:sp>
      <p:sp>
        <p:nvSpPr>
          <p:cNvPr id="9" name="Text 7"/>
          <p:cNvSpPr/>
          <p:nvPr/>
        </p:nvSpPr>
        <p:spPr>
          <a:xfrm>
            <a:off x="1005840" y="4187952"/>
            <a:ext cx="7406640" cy="1463040"/>
          </a:xfrm>
          <a:prstGeom prst="rect">
            <a:avLst/>
          </a:prstGeom>
          <a:noFill/>
          <a:ln/>
        </p:spPr>
        <p:txBody>
          <a:bodyPr wrap="square" lIns="0" tIns="0" rIns="0" bIns="0" rtlCol="0" anchor="ctr"/>
          <a:lstStyle/>
          <a:p>
            <a:pPr indent="0" marL="0">
              <a:buNone/>
            </a:pPr>
            <a:r>
              <a:rPr lang="en-US" sz="1400" dirty="0">
                <a:solidFill>
                  <a:srgbClr val="C9CCD6"/>
                </a:solidFill>
                <a:latin typeface="Calibri" pitchFamily="34" charset="0"/>
                <a:ea typeface="Calibri" pitchFamily="34" charset="-122"/>
                <a:cs typeface="Calibri" pitchFamily="34" charset="-120"/>
              </a:rPr>
              <a:t>Greater automation makes systems easier to operate under normal conditions and hides the underlying mechanics from the engineers who come next. If AI eventually manages route capacity, BGP optimization, hardware balancing, and remediation blockers, will the industry keep enough knowledge of the plumbing to troubleshoot when the automation is the thing that fails?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Quisitive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Brutal Math of Azure VMware Solution</dc:title>
  <dc:subject>PptxGenJS Presentation</dc:subject>
  <dc:creator>Quisitive</dc:creator>
  <cp:lastModifiedBy>Quisitive</cp:lastModifiedBy>
  <cp:revision>1</cp:revision>
  <dcterms:created xsi:type="dcterms:W3CDTF">2026-07-24T09:47:52Z</dcterms:created>
  <dcterms:modified xsi:type="dcterms:W3CDTF">2026-07-24T09:47:52Z</dcterms:modified>
</cp:coreProperties>
</file>